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3"/>
  </p:notesMasterIdLst>
  <p:sldIdLst>
    <p:sldId id="256" r:id="rId3"/>
    <p:sldId id="257" r:id="rId4"/>
    <p:sldId id="258" r:id="rId5"/>
    <p:sldId id="259" r:id="rId6"/>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1" autoAdjust="0"/>
    <p:restoredTop sz="96121"/>
  </p:normalViewPr>
  <p:slideViewPr>
    <p:cSldViewPr snapToGrid="0">
      <p:cViewPr varScale="1">
        <p:scale>
          <a:sx n="121" d="100"/>
          <a:sy n="121" d="100"/>
        </p:scale>
        <p:origin x="3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E27D3-C215-4CF0-B1FA-89AF1A49981C}" type="datetimeFigureOut">
              <a:rPr lang="es-CL" smtClean="0"/>
              <a:t>17-10-26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5E836-5B69-40A0-869E-1082D9FB5991}" type="slidenum">
              <a:rPr lang="es-CL" smtClean="0"/>
              <a:t>‹Nº›</a:t>
            </a:fld>
            <a:endParaRPr lang="es-CL"/>
          </a:p>
        </p:txBody>
      </p:sp>
    </p:spTree>
    <p:extLst>
      <p:ext uri="{BB962C8B-B14F-4D97-AF65-F5344CB8AC3E}">
        <p14:creationId xmlns:p14="http://schemas.microsoft.com/office/powerpoint/2010/main" val="384786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Gemelos Digitales para Minería 4.0 · De la estrategia al impacto operacional · tres ejes: modelamiento dinámico, integración de datos y decisión en tiempo real.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de impacto. Fuente: bios del equipo a cargo del curso y trabajos en congresos 2022–2025.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del curso de lo general a lo particular: conceptos, soluciones de la industria, cómo se construye un gemelo (en general) y el caso del filtro, que recorre todo lo anterior y termina en el taller.</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del capítulo IV: qué pregunta responde, los temas que cubre y el avance del curso.</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implementar un gemelo en una faena hacen falta seis partes. Cinco son el stack del capítulo II: activo e instrumentos, datos y conectividad, modelo, ejecución y aplicación. La sexta no es tecnología: un dueño en la operación, un caso de negocio que diga qué decisión mejora, y el gobierno del modelo (recalibración, versiones, ciberseguridad). Es la parte que más proyectos olvidan y la razón más común por la que un gemelo vuelve a ser demo.</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formas de valor: producción, calidad y recuperación, costo y energía, disponibilidad, y seguridad y riesgo. Cada una tiene su indicador. Un caso de negocio serio dice cuál de ellas mejora, cuánto y cómo se va a medir antes y después. Ejemplos ilustrativos por columna.</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 central del capítulo: el mismo porcentaje de mejora tiene más probabilidad de materializarse cuanto más cerca del puerto ocurre. Aguas arriba, la mejora tiene que atravesar procesos con sus propios cuellos de botella, acopios y variabilidad, que la absorben o diluyen: más tonelaje en la mina no sirve si la molienda está al máximo. En el filtro, la mejora no tiene quién la absorba: menos humedad es menos agua pagada en flete, y más capacidad es más producto despachado. Matiz honesto: una mejora aguas arriba puede ser más grande en monto; lo que cambia es cuán segura es. Las alturas son ilustrativas.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del filtrado. Es el último equipo de la concentradora antes del despacho: la humedad del queque es la humedad del producto que se vende. Cuatro razones: el agua se paga en flete y el contrato fija un máximo; los concentrados son carga del Grupo A del Código IMSBC y no se pueden embarcar sobre su límite de humedad transportable (riesgo de licuefacción); el compresor es un consumo grande (376 kW en el punto nominal del modelo); y si el filtro pierde capacidad, el espesador y la planta se frenan. Es un problema de toda la industria: todo concentrado que se embarca pasa por un filtro.</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preguntas reales de la operación del filtro. 1) Humedad ahora: sensor virtual con moisture y L_cake. 2) Presión: con la FMU, de 5 a 3 bar diferenciales la capacidad baja de 168,7 a 130,7 t/h, la humedad sube de 9,08 a 9,99 % y el compresor baja de 364 a 144 kW. 3) Velocidad: la capacidad crece con la raíz de la velocidad y la humedad se mantiene en ≈ 9,1 %; el modelo diría «gira más rápido», pero la esclusa (≈ 250 t/h) y el espesor mínimo para el soplido lo impiden: un gemelo debe conocer sus restricciones. 4) Colmatación de la tela: f_cloth sube y desde ≈ 20 la capacidad cae; el gemelo lo detecta comparando capacidad medida y esperada.</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qué hiperbárico. El vacío está limitado por la atmósfera: en la práctica ≈ 0,75 bar. El hiperbárico presuriza el recipiente y llega a 5,8 bar, con varias veces más capacidad por m² y menor humedad. Por qué el HBF-S 168/12: ANDRITZ publica sus datos (168 m², 12 discos de 3,3 m, recipiente 4,8 × 12,93 m, 2 a 5,8 bar, sumergencia hasta 50 %) y una curva de humedad residual para cobre; es de escala de concentradora grande; y reúne en un equipo pulpa, aire comprimido, rotación y la lógica discreta de la esclusa. Es un equipo de nicho: ANDRITZ informa poco más de 150 clientes en el mundo, y ninguna planta publica datos de operación. Eso obliga a un modelo basado en física (lámina siguiente de la cadena). Lo que el fabricante no publica (velocidad, resistencia del queque, esclusa) son supuestos documentados en el modelo.</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funciona. Doce discos giran a cerca de 1 rpm dentro de un recipiente a ≈ 6 bar absolutos. Cada sector pasa por: 1) formación, sumergido en la pulpa; el queque crece con la raíz de Δp por el tiempo; 2) deshidratación, fuera de la pulpa, el aire desplaza el agua; 3) descarga por soplido (snap-blow) al chute. La esclusa de doble compuerta saca el queque en lotes (llenado, venteo, descarga, represurización), unas 43 veces por hora en el punto nominal del modelo, sin despresurizar el recipiente.</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Decisión 1. Tres caminos. Basado en datos: necesitaría miles de mediciones de muchos filtros; el hiperbárico es de nicho (poco más de 150 clientes según el fabricante) y nadie publica su operación: no hay con qué entrenar. CFD o DEM: resuelve cada poro o partícula; cuesta horas de cálculo por minuto simulado y no puede correr al lado de la operación: es una herramienta de diseño. Fenomenológico (elegido): leyes físicas conocidas (flujo en medios porosos, balances de masa y energía) con pocos parámetros ajustables. Simula una hora en segundos, extrapola y se sintoniza con las señales de la planta. Las láminas siguientes lo construyen de menos a más: la ley de Darcy, los elementos del filtro, el balance de cada uno y cómo se conectan.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ley de Darcy: el caudal que atraviesa un medio poroso es proporcional a la diferencia de presión e inversamente proporcional a la viscosidad del líquido y a la resistencia del medio. En un filtro hay dos resistencias en serie: la del queque, que crece a medida que se forma, y la de la tela, fija mientras está limpia. Integrando con el queque creciendo en proporción al filtrado (ecuación de Ruth), el espesor crece como la raíz de Δp por el tiempo. Tres lecturas que se usan en todo el capítulo: más presión filtra más; el queque se frena a sí mismo; la tela tapada baja la capacidad.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equipo: el recipiente a presión, abierto en corte para ver los discos, la batea de pulpa abajo, la esclusa bajo el recipiente y, a la izquierda, el compresor. La regla para decidir qué se modela: solo lo que guarda un estado que puede cambiar la capacidad, la humedad o la energía. La batea guarda pulpa (de ahí el nivel y la sumergencia); los discos, el queque; el recipiente, aire (de ahí la presión); la esclusa, su etapa del ciclo; el compresor repone el aire y es el consumo de energía. La alimentación es la carga y entra como dato. Lo que no se modela: el accionamiento (la velocidad entra como dato) y la estructura. La imagen es la representación 3D que usaremos en la demo; hoy dibuja 8 discos y se ajustará a los 12 del HBF‑S 168/12.</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Batea: balance de masa de sólidos y de agua; con las densidades da el volumen, y con la geometría de la batea, el nivel. El nivel fija cuánto tiempo pasa cada punto del disco sumergido. Discos: la ley de Darcy integrada a presión constante, que es la ecuación de Ruth. t_f es el tiempo de formación, v el filtrado por m², α la resistencia del queque, R_m la de la tela y c la concentración. El espesor L sale de v. La capacidad es el queque que se descarga en cada vuelta, y el filtrado sale del balance: el agua que no se queda en el queque. Humedad: es la única parte empírica. τ es el tiempo de secado por mm² de queque (tipo Wakeman). La forma de la curva es física; sus coeficientes se ajustan a la ficha del fabricante.</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Recipiente: balance de masa de aire, como gas ideal a temperatura constante. El volumen de gas cambia con el nivel de la batea. Sale aire por el queque (Darcy para gases: crece con p² − p_atm² y baja con el espesor), por la esclusa en cada represurización y por fugas. Compresor: balance de energía, potencia de compresión adiabática con rendimiento η. Un PI con límites ajusta el caudal para sostener la presión pedida. Esclusa: una máquina de cuatro estados (llenado, venteo, descarga, represurización). En el punto nominal cicla cada ≈ 84 s. Cada represurización es un pequeño escalón de presión que el PI recupera. Con esto están las seis piezas; la lámina siguiente muestra cómo se conectan.</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Decisión 2, herramienta: Modelica con OpenModelica. El diagrama es el mismo equipo de la lámina 81: alimentación → batea → discos → esclusa → correa, con batea, discos y esclusa dentro del recipiente a presión, y el compresor con su PI afuera. Cada bloque es un componente con el balance que vimos. Los conectores dicen qué se intercambia: pulpa (masa y % de sólidos), aire (presión y caudal) y queque. Pulpa y aire son acausales: en cada conexión Modelica iguala la presión y hace que los flujos sumen cero, así el aire se reparte solo entre queque, esclusa y fugas sin decidir quién es entrada de quién. El queque es causal porque cae en un solo sentido. Por qué Modelica: multidominio (pulpa, aire, mecánica), eventos discretos dentro del mismo modelo (la esclusa), abierto y sin licencias, y exporta a FMU, que es lo que permite llevar el mismo modelo a la estación de ingeniería, al edge y al navegador.</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parámetros ajustables son lo que convierte un modelo físico genérico en el gemelo de un filtro concreto. α (resistencia específica del queque) fija la capacidad: está calibrado para ≈ 990 kg/m²h a 5 bar, dentro del rango de ANDRITZ para cobre (750–1200). R_m es la tela: limpia al inicio, crece con la colmatación. k_rg fija el consumo de aire (≈ 20 Nm³/t). La correlación de humedad (w∞, b, n, m) se ajustó a la curva del fabricante: a 3 y 5 bar difiere menos de 0,05 puntos. ε es la porosidad. La separación de n y m es un supuesto: con datos de planta a distintas velocidades se ajusta. En operación, α y R_m se vuelven a estimar con capacidad y presión medidas.</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Decisión 3, el paso de tiempo. El modelo avanza a pasos; el paso tiene que ser más corto que lo más rápido que importa. Escalas del filtro: compuertas de la esclusa, 4 a 15 s; control de presión, del orden de 30 s; una vuelta del disco, ≈ 60 s; ciclo completo de la esclusa, ≈ 84 s; nivel de la batea, minutos; colmatación de la tela, horas a días. Con 1 s se ve cada movimiento de la esclusa. Con 0,1 s se calcula diez veces más sin ganar información; con 10 s las compuertas quedan entre dos pasos. Verificación: balances de sólidos y aire cerrados (errores de 1e-9 kg y 1e-12 kg en una hora); la FMU a paso 1 s contra la referencia de OpenModelica con DASSL a tolerancia 1e-6 difiere −0,5 % en capacidad y +0,2 % en humedad; 43 ciclos de esclusa por hora; dos instancias en el mismo proceso no se interfieren, lo que permite correr la planta virtual y el gemelo a la vez.</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Decisión 4, integración. La FMU HBF_S_168_12_FMU es FMI 2.0, Model Exchange y Co-Simulation. Seis entradas: consigna de presión absoluta, velocidad, caudal y sólidos de alimentación, colmatación de la tela y viscosidad del filtrado. Quince salidas; aquí, las nueve que usa la demo con su valor nominal. Por qué 2.0 y no 3.0: las herramientas del curso (FMPy, OMEdit, HMI) lo leen bien. Sin nombres y unidades no hay integración confiable: el contrato es lo que lee quien integra.</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FMU o varias. La FMU del curso empaqueta todo el filtro, incluido el PI de presión, porque es lo más simple de llevar a la estación de ingeniería, al edge o al navegador. Pero FMI no obliga a eso. El mismo filtro se puede armar con piezas: el proceso modelado en Modelica, el control de presión diseñado en MATLAB/Simulink (donde suele trabajar el equipo de control) y, por ejemplo, un sensor virtual de humedad entrenado en Python. Cada uno se exporta como FMU y un orquestador de co-simulación (FMPy, descrito con SSP) las avanza juntas cada 1 s e intercambia las señales: la presión va al control, el caudal de aire vuelve al proceso. Lo que hay que cuidar: el contrato (nombres y unidades iguales a ambos lados) y el paso de intercambio. La ventaja: cada especialista trabaja en su herramienta y una pieza se reemplaza sin tocar las otras. Para separar el control habría que exponer el caudal del compresor como entrada del proceso: es un cambio de contrato y se versiona.</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debería desplegarse. 1) Validar fuera de línea contra la ficha y los balances. 2) Probar con datos históricos: que reproduzca turnos buenos y malos sin ajustes a mano (aquí sirve también una planta virtual: otra copia de la FMU con parámetros ocultos y ruido). 3) Sombra: corre en línea junto al filtro, lee señales y no actúa; se evalúa durante semanas. 4) Asesor: recomienda consignas y el operador decide. 5) Lazo cerrado, opcional y con autorización formal y límites. Cada etapa tiene un criterio para avanzar. Así el grado del capítulo I (modelo, sombra, gemelo) se gana con evidencia.</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Decisión 5, dónde corre. La clave del capítulo III: la misma FMU corre en cualquier hardware si trae binarios para él o su código fuente. Esta FMU trae binario linux64 y sources/ en C. Ingeniería: FMPy en Python compila el binario para Windows o macOS; ahí se hacen estudios, escenarios y recalibraciones. Edge: un PC industrial Linux junto al filtro, donde corre la sombra en línea y que sigue operando si cae la red. Navegador: Emscripten compila sources/ a WebAssembly; así corre el ejemplo de este capítulo, sin instalar nada y sin servidor de cálculo.</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Qué señales necesita el gemelo en planta. Las cuatro entradas vienen del DCS y de instrumentos de la alimentación (consigna de presión, velocidad, caudal y densidad de la pulpa). Otras cinco señales también las calcula el modelo: presión del recipiente, nivel, capacidad (pesómetro), humedad (laboratorio cada pocas horas o analizador en línea) y potencia del compresor. Esas no entran: se comparan. Antes de usar un dato hay que revisar lo del capítulo III: unidades, rango, valores congelados, huecos y sincronización de la hora.</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debería monitorearse. Seis cosas: la capacidad medida contra la estimada (si el desvío se sostiene, re-estimar α), presión y nivel (un desvío persistente suele ser instrumento o fuga), la resistencia de la tela re-estimada cada turno (si crece turno a turno, programar lavado), la humedad contra el laboratorio, la salud de los datos y el rango de validez del modelo. Cada fila tiene un responsable: el gemelo necesita dueño. Los umbrales son ilustrativos; se fijan con la historia de cada planta.</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Comprar o construir. Las cuatro piezas del capítulo II: datos, modelo, motor de cálculo e interfaz. Un proveedor las integra en su plataforma; el ejemplo las arma con herramientas abiertas (OpenModelica, FMPy, three.js), así nada es caja negra y se puede reproducir sin licencias. En una faena lo habitual es mixto: la FMU propia del equipo dentro de la plataforma comprada.</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Qué calcula la FMU: humedad (color del queque y mapa de humedad), espesor, nivel de batea, estado de la esclusa (compuertas, venteo), presión del recipiente y los indicadores de capacidad, aire y energía. Qué resuelve la animación: el giro de los discos a la velocidad pedida, los terrones sobre la correa, el espesor exagerado tres veces, la cámara y la estructura. Separarlo con claridad es lo que permite confiar en los números.</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Guion de la demo en vivo. Pedir una apuesta antes de cada cambio. 1) Presión de 5 a 3 bar diferenciales: el compresor baja de 364 a 144 kW, la capacidad de 168,7 a 130,7 t/h y la humedad sube de 9,08 a 9,99 %. 2) Velocidad: la capacidad crece con la raíz de la velocidad y la humedad casi no cambia; discutir la esclusa (≈ 250 t/h) y el espesor mínimo para el soplido. 3) Colmatación: la capacidad cae de a poco (−8 % con la tela 10 veces más resistente) y luego se acelera (−16 % a ×20, −56 % a ×100); conectar con la lámina de monitoreo: ¿qué alarma pondrían?</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taller es conceptual, no de programación. Cada grupo elige un proceso de su faena (un molino, un espesador, una flota, un chancador, la ventilación) y responde ocho preguntas, una o dos por concepto del curso. Capítulo I: grado (modelo, sombra o gemelo) y lugar en el cubo. Capítulo II: qué KPI mueve, cercanía al puerto y si conviene comprar o construir. Capítulo III: física o datos, señales disponibles, velocidad de respuesta y dónde corre, y quién lo mantiene. La columna del filtro sirve de ejemplo resuelto: todo lo del capítulo IV cabe en esa columna.</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se trabaja, en tres pasos: elegir un proceso de la faena, responder las ocho preguntas de la matriz y presentar en cinco minutos una lámina con el proceso y el KPI que mueve, el veredicto con sus dos razones principales, qué falta (un dato, una señal o una persona) y un primer paso concreto. El veredicto va de menos a más: todavía no (empezar por medir), viable con condiciones (conseguir primero lo que falta) o viable (partir por una sombra en un equipo). Pregunta de cierre para cada grupo: ¿qué dato o qué persona falta para que sea viable? Casi siempre la viabilidad la deciden los datos y las personas, no la herramienta.</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del curso. 1) Clasificar: grado (modelo, sombra, gemelo) y cubo (nivel, fase, uso); el grado se gana con evidencia. 2) Construir: seis decisiones justificadas; verificar balances. 3) Operar: el contrato de la FMU permite llevarla de la ingeniería a la planta; sin dueño ni monitoreo, el gemelo vuelve a ser demo. Hoja de ruta: cada participante lleva la matriz del taller a su faena y elige el primer equipo.</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1C1EC3-D699-5938-A4A3-682198A9E5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E713AF42-5521-3368-35D0-9BAE0A8D6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6DDCFB1-BDA3-581B-9B59-04BD281347AE}"/>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1877ED4-AD61-9958-B8BF-9D6E203C959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A3FE22-F655-A5A5-501B-A49B967C307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49866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C4884-AC19-2253-D13F-C8673DBB835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0060FA2-4EA6-36C1-43FA-23CFA05280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333E93A-101E-9DE0-5167-50281558ED6D}"/>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B9CFDB-C719-7609-8375-5A75591152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DBA177-BFE8-69F7-61AD-8DEC70875203}"/>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64853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63449-D190-EC86-EFE5-9E6A2CF0EAE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BA531C0-4F44-1C00-A978-32B758E48C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1E15581-AE2F-4427-D998-E41DAA0C18C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513A1E9-7981-EFE8-41DE-A6C4DFC90D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8698054-145E-947F-80C5-B25F537184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402792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4FD70-939C-E1DC-EDDD-4A9B67CD469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195D4DC-A947-BD93-4A3D-AACAF9AB25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3A7977C-3263-D267-7E01-A7072E6E039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4782E93-7870-B13F-62E9-4489CE15F2C8}"/>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66E39DAF-12F8-BFB8-E205-C03F4602599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A377EBA-A376-5E20-ACD6-7A1BFB95C41C}"/>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61963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3E840-B297-F495-62C6-2F5A591FB89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F2D2530-A86D-7DF5-5433-87B672593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5018532-2796-2A90-F39E-FA91057272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2D7F3C8-C0FD-139D-7805-11818CEA3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E3FA0C-A922-F94D-44D2-DD070E35503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54EFA2AE-2AE0-004D-40D5-B785E6C950B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8" name="Marcador de pie de página 7">
            <a:extLst>
              <a:ext uri="{FF2B5EF4-FFF2-40B4-BE49-F238E27FC236}">
                <a16:creationId xmlns:a16="http://schemas.microsoft.com/office/drawing/2014/main" id="{A00ECF31-7FE1-9314-3C67-25E05E665F37}"/>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2EF40F13-A8B3-5C8C-28BE-AB7C0A167294}"/>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561430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408A5-6035-F4FD-F943-1F9E630B040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6C561BDF-C03F-52B4-EA59-4EB9BF4486C4}"/>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4" name="Marcador de pie de página 3">
            <a:extLst>
              <a:ext uri="{FF2B5EF4-FFF2-40B4-BE49-F238E27FC236}">
                <a16:creationId xmlns:a16="http://schemas.microsoft.com/office/drawing/2014/main" id="{94653506-5914-A42E-AC3B-9C1DFF889BD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87EEF24-ACCD-82DD-BFC2-6DE86647AC4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95760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8A5D5D1-9398-DBD0-CC96-4DCC0903CD5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3" name="Marcador de pie de página 2">
            <a:extLst>
              <a:ext uri="{FF2B5EF4-FFF2-40B4-BE49-F238E27FC236}">
                <a16:creationId xmlns:a16="http://schemas.microsoft.com/office/drawing/2014/main" id="{4FEBF566-555D-B77A-E8D8-BF879E78167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D8F82D6-2724-68E1-E832-9BA570873A2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267761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E4FBA-EC44-CEC9-7C61-56591E3F3DF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40A153E-83C0-21AA-D27D-086706A031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6D0FE2B-A801-50D0-3B55-F18535FE5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74A35C-644E-CE67-843E-3912E2B1753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58BD8E3-F770-F9CC-12EC-75900ED0360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87368D2-3F1E-CDFB-372D-1C6D507CF1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82683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8BB538-FB5B-94D8-AF11-91E676754D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1911712-9666-A7C3-2AB8-1E4954021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AB0EA63F-91E5-3C8E-D4A7-3774C15C0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E9ECD04-0D35-ECC0-9BAF-9F02E7352DE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4E1CA51-EFED-5252-1F89-51CDD981E6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ACFA750-B593-4349-FAEB-F1B774BF577B}"/>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1304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D27A2-2DCE-78A5-CD90-90CBB4AE9E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984B10D-65EB-F8A0-C4A1-F93E244AF08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AB1436B-DD56-82FB-E6B1-830BF8033FB1}"/>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D4B1D8-66F8-CFFD-EBA8-55F4CD69704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A29C4C-F216-F989-E4D0-0357833185F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91933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306880-4021-4239-12B5-3559F5F994F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3749660-7C27-8A53-859E-CC11E91228F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4F580E-CD7C-599A-4508-DE444E0686A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5118370D-FC2F-70B6-A108-7AEF0CBA681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D19D3B-1D74-8F29-5DF0-2CA05713A75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662887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3998228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extLst>
      <p:ext uri="{BB962C8B-B14F-4D97-AF65-F5344CB8AC3E}">
        <p14:creationId xmlns:p14="http://schemas.microsoft.com/office/powerpoint/2010/main" val="145671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32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50699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1743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62397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116233" y="1729500"/>
            <a:ext cx="3783200" cy="167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 name="Google Shape;26;p7"/>
          <p:cNvSpPr txBox="1">
            <a:spLocks noGrp="1"/>
          </p:cNvSpPr>
          <p:nvPr>
            <p:ph type="body" idx="1"/>
          </p:nvPr>
        </p:nvSpPr>
        <p:spPr>
          <a:xfrm>
            <a:off x="7116233" y="3458500"/>
            <a:ext cx="3783200" cy="16700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Clr>
                <a:schemeClr val="lt1"/>
              </a:buClr>
              <a:buSzPts val="1600"/>
              <a:buChar char="●"/>
              <a:defRPr sz="2133">
                <a:solidFill>
                  <a:schemeClr val="lt1"/>
                </a:solidFill>
              </a:defRPr>
            </a:lvl1pPr>
            <a:lvl2pPr marL="1219170" lvl="1" indent="-440256" rtl="0">
              <a:spcBef>
                <a:spcPts val="2133"/>
              </a:spcBef>
              <a:spcAft>
                <a:spcPts val="0"/>
              </a:spcAft>
              <a:buClr>
                <a:schemeClr val="lt1"/>
              </a:buClr>
              <a:buSzPts val="1600"/>
              <a:buChar char="○"/>
              <a:defRPr sz="2133">
                <a:solidFill>
                  <a:schemeClr val="lt1"/>
                </a:solidFill>
              </a:defRPr>
            </a:lvl2pPr>
            <a:lvl3pPr marL="1828754" lvl="2" indent="-440256" rtl="0">
              <a:spcBef>
                <a:spcPts val="2133"/>
              </a:spcBef>
              <a:spcAft>
                <a:spcPts val="0"/>
              </a:spcAft>
              <a:buClr>
                <a:schemeClr val="lt1"/>
              </a:buClr>
              <a:buSzPts val="1600"/>
              <a:buChar char="■"/>
              <a:defRPr sz="2133">
                <a:solidFill>
                  <a:schemeClr val="lt1"/>
                </a:solidFill>
              </a:defRPr>
            </a:lvl3pPr>
            <a:lvl4pPr marL="2438339" lvl="3" indent="-440256" rtl="0">
              <a:spcBef>
                <a:spcPts val="2133"/>
              </a:spcBef>
              <a:spcAft>
                <a:spcPts val="0"/>
              </a:spcAft>
              <a:buClr>
                <a:schemeClr val="lt1"/>
              </a:buClr>
              <a:buSzPts val="1600"/>
              <a:buChar char="●"/>
              <a:defRPr sz="2133">
                <a:solidFill>
                  <a:schemeClr val="lt1"/>
                </a:solidFill>
              </a:defRPr>
            </a:lvl4pPr>
            <a:lvl5pPr marL="3047924" lvl="4" indent="-440256" rtl="0">
              <a:spcBef>
                <a:spcPts val="2133"/>
              </a:spcBef>
              <a:spcAft>
                <a:spcPts val="0"/>
              </a:spcAft>
              <a:buClr>
                <a:schemeClr val="lt1"/>
              </a:buClr>
              <a:buSzPts val="1600"/>
              <a:buChar char="○"/>
              <a:defRPr sz="2133">
                <a:solidFill>
                  <a:schemeClr val="lt1"/>
                </a:solidFill>
              </a:defRPr>
            </a:lvl5pPr>
            <a:lvl6pPr marL="3657509" lvl="5" indent="-440256" rtl="0">
              <a:spcBef>
                <a:spcPts val="2133"/>
              </a:spcBef>
              <a:spcAft>
                <a:spcPts val="0"/>
              </a:spcAft>
              <a:buClr>
                <a:schemeClr val="lt1"/>
              </a:buClr>
              <a:buSzPts val="1600"/>
              <a:buChar char="■"/>
              <a:defRPr sz="2133">
                <a:solidFill>
                  <a:schemeClr val="lt1"/>
                </a:solidFill>
              </a:defRPr>
            </a:lvl6pPr>
            <a:lvl7pPr marL="4267093" lvl="6" indent="-440256" rtl="0">
              <a:spcBef>
                <a:spcPts val="2133"/>
              </a:spcBef>
              <a:spcAft>
                <a:spcPts val="0"/>
              </a:spcAft>
              <a:buClr>
                <a:schemeClr val="lt1"/>
              </a:buClr>
              <a:buSzPts val="1600"/>
              <a:buChar char="●"/>
              <a:defRPr sz="2133">
                <a:solidFill>
                  <a:schemeClr val="lt1"/>
                </a:solidFill>
              </a:defRPr>
            </a:lvl7pPr>
            <a:lvl8pPr marL="4876678" lvl="7" indent="-440256" rtl="0">
              <a:spcBef>
                <a:spcPts val="2133"/>
              </a:spcBef>
              <a:spcAft>
                <a:spcPts val="0"/>
              </a:spcAft>
              <a:buClr>
                <a:schemeClr val="lt1"/>
              </a:buClr>
              <a:buSzPts val="1600"/>
              <a:buChar char="○"/>
              <a:defRPr sz="2133">
                <a:solidFill>
                  <a:schemeClr val="lt1"/>
                </a:solidFill>
              </a:defRPr>
            </a:lvl8pPr>
            <a:lvl9pPr marL="5486263" lvl="8" indent="-440256" rtl="0">
              <a:spcBef>
                <a:spcPts val="2133"/>
              </a:spcBef>
              <a:spcAft>
                <a:spcPts val="2133"/>
              </a:spcAft>
              <a:buClr>
                <a:schemeClr val="lt1"/>
              </a:buClr>
              <a:buSzPts val="1600"/>
              <a:buChar char="■"/>
              <a:defRPr sz="2133">
                <a:solidFill>
                  <a:schemeClr val="lt1"/>
                </a:solidFill>
              </a:defRPr>
            </a:lvl9pPr>
          </a:lstStyle>
          <a:p>
            <a:endParaRPr/>
          </a:p>
        </p:txBody>
      </p:sp>
    </p:spTree>
    <p:extLst>
      <p:ext uri="{BB962C8B-B14F-4D97-AF65-F5344CB8AC3E}">
        <p14:creationId xmlns:p14="http://schemas.microsoft.com/office/powerpoint/2010/main" val="2043058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239303" y="581577"/>
            <a:ext cx="3662000" cy="545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4000">
                <a:solidFill>
                  <a:schemeClr val="accent1"/>
                </a:solidFill>
              </a:defRPr>
            </a:lvl1pPr>
            <a:lvl2pPr lvl="1">
              <a:spcBef>
                <a:spcPts val="0"/>
              </a:spcBef>
              <a:spcAft>
                <a:spcPts val="0"/>
              </a:spcAft>
              <a:buClr>
                <a:schemeClr val="accent1"/>
              </a:buClr>
              <a:buSzPts val="4800"/>
              <a:buNone/>
              <a:defRPr sz="6400">
                <a:solidFill>
                  <a:schemeClr val="accent1"/>
                </a:solidFill>
              </a:defRPr>
            </a:lvl2pPr>
            <a:lvl3pPr lvl="2">
              <a:spcBef>
                <a:spcPts val="0"/>
              </a:spcBef>
              <a:spcAft>
                <a:spcPts val="0"/>
              </a:spcAft>
              <a:buClr>
                <a:schemeClr val="accent1"/>
              </a:buClr>
              <a:buSzPts val="4800"/>
              <a:buNone/>
              <a:defRPr sz="6400">
                <a:solidFill>
                  <a:schemeClr val="accent1"/>
                </a:solidFill>
              </a:defRPr>
            </a:lvl3pPr>
            <a:lvl4pPr lvl="3">
              <a:spcBef>
                <a:spcPts val="0"/>
              </a:spcBef>
              <a:spcAft>
                <a:spcPts val="0"/>
              </a:spcAft>
              <a:buClr>
                <a:schemeClr val="accent1"/>
              </a:buClr>
              <a:buSzPts val="4800"/>
              <a:buNone/>
              <a:defRPr sz="6400">
                <a:solidFill>
                  <a:schemeClr val="accent1"/>
                </a:solidFill>
              </a:defRPr>
            </a:lvl4pPr>
            <a:lvl5pPr lvl="4">
              <a:spcBef>
                <a:spcPts val="0"/>
              </a:spcBef>
              <a:spcAft>
                <a:spcPts val="0"/>
              </a:spcAft>
              <a:buClr>
                <a:schemeClr val="accent1"/>
              </a:buClr>
              <a:buSzPts val="4800"/>
              <a:buNone/>
              <a:defRPr sz="6400">
                <a:solidFill>
                  <a:schemeClr val="accent1"/>
                </a:solidFill>
              </a:defRPr>
            </a:lvl5pPr>
            <a:lvl6pPr lvl="5">
              <a:spcBef>
                <a:spcPts val="0"/>
              </a:spcBef>
              <a:spcAft>
                <a:spcPts val="0"/>
              </a:spcAft>
              <a:buClr>
                <a:schemeClr val="accent1"/>
              </a:buClr>
              <a:buSzPts val="4800"/>
              <a:buNone/>
              <a:defRPr sz="6400">
                <a:solidFill>
                  <a:schemeClr val="accent1"/>
                </a:solidFill>
              </a:defRPr>
            </a:lvl6pPr>
            <a:lvl7pPr lvl="6">
              <a:spcBef>
                <a:spcPts val="0"/>
              </a:spcBef>
              <a:spcAft>
                <a:spcPts val="0"/>
              </a:spcAft>
              <a:buClr>
                <a:schemeClr val="accent1"/>
              </a:buClr>
              <a:buSzPts val="4800"/>
              <a:buNone/>
              <a:defRPr sz="6400">
                <a:solidFill>
                  <a:schemeClr val="accent1"/>
                </a:solidFill>
              </a:defRPr>
            </a:lvl7pPr>
            <a:lvl8pPr lvl="7">
              <a:spcBef>
                <a:spcPts val="0"/>
              </a:spcBef>
              <a:spcAft>
                <a:spcPts val="0"/>
              </a:spcAft>
              <a:buClr>
                <a:schemeClr val="accent1"/>
              </a:buClr>
              <a:buSzPts val="4800"/>
              <a:buNone/>
              <a:defRPr sz="6400">
                <a:solidFill>
                  <a:schemeClr val="accent1"/>
                </a:solidFill>
              </a:defRPr>
            </a:lvl8pPr>
            <a:lvl9pPr lvl="8">
              <a:spcBef>
                <a:spcPts val="0"/>
              </a:spcBef>
              <a:spcAft>
                <a:spcPts val="0"/>
              </a:spcAft>
              <a:buClr>
                <a:schemeClr val="accent1"/>
              </a:buClr>
              <a:buSzPts val="4800"/>
              <a:buNone/>
              <a:defRPr sz="6400">
                <a:solidFill>
                  <a:schemeClr val="accent1"/>
                </a:solidFill>
              </a:defRPr>
            </a:lvl9pPr>
          </a:lstStyle>
          <a:p>
            <a:endParaRPr/>
          </a:p>
        </p:txBody>
      </p:sp>
      <p:pic>
        <p:nvPicPr>
          <p:cNvPr id="29" name="Google Shape;29;p8"/>
          <p:cNvPicPr preferRelativeResize="0"/>
          <p:nvPr/>
        </p:nvPicPr>
        <p:blipFill>
          <a:blip r:embed="rId3">
            <a:alphaModFix/>
          </a:blip>
          <a:stretch>
            <a:fillRect/>
          </a:stretch>
        </p:blipFill>
        <p:spPr>
          <a:xfrm rot="5400000">
            <a:off x="4371899" y="552068"/>
            <a:ext cx="10168735" cy="3845065"/>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6429886" y="-469214"/>
            <a:ext cx="12413063" cy="4693700"/>
          </a:xfrm>
          <a:prstGeom prst="rect">
            <a:avLst/>
          </a:prstGeom>
          <a:noFill/>
          <a:ln>
            <a:noFill/>
          </a:ln>
        </p:spPr>
      </p:pic>
    </p:spTree>
    <p:extLst>
      <p:ext uri="{BB962C8B-B14F-4D97-AF65-F5344CB8AC3E}">
        <p14:creationId xmlns:p14="http://schemas.microsoft.com/office/powerpoint/2010/main" val="3145978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1251333" y="2359433"/>
            <a:ext cx="3828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2133">
                <a:solidFill>
                  <a:schemeClr val="lt2"/>
                </a:solidFill>
              </a:defRPr>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endParaRPr/>
          </a:p>
        </p:txBody>
      </p:sp>
      <p:sp>
        <p:nvSpPr>
          <p:cNvPr id="33" name="Google Shape;33;p9"/>
          <p:cNvSpPr txBox="1">
            <a:spLocks noGrp="1"/>
          </p:cNvSpPr>
          <p:nvPr>
            <p:ph type="body" idx="2"/>
          </p:nvPr>
        </p:nvSpPr>
        <p:spPr>
          <a:xfrm>
            <a:off x="6271167" y="1212800"/>
            <a:ext cx="4625200" cy="4432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34" name="Google Shape;34;p9"/>
          <p:cNvSpPr txBox="1">
            <a:spLocks noGrp="1"/>
          </p:cNvSpPr>
          <p:nvPr>
            <p:ph type="title"/>
          </p:nvPr>
        </p:nvSpPr>
        <p:spPr>
          <a:xfrm>
            <a:off x="1251333" y="593367"/>
            <a:ext cx="4298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182321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852498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561000" y="2179233"/>
            <a:ext cx="7070000" cy="1488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9600">
                <a:solidFill>
                  <a:schemeClr val="lt1"/>
                </a:solidFill>
              </a:defRPr>
            </a:lvl1pPr>
            <a:lvl2pPr lvl="1" algn="ctr">
              <a:spcBef>
                <a:spcPts val="0"/>
              </a:spcBef>
              <a:spcAft>
                <a:spcPts val="0"/>
              </a:spcAft>
              <a:buClr>
                <a:schemeClr val="lt1"/>
              </a:buClr>
              <a:buSzPts val="7200"/>
              <a:buNone/>
              <a:defRPr sz="9600">
                <a:solidFill>
                  <a:schemeClr val="lt1"/>
                </a:solidFill>
              </a:defRPr>
            </a:lvl2pPr>
            <a:lvl3pPr lvl="2" algn="ctr">
              <a:spcBef>
                <a:spcPts val="0"/>
              </a:spcBef>
              <a:spcAft>
                <a:spcPts val="0"/>
              </a:spcAft>
              <a:buClr>
                <a:schemeClr val="lt1"/>
              </a:buClr>
              <a:buSzPts val="7200"/>
              <a:buNone/>
              <a:defRPr sz="9600">
                <a:solidFill>
                  <a:schemeClr val="lt1"/>
                </a:solidFill>
              </a:defRPr>
            </a:lvl3pPr>
            <a:lvl4pPr lvl="3" algn="ctr">
              <a:spcBef>
                <a:spcPts val="0"/>
              </a:spcBef>
              <a:spcAft>
                <a:spcPts val="0"/>
              </a:spcAft>
              <a:buClr>
                <a:schemeClr val="lt1"/>
              </a:buClr>
              <a:buSzPts val="7200"/>
              <a:buNone/>
              <a:defRPr sz="9600">
                <a:solidFill>
                  <a:schemeClr val="lt1"/>
                </a:solidFill>
              </a:defRPr>
            </a:lvl4pPr>
            <a:lvl5pPr lvl="4" algn="ctr">
              <a:spcBef>
                <a:spcPts val="0"/>
              </a:spcBef>
              <a:spcAft>
                <a:spcPts val="0"/>
              </a:spcAft>
              <a:buClr>
                <a:schemeClr val="lt1"/>
              </a:buClr>
              <a:buSzPts val="7200"/>
              <a:buNone/>
              <a:defRPr sz="9600">
                <a:solidFill>
                  <a:schemeClr val="lt1"/>
                </a:solidFill>
              </a:defRPr>
            </a:lvl5pPr>
            <a:lvl6pPr lvl="5" algn="ctr">
              <a:spcBef>
                <a:spcPts val="0"/>
              </a:spcBef>
              <a:spcAft>
                <a:spcPts val="0"/>
              </a:spcAft>
              <a:buClr>
                <a:schemeClr val="lt1"/>
              </a:buClr>
              <a:buSzPts val="7200"/>
              <a:buNone/>
              <a:defRPr sz="9600">
                <a:solidFill>
                  <a:schemeClr val="lt1"/>
                </a:solidFill>
              </a:defRPr>
            </a:lvl6pPr>
            <a:lvl7pPr lvl="6" algn="ctr">
              <a:spcBef>
                <a:spcPts val="0"/>
              </a:spcBef>
              <a:spcAft>
                <a:spcPts val="0"/>
              </a:spcAft>
              <a:buClr>
                <a:schemeClr val="lt1"/>
              </a:buClr>
              <a:buSzPts val="7200"/>
              <a:buNone/>
              <a:defRPr sz="9600">
                <a:solidFill>
                  <a:schemeClr val="lt1"/>
                </a:solidFill>
              </a:defRPr>
            </a:lvl7pPr>
            <a:lvl8pPr lvl="7" algn="ctr">
              <a:spcBef>
                <a:spcPts val="0"/>
              </a:spcBef>
              <a:spcAft>
                <a:spcPts val="0"/>
              </a:spcAft>
              <a:buClr>
                <a:schemeClr val="lt1"/>
              </a:buClr>
              <a:buSzPts val="7200"/>
              <a:buNone/>
              <a:defRPr sz="9600">
                <a:solidFill>
                  <a:schemeClr val="lt1"/>
                </a:solidFill>
              </a:defRPr>
            </a:lvl8pPr>
            <a:lvl9pPr lvl="8" algn="ctr">
              <a:spcBef>
                <a:spcPts val="0"/>
              </a:spcBef>
              <a:spcAft>
                <a:spcPts val="0"/>
              </a:spcAft>
              <a:buClr>
                <a:schemeClr val="lt1"/>
              </a:buClr>
              <a:buSzPts val="7200"/>
              <a:buNone/>
              <a:defRPr sz="9600">
                <a:solidFill>
                  <a:schemeClr val="lt1"/>
                </a:solidFill>
              </a:defRPr>
            </a:lvl9pPr>
          </a:lstStyle>
          <a:p>
            <a:r>
              <a:t>xx%</a:t>
            </a:r>
          </a:p>
        </p:txBody>
      </p:sp>
      <p:sp>
        <p:nvSpPr>
          <p:cNvPr id="39" name="Google Shape;39;p11"/>
          <p:cNvSpPr txBox="1">
            <a:spLocks noGrp="1"/>
          </p:cNvSpPr>
          <p:nvPr>
            <p:ph type="body" idx="1"/>
          </p:nvPr>
        </p:nvSpPr>
        <p:spPr>
          <a:xfrm>
            <a:off x="3715400" y="4125967"/>
            <a:ext cx="4761200" cy="756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Clr>
                <a:schemeClr val="accent1"/>
              </a:buClr>
              <a:buSzPts val="1800"/>
              <a:buChar char="●"/>
              <a:defRPr>
                <a:solidFill>
                  <a:schemeClr val="accent1"/>
                </a:solidFill>
              </a:defRPr>
            </a:lvl1pPr>
            <a:lvl2pPr marL="1219170" lvl="1" indent="-457189" algn="ctr">
              <a:spcBef>
                <a:spcPts val="2133"/>
              </a:spcBef>
              <a:spcAft>
                <a:spcPts val="0"/>
              </a:spcAft>
              <a:buClr>
                <a:schemeClr val="accent1"/>
              </a:buClr>
              <a:buSzPts val="1800"/>
              <a:buChar char="○"/>
              <a:defRPr sz="2400">
                <a:solidFill>
                  <a:schemeClr val="accent1"/>
                </a:solidFill>
              </a:defRPr>
            </a:lvl2pPr>
            <a:lvl3pPr marL="1828754" lvl="2" indent="-457189" algn="ctr">
              <a:spcBef>
                <a:spcPts val="2133"/>
              </a:spcBef>
              <a:spcAft>
                <a:spcPts val="0"/>
              </a:spcAft>
              <a:buClr>
                <a:schemeClr val="accent1"/>
              </a:buClr>
              <a:buSzPts val="1800"/>
              <a:buChar char="■"/>
              <a:defRPr sz="2400">
                <a:solidFill>
                  <a:schemeClr val="accent1"/>
                </a:solidFill>
              </a:defRPr>
            </a:lvl3pPr>
            <a:lvl4pPr marL="2438339" lvl="3" indent="-457189" algn="ctr">
              <a:spcBef>
                <a:spcPts val="2133"/>
              </a:spcBef>
              <a:spcAft>
                <a:spcPts val="0"/>
              </a:spcAft>
              <a:buClr>
                <a:schemeClr val="accent1"/>
              </a:buClr>
              <a:buSzPts val="1800"/>
              <a:buChar char="●"/>
              <a:defRPr sz="2400">
                <a:solidFill>
                  <a:schemeClr val="accent1"/>
                </a:solidFill>
              </a:defRPr>
            </a:lvl4pPr>
            <a:lvl5pPr marL="3047924" lvl="4" indent="-457189" algn="ctr">
              <a:spcBef>
                <a:spcPts val="2133"/>
              </a:spcBef>
              <a:spcAft>
                <a:spcPts val="0"/>
              </a:spcAft>
              <a:buClr>
                <a:schemeClr val="accent1"/>
              </a:buClr>
              <a:buSzPts val="1800"/>
              <a:buChar char="○"/>
              <a:defRPr sz="2400">
                <a:solidFill>
                  <a:schemeClr val="accent1"/>
                </a:solidFill>
              </a:defRPr>
            </a:lvl5pPr>
            <a:lvl6pPr marL="3657509" lvl="5" indent="-457189" algn="ctr">
              <a:spcBef>
                <a:spcPts val="2133"/>
              </a:spcBef>
              <a:spcAft>
                <a:spcPts val="0"/>
              </a:spcAft>
              <a:buClr>
                <a:schemeClr val="accent1"/>
              </a:buClr>
              <a:buSzPts val="1800"/>
              <a:buChar char="■"/>
              <a:defRPr sz="2400">
                <a:solidFill>
                  <a:schemeClr val="accent1"/>
                </a:solidFill>
              </a:defRPr>
            </a:lvl6pPr>
            <a:lvl7pPr marL="4267093" lvl="6" indent="-457189" algn="ctr">
              <a:spcBef>
                <a:spcPts val="2133"/>
              </a:spcBef>
              <a:spcAft>
                <a:spcPts val="0"/>
              </a:spcAft>
              <a:buClr>
                <a:schemeClr val="accent1"/>
              </a:buClr>
              <a:buSzPts val="1800"/>
              <a:buChar char="●"/>
              <a:defRPr sz="2400">
                <a:solidFill>
                  <a:schemeClr val="accent1"/>
                </a:solidFill>
              </a:defRPr>
            </a:lvl7pPr>
            <a:lvl8pPr marL="4876678" lvl="7" indent="-457189" algn="ctr">
              <a:spcBef>
                <a:spcPts val="2133"/>
              </a:spcBef>
              <a:spcAft>
                <a:spcPts val="0"/>
              </a:spcAft>
              <a:buClr>
                <a:schemeClr val="accent1"/>
              </a:buClr>
              <a:buSzPts val="1800"/>
              <a:buChar char="○"/>
              <a:defRPr sz="2400">
                <a:solidFill>
                  <a:schemeClr val="accent1"/>
                </a:solidFill>
              </a:defRPr>
            </a:lvl8pPr>
            <a:lvl9pPr marL="5486263" lvl="8" indent="-457189" algn="ctr">
              <a:spcBef>
                <a:spcPts val="2133"/>
              </a:spcBef>
              <a:spcAft>
                <a:spcPts val="2133"/>
              </a:spcAft>
              <a:buClr>
                <a:schemeClr val="accent1"/>
              </a:buClr>
              <a:buSzPts val="1800"/>
              <a:buChar char="■"/>
              <a:defRPr sz="2400">
                <a:solidFill>
                  <a:schemeClr val="accent1"/>
                </a:solidFill>
              </a:defRPr>
            </a:lvl9pPr>
          </a:lstStyle>
          <a:p>
            <a:endParaRPr/>
          </a:p>
        </p:txBody>
      </p:sp>
    </p:spTree>
    <p:extLst>
      <p:ext uri="{BB962C8B-B14F-4D97-AF65-F5344CB8AC3E}">
        <p14:creationId xmlns:p14="http://schemas.microsoft.com/office/powerpoint/2010/main" val="3746317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2773950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1251333" y="1661367"/>
            <a:ext cx="9562800" cy="4053200"/>
          </a:xfrm>
          <a:prstGeom prst="rect">
            <a:avLst/>
          </a:prstGeom>
        </p:spPr>
        <p:txBody>
          <a:bodyPr spcFirstLastPara="1" wrap="square" lIns="91425" tIns="91425" rIns="91425" bIns="91425" anchor="t" anchorCtr="0">
            <a:noAutofit/>
          </a:bodyPr>
          <a:lstStyle>
            <a:lvl1pPr marL="609585" lvl="0" indent="-402157" rtl="0">
              <a:spcBef>
                <a:spcPts val="0"/>
              </a:spcBef>
              <a:spcAft>
                <a:spcPts val="0"/>
              </a:spcAft>
              <a:buClr>
                <a:schemeClr val="lt1"/>
              </a:buClr>
              <a:buSzPts val="1150"/>
              <a:buChar char="●"/>
              <a:defRPr sz="1533">
                <a:solidFill>
                  <a:schemeClr val="lt1"/>
                </a:solidFill>
              </a:defRPr>
            </a:lvl1pPr>
            <a:lvl2pPr marL="1219170" lvl="1" indent="-402157" rtl="0">
              <a:spcBef>
                <a:spcPts val="2133"/>
              </a:spcBef>
              <a:spcAft>
                <a:spcPts val="0"/>
              </a:spcAft>
              <a:buClr>
                <a:schemeClr val="lt1"/>
              </a:buClr>
              <a:buSzPts val="1150"/>
              <a:buChar char="○"/>
              <a:defRPr sz="1533">
                <a:solidFill>
                  <a:schemeClr val="lt1"/>
                </a:solidFill>
              </a:defRPr>
            </a:lvl2pPr>
            <a:lvl3pPr marL="1828754" lvl="2" indent="-402157" rtl="0">
              <a:spcBef>
                <a:spcPts val="2133"/>
              </a:spcBef>
              <a:spcAft>
                <a:spcPts val="0"/>
              </a:spcAft>
              <a:buClr>
                <a:schemeClr val="lt1"/>
              </a:buClr>
              <a:buSzPts val="1150"/>
              <a:buChar char="■"/>
              <a:defRPr sz="1533">
                <a:solidFill>
                  <a:schemeClr val="lt1"/>
                </a:solidFill>
              </a:defRPr>
            </a:lvl3pPr>
            <a:lvl4pPr marL="2438339" lvl="3" indent="-402157" rtl="0">
              <a:spcBef>
                <a:spcPts val="2133"/>
              </a:spcBef>
              <a:spcAft>
                <a:spcPts val="0"/>
              </a:spcAft>
              <a:buClr>
                <a:schemeClr val="lt1"/>
              </a:buClr>
              <a:buSzPts val="1150"/>
              <a:buChar char="●"/>
              <a:defRPr sz="1533">
                <a:solidFill>
                  <a:schemeClr val="lt1"/>
                </a:solidFill>
              </a:defRPr>
            </a:lvl4pPr>
            <a:lvl5pPr marL="3047924" lvl="4" indent="-402157" rtl="0">
              <a:spcBef>
                <a:spcPts val="2133"/>
              </a:spcBef>
              <a:spcAft>
                <a:spcPts val="0"/>
              </a:spcAft>
              <a:buClr>
                <a:schemeClr val="lt1"/>
              </a:buClr>
              <a:buSzPts val="1150"/>
              <a:buChar char="○"/>
              <a:defRPr sz="1533">
                <a:solidFill>
                  <a:schemeClr val="lt1"/>
                </a:solidFill>
              </a:defRPr>
            </a:lvl5pPr>
            <a:lvl6pPr marL="3657509" lvl="5" indent="-402157" rtl="0">
              <a:spcBef>
                <a:spcPts val="2133"/>
              </a:spcBef>
              <a:spcAft>
                <a:spcPts val="0"/>
              </a:spcAft>
              <a:buClr>
                <a:schemeClr val="lt1"/>
              </a:buClr>
              <a:buSzPts val="1150"/>
              <a:buChar char="■"/>
              <a:defRPr sz="1533">
                <a:solidFill>
                  <a:schemeClr val="lt1"/>
                </a:solidFill>
              </a:defRPr>
            </a:lvl6pPr>
            <a:lvl7pPr marL="4267093" lvl="6" indent="-402157" rtl="0">
              <a:spcBef>
                <a:spcPts val="2133"/>
              </a:spcBef>
              <a:spcAft>
                <a:spcPts val="0"/>
              </a:spcAft>
              <a:buClr>
                <a:schemeClr val="lt1"/>
              </a:buClr>
              <a:buSzPts val="1150"/>
              <a:buChar char="●"/>
              <a:defRPr sz="1533">
                <a:solidFill>
                  <a:schemeClr val="lt1"/>
                </a:solidFill>
              </a:defRPr>
            </a:lvl7pPr>
            <a:lvl8pPr marL="4876678" lvl="7" indent="-402157" rtl="0">
              <a:spcBef>
                <a:spcPts val="2133"/>
              </a:spcBef>
              <a:spcAft>
                <a:spcPts val="0"/>
              </a:spcAft>
              <a:buClr>
                <a:schemeClr val="lt1"/>
              </a:buClr>
              <a:buSzPts val="1150"/>
              <a:buChar char="○"/>
              <a:defRPr sz="1533">
                <a:solidFill>
                  <a:schemeClr val="lt1"/>
                </a:solidFill>
              </a:defRPr>
            </a:lvl8pPr>
            <a:lvl9pPr marL="5486263" lvl="8" indent="-402157" rtl="0">
              <a:spcBef>
                <a:spcPts val="2133"/>
              </a:spcBef>
              <a:spcAft>
                <a:spcPts val="2133"/>
              </a:spcAft>
              <a:buClr>
                <a:schemeClr val="lt1"/>
              </a:buClr>
              <a:buSzPts val="1150"/>
              <a:buChar char="■"/>
              <a:defRPr sz="1533">
                <a:solidFill>
                  <a:schemeClr val="lt1"/>
                </a:solidFill>
              </a:defRPr>
            </a:lvl9pPr>
          </a:lstStyle>
          <a:p>
            <a:endParaRPr/>
          </a:p>
        </p:txBody>
      </p:sp>
    </p:spTree>
    <p:extLst>
      <p:ext uri="{BB962C8B-B14F-4D97-AF65-F5344CB8AC3E}">
        <p14:creationId xmlns:p14="http://schemas.microsoft.com/office/powerpoint/2010/main" val="2434625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4717996"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6" name="Google Shape;46;p14"/>
          <p:cNvSpPr txBox="1">
            <a:spLocks noGrp="1"/>
          </p:cNvSpPr>
          <p:nvPr>
            <p:ph type="subTitle" idx="1"/>
          </p:nvPr>
        </p:nvSpPr>
        <p:spPr>
          <a:xfrm>
            <a:off x="4717996"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7" name="Google Shape;47;p14"/>
          <p:cNvSpPr txBox="1">
            <a:spLocks noGrp="1"/>
          </p:cNvSpPr>
          <p:nvPr>
            <p:ph type="title" idx="2"/>
          </p:nvPr>
        </p:nvSpPr>
        <p:spPr>
          <a:xfrm>
            <a:off x="8038071"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8" name="Google Shape;48;p14"/>
          <p:cNvSpPr txBox="1">
            <a:spLocks noGrp="1"/>
          </p:cNvSpPr>
          <p:nvPr>
            <p:ph type="subTitle" idx="3"/>
          </p:nvPr>
        </p:nvSpPr>
        <p:spPr>
          <a:xfrm>
            <a:off x="8038071"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9" name="Google Shape;49;p14"/>
          <p:cNvSpPr txBox="1">
            <a:spLocks noGrp="1"/>
          </p:cNvSpPr>
          <p:nvPr>
            <p:ph type="title" idx="4"/>
          </p:nvPr>
        </p:nvSpPr>
        <p:spPr>
          <a:xfrm>
            <a:off x="1397929"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50" name="Google Shape;50;p14"/>
          <p:cNvSpPr txBox="1">
            <a:spLocks noGrp="1"/>
          </p:cNvSpPr>
          <p:nvPr>
            <p:ph type="subTitle" idx="5"/>
          </p:nvPr>
        </p:nvSpPr>
        <p:spPr>
          <a:xfrm>
            <a:off x="1397929"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51" name="Google Shape;51;p14"/>
          <p:cNvSpPr txBox="1">
            <a:spLocks noGrp="1"/>
          </p:cNvSpPr>
          <p:nvPr>
            <p:ph type="title" idx="6" hasCustomPrompt="1"/>
          </p:nvPr>
        </p:nvSpPr>
        <p:spPr>
          <a:xfrm>
            <a:off x="1397933"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2" name="Google Shape;52;p14"/>
          <p:cNvSpPr txBox="1">
            <a:spLocks noGrp="1"/>
          </p:cNvSpPr>
          <p:nvPr>
            <p:ph type="title" idx="7" hasCustomPrompt="1"/>
          </p:nvPr>
        </p:nvSpPr>
        <p:spPr>
          <a:xfrm>
            <a:off x="4718000"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3" name="Google Shape;53;p14"/>
          <p:cNvSpPr txBox="1">
            <a:spLocks noGrp="1"/>
          </p:cNvSpPr>
          <p:nvPr>
            <p:ph type="title" idx="8" hasCustomPrompt="1"/>
          </p:nvPr>
        </p:nvSpPr>
        <p:spPr>
          <a:xfrm>
            <a:off x="8038067"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Tree>
    <p:extLst>
      <p:ext uri="{BB962C8B-B14F-4D97-AF65-F5344CB8AC3E}">
        <p14:creationId xmlns:p14="http://schemas.microsoft.com/office/powerpoint/2010/main" val="1450709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714000" y="3777167"/>
            <a:ext cx="4876400" cy="8596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56" name="Google Shape;56;p15"/>
          <p:cNvSpPr txBox="1">
            <a:spLocks noGrp="1"/>
          </p:cNvSpPr>
          <p:nvPr>
            <p:ph type="subTitle" idx="1"/>
          </p:nvPr>
        </p:nvSpPr>
        <p:spPr>
          <a:xfrm>
            <a:off x="5525400" y="4733133"/>
            <a:ext cx="525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184159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2467367" y="1543900"/>
            <a:ext cx="7257200" cy="347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4000" b="1">
                <a:solidFill>
                  <a:schemeClr val="lt1"/>
                </a:solidFill>
              </a:defRPr>
            </a:lvl1pPr>
            <a:lvl2pPr lvl="1" algn="ctr" rtl="0">
              <a:spcBef>
                <a:spcPts val="0"/>
              </a:spcBef>
              <a:spcAft>
                <a:spcPts val="0"/>
              </a:spcAft>
              <a:buClr>
                <a:schemeClr val="lt1"/>
              </a:buClr>
              <a:buSzPts val="3000"/>
              <a:buNone/>
              <a:defRPr sz="4000" b="1">
                <a:solidFill>
                  <a:schemeClr val="lt1"/>
                </a:solidFill>
              </a:defRPr>
            </a:lvl2pPr>
            <a:lvl3pPr lvl="2" algn="ctr" rtl="0">
              <a:spcBef>
                <a:spcPts val="0"/>
              </a:spcBef>
              <a:spcAft>
                <a:spcPts val="0"/>
              </a:spcAft>
              <a:buClr>
                <a:schemeClr val="lt1"/>
              </a:buClr>
              <a:buSzPts val="3000"/>
              <a:buNone/>
              <a:defRPr sz="4000" b="1">
                <a:solidFill>
                  <a:schemeClr val="lt1"/>
                </a:solidFill>
              </a:defRPr>
            </a:lvl3pPr>
            <a:lvl4pPr lvl="3" algn="ctr" rtl="0">
              <a:spcBef>
                <a:spcPts val="0"/>
              </a:spcBef>
              <a:spcAft>
                <a:spcPts val="0"/>
              </a:spcAft>
              <a:buClr>
                <a:schemeClr val="lt1"/>
              </a:buClr>
              <a:buSzPts val="3000"/>
              <a:buNone/>
              <a:defRPr sz="4000" b="1">
                <a:solidFill>
                  <a:schemeClr val="lt1"/>
                </a:solidFill>
              </a:defRPr>
            </a:lvl4pPr>
            <a:lvl5pPr lvl="4" algn="ctr" rtl="0">
              <a:spcBef>
                <a:spcPts val="0"/>
              </a:spcBef>
              <a:spcAft>
                <a:spcPts val="0"/>
              </a:spcAft>
              <a:buClr>
                <a:schemeClr val="lt1"/>
              </a:buClr>
              <a:buSzPts val="3000"/>
              <a:buNone/>
              <a:defRPr sz="4000" b="1">
                <a:solidFill>
                  <a:schemeClr val="lt1"/>
                </a:solidFill>
              </a:defRPr>
            </a:lvl5pPr>
            <a:lvl6pPr lvl="5" algn="ctr" rtl="0">
              <a:spcBef>
                <a:spcPts val="0"/>
              </a:spcBef>
              <a:spcAft>
                <a:spcPts val="0"/>
              </a:spcAft>
              <a:buClr>
                <a:schemeClr val="lt1"/>
              </a:buClr>
              <a:buSzPts val="3000"/>
              <a:buNone/>
              <a:defRPr sz="4000" b="1">
                <a:solidFill>
                  <a:schemeClr val="lt1"/>
                </a:solidFill>
              </a:defRPr>
            </a:lvl6pPr>
            <a:lvl7pPr lvl="6" algn="ctr" rtl="0">
              <a:spcBef>
                <a:spcPts val="0"/>
              </a:spcBef>
              <a:spcAft>
                <a:spcPts val="0"/>
              </a:spcAft>
              <a:buClr>
                <a:schemeClr val="lt1"/>
              </a:buClr>
              <a:buSzPts val="3000"/>
              <a:buNone/>
              <a:defRPr sz="4000" b="1">
                <a:solidFill>
                  <a:schemeClr val="lt1"/>
                </a:solidFill>
              </a:defRPr>
            </a:lvl7pPr>
            <a:lvl8pPr lvl="7" algn="ctr" rtl="0">
              <a:spcBef>
                <a:spcPts val="0"/>
              </a:spcBef>
              <a:spcAft>
                <a:spcPts val="0"/>
              </a:spcAft>
              <a:buClr>
                <a:schemeClr val="lt1"/>
              </a:buClr>
              <a:buSzPts val="3000"/>
              <a:buNone/>
              <a:defRPr sz="4000" b="1">
                <a:solidFill>
                  <a:schemeClr val="lt1"/>
                </a:solidFill>
              </a:defRPr>
            </a:lvl8pPr>
            <a:lvl9pPr lvl="8" algn="ctr" rtl="0">
              <a:spcBef>
                <a:spcPts val="0"/>
              </a:spcBef>
              <a:spcAft>
                <a:spcPts val="0"/>
              </a:spcAft>
              <a:buClr>
                <a:schemeClr val="lt1"/>
              </a:buClr>
              <a:buSzPts val="3000"/>
              <a:buNone/>
              <a:defRPr sz="4000" b="1">
                <a:solidFill>
                  <a:schemeClr val="lt1"/>
                </a:solidFill>
              </a:defRPr>
            </a:lvl9pPr>
          </a:lstStyle>
          <a:p>
            <a:endParaRPr/>
          </a:p>
        </p:txBody>
      </p:sp>
      <p:sp>
        <p:nvSpPr>
          <p:cNvPr id="59" name="Google Shape;59;p16"/>
          <p:cNvSpPr txBox="1">
            <a:spLocks noGrp="1"/>
          </p:cNvSpPr>
          <p:nvPr>
            <p:ph type="subTitle" idx="1"/>
          </p:nvPr>
        </p:nvSpPr>
        <p:spPr>
          <a:xfrm>
            <a:off x="3309200" y="5260800"/>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34470643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Two Columns">
  <p:cSld name="Title + Two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2583117"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2" name="Google Shape;62;p17"/>
          <p:cNvSpPr txBox="1">
            <a:spLocks noGrp="1"/>
          </p:cNvSpPr>
          <p:nvPr>
            <p:ph type="subTitle" idx="1"/>
          </p:nvPr>
        </p:nvSpPr>
        <p:spPr>
          <a:xfrm>
            <a:off x="2583117"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3" name="Google Shape;63;p17"/>
          <p:cNvSpPr txBox="1">
            <a:spLocks noGrp="1"/>
          </p:cNvSpPr>
          <p:nvPr>
            <p:ph type="title" idx="2"/>
          </p:nvPr>
        </p:nvSpPr>
        <p:spPr>
          <a:xfrm>
            <a:off x="6422084"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4" name="Google Shape;64;p17"/>
          <p:cNvSpPr txBox="1">
            <a:spLocks noGrp="1"/>
          </p:cNvSpPr>
          <p:nvPr>
            <p:ph type="subTitle" idx="3"/>
          </p:nvPr>
        </p:nvSpPr>
        <p:spPr>
          <a:xfrm>
            <a:off x="6422084"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5" name="Google Shape;65;p1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90334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717996"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8" name="Google Shape;68;p18"/>
          <p:cNvSpPr txBox="1">
            <a:spLocks noGrp="1"/>
          </p:cNvSpPr>
          <p:nvPr>
            <p:ph type="subTitle" idx="1"/>
          </p:nvPr>
        </p:nvSpPr>
        <p:spPr>
          <a:xfrm>
            <a:off x="4717996"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9" name="Google Shape;69;p18"/>
          <p:cNvSpPr txBox="1">
            <a:spLocks noGrp="1"/>
          </p:cNvSpPr>
          <p:nvPr>
            <p:ph type="title" idx="2"/>
          </p:nvPr>
        </p:nvSpPr>
        <p:spPr>
          <a:xfrm>
            <a:off x="8038071"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0" name="Google Shape;70;p18"/>
          <p:cNvSpPr txBox="1">
            <a:spLocks noGrp="1"/>
          </p:cNvSpPr>
          <p:nvPr>
            <p:ph type="subTitle" idx="3"/>
          </p:nvPr>
        </p:nvSpPr>
        <p:spPr>
          <a:xfrm>
            <a:off x="8038071"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71" name="Google Shape;71;p18"/>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1397929"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3" name="Google Shape;73;p18"/>
          <p:cNvSpPr txBox="1">
            <a:spLocks noGrp="1"/>
          </p:cNvSpPr>
          <p:nvPr>
            <p:ph type="subTitle" idx="6"/>
          </p:nvPr>
        </p:nvSpPr>
        <p:spPr>
          <a:xfrm>
            <a:off x="1397929"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76086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text">
  <p:cSld name="1_Big 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698000" y="1825333"/>
            <a:ext cx="8796000" cy="281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6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76" name="Google Shape;76;p19"/>
          <p:cNvSpPr txBox="1">
            <a:spLocks noGrp="1"/>
          </p:cNvSpPr>
          <p:nvPr>
            <p:ph type="subTitle" idx="1"/>
          </p:nvPr>
        </p:nvSpPr>
        <p:spPr>
          <a:xfrm>
            <a:off x="3309200" y="3359367"/>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2998418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Design">
  <p:cSld name="Title + Design">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766837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Design 1">
  <p:cSld name="Title + Design 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228596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318741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Design 3">
  <p:cSld name="Title + Design 3">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857608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Two Lists">
  <p:cSld name="Title + Two Lists">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1251333" y="593367"/>
            <a:ext cx="661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7" name="Google Shape;87;p24"/>
          <p:cNvSpPr txBox="1">
            <a:spLocks noGrp="1"/>
          </p:cNvSpPr>
          <p:nvPr>
            <p:ph type="body" idx="1"/>
          </p:nvPr>
        </p:nvSpPr>
        <p:spPr>
          <a:xfrm>
            <a:off x="1422988"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8" name="Google Shape;88;p24"/>
          <p:cNvSpPr txBox="1">
            <a:spLocks noGrp="1"/>
          </p:cNvSpPr>
          <p:nvPr>
            <p:ph type="body" idx="2"/>
          </p:nvPr>
        </p:nvSpPr>
        <p:spPr>
          <a:xfrm>
            <a:off x="6231803"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9" name="Google Shape;89;p24"/>
          <p:cNvSpPr txBox="1">
            <a:spLocks noGrp="1"/>
          </p:cNvSpPr>
          <p:nvPr>
            <p:ph type="title" idx="3"/>
          </p:nvPr>
        </p:nvSpPr>
        <p:spPr>
          <a:xfrm>
            <a:off x="16179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90" name="Google Shape;90;p24"/>
          <p:cNvSpPr txBox="1">
            <a:spLocks noGrp="1"/>
          </p:cNvSpPr>
          <p:nvPr>
            <p:ph type="title" idx="4"/>
          </p:nvPr>
        </p:nvSpPr>
        <p:spPr>
          <a:xfrm>
            <a:off x="64267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Tree>
    <p:extLst>
      <p:ext uri="{BB962C8B-B14F-4D97-AF65-F5344CB8AC3E}">
        <p14:creationId xmlns:p14="http://schemas.microsoft.com/office/powerpoint/2010/main" val="401956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Four Columns">
  <p:cSld name="Title + Four Columns">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93" name="Google Shape;93;p25"/>
          <p:cNvSpPr txBox="1">
            <a:spLocks noGrp="1"/>
          </p:cNvSpPr>
          <p:nvPr>
            <p:ph type="title" idx="2"/>
          </p:nvPr>
        </p:nvSpPr>
        <p:spPr>
          <a:xfrm>
            <a:off x="1197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4" name="Google Shape;94;p25"/>
          <p:cNvSpPr txBox="1">
            <a:spLocks noGrp="1"/>
          </p:cNvSpPr>
          <p:nvPr>
            <p:ph type="subTitle" idx="1"/>
          </p:nvPr>
        </p:nvSpPr>
        <p:spPr>
          <a:xfrm>
            <a:off x="1197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5" name="Google Shape;95;p25"/>
          <p:cNvSpPr txBox="1">
            <a:spLocks noGrp="1"/>
          </p:cNvSpPr>
          <p:nvPr>
            <p:ph type="title" idx="3"/>
          </p:nvPr>
        </p:nvSpPr>
        <p:spPr>
          <a:xfrm>
            <a:off x="3720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6" name="Google Shape;96;p25"/>
          <p:cNvSpPr txBox="1">
            <a:spLocks noGrp="1"/>
          </p:cNvSpPr>
          <p:nvPr>
            <p:ph type="subTitle" idx="4"/>
          </p:nvPr>
        </p:nvSpPr>
        <p:spPr>
          <a:xfrm>
            <a:off x="3720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7" name="Google Shape;97;p25"/>
          <p:cNvSpPr txBox="1">
            <a:spLocks noGrp="1"/>
          </p:cNvSpPr>
          <p:nvPr>
            <p:ph type="title" idx="5"/>
          </p:nvPr>
        </p:nvSpPr>
        <p:spPr>
          <a:xfrm>
            <a:off x="6242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8" name="Google Shape;98;p25"/>
          <p:cNvSpPr txBox="1">
            <a:spLocks noGrp="1"/>
          </p:cNvSpPr>
          <p:nvPr>
            <p:ph type="subTitle" idx="6"/>
          </p:nvPr>
        </p:nvSpPr>
        <p:spPr>
          <a:xfrm>
            <a:off x="6242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9" name="Google Shape;99;p25"/>
          <p:cNvSpPr txBox="1">
            <a:spLocks noGrp="1"/>
          </p:cNvSpPr>
          <p:nvPr>
            <p:ph type="title" idx="7"/>
          </p:nvPr>
        </p:nvSpPr>
        <p:spPr>
          <a:xfrm>
            <a:off x="8765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00" name="Google Shape;100;p25"/>
          <p:cNvSpPr txBox="1">
            <a:spLocks noGrp="1"/>
          </p:cNvSpPr>
          <p:nvPr>
            <p:ph type="subTitle" idx="8"/>
          </p:nvPr>
        </p:nvSpPr>
        <p:spPr>
          <a:xfrm>
            <a:off x="8765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967500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Numbers">
  <p:cSld name="Three Numbers">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hasCustomPrompt="1"/>
          </p:nvPr>
        </p:nvSpPr>
        <p:spPr>
          <a:xfrm>
            <a:off x="6662400" y="882457"/>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3" name="Google Shape;103;p26"/>
          <p:cNvSpPr txBox="1">
            <a:spLocks noGrp="1"/>
          </p:cNvSpPr>
          <p:nvPr>
            <p:ph type="subTitle" idx="1"/>
          </p:nvPr>
        </p:nvSpPr>
        <p:spPr>
          <a:xfrm>
            <a:off x="6548000" y="1687800"/>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4" name="Google Shape;104;p26"/>
          <p:cNvSpPr txBox="1">
            <a:spLocks noGrp="1"/>
          </p:cNvSpPr>
          <p:nvPr>
            <p:ph type="title" idx="2" hasCustomPrompt="1"/>
          </p:nvPr>
        </p:nvSpPr>
        <p:spPr>
          <a:xfrm>
            <a:off x="6662400" y="2798924"/>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5" name="Google Shape;105;p26"/>
          <p:cNvSpPr txBox="1">
            <a:spLocks noGrp="1"/>
          </p:cNvSpPr>
          <p:nvPr>
            <p:ph type="subTitle" idx="3"/>
          </p:nvPr>
        </p:nvSpPr>
        <p:spPr>
          <a:xfrm>
            <a:off x="6548000" y="3604267"/>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6" name="Google Shape;106;p26"/>
          <p:cNvSpPr txBox="1">
            <a:spLocks noGrp="1"/>
          </p:cNvSpPr>
          <p:nvPr>
            <p:ph type="title" idx="4" hasCustomPrompt="1"/>
          </p:nvPr>
        </p:nvSpPr>
        <p:spPr>
          <a:xfrm>
            <a:off x="6662400" y="4715391"/>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7" name="Google Shape;107;p26"/>
          <p:cNvSpPr txBox="1">
            <a:spLocks noGrp="1"/>
          </p:cNvSpPr>
          <p:nvPr>
            <p:ph type="subTitle" idx="5"/>
          </p:nvPr>
        </p:nvSpPr>
        <p:spPr>
          <a:xfrm>
            <a:off x="6548000" y="5520733"/>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Tree>
    <p:extLst>
      <p:ext uri="{BB962C8B-B14F-4D97-AF65-F5344CB8AC3E}">
        <p14:creationId xmlns:p14="http://schemas.microsoft.com/office/powerpoint/2010/main" val="1482259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Six Columns  ">
  <p:cSld name="Title + Six Columns  ">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4717996"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0" name="Google Shape;110;p27"/>
          <p:cNvSpPr txBox="1">
            <a:spLocks noGrp="1"/>
          </p:cNvSpPr>
          <p:nvPr>
            <p:ph type="subTitle" idx="1"/>
          </p:nvPr>
        </p:nvSpPr>
        <p:spPr>
          <a:xfrm>
            <a:off x="4717997"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1" name="Google Shape;111;p27"/>
          <p:cNvSpPr txBox="1">
            <a:spLocks noGrp="1"/>
          </p:cNvSpPr>
          <p:nvPr>
            <p:ph type="title" idx="2"/>
          </p:nvPr>
        </p:nvSpPr>
        <p:spPr>
          <a:xfrm>
            <a:off x="8038071"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2" name="Google Shape;112;p27"/>
          <p:cNvSpPr txBox="1">
            <a:spLocks noGrp="1"/>
          </p:cNvSpPr>
          <p:nvPr>
            <p:ph type="subTitle" idx="3"/>
          </p:nvPr>
        </p:nvSpPr>
        <p:spPr>
          <a:xfrm>
            <a:off x="8038069"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3" name="Google Shape;113;p2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7"/>
          <p:cNvSpPr txBox="1">
            <a:spLocks noGrp="1"/>
          </p:cNvSpPr>
          <p:nvPr>
            <p:ph type="title" idx="5"/>
          </p:nvPr>
        </p:nvSpPr>
        <p:spPr>
          <a:xfrm>
            <a:off x="1397929"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5" name="Google Shape;115;p27"/>
          <p:cNvSpPr txBox="1">
            <a:spLocks noGrp="1"/>
          </p:cNvSpPr>
          <p:nvPr>
            <p:ph type="subTitle" idx="6"/>
          </p:nvPr>
        </p:nvSpPr>
        <p:spPr>
          <a:xfrm>
            <a:off x="1397933"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6" name="Google Shape;116;p27"/>
          <p:cNvSpPr txBox="1">
            <a:spLocks noGrp="1"/>
          </p:cNvSpPr>
          <p:nvPr>
            <p:ph type="title" idx="7"/>
          </p:nvPr>
        </p:nvSpPr>
        <p:spPr>
          <a:xfrm>
            <a:off x="4717996"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7" name="Google Shape;117;p27"/>
          <p:cNvSpPr txBox="1">
            <a:spLocks noGrp="1"/>
          </p:cNvSpPr>
          <p:nvPr>
            <p:ph type="subTitle" idx="8"/>
          </p:nvPr>
        </p:nvSpPr>
        <p:spPr>
          <a:xfrm>
            <a:off x="4717997"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8" name="Google Shape;118;p27"/>
          <p:cNvSpPr txBox="1">
            <a:spLocks noGrp="1"/>
          </p:cNvSpPr>
          <p:nvPr>
            <p:ph type="title" idx="9"/>
          </p:nvPr>
        </p:nvSpPr>
        <p:spPr>
          <a:xfrm>
            <a:off x="8038071"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9" name="Google Shape;119;p27"/>
          <p:cNvSpPr txBox="1">
            <a:spLocks noGrp="1"/>
          </p:cNvSpPr>
          <p:nvPr>
            <p:ph type="subTitle" idx="13"/>
          </p:nvPr>
        </p:nvSpPr>
        <p:spPr>
          <a:xfrm>
            <a:off x="8038069"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20" name="Google Shape;120;p27"/>
          <p:cNvSpPr txBox="1">
            <a:spLocks noGrp="1"/>
          </p:cNvSpPr>
          <p:nvPr>
            <p:ph type="title" idx="14"/>
          </p:nvPr>
        </p:nvSpPr>
        <p:spPr>
          <a:xfrm>
            <a:off x="1397929"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21" name="Google Shape;121;p27"/>
          <p:cNvSpPr txBox="1">
            <a:spLocks noGrp="1"/>
          </p:cNvSpPr>
          <p:nvPr>
            <p:ph type="subTitle" idx="15"/>
          </p:nvPr>
        </p:nvSpPr>
        <p:spPr>
          <a:xfrm>
            <a:off x="1397933"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4662230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Four Columns 1">
  <p:cSld name="Title + Four Columns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8"/>
          <p:cNvSpPr txBox="1">
            <a:spLocks noGrp="1"/>
          </p:cNvSpPr>
          <p:nvPr>
            <p:ph type="title"/>
          </p:nvPr>
        </p:nvSpPr>
        <p:spPr>
          <a:xfrm>
            <a:off x="1251333" y="593367"/>
            <a:ext cx="67248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4" name="Google Shape;124;p28"/>
          <p:cNvSpPr txBox="1">
            <a:spLocks noGrp="1"/>
          </p:cNvSpPr>
          <p:nvPr>
            <p:ph type="title" idx="2"/>
          </p:nvPr>
        </p:nvSpPr>
        <p:spPr>
          <a:xfrm>
            <a:off x="1784317" y="3146433"/>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5" name="Google Shape;125;p28"/>
          <p:cNvSpPr txBox="1">
            <a:spLocks noGrp="1"/>
          </p:cNvSpPr>
          <p:nvPr>
            <p:ph type="subTitle" idx="1"/>
          </p:nvPr>
        </p:nvSpPr>
        <p:spPr>
          <a:xfrm>
            <a:off x="1784317" y="2284068"/>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6" name="Google Shape;126;p28"/>
          <p:cNvSpPr txBox="1">
            <a:spLocks noGrp="1"/>
          </p:cNvSpPr>
          <p:nvPr>
            <p:ph type="title" idx="3"/>
          </p:nvPr>
        </p:nvSpPr>
        <p:spPr>
          <a:xfrm>
            <a:off x="1784317" y="5318600"/>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7" name="Google Shape;127;p28"/>
          <p:cNvSpPr txBox="1">
            <a:spLocks noGrp="1"/>
          </p:cNvSpPr>
          <p:nvPr>
            <p:ph type="subTitle" idx="4"/>
          </p:nvPr>
        </p:nvSpPr>
        <p:spPr>
          <a:xfrm>
            <a:off x="1784317" y="4456235"/>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8" name="Google Shape;128;p28"/>
          <p:cNvSpPr txBox="1">
            <a:spLocks noGrp="1"/>
          </p:cNvSpPr>
          <p:nvPr>
            <p:ph type="title" idx="5"/>
          </p:nvPr>
        </p:nvSpPr>
        <p:spPr>
          <a:xfrm>
            <a:off x="6770884" y="3146433"/>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29" name="Google Shape;129;p28"/>
          <p:cNvSpPr txBox="1">
            <a:spLocks noGrp="1"/>
          </p:cNvSpPr>
          <p:nvPr>
            <p:ph type="subTitle" idx="6"/>
          </p:nvPr>
        </p:nvSpPr>
        <p:spPr>
          <a:xfrm>
            <a:off x="6770884" y="2284068"/>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30" name="Google Shape;130;p28"/>
          <p:cNvSpPr txBox="1">
            <a:spLocks noGrp="1"/>
          </p:cNvSpPr>
          <p:nvPr>
            <p:ph type="title" idx="7"/>
          </p:nvPr>
        </p:nvSpPr>
        <p:spPr>
          <a:xfrm>
            <a:off x="6770884" y="5318600"/>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31" name="Google Shape;131;p28"/>
          <p:cNvSpPr txBox="1">
            <a:spLocks noGrp="1"/>
          </p:cNvSpPr>
          <p:nvPr>
            <p:ph type="subTitle" idx="8"/>
          </p:nvPr>
        </p:nvSpPr>
        <p:spPr>
          <a:xfrm>
            <a:off x="6770884" y="4456235"/>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Tree>
    <p:extLst>
      <p:ext uri="{BB962C8B-B14F-4D97-AF65-F5344CB8AC3E}">
        <p14:creationId xmlns:p14="http://schemas.microsoft.com/office/powerpoint/2010/main" val="3671886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Text">
  <p:cSld name="Title + Text">
    <p:bg>
      <p:bgPr>
        <a:blipFill>
          <a:blip r:embed="rId2">
            <a:alphaModFix/>
          </a:blip>
          <a:stretch>
            <a:fillRect/>
          </a:stretch>
        </a:blipFill>
        <a:effectLst/>
      </p:bgPr>
    </p:bg>
    <p:spTree>
      <p:nvGrpSpPr>
        <p:cNvPr id="1" name="Shape 132"/>
        <p:cNvGrpSpPr/>
        <p:nvPr/>
      </p:nvGrpSpPr>
      <p:grpSpPr>
        <a:xfrm>
          <a:off x="0" y="0"/>
          <a:ext cx="0" cy="0"/>
          <a:chOff x="0" y="0"/>
          <a:chExt cx="0" cy="0"/>
        </a:xfrm>
      </p:grpSpPr>
      <p:sp>
        <p:nvSpPr>
          <p:cNvPr id="133" name="Google Shape;133;p29"/>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34" name="Google Shape;134;p29"/>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500868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Text 1">
  <p:cSld name="Title + Text 1">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7" name="Google Shape;137;p30"/>
          <p:cNvSpPr txBox="1">
            <a:spLocks noGrp="1"/>
          </p:cNvSpPr>
          <p:nvPr>
            <p:ph type="subTitle" idx="1"/>
          </p:nvPr>
        </p:nvSpPr>
        <p:spPr>
          <a:xfrm>
            <a:off x="1251333"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9039431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Text 2">
  <p:cSld name="Title + Text 2">
    <p:bg>
      <p:bgPr>
        <a:blipFill>
          <a:blip r:embed="rId2">
            <a:alphaModFix/>
          </a:blip>
          <a:stretch>
            <a:fillRect/>
          </a:stretch>
        </a:blip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31"/>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40795125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p:cSld name="One Column">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750400" y="3256067"/>
            <a:ext cx="6691200" cy="79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3" name="Google Shape;143;p32"/>
          <p:cNvSpPr txBox="1">
            <a:spLocks noGrp="1"/>
          </p:cNvSpPr>
          <p:nvPr>
            <p:ph type="subTitle" idx="1"/>
          </p:nvPr>
        </p:nvSpPr>
        <p:spPr>
          <a:xfrm>
            <a:off x="3862000" y="4521767"/>
            <a:ext cx="4468000" cy="15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30707060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s + Credits">
  <p:cSld name="Thanks + Credits">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1233160" y="1013833"/>
            <a:ext cx="4091600" cy="79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6" name="Google Shape;146;p33"/>
          <p:cNvSpPr txBox="1">
            <a:spLocks noGrp="1"/>
          </p:cNvSpPr>
          <p:nvPr>
            <p:ph type="subTitle" idx="1"/>
          </p:nvPr>
        </p:nvSpPr>
        <p:spPr>
          <a:xfrm>
            <a:off x="1233167" y="2245700"/>
            <a:ext cx="4407200" cy="14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147" name="Google Shape;147;p33"/>
          <p:cNvSpPr txBox="1"/>
          <p:nvPr/>
        </p:nvSpPr>
        <p:spPr>
          <a:xfrm>
            <a:off x="1233167" y="4760000"/>
            <a:ext cx="4407200" cy="889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1"/>
                </a:solidFill>
                <a:latin typeface="Montserrat Medium"/>
                <a:ea typeface="Montserrat Medium"/>
                <a:cs typeface="Montserrat Medium"/>
                <a:sym typeface="Montserrat Medium"/>
              </a:rPr>
              <a:t>CREDITS: This presentation template was created by </a:t>
            </a:r>
            <a:r>
              <a:rPr lang="en" sz="1333">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333">
                <a:solidFill>
                  <a:schemeClr val="accent1"/>
                </a:solidFill>
                <a:latin typeface="Montserrat Medium"/>
                <a:ea typeface="Montserrat Medium"/>
                <a:cs typeface="Montserrat Medium"/>
                <a:sym typeface="Montserrat Medium"/>
              </a:rPr>
              <a:t>, including icons by </a:t>
            </a:r>
            <a:r>
              <a:rPr lang="en" sz="1333">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333">
                <a:solidFill>
                  <a:schemeClr val="accent1"/>
                </a:solidFill>
                <a:latin typeface="Montserrat Medium"/>
                <a:ea typeface="Montserrat Medium"/>
                <a:cs typeface="Montserrat Medium"/>
                <a:sym typeface="Montserrat Medium"/>
              </a:rPr>
              <a:t>, and infographics &amp; images by </a:t>
            </a:r>
            <a:r>
              <a:rPr lang="en" sz="1333">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333">
                <a:solidFill>
                  <a:schemeClr val="accent1"/>
                </a:solidFill>
                <a:latin typeface="Montserrat Medium"/>
                <a:ea typeface="Montserrat Medium"/>
                <a:cs typeface="Montserrat Medium"/>
                <a:sym typeface="Montserrat Medium"/>
              </a:rPr>
              <a:t>. </a:t>
            </a:r>
            <a:endParaRPr sz="1333">
              <a:solidFill>
                <a:schemeClr val="accent1"/>
              </a:solidFill>
              <a:latin typeface="Montserrat Medium"/>
              <a:ea typeface="Montserrat Medium"/>
              <a:cs typeface="Montserrat Medium"/>
              <a:sym typeface="Montserrat Medium"/>
            </a:endParaRPr>
          </a:p>
          <a:p>
            <a:pPr marL="0" lvl="0" indent="0" algn="l" rtl="0">
              <a:spcBef>
                <a:spcPts val="400"/>
              </a:spcBef>
              <a:spcAft>
                <a:spcPts val="0"/>
              </a:spcAft>
              <a:buNone/>
            </a:pPr>
            <a:endParaRPr sz="1333">
              <a:solidFill>
                <a:schemeClr val="accen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865850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Bullet points 1">
  <p:cSld name="Title + Bullet points 1">
    <p:bg>
      <p:bgPr>
        <a:blipFill>
          <a:blip r:embed="rId2">
            <a:alphaModFix/>
          </a:blip>
          <a:stretch>
            <a:fillRect/>
          </a:stretch>
        </a:blipFill>
        <a:effectLst/>
      </p:bgPr>
    </p:bg>
    <p:spTree>
      <p:nvGrpSpPr>
        <p:cNvPr id="1" name="Shape 148"/>
        <p:cNvGrpSpPr/>
        <p:nvPr/>
      </p:nvGrpSpPr>
      <p:grpSpPr>
        <a:xfrm>
          <a:off x="0" y="0"/>
          <a:ext cx="0" cy="0"/>
          <a:chOff x="0" y="0"/>
          <a:chExt cx="0" cy="0"/>
        </a:xfrm>
      </p:grpSpPr>
      <p:sp>
        <p:nvSpPr>
          <p:cNvPr id="149" name="Google Shape;149;p3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0" name="Google Shape;150;p3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1700781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list">
  <p:cSld name="Title + list">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3" name="Google Shape;153;p35"/>
          <p:cNvSpPr txBox="1">
            <a:spLocks noGrp="1"/>
          </p:cNvSpPr>
          <p:nvPr>
            <p:ph type="body" idx="1"/>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29087815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7629121-19DA-F768-5CFC-B107B5E571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EED587A-86C9-0CB1-9E78-92A5B40A5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37848B63-FCC0-1F0C-6FA0-E39236C4D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FF5485DA-5959-B532-3F7A-88CB3767A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8A00227E-72C4-001E-FC04-94BC34817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001BE-C829-45D8-A74C-DB7038EE08AC}" type="slidenum">
              <a:rPr lang="es-CL" smtClean="0"/>
              <a:t>‹Nº›</a:t>
            </a:fld>
            <a:endParaRPr lang="es-CL"/>
          </a:p>
        </p:txBody>
      </p:sp>
    </p:spTree>
    <p:extLst>
      <p:ext uri="{BB962C8B-B14F-4D97-AF65-F5344CB8AC3E}">
        <p14:creationId xmlns:p14="http://schemas.microsoft.com/office/powerpoint/2010/main" val="1953608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60418886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jpg"/><Relationship Id="rId5" Type="http://schemas.openxmlformats.org/officeDocument/2006/relationships/image" Target="../media/image41.png"/><Relationship Id="rId6" Type="http://schemas.openxmlformats.org/officeDocument/2006/relationships/image" Target="../media/image42.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8.xml"/><Relationship Id="rId3" Type="http://schemas.openxmlformats.org/officeDocument/2006/relationships/image" Target="../media/image42.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9.xml"/><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82.png"/><Relationship Id="rId6" Type="http://schemas.openxmlformats.org/officeDocument/2006/relationships/image" Target="../media/image132.png"/><Relationship Id="rId7" Type="http://schemas.openxmlformats.org/officeDocument/2006/relationships/image" Target="../media/image89.png"/><Relationship Id="rId8" Type="http://schemas.openxmlformats.org/officeDocument/2006/relationships/image" Target="../media/image14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0.xml"/><Relationship Id="rId3" Type="http://schemas.openxmlformats.org/officeDocument/2006/relationships/image" Target="../media/image145.png"/><Relationship Id="rId4" Type="http://schemas.openxmlformats.org/officeDocument/2006/relationships/image" Target="../media/image141.png"/><Relationship Id="rId5" Type="http://schemas.openxmlformats.org/officeDocument/2006/relationships/image" Target="../media/image146.png"/><Relationship Id="rId6" Type="http://schemas.openxmlformats.org/officeDocument/2006/relationships/image" Target="../media/image92.png"/><Relationship Id="rId7" Type="http://schemas.openxmlformats.org/officeDocument/2006/relationships/image" Target="../media/image14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2.xml"/><Relationship Id="rId3" Type="http://schemas.openxmlformats.org/officeDocument/2006/relationships/image" Target="../media/image148.png"/><Relationship Id="rId4" Type="http://schemas.openxmlformats.org/officeDocument/2006/relationships/image" Target="../media/image149.png"/><Relationship Id="rId5" Type="http://schemas.openxmlformats.org/officeDocument/2006/relationships/image" Target="../media/image101.png"/><Relationship Id="rId6" Type="http://schemas.openxmlformats.org/officeDocument/2006/relationships/image" Target="../media/image6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3.xml"/><Relationship Id="rId3" Type="http://schemas.openxmlformats.org/officeDocument/2006/relationships/image" Target="../media/image148.png"/><Relationship Id="rId4" Type="http://schemas.openxmlformats.org/officeDocument/2006/relationships/image" Target="../media/image65.png"/><Relationship Id="rId5" Type="http://schemas.openxmlformats.org/officeDocument/2006/relationships/image" Target="../media/image63.png"/><Relationship Id="rId6" Type="http://schemas.openxmlformats.org/officeDocument/2006/relationships/image" Target="../media/image1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4.xml"/><Relationship Id="rId3" Type="http://schemas.openxmlformats.org/officeDocument/2006/relationships/image" Target="../media/image15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5.xml"/><Relationship Id="rId3" Type="http://schemas.openxmlformats.org/officeDocument/2006/relationships/image" Target="../media/image1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6.xml"/><Relationship Id="rId3" Type="http://schemas.openxmlformats.org/officeDocument/2006/relationships/image" Target="../media/image64.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17.png"/><Relationship Id="rId7" Type="http://schemas.openxmlformats.org/officeDocument/2006/relationships/image" Target="../media/image8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8.xml"/><Relationship Id="rId3" Type="http://schemas.openxmlformats.org/officeDocument/2006/relationships/image" Target="../media/image15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9.xml"/><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0.xml"/><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16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1.xml"/><Relationship Id="rId3" Type="http://schemas.openxmlformats.org/officeDocument/2006/relationships/image" Target="../media/image10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3.xml"/><Relationship Id="rId3" Type="http://schemas.openxmlformats.org/officeDocument/2006/relationships/image" Target="../media/image16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4.xml"/><Relationship Id="rId3" Type="http://schemas.openxmlformats.org/officeDocument/2006/relationships/image" Target="../media/image12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5.xml"/><Relationship Id="rId3" Type="http://schemas.openxmlformats.org/officeDocument/2006/relationships/image" Target="../media/image100.png"/><Relationship Id="rId4" Type="http://schemas.openxmlformats.org/officeDocument/2006/relationships/image" Target="../media/image106.png"/><Relationship Id="rId5" Type="http://schemas.openxmlformats.org/officeDocument/2006/relationships/image" Target="../media/image10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7.xml"/><Relationship Id="rId3" Type="http://schemas.openxmlformats.org/officeDocument/2006/relationships/image" Target="../media/image89.png"/><Relationship Id="rId4" Type="http://schemas.openxmlformats.org/officeDocument/2006/relationships/image" Target="../media/image31.png"/><Relationship Id="rId5" Type="http://schemas.openxmlformats.org/officeDocument/2006/relationships/image" Target="../media/image13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0.xml"/><Relationship Id="rId3" Type="http://schemas.openxmlformats.org/officeDocument/2006/relationships/image" Target="../media/image69.png"/><Relationship Id="rId4" Type="http://schemas.openxmlformats.org/officeDocument/2006/relationships/image" Target="../media/image88.png"/><Relationship Id="rId5" Type="http://schemas.openxmlformats.org/officeDocument/2006/relationships/image" Target="../media/image31.png"/><Relationship Id="rId6" Type="http://schemas.openxmlformats.org/officeDocument/2006/relationships/image" Target="../media/image16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1.xml"/><Relationship Id="rId3" Type="http://schemas.openxmlformats.org/officeDocument/2006/relationships/image" Target="../media/image82.png"/><Relationship Id="rId4" Type="http://schemas.openxmlformats.org/officeDocument/2006/relationships/image" Target="../media/image16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2.xml"/><Relationship Id="rId3" Type="http://schemas.openxmlformats.org/officeDocument/2006/relationships/image" Target="../media/image16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4.xml"/><Relationship Id="rId3" Type="http://schemas.openxmlformats.org/officeDocument/2006/relationships/image" Target="../media/image161.png"/><Relationship Id="rId4" Type="http://schemas.openxmlformats.org/officeDocument/2006/relationships/image" Target="../media/image152.png"/><Relationship Id="rId5" Type="http://schemas.openxmlformats.org/officeDocument/2006/relationships/image" Target="../media/image11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5.xml"/><Relationship Id="rId3" Type="http://schemas.openxmlformats.org/officeDocument/2006/relationships/image" Target="../media/image165.png"/><Relationship Id="rId4" Type="http://schemas.openxmlformats.org/officeDocument/2006/relationships/image" Target="../media/image82.png"/><Relationship Id="rId5" Type="http://schemas.openxmlformats.org/officeDocument/2006/relationships/image" Target="../media/image63.png"/><Relationship Id="rId6" Type="http://schemas.openxmlformats.org/officeDocument/2006/relationships/image" Target="../media/image16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b="1" i="0">
                <a:solidFill>
                  <a:srgbClr val="FFFFFF"/>
                </a:solidFill>
                <a:effectLst>
                  <a:glow rad="63500">
                    <a:srgbClr val="001633">
                      <a:alpha val="85000"/>
                    </a:srgbClr>
                  </a:glow>
                </a:effectLst>
                <a:latin typeface="Montserrat"/>
              </a:rPr>
              <a:t>Gemelos Digitales para Minería 4.0</a:t>
            </a:r>
          </a:p>
        </p:txBody>
      </p:sp>
      <p:sp>
        <p:nvSpPr>
          <p:cNvPr id="3" name="Subtítulo"/>
          <p:cNvSpPr txBox="1"/>
          <p:nvPr/>
        </p:nvSpPr>
        <p:spPr>
          <a:xfrm>
            <a:off x="1981047" y="4343400"/>
            <a:ext cx="8229600" cy="457200"/>
          </a:xfrm>
          <a:prstGeom prst="rect">
            <a:avLst/>
          </a:prstGeom>
          <a:noFill/>
        </p:spPr>
        <p:txBody>
          <a:bodyPr wrap="square" lIns="0" tIns="0" rIns="0" bIns="0" anchor="t">
            <a:spAutoFit/>
          </a:bodyPr>
          <a:lstStyle/>
          <a:p>
            <a:pPr algn="ctr">
              <a:spcAft>
                <a:spcPts val="600"/>
              </a:spcAft>
            </a:pPr>
            <a:r>
              <a:rPr sz="2600" b="1" i="0">
                <a:solidFill>
                  <a:srgbClr val="FFAB40"/>
                </a:solidFill>
                <a:effectLst>
                  <a:glow rad="63500">
                    <a:srgbClr val="001633">
                      <a:alpha val="85000"/>
                    </a:srgbClr>
                  </a:glow>
                </a:effectLst>
                <a:latin typeface="Montserrat"/>
              </a:rPr>
              <a:t>De la estrategia al impacto operacional</a:t>
            </a:r>
          </a:p>
        </p:txBody>
      </p:sp>
      <p:cxnSp>
        <p:nvCxnSpPr>
          <p:cNvPr id="4" name="Raya portada"/>
          <p:cNvCxnSpPr/>
          <p:nvPr/>
        </p:nvCxnSpPr>
        <p:spPr>
          <a:xfrm>
            <a:off x="5730087" y="4956048"/>
            <a:ext cx="73152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5" name="Ejes"/>
          <p:cNvSpPr txBox="1"/>
          <p:nvPr/>
        </p:nvSpPr>
        <p:spPr>
          <a:xfrm>
            <a:off x="1981047" y="5102352"/>
            <a:ext cx="8229600" cy="365760"/>
          </a:xfrm>
          <a:prstGeom prst="rect">
            <a:avLst/>
          </a:prstGeom>
          <a:noFill/>
        </p:spPr>
        <p:txBody>
          <a:bodyPr wrap="square" lIns="0" tIns="0" rIns="0" bIns="0" anchor="t">
            <a:spAutoFit/>
          </a:bodyPr>
          <a:lstStyle/>
          <a:p>
            <a:pPr algn="ctr">
              <a:spcAft>
                <a:spcPts val="600"/>
              </a:spcAft>
            </a:pPr>
            <a:r>
              <a:rPr sz="1600" b="0" i="0">
                <a:solidFill>
                  <a:srgbClr val="FFFFFF"/>
                </a:solidFill>
                <a:effectLst>
                  <a:glow rad="63500">
                    <a:srgbClr val="001633">
                      <a:alpha val="85000"/>
                    </a:srgbClr>
                  </a:glow>
                </a:effectLst>
                <a:latin typeface="Montserrat"/>
              </a:rPr>
              <a:t>Modelamiento dinámico   |   Integración de datos   |   Decisión en tiempo real</a:t>
            </a:r>
          </a:p>
        </p:txBody>
      </p:sp>
      <p:sp>
        <p:nvSpPr>
          <p:cNvPr id="6" name="Autores"/>
          <p:cNvSpPr txBox="1"/>
          <p:nvPr/>
        </p:nvSpPr>
        <p:spPr>
          <a:xfrm>
            <a:off x="7315200" y="6172200"/>
            <a:ext cx="4389120" cy="365760"/>
          </a:xfrm>
          <a:prstGeom prst="rect">
            <a:avLst/>
          </a:prstGeom>
          <a:noFill/>
        </p:spPr>
        <p:txBody>
          <a:bodyPr wrap="square" lIns="0" tIns="0" rIns="0" bIns="0" anchor="t">
            <a:spAutoFit/>
          </a:bodyPr>
          <a:lstStyle/>
          <a:p>
            <a:pPr algn="r">
              <a:spcAft>
                <a:spcPts val="600"/>
              </a:spcAft>
            </a:pPr>
            <a:r>
              <a:rPr sz="1300" b="0" i="0">
                <a:solidFill>
                  <a:srgbClr val="FFFFFF"/>
                </a:solidFill>
                <a:effectLst>
                  <a:glow rad="63500">
                    <a:srgbClr val="001633">
                      <a:alpha val="85000"/>
                    </a:srgbClr>
                  </a:glow>
                </a:effectLst>
                <a:latin typeface="Montserrat"/>
              </a:rPr>
              <a:t>Luis Jaraquemada S.  ·  Andrés Venegas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Diseñamos, construimos y presentamos gemelos digitales mineros</a:t>
            </a:r>
          </a:p>
        </p:txBody>
      </p:sp>
      <p:sp>
        <p:nvSpPr>
          <p:cNvPr id="3" name="Cifra años en software industrial minero"/>
          <p:cNvSpPr txBox="1"/>
          <p:nvPr/>
        </p:nvSpPr>
        <p:spPr>
          <a:xfrm>
            <a:off x="1252728" y="1691639"/>
            <a:ext cx="13716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+15</a:t>
            </a:r>
          </a:p>
        </p:txBody>
      </p:sp>
      <p:sp>
        <p:nvSpPr>
          <p:cNvPr id="4" name="TextBox 3"/>
          <p:cNvSpPr txBox="1"/>
          <p:nvPr/>
        </p:nvSpPr>
        <p:spPr>
          <a:xfrm>
            <a:off x="2715768" y="1691639"/>
            <a:ext cx="17373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años en software industrial minero</a:t>
            </a:r>
          </a:p>
        </p:txBody>
      </p:sp>
      <p:sp>
        <p:nvSpPr>
          <p:cNvPr id="5" name="Cifra procesos mineros con gemelo digital"/>
          <p:cNvSpPr txBox="1"/>
          <p:nvPr/>
        </p:nvSpPr>
        <p:spPr>
          <a:xfrm>
            <a:off x="459028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6</a:t>
            </a:r>
          </a:p>
        </p:txBody>
      </p:sp>
      <p:sp>
        <p:nvSpPr>
          <p:cNvPr id="6" name="TextBox 5"/>
          <p:cNvSpPr txBox="1"/>
          <p:nvPr/>
        </p:nvSpPr>
        <p:spPr>
          <a:xfrm>
            <a:off x="536752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procesos mineros con gemelo digital</a:t>
            </a:r>
          </a:p>
        </p:txBody>
      </p:sp>
      <p:sp>
        <p:nvSpPr>
          <p:cNvPr id="7" name="Cifra trabajos en congresos, 2022–2025"/>
          <p:cNvSpPr txBox="1"/>
          <p:nvPr/>
        </p:nvSpPr>
        <p:spPr>
          <a:xfrm>
            <a:off x="792784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5</a:t>
            </a:r>
          </a:p>
        </p:txBody>
      </p:sp>
      <p:sp>
        <p:nvSpPr>
          <p:cNvPr id="8" name="TextBox 7"/>
          <p:cNvSpPr txBox="1"/>
          <p:nvPr/>
        </p:nvSpPr>
        <p:spPr>
          <a:xfrm>
            <a:off x="870508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trabajos en congresos, 2022–2025</a:t>
            </a:r>
          </a:p>
        </p:txBody>
      </p:sp>
      <p:sp>
        <p:nvSpPr>
          <p:cNvPr id="9" name="TextBox 8"/>
          <p:cNvSpPr txBox="1"/>
          <p:nvPr/>
        </p:nvSpPr>
        <p:spPr>
          <a:xfrm>
            <a:off x="1252728" y="2651759"/>
            <a:ext cx="10012680" cy="27432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Carguío y transporte · chancado · correas y tolvas · stockpiles · flotación · filtración</a:t>
            </a:r>
          </a:p>
        </p:txBody>
      </p:sp>
      <p:sp>
        <p:nvSpPr>
          <p:cNvPr id="10" name="Perfil Luis Jaraquemada S."/>
          <p:cNvSpPr/>
          <p:nvPr/>
        </p:nvSpPr>
        <p:spPr>
          <a:xfrm>
            <a:off x="12527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Luis Jaraquemada S." descr="luis.png"/>
          <p:cNvPicPr>
            <a:picLocks noChangeAspect="1"/>
          </p:cNvPicPr>
          <p:nvPr/>
        </p:nvPicPr>
        <p:blipFill>
          <a:blip r:embed="rId3"/>
          <a:srcRect l="4777" r="4777"/>
          <a:stretch>
            <a:fillRect/>
          </a:stretch>
        </p:blipFill>
        <p:spPr>
          <a:xfrm>
            <a:off x="1527048" y="3337559"/>
            <a:ext cx="1417320" cy="1417320"/>
          </a:xfrm>
          <a:prstGeom prst="ellipse">
            <a:avLst/>
          </a:prstGeom>
        </p:spPr>
      </p:pic>
      <p:sp>
        <p:nvSpPr>
          <p:cNvPr id="12" name="Luis Jaraquemada S. anillo"/>
          <p:cNvSpPr/>
          <p:nvPr/>
        </p:nvSpPr>
        <p:spPr>
          <a:xfrm>
            <a:off x="14813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218688" y="3337559"/>
            <a:ext cx="2766060" cy="1463040"/>
          </a:xfrm>
          <a:prstGeom prst="rect">
            <a:avLst/>
          </a:prstGeom>
          <a:noFill/>
        </p:spPr>
        <p:txBody>
          <a:bodyPr wrap="square" lIns="0" tIns="0" rIns="0" bIns="0" anchor="ctr">
            <a:spAutoFit/>
          </a:bodyPr>
          <a:lstStyle/>
          <a:p>
            <a:pPr algn="l">
              <a:spcAft>
                <a:spcPts val="300"/>
              </a:spcAft>
            </a:pPr>
            <a:r>
              <a:rPr sz="2000" b="1" i="0">
                <a:solidFill>
                  <a:srgbClr val="FFFFFF"/>
                </a:solidFill>
                <a:effectLst>
                  <a:glow rad="63500">
                    <a:srgbClr val="001633">
                      <a:alpha val="85000"/>
                    </a:srgbClr>
                  </a:glow>
                </a:effectLst>
                <a:latin typeface="Montserrat"/>
              </a:rPr>
              <a:t>Luis Jaraquemada S.</a:t>
            </a:r>
          </a:p>
          <a:p>
            <a:pPr algn="l">
              <a:spcAft>
                <a:spcPts val="300"/>
              </a:spcAft>
            </a:pPr>
            <a:r>
              <a:rPr sz="1300" b="1" i="0">
                <a:solidFill>
                  <a:srgbClr val="FFAB40"/>
                </a:solidFill>
                <a:effectLst>
                  <a:glow rad="63500">
                    <a:srgbClr val="001633">
                      <a:alpha val="85000"/>
                    </a:srgbClr>
                  </a:glow>
                </a:effectLst>
                <a:latin typeface="Montserrat"/>
              </a:rPr>
              <a:t>Global R&amp;D Manager · Production Management</a:t>
            </a:r>
          </a:p>
          <a:p>
            <a:pPr algn="l">
              <a:spcAft>
                <a:spcPts val="300"/>
              </a:spcAft>
            </a:pPr>
            <a:r>
              <a:rPr sz="1200" b="0" i="0">
                <a:solidFill>
                  <a:srgbClr val="FFFFFF"/>
                </a:solidFill>
                <a:effectLst>
                  <a:glow rad="63500">
                    <a:srgbClr val="001633">
                      <a:alpha val="85000"/>
                    </a:srgbClr>
                  </a:glow>
                </a:effectLst>
                <a:latin typeface="Montserrat"/>
              </a:rPr>
              <a:t>Epiroc Digital Solutions Division</a:t>
            </a:r>
          </a:p>
          <a:p>
            <a:pPr algn="l">
              <a:spcAft>
                <a:spcPts val="300"/>
              </a:spcAft>
            </a:pPr>
            <a:r>
              <a:rPr sz="1100" b="0" i="0">
                <a:solidFill>
                  <a:srgbClr val="A9B8C9"/>
                </a:solidFill>
                <a:effectLst>
                  <a:glow rad="63500">
                    <a:srgbClr val="001633">
                      <a:alpha val="85000"/>
                    </a:srgbClr>
                  </a:glow>
                </a:effectLst>
                <a:latin typeface="Montserrat"/>
              </a:rPr>
              <a:t>Ing. Civil Eléctrico y MSc (USACH)</a:t>
            </a:r>
          </a:p>
        </p:txBody>
      </p:sp>
      <p:sp>
        <p:nvSpPr>
          <p:cNvPr id="14" name="Perfil Andrés Venegas G."/>
          <p:cNvSpPr/>
          <p:nvPr/>
        </p:nvSpPr>
        <p:spPr>
          <a:xfrm>
            <a:off x="63962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Andrés Venegas G." descr="andres.png"/>
          <p:cNvPicPr>
            <a:picLocks noChangeAspect="1"/>
          </p:cNvPicPr>
          <p:nvPr/>
        </p:nvPicPr>
        <p:blipFill>
          <a:blip r:embed="rId4"/>
          <a:stretch>
            <a:fillRect/>
          </a:stretch>
        </p:blipFill>
        <p:spPr>
          <a:xfrm>
            <a:off x="6670548" y="3337559"/>
            <a:ext cx="1417320" cy="1417320"/>
          </a:xfrm>
          <a:prstGeom prst="ellipse">
            <a:avLst/>
          </a:prstGeom>
        </p:spPr>
      </p:pic>
      <p:sp>
        <p:nvSpPr>
          <p:cNvPr id="16" name="Andrés Venegas G. anillo"/>
          <p:cNvSpPr/>
          <p:nvPr/>
        </p:nvSpPr>
        <p:spPr>
          <a:xfrm>
            <a:off x="66248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62188" y="3480456"/>
            <a:ext cx="2766060" cy="1177245"/>
          </a:xfrm>
          <a:prstGeom prst="rect">
            <a:avLst/>
          </a:prstGeom>
          <a:noFill/>
        </p:spPr>
        <p:txBody>
          <a:bodyPr wrap="square" lIns="0" tIns="0" rIns="0" bIns="0" anchor="ctr">
            <a:spAutoFit/>
          </a:bodyPr>
          <a:lstStyle/>
          <a:p>
            <a:pPr algn="l">
              <a:spcAft>
                <a:spcPts val="300"/>
              </a:spcAft>
            </a:pPr>
            <a:r>
              <a:rPr sz="2000" b="1" i="0" dirty="0">
                <a:solidFill>
                  <a:srgbClr val="FFFFFF"/>
                </a:solidFill>
                <a:effectLst>
                  <a:glow rad="63500">
                    <a:srgbClr val="001633">
                      <a:alpha val="85000"/>
                    </a:srgbClr>
                  </a:glow>
                </a:effectLst>
                <a:latin typeface="Montserrat"/>
              </a:rPr>
              <a:t>Andrés Venegas G.</a:t>
            </a:r>
          </a:p>
          <a:p>
            <a:pPr algn="l">
              <a:spcAft>
                <a:spcPts val="300"/>
              </a:spcAft>
            </a:pPr>
            <a:r>
              <a:rPr sz="1300" b="1" i="0" dirty="0">
                <a:solidFill>
                  <a:srgbClr val="FFAB40"/>
                </a:solidFill>
                <a:effectLst>
                  <a:glow rad="63500">
                    <a:srgbClr val="001633">
                      <a:alpha val="85000"/>
                    </a:srgbClr>
                  </a:glow>
                </a:effectLst>
                <a:latin typeface="Montserrat"/>
              </a:rPr>
              <a:t>Process &amp; Data Modelling Manager</a:t>
            </a:r>
          </a:p>
          <a:p>
            <a:pPr algn="l">
              <a:spcAft>
                <a:spcPts val="300"/>
              </a:spcAft>
            </a:pPr>
            <a:r>
              <a:rPr sz="1200" b="0" i="0" dirty="0">
                <a:solidFill>
                  <a:srgbClr val="FFFFFF"/>
                </a:solidFill>
                <a:effectLst>
                  <a:glow rad="63500">
                    <a:srgbClr val="001633">
                      <a:alpha val="85000"/>
                    </a:srgbClr>
                  </a:glow>
                </a:effectLst>
                <a:latin typeface="Montserrat"/>
              </a:rPr>
              <a:t>Epiroc Digital Solutions Division</a:t>
            </a:r>
          </a:p>
          <a:p>
            <a:pPr algn="l">
              <a:spcAft>
                <a:spcPts val="300"/>
              </a:spcAft>
            </a:pPr>
            <a:r>
              <a:rPr sz="1100" b="0" i="0" dirty="0">
                <a:solidFill>
                  <a:srgbClr val="A9B8C9"/>
                </a:solidFill>
                <a:effectLst>
                  <a:glow rad="63500">
                    <a:srgbClr val="001633">
                      <a:alpha val="85000"/>
                    </a:srgbClr>
                  </a:glow>
                </a:effectLst>
                <a:latin typeface="Montserrat"/>
              </a:rPr>
              <a:t>Ing. Civil </a:t>
            </a:r>
            <a:r>
              <a:rPr sz="1100" b="0" i="0" dirty="0" err="1">
                <a:solidFill>
                  <a:srgbClr val="A9B8C9"/>
                </a:solidFill>
                <a:effectLst>
                  <a:glow rad="63500">
                    <a:srgbClr val="001633">
                      <a:alpha val="85000"/>
                    </a:srgbClr>
                  </a:glow>
                </a:effectLst>
                <a:latin typeface="Montserrat"/>
              </a:rPr>
              <a:t>Mecatrónico</a:t>
            </a:r>
            <a:endParaRPr sz="1100" b="0" i="0" dirty="0">
              <a:solidFill>
                <a:srgbClr val="A9B8C9"/>
              </a:solidFill>
              <a:effectLst>
                <a:glow rad="63500">
                  <a:srgbClr val="001633">
                    <a:alpha val="85000"/>
                  </a:srgbClr>
                </a:glow>
              </a:effectLst>
              <a:latin typeface="Montserrat"/>
            </a:endParaRPr>
          </a:p>
        </p:txBody>
      </p:sp>
      <p:sp>
        <p:nvSpPr>
          <p:cNvPr id="18" name="TextBox 17"/>
          <p:cNvSpPr txBox="1"/>
          <p:nvPr/>
        </p:nvSpPr>
        <p:spPr>
          <a:xfrm>
            <a:off x="1252728" y="5257800"/>
            <a:ext cx="1920240" cy="411480"/>
          </a:xfrm>
          <a:prstGeom prst="rect">
            <a:avLst/>
          </a:prstGeom>
          <a:noFill/>
        </p:spPr>
        <p:txBody>
          <a:bodyPr wrap="square" lIns="0" tIns="0" rIns="0" bIns="0" anchor="ctr">
            <a:spAutoFit/>
          </a:bodyPr>
          <a:lstStyle/>
          <a:p>
            <a:pPr algn="l">
              <a:spcAft>
                <a:spcPts val="600"/>
              </a:spcAft>
            </a:pPr>
            <a:r>
              <a:rPr sz="1300" b="1" i="0">
                <a:solidFill>
                  <a:srgbClr val="A9B8C9"/>
                </a:solidFill>
                <a:effectLst>
                  <a:glow rad="63500">
                    <a:srgbClr val="001633">
                      <a:alpha val="85000"/>
                    </a:srgbClr>
                  </a:glow>
                </a:effectLst>
                <a:latin typeface="Montserrat"/>
              </a:rPr>
              <a:t>Trayectoria en</a:t>
            </a:r>
          </a:p>
        </p:txBody>
      </p:sp>
      <p:pic>
        <p:nvPicPr>
          <p:cNvPr id="19" name="logo-epiroc.png" descr="logo-epiroc.png"/>
          <p:cNvPicPr>
            <a:picLocks noChangeAspect="1"/>
          </p:cNvPicPr>
          <p:nvPr/>
        </p:nvPicPr>
        <p:blipFill>
          <a:blip r:embed="rId5"/>
          <a:stretch>
            <a:fillRect/>
          </a:stretch>
        </p:blipFill>
        <p:spPr>
          <a:xfrm>
            <a:off x="2990088" y="5257800"/>
            <a:ext cx="740664" cy="411480"/>
          </a:xfrm>
          <a:prstGeom prst="rect">
            <a:avLst/>
          </a:prstGeom>
        </p:spPr>
      </p:pic>
      <p:pic>
        <p:nvPicPr>
          <p:cNvPr id="20" name="logo-siemens.png" descr="logo-siemens.png"/>
          <p:cNvPicPr>
            <a:picLocks noChangeAspect="1"/>
          </p:cNvPicPr>
          <p:nvPr/>
        </p:nvPicPr>
        <p:blipFill>
          <a:blip r:embed="rId6"/>
          <a:stretch>
            <a:fillRect/>
          </a:stretch>
        </p:blipFill>
        <p:spPr>
          <a:xfrm>
            <a:off x="3959352" y="5257800"/>
            <a:ext cx="1930790" cy="411480"/>
          </a:xfrm>
          <a:prstGeom prst="rect">
            <a:avLst/>
          </a:prstGeom>
        </p:spPr>
      </p:pic>
      <p:pic>
        <p:nvPicPr>
          <p:cNvPr id="21" name="logo-innomotics.png" descr="logo-innomotics.png"/>
          <p:cNvPicPr>
            <a:picLocks noChangeAspect="1"/>
          </p:cNvPicPr>
          <p:nvPr/>
        </p:nvPicPr>
        <p:blipFill>
          <a:blip r:embed="rId7"/>
          <a:stretch>
            <a:fillRect/>
          </a:stretch>
        </p:blipFill>
        <p:spPr>
          <a:xfrm>
            <a:off x="6118742" y="5257800"/>
            <a:ext cx="1379876" cy="411480"/>
          </a:xfrm>
          <a:prstGeom prst="rect">
            <a:avLst/>
          </a:prstGeom>
        </p:spPr>
      </p:pic>
      <p:pic>
        <p:nvPicPr>
          <p:cNvPr id="22" name="logo-huawei.png" descr="logo-huawei.png"/>
          <p:cNvPicPr>
            <a:picLocks noChangeAspect="1"/>
          </p:cNvPicPr>
          <p:nvPr/>
        </p:nvPicPr>
        <p:blipFill>
          <a:blip r:embed="rId8"/>
          <a:stretch>
            <a:fillRect/>
          </a:stretch>
        </p:blipFill>
        <p:spPr>
          <a:xfrm>
            <a:off x="7727218" y="5257800"/>
            <a:ext cx="1402177" cy="411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Hablamos de gemelos digitales donde la minería decide</a:t>
            </a:r>
          </a:p>
        </p:txBody>
      </p:sp>
      <p:cxnSp>
        <p:nvCxnSpPr>
          <p:cNvPr id="3" name="Connector 2"/>
          <p:cNvCxnSpPr/>
          <p:nvPr/>
        </p:nvCxnSpPr>
        <p:spPr>
          <a:xfrm>
            <a:off x="1527048" y="2057399"/>
            <a:ext cx="0" cy="2487168"/>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4" name="Charla 1"/>
          <p:cNvSpPr/>
          <p:nvPr/>
        </p:nvSpPr>
        <p:spPr>
          <a:xfrm>
            <a:off x="1252728" y="1783079"/>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Ícono mic" descr="mic-orange.png"/>
          <p:cNvPicPr>
            <a:picLocks noChangeAspect="1"/>
          </p:cNvPicPr>
          <p:nvPr/>
        </p:nvPicPr>
        <p:blipFill>
          <a:blip r:embed="rId2"/>
          <a:stretch>
            <a:fillRect/>
          </a:stretch>
        </p:blipFill>
        <p:spPr>
          <a:xfrm>
            <a:off x="1373429" y="1903780"/>
            <a:ext cx="307238" cy="307238"/>
          </a:xfrm>
          <a:prstGeom prst="rect">
            <a:avLst/>
          </a:prstGeom>
        </p:spPr>
      </p:pic>
      <p:sp>
        <p:nvSpPr>
          <p:cNvPr id="6" name="TextBox 5"/>
          <p:cNvSpPr txBox="1"/>
          <p:nvPr/>
        </p:nvSpPr>
        <p:spPr>
          <a:xfrm>
            <a:off x="1984248" y="1764791"/>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Gemelos digitales en conminución y transporte</a:t>
            </a:r>
          </a:p>
        </p:txBody>
      </p:sp>
      <p:sp>
        <p:nvSpPr>
          <p:cNvPr id="7" name="Charla 2"/>
          <p:cNvSpPr/>
          <p:nvPr/>
        </p:nvSpPr>
        <p:spPr>
          <a:xfrm>
            <a:off x="1252728" y="2404871"/>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mic" descr="mic-orange.png"/>
          <p:cNvPicPr>
            <a:picLocks noChangeAspect="1"/>
          </p:cNvPicPr>
          <p:nvPr/>
        </p:nvPicPr>
        <p:blipFill>
          <a:blip r:embed="rId2"/>
          <a:stretch>
            <a:fillRect/>
          </a:stretch>
        </p:blipFill>
        <p:spPr>
          <a:xfrm>
            <a:off x="1373429" y="2525572"/>
            <a:ext cx="307238" cy="307238"/>
          </a:xfrm>
          <a:prstGeom prst="rect">
            <a:avLst/>
          </a:prstGeom>
        </p:spPr>
      </p:pic>
      <p:sp>
        <p:nvSpPr>
          <p:cNvPr id="9" name="TextBox 8"/>
          <p:cNvSpPr txBox="1"/>
          <p:nvPr/>
        </p:nvSpPr>
        <p:spPr>
          <a:xfrm>
            <a:off x="1984248" y="2386583"/>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MAPLA–MANTEMIN</a:t>
            </a:r>
          </a:p>
          <a:p>
            <a:pPr algn="l">
              <a:spcAft>
                <a:spcPts val="100"/>
              </a:spcAft>
            </a:pPr>
            <a:r>
              <a:rPr sz="1100" b="0" i="0">
                <a:solidFill>
                  <a:srgbClr val="A9B8C9"/>
                </a:solidFill>
                <a:effectLst>
                  <a:glow rad="63500">
                    <a:srgbClr val="001633">
                      <a:alpha val="85000"/>
                    </a:srgbClr>
                  </a:glow>
                </a:effectLst>
                <a:latin typeface="Montserrat"/>
              </a:rPr>
              <a:t>Gemelos digitales en chancado y transporte de material</a:t>
            </a:r>
          </a:p>
        </p:txBody>
      </p:sp>
      <p:sp>
        <p:nvSpPr>
          <p:cNvPr id="10" name="Charla 3"/>
          <p:cNvSpPr/>
          <p:nvPr/>
        </p:nvSpPr>
        <p:spPr>
          <a:xfrm>
            <a:off x="1252728" y="3026663"/>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Ícono award" descr="award-orange.png"/>
          <p:cNvPicPr>
            <a:picLocks noChangeAspect="1"/>
          </p:cNvPicPr>
          <p:nvPr/>
        </p:nvPicPr>
        <p:blipFill>
          <a:blip r:embed="rId3"/>
          <a:stretch>
            <a:fillRect/>
          </a:stretch>
        </p:blipFill>
        <p:spPr>
          <a:xfrm>
            <a:off x="1373429" y="3147364"/>
            <a:ext cx="307238" cy="307238"/>
          </a:xfrm>
          <a:prstGeom prst="rect">
            <a:avLst/>
          </a:prstGeom>
        </p:spPr>
      </p:pic>
      <p:sp>
        <p:nvSpPr>
          <p:cNvPr id="12" name="TextBox 11"/>
          <p:cNvSpPr txBox="1"/>
          <p:nvPr/>
        </p:nvSpPr>
        <p:spPr>
          <a:xfrm>
            <a:off x="1984248" y="3008375"/>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2024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 digital y datos artificiales en chancado y correas</a:t>
            </a:r>
          </a:p>
        </p:txBody>
      </p:sp>
      <p:sp>
        <p:nvSpPr>
          <p:cNvPr id="13" name="Charla 4"/>
          <p:cNvSpPr/>
          <p:nvPr/>
        </p:nvSpPr>
        <p:spPr>
          <a:xfrm>
            <a:off x="1252728" y="3648455"/>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cpu" descr="cpu-navy.png"/>
          <p:cNvPicPr>
            <a:picLocks noChangeAspect="1"/>
          </p:cNvPicPr>
          <p:nvPr/>
        </p:nvPicPr>
        <p:blipFill>
          <a:blip r:embed="rId4"/>
          <a:stretch>
            <a:fillRect/>
          </a:stretch>
        </p:blipFill>
        <p:spPr>
          <a:xfrm>
            <a:off x="1373429" y="3769156"/>
            <a:ext cx="307238" cy="307238"/>
          </a:xfrm>
          <a:prstGeom prst="rect">
            <a:avLst/>
          </a:prstGeom>
        </p:spPr>
      </p:pic>
      <p:sp>
        <p:nvSpPr>
          <p:cNvPr id="15" name="TextBox 14"/>
          <p:cNvSpPr txBox="1"/>
          <p:nvPr/>
        </p:nvSpPr>
        <p:spPr>
          <a:xfrm>
            <a:off x="1984248" y="3630167"/>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Control de producción en minería subterránea con edge computing</a:t>
            </a:r>
          </a:p>
        </p:txBody>
      </p:sp>
      <p:sp>
        <p:nvSpPr>
          <p:cNvPr id="16" name="Charla 5"/>
          <p:cNvSpPr/>
          <p:nvPr/>
        </p:nvSpPr>
        <p:spPr>
          <a:xfrm>
            <a:off x="1252728" y="4270247"/>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droplet" descr="droplet-navy.png"/>
          <p:cNvPicPr>
            <a:picLocks noChangeAspect="1"/>
          </p:cNvPicPr>
          <p:nvPr/>
        </p:nvPicPr>
        <p:blipFill>
          <a:blip r:embed="rId5"/>
          <a:stretch>
            <a:fillRect/>
          </a:stretch>
        </p:blipFill>
        <p:spPr>
          <a:xfrm>
            <a:off x="1373429" y="4390948"/>
            <a:ext cx="307238" cy="307238"/>
          </a:xfrm>
          <a:prstGeom prst="rect">
            <a:avLst/>
          </a:prstGeom>
        </p:spPr>
      </p:pic>
      <p:sp>
        <p:nvSpPr>
          <p:cNvPr id="18" name="TextBox 17"/>
          <p:cNvSpPr txBox="1"/>
          <p:nvPr/>
        </p:nvSpPr>
        <p:spPr>
          <a:xfrm>
            <a:off x="1984248" y="4251959"/>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Procemin‑Geomet · Gecamin</a:t>
            </a:r>
          </a:p>
          <a:p>
            <a:pPr algn="l">
              <a:spcAft>
                <a:spcPts val="100"/>
              </a:spcAft>
            </a:pPr>
            <a:r>
              <a:rPr sz="1100" b="0" i="0">
                <a:solidFill>
                  <a:srgbClr val="A9B8C9"/>
                </a:solidFill>
                <a:effectLst>
                  <a:glow rad="63500">
                    <a:srgbClr val="001633">
                      <a:alpha val="85000"/>
                    </a:srgbClr>
                  </a:glow>
                </a:effectLst>
                <a:latin typeface="Montserrat"/>
              </a:rPr>
              <a:t>Intelligent Filtering: Digital Twins as a Tool for Future Mining</a:t>
            </a:r>
          </a:p>
        </p:txBody>
      </p:sp>
      <p:pic>
        <p:nvPicPr>
          <p:cNvPr id="19" name="Ícono tv" descr="tv-muted.png"/>
          <p:cNvPicPr>
            <a:picLocks noChangeAspect="1"/>
          </p:cNvPicPr>
          <p:nvPr/>
        </p:nvPicPr>
        <p:blipFill>
          <a:blip r:embed="rId6"/>
          <a:stretch>
            <a:fillRect/>
          </a:stretch>
        </p:blipFill>
        <p:spPr>
          <a:xfrm>
            <a:off x="7699248" y="1892807"/>
            <a:ext cx="256032" cy="256032"/>
          </a:xfrm>
          <a:prstGeom prst="rect">
            <a:avLst/>
          </a:prstGeom>
        </p:spPr>
      </p:pic>
      <p:sp>
        <p:nvSpPr>
          <p:cNvPr id="20" name="TextBox 19"/>
          <p:cNvSpPr txBox="1"/>
          <p:nvPr/>
        </p:nvSpPr>
        <p:spPr>
          <a:xfrm>
            <a:off x="8046720" y="1874519"/>
            <a:ext cx="3657600" cy="320040"/>
          </a:xfrm>
          <a:prstGeom prst="rect">
            <a:avLst/>
          </a:prstGeom>
          <a:noFill/>
        </p:spPr>
        <p:txBody>
          <a:bodyPr wrap="square" lIns="0" tIns="0" rIns="0" bIns="0" anchor="t">
            <a:spAutoFit/>
          </a:bodyPr>
          <a:lstStyle/>
          <a:p>
            <a:pPr algn="l">
              <a:spcAft>
                <a:spcPts val="600"/>
              </a:spcAft>
            </a:pPr>
            <a:r>
              <a:rPr sz="1300" b="1" i="0">
                <a:solidFill>
                  <a:srgbClr val="A9B8C9"/>
                </a:solidFill>
                <a:effectLst>
                  <a:glow rad="63500">
                    <a:srgbClr val="001633">
                      <a:alpha val="85000"/>
                    </a:srgbClr>
                  </a:glow>
                </a:effectLst>
                <a:latin typeface="Montserrat"/>
              </a:rPr>
              <a:t>En escenarios y medios</a:t>
            </a:r>
          </a:p>
        </p:txBody>
      </p:sp>
      <p:pic>
        <p:nvPicPr>
          <p:cNvPr id="21" name="Minería Digital 2024" descr="medio-mineria-digital-2024.png"/>
          <p:cNvPicPr>
            <a:picLocks noChangeAspect="1"/>
          </p:cNvPicPr>
          <p:nvPr/>
        </p:nvPicPr>
        <p:blipFill>
          <a:blip r:embed="rId7"/>
          <a:srcRect t="4915" b="4915"/>
          <a:stretch>
            <a:fillRect/>
          </a:stretch>
        </p:blipFill>
        <p:spPr>
          <a:xfrm>
            <a:off x="7699248" y="2285999"/>
            <a:ext cx="1691640" cy="1024128"/>
          </a:xfrm>
          <a:prstGeom prst="rect">
            <a:avLst/>
          </a:prstGeom>
          <a:ln>
            <a:solidFill>
              <a:srgbClr val="2A456B"/>
            </a:solidFill>
          </a:ln>
        </p:spPr>
      </p:pic>
      <p:sp>
        <p:nvSpPr>
          <p:cNvPr id="22" name="TextBox 21"/>
          <p:cNvSpPr txBox="1"/>
          <p:nvPr/>
        </p:nvSpPr>
        <p:spPr>
          <a:xfrm>
            <a:off x="7699248"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Minería Digital 2024</a:t>
            </a:r>
          </a:p>
        </p:txBody>
      </p:sp>
      <p:pic>
        <p:nvPicPr>
          <p:cNvPr id="23" name="Siemens Minerals Week" descr="medio-siemens-minerals-week.png"/>
          <p:cNvPicPr>
            <a:picLocks noChangeAspect="1"/>
          </p:cNvPicPr>
          <p:nvPr/>
        </p:nvPicPr>
        <p:blipFill>
          <a:blip r:embed="rId8"/>
          <a:srcRect l="8202" r="8202"/>
          <a:stretch>
            <a:fillRect/>
          </a:stretch>
        </p:blipFill>
        <p:spPr>
          <a:xfrm>
            <a:off x="9509760" y="2285999"/>
            <a:ext cx="1691640" cy="1024128"/>
          </a:xfrm>
          <a:prstGeom prst="rect">
            <a:avLst/>
          </a:prstGeom>
          <a:ln>
            <a:solidFill>
              <a:srgbClr val="2A456B"/>
            </a:solidFill>
          </a:ln>
        </p:spPr>
      </p:pic>
      <p:sp>
        <p:nvSpPr>
          <p:cNvPr id="24" name="TextBox 23"/>
          <p:cNvSpPr txBox="1"/>
          <p:nvPr/>
        </p:nvSpPr>
        <p:spPr>
          <a:xfrm>
            <a:off x="9509760"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Siemens Minerals Week</a:t>
            </a:r>
          </a:p>
        </p:txBody>
      </p:sp>
      <p:pic>
        <p:nvPicPr>
          <p:cNvPr id="25" name="Podcast América Minera" descr="medio-america-minera.png"/>
          <p:cNvPicPr>
            <a:picLocks noChangeAspect="1"/>
          </p:cNvPicPr>
          <p:nvPr/>
        </p:nvPicPr>
        <p:blipFill>
          <a:blip r:embed="rId9"/>
          <a:srcRect l="27635" r="27635"/>
          <a:stretch>
            <a:fillRect/>
          </a:stretch>
        </p:blipFill>
        <p:spPr>
          <a:xfrm>
            <a:off x="7699248" y="3858767"/>
            <a:ext cx="1691640" cy="1024128"/>
          </a:xfrm>
          <a:prstGeom prst="rect">
            <a:avLst/>
          </a:prstGeom>
          <a:ln>
            <a:solidFill>
              <a:srgbClr val="2A456B"/>
            </a:solidFill>
          </a:ln>
        </p:spPr>
      </p:pic>
      <p:sp>
        <p:nvSpPr>
          <p:cNvPr id="26" name="TextBox 25"/>
          <p:cNvSpPr txBox="1"/>
          <p:nvPr/>
        </p:nvSpPr>
        <p:spPr>
          <a:xfrm>
            <a:off x="7699248"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Podcast América Minera</a:t>
            </a:r>
          </a:p>
        </p:txBody>
      </p:sp>
      <p:pic>
        <p:nvPicPr>
          <p:cNvPr id="27" name="Circle Digital · Siemens" descr="medio-circle-digital.png"/>
          <p:cNvPicPr>
            <a:picLocks noChangeAspect="1"/>
          </p:cNvPicPr>
          <p:nvPr/>
        </p:nvPicPr>
        <p:blipFill>
          <a:blip r:embed="rId10"/>
          <a:srcRect t="19136" b="19136"/>
          <a:stretch>
            <a:fillRect/>
          </a:stretch>
        </p:blipFill>
        <p:spPr>
          <a:xfrm>
            <a:off x="9509760" y="3858767"/>
            <a:ext cx="1691640" cy="1024128"/>
          </a:xfrm>
          <a:prstGeom prst="rect">
            <a:avLst/>
          </a:prstGeom>
          <a:ln>
            <a:solidFill>
              <a:srgbClr val="2A456B"/>
            </a:solidFill>
          </a:ln>
        </p:spPr>
      </p:pic>
      <p:sp>
        <p:nvSpPr>
          <p:cNvPr id="28" name="TextBox 27"/>
          <p:cNvSpPr txBox="1"/>
          <p:nvPr/>
        </p:nvSpPr>
        <p:spPr>
          <a:xfrm>
            <a:off x="9509760"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Circle Digital · Siemens</a:t>
            </a:r>
          </a:p>
        </p:txBody>
      </p:sp>
      <p:sp>
        <p:nvSpPr>
          <p:cNvPr id="29" name="Mensaje trayectoria"/>
          <p:cNvSpPr/>
          <p:nvPr/>
        </p:nvSpPr>
        <p:spPr>
          <a:xfrm>
            <a:off x="1252728" y="5029199"/>
            <a:ext cx="612648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layers" descr="layers-orange.png"/>
          <p:cNvPicPr>
            <a:picLocks noChangeAspect="1"/>
          </p:cNvPicPr>
          <p:nvPr/>
        </p:nvPicPr>
        <p:blipFill>
          <a:blip r:embed="rId11"/>
          <a:stretch>
            <a:fillRect/>
          </a:stretch>
        </p:blipFill>
        <p:spPr>
          <a:xfrm>
            <a:off x="1481328" y="5212079"/>
            <a:ext cx="329184" cy="329184"/>
          </a:xfrm>
          <a:prstGeom prst="rect">
            <a:avLst/>
          </a:prstGeom>
        </p:spPr>
      </p:pic>
      <p:sp>
        <p:nvSpPr>
          <p:cNvPr id="31" name="TextBox 30"/>
          <p:cNvSpPr txBox="1"/>
          <p:nvPr/>
        </p:nvSpPr>
        <p:spPr>
          <a:xfrm>
            <a:off x="1984248" y="5029199"/>
            <a:ext cx="5212080" cy="685800"/>
          </a:xfrm>
          <a:prstGeom prst="rect">
            <a:avLst/>
          </a:prstGeom>
          <a:noFill/>
        </p:spPr>
        <p:txBody>
          <a:bodyPr wrap="square" lIns="0" tIns="0" rIns="0" bIns="0" anchor="ctr">
            <a:spAutoFit/>
          </a:bodyPr>
          <a:lstStyle/>
          <a:p>
            <a:pPr algn="l">
              <a:spcAft>
                <a:spcPts val="600"/>
              </a:spcAft>
            </a:pPr>
            <a:r>
              <a:rPr sz="1600" b="0" i="0">
                <a:solidFill>
                  <a:srgbClr val="FFFFFF"/>
                </a:solidFill>
                <a:effectLst>
                  <a:glow rad="63500">
                    <a:srgbClr val="001633">
                      <a:alpha val="85000"/>
                    </a:srgbClr>
                  </a:glow>
                </a:effectLst>
                <a:latin typeface="Montserrat"/>
              </a:rPr>
              <a:t>Este curso reúne lo que hemos construido y presentado en la industria.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Mapa del curso</a:t>
            </a:r>
          </a:p>
          <a:p>
            <a:r>
              <a:rPr sz="2200" b="0" i="0">
                <a:solidFill>
                  <a:srgbClr val="FFFFFF"/>
                </a:solidFill>
                <a:effectLst>
                  <a:glow rad="63500">
                    <a:srgbClr val="001633">
                      <a:alpha val="85000"/>
                    </a:srgbClr>
                  </a:glow>
                </a:effectLst>
                <a:latin typeface="Montserrat"/>
              </a:rPr>
              <a:t>Cuatro capítulos, de lo general a lo particular</a:t>
            </a:r>
          </a:p>
        </p:txBody>
      </p:sp>
      <p:cxnSp>
        <p:nvCxnSpPr>
          <p:cNvPr id="3" name="General a particular"/>
          <p:cNvCxnSpPr/>
          <p:nvPr/>
        </p:nvCxnSpPr>
        <p:spPr>
          <a:xfrm>
            <a:off x="1252728" y="4050791"/>
            <a:ext cx="10012680"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522208" y="4123943"/>
            <a:ext cx="2743200" cy="201168"/>
          </a:xfrm>
          <a:prstGeom prst="rect">
            <a:avLst/>
          </a:prstGeom>
          <a:noFill/>
        </p:spPr>
        <p:txBody>
          <a:bodyPr wrap="square" lIns="0" tIns="0" rIns="0" bIns="0" anchor="t">
            <a:spAutoFit/>
          </a:bodyPr>
          <a:lstStyle/>
          <a:p>
            <a:pPr algn="r">
              <a:spcAft>
                <a:spcPts val="600"/>
              </a:spcAft>
            </a:pPr>
            <a:r>
              <a:rPr sz="900" b="1" i="0">
                <a:solidFill>
                  <a:srgbClr val="A9B8C9"/>
                </a:solidFill>
                <a:effectLst>
                  <a:glow rad="63500">
                    <a:srgbClr val="001633">
                      <a:alpha val="85000"/>
                    </a:srgbClr>
                  </a:glow>
                </a:effectLst>
                <a:latin typeface="Montserrat"/>
              </a:rPr>
              <a:t>de lo general a lo particular</a:t>
            </a:r>
          </a:p>
        </p:txBody>
      </p:sp>
      <p:pic>
        <p:nvPicPr>
          <p:cNvPr id="5" name="Capítulo I imagen" descr="virtual-rajo-chuquicamata.png"/>
          <p:cNvPicPr>
            <a:picLocks noChangeAspect="1"/>
          </p:cNvPicPr>
          <p:nvPr/>
        </p:nvPicPr>
        <p:blipFill>
          <a:blip r:embed="rId3"/>
          <a:srcRect l="9356" r="9356"/>
          <a:stretch>
            <a:fillRect/>
          </a:stretch>
        </p:blipFill>
        <p:spPr>
          <a:xfrm>
            <a:off x="1252728" y="1783079"/>
            <a:ext cx="2274570" cy="1920240"/>
          </a:xfrm>
          <a:prstGeom prst="rect">
            <a:avLst/>
          </a:prstGeom>
        </p:spPr>
      </p:pic>
      <p:cxnSp>
        <p:nvCxnSpPr>
          <p:cNvPr id="6" name="Guía capítulo"/>
          <p:cNvCxnSpPr/>
          <p:nvPr/>
        </p:nvCxnSpPr>
        <p:spPr>
          <a:xfrm>
            <a:off x="239001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7" name="Hito I"/>
          <p:cNvSpPr/>
          <p:nvPr/>
        </p:nvSpPr>
        <p:spPr>
          <a:xfrm>
            <a:off x="230771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 </a:t>
            </a:r>
            <a:r>
              <a:rPr sz="1800" b="1" i="0">
                <a:solidFill>
                  <a:srgbClr val="FFFFFF"/>
                </a:solidFill>
                <a:effectLst>
                  <a:glow rad="63500">
                    <a:srgbClr val="001633">
                      <a:alpha val="85000"/>
                    </a:srgbClr>
                  </a:glow>
                </a:effectLst>
                <a:latin typeface="Montserrat"/>
              </a:rPr>
              <a:t>Fundamentos</a:t>
            </a:r>
          </a:p>
        </p:txBody>
      </p:sp>
      <p:sp>
        <p:nvSpPr>
          <p:cNvPr id="9" name="TextBox 8"/>
          <p:cNvSpPr txBox="1"/>
          <p:nvPr/>
        </p:nvSpPr>
        <p:spPr>
          <a:xfrm>
            <a:off x="125272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es un gemelo digital y cómo se clasifica?</a:t>
            </a:r>
          </a:p>
        </p:txBody>
      </p:sp>
      <p:cxnSp>
        <p:nvCxnSpPr>
          <p:cNvPr id="10" name="Raya capítulo"/>
          <p:cNvCxnSpPr/>
          <p:nvPr/>
        </p:nvCxnSpPr>
        <p:spPr>
          <a:xfrm>
            <a:off x="125272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5272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Definición, el cubo de IoT Analytics: niveles, fases y usos</a:t>
            </a:r>
          </a:p>
        </p:txBody>
      </p:sp>
      <p:pic>
        <p:nvPicPr>
          <p:cNvPr id="12" name="Capítulo II imagen" descr="sala-control-fundicion-mufulira.jpg"/>
          <p:cNvPicPr>
            <a:picLocks noChangeAspect="1"/>
          </p:cNvPicPr>
          <p:nvPr/>
        </p:nvPicPr>
        <p:blipFill>
          <a:blip r:embed="rId4">
            <a:duotone>
              <a:srgbClr val="001633"/>
              <a:srgbClr val="A9B8C9"/>
            </a:duotone>
          </a:blip>
          <a:srcRect l="10670" r="10670"/>
          <a:stretch>
            <a:fillRect/>
          </a:stretch>
        </p:blipFill>
        <p:spPr>
          <a:xfrm>
            <a:off x="3755898" y="1783079"/>
            <a:ext cx="2274570" cy="1920240"/>
          </a:xfrm>
          <a:prstGeom prst="rect">
            <a:avLst/>
          </a:prstGeom>
        </p:spPr>
      </p:pic>
      <p:cxnSp>
        <p:nvCxnSpPr>
          <p:cNvPr id="13" name="Guía capítulo"/>
          <p:cNvCxnSpPr/>
          <p:nvPr/>
        </p:nvCxnSpPr>
        <p:spPr>
          <a:xfrm>
            <a:off x="489318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Hito II"/>
          <p:cNvSpPr/>
          <p:nvPr/>
        </p:nvSpPr>
        <p:spPr>
          <a:xfrm>
            <a:off x="481088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5589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 </a:t>
            </a:r>
            <a:r>
              <a:rPr sz="1800" b="1" i="0">
                <a:solidFill>
                  <a:srgbClr val="FFFFFF"/>
                </a:solidFill>
                <a:effectLst>
                  <a:glow rad="63500">
                    <a:srgbClr val="001633">
                      <a:alpha val="85000"/>
                    </a:srgbClr>
                  </a:glow>
                </a:effectLst>
                <a:latin typeface="Montserrat"/>
              </a:rPr>
              <a:t>Industria</a:t>
            </a:r>
          </a:p>
        </p:txBody>
      </p:sp>
      <p:sp>
        <p:nvSpPr>
          <p:cNvPr id="16" name="TextBox 15"/>
          <p:cNvSpPr txBox="1"/>
          <p:nvPr/>
        </p:nvSpPr>
        <p:spPr>
          <a:xfrm>
            <a:off x="375589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soluciones existen hoy en minería?</a:t>
            </a:r>
          </a:p>
        </p:txBody>
      </p:sp>
      <p:cxnSp>
        <p:nvCxnSpPr>
          <p:cNvPr id="17" name="Raya capítulo"/>
          <p:cNvCxnSpPr/>
          <p:nvPr/>
        </p:nvCxnSpPr>
        <p:spPr>
          <a:xfrm>
            <a:off x="375589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5589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cadena minera, seis procesos y el software del mercado</a:t>
            </a:r>
          </a:p>
        </p:txBody>
      </p:sp>
      <p:pic>
        <p:nvPicPr>
          <p:cNvPr id="19" name="Capítulo III imagen" descr="nivel1-plano-bomba.png"/>
          <p:cNvPicPr>
            <a:picLocks noChangeAspect="1"/>
          </p:cNvPicPr>
          <p:nvPr/>
        </p:nvPicPr>
        <p:blipFill>
          <a:blip r:embed="rId5"/>
          <a:srcRect l="11750" r="11750"/>
          <a:stretch>
            <a:fillRect/>
          </a:stretch>
        </p:blipFill>
        <p:spPr>
          <a:xfrm>
            <a:off x="6259068" y="1783079"/>
            <a:ext cx="2274570" cy="1920240"/>
          </a:xfrm>
          <a:prstGeom prst="rect">
            <a:avLst/>
          </a:prstGeom>
        </p:spPr>
      </p:pic>
      <p:cxnSp>
        <p:nvCxnSpPr>
          <p:cNvPr id="20" name="Guía capítulo"/>
          <p:cNvCxnSpPr/>
          <p:nvPr/>
        </p:nvCxnSpPr>
        <p:spPr>
          <a:xfrm>
            <a:off x="739635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1" name="Hito III"/>
          <p:cNvSpPr/>
          <p:nvPr/>
        </p:nvSpPr>
        <p:spPr>
          <a:xfrm>
            <a:off x="731405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5906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III </a:t>
            </a:r>
            <a:r>
              <a:rPr sz="1800" b="1" i="0">
                <a:solidFill>
                  <a:srgbClr val="FFFFFF"/>
                </a:solidFill>
                <a:effectLst>
                  <a:glow rad="63500">
                    <a:srgbClr val="001633">
                      <a:alpha val="85000"/>
                    </a:srgbClr>
                  </a:glow>
                </a:effectLst>
                <a:latin typeface="Montserrat"/>
              </a:rPr>
              <a:t>Construcción</a:t>
            </a:r>
          </a:p>
        </p:txBody>
      </p:sp>
      <p:sp>
        <p:nvSpPr>
          <p:cNvPr id="23" name="TextBox 22"/>
          <p:cNvSpPr txBox="1"/>
          <p:nvPr/>
        </p:nvSpPr>
        <p:spPr>
          <a:xfrm>
            <a:off x="625906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construye un gemelo y qué hay detrás del software?</a:t>
            </a:r>
          </a:p>
        </p:txBody>
      </p:sp>
      <p:cxnSp>
        <p:nvCxnSpPr>
          <p:cNvPr id="24" name="Raya capítulo"/>
          <p:cNvCxnSpPr/>
          <p:nvPr/>
        </p:nvCxnSpPr>
        <p:spPr>
          <a:xfrm>
            <a:off x="625906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5906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Modelamiento, integración multiproveedor, ejecución en edge y nube</a:t>
            </a:r>
          </a:p>
        </p:txBody>
      </p:sp>
      <p:pic>
        <p:nvPicPr>
          <p:cNvPr id="26" name="Capítulo IV imagen" descr="haer-filtro-discos-denver.jpg"/>
          <p:cNvPicPr>
            <a:picLocks noChangeAspect="1"/>
          </p:cNvPicPr>
          <p:nvPr/>
        </p:nvPicPr>
        <p:blipFill>
          <a:blip r:embed="rId6">
            <a:duotone>
              <a:srgbClr val="001633"/>
              <a:srgbClr val="A9B8C9"/>
            </a:duotone>
          </a:blip>
          <a:srcRect l="12493" t="5000" r="12493" b="5000"/>
          <a:stretch>
            <a:fillRect/>
          </a:stretch>
        </p:blipFill>
        <p:spPr>
          <a:xfrm>
            <a:off x="8762238" y="1783079"/>
            <a:ext cx="2274570" cy="1920240"/>
          </a:xfrm>
          <a:prstGeom prst="rect">
            <a:avLst/>
          </a:prstGeom>
        </p:spPr>
      </p:pic>
      <p:cxnSp>
        <p:nvCxnSpPr>
          <p:cNvPr id="27" name="Guía capítulo"/>
          <p:cNvCxnSpPr/>
          <p:nvPr/>
        </p:nvCxnSpPr>
        <p:spPr>
          <a:xfrm>
            <a:off x="989952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8" name="Hito IV"/>
          <p:cNvSpPr/>
          <p:nvPr/>
        </p:nvSpPr>
        <p:spPr>
          <a:xfrm>
            <a:off x="981722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76223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IV </a:t>
            </a:r>
            <a:r>
              <a:rPr sz="1800" b="1" i="0">
                <a:solidFill>
                  <a:srgbClr val="FFFFFF"/>
                </a:solidFill>
                <a:effectLst>
                  <a:glow rad="63500">
                    <a:srgbClr val="001633">
                      <a:alpha val="85000"/>
                    </a:srgbClr>
                  </a:glow>
                </a:effectLst>
                <a:latin typeface="Montserrat"/>
              </a:rPr>
              <a:t>Caso práctico</a:t>
            </a:r>
          </a:p>
        </p:txBody>
      </p:sp>
      <p:sp>
        <p:nvSpPr>
          <p:cNvPr id="30" name="TextBox 29"/>
          <p:cNvSpPr txBox="1"/>
          <p:nvPr/>
        </p:nvSpPr>
        <p:spPr>
          <a:xfrm>
            <a:off x="876223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ve todo el curso en un solo equipo?</a:t>
            </a:r>
          </a:p>
        </p:txBody>
      </p:sp>
      <p:cxnSp>
        <p:nvCxnSpPr>
          <p:cNvPr id="31" name="Raya capítulo"/>
          <p:cNvCxnSpPr/>
          <p:nvPr/>
        </p:nvCxnSpPr>
        <p:spPr>
          <a:xfrm>
            <a:off x="876223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6223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Todo el curso aplicado a un filtro hiperbárico, de la física a la demo en vivo</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capítulo IV" descr="haer-filtro-discos-denver.jpg"/>
          <p:cNvPicPr>
            <a:picLocks noChangeAspect="1"/>
          </p:cNvPicPr>
          <p:nvPr/>
        </p:nvPicPr>
        <p:blipFill>
          <a:blip r:embed="rId3">
            <a:duotone>
              <a:srgbClr val="001633"/>
              <a:srgbClr val="A9B8C9"/>
            </a:duotone>
          </a:blip>
          <a:srcRect l="22784" t="5000" r="22784" b="5000"/>
          <a:stretch>
            <a:fillRect/>
          </a:stretch>
        </p:blipFill>
        <p:spPr>
          <a:xfrm>
            <a:off x="6035040" y="0"/>
            <a:ext cx="6156655" cy="6858000"/>
          </a:xfrm>
          <a:prstGeom prst="rect">
            <a:avLst/>
          </a:prstGeom>
        </p:spPr>
      </p:pic>
      <p:sp>
        <p:nvSpPr>
          <p:cNvPr id="3" name="Fundido imagen"/>
          <p:cNvSpPr/>
          <p:nvPr/>
        </p:nvSpPr>
        <p:spPr>
          <a:xfrm>
            <a:off x="5989320" y="0"/>
            <a:ext cx="2926080" cy="6858000"/>
          </a:xfrm>
          <a:prstGeom prst="rect">
            <a:avLst/>
          </a:prstGeom>
          <a:gradFill rotWithShape="1">
            <a:gsLst>
              <a:gs pos="0">
                <a:srgbClr val="001633">
                  <a:alpha val="100000"/>
                </a:srgbClr>
              </a:gs>
              <a:gs pos="100000">
                <a:srgbClr val="001633">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aya rótulo"/>
          <p:cNvSpPr/>
          <p:nvPr/>
        </p:nvSpPr>
        <p:spPr>
          <a:xfrm>
            <a:off x="1252728" y="12435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11430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CAPÍTULO IV</a:t>
            </a:r>
          </a:p>
        </p:txBody>
      </p:sp>
      <p:sp>
        <p:nvSpPr>
          <p:cNvPr id="6" name="Nombre capítulo"/>
          <p:cNvSpPr txBox="1"/>
          <p:nvPr/>
        </p:nvSpPr>
        <p:spPr>
          <a:xfrm>
            <a:off x="1252728" y="1508760"/>
            <a:ext cx="5486400" cy="914400"/>
          </a:xfrm>
          <a:prstGeom prst="rect">
            <a:avLst/>
          </a:prstGeom>
          <a:noFill/>
        </p:spPr>
        <p:txBody>
          <a:bodyPr wrap="square" lIns="0" tIns="0" rIns="0" bIns="0" anchor="t">
            <a:spAutoFit/>
          </a:bodyPr>
          <a:lstStyle/>
          <a:p>
            <a:pPr algn="l">
              <a:spcAft>
                <a:spcPts val="600"/>
              </a:spcAft>
            </a:pPr>
            <a:r>
              <a:rPr sz="4400" b="1" i="0">
                <a:solidFill>
                  <a:srgbClr val="FFFFFF"/>
                </a:solidFill>
                <a:effectLst>
                  <a:glow rad="63500">
                    <a:srgbClr val="001633">
                      <a:alpha val="85000"/>
                    </a:srgbClr>
                  </a:glow>
                </a:effectLst>
                <a:latin typeface="Montserrat"/>
              </a:rPr>
              <a:t>Caso práctico</a:t>
            </a:r>
          </a:p>
        </p:txBody>
      </p:sp>
      <p:sp>
        <p:nvSpPr>
          <p:cNvPr id="7" name="Pregunta capítulo"/>
          <p:cNvSpPr txBox="1"/>
          <p:nvPr/>
        </p:nvSpPr>
        <p:spPr>
          <a:xfrm>
            <a:off x="1252728" y="2423160"/>
            <a:ext cx="5120640" cy="731520"/>
          </a:xfrm>
          <a:prstGeom prst="rect">
            <a:avLst/>
          </a:prstGeom>
          <a:noFill/>
        </p:spPr>
        <p:txBody>
          <a:bodyPr wrap="square" lIns="0" tIns="0" rIns="0" bIns="0" anchor="t">
            <a:spAutoFit/>
          </a:bodyPr>
          <a:lstStyle/>
          <a:p>
            <a:pPr algn="l">
              <a:spcAft>
                <a:spcPts val="600"/>
              </a:spcAft>
            </a:pPr>
            <a:r>
              <a:rPr sz="1800" b="0" i="0">
                <a:solidFill>
                  <a:srgbClr val="A9B8C9"/>
                </a:solidFill>
                <a:effectLst>
                  <a:glow rad="63500">
                    <a:srgbClr val="001633">
                      <a:alpha val="85000"/>
                    </a:srgbClr>
                  </a:glow>
                </a:effectLst>
                <a:latin typeface="Montserrat"/>
              </a:rPr>
              <a:t>¿Cómo se ve todo el curso en un solo equipo?</a:t>
            </a:r>
          </a:p>
        </p:txBody>
      </p:sp>
      <p:cxnSp>
        <p:nvCxnSpPr>
          <p:cNvPr id="8" name="Raya temas"/>
          <p:cNvCxnSpPr/>
          <p:nvPr/>
        </p:nvCxnSpPr>
        <p:spPr>
          <a:xfrm>
            <a:off x="1252728" y="3337560"/>
            <a:ext cx="457200" cy="0"/>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52728" y="356616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01</a:t>
            </a:r>
          </a:p>
        </p:txBody>
      </p:sp>
      <p:sp>
        <p:nvSpPr>
          <p:cNvPr id="10" name="TextBox 9"/>
          <p:cNvSpPr txBox="1"/>
          <p:nvPr/>
        </p:nvSpPr>
        <p:spPr>
          <a:xfrm>
            <a:off x="1709928" y="356616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Dónde genera valor un gemelo</a:t>
            </a:r>
          </a:p>
        </p:txBody>
      </p:sp>
      <p:sp>
        <p:nvSpPr>
          <p:cNvPr id="11" name="TextBox 10"/>
          <p:cNvSpPr txBox="1"/>
          <p:nvPr/>
        </p:nvSpPr>
        <p:spPr>
          <a:xfrm>
            <a:off x="1252728" y="397764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02</a:t>
            </a:r>
          </a:p>
        </p:txBody>
      </p:sp>
      <p:sp>
        <p:nvSpPr>
          <p:cNvPr id="12" name="TextBox 11"/>
          <p:cNvSpPr txBox="1"/>
          <p:nvPr/>
        </p:nvSpPr>
        <p:spPr>
          <a:xfrm>
            <a:off x="1709928" y="397764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El caso del filtrado</a:t>
            </a:r>
          </a:p>
        </p:txBody>
      </p:sp>
      <p:sp>
        <p:nvSpPr>
          <p:cNvPr id="13" name="TextBox 12"/>
          <p:cNvSpPr txBox="1"/>
          <p:nvPr/>
        </p:nvSpPr>
        <p:spPr>
          <a:xfrm>
            <a:off x="1252728" y="438912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03</a:t>
            </a:r>
          </a:p>
        </p:txBody>
      </p:sp>
      <p:sp>
        <p:nvSpPr>
          <p:cNvPr id="14" name="TextBox 13"/>
          <p:cNvSpPr txBox="1"/>
          <p:nvPr/>
        </p:nvSpPr>
        <p:spPr>
          <a:xfrm>
            <a:off x="1709928" y="438912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Una cadena de decisiones justificadas</a:t>
            </a:r>
          </a:p>
        </p:txBody>
      </p:sp>
      <p:sp>
        <p:nvSpPr>
          <p:cNvPr id="15" name="TextBox 14"/>
          <p:cNvSpPr txBox="1"/>
          <p:nvPr/>
        </p:nvSpPr>
        <p:spPr>
          <a:xfrm>
            <a:off x="1252728" y="480060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04</a:t>
            </a:r>
          </a:p>
        </p:txBody>
      </p:sp>
      <p:sp>
        <p:nvSpPr>
          <p:cNvPr id="16" name="TextBox 15"/>
          <p:cNvSpPr txBox="1"/>
          <p:nvPr/>
        </p:nvSpPr>
        <p:spPr>
          <a:xfrm>
            <a:off x="1709928" y="480060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Despliegue, monitoreo y un ejemplo real</a:t>
            </a:r>
          </a:p>
        </p:txBody>
      </p:sp>
      <p:sp>
        <p:nvSpPr>
          <p:cNvPr id="17" name="TextBox 16"/>
          <p:cNvSpPr txBox="1"/>
          <p:nvPr/>
        </p:nvSpPr>
        <p:spPr>
          <a:xfrm>
            <a:off x="1252728" y="521208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05</a:t>
            </a:r>
          </a:p>
        </p:txBody>
      </p:sp>
      <p:sp>
        <p:nvSpPr>
          <p:cNvPr id="18" name="TextBox 17"/>
          <p:cNvSpPr txBox="1"/>
          <p:nvPr/>
        </p:nvSpPr>
        <p:spPr>
          <a:xfrm>
            <a:off x="1709928" y="521208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Taller y cierre</a:t>
            </a:r>
          </a:p>
        </p:txBody>
      </p:sp>
      <p:sp>
        <p:nvSpPr>
          <p:cNvPr id="19" name="Avance I"/>
          <p:cNvSpPr txBox="1"/>
          <p:nvPr/>
        </p:nvSpPr>
        <p:spPr>
          <a:xfrm>
            <a:off x="1252728"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 · Fundamentos</a:t>
            </a:r>
          </a:p>
        </p:txBody>
      </p:sp>
      <p:sp>
        <p:nvSpPr>
          <p:cNvPr id="20" name="Avance I pista"/>
          <p:cNvSpPr/>
          <p:nvPr/>
        </p:nvSpPr>
        <p:spPr>
          <a:xfrm>
            <a:off x="1252728"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Avance II"/>
          <p:cNvSpPr txBox="1"/>
          <p:nvPr/>
        </p:nvSpPr>
        <p:spPr>
          <a:xfrm>
            <a:off x="2633472"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II · Industria</a:t>
            </a:r>
          </a:p>
        </p:txBody>
      </p:sp>
      <p:sp>
        <p:nvSpPr>
          <p:cNvPr id="22" name="Avance II pista"/>
          <p:cNvSpPr/>
          <p:nvPr/>
        </p:nvSpPr>
        <p:spPr>
          <a:xfrm>
            <a:off x="2633472"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Avance III"/>
          <p:cNvSpPr txBox="1"/>
          <p:nvPr/>
        </p:nvSpPr>
        <p:spPr>
          <a:xfrm>
            <a:off x="4014216"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III · Construcción</a:t>
            </a:r>
          </a:p>
        </p:txBody>
      </p:sp>
      <p:sp>
        <p:nvSpPr>
          <p:cNvPr id="24" name="Avance III pista"/>
          <p:cNvSpPr/>
          <p:nvPr/>
        </p:nvSpPr>
        <p:spPr>
          <a:xfrm>
            <a:off x="4014216"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Avance IV"/>
          <p:cNvSpPr txBox="1"/>
          <p:nvPr/>
        </p:nvSpPr>
        <p:spPr>
          <a:xfrm>
            <a:off x="5394960" y="5742432"/>
            <a:ext cx="13258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IV · Caso práctico</a:t>
            </a:r>
          </a:p>
        </p:txBody>
      </p:sp>
      <p:sp>
        <p:nvSpPr>
          <p:cNvPr id="26" name="Avance IV pista"/>
          <p:cNvSpPr/>
          <p:nvPr/>
        </p:nvSpPr>
        <p:spPr>
          <a:xfrm>
            <a:off x="5394960" y="5989320"/>
            <a:ext cx="13258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Implementar un gemelo en una faena exige seis partes, no solo un modelo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DÓNDE GENERA VALOR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Las cinco capas del stack más una sexta que no es tecnología: quién lo usa, quién lo mantiene y qué decisión mejora. Si falta una, el gemelo se queda en demo.</a:t>
            </a:r>
          </a:p>
        </p:txBody>
      </p:sp>
      <p:sp>
        <p:nvSpPr>
          <p:cNvPr id="7" name="Parte Activo e instrumentos"/>
          <p:cNvSpPr/>
          <p:nvPr/>
        </p:nvSpPr>
        <p:spPr>
          <a:xfrm>
            <a:off x="1252728" y="2560320"/>
            <a:ext cx="3203448" cy="14447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Activo e instrumentos"/>
          <p:cNvSpPr/>
          <p:nvPr/>
        </p:nvSpPr>
        <p:spPr>
          <a:xfrm>
            <a:off x="1417320" y="274320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radio-tower" descr="radio-tower-orange.png"/>
          <p:cNvPicPr>
            <a:picLocks noChangeAspect="1"/>
          </p:cNvPicPr>
          <p:nvPr/>
        </p:nvPicPr>
        <p:blipFill>
          <a:blip r:embed="rId3"/>
          <a:stretch>
            <a:fillRect/>
          </a:stretch>
        </p:blipFill>
        <p:spPr>
          <a:xfrm>
            <a:off x="1527962" y="2853842"/>
            <a:ext cx="281635" cy="281635"/>
          </a:xfrm>
          <a:prstGeom prst="rect">
            <a:avLst/>
          </a:prstGeom>
        </p:spPr>
      </p:pic>
      <p:sp>
        <p:nvSpPr>
          <p:cNvPr id="10" name="TextBox 9"/>
          <p:cNvSpPr txBox="1"/>
          <p:nvPr/>
        </p:nvSpPr>
        <p:spPr>
          <a:xfrm>
            <a:off x="2057400" y="2697480"/>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1</a:t>
            </a:r>
          </a:p>
        </p:txBody>
      </p:sp>
      <p:sp>
        <p:nvSpPr>
          <p:cNvPr id="11" name="TextBox 10"/>
          <p:cNvSpPr txBox="1"/>
          <p:nvPr/>
        </p:nvSpPr>
        <p:spPr>
          <a:xfrm>
            <a:off x="2057400" y="2907792"/>
            <a:ext cx="2289048" cy="365760"/>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Activo e instrumentos</a:t>
            </a:r>
          </a:p>
        </p:txBody>
      </p:sp>
      <p:sp>
        <p:nvSpPr>
          <p:cNvPr id="12" name="TextBox 11"/>
          <p:cNvSpPr txBox="1"/>
          <p:nvPr/>
        </p:nvSpPr>
        <p:spPr>
          <a:xfrm>
            <a:off x="1417320" y="3337560"/>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qué se mide y con qué calidad</a:t>
            </a:r>
          </a:p>
        </p:txBody>
      </p:sp>
      <p:sp>
        <p:nvSpPr>
          <p:cNvPr id="13" name="TextBox 12"/>
          <p:cNvSpPr txBox="1"/>
          <p:nvPr/>
        </p:nvSpPr>
        <p:spPr>
          <a:xfrm>
            <a:off x="1417320" y="3657600"/>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presión, nivel, caudal, humedad</a:t>
            </a:r>
          </a:p>
        </p:txBody>
      </p:sp>
      <p:sp>
        <p:nvSpPr>
          <p:cNvPr id="14" name="Parte Datos y conectividad"/>
          <p:cNvSpPr/>
          <p:nvPr/>
        </p:nvSpPr>
        <p:spPr>
          <a:xfrm>
            <a:off x="4657344" y="2560320"/>
            <a:ext cx="3203448" cy="14447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Datos y conectividad"/>
          <p:cNvSpPr/>
          <p:nvPr/>
        </p:nvSpPr>
        <p:spPr>
          <a:xfrm>
            <a:off x="4821936" y="274320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Ícono network" descr="network-orange.png"/>
          <p:cNvPicPr>
            <a:picLocks noChangeAspect="1"/>
          </p:cNvPicPr>
          <p:nvPr/>
        </p:nvPicPr>
        <p:blipFill>
          <a:blip r:embed="rId4"/>
          <a:stretch>
            <a:fillRect/>
          </a:stretch>
        </p:blipFill>
        <p:spPr>
          <a:xfrm>
            <a:off x="4932578" y="2853842"/>
            <a:ext cx="281635" cy="281635"/>
          </a:xfrm>
          <a:prstGeom prst="rect">
            <a:avLst/>
          </a:prstGeom>
        </p:spPr>
      </p:pic>
      <p:sp>
        <p:nvSpPr>
          <p:cNvPr id="17" name="TextBox 16"/>
          <p:cNvSpPr txBox="1"/>
          <p:nvPr/>
        </p:nvSpPr>
        <p:spPr>
          <a:xfrm>
            <a:off x="5462016" y="2697480"/>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2</a:t>
            </a:r>
          </a:p>
        </p:txBody>
      </p:sp>
      <p:sp>
        <p:nvSpPr>
          <p:cNvPr id="18" name="TextBox 17"/>
          <p:cNvSpPr txBox="1"/>
          <p:nvPr/>
        </p:nvSpPr>
        <p:spPr>
          <a:xfrm>
            <a:off x="5462016" y="2907792"/>
            <a:ext cx="2289048" cy="365760"/>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Datos y conectividad</a:t>
            </a:r>
          </a:p>
        </p:txBody>
      </p:sp>
      <p:sp>
        <p:nvSpPr>
          <p:cNvPr id="19" name="TextBox 18"/>
          <p:cNvSpPr txBox="1"/>
          <p:nvPr/>
        </p:nvSpPr>
        <p:spPr>
          <a:xfrm>
            <a:off x="4821936" y="3337560"/>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cómo llegan las señales y se guardan</a:t>
            </a:r>
          </a:p>
        </p:txBody>
      </p:sp>
      <p:sp>
        <p:nvSpPr>
          <p:cNvPr id="20" name="TextBox 19"/>
          <p:cNvSpPr txBox="1"/>
          <p:nvPr/>
        </p:nvSpPr>
        <p:spPr>
          <a:xfrm>
            <a:off x="4821936" y="3657600"/>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OPC UA, MQTT, historian</a:t>
            </a:r>
          </a:p>
        </p:txBody>
      </p:sp>
      <p:sp>
        <p:nvSpPr>
          <p:cNvPr id="21" name="Parte Modelo"/>
          <p:cNvSpPr/>
          <p:nvPr/>
        </p:nvSpPr>
        <p:spPr>
          <a:xfrm>
            <a:off x="8061960" y="2560320"/>
            <a:ext cx="3203448" cy="14447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Modelo"/>
          <p:cNvSpPr/>
          <p:nvPr/>
        </p:nvSpPr>
        <p:spPr>
          <a:xfrm>
            <a:off x="8226552" y="274320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brain-circuit" descr="brain-circuit-orange.png"/>
          <p:cNvPicPr>
            <a:picLocks noChangeAspect="1"/>
          </p:cNvPicPr>
          <p:nvPr/>
        </p:nvPicPr>
        <p:blipFill>
          <a:blip r:embed="rId5"/>
          <a:stretch>
            <a:fillRect/>
          </a:stretch>
        </p:blipFill>
        <p:spPr>
          <a:xfrm>
            <a:off x="8337194" y="2853842"/>
            <a:ext cx="281635" cy="281635"/>
          </a:xfrm>
          <a:prstGeom prst="rect">
            <a:avLst/>
          </a:prstGeom>
        </p:spPr>
      </p:pic>
      <p:sp>
        <p:nvSpPr>
          <p:cNvPr id="24" name="TextBox 23"/>
          <p:cNvSpPr txBox="1"/>
          <p:nvPr/>
        </p:nvSpPr>
        <p:spPr>
          <a:xfrm>
            <a:off x="8866632" y="2697480"/>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3</a:t>
            </a:r>
          </a:p>
        </p:txBody>
      </p:sp>
      <p:sp>
        <p:nvSpPr>
          <p:cNvPr id="25" name="TextBox 24"/>
          <p:cNvSpPr txBox="1"/>
          <p:nvPr/>
        </p:nvSpPr>
        <p:spPr>
          <a:xfrm>
            <a:off x="8866632" y="2907792"/>
            <a:ext cx="2289048" cy="365760"/>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Modelo</a:t>
            </a:r>
          </a:p>
        </p:txBody>
      </p:sp>
      <p:sp>
        <p:nvSpPr>
          <p:cNvPr id="26" name="TextBox 25"/>
          <p:cNvSpPr txBox="1"/>
          <p:nvPr/>
        </p:nvSpPr>
        <p:spPr>
          <a:xfrm>
            <a:off x="8226552" y="3337560"/>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física, datos o híbrido, verificado y calibrado</a:t>
            </a:r>
          </a:p>
        </p:txBody>
      </p:sp>
      <p:sp>
        <p:nvSpPr>
          <p:cNvPr id="27" name="TextBox 26"/>
          <p:cNvSpPr txBox="1"/>
          <p:nvPr/>
        </p:nvSpPr>
        <p:spPr>
          <a:xfrm>
            <a:off x="8226552" y="3657600"/>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la FMU del equipo</a:t>
            </a:r>
          </a:p>
        </p:txBody>
      </p:sp>
      <p:sp>
        <p:nvSpPr>
          <p:cNvPr id="28" name="Parte Ejecución"/>
          <p:cNvSpPr/>
          <p:nvPr/>
        </p:nvSpPr>
        <p:spPr>
          <a:xfrm>
            <a:off x="1252728" y="4133088"/>
            <a:ext cx="3203448" cy="14447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Ejecución"/>
          <p:cNvSpPr/>
          <p:nvPr/>
        </p:nvSpPr>
        <p:spPr>
          <a:xfrm>
            <a:off x="1417320" y="4315968"/>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server" descr="server-orange.png"/>
          <p:cNvPicPr>
            <a:picLocks noChangeAspect="1"/>
          </p:cNvPicPr>
          <p:nvPr/>
        </p:nvPicPr>
        <p:blipFill>
          <a:blip r:embed="rId6"/>
          <a:stretch>
            <a:fillRect/>
          </a:stretch>
        </p:blipFill>
        <p:spPr>
          <a:xfrm>
            <a:off x="1527962" y="4426610"/>
            <a:ext cx="281635" cy="281635"/>
          </a:xfrm>
          <a:prstGeom prst="rect">
            <a:avLst/>
          </a:prstGeom>
        </p:spPr>
      </p:pic>
      <p:sp>
        <p:nvSpPr>
          <p:cNvPr id="31" name="TextBox 30"/>
          <p:cNvSpPr txBox="1"/>
          <p:nvPr/>
        </p:nvSpPr>
        <p:spPr>
          <a:xfrm>
            <a:off x="2057400" y="4270248"/>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4</a:t>
            </a:r>
          </a:p>
        </p:txBody>
      </p:sp>
      <p:sp>
        <p:nvSpPr>
          <p:cNvPr id="32" name="TextBox 31"/>
          <p:cNvSpPr txBox="1"/>
          <p:nvPr/>
        </p:nvSpPr>
        <p:spPr>
          <a:xfrm>
            <a:off x="2057400" y="4480560"/>
            <a:ext cx="2289048" cy="365760"/>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Ejecución</a:t>
            </a:r>
          </a:p>
        </p:txBody>
      </p:sp>
      <p:sp>
        <p:nvSpPr>
          <p:cNvPr id="33" name="TextBox 32"/>
          <p:cNvSpPr txBox="1"/>
          <p:nvPr/>
        </p:nvSpPr>
        <p:spPr>
          <a:xfrm>
            <a:off x="1417320" y="4910328"/>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dónde corre y con qué disponibilidad</a:t>
            </a:r>
          </a:p>
        </p:txBody>
      </p:sp>
      <p:sp>
        <p:nvSpPr>
          <p:cNvPr id="34" name="TextBox 33"/>
          <p:cNvSpPr txBox="1"/>
          <p:nvPr/>
        </p:nvSpPr>
        <p:spPr>
          <a:xfrm>
            <a:off x="1417320" y="5230368"/>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edge, servidor o nube</a:t>
            </a:r>
          </a:p>
        </p:txBody>
      </p:sp>
      <p:sp>
        <p:nvSpPr>
          <p:cNvPr id="35" name="Parte Aplicación"/>
          <p:cNvSpPr/>
          <p:nvPr/>
        </p:nvSpPr>
        <p:spPr>
          <a:xfrm>
            <a:off x="4657344" y="4133088"/>
            <a:ext cx="3203448" cy="14447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plicación"/>
          <p:cNvSpPr/>
          <p:nvPr/>
        </p:nvSpPr>
        <p:spPr>
          <a:xfrm>
            <a:off x="4821936" y="4315968"/>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Ícono monitor" descr="monitor-orange.png"/>
          <p:cNvPicPr>
            <a:picLocks noChangeAspect="1"/>
          </p:cNvPicPr>
          <p:nvPr/>
        </p:nvPicPr>
        <p:blipFill>
          <a:blip r:embed="rId7"/>
          <a:stretch>
            <a:fillRect/>
          </a:stretch>
        </p:blipFill>
        <p:spPr>
          <a:xfrm>
            <a:off x="4932578" y="4426610"/>
            <a:ext cx="281635" cy="281635"/>
          </a:xfrm>
          <a:prstGeom prst="rect">
            <a:avLst/>
          </a:prstGeom>
        </p:spPr>
      </p:pic>
      <p:sp>
        <p:nvSpPr>
          <p:cNvPr id="38" name="TextBox 37"/>
          <p:cNvSpPr txBox="1"/>
          <p:nvPr/>
        </p:nvSpPr>
        <p:spPr>
          <a:xfrm>
            <a:off x="5462016" y="4270248"/>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5</a:t>
            </a:r>
          </a:p>
        </p:txBody>
      </p:sp>
      <p:sp>
        <p:nvSpPr>
          <p:cNvPr id="39" name="TextBox 38"/>
          <p:cNvSpPr txBox="1"/>
          <p:nvPr/>
        </p:nvSpPr>
        <p:spPr>
          <a:xfrm>
            <a:off x="5462016" y="4480560"/>
            <a:ext cx="2289048" cy="365760"/>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Aplicación</a:t>
            </a:r>
          </a:p>
        </p:txBody>
      </p:sp>
      <p:sp>
        <p:nvSpPr>
          <p:cNvPr id="40" name="TextBox 39"/>
          <p:cNvSpPr txBox="1"/>
          <p:nvPr/>
        </p:nvSpPr>
        <p:spPr>
          <a:xfrm>
            <a:off x="4821936" y="4910328"/>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la pantalla o la consigna que cambia una decisión</a:t>
            </a:r>
          </a:p>
        </p:txBody>
      </p:sp>
      <p:sp>
        <p:nvSpPr>
          <p:cNvPr id="41" name="TextBox 40"/>
          <p:cNvSpPr txBox="1"/>
          <p:nvPr/>
        </p:nvSpPr>
        <p:spPr>
          <a:xfrm>
            <a:off x="4821936" y="5230368"/>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tablero, alerta, recomendación</a:t>
            </a:r>
          </a:p>
        </p:txBody>
      </p:sp>
      <p:sp>
        <p:nvSpPr>
          <p:cNvPr id="42" name="Parte Personas y gobierno"/>
          <p:cNvSpPr/>
          <p:nvPr/>
        </p:nvSpPr>
        <p:spPr>
          <a:xfrm>
            <a:off x="8061960" y="4133088"/>
            <a:ext cx="3203448" cy="1444752"/>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Personas y gobierno"/>
          <p:cNvSpPr/>
          <p:nvPr/>
        </p:nvSpPr>
        <p:spPr>
          <a:xfrm>
            <a:off x="8226552" y="4315968"/>
            <a:ext cx="502920" cy="50292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Ícono users" descr="users-navy.png"/>
          <p:cNvPicPr>
            <a:picLocks noChangeAspect="1"/>
          </p:cNvPicPr>
          <p:nvPr/>
        </p:nvPicPr>
        <p:blipFill>
          <a:blip r:embed="rId8"/>
          <a:stretch>
            <a:fillRect/>
          </a:stretch>
        </p:blipFill>
        <p:spPr>
          <a:xfrm>
            <a:off x="8337194" y="4426610"/>
            <a:ext cx="281635" cy="281635"/>
          </a:xfrm>
          <a:prstGeom prst="rect">
            <a:avLst/>
          </a:prstGeom>
        </p:spPr>
      </p:pic>
      <p:sp>
        <p:nvSpPr>
          <p:cNvPr id="45" name="TextBox 44"/>
          <p:cNvSpPr txBox="1"/>
          <p:nvPr/>
        </p:nvSpPr>
        <p:spPr>
          <a:xfrm>
            <a:off x="8866632" y="4270248"/>
            <a:ext cx="457200"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a:t>
            </a:r>
          </a:p>
        </p:txBody>
      </p:sp>
      <p:sp>
        <p:nvSpPr>
          <p:cNvPr id="46" name="TextBox 45"/>
          <p:cNvSpPr txBox="1"/>
          <p:nvPr/>
        </p:nvSpPr>
        <p:spPr>
          <a:xfrm>
            <a:off x="8866632" y="4480560"/>
            <a:ext cx="2289048" cy="365760"/>
          </a:xfrm>
          <a:prstGeom prst="rect">
            <a:avLst/>
          </a:prstGeom>
          <a:noFill/>
        </p:spPr>
        <p:txBody>
          <a:bodyPr wrap="square" lIns="0" tIns="0" rIns="0" bIns="0" anchor="t">
            <a:spAutoFit/>
          </a:bodyPr>
          <a:lstStyle/>
          <a:p>
            <a:pPr algn="l">
              <a:spcAft>
                <a:spcPts val="600"/>
              </a:spcAft>
            </a:pPr>
            <a:r>
              <a:rPr sz="1250" b="1" i="0">
                <a:solidFill>
                  <a:srgbClr val="FFAB40"/>
                </a:solidFill>
                <a:effectLst>
                  <a:glow rad="63500">
                    <a:srgbClr val="001633">
                      <a:alpha val="85000"/>
                    </a:srgbClr>
                  </a:glow>
                </a:effectLst>
                <a:latin typeface="Montserrat"/>
              </a:rPr>
              <a:t>Personas y gobierno</a:t>
            </a:r>
          </a:p>
        </p:txBody>
      </p:sp>
      <p:sp>
        <p:nvSpPr>
          <p:cNvPr id="47" name="TextBox 46"/>
          <p:cNvSpPr txBox="1"/>
          <p:nvPr/>
        </p:nvSpPr>
        <p:spPr>
          <a:xfrm>
            <a:off x="8226552" y="4910328"/>
            <a:ext cx="2874264" cy="3657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un dueño, un caso de negocio, recalibración y ciberseguridad</a:t>
            </a:r>
          </a:p>
        </p:txBody>
      </p:sp>
      <p:sp>
        <p:nvSpPr>
          <p:cNvPr id="48" name="TextBox 47"/>
          <p:cNvSpPr txBox="1"/>
          <p:nvPr/>
        </p:nvSpPr>
        <p:spPr>
          <a:xfrm>
            <a:off x="8226552" y="5230368"/>
            <a:ext cx="2874264" cy="27432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sin dueño, no dura</a:t>
            </a:r>
          </a:p>
        </p:txBody>
      </p:sp>
      <p:sp>
        <p:nvSpPr>
          <p:cNvPr id="49" name="TextBox 48"/>
          <p:cNvSpPr txBox="1"/>
          <p:nvPr/>
        </p:nvSpPr>
        <p:spPr>
          <a:xfrm>
            <a:off x="1252728" y="5715000"/>
            <a:ext cx="10012680" cy="228600"/>
          </a:xfrm>
          <a:prstGeom prst="rect">
            <a:avLst/>
          </a:prstGeom>
          <a:noFill/>
        </p:spPr>
        <p:txBody>
          <a:bodyPr wrap="square" lIns="0" tIns="0" rIns="0" bIns="0" anchor="t">
            <a:spAutoFit/>
          </a:bodyPr>
          <a:lstStyle/>
          <a:p>
            <a:pPr algn="l">
              <a:spcAft>
                <a:spcPts val="600"/>
              </a:spcAft>
            </a:pPr>
            <a:r>
              <a:rPr sz="900" b="1" i="0">
                <a:solidFill>
                  <a:srgbClr val="85D5E6"/>
                </a:solidFill>
                <a:effectLst>
                  <a:glow rad="63500">
                    <a:srgbClr val="001633">
                      <a:alpha val="85000"/>
                    </a:srgbClr>
                  </a:glow>
                </a:effectLst>
                <a:latin typeface="Montserrat"/>
              </a:rPr>
              <a:t>Las partes 1 a 5 son el stack del capítulo II; la sexta es la que más proyectos olvida.</a:t>
            </a:r>
          </a:p>
        </p:txBody>
      </p:sp>
      <p:sp>
        <p:nvSpPr>
          <p:cNvPr id="5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Stack de cinco capas: capítulo II · personas y gobierno: capítulo III (cómo se mantiene) · elaboración propia</a:t>
            </a:r>
          </a:p>
        </p:txBody>
      </p:sp>
      <p:sp>
        <p:nvSpPr>
          <p:cNvPr id="5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actual"/>
          <p:cNvSpPr/>
          <p:nvPr/>
        </p:nvSpPr>
        <p:spPr>
          <a:xfrm>
            <a:off x="6876288" y="6510528"/>
            <a:ext cx="660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1/27 </a:t>
            </a:r>
            <a:r>
              <a:rPr sz="1000" b="0" i="0">
                <a:solidFill>
                  <a:srgbClr val="A9B8C9"/>
                </a:solidFill>
                <a:effectLst>
                  <a:glow rad="63500">
                    <a:srgbClr val="001633">
                      <a:alpha val="85000"/>
                    </a:srgbClr>
                  </a:glow>
                </a:effectLst>
                <a:latin typeface="Montserrat"/>
              </a:rPr>
              <a:t>· Gemelos Digitales para Minería 4.0 · 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Áreas estratégicas para la creación de valor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DÓNDE GENERA VALOR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valor no es el gemelo: es la decisión que mejora. Antes de construir hay que decir en cuál de estas columnas cae y con qué indicador se va a medir.</a:t>
            </a:r>
          </a:p>
        </p:txBody>
      </p:sp>
      <p:sp>
        <p:nvSpPr>
          <p:cNvPr id="7" name="Valor Producción"/>
          <p:cNvSpPr/>
          <p:nvPr/>
        </p:nvSpPr>
        <p:spPr>
          <a:xfrm>
            <a:off x="1252728" y="2560320"/>
            <a:ext cx="1856232" cy="3017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Producción"/>
          <p:cNvSpPr/>
          <p:nvPr/>
        </p:nvSpPr>
        <p:spPr>
          <a:xfrm>
            <a:off x="1252728" y="2560320"/>
            <a:ext cx="185623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Producción"/>
          <p:cNvSpPr/>
          <p:nvPr/>
        </p:nvSpPr>
        <p:spPr>
          <a:xfrm>
            <a:off x="1897380" y="2743200"/>
            <a:ext cx="566928" cy="5669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Ícono trending-up" descr="trending-up-navy.png"/>
          <p:cNvPicPr>
            <a:picLocks noChangeAspect="1"/>
          </p:cNvPicPr>
          <p:nvPr/>
        </p:nvPicPr>
        <p:blipFill>
          <a:blip r:embed="rId3"/>
          <a:stretch>
            <a:fillRect/>
          </a:stretch>
        </p:blipFill>
        <p:spPr>
          <a:xfrm>
            <a:off x="2022104" y="2867924"/>
            <a:ext cx="317479" cy="317479"/>
          </a:xfrm>
          <a:prstGeom prst="rect">
            <a:avLst/>
          </a:prstGeom>
        </p:spPr>
      </p:pic>
      <p:sp>
        <p:nvSpPr>
          <p:cNvPr id="11" name="TextBox 10"/>
          <p:cNvSpPr txBox="1"/>
          <p:nvPr/>
        </p:nvSpPr>
        <p:spPr>
          <a:xfrm>
            <a:off x="1344168" y="3401568"/>
            <a:ext cx="1673352" cy="502920"/>
          </a:xfrm>
          <a:prstGeom prst="rect">
            <a:avLst/>
          </a:prstGeom>
          <a:noFill/>
        </p:spPr>
        <p:txBody>
          <a:bodyPr wrap="square" lIns="0" tIns="0" rIns="0" bIns="0" anchor="ctr">
            <a:spAutoFit/>
          </a:bodyPr>
          <a:lstStyle/>
          <a:p>
            <a:pPr algn="ctr">
              <a:spcAft>
                <a:spcPts val="600"/>
              </a:spcAft>
            </a:pPr>
            <a:r>
              <a:rPr sz="1200" b="1" i="0">
                <a:solidFill>
                  <a:srgbClr val="FFFFFF"/>
                </a:solidFill>
                <a:effectLst>
                  <a:glow rad="63500">
                    <a:srgbClr val="001633">
                      <a:alpha val="85000"/>
                    </a:srgbClr>
                  </a:glow>
                </a:effectLst>
                <a:latin typeface="Montserrat"/>
              </a:rPr>
              <a:t>Producción</a:t>
            </a:r>
          </a:p>
        </p:txBody>
      </p:sp>
      <p:sp>
        <p:nvSpPr>
          <p:cNvPr id="12" name="TextBox 11"/>
          <p:cNvSpPr txBox="1"/>
          <p:nvPr/>
        </p:nvSpPr>
        <p:spPr>
          <a:xfrm>
            <a:off x="1389888" y="3931920"/>
            <a:ext cx="1581912" cy="64008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más toneladas por hora con el mismo equipo</a:t>
            </a:r>
          </a:p>
        </p:txBody>
      </p:sp>
      <p:cxnSp>
        <p:nvCxnSpPr>
          <p:cNvPr id="13" name="Connector 12"/>
          <p:cNvCxnSpPr/>
          <p:nvPr/>
        </p:nvCxnSpPr>
        <p:spPr>
          <a:xfrm>
            <a:off x="1527048" y="4617720"/>
            <a:ext cx="1307592"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44168" y="4681728"/>
            <a:ext cx="1673352" cy="41148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SE MIDE EN</a:t>
            </a:r>
          </a:p>
          <a:p>
            <a:pPr algn="ctr">
              <a:spcAft>
                <a:spcPts val="0"/>
              </a:spcAft>
            </a:pPr>
            <a:r>
              <a:rPr sz="900" b="1" i="0">
                <a:solidFill>
                  <a:srgbClr val="85D5E6"/>
                </a:solidFill>
                <a:effectLst>
                  <a:glow rad="63500">
                    <a:srgbClr val="001633">
                      <a:alpha val="85000"/>
                    </a:srgbClr>
                  </a:glow>
                </a:effectLst>
                <a:latin typeface="Montserrat"/>
              </a:rPr>
              <a:t>t/h, utilización</a:t>
            </a:r>
          </a:p>
        </p:txBody>
      </p:sp>
      <p:sp>
        <p:nvSpPr>
          <p:cNvPr id="15" name="TextBox 14"/>
          <p:cNvSpPr txBox="1"/>
          <p:nvPr/>
        </p:nvSpPr>
        <p:spPr>
          <a:xfrm>
            <a:off x="1344168" y="5120640"/>
            <a:ext cx="1673352" cy="41148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molienda al límite de potencia</a:t>
            </a:r>
          </a:p>
        </p:txBody>
      </p:sp>
      <p:sp>
        <p:nvSpPr>
          <p:cNvPr id="16" name="Valor Calidad y recuperación"/>
          <p:cNvSpPr/>
          <p:nvPr/>
        </p:nvSpPr>
        <p:spPr>
          <a:xfrm>
            <a:off x="3291840" y="2560320"/>
            <a:ext cx="1856232" cy="3017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Borde Calidad y recuperación"/>
          <p:cNvSpPr/>
          <p:nvPr/>
        </p:nvSpPr>
        <p:spPr>
          <a:xfrm>
            <a:off x="3291840" y="2560320"/>
            <a:ext cx="185623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alidad y recuperación"/>
          <p:cNvSpPr/>
          <p:nvPr/>
        </p:nvSpPr>
        <p:spPr>
          <a:xfrm>
            <a:off x="3936492" y="2743200"/>
            <a:ext cx="566928" cy="5669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Ícono target" descr="target-navy.png"/>
          <p:cNvPicPr>
            <a:picLocks noChangeAspect="1"/>
          </p:cNvPicPr>
          <p:nvPr/>
        </p:nvPicPr>
        <p:blipFill>
          <a:blip r:embed="rId4"/>
          <a:stretch>
            <a:fillRect/>
          </a:stretch>
        </p:blipFill>
        <p:spPr>
          <a:xfrm>
            <a:off x="4061216" y="2867924"/>
            <a:ext cx="317479" cy="317479"/>
          </a:xfrm>
          <a:prstGeom prst="rect">
            <a:avLst/>
          </a:prstGeom>
        </p:spPr>
      </p:pic>
      <p:sp>
        <p:nvSpPr>
          <p:cNvPr id="20" name="TextBox 19"/>
          <p:cNvSpPr txBox="1"/>
          <p:nvPr/>
        </p:nvSpPr>
        <p:spPr>
          <a:xfrm>
            <a:off x="3383280" y="3401568"/>
            <a:ext cx="1673352" cy="502920"/>
          </a:xfrm>
          <a:prstGeom prst="rect">
            <a:avLst/>
          </a:prstGeom>
          <a:noFill/>
        </p:spPr>
        <p:txBody>
          <a:bodyPr wrap="square" lIns="0" tIns="0" rIns="0" bIns="0" anchor="ctr">
            <a:spAutoFit/>
          </a:bodyPr>
          <a:lstStyle/>
          <a:p>
            <a:pPr algn="ctr">
              <a:spcAft>
                <a:spcPts val="600"/>
              </a:spcAft>
            </a:pPr>
            <a:r>
              <a:rPr sz="1200" b="1" i="0">
                <a:solidFill>
                  <a:srgbClr val="FFFFFF"/>
                </a:solidFill>
                <a:effectLst>
                  <a:glow rad="63500">
                    <a:srgbClr val="001633">
                      <a:alpha val="85000"/>
                    </a:srgbClr>
                  </a:glow>
                </a:effectLst>
                <a:latin typeface="Montserrat"/>
              </a:rPr>
              <a:t>Calidad y recuperación</a:t>
            </a:r>
          </a:p>
        </p:txBody>
      </p:sp>
      <p:sp>
        <p:nvSpPr>
          <p:cNvPr id="21" name="TextBox 20"/>
          <p:cNvSpPr txBox="1"/>
          <p:nvPr/>
        </p:nvSpPr>
        <p:spPr>
          <a:xfrm>
            <a:off x="3429000" y="3931920"/>
            <a:ext cx="1581912" cy="64008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más metal o un producto dentro de especificación</a:t>
            </a:r>
          </a:p>
        </p:txBody>
      </p:sp>
      <p:cxnSp>
        <p:nvCxnSpPr>
          <p:cNvPr id="22" name="Connector 21"/>
          <p:cNvCxnSpPr/>
          <p:nvPr/>
        </p:nvCxnSpPr>
        <p:spPr>
          <a:xfrm>
            <a:off x="3566160" y="4617720"/>
            <a:ext cx="1307592"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83280" y="4681728"/>
            <a:ext cx="1673352" cy="41148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SE MIDE EN</a:t>
            </a:r>
          </a:p>
          <a:p>
            <a:pPr algn="ctr">
              <a:spcAft>
                <a:spcPts val="0"/>
              </a:spcAft>
            </a:pPr>
            <a:r>
              <a:rPr sz="900" b="1" i="0">
                <a:solidFill>
                  <a:srgbClr val="85D5E6"/>
                </a:solidFill>
                <a:effectLst>
                  <a:glow rad="63500">
                    <a:srgbClr val="001633">
                      <a:alpha val="85000"/>
                    </a:srgbClr>
                  </a:glow>
                </a:effectLst>
                <a:latin typeface="Montserrat"/>
              </a:rPr>
              <a:t>recuperación, ley, humedad</a:t>
            </a:r>
          </a:p>
        </p:txBody>
      </p:sp>
      <p:sp>
        <p:nvSpPr>
          <p:cNvPr id="24" name="TextBox 23"/>
          <p:cNvSpPr txBox="1"/>
          <p:nvPr/>
        </p:nvSpPr>
        <p:spPr>
          <a:xfrm>
            <a:off x="3383280" y="5120640"/>
            <a:ext cx="1673352" cy="41148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flotación, filtrado</a:t>
            </a:r>
          </a:p>
        </p:txBody>
      </p:sp>
      <p:sp>
        <p:nvSpPr>
          <p:cNvPr id="25" name="Valor Costo y energía"/>
          <p:cNvSpPr/>
          <p:nvPr/>
        </p:nvSpPr>
        <p:spPr>
          <a:xfrm>
            <a:off x="5330952" y="2560320"/>
            <a:ext cx="1856232" cy="3017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Borde Costo y energía"/>
          <p:cNvSpPr/>
          <p:nvPr/>
        </p:nvSpPr>
        <p:spPr>
          <a:xfrm>
            <a:off x="5330952" y="2560320"/>
            <a:ext cx="185623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Costo y energía"/>
          <p:cNvSpPr/>
          <p:nvPr/>
        </p:nvSpPr>
        <p:spPr>
          <a:xfrm>
            <a:off x="5975604" y="2743200"/>
            <a:ext cx="566928" cy="5669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Ícono zap" descr="zap-navy.png"/>
          <p:cNvPicPr>
            <a:picLocks noChangeAspect="1"/>
          </p:cNvPicPr>
          <p:nvPr/>
        </p:nvPicPr>
        <p:blipFill>
          <a:blip r:embed="rId5"/>
          <a:stretch>
            <a:fillRect/>
          </a:stretch>
        </p:blipFill>
        <p:spPr>
          <a:xfrm>
            <a:off x="6100328" y="2867924"/>
            <a:ext cx="317479" cy="317479"/>
          </a:xfrm>
          <a:prstGeom prst="rect">
            <a:avLst/>
          </a:prstGeom>
        </p:spPr>
      </p:pic>
      <p:sp>
        <p:nvSpPr>
          <p:cNvPr id="29" name="TextBox 28"/>
          <p:cNvSpPr txBox="1"/>
          <p:nvPr/>
        </p:nvSpPr>
        <p:spPr>
          <a:xfrm>
            <a:off x="5422392" y="3401568"/>
            <a:ext cx="1673352" cy="502920"/>
          </a:xfrm>
          <a:prstGeom prst="rect">
            <a:avLst/>
          </a:prstGeom>
          <a:noFill/>
        </p:spPr>
        <p:txBody>
          <a:bodyPr wrap="square" lIns="0" tIns="0" rIns="0" bIns="0" anchor="ctr">
            <a:spAutoFit/>
          </a:bodyPr>
          <a:lstStyle/>
          <a:p>
            <a:pPr algn="ctr">
              <a:spcAft>
                <a:spcPts val="600"/>
              </a:spcAft>
            </a:pPr>
            <a:r>
              <a:rPr sz="1200" b="1" i="0">
                <a:solidFill>
                  <a:srgbClr val="FFFFFF"/>
                </a:solidFill>
                <a:effectLst>
                  <a:glow rad="63500">
                    <a:srgbClr val="001633">
                      <a:alpha val="85000"/>
                    </a:srgbClr>
                  </a:glow>
                </a:effectLst>
                <a:latin typeface="Montserrat"/>
              </a:rPr>
              <a:t>Costo y energía</a:t>
            </a:r>
          </a:p>
        </p:txBody>
      </p:sp>
      <p:sp>
        <p:nvSpPr>
          <p:cNvPr id="30" name="TextBox 29"/>
          <p:cNvSpPr txBox="1"/>
          <p:nvPr/>
        </p:nvSpPr>
        <p:spPr>
          <a:xfrm>
            <a:off x="5468112" y="3931920"/>
            <a:ext cx="1581912" cy="64008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menos kWh, agua o insumos por tonelada</a:t>
            </a:r>
          </a:p>
        </p:txBody>
      </p:sp>
      <p:cxnSp>
        <p:nvCxnSpPr>
          <p:cNvPr id="31" name="Connector 30"/>
          <p:cNvCxnSpPr/>
          <p:nvPr/>
        </p:nvCxnSpPr>
        <p:spPr>
          <a:xfrm>
            <a:off x="5605272" y="4617720"/>
            <a:ext cx="1307592"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22392" y="4681728"/>
            <a:ext cx="1673352" cy="41148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SE MIDE EN</a:t>
            </a:r>
          </a:p>
          <a:p>
            <a:pPr algn="ctr">
              <a:spcAft>
                <a:spcPts val="0"/>
              </a:spcAft>
            </a:pPr>
            <a:r>
              <a:rPr sz="900" b="1" i="0">
                <a:solidFill>
                  <a:srgbClr val="85D5E6"/>
                </a:solidFill>
                <a:effectLst>
                  <a:glow rad="63500">
                    <a:srgbClr val="001633">
                      <a:alpha val="85000"/>
                    </a:srgbClr>
                  </a:glow>
                </a:effectLst>
                <a:latin typeface="Montserrat"/>
              </a:rPr>
              <a:t>kWh/t, m³/t</a:t>
            </a:r>
          </a:p>
        </p:txBody>
      </p:sp>
      <p:sp>
        <p:nvSpPr>
          <p:cNvPr id="33" name="TextBox 32"/>
          <p:cNvSpPr txBox="1"/>
          <p:nvPr/>
        </p:nvSpPr>
        <p:spPr>
          <a:xfrm>
            <a:off x="5422392" y="5120640"/>
            <a:ext cx="1673352" cy="41148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compresores, bombas, ventilación</a:t>
            </a:r>
          </a:p>
        </p:txBody>
      </p:sp>
      <p:sp>
        <p:nvSpPr>
          <p:cNvPr id="34" name="Valor Disponibilidad"/>
          <p:cNvSpPr/>
          <p:nvPr/>
        </p:nvSpPr>
        <p:spPr>
          <a:xfrm>
            <a:off x="7370064" y="2560320"/>
            <a:ext cx="1856232" cy="3017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Borde Disponibilidad"/>
          <p:cNvSpPr/>
          <p:nvPr/>
        </p:nvSpPr>
        <p:spPr>
          <a:xfrm>
            <a:off x="7370064" y="2560320"/>
            <a:ext cx="185623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Disponibilidad"/>
          <p:cNvSpPr/>
          <p:nvPr/>
        </p:nvSpPr>
        <p:spPr>
          <a:xfrm>
            <a:off x="8014716" y="2743200"/>
            <a:ext cx="566928" cy="5669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Ícono wrench" descr="wrench-navy.png"/>
          <p:cNvPicPr>
            <a:picLocks noChangeAspect="1"/>
          </p:cNvPicPr>
          <p:nvPr/>
        </p:nvPicPr>
        <p:blipFill>
          <a:blip r:embed="rId6"/>
          <a:stretch>
            <a:fillRect/>
          </a:stretch>
        </p:blipFill>
        <p:spPr>
          <a:xfrm>
            <a:off x="8139440" y="2867924"/>
            <a:ext cx="317479" cy="317479"/>
          </a:xfrm>
          <a:prstGeom prst="rect">
            <a:avLst/>
          </a:prstGeom>
        </p:spPr>
      </p:pic>
      <p:sp>
        <p:nvSpPr>
          <p:cNvPr id="38" name="TextBox 37"/>
          <p:cNvSpPr txBox="1"/>
          <p:nvPr/>
        </p:nvSpPr>
        <p:spPr>
          <a:xfrm>
            <a:off x="7461504" y="3401568"/>
            <a:ext cx="1673352" cy="502920"/>
          </a:xfrm>
          <a:prstGeom prst="rect">
            <a:avLst/>
          </a:prstGeom>
          <a:noFill/>
        </p:spPr>
        <p:txBody>
          <a:bodyPr wrap="square" lIns="0" tIns="0" rIns="0" bIns="0" anchor="ctr">
            <a:spAutoFit/>
          </a:bodyPr>
          <a:lstStyle/>
          <a:p>
            <a:pPr algn="ctr">
              <a:spcAft>
                <a:spcPts val="600"/>
              </a:spcAft>
            </a:pPr>
            <a:r>
              <a:rPr sz="1200" b="1" i="0">
                <a:solidFill>
                  <a:srgbClr val="FFFFFF"/>
                </a:solidFill>
                <a:effectLst>
                  <a:glow rad="63500">
                    <a:srgbClr val="001633">
                      <a:alpha val="85000"/>
                    </a:srgbClr>
                  </a:glow>
                </a:effectLst>
                <a:latin typeface="Montserrat"/>
              </a:rPr>
              <a:t>Disponibilidad</a:t>
            </a:r>
          </a:p>
        </p:txBody>
      </p:sp>
      <p:sp>
        <p:nvSpPr>
          <p:cNvPr id="39" name="TextBox 38"/>
          <p:cNvSpPr txBox="1"/>
          <p:nvPr/>
        </p:nvSpPr>
        <p:spPr>
          <a:xfrm>
            <a:off x="7507224" y="3931920"/>
            <a:ext cx="1581912" cy="64008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menos detenciones no programadas</a:t>
            </a:r>
          </a:p>
        </p:txBody>
      </p:sp>
      <p:cxnSp>
        <p:nvCxnSpPr>
          <p:cNvPr id="40" name="Connector 39"/>
          <p:cNvCxnSpPr/>
          <p:nvPr/>
        </p:nvCxnSpPr>
        <p:spPr>
          <a:xfrm>
            <a:off x="7644384" y="4617720"/>
            <a:ext cx="1307592"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461504" y="4681728"/>
            <a:ext cx="1673352" cy="41148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SE MIDE EN</a:t>
            </a:r>
          </a:p>
          <a:p>
            <a:pPr algn="ctr">
              <a:spcAft>
                <a:spcPts val="0"/>
              </a:spcAft>
            </a:pPr>
            <a:r>
              <a:rPr sz="900" b="1" i="0">
                <a:solidFill>
                  <a:srgbClr val="85D5E6"/>
                </a:solidFill>
                <a:effectLst>
                  <a:glow rad="63500">
                    <a:srgbClr val="001633">
                      <a:alpha val="85000"/>
                    </a:srgbClr>
                  </a:glow>
                </a:effectLst>
                <a:latin typeface="Montserrat"/>
              </a:rPr>
              <a:t>MTBF, horas detenidas</a:t>
            </a:r>
          </a:p>
        </p:txBody>
      </p:sp>
      <p:sp>
        <p:nvSpPr>
          <p:cNvPr id="42" name="TextBox 41"/>
          <p:cNvSpPr txBox="1"/>
          <p:nvPr/>
        </p:nvSpPr>
        <p:spPr>
          <a:xfrm>
            <a:off x="7461504" y="5120640"/>
            <a:ext cx="1673352" cy="41148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correas, camiones, telas</a:t>
            </a:r>
          </a:p>
        </p:txBody>
      </p:sp>
      <p:sp>
        <p:nvSpPr>
          <p:cNvPr id="43" name="Valor Seguridad y riesgo"/>
          <p:cNvSpPr/>
          <p:nvPr/>
        </p:nvSpPr>
        <p:spPr>
          <a:xfrm>
            <a:off x="9409176" y="2560320"/>
            <a:ext cx="1856232" cy="3017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Borde Seguridad y riesgo"/>
          <p:cNvSpPr/>
          <p:nvPr/>
        </p:nvSpPr>
        <p:spPr>
          <a:xfrm>
            <a:off x="9409176" y="2560320"/>
            <a:ext cx="185623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eguridad y riesgo"/>
          <p:cNvSpPr/>
          <p:nvPr/>
        </p:nvSpPr>
        <p:spPr>
          <a:xfrm>
            <a:off x="10053828" y="2743200"/>
            <a:ext cx="566928" cy="5669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6" name="Ícono shield-check" descr="shield-check-navy.png"/>
          <p:cNvPicPr>
            <a:picLocks noChangeAspect="1"/>
          </p:cNvPicPr>
          <p:nvPr/>
        </p:nvPicPr>
        <p:blipFill>
          <a:blip r:embed="rId7"/>
          <a:stretch>
            <a:fillRect/>
          </a:stretch>
        </p:blipFill>
        <p:spPr>
          <a:xfrm>
            <a:off x="10178552" y="2867924"/>
            <a:ext cx="317479" cy="317479"/>
          </a:xfrm>
          <a:prstGeom prst="rect">
            <a:avLst/>
          </a:prstGeom>
        </p:spPr>
      </p:pic>
      <p:sp>
        <p:nvSpPr>
          <p:cNvPr id="47" name="TextBox 46"/>
          <p:cNvSpPr txBox="1"/>
          <p:nvPr/>
        </p:nvSpPr>
        <p:spPr>
          <a:xfrm>
            <a:off x="9500616" y="3401568"/>
            <a:ext cx="1673352" cy="502920"/>
          </a:xfrm>
          <a:prstGeom prst="rect">
            <a:avLst/>
          </a:prstGeom>
          <a:noFill/>
        </p:spPr>
        <p:txBody>
          <a:bodyPr wrap="square" lIns="0" tIns="0" rIns="0" bIns="0" anchor="ctr">
            <a:spAutoFit/>
          </a:bodyPr>
          <a:lstStyle/>
          <a:p>
            <a:pPr algn="ctr">
              <a:spcAft>
                <a:spcPts val="600"/>
              </a:spcAft>
            </a:pPr>
            <a:r>
              <a:rPr sz="1200" b="1" i="0">
                <a:solidFill>
                  <a:srgbClr val="FFFFFF"/>
                </a:solidFill>
                <a:effectLst>
                  <a:glow rad="63500">
                    <a:srgbClr val="001633">
                      <a:alpha val="85000"/>
                    </a:srgbClr>
                  </a:glow>
                </a:effectLst>
                <a:latin typeface="Montserrat"/>
              </a:rPr>
              <a:t>Seguridad y riesgo</a:t>
            </a:r>
          </a:p>
        </p:txBody>
      </p:sp>
      <p:sp>
        <p:nvSpPr>
          <p:cNvPr id="48" name="TextBox 47"/>
          <p:cNvSpPr txBox="1"/>
          <p:nvPr/>
        </p:nvSpPr>
        <p:spPr>
          <a:xfrm>
            <a:off x="9546336" y="3931920"/>
            <a:ext cx="1581912" cy="64008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menos exposición de personas y menos eventos</a:t>
            </a:r>
          </a:p>
        </p:txBody>
      </p:sp>
      <p:cxnSp>
        <p:nvCxnSpPr>
          <p:cNvPr id="49" name="Connector 48"/>
          <p:cNvCxnSpPr/>
          <p:nvPr/>
        </p:nvCxnSpPr>
        <p:spPr>
          <a:xfrm>
            <a:off x="9683496" y="4617720"/>
            <a:ext cx="1307592"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500616" y="4681728"/>
            <a:ext cx="1673352" cy="41148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SE MIDE EN</a:t>
            </a:r>
          </a:p>
          <a:p>
            <a:pPr algn="ctr">
              <a:spcAft>
                <a:spcPts val="0"/>
              </a:spcAft>
            </a:pPr>
            <a:r>
              <a:rPr sz="900" b="1" i="0">
                <a:solidFill>
                  <a:srgbClr val="85D5E6"/>
                </a:solidFill>
                <a:effectLst>
                  <a:glow rad="63500">
                    <a:srgbClr val="001633">
                      <a:alpha val="85000"/>
                    </a:srgbClr>
                  </a:glow>
                </a:effectLst>
                <a:latin typeface="Montserrat"/>
              </a:rPr>
              <a:t>incidentes, cumplimiento</a:t>
            </a:r>
          </a:p>
        </p:txBody>
      </p:sp>
      <p:sp>
        <p:nvSpPr>
          <p:cNvPr id="51" name="TextBox 50"/>
          <p:cNvSpPr txBox="1"/>
          <p:nvPr/>
        </p:nvSpPr>
        <p:spPr>
          <a:xfrm>
            <a:off x="9500616" y="5120640"/>
            <a:ext cx="1673352" cy="41148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ventilación, tranques, embarque</a:t>
            </a:r>
          </a:p>
        </p:txBody>
      </p:sp>
      <p:sp>
        <p:nvSpPr>
          <p:cNvPr id="5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Tipos de valor y ejemplos: elaboración propia, ilustrativos · capacidades: capítulo I</a:t>
            </a:r>
          </a:p>
        </p:txBody>
      </p:sp>
      <p:sp>
        <p:nvSpPr>
          <p:cNvPr id="5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6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V actual"/>
          <p:cNvSpPr/>
          <p:nvPr/>
        </p:nvSpPr>
        <p:spPr>
          <a:xfrm>
            <a:off x="6876288" y="6510528"/>
            <a:ext cx="1320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2/27 </a:t>
            </a:r>
            <a:r>
              <a:rPr sz="1000" b="0" i="0">
                <a:solidFill>
                  <a:srgbClr val="A9B8C9"/>
                </a:solidFill>
                <a:effectLst>
                  <a:glow rad="63500">
                    <a:srgbClr val="001633">
                      <a:alpha val="85000"/>
                    </a:srgbClr>
                  </a:glow>
                </a:effectLst>
                <a:latin typeface="Montserrat"/>
              </a:rPr>
              <a:t>· Gemelos Digitales para Minería 4.0 · 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misma mejora vale más seguro cuanto más cerca del puerto ocurre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DÓNDE GENERA VALOR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1 % ganado en la mina tiene que atravesar chancado, molienda, flotación y filtrado, y cada uno puede absorberlo. Un 1 % ganado en el filtro ya es producto en el barco.</a:t>
            </a:r>
          </a:p>
        </p:txBody>
      </p:sp>
      <p:sp>
        <p:nvSpPr>
          <p:cNvPr id="7" name="Barra Mina"/>
          <p:cNvSpPr/>
          <p:nvPr/>
        </p:nvSpPr>
        <p:spPr>
          <a:xfrm>
            <a:off x="1435608" y="4160520"/>
            <a:ext cx="923544" cy="41148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Etapa Mina"/>
          <p:cNvSpPr/>
          <p:nvPr/>
        </p:nvSpPr>
        <p:spPr>
          <a:xfrm>
            <a:off x="1252728"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Mina</a:t>
            </a:r>
          </a:p>
        </p:txBody>
      </p:sp>
      <p:cxnSp>
        <p:nvCxnSpPr>
          <p:cNvPr id="10" name="Connector 9"/>
          <p:cNvCxnSpPr/>
          <p:nvPr/>
        </p:nvCxnSpPr>
        <p:spPr>
          <a:xfrm>
            <a:off x="2560320"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Barra Chancado"/>
          <p:cNvSpPr/>
          <p:nvPr/>
        </p:nvSpPr>
        <p:spPr>
          <a:xfrm>
            <a:off x="2889504" y="3962400"/>
            <a:ext cx="923544" cy="60960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Etapa Chancado"/>
          <p:cNvSpPr/>
          <p:nvPr/>
        </p:nvSpPr>
        <p:spPr>
          <a:xfrm>
            <a:off x="2706624"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706624"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Chancado</a:t>
            </a:r>
          </a:p>
        </p:txBody>
      </p:sp>
      <p:cxnSp>
        <p:nvCxnSpPr>
          <p:cNvPr id="14" name="Connector 13"/>
          <p:cNvCxnSpPr/>
          <p:nvPr/>
        </p:nvCxnSpPr>
        <p:spPr>
          <a:xfrm>
            <a:off x="4014216"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Barra Molienda"/>
          <p:cNvSpPr/>
          <p:nvPr/>
        </p:nvSpPr>
        <p:spPr>
          <a:xfrm>
            <a:off x="4343400" y="3764280"/>
            <a:ext cx="923544" cy="80772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Etapa Molienda"/>
          <p:cNvSpPr/>
          <p:nvPr/>
        </p:nvSpPr>
        <p:spPr>
          <a:xfrm>
            <a:off x="4160520"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160520"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Molienda</a:t>
            </a:r>
          </a:p>
        </p:txBody>
      </p:sp>
      <p:cxnSp>
        <p:nvCxnSpPr>
          <p:cNvPr id="18" name="Connector 17"/>
          <p:cNvCxnSpPr/>
          <p:nvPr/>
        </p:nvCxnSpPr>
        <p:spPr>
          <a:xfrm>
            <a:off x="5468112"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Barra Flotación"/>
          <p:cNvSpPr/>
          <p:nvPr/>
        </p:nvSpPr>
        <p:spPr>
          <a:xfrm>
            <a:off x="5797296" y="3566160"/>
            <a:ext cx="923544" cy="10058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Etapa Flotación"/>
          <p:cNvSpPr/>
          <p:nvPr/>
        </p:nvSpPr>
        <p:spPr>
          <a:xfrm>
            <a:off x="5614416"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614416"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Flotación</a:t>
            </a:r>
          </a:p>
        </p:txBody>
      </p:sp>
      <p:cxnSp>
        <p:nvCxnSpPr>
          <p:cNvPr id="22" name="Connector 21"/>
          <p:cNvCxnSpPr/>
          <p:nvPr/>
        </p:nvCxnSpPr>
        <p:spPr>
          <a:xfrm>
            <a:off x="6922008"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Barra Espesador"/>
          <p:cNvSpPr/>
          <p:nvPr/>
        </p:nvSpPr>
        <p:spPr>
          <a:xfrm>
            <a:off x="7251192" y="3368040"/>
            <a:ext cx="923544" cy="120396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Etapa Espesador"/>
          <p:cNvSpPr/>
          <p:nvPr/>
        </p:nvSpPr>
        <p:spPr>
          <a:xfrm>
            <a:off x="7068312"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068312"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Espesador</a:t>
            </a:r>
          </a:p>
        </p:txBody>
      </p:sp>
      <p:cxnSp>
        <p:nvCxnSpPr>
          <p:cNvPr id="26" name="Connector 25"/>
          <p:cNvCxnSpPr/>
          <p:nvPr/>
        </p:nvCxnSpPr>
        <p:spPr>
          <a:xfrm>
            <a:off x="8375904"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Barra Filtro"/>
          <p:cNvSpPr/>
          <p:nvPr/>
        </p:nvSpPr>
        <p:spPr>
          <a:xfrm>
            <a:off x="8705088" y="3169920"/>
            <a:ext cx="923544" cy="140208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Etapa Filtro"/>
          <p:cNvSpPr/>
          <p:nvPr/>
        </p:nvSpPr>
        <p:spPr>
          <a:xfrm>
            <a:off x="8522208" y="4645152"/>
            <a:ext cx="1289304" cy="43891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22208" y="4645152"/>
            <a:ext cx="1289304" cy="438912"/>
          </a:xfrm>
          <a:prstGeom prst="rect">
            <a:avLst/>
          </a:prstGeom>
          <a:noFill/>
        </p:spPr>
        <p:txBody>
          <a:bodyPr wrap="square" lIns="0" tIns="0" rIns="0" bIns="0" anchor="ctr">
            <a:spAutoFit/>
          </a:bodyPr>
          <a:lstStyle/>
          <a:p>
            <a:pPr algn="ctr">
              <a:spcAft>
                <a:spcPts val="600"/>
              </a:spcAft>
            </a:pPr>
            <a:r>
              <a:rPr sz="1050" b="1" i="0">
                <a:solidFill>
                  <a:srgbClr val="FFAB40"/>
                </a:solidFill>
                <a:effectLst>
                  <a:glow rad="63500">
                    <a:srgbClr val="001633">
                      <a:alpha val="85000"/>
                    </a:srgbClr>
                  </a:glow>
                </a:effectLst>
                <a:latin typeface="Montserrat"/>
              </a:rPr>
              <a:t>Filtro</a:t>
            </a:r>
          </a:p>
        </p:txBody>
      </p:sp>
      <p:cxnSp>
        <p:nvCxnSpPr>
          <p:cNvPr id="30" name="Connector 29"/>
          <p:cNvCxnSpPr/>
          <p:nvPr/>
        </p:nvCxnSpPr>
        <p:spPr>
          <a:xfrm>
            <a:off x="9829800" y="4864608"/>
            <a:ext cx="128016"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Barra Puerto"/>
          <p:cNvSpPr/>
          <p:nvPr/>
        </p:nvSpPr>
        <p:spPr>
          <a:xfrm>
            <a:off x="10158984" y="2971800"/>
            <a:ext cx="923544" cy="160020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Etapa Puerto"/>
          <p:cNvSpPr/>
          <p:nvPr/>
        </p:nvSpPr>
        <p:spPr>
          <a:xfrm>
            <a:off x="9976104" y="4645152"/>
            <a:ext cx="1289304" cy="438912"/>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976104" y="4645152"/>
            <a:ext cx="1289304" cy="438912"/>
          </a:xfrm>
          <a:prstGeom prst="rect">
            <a:avLst/>
          </a:prstGeom>
          <a:noFill/>
        </p:spPr>
        <p:txBody>
          <a:bodyPr wrap="square" lIns="0" tIns="0" rIns="0" bIns="0" anchor="ctr">
            <a:spAutoFit/>
          </a:bodyPr>
          <a:lstStyle/>
          <a:p>
            <a:pPr algn="ctr">
              <a:spcAft>
                <a:spcPts val="600"/>
              </a:spcAft>
            </a:pPr>
            <a:r>
              <a:rPr sz="1050" b="1" i="0">
                <a:solidFill>
                  <a:srgbClr val="FFFFFF"/>
                </a:solidFill>
                <a:effectLst>
                  <a:glow rad="63500">
                    <a:srgbClr val="001633">
                      <a:alpha val="85000"/>
                    </a:srgbClr>
                  </a:glow>
                </a:effectLst>
                <a:latin typeface="Montserrat"/>
              </a:rPr>
              <a:t>Puerto</a:t>
            </a:r>
          </a:p>
        </p:txBody>
      </p:sp>
      <p:sp>
        <p:nvSpPr>
          <p:cNvPr id="34" name="TextBox 33"/>
          <p:cNvSpPr txBox="1"/>
          <p:nvPr/>
        </p:nvSpPr>
        <p:spPr>
          <a:xfrm>
            <a:off x="1252728" y="2514600"/>
            <a:ext cx="594360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PROBABILIDAD DE QUE UNA MEJORA DEL 1 % LLEGUE AL PRODUCTO VENDIDO (ILUSTRATIVA)</a:t>
            </a:r>
          </a:p>
        </p:txBody>
      </p:sp>
      <p:cxnSp>
        <p:nvCxnSpPr>
          <p:cNvPr id="35" name="Connector 34"/>
          <p:cNvCxnSpPr/>
          <p:nvPr/>
        </p:nvCxnSpPr>
        <p:spPr>
          <a:xfrm>
            <a:off x="1527048" y="2788920"/>
            <a:ext cx="9464040" cy="0"/>
          </a:xfrm>
          <a:prstGeom prst="line">
            <a:avLst/>
          </a:prstGeom>
          <a:ln w="1270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252728" y="2834640"/>
            <a:ext cx="1371600" cy="22860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baja</a:t>
            </a:r>
          </a:p>
        </p:txBody>
      </p:sp>
      <p:sp>
        <p:nvSpPr>
          <p:cNvPr id="37" name="TextBox 36"/>
          <p:cNvSpPr txBox="1"/>
          <p:nvPr/>
        </p:nvSpPr>
        <p:spPr>
          <a:xfrm>
            <a:off x="9893808" y="2834640"/>
            <a:ext cx="1371600" cy="228600"/>
          </a:xfrm>
          <a:prstGeom prst="rect">
            <a:avLst/>
          </a:prstGeom>
          <a:noFill/>
        </p:spPr>
        <p:txBody>
          <a:bodyPr wrap="square" lIns="0" tIns="0" rIns="0" bIns="0" anchor="t">
            <a:spAutoFit/>
          </a:bodyPr>
          <a:lstStyle/>
          <a:p>
            <a:pPr algn="r">
              <a:spcAft>
                <a:spcPts val="600"/>
              </a:spcAft>
            </a:pPr>
            <a:r>
              <a:rPr sz="850" b="1" i="0">
                <a:solidFill>
                  <a:srgbClr val="85D5E6"/>
                </a:solidFill>
                <a:effectLst>
                  <a:glow rad="63500">
                    <a:srgbClr val="001633">
                      <a:alpha val="85000"/>
                    </a:srgbClr>
                  </a:glow>
                </a:effectLst>
                <a:latin typeface="Montserrat"/>
              </a:rPr>
              <a:t>alta</a:t>
            </a:r>
          </a:p>
        </p:txBody>
      </p:sp>
      <p:sp>
        <p:nvSpPr>
          <p:cNvPr id="38" name="TextBox 37"/>
          <p:cNvSpPr txBox="1"/>
          <p:nvPr/>
        </p:nvSpPr>
        <p:spPr>
          <a:xfrm>
            <a:off x="1252728" y="5230368"/>
            <a:ext cx="3154680" cy="54864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Aguas arriba se diluye: </a:t>
            </a:r>
            <a:r>
              <a:rPr sz="950" b="0" i="0">
                <a:solidFill>
                  <a:srgbClr val="A9B8C9"/>
                </a:solidFill>
                <a:effectLst>
                  <a:glow rad="63500">
                    <a:srgbClr val="001633">
                      <a:alpha val="85000"/>
                    </a:srgbClr>
                  </a:glow>
                </a:effectLst>
                <a:latin typeface="Montserrat"/>
              </a:rPr>
              <a:t>+1 % de tonelaje en la mina no sirve si la molienda ya está al máximo; queda en un acopio.</a:t>
            </a:r>
          </a:p>
        </p:txBody>
      </p:sp>
      <p:sp>
        <p:nvSpPr>
          <p:cNvPr id="39" name="TextBox 38"/>
          <p:cNvSpPr txBox="1"/>
          <p:nvPr/>
        </p:nvSpPr>
        <p:spPr>
          <a:xfrm>
            <a:off x="4590288" y="5230368"/>
            <a:ext cx="3154680" cy="54864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Cada etapa tiene su cuello de botella </a:t>
            </a:r>
            <a:r>
              <a:rPr sz="950" b="0" i="0">
                <a:solidFill>
                  <a:srgbClr val="A9B8C9"/>
                </a:solidFill>
                <a:effectLst>
                  <a:glow rad="63500">
                    <a:srgbClr val="001633">
                      <a:alpha val="85000"/>
                    </a:srgbClr>
                  </a:glow>
                </a:effectLst>
                <a:latin typeface="Montserrat"/>
              </a:rPr>
              <a:t>y su variabilidad: lo que una gana, la siguiente puede no tomarlo.</a:t>
            </a:r>
          </a:p>
        </p:txBody>
      </p:sp>
      <p:sp>
        <p:nvSpPr>
          <p:cNvPr id="40" name="TextBox 39"/>
          <p:cNvSpPr txBox="1"/>
          <p:nvPr/>
        </p:nvSpPr>
        <p:spPr>
          <a:xfrm>
            <a:off x="7927848" y="5230368"/>
            <a:ext cx="3154680" cy="54864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En el filtro no hay quien lo absorba: </a:t>
            </a:r>
            <a:r>
              <a:rPr sz="950" b="0" i="0">
                <a:solidFill>
                  <a:srgbClr val="A9B8C9"/>
                </a:solidFill>
                <a:effectLst>
                  <a:glow rad="63500">
                    <a:srgbClr val="001633">
                      <a:alpha val="85000"/>
                    </a:srgbClr>
                  </a:glow>
                </a:effectLst>
                <a:latin typeface="Montserrat"/>
              </a:rPr>
              <a:t>un punto menos de humedad es agua que no se paga en flete, hoy.</a:t>
            </a:r>
          </a:p>
        </p:txBody>
      </p:sp>
      <p:sp>
        <p:nvSpPr>
          <p:cNvPr id="4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Concepto: elaboración propia · alturas ilustrativas, sin escala · aguas arriba la mejora puede ser mayor en monto, pero es menos segura</a:t>
            </a:r>
          </a:p>
        </p:txBody>
      </p:sp>
      <p:sp>
        <p:nvSpPr>
          <p:cNvPr id="4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5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V actual"/>
          <p:cNvSpPr/>
          <p:nvPr/>
        </p:nvSpPr>
        <p:spPr>
          <a:xfrm>
            <a:off x="6876288" y="6510528"/>
            <a:ext cx="1981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3/27 </a:t>
            </a:r>
            <a:r>
              <a:rPr sz="1000" b="0" i="0">
                <a:solidFill>
                  <a:srgbClr val="A9B8C9"/>
                </a:solidFill>
                <a:effectLst>
                  <a:glow rad="63500">
                    <a:srgbClr val="001633">
                      <a:alpha val="85000"/>
                    </a:srgbClr>
                  </a:glow>
                </a:effectLst>
                <a:latin typeface="Montserrat"/>
              </a:rPr>
              <a:t>· Gemelos Digitales para Minería 4.0 · 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problema del filtrado: la última puerta antes del despacho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CASO DEL FILTRADO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Todo lo que la planta ganó en recuperación se puede perder en el filtro: lo que sale de ahí viaja en camión, tren y barco, con el agua que el filtro no sacó.</a:t>
            </a:r>
          </a:p>
        </p:txBody>
      </p:sp>
      <p:sp>
        <p:nvSpPr>
          <p:cNvPr id="7" name="Tarjeta La humedad se paga"/>
          <p:cNvSpPr/>
          <p:nvPr/>
        </p:nvSpPr>
        <p:spPr>
          <a:xfrm>
            <a:off x="1252728" y="2606040"/>
            <a:ext cx="2331720" cy="21945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La humedad se paga"/>
          <p:cNvSpPr/>
          <p:nvPr/>
        </p:nvSpPr>
        <p:spPr>
          <a:xfrm>
            <a:off x="1252728" y="2606040"/>
            <a:ext cx="2331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droplet" descr="droplet-orange.png"/>
          <p:cNvPicPr>
            <a:picLocks noChangeAspect="1"/>
          </p:cNvPicPr>
          <p:nvPr/>
        </p:nvPicPr>
        <p:blipFill>
          <a:blip r:embed="rId3"/>
          <a:stretch>
            <a:fillRect/>
          </a:stretch>
        </p:blipFill>
        <p:spPr>
          <a:xfrm>
            <a:off x="1417320" y="2788920"/>
            <a:ext cx="292608" cy="292608"/>
          </a:xfrm>
          <a:prstGeom prst="rect">
            <a:avLst/>
          </a:prstGeom>
        </p:spPr>
      </p:pic>
      <p:sp>
        <p:nvSpPr>
          <p:cNvPr id="10" name="TextBox 9"/>
          <p:cNvSpPr txBox="1"/>
          <p:nvPr/>
        </p:nvSpPr>
        <p:spPr>
          <a:xfrm>
            <a:off x="1828800" y="2734056"/>
            <a:ext cx="164592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La humedad se paga</a:t>
            </a:r>
          </a:p>
        </p:txBody>
      </p:sp>
      <p:sp>
        <p:nvSpPr>
          <p:cNvPr id="11" name="TextBox 10"/>
          <p:cNvSpPr txBox="1"/>
          <p:nvPr/>
        </p:nvSpPr>
        <p:spPr>
          <a:xfrm>
            <a:off x="1417320" y="3172968"/>
            <a:ext cx="2039112" cy="109728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Cada punto de humedad es agua que viaja y se paga en flete; el contrato fija un máximo.</a:t>
            </a:r>
          </a:p>
        </p:txBody>
      </p:sp>
      <p:cxnSp>
        <p:nvCxnSpPr>
          <p:cNvPr id="12" name="Raya ejemplo"/>
          <p:cNvCxnSpPr/>
          <p:nvPr/>
        </p:nvCxnSpPr>
        <p:spPr>
          <a:xfrm>
            <a:off x="1417320" y="4297680"/>
            <a:ext cx="292608"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17320" y="4343400"/>
            <a:ext cx="2039112"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1 punto menos en 300 000 t/año son 3 000 t de agua fuera del barco</a:t>
            </a:r>
          </a:p>
        </p:txBody>
      </p:sp>
      <p:sp>
        <p:nvSpPr>
          <p:cNvPr id="14" name="Tarjeta Seguridad del embarque"/>
          <p:cNvSpPr/>
          <p:nvPr/>
        </p:nvSpPr>
        <p:spPr>
          <a:xfrm>
            <a:off x="3813048" y="2606040"/>
            <a:ext cx="2331720" cy="21945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Borde Seguridad del embarque"/>
          <p:cNvSpPr/>
          <p:nvPr/>
        </p:nvSpPr>
        <p:spPr>
          <a:xfrm>
            <a:off x="3813048" y="2606040"/>
            <a:ext cx="2331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Ícono ship" descr="ship-orange.png"/>
          <p:cNvPicPr>
            <a:picLocks noChangeAspect="1"/>
          </p:cNvPicPr>
          <p:nvPr/>
        </p:nvPicPr>
        <p:blipFill>
          <a:blip r:embed="rId4"/>
          <a:stretch>
            <a:fillRect/>
          </a:stretch>
        </p:blipFill>
        <p:spPr>
          <a:xfrm>
            <a:off x="3977640" y="2788920"/>
            <a:ext cx="292608" cy="292608"/>
          </a:xfrm>
          <a:prstGeom prst="rect">
            <a:avLst/>
          </a:prstGeom>
        </p:spPr>
      </p:pic>
      <p:sp>
        <p:nvSpPr>
          <p:cNvPr id="17" name="TextBox 16"/>
          <p:cNvSpPr txBox="1"/>
          <p:nvPr/>
        </p:nvSpPr>
        <p:spPr>
          <a:xfrm>
            <a:off x="4389120" y="2734056"/>
            <a:ext cx="164592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Seguridad del embarque</a:t>
            </a:r>
          </a:p>
        </p:txBody>
      </p:sp>
      <p:sp>
        <p:nvSpPr>
          <p:cNvPr id="18" name="TextBox 17"/>
          <p:cNvSpPr txBox="1"/>
          <p:nvPr/>
        </p:nvSpPr>
        <p:spPr>
          <a:xfrm>
            <a:off x="3977640" y="3172968"/>
            <a:ext cx="2039112" cy="109728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Los concentrados son carga del Grupo A: no se embarcan sobre su límite de humedad transportable [27].</a:t>
            </a:r>
          </a:p>
        </p:txBody>
      </p:sp>
      <p:cxnSp>
        <p:nvCxnSpPr>
          <p:cNvPr id="19" name="Raya ejemplo"/>
          <p:cNvCxnSpPr/>
          <p:nvPr/>
        </p:nvCxnSpPr>
        <p:spPr>
          <a:xfrm>
            <a:off x="3977640" y="4297680"/>
            <a:ext cx="292608"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977640" y="4343400"/>
            <a:ext cx="2039112"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sobre ese límite, la carga puede licuarse en la travesía</a:t>
            </a:r>
          </a:p>
        </p:txBody>
      </p:sp>
      <p:sp>
        <p:nvSpPr>
          <p:cNvPr id="21" name="Tarjeta Energía"/>
          <p:cNvSpPr/>
          <p:nvPr/>
        </p:nvSpPr>
        <p:spPr>
          <a:xfrm>
            <a:off x="6373368" y="2606040"/>
            <a:ext cx="2331720" cy="21945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orde Energía"/>
          <p:cNvSpPr/>
          <p:nvPr/>
        </p:nvSpPr>
        <p:spPr>
          <a:xfrm>
            <a:off x="6373368" y="2606040"/>
            <a:ext cx="2331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zap" descr="zap-orange.png"/>
          <p:cNvPicPr>
            <a:picLocks noChangeAspect="1"/>
          </p:cNvPicPr>
          <p:nvPr/>
        </p:nvPicPr>
        <p:blipFill>
          <a:blip r:embed="rId5"/>
          <a:stretch>
            <a:fillRect/>
          </a:stretch>
        </p:blipFill>
        <p:spPr>
          <a:xfrm>
            <a:off x="6537960" y="2788920"/>
            <a:ext cx="292608" cy="292608"/>
          </a:xfrm>
          <a:prstGeom prst="rect">
            <a:avLst/>
          </a:prstGeom>
        </p:spPr>
      </p:pic>
      <p:sp>
        <p:nvSpPr>
          <p:cNvPr id="24" name="TextBox 23"/>
          <p:cNvSpPr txBox="1"/>
          <p:nvPr/>
        </p:nvSpPr>
        <p:spPr>
          <a:xfrm>
            <a:off x="6949440" y="2734056"/>
            <a:ext cx="164592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Energía</a:t>
            </a:r>
          </a:p>
        </p:txBody>
      </p:sp>
      <p:sp>
        <p:nvSpPr>
          <p:cNvPr id="25" name="TextBox 24"/>
          <p:cNvSpPr txBox="1"/>
          <p:nvPr/>
        </p:nvSpPr>
        <p:spPr>
          <a:xfrm>
            <a:off x="6537960" y="3172968"/>
            <a:ext cx="2039112" cy="109728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El compresor es el gran consumo del filtro</a:t>
            </a:r>
          </a:p>
        </p:txBody>
      </p:sp>
      <p:cxnSp>
        <p:nvCxnSpPr>
          <p:cNvPr id="26" name="Raya ejemplo"/>
          <p:cNvCxnSpPr/>
          <p:nvPr/>
        </p:nvCxnSpPr>
        <p:spPr>
          <a:xfrm>
            <a:off x="6537960" y="4297680"/>
            <a:ext cx="292608"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37960" y="4343400"/>
            <a:ext cx="2039112"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optimizar el punto de operación</a:t>
            </a:r>
          </a:p>
        </p:txBody>
      </p:sp>
      <p:sp>
        <p:nvSpPr>
          <p:cNvPr id="28" name="Tarjeta Cuello de botella"/>
          <p:cNvSpPr/>
          <p:nvPr/>
        </p:nvSpPr>
        <p:spPr>
          <a:xfrm>
            <a:off x="8933688" y="2606040"/>
            <a:ext cx="2331720" cy="21945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Borde Cuello de botella"/>
          <p:cNvSpPr/>
          <p:nvPr/>
        </p:nvSpPr>
        <p:spPr>
          <a:xfrm>
            <a:off x="8933688" y="2606040"/>
            <a:ext cx="2331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gauge" descr="gauge-orange.png"/>
          <p:cNvPicPr>
            <a:picLocks noChangeAspect="1"/>
          </p:cNvPicPr>
          <p:nvPr/>
        </p:nvPicPr>
        <p:blipFill>
          <a:blip r:embed="rId6"/>
          <a:stretch>
            <a:fillRect/>
          </a:stretch>
        </p:blipFill>
        <p:spPr>
          <a:xfrm>
            <a:off x="9098280" y="2788920"/>
            <a:ext cx="292608" cy="292608"/>
          </a:xfrm>
          <a:prstGeom prst="rect">
            <a:avLst/>
          </a:prstGeom>
        </p:spPr>
      </p:pic>
      <p:sp>
        <p:nvSpPr>
          <p:cNvPr id="31" name="TextBox 30"/>
          <p:cNvSpPr txBox="1"/>
          <p:nvPr/>
        </p:nvSpPr>
        <p:spPr>
          <a:xfrm>
            <a:off x="9509760" y="2734056"/>
            <a:ext cx="164592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Cuello de botella</a:t>
            </a:r>
          </a:p>
        </p:txBody>
      </p:sp>
      <p:sp>
        <p:nvSpPr>
          <p:cNvPr id="32" name="TextBox 31"/>
          <p:cNvSpPr txBox="1"/>
          <p:nvPr/>
        </p:nvSpPr>
        <p:spPr>
          <a:xfrm>
            <a:off x="9098280" y="3172968"/>
            <a:ext cx="2039112" cy="109728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Si el filtro baja su capacidad, el concentrado se acumula aguas arriba y la planta entera se frena.</a:t>
            </a:r>
          </a:p>
        </p:txBody>
      </p:sp>
      <p:cxnSp>
        <p:nvCxnSpPr>
          <p:cNvPr id="33" name="Raya ejemplo"/>
          <p:cNvCxnSpPr/>
          <p:nvPr/>
        </p:nvCxnSpPr>
        <p:spPr>
          <a:xfrm>
            <a:off x="9098280" y="4297680"/>
            <a:ext cx="292608"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98280" y="4343400"/>
            <a:ext cx="2039112"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4 h de filtro detenido se acumulan en el espesador</a:t>
            </a:r>
          </a:p>
        </p:txBody>
      </p:sp>
      <p:sp>
        <p:nvSpPr>
          <p:cNvPr id="35" name="Interés industria"/>
          <p:cNvSpPr/>
          <p:nvPr/>
        </p:nvSpPr>
        <p:spPr>
          <a:xfrm>
            <a:off x="1252728" y="4983480"/>
            <a:ext cx="10012680" cy="68580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435608" y="4983480"/>
            <a:ext cx="9646920" cy="685800"/>
          </a:xfrm>
          <a:prstGeom prst="rect">
            <a:avLst/>
          </a:prstGeom>
          <a:noFill/>
        </p:spPr>
        <p:txBody>
          <a:bodyPr wrap="square" lIns="0" tIns="0" rIns="0" bIns="0" anchor="ctr">
            <a:spAutoFit/>
          </a:bodyPr>
          <a:lstStyle/>
          <a:p>
            <a:pPr algn="l">
              <a:spcAft>
                <a:spcPts val="600"/>
              </a:spcAft>
            </a:pPr>
            <a:r>
              <a:rPr sz="1050" b="1" i="0">
                <a:solidFill>
                  <a:srgbClr val="FFAB40"/>
                </a:solidFill>
                <a:effectLst>
                  <a:glow rad="63500">
                    <a:srgbClr val="001633">
                      <a:alpha val="85000"/>
                    </a:srgbClr>
                  </a:glow>
                </a:effectLst>
                <a:latin typeface="Montserrat"/>
              </a:rPr>
              <a:t>Un problema de toda la industria: </a:t>
            </a:r>
            <a:r>
              <a:rPr sz="1050" b="0" i="0">
                <a:solidFill>
                  <a:srgbClr val="FFFFFF"/>
                </a:solidFill>
                <a:effectLst>
                  <a:glow rad="63500">
                    <a:srgbClr val="001633">
                      <a:alpha val="85000"/>
                    </a:srgbClr>
                  </a:glow>
                </a:effectLst>
                <a:latin typeface="Montserrat"/>
              </a:rPr>
              <a:t>todo concentrado que se embarca pasa por un filtro. Lo que se aprenda aquí sirve para cobre, hierro, zinc o molibdeno.</a:t>
            </a:r>
          </a:p>
        </p:txBody>
      </p:sp>
      <p:sp>
        <p:nvSpPr>
          <p:cNvPr id="3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Grupo A y límite de humedad transportable: IMSBC Code [27] · potencia y energía: Modelo Dewatering v1.0 (elaboración propia, OpenModelica 1.27)</a:t>
            </a:r>
          </a:p>
        </p:txBody>
      </p:sp>
      <p:sp>
        <p:nvSpPr>
          <p:cNvPr id="3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V actual"/>
          <p:cNvSpPr/>
          <p:nvPr/>
        </p:nvSpPr>
        <p:spPr>
          <a:xfrm>
            <a:off x="6876288" y="6510528"/>
            <a:ext cx="2641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4/27 </a:t>
            </a:r>
            <a:r>
              <a:rPr sz="1000" b="0" i="0">
                <a:solidFill>
                  <a:srgbClr val="A9B8C9"/>
                </a:solidFill>
                <a:effectLst>
                  <a:glow rad="63500">
                    <a:srgbClr val="001633">
                      <a:alpha val="85000"/>
                    </a:srgbClr>
                  </a:glow>
                </a:effectLst>
                <a:latin typeface="Montserrat"/>
              </a:rPr>
              <a:t>· Gemelos Digitales para Minería 4.0 · 73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Para qué sirve: cuatro preguntas de la operación que el gemelo del filtro responde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CASO DEL FILTRADO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gemelo se justifica por las decisiones que mejora. Cada pregunta usa salidas distintas de la misma FMU.</a:t>
            </a:r>
          </a:p>
        </p:txBody>
      </p:sp>
      <p:sp>
        <p:nvSpPr>
          <p:cNvPr id="7" name="Pregunta 1"/>
          <p:cNvSpPr/>
          <p:nvPr/>
        </p:nvSpPr>
        <p:spPr>
          <a:xfrm>
            <a:off x="1252728" y="2560320"/>
            <a:ext cx="4892040" cy="14630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Qué humedad tiene el queque ahora?"/>
          <p:cNvSpPr/>
          <p:nvPr/>
        </p:nvSpPr>
        <p:spPr>
          <a:xfrm>
            <a:off x="1417320" y="2743200"/>
            <a:ext cx="502920" cy="50292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droplet" descr="droplet-orange.png"/>
          <p:cNvPicPr>
            <a:picLocks noChangeAspect="1"/>
          </p:cNvPicPr>
          <p:nvPr/>
        </p:nvPicPr>
        <p:blipFill>
          <a:blip r:embed="rId3"/>
          <a:stretch>
            <a:fillRect/>
          </a:stretch>
        </p:blipFill>
        <p:spPr>
          <a:xfrm>
            <a:off x="1527962" y="2853842"/>
            <a:ext cx="281635" cy="281635"/>
          </a:xfrm>
          <a:prstGeom prst="rect">
            <a:avLst/>
          </a:prstGeom>
        </p:spPr>
      </p:pic>
      <p:sp>
        <p:nvSpPr>
          <p:cNvPr id="10" name="TextBox 9"/>
          <p:cNvSpPr txBox="1"/>
          <p:nvPr/>
        </p:nvSpPr>
        <p:spPr>
          <a:xfrm>
            <a:off x="2075688" y="2697480"/>
            <a:ext cx="3977640" cy="36576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¿Qué humedad tiene el queque ahora?</a:t>
            </a:r>
          </a:p>
        </p:txBody>
      </p:sp>
      <p:sp>
        <p:nvSpPr>
          <p:cNvPr id="11" name="TextBox 10"/>
          <p:cNvSpPr txBox="1"/>
          <p:nvPr/>
        </p:nvSpPr>
        <p:spPr>
          <a:xfrm>
            <a:off x="2075688" y="3063240"/>
            <a:ext cx="3931920" cy="5943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Sensor virtual: la humedad cada segundo, mientras el laboratorio informa cada pocas horas.</a:t>
            </a:r>
          </a:p>
        </p:txBody>
      </p:sp>
      <p:sp>
        <p:nvSpPr>
          <p:cNvPr id="12" name="TextBox 11"/>
          <p:cNvSpPr txBox="1"/>
          <p:nvPr/>
        </p:nvSpPr>
        <p:spPr>
          <a:xfrm>
            <a:off x="2075688" y="3657600"/>
            <a:ext cx="2788920" cy="2743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Salidas: </a:t>
            </a:r>
            <a:r>
              <a:rPr sz="850" b="0" i="0">
                <a:solidFill>
                  <a:srgbClr val="85D5E6"/>
                </a:solidFill>
                <a:effectLst>
                  <a:glow rad="63500">
                    <a:srgbClr val="001633">
                      <a:alpha val="85000"/>
                    </a:srgbClr>
                  </a:glow>
                </a:effectLst>
                <a:latin typeface="Montserrat"/>
              </a:rPr>
              <a:t>moisture, L_cake</a:t>
            </a:r>
          </a:p>
        </p:txBody>
      </p:sp>
      <p:sp>
        <p:nvSpPr>
          <p:cNvPr id="13" name="Etiqueta Uso · Predecir"/>
          <p:cNvSpPr/>
          <p:nvPr/>
        </p:nvSpPr>
        <p:spPr>
          <a:xfrm>
            <a:off x="4956048" y="3639312"/>
            <a:ext cx="105156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956048" y="3639312"/>
            <a:ext cx="1051560" cy="274320"/>
          </a:xfrm>
          <a:prstGeom prst="rect">
            <a:avLst/>
          </a:prstGeom>
          <a:noFill/>
        </p:spPr>
        <p:txBody>
          <a:bodyPr wrap="square" lIns="0" tIns="0" rIns="0" bIns="0" anchor="ctr">
            <a:spAutoFit/>
          </a:bodyPr>
          <a:lstStyle/>
          <a:p>
            <a:pPr algn="ctr">
              <a:spcAft>
                <a:spcPts val="600"/>
              </a:spcAft>
            </a:pPr>
            <a:r>
              <a:rPr sz="800" b="0" i="0">
                <a:solidFill>
                  <a:srgbClr val="FFFFFF"/>
                </a:solidFill>
                <a:effectLst>
                  <a:glow rad="63500">
                    <a:srgbClr val="001633">
                      <a:alpha val="85000"/>
                    </a:srgbClr>
                  </a:glow>
                </a:effectLst>
                <a:latin typeface="Montserrat"/>
              </a:rPr>
              <a:t>Uso · Predecir</a:t>
            </a:r>
          </a:p>
        </p:txBody>
      </p:sp>
      <p:sp>
        <p:nvSpPr>
          <p:cNvPr id="15" name="Pregunta 2"/>
          <p:cNvSpPr/>
          <p:nvPr/>
        </p:nvSpPr>
        <p:spPr>
          <a:xfrm>
            <a:off x="6373368" y="2560320"/>
            <a:ext cx="4892040" cy="14630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uánta presión vale la pena?"/>
          <p:cNvSpPr/>
          <p:nvPr/>
        </p:nvSpPr>
        <p:spPr>
          <a:xfrm>
            <a:off x="6537960" y="2743200"/>
            <a:ext cx="502920" cy="50292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gauge" descr="gauge-orange.png"/>
          <p:cNvPicPr>
            <a:picLocks noChangeAspect="1"/>
          </p:cNvPicPr>
          <p:nvPr/>
        </p:nvPicPr>
        <p:blipFill>
          <a:blip r:embed="rId4"/>
          <a:stretch>
            <a:fillRect/>
          </a:stretch>
        </p:blipFill>
        <p:spPr>
          <a:xfrm>
            <a:off x="6648602" y="2853842"/>
            <a:ext cx="281635" cy="281635"/>
          </a:xfrm>
          <a:prstGeom prst="rect">
            <a:avLst/>
          </a:prstGeom>
        </p:spPr>
      </p:pic>
      <p:sp>
        <p:nvSpPr>
          <p:cNvPr id="18" name="TextBox 17"/>
          <p:cNvSpPr txBox="1"/>
          <p:nvPr/>
        </p:nvSpPr>
        <p:spPr>
          <a:xfrm>
            <a:off x="7196328" y="2697480"/>
            <a:ext cx="3977640" cy="36576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¿Cuánta presión vale la pena?</a:t>
            </a:r>
          </a:p>
        </p:txBody>
      </p:sp>
      <p:sp>
        <p:nvSpPr>
          <p:cNvPr id="19" name="TextBox 18"/>
          <p:cNvSpPr txBox="1"/>
          <p:nvPr/>
        </p:nvSpPr>
        <p:spPr>
          <a:xfrm>
            <a:off x="7196328" y="3063240"/>
            <a:ext cx="3931920" cy="5943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Optimización en función del concentrado de entrada en tiempo real. Predicción 12 horas antes de comenzar el turno.</a:t>
            </a:r>
          </a:p>
        </p:txBody>
      </p:sp>
      <p:sp>
        <p:nvSpPr>
          <p:cNvPr id="20" name="TextBox 19"/>
          <p:cNvSpPr txBox="1"/>
          <p:nvPr/>
        </p:nvSpPr>
        <p:spPr>
          <a:xfrm>
            <a:off x="7196328" y="3657600"/>
            <a:ext cx="2788920" cy="2743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Salidas: </a:t>
            </a:r>
            <a:r>
              <a:rPr sz="850" b="0" i="0">
                <a:solidFill>
                  <a:srgbClr val="85D5E6"/>
                </a:solidFill>
                <a:effectLst>
                  <a:glow rad="63500">
                    <a:srgbClr val="001633">
                      <a:alpha val="85000"/>
                    </a:srgbClr>
                  </a:glow>
                </a:effectLst>
                <a:latin typeface="Montserrat"/>
              </a:rPr>
              <a:t>P_compressor, m_flow_dry, moisture</a:t>
            </a:r>
          </a:p>
        </p:txBody>
      </p:sp>
      <p:sp>
        <p:nvSpPr>
          <p:cNvPr id="21" name="Etiqueta Uso · Simular"/>
          <p:cNvSpPr/>
          <p:nvPr/>
        </p:nvSpPr>
        <p:spPr>
          <a:xfrm>
            <a:off x="10076688" y="3639312"/>
            <a:ext cx="105156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076688" y="3639312"/>
            <a:ext cx="1051560" cy="274320"/>
          </a:xfrm>
          <a:prstGeom prst="rect">
            <a:avLst/>
          </a:prstGeom>
          <a:noFill/>
        </p:spPr>
        <p:txBody>
          <a:bodyPr wrap="square" lIns="0" tIns="0" rIns="0" bIns="0" anchor="ctr">
            <a:spAutoFit/>
          </a:bodyPr>
          <a:lstStyle/>
          <a:p>
            <a:pPr algn="ctr">
              <a:spcAft>
                <a:spcPts val="600"/>
              </a:spcAft>
            </a:pPr>
            <a:r>
              <a:rPr sz="800" b="0" i="0">
                <a:solidFill>
                  <a:srgbClr val="FFFFFF"/>
                </a:solidFill>
                <a:effectLst>
                  <a:glow rad="63500">
                    <a:srgbClr val="001633">
                      <a:alpha val="85000"/>
                    </a:srgbClr>
                  </a:glow>
                </a:effectLst>
                <a:latin typeface="Montserrat"/>
              </a:rPr>
              <a:t>Uso · Simular</a:t>
            </a:r>
          </a:p>
        </p:txBody>
      </p:sp>
      <p:sp>
        <p:nvSpPr>
          <p:cNvPr id="23" name="Pregunta 3"/>
          <p:cNvSpPr/>
          <p:nvPr/>
        </p:nvSpPr>
        <p:spPr>
          <a:xfrm>
            <a:off x="1252728" y="4160520"/>
            <a:ext cx="4892040" cy="14630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Por qué no girar más rápido?"/>
          <p:cNvSpPr/>
          <p:nvPr/>
        </p:nvSpPr>
        <p:spPr>
          <a:xfrm>
            <a:off x="1417320" y="4343400"/>
            <a:ext cx="502920" cy="50292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Ícono refresh-cw" descr="refresh-cw-orange.png"/>
          <p:cNvPicPr>
            <a:picLocks noChangeAspect="1"/>
          </p:cNvPicPr>
          <p:nvPr/>
        </p:nvPicPr>
        <p:blipFill>
          <a:blip r:embed="rId5"/>
          <a:stretch>
            <a:fillRect/>
          </a:stretch>
        </p:blipFill>
        <p:spPr>
          <a:xfrm>
            <a:off x="1527962" y="4454042"/>
            <a:ext cx="281635" cy="281635"/>
          </a:xfrm>
          <a:prstGeom prst="rect">
            <a:avLst/>
          </a:prstGeom>
        </p:spPr>
      </p:pic>
      <p:sp>
        <p:nvSpPr>
          <p:cNvPr id="26" name="TextBox 25"/>
          <p:cNvSpPr txBox="1"/>
          <p:nvPr/>
        </p:nvSpPr>
        <p:spPr>
          <a:xfrm>
            <a:off x="2075688" y="4297680"/>
            <a:ext cx="3977640" cy="36576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¿Por qué no girar más rápido?</a:t>
            </a:r>
          </a:p>
        </p:txBody>
      </p:sp>
      <p:sp>
        <p:nvSpPr>
          <p:cNvPr id="27" name="TextBox 26"/>
          <p:cNvSpPr txBox="1"/>
          <p:nvPr/>
        </p:nvSpPr>
        <p:spPr>
          <a:xfrm>
            <a:off x="2075688" y="4663440"/>
            <a:ext cx="3931920" cy="5943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La capacidad sube con la velocidad y la humedad no cambia; lo que limita es el espesor mínimo para desprender el queque.</a:t>
            </a:r>
          </a:p>
        </p:txBody>
      </p:sp>
      <p:sp>
        <p:nvSpPr>
          <p:cNvPr id="28" name="TextBox 27"/>
          <p:cNvSpPr txBox="1"/>
          <p:nvPr/>
        </p:nvSpPr>
        <p:spPr>
          <a:xfrm>
            <a:off x="2075688" y="5257800"/>
            <a:ext cx="2788920" cy="2743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Salidas: </a:t>
            </a:r>
            <a:r>
              <a:rPr sz="850" b="0" i="0">
                <a:solidFill>
                  <a:srgbClr val="85D5E6"/>
                </a:solidFill>
                <a:effectLst>
                  <a:glow rad="63500">
                    <a:srgbClr val="001633">
                      <a:alpha val="85000"/>
                    </a:srgbClr>
                  </a:glow>
                </a:effectLst>
                <a:latin typeface="Montserrat"/>
              </a:rPr>
              <a:t>speed, m_flow_dry, L_cake</a:t>
            </a:r>
          </a:p>
        </p:txBody>
      </p:sp>
      <p:sp>
        <p:nvSpPr>
          <p:cNvPr id="29" name="Etiqueta Uso · Simular"/>
          <p:cNvSpPr/>
          <p:nvPr/>
        </p:nvSpPr>
        <p:spPr>
          <a:xfrm>
            <a:off x="4956048" y="5239512"/>
            <a:ext cx="105156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956048" y="5239512"/>
            <a:ext cx="1051560" cy="274320"/>
          </a:xfrm>
          <a:prstGeom prst="rect">
            <a:avLst/>
          </a:prstGeom>
          <a:noFill/>
        </p:spPr>
        <p:txBody>
          <a:bodyPr wrap="square" lIns="0" tIns="0" rIns="0" bIns="0" anchor="ctr">
            <a:spAutoFit/>
          </a:bodyPr>
          <a:lstStyle/>
          <a:p>
            <a:pPr algn="ctr">
              <a:spcAft>
                <a:spcPts val="600"/>
              </a:spcAft>
            </a:pPr>
            <a:r>
              <a:rPr sz="800" b="0" i="0">
                <a:solidFill>
                  <a:srgbClr val="FFFFFF"/>
                </a:solidFill>
                <a:effectLst>
                  <a:glow rad="63500">
                    <a:srgbClr val="001633">
                      <a:alpha val="85000"/>
                    </a:srgbClr>
                  </a:glow>
                </a:effectLst>
                <a:latin typeface="Montserrat"/>
              </a:rPr>
              <a:t>Uso · Simular</a:t>
            </a:r>
          </a:p>
        </p:txBody>
      </p:sp>
      <p:sp>
        <p:nvSpPr>
          <p:cNvPr id="31" name="Pregunta 4"/>
          <p:cNvSpPr/>
          <p:nvPr/>
        </p:nvSpPr>
        <p:spPr>
          <a:xfrm>
            <a:off x="6373368" y="4160520"/>
            <a:ext cx="4892040" cy="14630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e está tapando la tela?"/>
          <p:cNvSpPr/>
          <p:nvPr/>
        </p:nvSpPr>
        <p:spPr>
          <a:xfrm>
            <a:off x="6537960" y="4343400"/>
            <a:ext cx="502920" cy="50292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Ícono triangle-alert" descr="triangle-alert-orange.png"/>
          <p:cNvPicPr>
            <a:picLocks noChangeAspect="1"/>
          </p:cNvPicPr>
          <p:nvPr/>
        </p:nvPicPr>
        <p:blipFill>
          <a:blip r:embed="rId6"/>
          <a:stretch>
            <a:fillRect/>
          </a:stretch>
        </p:blipFill>
        <p:spPr>
          <a:xfrm>
            <a:off x="6648602" y="4454042"/>
            <a:ext cx="281635" cy="281635"/>
          </a:xfrm>
          <a:prstGeom prst="rect">
            <a:avLst/>
          </a:prstGeom>
        </p:spPr>
      </p:pic>
      <p:sp>
        <p:nvSpPr>
          <p:cNvPr id="34" name="TextBox 33"/>
          <p:cNvSpPr txBox="1"/>
          <p:nvPr/>
        </p:nvSpPr>
        <p:spPr>
          <a:xfrm>
            <a:off x="7196328" y="4297680"/>
            <a:ext cx="3977640" cy="36576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¿Se está tapando la tela?</a:t>
            </a:r>
          </a:p>
        </p:txBody>
      </p:sp>
      <p:sp>
        <p:nvSpPr>
          <p:cNvPr id="35" name="TextBox 34"/>
          <p:cNvSpPr txBox="1"/>
          <p:nvPr/>
        </p:nvSpPr>
        <p:spPr>
          <a:xfrm>
            <a:off x="7196328" y="4663440"/>
            <a:ext cx="3931920" cy="59436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Cuando la tela se colmata, la capacidad cae aunque nada más cambie. El gemelo lo detecta antes que la producción del turno.</a:t>
            </a:r>
          </a:p>
        </p:txBody>
      </p:sp>
      <p:sp>
        <p:nvSpPr>
          <p:cNvPr id="36" name="TextBox 35"/>
          <p:cNvSpPr txBox="1"/>
          <p:nvPr/>
        </p:nvSpPr>
        <p:spPr>
          <a:xfrm>
            <a:off x="7196328" y="5257800"/>
            <a:ext cx="2788920" cy="2743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Salidas: </a:t>
            </a:r>
            <a:r>
              <a:rPr sz="850" b="0" i="0">
                <a:solidFill>
                  <a:srgbClr val="85D5E6"/>
                </a:solidFill>
                <a:effectLst>
                  <a:glow rad="63500">
                    <a:srgbClr val="001633">
                      <a:alpha val="85000"/>
                    </a:srgbClr>
                  </a:glow>
                </a:effectLst>
                <a:latin typeface="Montserrat"/>
              </a:rPr>
              <a:t>f_cloth, m_flow_dry</a:t>
            </a:r>
          </a:p>
        </p:txBody>
      </p:sp>
      <p:sp>
        <p:nvSpPr>
          <p:cNvPr id="37" name="Etiqueta Uso · Predecir"/>
          <p:cNvSpPr/>
          <p:nvPr/>
        </p:nvSpPr>
        <p:spPr>
          <a:xfrm>
            <a:off x="10076688" y="5239512"/>
            <a:ext cx="105156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0076688" y="5239512"/>
            <a:ext cx="1051560" cy="274320"/>
          </a:xfrm>
          <a:prstGeom prst="rect">
            <a:avLst/>
          </a:prstGeom>
          <a:noFill/>
        </p:spPr>
        <p:txBody>
          <a:bodyPr wrap="square" lIns="0" tIns="0" rIns="0" bIns="0" anchor="ctr">
            <a:spAutoFit/>
          </a:bodyPr>
          <a:lstStyle/>
          <a:p>
            <a:pPr algn="ctr">
              <a:spcAft>
                <a:spcPts val="600"/>
              </a:spcAft>
            </a:pPr>
            <a:r>
              <a:rPr sz="800" b="0" i="0">
                <a:solidFill>
                  <a:srgbClr val="FFFFFF"/>
                </a:solidFill>
                <a:effectLst>
                  <a:glow rad="63500">
                    <a:srgbClr val="001633">
                      <a:alpha val="85000"/>
                    </a:srgbClr>
                  </a:glow>
                </a:effectLst>
                <a:latin typeface="Montserrat"/>
              </a:rPr>
              <a:t>Uso · Predecir</a:t>
            </a:r>
          </a:p>
        </p:txBody>
      </p:sp>
      <p:sp>
        <p:nvSpPr>
          <p:cNvPr id="39"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Salidas y variables: Modelo Dewatering v1.0 (elaboración propia, OpenModelica 1.27)</a:t>
            </a:r>
          </a:p>
        </p:txBody>
      </p:sp>
      <p:sp>
        <p:nvSpPr>
          <p:cNvPr id="40"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1"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4"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7"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50"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V actual"/>
          <p:cNvSpPr/>
          <p:nvPr/>
        </p:nvSpPr>
        <p:spPr>
          <a:xfrm>
            <a:off x="6876288" y="6510528"/>
            <a:ext cx="3302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5/27 </a:t>
            </a:r>
            <a:r>
              <a:rPr sz="1000" b="0" i="0">
                <a:solidFill>
                  <a:srgbClr val="A9B8C9"/>
                </a:solidFill>
                <a:effectLst>
                  <a:glow rad="63500">
                    <a:srgbClr val="001633">
                      <a:alpha val="85000"/>
                    </a:srgbClr>
                  </a:glow>
                </a:effectLst>
                <a:latin typeface="Montserrat"/>
              </a:rPr>
              <a:t>· Gemelos Digitales para Minería 4.0 · 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Por qué el HBF‑S 168/12: alto desempeño, pocas unidades en el mundo y casi sin datos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CASO DEL FILTRADO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hiperbárico mete los discos en un recipiente con aire comprimido y pasa de ≈ 0,75 bar (vacío) a 5,8 bar: más capacidad y un queque más seco. Pero es un equipo de nicho, y eso define cómo se modela.</a:t>
            </a:r>
          </a:p>
        </p:txBody>
      </p:sp>
      <p:sp>
        <p:nvSpPr>
          <p:cNvPr id="7" name="TextBox 6"/>
          <p:cNvSpPr txBox="1"/>
          <p:nvPr/>
        </p:nvSpPr>
        <p:spPr>
          <a:xfrm>
            <a:off x="1252728" y="2514600"/>
            <a:ext cx="457200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PRESIÓN DIFERENCIAL SOBRE EL QUEQUE</a:t>
            </a:r>
          </a:p>
        </p:txBody>
      </p:sp>
      <p:sp>
        <p:nvSpPr>
          <p:cNvPr id="8" name="TextBox 7"/>
          <p:cNvSpPr txBox="1"/>
          <p:nvPr/>
        </p:nvSpPr>
        <p:spPr>
          <a:xfrm>
            <a:off x="1252728" y="2834640"/>
            <a:ext cx="118872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Vacío</a:t>
            </a:r>
          </a:p>
        </p:txBody>
      </p:sp>
      <p:sp>
        <p:nvSpPr>
          <p:cNvPr id="9" name="Barra Vacío"/>
          <p:cNvSpPr/>
          <p:nvPr/>
        </p:nvSpPr>
        <p:spPr>
          <a:xfrm>
            <a:off x="2441448" y="2907792"/>
            <a:ext cx="354330" cy="237744"/>
          </a:xfrm>
          <a:prstGeom prst="rect">
            <a:avLst/>
          </a:prstGeom>
          <a:solidFill>
            <a:srgbClr val="A9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868930" y="2834640"/>
            <a:ext cx="1097280" cy="365760"/>
          </a:xfrm>
          <a:prstGeom prst="rect">
            <a:avLst/>
          </a:prstGeom>
          <a:noFill/>
        </p:spPr>
        <p:txBody>
          <a:bodyPr wrap="square" lIns="0" tIns="0" rIns="0" bIns="0" anchor="ctr">
            <a:spAutoFit/>
          </a:bodyPr>
          <a:lstStyle/>
          <a:p>
            <a:pPr algn="l">
              <a:spcAft>
                <a:spcPts val="600"/>
              </a:spcAft>
            </a:pPr>
            <a:r>
              <a:rPr sz="950" b="1" i="0">
                <a:solidFill>
                  <a:srgbClr val="A9B8C9"/>
                </a:solidFill>
                <a:effectLst>
                  <a:glow rad="63500">
                    <a:srgbClr val="001633">
                      <a:alpha val="85000"/>
                    </a:srgbClr>
                  </a:glow>
                </a:effectLst>
                <a:latin typeface="Montserrat"/>
              </a:rPr>
              <a:t>≈ 0,75 bar</a:t>
            </a:r>
          </a:p>
        </p:txBody>
      </p:sp>
      <p:sp>
        <p:nvSpPr>
          <p:cNvPr id="11" name="TextBox 10"/>
          <p:cNvSpPr txBox="1"/>
          <p:nvPr/>
        </p:nvSpPr>
        <p:spPr>
          <a:xfrm>
            <a:off x="1252728" y="3291840"/>
            <a:ext cx="118872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Hiperbárico</a:t>
            </a:r>
          </a:p>
        </p:txBody>
      </p:sp>
      <p:sp>
        <p:nvSpPr>
          <p:cNvPr id="12" name="Barra Hiperbárico"/>
          <p:cNvSpPr/>
          <p:nvPr/>
        </p:nvSpPr>
        <p:spPr>
          <a:xfrm>
            <a:off x="2441448" y="3364992"/>
            <a:ext cx="2740152" cy="23774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254752" y="3291840"/>
            <a:ext cx="1097280" cy="365760"/>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hasta 5,8 bar</a:t>
            </a:r>
          </a:p>
        </p:txBody>
      </p:sp>
      <p:pic>
        <p:nvPicPr>
          <p:cNvPr id="14" name="Filtro hiperbárico 3D" descr="hbf3d-exterior.png"/>
          <p:cNvPicPr>
            <a:picLocks noChangeAspect="1"/>
          </p:cNvPicPr>
          <p:nvPr/>
        </p:nvPicPr>
        <p:blipFill>
          <a:blip r:embed="rId3"/>
          <a:srcRect l="8" r="8"/>
          <a:stretch>
            <a:fillRect/>
          </a:stretch>
        </p:blipFill>
        <p:spPr>
          <a:xfrm>
            <a:off x="1252728" y="3703320"/>
            <a:ext cx="4572000" cy="1874519"/>
          </a:xfrm>
          <a:prstGeom prst="rect">
            <a:avLst/>
          </a:prstGeom>
        </p:spPr>
      </p:pic>
      <p:cxnSp>
        <p:nvCxnSpPr>
          <p:cNvPr id="15" name="Esquina"/>
          <p:cNvCxnSpPr/>
          <p:nvPr/>
        </p:nvCxnSpPr>
        <p:spPr>
          <a:xfrm>
            <a:off x="1197864" y="364845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6" name="Esquina"/>
          <p:cNvCxnSpPr/>
          <p:nvPr/>
        </p:nvCxnSpPr>
        <p:spPr>
          <a:xfrm>
            <a:off x="1197864" y="364845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7" name="Esquina"/>
          <p:cNvCxnSpPr/>
          <p:nvPr/>
        </p:nvCxnSpPr>
        <p:spPr>
          <a:xfrm flipH="1">
            <a:off x="5678424" y="364845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8" name="Esquina"/>
          <p:cNvCxnSpPr/>
          <p:nvPr/>
        </p:nvCxnSpPr>
        <p:spPr>
          <a:xfrm>
            <a:off x="5879592" y="364845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9" name="Esquina"/>
          <p:cNvCxnSpPr/>
          <p:nvPr/>
        </p:nvCxnSpPr>
        <p:spPr>
          <a:xfrm>
            <a:off x="1197864" y="563270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20" name="Esquina"/>
          <p:cNvCxnSpPr/>
          <p:nvPr/>
        </p:nvCxnSpPr>
        <p:spPr>
          <a:xfrm flipV="1">
            <a:off x="1197864" y="543153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21" name="Esquina"/>
          <p:cNvCxnSpPr/>
          <p:nvPr/>
        </p:nvCxnSpPr>
        <p:spPr>
          <a:xfrm flipH="1">
            <a:off x="5678424" y="563270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22" name="Esquina"/>
          <p:cNvCxnSpPr/>
          <p:nvPr/>
        </p:nvCxnSpPr>
        <p:spPr>
          <a:xfrm flipV="1">
            <a:off x="5879592" y="543153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23" name="Crédito imagen"/>
          <p:cNvSpPr txBox="1"/>
          <p:nvPr/>
        </p:nvSpPr>
        <p:spPr>
          <a:xfrm>
            <a:off x="1252728" y="5650991"/>
            <a:ext cx="4572000" cy="201168"/>
          </a:xfrm>
          <a:prstGeom prst="rect">
            <a:avLst/>
          </a:prstGeom>
          <a:noFill/>
        </p:spPr>
        <p:txBody>
          <a:bodyPr wrap="square" lIns="0" tIns="0" rIns="0" bIns="0" anchor="t">
            <a:spAutoFit/>
          </a:bodyPr>
          <a:lstStyle/>
          <a:p>
            <a:pPr algn="l">
              <a:spcAft>
                <a:spcPts val="600"/>
              </a:spcAft>
            </a:pPr>
            <a:r>
              <a:rPr sz="700" b="0" i="0">
                <a:solidFill>
                  <a:srgbClr val="A9B8C9"/>
                </a:solidFill>
                <a:effectLst>
                  <a:glow rad="63500">
                    <a:srgbClr val="001633">
                      <a:alpha val="85000"/>
                    </a:srgbClr>
                  </a:glow>
                </a:effectLst>
                <a:latin typeface="Montserrat"/>
              </a:rPr>
              <a:t>Filtro de discos hiperbárico · representación 3D propia (ilustrativa)</a:t>
            </a:r>
          </a:p>
        </p:txBody>
      </p:sp>
      <p:sp>
        <p:nvSpPr>
          <p:cNvPr id="24" name="TextBox 23"/>
          <p:cNvSpPr txBox="1"/>
          <p:nvPr/>
        </p:nvSpPr>
        <p:spPr>
          <a:xfrm>
            <a:off x="6236208" y="2514600"/>
            <a:ext cx="502920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EL EQUIPO DE REFERENCIA · ANDRITZ HBF‑S 168/12 [26]</a:t>
            </a:r>
          </a:p>
        </p:txBody>
      </p:sp>
      <p:sp>
        <p:nvSpPr>
          <p:cNvPr id="25" name="TextBox 24"/>
          <p:cNvSpPr txBox="1"/>
          <p:nvPr/>
        </p:nvSpPr>
        <p:spPr>
          <a:xfrm>
            <a:off x="6236208" y="2834640"/>
            <a:ext cx="25146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168 m²</a:t>
            </a:r>
          </a:p>
        </p:txBody>
      </p:sp>
      <p:sp>
        <p:nvSpPr>
          <p:cNvPr id="26" name="TextBox 25"/>
          <p:cNvSpPr txBox="1"/>
          <p:nvPr/>
        </p:nvSpPr>
        <p:spPr>
          <a:xfrm>
            <a:off x="6236208" y="3273552"/>
            <a:ext cx="25146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área de filtración</a:t>
            </a:r>
          </a:p>
        </p:txBody>
      </p:sp>
      <p:sp>
        <p:nvSpPr>
          <p:cNvPr id="27" name="TextBox 26"/>
          <p:cNvSpPr txBox="1"/>
          <p:nvPr/>
        </p:nvSpPr>
        <p:spPr>
          <a:xfrm>
            <a:off x="6236208" y="3584448"/>
            <a:ext cx="25146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12 discos</a:t>
            </a:r>
          </a:p>
        </p:txBody>
      </p:sp>
      <p:sp>
        <p:nvSpPr>
          <p:cNvPr id="28" name="TextBox 27"/>
          <p:cNvSpPr txBox="1"/>
          <p:nvPr/>
        </p:nvSpPr>
        <p:spPr>
          <a:xfrm>
            <a:off x="6236208" y="4023360"/>
            <a:ext cx="25146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de 3,3 m, 14 m² cada uno</a:t>
            </a:r>
          </a:p>
        </p:txBody>
      </p:sp>
      <p:sp>
        <p:nvSpPr>
          <p:cNvPr id="29" name="TextBox 28"/>
          <p:cNvSpPr txBox="1"/>
          <p:nvPr/>
        </p:nvSpPr>
        <p:spPr>
          <a:xfrm>
            <a:off x="6236208" y="4334256"/>
            <a:ext cx="25146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4,8 × 12,9 m</a:t>
            </a:r>
          </a:p>
        </p:txBody>
      </p:sp>
      <p:sp>
        <p:nvSpPr>
          <p:cNvPr id="30" name="TextBox 29"/>
          <p:cNvSpPr txBox="1"/>
          <p:nvPr/>
        </p:nvSpPr>
        <p:spPr>
          <a:xfrm>
            <a:off x="6236208" y="4773168"/>
            <a:ext cx="25146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recipiente a presión</a:t>
            </a:r>
          </a:p>
        </p:txBody>
      </p:sp>
      <p:sp>
        <p:nvSpPr>
          <p:cNvPr id="31" name="TextBox 30"/>
          <p:cNvSpPr txBox="1"/>
          <p:nvPr/>
        </p:nvSpPr>
        <p:spPr>
          <a:xfrm>
            <a:off x="8750808" y="2834640"/>
            <a:ext cx="25146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2 a 5,8 bar</a:t>
            </a:r>
          </a:p>
        </p:txBody>
      </p:sp>
      <p:sp>
        <p:nvSpPr>
          <p:cNvPr id="32" name="TextBox 31"/>
          <p:cNvSpPr txBox="1"/>
          <p:nvPr/>
        </p:nvSpPr>
        <p:spPr>
          <a:xfrm>
            <a:off x="8750808" y="3273552"/>
            <a:ext cx="25146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presión diferencial</a:t>
            </a:r>
          </a:p>
        </p:txBody>
      </p:sp>
      <p:sp>
        <p:nvSpPr>
          <p:cNvPr id="33" name="TextBox 32"/>
          <p:cNvSpPr txBox="1"/>
          <p:nvPr/>
        </p:nvSpPr>
        <p:spPr>
          <a:xfrm>
            <a:off x="8750808" y="3584448"/>
            <a:ext cx="25146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 50 %</a:t>
            </a:r>
          </a:p>
        </p:txBody>
      </p:sp>
      <p:sp>
        <p:nvSpPr>
          <p:cNvPr id="34" name="TextBox 33"/>
          <p:cNvSpPr txBox="1"/>
          <p:nvPr/>
        </p:nvSpPr>
        <p:spPr>
          <a:xfrm>
            <a:off x="8750808" y="4023360"/>
            <a:ext cx="25146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sumergencia del disco</a:t>
            </a:r>
          </a:p>
        </p:txBody>
      </p:sp>
      <p:sp>
        <p:nvSpPr>
          <p:cNvPr id="35" name="TextBox 34"/>
          <p:cNvSpPr txBox="1"/>
          <p:nvPr/>
        </p:nvSpPr>
        <p:spPr>
          <a:xfrm>
            <a:off x="8750808" y="4343400"/>
            <a:ext cx="251460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POCAS UNIDADES, POCOS DATOS</a:t>
            </a:r>
          </a:p>
        </p:txBody>
      </p:sp>
      <p:sp>
        <p:nvSpPr>
          <p:cNvPr id="36" name="Marca"/>
          <p:cNvSpPr/>
          <p:nvPr/>
        </p:nvSpPr>
        <p:spPr>
          <a:xfrm>
            <a:off x="8750808" y="4681728"/>
            <a:ext cx="45720" cy="23774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887968" y="4636008"/>
            <a:ext cx="2377440" cy="384048"/>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Poco más de 150 clientes en el mundo, según el fabricante</a:t>
            </a:r>
          </a:p>
        </p:txBody>
      </p:sp>
      <p:sp>
        <p:nvSpPr>
          <p:cNvPr id="38" name="Marca"/>
          <p:cNvSpPr/>
          <p:nvPr/>
        </p:nvSpPr>
        <p:spPr>
          <a:xfrm>
            <a:off x="8750808" y="5065776"/>
            <a:ext cx="45720" cy="23774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887968" y="5020056"/>
            <a:ext cx="2377440" cy="384048"/>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Ninguna planta publica su operación</a:t>
            </a:r>
          </a:p>
        </p:txBody>
      </p:sp>
      <p:sp>
        <p:nvSpPr>
          <p:cNvPr id="40" name="Marca"/>
          <p:cNvSpPr/>
          <p:nvPr/>
        </p:nvSpPr>
        <p:spPr>
          <a:xfrm>
            <a:off x="8750808" y="5449824"/>
            <a:ext cx="45720" cy="23774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887968" y="5404104"/>
            <a:ext cx="2377440" cy="384048"/>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Solo hay una ficha y una curva de humedad</a:t>
            </a:r>
          </a:p>
        </p:txBody>
      </p:sp>
      <p:sp>
        <p:nvSpPr>
          <p:cNvPr id="4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Datos del equipo: ANDRITZ [26] · diseño HiBar y aire de proceso: Hahn (2019) [28] · imagen: elaboración propia</a:t>
            </a:r>
          </a:p>
        </p:txBody>
      </p:sp>
      <p:sp>
        <p:nvSpPr>
          <p:cNvPr id="4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5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V actual"/>
          <p:cNvSpPr/>
          <p:nvPr/>
        </p:nvSpPr>
        <p:spPr>
          <a:xfrm>
            <a:off x="6876288" y="6510528"/>
            <a:ext cx="3962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6/27 </a:t>
            </a:r>
            <a:r>
              <a:rPr sz="1000" b="0" i="0">
                <a:solidFill>
                  <a:srgbClr val="A9B8C9"/>
                </a:solidFill>
                <a:effectLst>
                  <a:glow rad="63500">
                    <a:srgbClr val="001633">
                      <a:alpha val="85000"/>
                    </a:srgbClr>
                  </a:glow>
                </a:effectLst>
                <a:latin typeface="Montserrat"/>
              </a:rPr>
              <a:t>· Gemelos Digitales para Minería 4.0 · 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filtro en una lámina: cada sector del disco pasa por tres zonas en cada vuelta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CASO DEL FILTRADO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Una vuelta dura cerca de un minuto. El queque se forma bajo la pulpa, se seca con aire al salir y se desprende con un soplido; después sale del recipiente por una esclusa sin perder la presión.</a:t>
            </a:r>
          </a:p>
        </p:txBody>
      </p:sp>
      <p:pic>
        <p:nvPicPr>
          <p:cNvPr id="7" name="Discos, mapa de humedad" descr="hbf3d-discos-humedad.png"/>
          <p:cNvPicPr>
            <a:picLocks noChangeAspect="1"/>
          </p:cNvPicPr>
          <p:nvPr/>
        </p:nvPicPr>
        <p:blipFill>
          <a:blip r:embed="rId3"/>
          <a:srcRect t="2" b="2"/>
          <a:stretch>
            <a:fillRect/>
          </a:stretch>
        </p:blipFill>
        <p:spPr>
          <a:xfrm>
            <a:off x="1252728" y="2514600"/>
            <a:ext cx="4480560" cy="2326355"/>
          </a:xfrm>
          <a:prstGeom prst="rect">
            <a:avLst/>
          </a:prstGeom>
        </p:spPr>
      </p:pic>
      <p:cxnSp>
        <p:nvCxnSpPr>
          <p:cNvPr id="8" name="Esquina"/>
          <p:cNvCxnSpPr/>
          <p:nvPr/>
        </p:nvCxnSpPr>
        <p:spPr>
          <a:xfrm>
            <a:off x="1197864" y="245973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9" name="Esquina"/>
          <p:cNvCxnSpPr/>
          <p:nvPr/>
        </p:nvCxnSpPr>
        <p:spPr>
          <a:xfrm>
            <a:off x="1197864" y="245973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0" name="Esquina"/>
          <p:cNvCxnSpPr/>
          <p:nvPr/>
        </p:nvCxnSpPr>
        <p:spPr>
          <a:xfrm flipH="1">
            <a:off x="5586984" y="245973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1" name="Esquina"/>
          <p:cNvCxnSpPr/>
          <p:nvPr/>
        </p:nvCxnSpPr>
        <p:spPr>
          <a:xfrm>
            <a:off x="5788152" y="245973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2" name="Esquina"/>
          <p:cNvCxnSpPr/>
          <p:nvPr/>
        </p:nvCxnSpPr>
        <p:spPr>
          <a:xfrm>
            <a:off x="1197864" y="4895819"/>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3" name="Esquina"/>
          <p:cNvCxnSpPr/>
          <p:nvPr/>
        </p:nvCxnSpPr>
        <p:spPr>
          <a:xfrm flipV="1">
            <a:off x="1197864" y="4694651"/>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4" name="Esquina"/>
          <p:cNvCxnSpPr/>
          <p:nvPr/>
        </p:nvCxnSpPr>
        <p:spPr>
          <a:xfrm flipH="1">
            <a:off x="5586984" y="4895819"/>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5" name="Esquina"/>
          <p:cNvCxnSpPr/>
          <p:nvPr/>
        </p:nvCxnSpPr>
        <p:spPr>
          <a:xfrm flipV="1">
            <a:off x="5788152" y="4694651"/>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16" name="Leyenda humedad"/>
          <p:cNvSpPr/>
          <p:nvPr/>
        </p:nvSpPr>
        <p:spPr>
          <a:xfrm>
            <a:off x="1362456" y="2624328"/>
            <a:ext cx="2514600" cy="256032"/>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62456" y="2624328"/>
            <a:ext cx="2514600" cy="256032"/>
          </a:xfrm>
          <a:prstGeom prst="rect">
            <a:avLst/>
          </a:prstGeom>
          <a:noFill/>
        </p:spPr>
        <p:txBody>
          <a:bodyPr wrap="square" lIns="0" tIns="0" rIns="0" bIns="0" anchor="ctr">
            <a:spAutoFit/>
          </a:bodyPr>
          <a:lstStyle/>
          <a:p>
            <a:pPr algn="ctr">
              <a:spcAft>
                <a:spcPts val="600"/>
              </a:spcAft>
            </a:pPr>
            <a:r>
              <a:rPr sz="750" b="0" i="0">
                <a:solidFill>
                  <a:srgbClr val="FFFFFF"/>
                </a:solidFill>
                <a:effectLst>
                  <a:glow rad="63500">
                    <a:srgbClr val="001633">
                      <a:alpha val="85000"/>
                    </a:srgbClr>
                  </a:glow>
                </a:effectLst>
                <a:latin typeface="Montserrat"/>
              </a:rPr>
              <a:t>mapa de humedad: azul húmedo → verde seco</a:t>
            </a:r>
          </a:p>
        </p:txBody>
      </p:sp>
      <p:sp>
        <p:nvSpPr>
          <p:cNvPr id="18" name="Marca 1"/>
          <p:cNvSpPr/>
          <p:nvPr/>
        </p:nvSpPr>
        <p:spPr>
          <a:xfrm>
            <a:off x="2997403" y="4098942"/>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997403" y="4098942"/>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1</a:t>
            </a:r>
          </a:p>
        </p:txBody>
      </p:sp>
      <p:sp>
        <p:nvSpPr>
          <p:cNvPr id="20" name="Marca 2"/>
          <p:cNvSpPr/>
          <p:nvPr/>
        </p:nvSpPr>
        <p:spPr>
          <a:xfrm>
            <a:off x="3803904" y="3214927"/>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803904" y="3214927"/>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2</a:t>
            </a:r>
          </a:p>
        </p:txBody>
      </p:sp>
      <p:sp>
        <p:nvSpPr>
          <p:cNvPr id="22" name="TextBox 21"/>
          <p:cNvSpPr txBox="1"/>
          <p:nvPr/>
        </p:nvSpPr>
        <p:spPr>
          <a:xfrm>
            <a:off x="1252728" y="5023835"/>
            <a:ext cx="448056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UNA VUELTA ≈ 60 s A 1 rpm, CON LA PULPA AL EJE</a:t>
            </a:r>
          </a:p>
        </p:txBody>
      </p:sp>
      <p:sp>
        <p:nvSpPr>
          <p:cNvPr id="23" name="Tramo 1 · Formación"/>
          <p:cNvSpPr/>
          <p:nvPr/>
        </p:nvSpPr>
        <p:spPr>
          <a:xfrm>
            <a:off x="1252728" y="5298155"/>
            <a:ext cx="2212848" cy="38404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5298155"/>
            <a:ext cx="2212848" cy="384048"/>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1 · Formación  </a:t>
            </a:r>
            <a:r>
              <a:rPr sz="800" b="0" i="0">
                <a:solidFill>
                  <a:srgbClr val="001633"/>
                </a:solidFill>
                <a:latin typeface="Montserrat"/>
              </a:rPr>
              <a:t>30 s</a:t>
            </a:r>
          </a:p>
        </p:txBody>
      </p:sp>
      <p:sp>
        <p:nvSpPr>
          <p:cNvPr id="25" name="Tramo 2 · Deshidratación"/>
          <p:cNvSpPr/>
          <p:nvPr/>
        </p:nvSpPr>
        <p:spPr>
          <a:xfrm>
            <a:off x="3493008" y="5298155"/>
            <a:ext cx="1764792" cy="38404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493008" y="5298155"/>
            <a:ext cx="1764792" cy="384048"/>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2 · Deshidratación  </a:t>
            </a:r>
            <a:r>
              <a:rPr sz="800" b="0" i="0">
                <a:solidFill>
                  <a:srgbClr val="001633"/>
                </a:solidFill>
                <a:latin typeface="Montserrat"/>
              </a:rPr>
              <a:t>24 s</a:t>
            </a:r>
          </a:p>
        </p:txBody>
      </p:sp>
      <p:sp>
        <p:nvSpPr>
          <p:cNvPr id="27" name="Tramo 3"/>
          <p:cNvSpPr/>
          <p:nvPr/>
        </p:nvSpPr>
        <p:spPr>
          <a:xfrm>
            <a:off x="5285232" y="5298155"/>
            <a:ext cx="420624"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285232" y="5298155"/>
            <a:ext cx="420624" cy="384048"/>
          </a:xfrm>
          <a:prstGeom prst="rect">
            <a:avLst/>
          </a:prstGeom>
          <a:noFill/>
        </p:spPr>
        <p:txBody>
          <a:bodyPr wrap="square" lIns="0" tIns="0" rIns="0" bIns="0" anchor="ctr">
            <a:spAutoFit/>
          </a:bodyPr>
          <a:lstStyle/>
          <a:p>
            <a:pPr algn="ctr">
              <a:spcAft>
                <a:spcPts val="600"/>
              </a:spcAft>
            </a:pPr>
            <a:r>
              <a:rPr sz="800" b="1" i="0">
                <a:solidFill>
                  <a:srgbClr val="001633"/>
                </a:solidFill>
                <a:latin typeface="Montserrat"/>
              </a:rPr>
              <a:t>6 s</a:t>
            </a:r>
          </a:p>
        </p:txBody>
      </p:sp>
      <p:sp>
        <p:nvSpPr>
          <p:cNvPr id="29" name="TextBox 28"/>
          <p:cNvSpPr txBox="1"/>
          <p:nvPr/>
        </p:nvSpPr>
        <p:spPr>
          <a:xfrm>
            <a:off x="1252728" y="5737067"/>
            <a:ext cx="4480560" cy="228600"/>
          </a:xfrm>
          <a:prstGeom prst="rect">
            <a:avLst/>
          </a:prstGeom>
          <a:noFill/>
        </p:spPr>
        <p:txBody>
          <a:bodyPr wrap="square" lIns="0" tIns="0" rIns="0" bIns="0" anchor="t">
            <a:spAutoFit/>
          </a:bodyPr>
          <a:lstStyle/>
          <a:p>
            <a:pPr algn="l">
              <a:spcAft>
                <a:spcPts val="600"/>
              </a:spcAft>
            </a:pPr>
            <a:r>
              <a:rPr sz="750" b="0" i="0">
                <a:solidFill>
                  <a:srgbClr val="A9B8C9"/>
                </a:solidFill>
                <a:effectLst>
                  <a:glow rad="63500">
                    <a:srgbClr val="001633">
                      <a:alpha val="85000"/>
                    </a:srgbClr>
                  </a:glow>
                </a:effectLst>
                <a:latin typeface="Montserrat"/>
              </a:rPr>
              <a:t>50 % sumergido · 40 % al aire · 10 % descarga (3)</a:t>
            </a:r>
          </a:p>
        </p:txBody>
      </p:sp>
      <p:sp>
        <p:nvSpPr>
          <p:cNvPr id="30" name="Etapa 1 · Formación"/>
          <p:cNvSpPr/>
          <p:nvPr/>
        </p:nvSpPr>
        <p:spPr>
          <a:xfrm>
            <a:off x="6099048" y="2514600"/>
            <a:ext cx="5166360" cy="71323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Borde 1 · Formación"/>
          <p:cNvSpPr/>
          <p:nvPr/>
        </p:nvSpPr>
        <p:spPr>
          <a:xfrm>
            <a:off x="6099048" y="2514600"/>
            <a:ext cx="54864" cy="71323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281928" y="2551176"/>
            <a:ext cx="219456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1 · Formación</a:t>
            </a:r>
          </a:p>
        </p:txBody>
      </p:sp>
      <p:sp>
        <p:nvSpPr>
          <p:cNvPr id="33" name="TextBox 32"/>
          <p:cNvSpPr txBox="1"/>
          <p:nvPr/>
        </p:nvSpPr>
        <p:spPr>
          <a:xfrm>
            <a:off x="9710928" y="2560320"/>
            <a:ext cx="1417320" cy="274320"/>
          </a:xfrm>
          <a:prstGeom prst="rect">
            <a:avLst/>
          </a:prstGeom>
          <a:noFill/>
        </p:spPr>
        <p:txBody>
          <a:bodyPr wrap="square" lIns="0" tIns="0" rIns="0" bIns="0" anchor="t">
            <a:spAutoFit/>
          </a:bodyPr>
          <a:lstStyle/>
          <a:p>
            <a:pPr algn="r">
              <a:spcAft>
                <a:spcPts val="600"/>
              </a:spcAft>
            </a:pPr>
            <a:r>
              <a:rPr sz="800" b="1" i="0">
                <a:solidFill>
                  <a:srgbClr val="FFAB40"/>
                </a:solidFill>
                <a:effectLst>
                  <a:glow rad="63500">
                    <a:srgbClr val="001633">
                      <a:alpha val="85000"/>
                    </a:srgbClr>
                  </a:glow>
                </a:effectLst>
                <a:latin typeface="Montserrat"/>
              </a:rPr>
              <a:t>bajo la pulpa</a:t>
            </a:r>
          </a:p>
        </p:txBody>
      </p:sp>
      <p:sp>
        <p:nvSpPr>
          <p:cNvPr id="34" name="TextBox 33"/>
          <p:cNvSpPr txBox="1"/>
          <p:nvPr/>
        </p:nvSpPr>
        <p:spPr>
          <a:xfrm>
            <a:off x="6281928" y="2825496"/>
            <a:ext cx="4846320" cy="402336"/>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La pulpa se filtra por la tela y el queque crece como √(Δp·t). El filtrado sale a la atmósfera.</a:t>
            </a:r>
          </a:p>
        </p:txBody>
      </p:sp>
      <p:sp>
        <p:nvSpPr>
          <p:cNvPr id="35" name="Etapa 2 · Deshidratación"/>
          <p:cNvSpPr/>
          <p:nvPr/>
        </p:nvSpPr>
        <p:spPr>
          <a:xfrm>
            <a:off x="6099048" y="3319272"/>
            <a:ext cx="5166360" cy="71323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Borde 2 · Deshidratación"/>
          <p:cNvSpPr/>
          <p:nvPr/>
        </p:nvSpPr>
        <p:spPr>
          <a:xfrm>
            <a:off x="6099048" y="3319272"/>
            <a:ext cx="54864" cy="71323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281928" y="3355848"/>
            <a:ext cx="219456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2 · Deshidratación</a:t>
            </a:r>
          </a:p>
        </p:txBody>
      </p:sp>
      <p:sp>
        <p:nvSpPr>
          <p:cNvPr id="38" name="TextBox 37"/>
          <p:cNvSpPr txBox="1"/>
          <p:nvPr/>
        </p:nvSpPr>
        <p:spPr>
          <a:xfrm>
            <a:off x="9710928" y="3364992"/>
            <a:ext cx="1417320" cy="274320"/>
          </a:xfrm>
          <a:prstGeom prst="rect">
            <a:avLst/>
          </a:prstGeom>
          <a:noFill/>
        </p:spPr>
        <p:txBody>
          <a:bodyPr wrap="square" lIns="0" tIns="0" rIns="0" bIns="0" anchor="t">
            <a:spAutoFit/>
          </a:bodyPr>
          <a:lstStyle/>
          <a:p>
            <a:pPr algn="r">
              <a:spcAft>
                <a:spcPts val="600"/>
              </a:spcAft>
            </a:pPr>
            <a:r>
              <a:rPr sz="800" b="1" i="0">
                <a:solidFill>
                  <a:srgbClr val="85D5E6"/>
                </a:solidFill>
                <a:effectLst>
                  <a:glow rad="63500">
                    <a:srgbClr val="001633">
                      <a:alpha val="85000"/>
                    </a:srgbClr>
                  </a:glow>
                </a:effectLst>
                <a:latin typeface="Montserrat"/>
              </a:rPr>
              <a:t>fuera de la pulpa</a:t>
            </a:r>
          </a:p>
        </p:txBody>
      </p:sp>
      <p:sp>
        <p:nvSpPr>
          <p:cNvPr id="39" name="TextBox 38"/>
          <p:cNvSpPr txBox="1"/>
          <p:nvPr/>
        </p:nvSpPr>
        <p:spPr>
          <a:xfrm>
            <a:off x="6281928" y="3630168"/>
            <a:ext cx="4846320" cy="402336"/>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El aire a presión desplaza el agua de los poros del queque. Aquí se decide la humedad.</a:t>
            </a:r>
          </a:p>
        </p:txBody>
      </p:sp>
      <p:sp>
        <p:nvSpPr>
          <p:cNvPr id="40" name="Etapa 3 · Descarga"/>
          <p:cNvSpPr/>
          <p:nvPr/>
        </p:nvSpPr>
        <p:spPr>
          <a:xfrm>
            <a:off x="6099048" y="4123944"/>
            <a:ext cx="5166360" cy="71323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Borde 3 · Descarga"/>
          <p:cNvSpPr/>
          <p:nvPr/>
        </p:nvSpPr>
        <p:spPr>
          <a:xfrm>
            <a:off x="6099048" y="4123944"/>
            <a:ext cx="54864"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281928" y="4160520"/>
            <a:ext cx="219456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3 · Descarga</a:t>
            </a:r>
          </a:p>
        </p:txBody>
      </p:sp>
      <p:sp>
        <p:nvSpPr>
          <p:cNvPr id="43" name="TextBox 42"/>
          <p:cNvSpPr txBox="1"/>
          <p:nvPr/>
        </p:nvSpPr>
        <p:spPr>
          <a:xfrm>
            <a:off x="9710928" y="4169664"/>
            <a:ext cx="1417320" cy="274320"/>
          </a:xfrm>
          <a:prstGeom prst="rect">
            <a:avLst/>
          </a:prstGeom>
          <a:noFill/>
        </p:spPr>
        <p:txBody>
          <a:bodyPr wrap="square" lIns="0" tIns="0" rIns="0" bIns="0" anchor="t">
            <a:spAutoFit/>
          </a:bodyPr>
          <a:lstStyle/>
          <a:p>
            <a:pPr algn="r">
              <a:spcAft>
                <a:spcPts val="600"/>
              </a:spcAft>
            </a:pPr>
            <a:r>
              <a:rPr sz="800" b="1" i="0">
                <a:solidFill>
                  <a:srgbClr val="FFFFFF"/>
                </a:solidFill>
                <a:effectLst>
                  <a:glow rad="63500">
                    <a:srgbClr val="001633">
                      <a:alpha val="85000"/>
                    </a:srgbClr>
                  </a:glow>
                </a:effectLst>
                <a:latin typeface="Montserrat"/>
              </a:rPr>
              <a:t>soplido</a:t>
            </a:r>
          </a:p>
        </p:txBody>
      </p:sp>
      <p:sp>
        <p:nvSpPr>
          <p:cNvPr id="44" name="TextBox 43"/>
          <p:cNvSpPr txBox="1"/>
          <p:nvPr/>
        </p:nvSpPr>
        <p:spPr>
          <a:xfrm>
            <a:off x="6281928" y="4434840"/>
            <a:ext cx="4846320" cy="402336"/>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Un golpe de aire desprende el queque, que cae al chute.</a:t>
            </a:r>
          </a:p>
        </p:txBody>
      </p:sp>
      <p:sp>
        <p:nvSpPr>
          <p:cNvPr id="45" name="Etapa 4 · Esclusa"/>
          <p:cNvSpPr/>
          <p:nvPr/>
        </p:nvSpPr>
        <p:spPr>
          <a:xfrm>
            <a:off x="6099048" y="4928616"/>
            <a:ext cx="5166360" cy="71323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Borde 4 · Esclusa"/>
          <p:cNvSpPr/>
          <p:nvPr/>
        </p:nvSpPr>
        <p:spPr>
          <a:xfrm>
            <a:off x="6099048" y="4928616"/>
            <a:ext cx="54864" cy="71323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281928" y="4965192"/>
            <a:ext cx="219456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4 · Esclusa</a:t>
            </a:r>
          </a:p>
        </p:txBody>
      </p:sp>
      <p:sp>
        <p:nvSpPr>
          <p:cNvPr id="48" name="TextBox 47"/>
          <p:cNvSpPr txBox="1"/>
          <p:nvPr/>
        </p:nvSpPr>
        <p:spPr>
          <a:xfrm>
            <a:off x="9710928" y="4974336"/>
            <a:ext cx="1417320" cy="274320"/>
          </a:xfrm>
          <a:prstGeom prst="rect">
            <a:avLst/>
          </a:prstGeom>
          <a:noFill/>
        </p:spPr>
        <p:txBody>
          <a:bodyPr wrap="square" lIns="0" tIns="0" rIns="0" bIns="0" anchor="t">
            <a:spAutoFit/>
          </a:bodyPr>
          <a:lstStyle/>
          <a:p>
            <a:pPr algn="r">
              <a:spcAft>
                <a:spcPts val="600"/>
              </a:spcAft>
            </a:pPr>
            <a:r>
              <a:rPr sz="800" b="1" i="0">
                <a:solidFill>
                  <a:srgbClr val="FFAB40"/>
                </a:solidFill>
                <a:effectLst>
                  <a:glow rad="63500">
                    <a:srgbClr val="001633">
                      <a:alpha val="85000"/>
                    </a:srgbClr>
                  </a:glow>
                </a:effectLst>
                <a:latin typeface="Montserrat"/>
              </a:rPr>
              <a:t>cuatro estados</a:t>
            </a:r>
          </a:p>
        </p:txBody>
      </p:sp>
      <p:sp>
        <p:nvSpPr>
          <p:cNvPr id="49" name="TextBox 48"/>
          <p:cNvSpPr txBox="1"/>
          <p:nvPr/>
        </p:nvSpPr>
        <p:spPr>
          <a:xfrm>
            <a:off x="6281928" y="5239512"/>
            <a:ext cx="4846320" cy="402336"/>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Llenado → venteo → descarga → represurización: el queque sale y el recipiente no pierde presión.</a:t>
            </a:r>
          </a:p>
        </p:txBody>
      </p:sp>
      <p:sp>
        <p:nvSpPr>
          <p:cNvPr id="5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Funcionamiento: ANDRITZ [26] y Hahn (2019) [28] · tiempos: modelo Dewatering · imagen: representación 3D propia (ilustrativa)</a:t>
            </a:r>
          </a:p>
        </p:txBody>
      </p:sp>
      <p:sp>
        <p:nvSpPr>
          <p:cNvPr id="5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actual"/>
          <p:cNvSpPr/>
          <p:nvPr/>
        </p:nvSpPr>
        <p:spPr>
          <a:xfrm>
            <a:off x="6876288" y="6510528"/>
            <a:ext cx="4622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7/27 </a:t>
            </a:r>
            <a:r>
              <a:rPr sz="1000" b="0" i="0">
                <a:solidFill>
                  <a:srgbClr val="A9B8C9"/>
                </a:solidFill>
                <a:effectLst>
                  <a:glow rad="63500">
                    <a:srgbClr val="001633">
                      <a:alpha val="85000"/>
                    </a:srgbClr>
                  </a:glow>
                </a:effectLst>
                <a:latin typeface="Montserrat"/>
              </a:rPr>
              <a:t>· Gemelos Digitales para Minería 4.0 · 76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modelo fenomenológico: la física del filtro, sintonizada con la planta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1 · ENFOQUE Y FIDELIDAD</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Con tan pocas unidades no hay datos para aprender el filtro, y un CFD no alcanza a correr junto a la operación. El punto medio es un modelo fenomenológico: leyes físicas conocidas y pocos parámetros ajustables.</a:t>
            </a:r>
          </a:p>
        </p:txBody>
      </p:sp>
      <p:sp>
        <p:nvSpPr>
          <p:cNvPr id="7" name="Opción Basado en datos"/>
          <p:cNvSpPr/>
          <p:nvPr/>
        </p:nvSpPr>
        <p:spPr>
          <a:xfrm>
            <a:off x="1252728" y="2514600"/>
            <a:ext cx="3185160" cy="3154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Basado en datos"/>
          <p:cNvSpPr/>
          <p:nvPr/>
        </p:nvSpPr>
        <p:spPr>
          <a:xfrm>
            <a:off x="1252728" y="2514600"/>
            <a:ext cx="318516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Basado en datos"/>
          <p:cNvSpPr/>
          <p:nvPr/>
        </p:nvSpPr>
        <p:spPr>
          <a:xfrm>
            <a:off x="1417320" y="269748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Ícono database" descr="database-orange.png"/>
          <p:cNvPicPr>
            <a:picLocks noChangeAspect="1"/>
          </p:cNvPicPr>
          <p:nvPr/>
        </p:nvPicPr>
        <p:blipFill>
          <a:blip r:embed="rId3"/>
          <a:stretch>
            <a:fillRect/>
          </a:stretch>
        </p:blipFill>
        <p:spPr>
          <a:xfrm>
            <a:off x="1527962" y="2808122"/>
            <a:ext cx="281635" cy="281635"/>
          </a:xfrm>
          <a:prstGeom prst="rect">
            <a:avLst/>
          </a:prstGeom>
        </p:spPr>
      </p:pic>
      <p:sp>
        <p:nvSpPr>
          <p:cNvPr id="11" name="TextBox 10"/>
          <p:cNvSpPr txBox="1"/>
          <p:nvPr/>
        </p:nvSpPr>
        <p:spPr>
          <a:xfrm>
            <a:off x="2057400" y="2697480"/>
            <a:ext cx="2270760" cy="502920"/>
          </a:xfrm>
          <a:prstGeom prst="rect">
            <a:avLst/>
          </a:prstGeom>
          <a:noFill/>
        </p:spPr>
        <p:txBody>
          <a:bodyPr wrap="square" lIns="0" tIns="0" rIns="0" bIns="0" anchor="ctr">
            <a:spAutoFit/>
          </a:bodyPr>
          <a:lstStyle/>
          <a:p>
            <a:pPr algn="l">
              <a:spcAft>
                <a:spcPts val="600"/>
              </a:spcAft>
            </a:pPr>
            <a:r>
              <a:rPr sz="1400" b="1" i="0">
                <a:solidFill>
                  <a:srgbClr val="FFFFFF"/>
                </a:solidFill>
                <a:effectLst>
                  <a:glow rad="63500">
                    <a:srgbClr val="001633">
                      <a:alpha val="85000"/>
                    </a:srgbClr>
                  </a:glow>
                </a:effectLst>
                <a:latin typeface="Montserrat"/>
              </a:rPr>
              <a:t>Basado en datos</a:t>
            </a:r>
          </a:p>
        </p:txBody>
      </p:sp>
      <p:sp>
        <p:nvSpPr>
          <p:cNvPr id="12" name="TextBox 11"/>
          <p:cNvSpPr txBox="1"/>
          <p:nvPr/>
        </p:nvSpPr>
        <p:spPr>
          <a:xfrm>
            <a:off x="1417320" y="333756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HACE</a:t>
            </a:r>
          </a:p>
          <a:p>
            <a:pPr algn="l">
              <a:spcAft>
                <a:spcPts val="0"/>
              </a:spcAft>
            </a:pPr>
            <a:r>
              <a:rPr sz="950" b="0" i="0">
                <a:solidFill>
                  <a:srgbClr val="A9B8C9"/>
                </a:solidFill>
                <a:effectLst>
                  <a:glow rad="63500">
                    <a:srgbClr val="001633">
                      <a:alpha val="85000"/>
                    </a:srgbClr>
                  </a:glow>
                </a:effectLst>
                <a:latin typeface="Montserrat"/>
              </a:rPr>
              <a:t>aprende el comportamiento del historial</a:t>
            </a:r>
          </a:p>
        </p:txBody>
      </p:sp>
      <p:sp>
        <p:nvSpPr>
          <p:cNvPr id="13" name="TextBox 12"/>
          <p:cNvSpPr txBox="1"/>
          <p:nvPr/>
        </p:nvSpPr>
        <p:spPr>
          <a:xfrm>
            <a:off x="1417320" y="384048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NECESITA</a:t>
            </a:r>
          </a:p>
          <a:p>
            <a:pPr algn="l">
              <a:spcAft>
                <a:spcPts val="0"/>
              </a:spcAft>
            </a:pPr>
            <a:r>
              <a:rPr sz="950" b="0" i="0">
                <a:solidFill>
                  <a:srgbClr val="A9B8C9"/>
                </a:solidFill>
                <a:effectLst>
                  <a:glow rad="63500">
                    <a:srgbClr val="001633">
                      <a:alpha val="85000"/>
                    </a:srgbClr>
                  </a:glow>
                </a:effectLst>
                <a:latin typeface="Montserrat"/>
              </a:rPr>
              <a:t>miles de mediciones de muchas unidades</a:t>
            </a:r>
          </a:p>
        </p:txBody>
      </p:sp>
      <p:sp>
        <p:nvSpPr>
          <p:cNvPr id="14" name="TextBox 13"/>
          <p:cNvSpPr txBox="1"/>
          <p:nvPr/>
        </p:nvSpPr>
        <p:spPr>
          <a:xfrm>
            <a:off x="1417320" y="434340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VELOCIDAD</a:t>
            </a:r>
          </a:p>
          <a:p>
            <a:pPr algn="l">
              <a:spcAft>
                <a:spcPts val="0"/>
              </a:spcAft>
            </a:pPr>
            <a:r>
              <a:rPr sz="950" b="0" i="0">
                <a:solidFill>
                  <a:srgbClr val="A9B8C9"/>
                </a:solidFill>
                <a:effectLst>
                  <a:glow rad="63500">
                    <a:srgbClr val="001633">
                      <a:alpha val="85000"/>
                    </a:srgbClr>
                  </a:glow>
                </a:effectLst>
                <a:latin typeface="Montserrat"/>
              </a:rPr>
              <a:t>rápido, pero solo dentro de lo ya visto</a:t>
            </a:r>
          </a:p>
        </p:txBody>
      </p:sp>
      <p:cxnSp>
        <p:nvCxnSpPr>
          <p:cNvPr id="15" name="Connector 14"/>
          <p:cNvCxnSpPr/>
          <p:nvPr/>
        </p:nvCxnSpPr>
        <p:spPr>
          <a:xfrm>
            <a:off x="1417320" y="4892040"/>
            <a:ext cx="2855976"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pic>
        <p:nvPicPr>
          <p:cNvPr id="16" name="Ícono circle-x" descr="circle-x-muted.png"/>
          <p:cNvPicPr>
            <a:picLocks noChangeAspect="1"/>
          </p:cNvPicPr>
          <p:nvPr/>
        </p:nvPicPr>
        <p:blipFill>
          <a:blip r:embed="rId4"/>
          <a:stretch>
            <a:fillRect/>
          </a:stretch>
        </p:blipFill>
        <p:spPr>
          <a:xfrm>
            <a:off x="1417320" y="5001768"/>
            <a:ext cx="256032" cy="256032"/>
          </a:xfrm>
          <a:prstGeom prst="rect">
            <a:avLst/>
          </a:prstGeom>
        </p:spPr>
      </p:pic>
      <p:sp>
        <p:nvSpPr>
          <p:cNvPr id="17" name="TextBox 16"/>
          <p:cNvSpPr txBox="1"/>
          <p:nvPr/>
        </p:nvSpPr>
        <p:spPr>
          <a:xfrm>
            <a:off x="1755648" y="4946904"/>
            <a:ext cx="2545080" cy="68580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No hay con qué entrenarlo: ≈ 150 clientes en el mundo y ninguna planta publica su operación.</a:t>
            </a:r>
          </a:p>
        </p:txBody>
      </p:sp>
      <p:sp>
        <p:nvSpPr>
          <p:cNvPr id="18" name="Opción Fenomenológico"/>
          <p:cNvSpPr/>
          <p:nvPr/>
        </p:nvSpPr>
        <p:spPr>
          <a:xfrm>
            <a:off x="4666488" y="2514600"/>
            <a:ext cx="3185160" cy="3154680"/>
          </a:xfrm>
          <a:prstGeom prst="rect">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orde Fenomenológico"/>
          <p:cNvSpPr/>
          <p:nvPr/>
        </p:nvSpPr>
        <p:spPr>
          <a:xfrm>
            <a:off x="4666488" y="2514600"/>
            <a:ext cx="318516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Fenomenológico"/>
          <p:cNvSpPr/>
          <p:nvPr/>
        </p:nvSpPr>
        <p:spPr>
          <a:xfrm>
            <a:off x="4831080" y="2697480"/>
            <a:ext cx="502920" cy="50292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Ícono atom" descr="atom-navy.png"/>
          <p:cNvPicPr>
            <a:picLocks noChangeAspect="1"/>
          </p:cNvPicPr>
          <p:nvPr/>
        </p:nvPicPr>
        <p:blipFill>
          <a:blip r:embed="rId5"/>
          <a:stretch>
            <a:fillRect/>
          </a:stretch>
        </p:blipFill>
        <p:spPr>
          <a:xfrm>
            <a:off x="4941722" y="2808122"/>
            <a:ext cx="281635" cy="281635"/>
          </a:xfrm>
          <a:prstGeom prst="rect">
            <a:avLst/>
          </a:prstGeom>
        </p:spPr>
      </p:pic>
      <p:sp>
        <p:nvSpPr>
          <p:cNvPr id="22" name="TextBox 21"/>
          <p:cNvSpPr txBox="1"/>
          <p:nvPr/>
        </p:nvSpPr>
        <p:spPr>
          <a:xfrm>
            <a:off x="5471160" y="2697480"/>
            <a:ext cx="2270760" cy="502920"/>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Fenomenológico</a:t>
            </a:r>
          </a:p>
        </p:txBody>
      </p:sp>
      <p:sp>
        <p:nvSpPr>
          <p:cNvPr id="23" name="TextBox 22"/>
          <p:cNvSpPr txBox="1"/>
          <p:nvPr/>
        </p:nvSpPr>
        <p:spPr>
          <a:xfrm>
            <a:off x="4831080" y="333756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HACE</a:t>
            </a:r>
          </a:p>
          <a:p>
            <a:pPr algn="l">
              <a:spcAft>
                <a:spcPts val="0"/>
              </a:spcAft>
            </a:pPr>
            <a:r>
              <a:rPr sz="950" b="0" i="0">
                <a:solidFill>
                  <a:srgbClr val="FFFFFF"/>
                </a:solidFill>
                <a:effectLst>
                  <a:glow rad="63500">
                    <a:srgbClr val="001633">
                      <a:alpha val="85000"/>
                    </a:srgbClr>
                  </a:glow>
                </a:effectLst>
                <a:latin typeface="Montserrat"/>
              </a:rPr>
              <a:t>leyes físicas conocidas: flujo en medios porosos y balances de masa y energía</a:t>
            </a:r>
          </a:p>
        </p:txBody>
      </p:sp>
      <p:sp>
        <p:nvSpPr>
          <p:cNvPr id="24" name="TextBox 23"/>
          <p:cNvSpPr txBox="1"/>
          <p:nvPr/>
        </p:nvSpPr>
        <p:spPr>
          <a:xfrm>
            <a:off x="4831080" y="384048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NECESITA</a:t>
            </a:r>
          </a:p>
          <a:p>
            <a:pPr algn="l">
              <a:spcAft>
                <a:spcPts val="0"/>
              </a:spcAft>
            </a:pPr>
            <a:r>
              <a:rPr sz="950" b="0" i="0">
                <a:solidFill>
                  <a:srgbClr val="FFFFFF"/>
                </a:solidFill>
                <a:effectLst>
                  <a:glow rad="63500">
                    <a:srgbClr val="001633">
                      <a:alpha val="85000"/>
                    </a:srgbClr>
                  </a:glow>
                </a:effectLst>
                <a:latin typeface="Montserrat"/>
              </a:rPr>
              <a:t>la ficha del fabricante y unas pocas señales</a:t>
            </a:r>
          </a:p>
        </p:txBody>
      </p:sp>
      <p:sp>
        <p:nvSpPr>
          <p:cNvPr id="25" name="TextBox 24"/>
          <p:cNvSpPr txBox="1"/>
          <p:nvPr/>
        </p:nvSpPr>
        <p:spPr>
          <a:xfrm>
            <a:off x="4831080" y="434340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VELOCIDAD</a:t>
            </a:r>
          </a:p>
          <a:p>
            <a:pPr algn="l">
              <a:spcAft>
                <a:spcPts val="0"/>
              </a:spcAft>
            </a:pPr>
            <a:r>
              <a:rPr sz="950" b="0" i="0">
                <a:solidFill>
                  <a:srgbClr val="FFFFFF"/>
                </a:solidFill>
                <a:effectLst>
                  <a:glow rad="63500">
                    <a:srgbClr val="001633">
                      <a:alpha val="85000"/>
                    </a:srgbClr>
                  </a:glow>
                </a:effectLst>
                <a:latin typeface="Montserrat"/>
              </a:rPr>
              <a:t>una hora de filtro en segundos</a:t>
            </a:r>
          </a:p>
        </p:txBody>
      </p:sp>
      <p:cxnSp>
        <p:nvCxnSpPr>
          <p:cNvPr id="26" name="Connector 25"/>
          <p:cNvCxnSpPr/>
          <p:nvPr/>
        </p:nvCxnSpPr>
        <p:spPr>
          <a:xfrm>
            <a:off x="4831080" y="4892040"/>
            <a:ext cx="2855976" cy="0"/>
          </a:xfrm>
          <a:prstGeom prst="line">
            <a:avLst/>
          </a:prstGeom>
          <a:ln w="12700">
            <a:solidFill>
              <a:srgbClr val="FFAB40"/>
            </a:solidFill>
          </a:ln>
        </p:spPr>
        <p:style>
          <a:lnRef idx="2">
            <a:schemeClr val="accent1"/>
          </a:lnRef>
          <a:fillRef idx="0">
            <a:schemeClr val="accent1"/>
          </a:fillRef>
          <a:effectRef idx="1">
            <a:schemeClr val="accent1"/>
          </a:effectRef>
          <a:fontRef idx="minor">
            <a:schemeClr val="tx1"/>
          </a:fontRef>
        </p:style>
      </p:cxnSp>
      <p:pic>
        <p:nvPicPr>
          <p:cNvPr id="27" name="Ícono circle-check" descr="circle-check-orange.png"/>
          <p:cNvPicPr>
            <a:picLocks noChangeAspect="1"/>
          </p:cNvPicPr>
          <p:nvPr/>
        </p:nvPicPr>
        <p:blipFill>
          <a:blip r:embed="rId6"/>
          <a:stretch>
            <a:fillRect/>
          </a:stretch>
        </p:blipFill>
        <p:spPr>
          <a:xfrm>
            <a:off x="4831080" y="5001768"/>
            <a:ext cx="256032" cy="256032"/>
          </a:xfrm>
          <a:prstGeom prst="rect">
            <a:avLst/>
          </a:prstGeom>
        </p:spPr>
      </p:pic>
      <p:sp>
        <p:nvSpPr>
          <p:cNvPr id="28" name="TextBox 27"/>
          <p:cNvSpPr txBox="1"/>
          <p:nvPr/>
        </p:nvSpPr>
        <p:spPr>
          <a:xfrm>
            <a:off x="5169408" y="4946904"/>
            <a:ext cx="2545080" cy="68580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Elegido: extrapola a presiones y velocidades nuevas y se sintoniza en línea.</a:t>
            </a:r>
          </a:p>
        </p:txBody>
      </p:sp>
      <p:sp>
        <p:nvSpPr>
          <p:cNvPr id="29" name="Opción CFD o DEM"/>
          <p:cNvSpPr/>
          <p:nvPr/>
        </p:nvSpPr>
        <p:spPr>
          <a:xfrm>
            <a:off x="8080248" y="2514600"/>
            <a:ext cx="3185160" cy="3154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orde CFD o DEM"/>
          <p:cNvSpPr/>
          <p:nvPr/>
        </p:nvSpPr>
        <p:spPr>
          <a:xfrm>
            <a:off x="8080248" y="2514600"/>
            <a:ext cx="318516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CFD o DEM"/>
          <p:cNvSpPr/>
          <p:nvPr/>
        </p:nvSpPr>
        <p:spPr>
          <a:xfrm>
            <a:off x="8244840" y="269748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Ícono boxes" descr="boxes-orange.png"/>
          <p:cNvPicPr>
            <a:picLocks noChangeAspect="1"/>
          </p:cNvPicPr>
          <p:nvPr/>
        </p:nvPicPr>
        <p:blipFill>
          <a:blip r:embed="rId7"/>
          <a:stretch>
            <a:fillRect/>
          </a:stretch>
        </p:blipFill>
        <p:spPr>
          <a:xfrm>
            <a:off x="8355482" y="2808122"/>
            <a:ext cx="281635" cy="281635"/>
          </a:xfrm>
          <a:prstGeom prst="rect">
            <a:avLst/>
          </a:prstGeom>
        </p:spPr>
      </p:pic>
      <p:sp>
        <p:nvSpPr>
          <p:cNvPr id="33" name="TextBox 32"/>
          <p:cNvSpPr txBox="1"/>
          <p:nvPr/>
        </p:nvSpPr>
        <p:spPr>
          <a:xfrm>
            <a:off x="8884920" y="2697480"/>
            <a:ext cx="2270760" cy="502920"/>
          </a:xfrm>
          <a:prstGeom prst="rect">
            <a:avLst/>
          </a:prstGeom>
          <a:noFill/>
        </p:spPr>
        <p:txBody>
          <a:bodyPr wrap="square" lIns="0" tIns="0" rIns="0" bIns="0" anchor="ctr">
            <a:spAutoFit/>
          </a:bodyPr>
          <a:lstStyle/>
          <a:p>
            <a:pPr algn="l">
              <a:spcAft>
                <a:spcPts val="600"/>
              </a:spcAft>
            </a:pPr>
            <a:r>
              <a:rPr sz="1400" b="1" i="0">
                <a:solidFill>
                  <a:srgbClr val="FFFFFF"/>
                </a:solidFill>
                <a:effectLst>
                  <a:glow rad="63500">
                    <a:srgbClr val="001633">
                      <a:alpha val="85000"/>
                    </a:srgbClr>
                  </a:glow>
                </a:effectLst>
                <a:latin typeface="Montserrat"/>
              </a:rPr>
              <a:t>CFD o DEM</a:t>
            </a:r>
          </a:p>
        </p:txBody>
      </p:sp>
      <p:sp>
        <p:nvSpPr>
          <p:cNvPr id="34" name="TextBox 33"/>
          <p:cNvSpPr txBox="1"/>
          <p:nvPr/>
        </p:nvSpPr>
        <p:spPr>
          <a:xfrm>
            <a:off x="8244840" y="333756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HACE</a:t>
            </a:r>
          </a:p>
          <a:p>
            <a:pPr algn="l">
              <a:spcAft>
                <a:spcPts val="0"/>
              </a:spcAft>
            </a:pPr>
            <a:r>
              <a:rPr sz="950" b="0" i="0">
                <a:solidFill>
                  <a:srgbClr val="A9B8C9"/>
                </a:solidFill>
                <a:effectLst>
                  <a:glow rad="63500">
                    <a:srgbClr val="001633">
                      <a:alpha val="85000"/>
                    </a:srgbClr>
                  </a:glow>
                </a:effectLst>
                <a:latin typeface="Montserrat"/>
              </a:rPr>
              <a:t>resuelve el flujo en cada poro o cada partícula</a:t>
            </a:r>
          </a:p>
        </p:txBody>
      </p:sp>
      <p:sp>
        <p:nvSpPr>
          <p:cNvPr id="35" name="TextBox 34"/>
          <p:cNvSpPr txBox="1"/>
          <p:nvPr/>
        </p:nvSpPr>
        <p:spPr>
          <a:xfrm>
            <a:off x="8244840" y="384048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QUÉ NECESITA</a:t>
            </a:r>
          </a:p>
          <a:p>
            <a:pPr algn="l">
              <a:spcAft>
                <a:spcPts val="0"/>
              </a:spcAft>
            </a:pPr>
            <a:r>
              <a:rPr sz="950" b="0" i="0">
                <a:solidFill>
                  <a:srgbClr val="A9B8C9"/>
                </a:solidFill>
                <a:effectLst>
                  <a:glow rad="63500">
                    <a:srgbClr val="001633">
                      <a:alpha val="85000"/>
                    </a:srgbClr>
                  </a:glow>
                </a:effectLst>
                <a:latin typeface="Montserrat"/>
              </a:rPr>
              <a:t>geometría detallada y propiedades del queque</a:t>
            </a:r>
          </a:p>
        </p:txBody>
      </p:sp>
      <p:sp>
        <p:nvSpPr>
          <p:cNvPr id="36" name="TextBox 35"/>
          <p:cNvSpPr txBox="1"/>
          <p:nvPr/>
        </p:nvSpPr>
        <p:spPr>
          <a:xfrm>
            <a:off x="8244840" y="4343400"/>
            <a:ext cx="2855976" cy="502920"/>
          </a:xfrm>
          <a:prstGeom prst="rect">
            <a:avLst/>
          </a:prstGeom>
          <a:noFill/>
        </p:spPr>
        <p:txBody>
          <a:bodyPr wrap="square" lIns="0" tIns="0" rIns="0" bIns="0" anchor="t">
            <a:spAutoFit/>
          </a:bodyPr>
          <a:lstStyle/>
          <a:p>
            <a:pPr algn="l">
              <a:spcAft>
                <a:spcPts val="0"/>
              </a:spcAft>
            </a:pPr>
            <a:r>
              <a:rPr sz="750" b="1" i="0">
                <a:solidFill>
                  <a:srgbClr val="A9B8C9"/>
                </a:solidFill>
                <a:effectLst>
                  <a:glow rad="63500">
                    <a:srgbClr val="001633">
                      <a:alpha val="85000"/>
                    </a:srgbClr>
                  </a:glow>
                </a:effectLst>
                <a:latin typeface="Montserrat"/>
              </a:rPr>
              <a:t>VELOCIDAD</a:t>
            </a:r>
          </a:p>
          <a:p>
            <a:pPr algn="l">
              <a:spcAft>
                <a:spcPts val="0"/>
              </a:spcAft>
            </a:pPr>
            <a:r>
              <a:rPr sz="950" b="0" i="0">
                <a:solidFill>
                  <a:srgbClr val="A9B8C9"/>
                </a:solidFill>
                <a:effectLst>
                  <a:glow rad="63500">
                    <a:srgbClr val="001633">
                      <a:alpha val="85000"/>
                    </a:srgbClr>
                  </a:glow>
                </a:effectLst>
                <a:latin typeface="Montserrat"/>
              </a:rPr>
              <a:t>horas de cálculo por minuto simulado</a:t>
            </a:r>
          </a:p>
        </p:txBody>
      </p:sp>
      <p:cxnSp>
        <p:nvCxnSpPr>
          <p:cNvPr id="37" name="Connector 36"/>
          <p:cNvCxnSpPr/>
          <p:nvPr/>
        </p:nvCxnSpPr>
        <p:spPr>
          <a:xfrm>
            <a:off x="8244840" y="4892040"/>
            <a:ext cx="2855976"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pic>
        <p:nvPicPr>
          <p:cNvPr id="38" name="Ícono circle-x" descr="circle-x-muted.png"/>
          <p:cNvPicPr>
            <a:picLocks noChangeAspect="1"/>
          </p:cNvPicPr>
          <p:nvPr/>
        </p:nvPicPr>
        <p:blipFill>
          <a:blip r:embed="rId4"/>
          <a:stretch>
            <a:fillRect/>
          </a:stretch>
        </p:blipFill>
        <p:spPr>
          <a:xfrm>
            <a:off x="8244840" y="5001768"/>
            <a:ext cx="256032" cy="256032"/>
          </a:xfrm>
          <a:prstGeom prst="rect">
            <a:avLst/>
          </a:prstGeom>
        </p:spPr>
      </p:pic>
      <p:sp>
        <p:nvSpPr>
          <p:cNvPr id="39" name="TextBox 38"/>
          <p:cNvSpPr txBox="1"/>
          <p:nvPr/>
        </p:nvSpPr>
        <p:spPr>
          <a:xfrm>
            <a:off x="8583168" y="4946904"/>
            <a:ext cx="2545080" cy="68580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Costoso y no corre en línea: sirve para diseñar el equipo, no para operarlo.</a:t>
            </a:r>
          </a:p>
        </p:txBody>
      </p:sp>
      <p:sp>
        <p:nvSpPr>
          <p:cNvPr id="4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 150 clientes: ANDRITZ [26] · modelo: Modelo Dewatering v1.0 (elaboración propia, OpenModelica 1.27) · la fidelidad la fija la decisión (capítulo III)</a:t>
            </a:r>
          </a:p>
        </p:txBody>
      </p:sp>
      <p:sp>
        <p:nvSpPr>
          <p:cNvPr id="4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5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V actual"/>
          <p:cNvSpPr/>
          <p:nvPr/>
        </p:nvSpPr>
        <p:spPr>
          <a:xfrm>
            <a:off x="6876288" y="6510528"/>
            <a:ext cx="5283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8/27 </a:t>
            </a:r>
            <a:r>
              <a:rPr sz="1000" b="0" i="0">
                <a:solidFill>
                  <a:srgbClr val="A9B8C9"/>
                </a:solidFill>
                <a:effectLst>
                  <a:glow rad="63500">
                    <a:srgbClr val="001633">
                      <a:alpha val="85000"/>
                    </a:srgbClr>
                  </a:glow>
                </a:effectLst>
                <a:latin typeface="Montserrat"/>
              </a:rPr>
              <a:t>· Gemelos Digitales para Minería 4.0 · 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base física: la ley de Darcy dice cuánto líquido atraviesa el queque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MODELO · LA BASE FÍSICA</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filtrado es un líquido empujado a través de un medio poroso. Darcy lo midió en 1856 con filtros de arena: el caudal crece con la diferencia de presión y cae con la resistencia del medio.</a:t>
            </a:r>
          </a:p>
        </p:txBody>
      </p:sp>
      <p:sp>
        <p:nvSpPr>
          <p:cNvPr id="7" name="Capa Pulpa"/>
          <p:cNvSpPr/>
          <p:nvPr/>
        </p:nvSpPr>
        <p:spPr>
          <a:xfrm>
            <a:off x="2075688" y="2606040"/>
            <a:ext cx="3931920" cy="685800"/>
          </a:xfrm>
          <a:prstGeom prst="rect">
            <a:avLst/>
          </a:prstGeom>
          <a:solidFill>
            <a:srgbClr val="5C453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212848" y="2606040"/>
            <a:ext cx="3657600" cy="68580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Pulpa  </a:t>
            </a:r>
            <a:r>
              <a:rPr sz="850" b="0" i="0">
                <a:solidFill>
                  <a:srgbClr val="A9B8C9"/>
                </a:solidFill>
                <a:effectLst>
                  <a:glow rad="63500">
                    <a:srgbClr val="001633">
                      <a:alpha val="85000"/>
                    </a:srgbClr>
                  </a:glow>
                </a:effectLst>
                <a:latin typeface="Montserrat"/>
              </a:rPr>
              <a:t>sólidos + agua · a presión p</a:t>
            </a:r>
          </a:p>
        </p:txBody>
      </p:sp>
      <p:sp>
        <p:nvSpPr>
          <p:cNvPr id="9" name="Capa Queque"/>
          <p:cNvSpPr/>
          <p:nvPr/>
        </p:nvSpPr>
        <p:spPr>
          <a:xfrm>
            <a:off x="2075688" y="3291840"/>
            <a:ext cx="3931920" cy="777240"/>
          </a:xfrm>
          <a:prstGeom prst="rect">
            <a:avLst/>
          </a:prstGeom>
          <a:solidFill>
            <a:srgbClr val="8A6A4E"/>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212848" y="3291840"/>
            <a:ext cx="3657600" cy="77724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Queque  </a:t>
            </a:r>
            <a:r>
              <a:rPr sz="850" b="0" i="0">
                <a:solidFill>
                  <a:srgbClr val="A9B8C9"/>
                </a:solidFill>
                <a:effectLst>
                  <a:glow rad="63500">
                    <a:srgbClr val="001633">
                      <a:alpha val="85000"/>
                    </a:srgbClr>
                  </a:glow>
                </a:effectLst>
                <a:latin typeface="Montserrat"/>
              </a:rPr>
              <a:t>crece con el tiempo · espesor L</a:t>
            </a:r>
          </a:p>
        </p:txBody>
      </p:sp>
      <p:sp>
        <p:nvSpPr>
          <p:cNvPr id="11" name="Capa Tela"/>
          <p:cNvSpPr/>
          <p:nvPr/>
        </p:nvSpPr>
        <p:spPr>
          <a:xfrm>
            <a:off x="2075688" y="4069080"/>
            <a:ext cx="3931920" cy="292608"/>
          </a:xfrm>
          <a:prstGeom prst="rect">
            <a:avLst/>
          </a:prstGeom>
          <a:solidFill>
            <a:srgbClr val="12335E"/>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12848" y="4069080"/>
            <a:ext cx="3657600" cy="292608"/>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Tela  </a:t>
            </a:r>
            <a:r>
              <a:rPr sz="850" b="0" i="0">
                <a:solidFill>
                  <a:srgbClr val="A9B8C9"/>
                </a:solidFill>
                <a:effectLst>
                  <a:glow rad="63500">
                    <a:srgbClr val="001633">
                      <a:alpha val="85000"/>
                    </a:srgbClr>
                  </a:glow>
                </a:effectLst>
                <a:latin typeface="Montserrat"/>
              </a:rPr>
              <a:t>resistencia fija</a:t>
            </a:r>
          </a:p>
        </p:txBody>
      </p:sp>
      <p:sp>
        <p:nvSpPr>
          <p:cNvPr id="13" name="Capa Filtrado"/>
          <p:cNvSpPr/>
          <p:nvPr/>
        </p:nvSpPr>
        <p:spPr>
          <a:xfrm>
            <a:off x="2075688" y="4361688"/>
            <a:ext cx="3931920" cy="54864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212848" y="4361688"/>
            <a:ext cx="3657600" cy="54864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Filtrado  </a:t>
            </a:r>
            <a:r>
              <a:rPr sz="850" b="0" i="0">
                <a:solidFill>
                  <a:srgbClr val="A9B8C9"/>
                </a:solidFill>
                <a:effectLst>
                  <a:glow rad="63500">
                    <a:srgbClr val="001633">
                      <a:alpha val="85000"/>
                    </a:srgbClr>
                  </a:glow>
                </a:effectLst>
                <a:latin typeface="Montserrat"/>
              </a:rPr>
              <a:t>agua · a la atmósfera</a:t>
            </a:r>
          </a:p>
        </p:txBody>
      </p:sp>
      <p:cxnSp>
        <p:nvCxnSpPr>
          <p:cNvPr id="15" name="Connector 14"/>
          <p:cNvCxnSpPr/>
          <p:nvPr/>
        </p:nvCxnSpPr>
        <p:spPr>
          <a:xfrm>
            <a:off x="1664208" y="2697480"/>
            <a:ext cx="0" cy="2121408"/>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52728" y="3520440"/>
            <a:ext cx="384048" cy="548640"/>
          </a:xfrm>
          <a:prstGeom prst="rect">
            <a:avLst/>
          </a:prstGeom>
          <a:noFill/>
        </p:spPr>
        <p:txBody>
          <a:bodyPr wrap="square" lIns="0" tIns="0" rIns="0" bIns="0" anchor="t">
            <a:spAutoFit/>
          </a:bodyPr>
          <a:lstStyle/>
          <a:p>
            <a:pPr algn="ctr">
              <a:spcAft>
                <a:spcPts val="600"/>
              </a:spcAft>
            </a:pPr>
            <a:r>
              <a:rPr sz="1100" b="1" i="0">
                <a:solidFill>
                  <a:srgbClr val="FFAB40"/>
                </a:solidFill>
                <a:effectLst>
                  <a:glow rad="63500">
                    <a:srgbClr val="001633">
                      <a:alpha val="85000"/>
                    </a:srgbClr>
                  </a:glow>
                </a:effectLst>
                <a:latin typeface="Montserrat"/>
              </a:rPr>
              <a:t>Δp</a:t>
            </a:r>
          </a:p>
        </p:txBody>
      </p:sp>
      <p:cxnSp>
        <p:nvCxnSpPr>
          <p:cNvPr id="17" name="Connector 16"/>
          <p:cNvCxnSpPr/>
          <p:nvPr/>
        </p:nvCxnSpPr>
        <p:spPr>
          <a:xfrm>
            <a:off x="4681728" y="3017520"/>
            <a:ext cx="0" cy="1783080"/>
          </a:xfrm>
          <a:prstGeom prst="line">
            <a:avLst/>
          </a:prstGeom>
          <a:ln w="1270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047488" y="3017520"/>
            <a:ext cx="0" cy="1783080"/>
          </a:xfrm>
          <a:prstGeom prst="line">
            <a:avLst/>
          </a:prstGeom>
          <a:ln w="1270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413248" y="3017520"/>
            <a:ext cx="0" cy="1783080"/>
          </a:xfrm>
          <a:prstGeom prst="line">
            <a:avLst/>
          </a:prstGeom>
          <a:ln w="1270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79008" y="3017520"/>
            <a:ext cx="0" cy="1783080"/>
          </a:xfrm>
          <a:prstGeom prst="line">
            <a:avLst/>
          </a:prstGeom>
          <a:ln w="1270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075688" y="4956048"/>
            <a:ext cx="3931920" cy="228600"/>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 líquido atraviesa el queque y la tela; los sólidos se quedan</a:t>
            </a:r>
          </a:p>
        </p:txBody>
      </p:sp>
      <p:sp>
        <p:nvSpPr>
          <p:cNvPr id="22" name="Ecuación Darcy"/>
          <p:cNvSpPr/>
          <p:nvPr/>
        </p:nvSpPr>
        <p:spPr>
          <a:xfrm>
            <a:off x="6373368" y="2606040"/>
            <a:ext cx="4892040" cy="8686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373368" y="2651760"/>
            <a:ext cx="4892040" cy="457200"/>
          </a:xfrm>
          <a:prstGeom prst="rect">
            <a:avLst/>
          </a:prstGeom>
          <a:noFill/>
        </p:spPr>
        <p:txBody>
          <a:bodyPr wrap="square" lIns="0" tIns="0" rIns="0" bIns="0" anchor="ctr">
            <a:spAutoFit/>
          </a:bodyPr>
          <a:lstStyle/>
          <a:p>
            <a:pPr algn="ctr">
              <a:spcAft>
                <a:spcPts val="600"/>
              </a:spcAft>
            </a:pPr>
            <a:r>
              <a:rPr sz="1300" b="1" i="0">
                <a:solidFill>
                  <a:srgbClr val="FFFFFF"/>
                </a:solidFill>
                <a:effectLst>
                  <a:glow rad="63500">
                    <a:srgbClr val="001633">
                      <a:alpha val="85000"/>
                    </a:srgbClr>
                  </a:glow>
                </a:effectLst>
                <a:latin typeface="Montserrat"/>
              </a:rPr>
              <a:t>caudal  =  Δp  /  ( μ · ( R_queque + R_tela ) )</a:t>
            </a:r>
          </a:p>
        </p:txBody>
      </p:sp>
      <p:sp>
        <p:nvSpPr>
          <p:cNvPr id="24" name="TextBox 23"/>
          <p:cNvSpPr txBox="1"/>
          <p:nvPr/>
        </p:nvSpPr>
        <p:spPr>
          <a:xfrm>
            <a:off x="6373368" y="3090672"/>
            <a:ext cx="4892040" cy="320040"/>
          </a:xfrm>
          <a:prstGeom prst="rect">
            <a:avLst/>
          </a:prstGeom>
          <a:noFill/>
        </p:spPr>
        <p:txBody>
          <a:bodyPr wrap="square" lIns="0" tIns="0" rIns="0" bIns="0" anchor="t">
            <a:spAutoFit/>
          </a:bodyPr>
          <a:lstStyle/>
          <a:p>
            <a:pPr algn="ctr">
              <a:spcAft>
                <a:spcPts val="600"/>
              </a:spcAft>
            </a:pPr>
            <a:r>
              <a:rPr sz="900" b="0" i="0">
                <a:solidFill>
                  <a:srgbClr val="A9B8C9"/>
                </a:solidFill>
                <a:effectLst>
                  <a:glow rad="63500">
                    <a:srgbClr val="001633">
                      <a:alpha val="85000"/>
                    </a:srgbClr>
                  </a:glow>
                </a:effectLst>
                <a:latin typeface="Montserrat"/>
              </a:rPr>
              <a:t>empuje dividido por viscosidad × resistencia, como la ley de Ohm</a:t>
            </a:r>
          </a:p>
        </p:txBody>
      </p:sp>
      <p:sp>
        <p:nvSpPr>
          <p:cNvPr id="25" name="Lectura 1"/>
          <p:cNvSpPr/>
          <p:nvPr/>
        </p:nvSpPr>
        <p:spPr>
          <a:xfrm>
            <a:off x="6373368" y="3657600"/>
            <a:ext cx="489204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10528" y="3657600"/>
            <a:ext cx="320040" cy="585216"/>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1</a:t>
            </a:r>
          </a:p>
        </p:txBody>
      </p:sp>
      <p:sp>
        <p:nvSpPr>
          <p:cNvPr id="27" name="TextBox 26"/>
          <p:cNvSpPr txBox="1"/>
          <p:nvPr/>
        </p:nvSpPr>
        <p:spPr>
          <a:xfrm>
            <a:off x="6830568" y="3657600"/>
            <a:ext cx="4343400" cy="585216"/>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Más presión, más caudal: </a:t>
            </a:r>
            <a:r>
              <a:rPr sz="950" b="0" i="0">
                <a:solidFill>
                  <a:srgbClr val="A9B8C9"/>
                </a:solidFill>
                <a:effectLst>
                  <a:glow rad="63500">
                    <a:srgbClr val="001633">
                      <a:alpha val="85000"/>
                    </a:srgbClr>
                  </a:glow>
                </a:effectLst>
                <a:latin typeface="Montserrat"/>
              </a:rPr>
              <a:t>por eso el hiperbárico filtra más que el de vacío.</a:t>
            </a:r>
          </a:p>
        </p:txBody>
      </p:sp>
      <p:sp>
        <p:nvSpPr>
          <p:cNvPr id="28" name="Lectura 2"/>
          <p:cNvSpPr/>
          <p:nvPr/>
        </p:nvSpPr>
        <p:spPr>
          <a:xfrm>
            <a:off x="6373368" y="4315968"/>
            <a:ext cx="489204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510528" y="4315968"/>
            <a:ext cx="320040" cy="585216"/>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2</a:t>
            </a:r>
          </a:p>
        </p:txBody>
      </p:sp>
      <p:sp>
        <p:nvSpPr>
          <p:cNvPr id="30" name="TextBox 29"/>
          <p:cNvSpPr txBox="1"/>
          <p:nvPr/>
        </p:nvSpPr>
        <p:spPr>
          <a:xfrm>
            <a:off x="6830568" y="4315968"/>
            <a:ext cx="4343400" cy="585216"/>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El queque es su propia resistencia: </a:t>
            </a:r>
            <a:r>
              <a:rPr sz="950" b="0" i="0">
                <a:solidFill>
                  <a:srgbClr val="A9B8C9"/>
                </a:solidFill>
                <a:effectLst>
                  <a:glow rad="63500">
                    <a:srgbClr val="001633">
                      <a:alpha val="85000"/>
                    </a:srgbClr>
                  </a:glow>
                </a:effectLst>
                <a:latin typeface="Montserrat"/>
              </a:rPr>
              <a:t>mientras crece, frena el filtrado; su espesor crece como √(Δp · t).</a:t>
            </a:r>
          </a:p>
        </p:txBody>
      </p:sp>
      <p:sp>
        <p:nvSpPr>
          <p:cNvPr id="31" name="Lectura 3"/>
          <p:cNvSpPr/>
          <p:nvPr/>
        </p:nvSpPr>
        <p:spPr>
          <a:xfrm>
            <a:off x="6373368" y="4974336"/>
            <a:ext cx="489204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10528" y="4974336"/>
            <a:ext cx="320040" cy="585216"/>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3</a:t>
            </a:r>
          </a:p>
        </p:txBody>
      </p:sp>
      <p:sp>
        <p:nvSpPr>
          <p:cNvPr id="33" name="TextBox 32"/>
          <p:cNvSpPr txBox="1"/>
          <p:nvPr/>
        </p:nvSpPr>
        <p:spPr>
          <a:xfrm>
            <a:off x="6830568" y="4974336"/>
            <a:ext cx="4343400" cy="585216"/>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La tela suma resistencia: </a:t>
            </a:r>
            <a:r>
              <a:rPr sz="950" b="0" i="0">
                <a:solidFill>
                  <a:srgbClr val="A9B8C9"/>
                </a:solidFill>
                <a:effectLst>
                  <a:glow rad="63500">
                    <a:srgbClr val="001633">
                      <a:alpha val="85000"/>
                    </a:srgbClr>
                  </a:glow>
                </a:effectLst>
                <a:latin typeface="Montserrat"/>
              </a:rPr>
              <a:t>si se tapa, cae el caudal aunque todo lo demás siga igual.</a:t>
            </a:r>
          </a:p>
        </p:txBody>
      </p:sp>
      <p:sp>
        <p:nvSpPr>
          <p:cNvPr id="34"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Ley de Darcy (1856) y su forma para filtración a presión constante (ecuación de Ruth) · esquema ilustrativo, no a escala</a:t>
            </a:r>
          </a:p>
        </p:txBody>
      </p:sp>
      <p:sp>
        <p:nvSpPr>
          <p:cNvPr id="3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2"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V actual"/>
          <p:cNvSpPr/>
          <p:nvPr/>
        </p:nvSpPr>
        <p:spPr>
          <a:xfrm>
            <a:off x="6876288" y="6510528"/>
            <a:ext cx="5943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9/27 </a:t>
            </a:r>
            <a:r>
              <a:rPr sz="1000" b="0" i="0">
                <a:solidFill>
                  <a:srgbClr val="A9B8C9"/>
                </a:solidFill>
                <a:effectLst>
                  <a:glow rad="63500">
                    <a:srgbClr val="001633">
                      <a:alpha val="85000"/>
                    </a:srgbClr>
                  </a:glow>
                </a:effectLst>
                <a:latin typeface="Montserrat"/>
              </a:rPr>
              <a:t>· Gemelos Digitales para Minería 4.0 · 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Del equipo al modelo: seis elementos guardan lo que cambia el resultado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MODELO · LOS ELEMENTOS</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Se modela solo lo que guarda un estado capaz de mover la capacidad, la humedad o la energía. El resto del equipo es estructura, o entra al modelo como un dato.</a:t>
            </a:r>
          </a:p>
        </p:txBody>
      </p:sp>
      <p:pic>
        <p:nvPicPr>
          <p:cNvPr id="7" name="Filtro en corte" descr="hbf3d-hbf-corte.png"/>
          <p:cNvPicPr>
            <a:picLocks noChangeAspect="1"/>
          </p:cNvPicPr>
          <p:nvPr/>
        </p:nvPicPr>
        <p:blipFill>
          <a:blip r:embed="rId3"/>
          <a:srcRect l="5" r="5"/>
          <a:stretch>
            <a:fillRect/>
          </a:stretch>
        </p:blipFill>
        <p:spPr>
          <a:xfrm>
            <a:off x="1252728" y="2423160"/>
            <a:ext cx="5989320" cy="2921619"/>
          </a:xfrm>
          <a:prstGeom prst="rect">
            <a:avLst/>
          </a:prstGeom>
        </p:spPr>
      </p:pic>
      <p:cxnSp>
        <p:nvCxnSpPr>
          <p:cNvPr id="8" name="Esquina"/>
          <p:cNvCxnSpPr/>
          <p:nvPr/>
        </p:nvCxnSpPr>
        <p:spPr>
          <a:xfrm>
            <a:off x="1197864" y="236829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9" name="Esquina"/>
          <p:cNvCxnSpPr/>
          <p:nvPr/>
        </p:nvCxnSpPr>
        <p:spPr>
          <a:xfrm>
            <a:off x="1197864" y="236829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0" name="Esquina"/>
          <p:cNvCxnSpPr/>
          <p:nvPr/>
        </p:nvCxnSpPr>
        <p:spPr>
          <a:xfrm flipH="1">
            <a:off x="7095744" y="236829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1" name="Esquina"/>
          <p:cNvCxnSpPr/>
          <p:nvPr/>
        </p:nvCxnSpPr>
        <p:spPr>
          <a:xfrm>
            <a:off x="7296912" y="236829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2" name="Esquina"/>
          <p:cNvCxnSpPr/>
          <p:nvPr/>
        </p:nvCxnSpPr>
        <p:spPr>
          <a:xfrm>
            <a:off x="1197864" y="539964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3" name="Esquina"/>
          <p:cNvCxnSpPr/>
          <p:nvPr/>
        </p:nvCxnSpPr>
        <p:spPr>
          <a:xfrm flipV="1">
            <a:off x="1197864" y="519847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4" name="Esquina"/>
          <p:cNvCxnSpPr/>
          <p:nvPr/>
        </p:nvCxnSpPr>
        <p:spPr>
          <a:xfrm flipH="1">
            <a:off x="7095744" y="539964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5" name="Esquina"/>
          <p:cNvCxnSpPr/>
          <p:nvPr/>
        </p:nvCxnSpPr>
        <p:spPr>
          <a:xfrm flipV="1">
            <a:off x="7296912" y="519847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16" name="Crédito imagen"/>
          <p:cNvSpPr txBox="1"/>
          <p:nvPr/>
        </p:nvSpPr>
        <p:spPr>
          <a:xfrm>
            <a:off x="1252728" y="5417931"/>
            <a:ext cx="598932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Representación 3D propia del curso, vista en corte (ilustrativa: dibuja 8 discos; el HBF‑S 168/12 tiene 12)</a:t>
            </a:r>
          </a:p>
        </p:txBody>
      </p:sp>
      <p:sp>
        <p:nvSpPr>
          <p:cNvPr id="17" name="Marca 1"/>
          <p:cNvSpPr/>
          <p:nvPr/>
        </p:nvSpPr>
        <p:spPr>
          <a:xfrm>
            <a:off x="6380180" y="4810279"/>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380180" y="4810279"/>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1</a:t>
            </a:r>
          </a:p>
        </p:txBody>
      </p:sp>
      <p:sp>
        <p:nvSpPr>
          <p:cNvPr id="19" name="Marca 2"/>
          <p:cNvSpPr/>
          <p:nvPr/>
        </p:nvSpPr>
        <p:spPr>
          <a:xfrm>
            <a:off x="4026377" y="3548139"/>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026377" y="3548139"/>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2</a:t>
            </a:r>
          </a:p>
        </p:txBody>
      </p:sp>
      <p:sp>
        <p:nvSpPr>
          <p:cNvPr id="21" name="Marca 3"/>
          <p:cNvSpPr/>
          <p:nvPr/>
        </p:nvSpPr>
        <p:spPr>
          <a:xfrm>
            <a:off x="3038139" y="3057307"/>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038139" y="3057307"/>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3</a:t>
            </a:r>
          </a:p>
        </p:txBody>
      </p:sp>
      <p:sp>
        <p:nvSpPr>
          <p:cNvPr id="23" name="Marca 4"/>
          <p:cNvSpPr/>
          <p:nvPr/>
        </p:nvSpPr>
        <p:spPr>
          <a:xfrm>
            <a:off x="3786804" y="3910420"/>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786804" y="3910420"/>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4</a:t>
            </a:r>
          </a:p>
        </p:txBody>
      </p:sp>
      <p:sp>
        <p:nvSpPr>
          <p:cNvPr id="25" name="Marca 5"/>
          <p:cNvSpPr/>
          <p:nvPr/>
        </p:nvSpPr>
        <p:spPr>
          <a:xfrm>
            <a:off x="4834935" y="3311488"/>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834935" y="3311488"/>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5</a:t>
            </a:r>
          </a:p>
        </p:txBody>
      </p:sp>
      <p:sp>
        <p:nvSpPr>
          <p:cNvPr id="27" name="Marca 6"/>
          <p:cNvSpPr/>
          <p:nvPr/>
        </p:nvSpPr>
        <p:spPr>
          <a:xfrm>
            <a:off x="1456959" y="3910420"/>
            <a:ext cx="274320" cy="274320"/>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456959" y="3910420"/>
            <a:ext cx="274320" cy="274320"/>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6</a:t>
            </a:r>
          </a:p>
        </p:txBody>
      </p:sp>
      <p:sp>
        <p:nvSpPr>
          <p:cNvPr id="29" name="Marca A"/>
          <p:cNvSpPr/>
          <p:nvPr/>
        </p:nvSpPr>
        <p:spPr>
          <a:xfrm>
            <a:off x="5414802" y="3506724"/>
            <a:ext cx="228600" cy="228600"/>
          </a:xfrm>
          <a:prstGeom prst="ellipse">
            <a:avLst/>
          </a:prstGeom>
          <a:solidFill>
            <a:srgbClr val="A9B8C9"/>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14802" y="3506724"/>
            <a:ext cx="228600" cy="228600"/>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A</a:t>
            </a:r>
          </a:p>
        </p:txBody>
      </p:sp>
      <p:sp>
        <p:nvSpPr>
          <p:cNvPr id="31" name="Marca B"/>
          <p:cNvSpPr/>
          <p:nvPr/>
        </p:nvSpPr>
        <p:spPr>
          <a:xfrm>
            <a:off x="6612666" y="2565962"/>
            <a:ext cx="228600" cy="228600"/>
          </a:xfrm>
          <a:prstGeom prst="ellipse">
            <a:avLst/>
          </a:prstGeom>
          <a:solidFill>
            <a:srgbClr val="A9B8C9"/>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612666" y="2565962"/>
            <a:ext cx="228600" cy="228600"/>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B</a:t>
            </a:r>
          </a:p>
        </p:txBody>
      </p:sp>
      <p:sp>
        <p:nvSpPr>
          <p:cNvPr id="33" name="TextBox 32"/>
          <p:cNvSpPr txBox="1"/>
          <p:nvPr/>
        </p:nvSpPr>
        <p:spPr>
          <a:xfrm>
            <a:off x="7562088" y="2377440"/>
            <a:ext cx="370332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SE MODELA, Y POR QUÉ</a:t>
            </a:r>
          </a:p>
        </p:txBody>
      </p:sp>
      <p:sp>
        <p:nvSpPr>
          <p:cNvPr id="34" name="Marca 1"/>
          <p:cNvSpPr/>
          <p:nvPr/>
        </p:nvSpPr>
        <p:spPr>
          <a:xfrm>
            <a:off x="7562088" y="2724912"/>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562088" y="2724912"/>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1</a:t>
            </a:r>
          </a:p>
        </p:txBody>
      </p:sp>
      <p:sp>
        <p:nvSpPr>
          <p:cNvPr id="36" name="TextBox 35"/>
          <p:cNvSpPr txBox="1"/>
          <p:nvPr/>
        </p:nvSpPr>
        <p:spPr>
          <a:xfrm>
            <a:off x="7927848" y="2670048"/>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Alimentación</a:t>
            </a:r>
          </a:p>
          <a:p>
            <a:pPr algn="l">
              <a:spcAft>
                <a:spcPts val="0"/>
              </a:spcAft>
            </a:pPr>
            <a:r>
              <a:rPr sz="850" b="0" i="0">
                <a:solidFill>
                  <a:srgbClr val="A9B8C9"/>
                </a:solidFill>
                <a:effectLst>
                  <a:glow rad="63500">
                    <a:srgbClr val="001633">
                      <a:alpha val="85000"/>
                    </a:srgbClr>
                  </a:glow>
                </a:effectLst>
                <a:latin typeface="Montserrat"/>
              </a:rPr>
              <a:t>Fija la carga: caudal de pulpa y % de sólidos. Entra como dato.</a:t>
            </a:r>
          </a:p>
        </p:txBody>
      </p:sp>
      <p:sp>
        <p:nvSpPr>
          <p:cNvPr id="37" name="Marca 2"/>
          <p:cNvSpPr/>
          <p:nvPr/>
        </p:nvSpPr>
        <p:spPr>
          <a:xfrm>
            <a:off x="7562088" y="3154680"/>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562088" y="3154680"/>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2</a:t>
            </a:r>
          </a:p>
        </p:txBody>
      </p:sp>
      <p:sp>
        <p:nvSpPr>
          <p:cNvPr id="39" name="TextBox 38"/>
          <p:cNvSpPr txBox="1"/>
          <p:nvPr/>
        </p:nvSpPr>
        <p:spPr>
          <a:xfrm>
            <a:off x="7927848" y="3099816"/>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Batea</a:t>
            </a:r>
          </a:p>
          <a:p>
            <a:pPr algn="l">
              <a:spcAft>
                <a:spcPts val="0"/>
              </a:spcAft>
            </a:pPr>
            <a:r>
              <a:rPr sz="850" b="0" i="0">
                <a:solidFill>
                  <a:srgbClr val="A9B8C9"/>
                </a:solidFill>
                <a:effectLst>
                  <a:glow rad="63500">
                    <a:srgbClr val="001633">
                      <a:alpha val="85000"/>
                    </a:srgbClr>
                  </a:glow>
                </a:effectLst>
                <a:latin typeface="Montserrat"/>
              </a:rPr>
              <a:t>Su nivel decide cuánto del disco va sumergido.</a:t>
            </a:r>
          </a:p>
        </p:txBody>
      </p:sp>
      <p:sp>
        <p:nvSpPr>
          <p:cNvPr id="40" name="Marca 3"/>
          <p:cNvSpPr/>
          <p:nvPr/>
        </p:nvSpPr>
        <p:spPr>
          <a:xfrm>
            <a:off x="7562088" y="3584448"/>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562088" y="3584448"/>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3</a:t>
            </a:r>
          </a:p>
        </p:txBody>
      </p:sp>
      <p:sp>
        <p:nvSpPr>
          <p:cNvPr id="42" name="TextBox 41"/>
          <p:cNvSpPr txBox="1"/>
          <p:nvPr/>
        </p:nvSpPr>
        <p:spPr>
          <a:xfrm>
            <a:off x="7927848" y="3529584"/>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Banco de discos</a:t>
            </a:r>
          </a:p>
          <a:p>
            <a:pPr algn="l">
              <a:spcAft>
                <a:spcPts val="0"/>
              </a:spcAft>
            </a:pPr>
            <a:r>
              <a:rPr sz="850" b="0" i="0">
                <a:solidFill>
                  <a:srgbClr val="A9B8C9"/>
                </a:solidFill>
                <a:effectLst>
                  <a:glow rad="63500">
                    <a:srgbClr val="001633">
                      <a:alpha val="85000"/>
                    </a:srgbClr>
                  </a:glow>
                </a:effectLst>
                <a:latin typeface="Montserrat"/>
              </a:rPr>
              <a:t>Forma y seca el queque: capacidad y humedad.</a:t>
            </a:r>
          </a:p>
        </p:txBody>
      </p:sp>
      <p:sp>
        <p:nvSpPr>
          <p:cNvPr id="43" name="Marca 4"/>
          <p:cNvSpPr/>
          <p:nvPr/>
        </p:nvSpPr>
        <p:spPr>
          <a:xfrm>
            <a:off x="7562088" y="4014216"/>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562088" y="4014216"/>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4</a:t>
            </a:r>
          </a:p>
        </p:txBody>
      </p:sp>
      <p:sp>
        <p:nvSpPr>
          <p:cNvPr id="45" name="TextBox 44"/>
          <p:cNvSpPr txBox="1"/>
          <p:nvPr/>
        </p:nvSpPr>
        <p:spPr>
          <a:xfrm>
            <a:off x="7927848" y="3959352"/>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Esclusa</a:t>
            </a:r>
          </a:p>
          <a:p>
            <a:pPr algn="l">
              <a:spcAft>
                <a:spcPts val="0"/>
              </a:spcAft>
            </a:pPr>
            <a:r>
              <a:rPr sz="850" b="0" i="0">
                <a:solidFill>
                  <a:srgbClr val="A9B8C9"/>
                </a:solidFill>
                <a:effectLst>
                  <a:glow rad="63500">
                    <a:srgbClr val="001633">
                      <a:alpha val="85000"/>
                    </a:srgbClr>
                  </a:glow>
                </a:effectLst>
                <a:latin typeface="Montserrat"/>
              </a:rPr>
              <a:t>Saca el queque sin perder la presión, en ciclos.</a:t>
            </a:r>
          </a:p>
        </p:txBody>
      </p:sp>
      <p:sp>
        <p:nvSpPr>
          <p:cNvPr id="46" name="Marca 5"/>
          <p:cNvSpPr/>
          <p:nvPr/>
        </p:nvSpPr>
        <p:spPr>
          <a:xfrm>
            <a:off x="7562088" y="4443984"/>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562088" y="4443984"/>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5</a:t>
            </a:r>
          </a:p>
        </p:txBody>
      </p:sp>
      <p:sp>
        <p:nvSpPr>
          <p:cNvPr id="48" name="TextBox 47"/>
          <p:cNvSpPr txBox="1"/>
          <p:nvPr/>
        </p:nvSpPr>
        <p:spPr>
          <a:xfrm>
            <a:off x="7927848" y="4389120"/>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Recipiente a presión</a:t>
            </a:r>
          </a:p>
          <a:p>
            <a:pPr algn="l">
              <a:spcAft>
                <a:spcPts val="0"/>
              </a:spcAft>
            </a:pPr>
            <a:r>
              <a:rPr sz="850" b="0" i="0">
                <a:solidFill>
                  <a:srgbClr val="A9B8C9"/>
                </a:solidFill>
                <a:effectLst>
                  <a:glow rad="63500">
                    <a:srgbClr val="001633">
                      <a:alpha val="85000"/>
                    </a:srgbClr>
                  </a:glow>
                </a:effectLst>
                <a:latin typeface="Montserrat"/>
              </a:rPr>
              <a:t>Guarda el aire: su presión es el Δp de Darcy.</a:t>
            </a:r>
          </a:p>
        </p:txBody>
      </p:sp>
      <p:sp>
        <p:nvSpPr>
          <p:cNvPr id="49" name="Marca 6"/>
          <p:cNvSpPr/>
          <p:nvPr/>
        </p:nvSpPr>
        <p:spPr>
          <a:xfrm>
            <a:off x="7562088" y="4873752"/>
            <a:ext cx="256032" cy="256032"/>
          </a:xfrm>
          <a:prstGeom prst="ellipse">
            <a:avLst/>
          </a:prstGeom>
          <a:solidFill>
            <a:srgbClr val="FFAB40"/>
          </a:solidFill>
          <a:ln w="1905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562088" y="4873752"/>
            <a:ext cx="256032" cy="256032"/>
          </a:xfrm>
          <a:prstGeom prst="rect">
            <a:avLst/>
          </a:prstGeom>
          <a:noFill/>
        </p:spPr>
        <p:txBody>
          <a:bodyPr wrap="square" lIns="0" tIns="0" rIns="0" bIns="0" anchor="ctr">
            <a:spAutoFit/>
          </a:bodyPr>
          <a:lstStyle/>
          <a:p>
            <a:pPr algn="ctr">
              <a:spcAft>
                <a:spcPts val="600"/>
              </a:spcAft>
            </a:pPr>
            <a:r>
              <a:rPr sz="1000" b="1" i="0">
                <a:solidFill>
                  <a:srgbClr val="001633"/>
                </a:solidFill>
                <a:latin typeface="Montserrat"/>
              </a:rPr>
              <a:t>6</a:t>
            </a:r>
          </a:p>
        </p:txBody>
      </p:sp>
      <p:sp>
        <p:nvSpPr>
          <p:cNvPr id="51" name="TextBox 50"/>
          <p:cNvSpPr txBox="1"/>
          <p:nvPr/>
        </p:nvSpPr>
        <p:spPr>
          <a:xfrm>
            <a:off x="7927848" y="4818888"/>
            <a:ext cx="3337560" cy="411480"/>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Compresor y control</a:t>
            </a:r>
          </a:p>
          <a:p>
            <a:pPr algn="l">
              <a:spcAft>
                <a:spcPts val="0"/>
              </a:spcAft>
            </a:pPr>
            <a:r>
              <a:rPr sz="850" b="0" i="0">
                <a:solidFill>
                  <a:srgbClr val="A9B8C9"/>
                </a:solidFill>
                <a:effectLst>
                  <a:glow rad="63500">
                    <a:srgbClr val="001633">
                      <a:alpha val="85000"/>
                    </a:srgbClr>
                  </a:glow>
                </a:effectLst>
                <a:latin typeface="Montserrat"/>
              </a:rPr>
              <a:t>Repone el aire que se escapa: es el consumo de energía.</a:t>
            </a:r>
          </a:p>
        </p:txBody>
      </p:sp>
      <p:cxnSp>
        <p:nvCxnSpPr>
          <p:cNvPr id="52" name="Connector 51"/>
          <p:cNvCxnSpPr/>
          <p:nvPr/>
        </p:nvCxnSpPr>
        <p:spPr>
          <a:xfrm>
            <a:off x="7562088" y="5303520"/>
            <a:ext cx="3703320"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562088" y="5358384"/>
            <a:ext cx="3703320" cy="502920"/>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QUEDA FUERA  </a:t>
            </a:r>
            <a:r>
              <a:rPr sz="850" b="1" i="0">
                <a:solidFill>
                  <a:srgbClr val="FFFFFF"/>
                </a:solidFill>
                <a:effectLst>
                  <a:glow rad="63500">
                    <a:srgbClr val="001633">
                      <a:alpha val="85000"/>
                    </a:srgbClr>
                  </a:glow>
                </a:effectLst>
                <a:latin typeface="Montserrat"/>
              </a:rPr>
              <a:t>A · accionamiento y B · estructura: </a:t>
            </a:r>
            <a:r>
              <a:rPr sz="850" b="0" i="0">
                <a:solidFill>
                  <a:srgbClr val="A9B8C9"/>
                </a:solidFill>
                <a:effectLst>
                  <a:glow rad="63500">
                    <a:srgbClr val="001633">
                      <a:alpha val="85000"/>
                    </a:srgbClr>
                  </a:glow>
                </a:effectLst>
                <a:latin typeface="Montserrat"/>
              </a:rPr>
              <a:t>no guardan nada que cambie el resultado; la velocidad de giro entra como dato.</a:t>
            </a:r>
          </a:p>
        </p:txBody>
      </p:sp>
      <p:sp>
        <p:nvSpPr>
          <p:cNvPr id="54"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Descomposición del filtro: Modelo Dewatering v1.0 (elaboración propia, OpenModelica 1.27) · imagen: elaboración propia</a:t>
            </a:r>
          </a:p>
        </p:txBody>
      </p:sp>
      <p:sp>
        <p:nvSpPr>
          <p:cNvPr id="5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62"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V actual"/>
          <p:cNvSpPr/>
          <p:nvPr/>
        </p:nvSpPr>
        <p:spPr>
          <a:xfrm>
            <a:off x="6876288" y="6510528"/>
            <a:ext cx="6604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10/27 </a:t>
            </a:r>
            <a:r>
              <a:rPr sz="1000" b="0" i="0">
                <a:solidFill>
                  <a:srgbClr val="A9B8C9"/>
                </a:solidFill>
                <a:effectLst>
                  <a:glow rad="63500">
                    <a:srgbClr val="001633">
                      <a:alpha val="85000"/>
                    </a:srgbClr>
                  </a:glow>
                </a:effectLst>
                <a:latin typeface="Montserrat"/>
              </a:rPr>
              <a:t>· Gemelos Digitales para Minería 4.0 · 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Pulpa y queque: de dónde salen la capacidad y la humedad</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MODELO · PULPA Y QUEQUE</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Tres elementos llevan la pulpa hasta el queque. La batea y los discos son física: un balance de masa y la ley de Darcy. La humedad es la única pieza ajustada con datos.</a:t>
            </a:r>
          </a:p>
        </p:txBody>
      </p:sp>
      <p:sp>
        <p:nvSpPr>
          <p:cNvPr id="7" name="Ley 2 · Batea"/>
          <p:cNvSpPr/>
          <p:nvPr/>
        </p:nvSpPr>
        <p:spPr>
          <a:xfrm>
            <a:off x="125272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Vista 2 · Batea" descr="hbf3d-batea.png"/>
          <p:cNvPicPr>
            <a:picLocks noChangeAspect="1"/>
          </p:cNvPicPr>
          <p:nvPr/>
        </p:nvPicPr>
        <p:blipFill>
          <a:blip r:embed="rId3"/>
          <a:srcRect l="62" r="62"/>
          <a:stretch>
            <a:fillRect/>
          </a:stretch>
        </p:blipFill>
        <p:spPr>
          <a:xfrm>
            <a:off x="1252728" y="2423160"/>
            <a:ext cx="3185160" cy="995362"/>
          </a:xfrm>
          <a:prstGeom prst="rect">
            <a:avLst/>
          </a:prstGeom>
        </p:spPr>
      </p:pic>
      <p:sp>
        <p:nvSpPr>
          <p:cNvPr id="9" name="TextBox 8"/>
          <p:cNvSpPr txBox="1"/>
          <p:nvPr/>
        </p:nvSpPr>
        <p:spPr>
          <a:xfrm>
            <a:off x="141732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2 · Batea</a:t>
            </a:r>
          </a:p>
        </p:txBody>
      </p:sp>
      <p:sp>
        <p:nvSpPr>
          <p:cNvPr id="10" name="TextBox 9"/>
          <p:cNvSpPr txBox="1"/>
          <p:nvPr/>
        </p:nvSpPr>
        <p:spPr>
          <a:xfrm>
            <a:off x="141732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BALANCE DE MASA</a:t>
            </a:r>
          </a:p>
        </p:txBody>
      </p:sp>
      <p:sp>
        <p:nvSpPr>
          <p:cNvPr id="11" name="Ecuación 2 · Batea"/>
          <p:cNvSpPr/>
          <p:nvPr/>
        </p:nvSpPr>
        <p:spPr>
          <a:xfrm>
            <a:off x="138988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89888" y="4113466"/>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acumula = entra − sale</a:t>
            </a:r>
          </a:p>
        </p:txBody>
      </p:sp>
      <p:sp>
        <p:nvSpPr>
          <p:cNvPr id="13" name="TextBox 12"/>
          <p:cNvSpPr txBox="1"/>
          <p:nvPr/>
        </p:nvSpPr>
        <p:spPr>
          <a:xfrm>
            <a:off x="1389888" y="4442650"/>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nivel = volumen acumulado / área</a:t>
            </a:r>
          </a:p>
        </p:txBody>
      </p:sp>
      <p:sp>
        <p:nvSpPr>
          <p:cNvPr id="14" name="TextBox 13"/>
          <p:cNvSpPr txBox="1"/>
          <p:nvPr/>
        </p:nvSpPr>
        <p:spPr>
          <a:xfrm>
            <a:off x="141732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Funciona como un estanque: si llega más pulpa de la que toman los discos, el nivel sube; si llega menos, baja.</a:t>
            </a:r>
          </a:p>
        </p:txBody>
      </p:sp>
      <p:cxnSp>
        <p:nvCxnSpPr>
          <p:cNvPr id="15" name="Connector 14"/>
          <p:cNvCxnSpPr/>
          <p:nvPr/>
        </p:nvCxnSpPr>
        <p:spPr>
          <a:xfrm>
            <a:off x="141732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1732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nivel de pulpa</a:t>
            </a:r>
          </a:p>
        </p:txBody>
      </p:sp>
      <p:sp>
        <p:nvSpPr>
          <p:cNvPr id="17" name="Ley 3 · Banco de discos"/>
          <p:cNvSpPr/>
          <p:nvPr/>
        </p:nvSpPr>
        <p:spPr>
          <a:xfrm>
            <a:off x="466648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Vista 3 · Banco de discos" descr="hbf3d-discos.png"/>
          <p:cNvPicPr>
            <a:picLocks noChangeAspect="1"/>
          </p:cNvPicPr>
          <p:nvPr/>
        </p:nvPicPr>
        <p:blipFill>
          <a:blip r:embed="rId4"/>
          <a:srcRect l="204" r="204"/>
          <a:stretch>
            <a:fillRect/>
          </a:stretch>
        </p:blipFill>
        <p:spPr>
          <a:xfrm>
            <a:off x="4666488" y="2423160"/>
            <a:ext cx="3185160" cy="995362"/>
          </a:xfrm>
          <a:prstGeom prst="rect">
            <a:avLst/>
          </a:prstGeom>
        </p:spPr>
      </p:pic>
      <p:sp>
        <p:nvSpPr>
          <p:cNvPr id="19" name="TextBox 18"/>
          <p:cNvSpPr txBox="1"/>
          <p:nvPr/>
        </p:nvSpPr>
        <p:spPr>
          <a:xfrm>
            <a:off x="483108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3 · Banco de discos</a:t>
            </a:r>
          </a:p>
        </p:txBody>
      </p:sp>
      <p:sp>
        <p:nvSpPr>
          <p:cNvPr id="20" name="TextBox 19"/>
          <p:cNvSpPr txBox="1"/>
          <p:nvPr/>
        </p:nvSpPr>
        <p:spPr>
          <a:xfrm>
            <a:off x="483108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LEY DE DARCY</a:t>
            </a:r>
          </a:p>
        </p:txBody>
      </p:sp>
      <p:sp>
        <p:nvSpPr>
          <p:cNvPr id="21" name="Ecuación 3 · Banco de discos"/>
          <p:cNvSpPr/>
          <p:nvPr/>
        </p:nvSpPr>
        <p:spPr>
          <a:xfrm>
            <a:off x="480364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803648" y="4113466"/>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caudal = Δp / (μ · R</a:t>
            </a:r>
            <a:r>
              <a:rPr sz="1050" b="0" i="0" baseline="-25000">
                <a:solidFill>
                  <a:srgbClr val="FFFFFF"/>
                </a:solidFill>
                <a:effectLst>
                  <a:glow rad="63500">
                    <a:srgbClr val="001633">
                      <a:alpha val="85000"/>
                    </a:srgbClr>
                  </a:glow>
                </a:effectLst>
                <a:latin typeface="Montserrat"/>
              </a:rPr>
              <a:t>total</a:t>
            </a:r>
            <a:r>
              <a:rPr sz="1050" b="0" i="0">
                <a:solidFill>
                  <a:srgbClr val="FFFFFF"/>
                </a:solidFill>
                <a:effectLst>
                  <a:glow rad="63500">
                    <a:srgbClr val="001633">
                      <a:alpha val="85000"/>
                    </a:srgbClr>
                  </a:glow>
                </a:effectLst>
                <a:latin typeface="Montserrat"/>
              </a:rPr>
              <a:t>)</a:t>
            </a:r>
          </a:p>
        </p:txBody>
      </p:sp>
      <p:sp>
        <p:nvSpPr>
          <p:cNvPr id="23" name="TextBox 22"/>
          <p:cNvSpPr txBox="1"/>
          <p:nvPr/>
        </p:nvSpPr>
        <p:spPr>
          <a:xfrm>
            <a:off x="4803648" y="4442650"/>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espesor del queque ∝ √(Δp · t)</a:t>
            </a:r>
          </a:p>
        </p:txBody>
      </p:sp>
      <p:sp>
        <p:nvSpPr>
          <p:cNvPr id="24" name="TextBox 23"/>
          <p:cNvSpPr txBox="1"/>
          <p:nvPr/>
        </p:nvSpPr>
        <p:spPr>
          <a:xfrm>
            <a:off x="483108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La presión empuja el agua a través del queque. El queque crece mientras el disco está sumergido, pero cada vez más lento: él mismo frena el paso.</a:t>
            </a:r>
          </a:p>
        </p:txBody>
      </p:sp>
      <p:cxnSp>
        <p:nvCxnSpPr>
          <p:cNvPr id="25" name="Connector 24"/>
          <p:cNvCxnSpPr/>
          <p:nvPr/>
        </p:nvCxnSpPr>
        <p:spPr>
          <a:xfrm>
            <a:off x="483108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3108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espesor y t/h</a:t>
            </a:r>
          </a:p>
        </p:txBody>
      </p:sp>
      <p:sp>
        <p:nvSpPr>
          <p:cNvPr id="27" name="Ley Humedad del queque"/>
          <p:cNvSpPr/>
          <p:nvPr/>
        </p:nvSpPr>
        <p:spPr>
          <a:xfrm>
            <a:off x="808024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Vista Humedad del queque" descr="hbf3d-humedad.png"/>
          <p:cNvPicPr>
            <a:picLocks noChangeAspect="1"/>
          </p:cNvPicPr>
          <p:nvPr/>
        </p:nvPicPr>
        <p:blipFill>
          <a:blip r:embed="rId5"/>
          <a:srcRect l="204" r="204"/>
          <a:stretch>
            <a:fillRect/>
          </a:stretch>
        </p:blipFill>
        <p:spPr>
          <a:xfrm>
            <a:off x="8080248" y="2423160"/>
            <a:ext cx="3185160" cy="995362"/>
          </a:xfrm>
          <a:prstGeom prst="rect">
            <a:avLst/>
          </a:prstGeom>
        </p:spPr>
      </p:pic>
      <p:sp>
        <p:nvSpPr>
          <p:cNvPr id="29" name="TextBox 28"/>
          <p:cNvSpPr txBox="1"/>
          <p:nvPr/>
        </p:nvSpPr>
        <p:spPr>
          <a:xfrm>
            <a:off x="824484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Humedad del queque</a:t>
            </a:r>
          </a:p>
        </p:txBody>
      </p:sp>
      <p:sp>
        <p:nvSpPr>
          <p:cNvPr id="30" name="TextBox 29"/>
          <p:cNvSpPr txBox="1"/>
          <p:nvPr/>
        </p:nvSpPr>
        <p:spPr>
          <a:xfrm>
            <a:off x="824484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CURVA AJUSTADA A DATOS</a:t>
            </a:r>
          </a:p>
        </p:txBody>
      </p:sp>
      <p:sp>
        <p:nvSpPr>
          <p:cNvPr id="31" name="Ecuación Humedad del queque"/>
          <p:cNvSpPr/>
          <p:nvPr/>
        </p:nvSpPr>
        <p:spPr>
          <a:xfrm>
            <a:off x="821740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217408" y="4113466"/>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humedad = mínimo + f(Δp, secado)</a:t>
            </a:r>
          </a:p>
        </p:txBody>
      </p:sp>
      <p:sp>
        <p:nvSpPr>
          <p:cNvPr id="33" name="TextBox 32"/>
          <p:cNvSpPr txBox="1"/>
          <p:nvPr/>
        </p:nvSpPr>
        <p:spPr>
          <a:xfrm>
            <a:off x="8217408" y="4442650"/>
            <a:ext cx="2910840" cy="329184"/>
          </a:xfrm>
          <a:prstGeom prst="rect">
            <a:avLst/>
          </a:prstGeom>
          <a:noFill/>
        </p:spPr>
        <p:txBody>
          <a:bodyPr wrap="square" lIns="0" tIns="0" rIns="0" bIns="0" anchor="ctr">
            <a:spAutoFit/>
          </a:bodyPr>
          <a:lstStyle/>
          <a:p>
            <a:pPr algn="ctr">
              <a:spcAft>
                <a:spcPts val="600"/>
              </a:spcAft>
            </a:pPr>
            <a:r>
              <a:rPr sz="1050" b="0" i="0">
                <a:solidFill>
                  <a:srgbClr val="FFFFFF"/>
                </a:solidFill>
                <a:effectLst>
                  <a:glow rad="63500">
                    <a:srgbClr val="001633">
                      <a:alpha val="85000"/>
                    </a:srgbClr>
                  </a:glow>
                </a:effectLst>
                <a:latin typeface="Montserrat"/>
              </a:rPr>
              <a:t>más Δp o más secado → menos agua</a:t>
            </a:r>
          </a:p>
        </p:txBody>
      </p:sp>
      <p:sp>
        <p:nvSpPr>
          <p:cNvPr id="34" name="TextBox 33"/>
          <p:cNvSpPr txBox="1"/>
          <p:nvPr/>
        </p:nvSpPr>
        <p:spPr>
          <a:xfrm>
            <a:off x="824484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El secado no se resuelve bien con física pura: se usa una curva que baja con la presión y el tiempo de secado, ajustada a la ficha del fabricante.</a:t>
            </a:r>
          </a:p>
        </p:txBody>
      </p:sp>
      <p:cxnSp>
        <p:nvCxnSpPr>
          <p:cNvPr id="35" name="Connector 34"/>
          <p:cNvCxnSpPr/>
          <p:nvPr/>
        </p:nvCxnSpPr>
        <p:spPr>
          <a:xfrm>
            <a:off x="824484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4484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humedad (%)</a:t>
            </a:r>
          </a:p>
        </p:txBody>
      </p:sp>
      <p:sp>
        <p:nvSpPr>
          <p:cNvPr id="3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Formas generales; ecuaciones completas (Ruth, Wakeman) en el manual del modelo · curva de humedad: ANDRITZ [26] · Modelo Dewatering v1.0 (elaboración propia, OpenModelica 1.27)</a:t>
            </a:r>
          </a:p>
        </p:txBody>
      </p:sp>
      <p:sp>
        <p:nvSpPr>
          <p:cNvPr id="3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V actual"/>
          <p:cNvSpPr/>
          <p:nvPr/>
        </p:nvSpPr>
        <p:spPr>
          <a:xfrm>
            <a:off x="6876288" y="6510528"/>
            <a:ext cx="7264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11/27 </a:t>
            </a:r>
            <a:r>
              <a:rPr sz="1000" b="0" i="0">
                <a:solidFill>
                  <a:srgbClr val="A9B8C9"/>
                </a:solidFill>
                <a:effectLst>
                  <a:glow rad="63500">
                    <a:srgbClr val="001633">
                      <a:alpha val="85000"/>
                    </a:srgbClr>
                  </a:glow>
                </a:effectLst>
                <a:latin typeface="Montserrat"/>
              </a:rPr>
              <a:t>· Gemelos Digitales para Minería 4.0 · 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aire: la presión sale de un balance, y la paga el compresor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MODELO · EL AIRE</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recipiente, el compresor y la esclusa cierran el modelo. El Δp que empuja a Darcy no es un dato: resulta de cuánto aire entra y cuánto se escapa.</a:t>
            </a:r>
          </a:p>
        </p:txBody>
      </p:sp>
      <p:sp>
        <p:nvSpPr>
          <p:cNvPr id="7" name="Ley 5 · Recipiente a presión"/>
          <p:cNvSpPr/>
          <p:nvPr/>
        </p:nvSpPr>
        <p:spPr>
          <a:xfrm>
            <a:off x="125272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Vista 5 · Recipiente a presión" descr="hbf3d-recipiente.png"/>
          <p:cNvPicPr>
            <a:picLocks noChangeAspect="1"/>
          </p:cNvPicPr>
          <p:nvPr/>
        </p:nvPicPr>
        <p:blipFill>
          <a:blip r:embed="rId3"/>
          <a:srcRect l="226" r="226"/>
          <a:stretch>
            <a:fillRect/>
          </a:stretch>
        </p:blipFill>
        <p:spPr>
          <a:xfrm>
            <a:off x="1252728" y="2423160"/>
            <a:ext cx="3185160" cy="995362"/>
          </a:xfrm>
          <a:prstGeom prst="rect">
            <a:avLst/>
          </a:prstGeom>
        </p:spPr>
      </p:pic>
      <p:sp>
        <p:nvSpPr>
          <p:cNvPr id="9" name="TextBox 8"/>
          <p:cNvSpPr txBox="1"/>
          <p:nvPr/>
        </p:nvSpPr>
        <p:spPr>
          <a:xfrm>
            <a:off x="141732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5 · Recipiente a presión</a:t>
            </a:r>
          </a:p>
        </p:txBody>
      </p:sp>
      <p:sp>
        <p:nvSpPr>
          <p:cNvPr id="10" name="TextBox 9"/>
          <p:cNvSpPr txBox="1"/>
          <p:nvPr/>
        </p:nvSpPr>
        <p:spPr>
          <a:xfrm>
            <a:off x="141732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BALANCE DE MASA DE AIRE</a:t>
            </a:r>
          </a:p>
        </p:txBody>
      </p:sp>
      <p:sp>
        <p:nvSpPr>
          <p:cNvPr id="11" name="Ecuación 5 · Recipiente a presión"/>
          <p:cNvSpPr/>
          <p:nvPr/>
        </p:nvSpPr>
        <p:spPr>
          <a:xfrm>
            <a:off x="138988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89888" y="4113466"/>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aire acumulado = entra − sale</a:t>
            </a:r>
          </a:p>
        </p:txBody>
      </p:sp>
      <p:sp>
        <p:nvSpPr>
          <p:cNvPr id="13" name="TextBox 12"/>
          <p:cNvSpPr txBox="1"/>
          <p:nvPr/>
        </p:nvSpPr>
        <p:spPr>
          <a:xfrm>
            <a:off x="1389888" y="4442650"/>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presión ∝ aire / volumen libre</a:t>
            </a:r>
          </a:p>
        </p:txBody>
      </p:sp>
      <p:sp>
        <p:nvSpPr>
          <p:cNvPr id="14" name="TextBox 13"/>
          <p:cNvSpPr txBox="1"/>
          <p:nvPr/>
        </p:nvSpPr>
        <p:spPr>
          <a:xfrm>
            <a:off x="141732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Funciona como un neumático: si el compresor mete más aire del que se escapa por el queque, la esclusa y las fugas, la presión sube.</a:t>
            </a:r>
          </a:p>
        </p:txBody>
      </p:sp>
      <p:cxnSp>
        <p:nvCxnSpPr>
          <p:cNvPr id="15" name="Connector 14"/>
          <p:cNvCxnSpPr/>
          <p:nvPr/>
        </p:nvCxnSpPr>
        <p:spPr>
          <a:xfrm>
            <a:off x="141732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1732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presión</a:t>
            </a:r>
          </a:p>
        </p:txBody>
      </p:sp>
      <p:sp>
        <p:nvSpPr>
          <p:cNvPr id="17" name="Ley 6 · Compresor y control"/>
          <p:cNvSpPr/>
          <p:nvPr/>
        </p:nvSpPr>
        <p:spPr>
          <a:xfrm>
            <a:off x="466648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Vista 6 · Compresor y control" descr="hbf3d-compresor.png"/>
          <p:cNvPicPr>
            <a:picLocks noChangeAspect="1"/>
          </p:cNvPicPr>
          <p:nvPr/>
        </p:nvPicPr>
        <p:blipFill>
          <a:blip r:embed="rId4"/>
          <a:srcRect/>
          <a:stretch>
            <a:fillRect/>
          </a:stretch>
        </p:blipFill>
        <p:spPr>
          <a:xfrm>
            <a:off x="4666488" y="2423160"/>
            <a:ext cx="3185160" cy="995362"/>
          </a:xfrm>
          <a:prstGeom prst="rect">
            <a:avLst/>
          </a:prstGeom>
        </p:spPr>
      </p:pic>
      <p:sp>
        <p:nvSpPr>
          <p:cNvPr id="19" name="TextBox 18"/>
          <p:cNvSpPr txBox="1"/>
          <p:nvPr/>
        </p:nvSpPr>
        <p:spPr>
          <a:xfrm>
            <a:off x="483108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6 · Compresor y control</a:t>
            </a:r>
          </a:p>
        </p:txBody>
      </p:sp>
      <p:sp>
        <p:nvSpPr>
          <p:cNvPr id="20" name="TextBox 19"/>
          <p:cNvSpPr txBox="1"/>
          <p:nvPr/>
        </p:nvSpPr>
        <p:spPr>
          <a:xfrm>
            <a:off x="483108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BALANCE DE ENERGÍA</a:t>
            </a:r>
          </a:p>
        </p:txBody>
      </p:sp>
      <p:sp>
        <p:nvSpPr>
          <p:cNvPr id="21" name="Ecuación 6 · Compresor y control"/>
          <p:cNvSpPr/>
          <p:nvPr/>
        </p:nvSpPr>
        <p:spPr>
          <a:xfrm>
            <a:off x="480364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803648" y="4113466"/>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potencia = caudal de aire × energía por kg</a:t>
            </a:r>
          </a:p>
        </p:txBody>
      </p:sp>
      <p:sp>
        <p:nvSpPr>
          <p:cNvPr id="23" name="TextBox 22"/>
          <p:cNvSpPr txBox="1"/>
          <p:nvPr/>
        </p:nvSpPr>
        <p:spPr>
          <a:xfrm>
            <a:off x="4803648" y="4442650"/>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más presión → más energía por kg</a:t>
            </a:r>
          </a:p>
        </p:txBody>
      </p:sp>
      <p:sp>
        <p:nvSpPr>
          <p:cNvPr id="24" name="TextBox 23"/>
          <p:cNvSpPr txBox="1"/>
          <p:nvPr/>
        </p:nvSpPr>
        <p:spPr>
          <a:xfrm>
            <a:off x="483108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Comprimir cuesta: más aire o más presión, más potencia. Un control ajusta el caudal de aire para mantener la consigna.</a:t>
            </a:r>
          </a:p>
        </p:txBody>
      </p:sp>
      <p:cxnSp>
        <p:nvCxnSpPr>
          <p:cNvPr id="25" name="Connector 24"/>
          <p:cNvCxnSpPr/>
          <p:nvPr/>
        </p:nvCxnSpPr>
        <p:spPr>
          <a:xfrm>
            <a:off x="483108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3108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kW y kWh/t</a:t>
            </a:r>
          </a:p>
        </p:txBody>
      </p:sp>
      <p:sp>
        <p:nvSpPr>
          <p:cNvPr id="27" name="Ley 4 · Esclusa"/>
          <p:cNvSpPr/>
          <p:nvPr/>
        </p:nvSpPr>
        <p:spPr>
          <a:xfrm>
            <a:off x="8080248" y="2423160"/>
            <a:ext cx="3185160" cy="3383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Vista 4 · Esclusa" descr="hbf3d-esclusa.png"/>
          <p:cNvPicPr>
            <a:picLocks noChangeAspect="1"/>
          </p:cNvPicPr>
          <p:nvPr/>
        </p:nvPicPr>
        <p:blipFill>
          <a:blip r:embed="rId5"/>
          <a:srcRect/>
          <a:stretch>
            <a:fillRect/>
          </a:stretch>
        </p:blipFill>
        <p:spPr>
          <a:xfrm>
            <a:off x="8080248" y="2423160"/>
            <a:ext cx="3185160" cy="995362"/>
          </a:xfrm>
          <a:prstGeom prst="rect">
            <a:avLst/>
          </a:prstGeom>
        </p:spPr>
      </p:pic>
      <p:sp>
        <p:nvSpPr>
          <p:cNvPr id="29" name="TextBox 28"/>
          <p:cNvSpPr txBox="1"/>
          <p:nvPr/>
        </p:nvSpPr>
        <p:spPr>
          <a:xfrm>
            <a:off x="8244840" y="3528250"/>
            <a:ext cx="2855976"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4 · Esclusa</a:t>
            </a:r>
          </a:p>
        </p:txBody>
      </p:sp>
      <p:sp>
        <p:nvSpPr>
          <p:cNvPr id="30" name="TextBox 29"/>
          <p:cNvSpPr txBox="1"/>
          <p:nvPr/>
        </p:nvSpPr>
        <p:spPr>
          <a:xfrm>
            <a:off x="8244840" y="3820858"/>
            <a:ext cx="2855976"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LÓGICA DE EVENTOS</a:t>
            </a:r>
          </a:p>
        </p:txBody>
      </p:sp>
      <p:sp>
        <p:nvSpPr>
          <p:cNvPr id="31" name="Ecuación 4 · Esclusa"/>
          <p:cNvSpPr/>
          <p:nvPr/>
        </p:nvSpPr>
        <p:spPr>
          <a:xfrm>
            <a:off x="8217408" y="4076890"/>
            <a:ext cx="2910840" cy="7315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217408" y="4113466"/>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llenado → venteo → descarga → represurización</a:t>
            </a:r>
          </a:p>
        </p:txBody>
      </p:sp>
      <p:sp>
        <p:nvSpPr>
          <p:cNvPr id="33" name="TextBox 32"/>
          <p:cNvSpPr txBox="1"/>
          <p:nvPr/>
        </p:nvSpPr>
        <p:spPr>
          <a:xfrm>
            <a:off x="8217408" y="4442650"/>
            <a:ext cx="2910840" cy="329184"/>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un ciclo cada ≈ 84 s</a:t>
            </a:r>
          </a:p>
        </p:txBody>
      </p:sp>
      <p:sp>
        <p:nvSpPr>
          <p:cNvPr id="34" name="TextBox 33"/>
          <p:cNvSpPr txBox="1"/>
          <p:nvPr/>
        </p:nvSpPr>
        <p:spPr>
          <a:xfrm>
            <a:off x="8244840" y="4918138"/>
            <a:ext cx="2855976" cy="504253"/>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Como la esclusa de un canal: abre una compuerta a la vez, y el queque sale sin despresurizar el recipiente.</a:t>
            </a:r>
          </a:p>
        </p:txBody>
      </p:sp>
      <p:cxnSp>
        <p:nvCxnSpPr>
          <p:cNvPr id="35" name="Connector 34"/>
          <p:cNvCxnSpPr/>
          <p:nvPr/>
        </p:nvCxnSpPr>
        <p:spPr>
          <a:xfrm>
            <a:off x="8244840" y="5440680"/>
            <a:ext cx="2855976"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44840" y="5468112"/>
            <a:ext cx="2855976" cy="274320"/>
          </a:xfrm>
          <a:prstGeom prst="rect">
            <a:avLst/>
          </a:prstGeom>
          <a:noFill/>
        </p:spPr>
        <p:txBody>
          <a:bodyPr wrap="square" lIns="0" tIns="0" rIns="0" bIns="0" anchor="ctr">
            <a:spAutoFit/>
          </a:bodyPr>
          <a:lstStyle/>
          <a:p>
            <a:pPr algn="l">
              <a:spcAft>
                <a:spcPts val="600"/>
              </a:spcAft>
            </a:pPr>
            <a:r>
              <a:rPr sz="750" b="1" i="0">
                <a:solidFill>
                  <a:srgbClr val="A9B8C9"/>
                </a:solidFill>
                <a:effectLst>
                  <a:glow rad="63500">
                    <a:srgbClr val="001633">
                      <a:alpha val="85000"/>
                    </a:srgbClr>
                  </a:glow>
                </a:effectLst>
                <a:latin typeface="Montserrat"/>
              </a:rPr>
              <a:t>ENTREGA  </a:t>
            </a:r>
            <a:r>
              <a:rPr sz="900" b="1" i="0">
                <a:solidFill>
                  <a:srgbClr val="85D5E6"/>
                </a:solidFill>
                <a:effectLst>
                  <a:glow rad="63500">
                    <a:srgbClr val="001633">
                      <a:alpha val="85000"/>
                    </a:srgbClr>
                  </a:glow>
                </a:effectLst>
                <a:latin typeface="Montserrat"/>
              </a:rPr>
              <a:t>salida de queque</a:t>
            </a:r>
          </a:p>
        </p:txBody>
      </p:sp>
      <p:sp>
        <p:nvSpPr>
          <p:cNvPr id="3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Formas generales: gas ideal y compresión adiabática · ciclo de la esclusa: Hahn [28] · Modelo Dewatering v1.0 (elaboración propia, OpenModelica 1.27)</a:t>
            </a:r>
          </a:p>
        </p:txBody>
      </p:sp>
      <p:sp>
        <p:nvSpPr>
          <p:cNvPr id="3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V actual"/>
          <p:cNvSpPr/>
          <p:nvPr/>
        </p:nvSpPr>
        <p:spPr>
          <a:xfrm>
            <a:off x="6876288" y="6510528"/>
            <a:ext cx="7924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12/27 </a:t>
            </a:r>
            <a:r>
              <a:rPr sz="1000" b="0" i="0">
                <a:solidFill>
                  <a:srgbClr val="A9B8C9"/>
                </a:solidFill>
                <a:effectLst>
                  <a:glow rad="63500">
                    <a:srgbClr val="001633">
                      <a:alpha val="85000"/>
                    </a:srgbClr>
                  </a:glow>
                </a:effectLst>
                <a:latin typeface="Montserrat"/>
              </a:rPr>
              <a:t>· Gemelos Digitales para Minería 4.0 · 81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Los elementos se conectan en Modelica, igual que en el equipo real</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2 · HERRAMIENTA</a:t>
            </a:r>
          </a:p>
        </p:txBody>
      </p:sp>
      <p:sp>
        <p:nvSpPr>
          <p:cNvPr id="6" name="TextBox 5"/>
          <p:cNvSpPr txBox="1"/>
          <p:nvPr/>
        </p:nvSpPr>
        <p:spPr>
          <a:xfrm>
            <a:off x="1252728" y="1828800"/>
            <a:ext cx="822960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Cada bloque es un elemento de las láminas anteriores, con su balance. Al conectarlos, Modelica iguala las presiones y hace que los flujos sumen cero: el aire se reparte solo.</a:t>
            </a:r>
          </a:p>
        </p:txBody>
      </p:sp>
      <p:sp>
        <p:nvSpPr>
          <p:cNvPr id="7" name="Placa modelica"/>
          <p:cNvSpPr/>
          <p:nvPr/>
        </p:nvSpPr>
        <p:spPr>
          <a:xfrm>
            <a:off x="9802368" y="1783080"/>
            <a:ext cx="146304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modelica" descr="logo-modelica.png"/>
          <p:cNvPicPr>
            <a:picLocks noChangeAspect="1"/>
          </p:cNvPicPr>
          <p:nvPr/>
        </p:nvPicPr>
        <p:blipFill>
          <a:blip r:embed="rId3"/>
          <a:stretch>
            <a:fillRect/>
          </a:stretch>
        </p:blipFill>
        <p:spPr>
          <a:xfrm>
            <a:off x="10141198" y="1837944"/>
            <a:ext cx="785380" cy="393192"/>
          </a:xfrm>
          <a:prstGeom prst="rect">
            <a:avLst/>
          </a:prstGeom>
        </p:spPr>
      </p:pic>
      <p:sp>
        <p:nvSpPr>
          <p:cNvPr id="9" name="Recipiente"/>
          <p:cNvSpPr/>
          <p:nvPr/>
        </p:nvSpPr>
        <p:spPr>
          <a:xfrm>
            <a:off x="2578608" y="2514600"/>
            <a:ext cx="4206240" cy="2011680"/>
          </a:xfrm>
          <a:prstGeom prst="roundRect">
            <a:avLst>
              <a:gd name="adj" fmla="val 6000"/>
            </a:avLst>
          </a:prstGeom>
          <a:solidFill>
            <a:srgbClr val="0B264A"/>
          </a:solid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715768" y="2587752"/>
            <a:ext cx="393192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5 · Recipiente a presión</a:t>
            </a:r>
            <a:r>
              <a:rPr sz="750" b="0" i="0">
                <a:solidFill>
                  <a:srgbClr val="A9B8C9"/>
                </a:solidFill>
                <a:effectLst>
                  <a:glow rad="63500">
                    <a:srgbClr val="001633">
                      <a:alpha val="85000"/>
                    </a:srgbClr>
                  </a:glow>
                </a:effectLst>
                <a:latin typeface="Montserrat"/>
              </a:rPr>
              <a:t>   PressureVessel</a:t>
            </a:r>
          </a:p>
        </p:txBody>
      </p:sp>
      <p:sp>
        <p:nvSpPr>
          <p:cNvPr id="11" name="1 · Alimentación"/>
          <p:cNvSpPr/>
          <p:nvPr/>
        </p:nvSpPr>
        <p:spPr>
          <a:xfrm>
            <a:off x="1252728" y="3017520"/>
            <a:ext cx="1051560" cy="86868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52728" y="3017520"/>
            <a:ext cx="1051560" cy="868680"/>
          </a:xfrm>
          <a:prstGeom prst="rect">
            <a:avLst/>
          </a:prstGeom>
          <a:noFill/>
        </p:spPr>
        <p:txBody>
          <a:bodyPr wrap="square" lIns="0" tIns="0" rIns="0" bIns="0" anchor="ctr">
            <a:spAutoFit/>
          </a:bodyPr>
          <a:lstStyle/>
          <a:p>
            <a:pPr algn="ctr">
              <a:spcAft>
                <a:spcPts val="200"/>
              </a:spcAft>
            </a:pPr>
            <a:r>
              <a:rPr sz="900" b="1" i="0">
                <a:solidFill>
                  <a:srgbClr val="FFFFFF"/>
                </a:solidFill>
                <a:effectLst>
                  <a:glow rad="63500">
                    <a:srgbClr val="001633">
                      <a:alpha val="85000"/>
                    </a:srgbClr>
                  </a:glow>
                </a:effectLst>
                <a:latin typeface="Montserrat"/>
              </a:rPr>
              <a:t>1 · Alimentación</a:t>
            </a:r>
          </a:p>
          <a:p>
            <a:pPr algn="ctr">
              <a:spcAft>
                <a:spcPts val="200"/>
              </a:spcAft>
            </a:pPr>
            <a:r>
              <a:rPr sz="750" b="0" i="0">
                <a:solidFill>
                  <a:srgbClr val="A9B8C9"/>
                </a:solidFill>
                <a:effectLst>
                  <a:glow rad="63500">
                    <a:srgbClr val="001633">
                      <a:alpha val="85000"/>
                    </a:srgbClr>
                  </a:glow>
                </a:effectLst>
                <a:latin typeface="Montserrat"/>
              </a:rPr>
              <a:t>SlurryFeed</a:t>
            </a:r>
          </a:p>
        </p:txBody>
      </p:sp>
      <p:sp>
        <p:nvSpPr>
          <p:cNvPr id="13" name="2 · Batea"/>
          <p:cNvSpPr/>
          <p:nvPr/>
        </p:nvSpPr>
        <p:spPr>
          <a:xfrm>
            <a:off x="2715768" y="3017520"/>
            <a:ext cx="1051560" cy="868680"/>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715768" y="3017520"/>
            <a:ext cx="1051560" cy="868680"/>
          </a:xfrm>
          <a:prstGeom prst="rect">
            <a:avLst/>
          </a:prstGeom>
          <a:noFill/>
        </p:spPr>
        <p:txBody>
          <a:bodyPr wrap="square" lIns="0" tIns="0" rIns="0" bIns="0" anchor="ctr">
            <a:spAutoFit/>
          </a:bodyPr>
          <a:lstStyle/>
          <a:p>
            <a:pPr algn="ctr">
              <a:spcAft>
                <a:spcPts val="200"/>
              </a:spcAft>
            </a:pPr>
            <a:r>
              <a:rPr sz="900" b="1" i="0">
                <a:solidFill>
                  <a:srgbClr val="FFFFFF"/>
                </a:solidFill>
                <a:effectLst>
                  <a:glow rad="63500">
                    <a:srgbClr val="001633">
                      <a:alpha val="85000"/>
                    </a:srgbClr>
                  </a:glow>
                </a:effectLst>
                <a:latin typeface="Montserrat"/>
              </a:rPr>
              <a:t>2 · Batea</a:t>
            </a:r>
          </a:p>
          <a:p>
            <a:pPr algn="ctr">
              <a:spcAft>
                <a:spcPts val="200"/>
              </a:spcAft>
            </a:pPr>
            <a:r>
              <a:rPr sz="750" b="0" i="0">
                <a:solidFill>
                  <a:srgbClr val="A9B8C9"/>
                </a:solidFill>
                <a:effectLst>
                  <a:glow rad="63500">
                    <a:srgbClr val="001633">
                      <a:alpha val="85000"/>
                    </a:srgbClr>
                  </a:glow>
                </a:effectLst>
                <a:latin typeface="Montserrat"/>
              </a:rPr>
              <a:t>Trough</a:t>
            </a:r>
          </a:p>
        </p:txBody>
      </p:sp>
      <p:sp>
        <p:nvSpPr>
          <p:cNvPr id="15" name="3 · Discos"/>
          <p:cNvSpPr/>
          <p:nvPr/>
        </p:nvSpPr>
        <p:spPr>
          <a:xfrm>
            <a:off x="4133088" y="3017520"/>
            <a:ext cx="1051560" cy="868680"/>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133088" y="3017520"/>
            <a:ext cx="1051560" cy="868680"/>
          </a:xfrm>
          <a:prstGeom prst="rect">
            <a:avLst/>
          </a:prstGeom>
          <a:noFill/>
        </p:spPr>
        <p:txBody>
          <a:bodyPr wrap="square" lIns="0" tIns="0" rIns="0" bIns="0" anchor="ctr">
            <a:spAutoFit/>
          </a:bodyPr>
          <a:lstStyle/>
          <a:p>
            <a:pPr algn="ctr">
              <a:spcAft>
                <a:spcPts val="200"/>
              </a:spcAft>
            </a:pPr>
            <a:r>
              <a:rPr sz="900" b="1" i="0">
                <a:solidFill>
                  <a:srgbClr val="FFFFFF"/>
                </a:solidFill>
                <a:effectLst>
                  <a:glow rad="63500">
                    <a:srgbClr val="001633">
                      <a:alpha val="85000"/>
                    </a:srgbClr>
                  </a:glow>
                </a:effectLst>
                <a:latin typeface="Montserrat"/>
              </a:rPr>
              <a:t>3 · Discos</a:t>
            </a:r>
          </a:p>
          <a:p>
            <a:pPr algn="ctr">
              <a:spcAft>
                <a:spcPts val="200"/>
              </a:spcAft>
            </a:pPr>
            <a:r>
              <a:rPr sz="750" b="0" i="0">
                <a:solidFill>
                  <a:srgbClr val="A9B8C9"/>
                </a:solidFill>
                <a:effectLst>
                  <a:glow rad="63500">
                    <a:srgbClr val="001633">
                      <a:alpha val="85000"/>
                    </a:srgbClr>
                  </a:glow>
                </a:effectLst>
                <a:latin typeface="Montserrat"/>
              </a:rPr>
              <a:t>DiskBank</a:t>
            </a:r>
          </a:p>
        </p:txBody>
      </p:sp>
      <p:sp>
        <p:nvSpPr>
          <p:cNvPr id="17" name="4 · Esclusa"/>
          <p:cNvSpPr/>
          <p:nvPr/>
        </p:nvSpPr>
        <p:spPr>
          <a:xfrm>
            <a:off x="5550408" y="3017520"/>
            <a:ext cx="1051560" cy="868680"/>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550408" y="3017520"/>
            <a:ext cx="1051560" cy="868680"/>
          </a:xfrm>
          <a:prstGeom prst="rect">
            <a:avLst/>
          </a:prstGeom>
          <a:noFill/>
        </p:spPr>
        <p:txBody>
          <a:bodyPr wrap="square" lIns="0" tIns="0" rIns="0" bIns="0" anchor="ctr">
            <a:spAutoFit/>
          </a:bodyPr>
          <a:lstStyle/>
          <a:p>
            <a:pPr algn="ctr">
              <a:spcAft>
                <a:spcPts val="200"/>
              </a:spcAft>
            </a:pPr>
            <a:r>
              <a:rPr sz="900" b="1" i="0">
                <a:solidFill>
                  <a:srgbClr val="FFFFFF"/>
                </a:solidFill>
                <a:effectLst>
                  <a:glow rad="63500">
                    <a:srgbClr val="001633">
                      <a:alpha val="85000"/>
                    </a:srgbClr>
                  </a:glow>
                </a:effectLst>
                <a:latin typeface="Montserrat"/>
              </a:rPr>
              <a:t>4 · Esclusa</a:t>
            </a:r>
          </a:p>
          <a:p>
            <a:pPr algn="ctr">
              <a:spcAft>
                <a:spcPts val="200"/>
              </a:spcAft>
            </a:pPr>
            <a:r>
              <a:rPr sz="750" b="0" i="0">
                <a:solidFill>
                  <a:srgbClr val="A9B8C9"/>
                </a:solidFill>
                <a:effectLst>
                  <a:glow rad="63500">
                    <a:srgbClr val="001633">
                      <a:alpha val="85000"/>
                    </a:srgbClr>
                  </a:glow>
                </a:effectLst>
                <a:latin typeface="Montserrat"/>
              </a:rPr>
              <a:t>DischargeLock</a:t>
            </a:r>
          </a:p>
        </p:txBody>
      </p:sp>
      <p:sp>
        <p:nvSpPr>
          <p:cNvPr id="19" name="Correa"/>
          <p:cNvSpPr/>
          <p:nvPr/>
        </p:nvSpPr>
        <p:spPr>
          <a:xfrm>
            <a:off x="7013448" y="3017520"/>
            <a:ext cx="1051560" cy="86868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013448" y="3017520"/>
            <a:ext cx="1051560" cy="868680"/>
          </a:xfrm>
          <a:prstGeom prst="rect">
            <a:avLst/>
          </a:prstGeom>
          <a:noFill/>
        </p:spPr>
        <p:txBody>
          <a:bodyPr wrap="square" lIns="0" tIns="0" rIns="0" bIns="0" anchor="ctr">
            <a:spAutoFit/>
          </a:bodyPr>
          <a:lstStyle/>
          <a:p>
            <a:pPr algn="ctr">
              <a:spcAft>
                <a:spcPts val="200"/>
              </a:spcAft>
            </a:pPr>
            <a:r>
              <a:rPr sz="900" b="1" i="0">
                <a:solidFill>
                  <a:srgbClr val="FFFFFF"/>
                </a:solidFill>
                <a:effectLst>
                  <a:glow rad="63500">
                    <a:srgbClr val="001633">
                      <a:alpha val="85000"/>
                    </a:srgbClr>
                  </a:glow>
                </a:effectLst>
                <a:latin typeface="Montserrat"/>
              </a:rPr>
              <a:t>Correa</a:t>
            </a:r>
          </a:p>
          <a:p>
            <a:pPr algn="ctr">
              <a:spcAft>
                <a:spcPts val="200"/>
              </a:spcAft>
            </a:pPr>
            <a:r>
              <a:rPr sz="750" b="0" i="0">
                <a:solidFill>
                  <a:srgbClr val="A9B8C9"/>
                </a:solidFill>
                <a:effectLst>
                  <a:glow rad="63500">
                    <a:srgbClr val="001633">
                      <a:alpha val="85000"/>
                    </a:srgbClr>
                  </a:glow>
                </a:effectLst>
                <a:latin typeface="Montserrat"/>
              </a:rPr>
              <a:t>CakeSink</a:t>
            </a:r>
          </a:p>
        </p:txBody>
      </p:sp>
      <p:cxnSp>
        <p:nvCxnSpPr>
          <p:cNvPr id="21" name="Conexión pulpa"/>
          <p:cNvCxnSpPr/>
          <p:nvPr/>
        </p:nvCxnSpPr>
        <p:spPr>
          <a:xfrm>
            <a:off x="2331720" y="3451860"/>
            <a:ext cx="356616" cy="0"/>
          </a:xfrm>
          <a:prstGeom prst="line">
            <a:avLst/>
          </a:prstGeom>
          <a:ln w="28575">
            <a:solidFill>
              <a:srgbClr val="C88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exión pulpa"/>
          <p:cNvCxnSpPr/>
          <p:nvPr/>
        </p:nvCxnSpPr>
        <p:spPr>
          <a:xfrm>
            <a:off x="3794760" y="3451860"/>
            <a:ext cx="310896" cy="0"/>
          </a:xfrm>
          <a:prstGeom prst="line">
            <a:avLst/>
          </a:prstGeom>
          <a:ln w="28575">
            <a:solidFill>
              <a:srgbClr val="C88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exión queque"/>
          <p:cNvCxnSpPr/>
          <p:nvPr/>
        </p:nvCxnSpPr>
        <p:spPr>
          <a:xfrm>
            <a:off x="5212080" y="3451860"/>
            <a:ext cx="31089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exión queque"/>
          <p:cNvCxnSpPr/>
          <p:nvPr/>
        </p:nvCxnSpPr>
        <p:spPr>
          <a:xfrm>
            <a:off x="6629400" y="3451860"/>
            <a:ext cx="35661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Bus de aire"/>
          <p:cNvCxnSpPr/>
          <p:nvPr/>
        </p:nvCxnSpPr>
        <p:spPr>
          <a:xfrm>
            <a:off x="2761488" y="4114800"/>
            <a:ext cx="3840480" cy="0"/>
          </a:xfrm>
          <a:prstGeom prst="line">
            <a:avLst/>
          </a:prstGeom>
          <a:ln w="28575">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26" name="Aire"/>
          <p:cNvCxnSpPr/>
          <p:nvPr/>
        </p:nvCxnSpPr>
        <p:spPr>
          <a:xfrm flipV="1">
            <a:off x="4658868" y="3913632"/>
            <a:ext cx="0" cy="201168"/>
          </a:xfrm>
          <a:prstGeom prst="line">
            <a:avLst/>
          </a:prstGeom>
          <a:ln w="19050">
            <a:solidFill>
              <a:srgbClr val="85D5E6"/>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ire"/>
          <p:cNvCxnSpPr/>
          <p:nvPr/>
        </p:nvCxnSpPr>
        <p:spPr>
          <a:xfrm flipV="1">
            <a:off x="6076188" y="3913632"/>
            <a:ext cx="0" cy="201168"/>
          </a:xfrm>
          <a:prstGeom prst="line">
            <a:avLst/>
          </a:prstGeom>
          <a:ln w="19050">
            <a:solidFill>
              <a:srgbClr val="85D5E6"/>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61488" y="4169664"/>
            <a:ext cx="3840480" cy="274320"/>
          </a:xfrm>
          <a:prstGeom prst="rect">
            <a:avLst/>
          </a:prstGeom>
          <a:noFill/>
        </p:spPr>
        <p:txBody>
          <a:bodyPr wrap="square" lIns="0" tIns="0" rIns="0" bIns="0" anchor="t">
            <a:spAutoFit/>
          </a:bodyPr>
          <a:lstStyle/>
          <a:p>
            <a:pPr algn="ctr">
              <a:spcAft>
                <a:spcPts val="600"/>
              </a:spcAft>
            </a:pPr>
            <a:r>
              <a:rPr sz="750" b="0" i="0">
                <a:solidFill>
                  <a:srgbClr val="85D5E6"/>
                </a:solidFill>
                <a:effectLst>
                  <a:glow rad="63500">
                    <a:srgbClr val="001633">
                      <a:alpha val="85000"/>
                    </a:srgbClr>
                  </a:glow>
                </a:effectLst>
                <a:latin typeface="Montserrat"/>
              </a:rPr>
              <a:t>aire: entra del compresor y sale por el queque, la esclusa y las fugas</a:t>
            </a:r>
          </a:p>
        </p:txBody>
      </p:sp>
      <p:sp>
        <p:nvSpPr>
          <p:cNvPr id="29" name="Compresor"/>
          <p:cNvSpPr/>
          <p:nvPr/>
        </p:nvSpPr>
        <p:spPr>
          <a:xfrm>
            <a:off x="3127248" y="4800600"/>
            <a:ext cx="1463040" cy="50292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127248" y="4800600"/>
            <a:ext cx="1463040" cy="50292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6 · Compresor</a:t>
            </a:r>
          </a:p>
          <a:p>
            <a:pPr algn="ctr">
              <a:spcAft>
                <a:spcPts val="0"/>
              </a:spcAft>
            </a:pPr>
            <a:r>
              <a:rPr sz="750" b="0" i="0">
                <a:solidFill>
                  <a:srgbClr val="A9B8C9"/>
                </a:solidFill>
                <a:effectLst>
                  <a:glow rad="63500">
                    <a:srgbClr val="001633">
                      <a:alpha val="85000"/>
                    </a:srgbClr>
                  </a:glow>
                </a:effectLst>
                <a:latin typeface="Montserrat"/>
              </a:rPr>
              <a:t>Compressor</a:t>
            </a:r>
          </a:p>
        </p:txBody>
      </p:sp>
      <p:cxnSp>
        <p:nvCxnSpPr>
          <p:cNvPr id="31" name="Aire del compresor"/>
          <p:cNvCxnSpPr/>
          <p:nvPr/>
        </p:nvCxnSpPr>
        <p:spPr>
          <a:xfrm flipV="1">
            <a:off x="3858768" y="4544568"/>
            <a:ext cx="0" cy="256032"/>
          </a:xfrm>
          <a:prstGeom prst="line">
            <a:avLst/>
          </a:prstGeom>
          <a:ln w="285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Control de presión"/>
          <p:cNvSpPr/>
          <p:nvPr/>
        </p:nvSpPr>
        <p:spPr>
          <a:xfrm>
            <a:off x="5047488" y="4800600"/>
            <a:ext cx="1463040" cy="50292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047488" y="4800600"/>
            <a:ext cx="1463040" cy="50292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Control de presión</a:t>
            </a:r>
          </a:p>
          <a:p>
            <a:pPr algn="ctr">
              <a:spcAft>
                <a:spcPts val="0"/>
              </a:spcAft>
            </a:pPr>
            <a:r>
              <a:rPr sz="750" b="0" i="0">
                <a:solidFill>
                  <a:srgbClr val="A9B8C9"/>
                </a:solidFill>
                <a:effectLst>
                  <a:glow rad="63500">
                    <a:srgbClr val="001633">
                      <a:alpha val="85000"/>
                    </a:srgbClr>
                  </a:glow>
                </a:effectLst>
                <a:latin typeface="Montserrat"/>
              </a:rPr>
              <a:t>PI(p_set)</a:t>
            </a:r>
          </a:p>
        </p:txBody>
      </p:sp>
      <p:cxnSp>
        <p:nvCxnSpPr>
          <p:cNvPr id="34" name="Señal PI"/>
          <p:cNvCxnSpPr/>
          <p:nvPr/>
        </p:nvCxnSpPr>
        <p:spPr>
          <a:xfrm flipH="1">
            <a:off x="4617720" y="5047488"/>
            <a:ext cx="402336" cy="0"/>
          </a:xfrm>
          <a:prstGeom prst="line">
            <a:avLst/>
          </a:prstGeom>
          <a:ln w="12700">
            <a:solidFill>
              <a:srgbClr val="A9B8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601968" y="4800600"/>
            <a:ext cx="1188720" cy="502920"/>
          </a:xfrm>
          <a:prstGeom prst="rect">
            <a:avLst/>
          </a:prstGeom>
          <a:noFill/>
        </p:spPr>
        <p:txBody>
          <a:bodyPr wrap="square" lIns="0" tIns="0" rIns="0" bIns="0" anchor="ctr">
            <a:spAutoFit/>
          </a:bodyPr>
          <a:lstStyle/>
          <a:p>
            <a:pPr algn="l">
              <a:spcAft>
                <a:spcPts val="600"/>
              </a:spcAft>
            </a:pPr>
            <a:r>
              <a:rPr sz="750" b="0" i="0">
                <a:solidFill>
                  <a:srgbClr val="A9B8C9"/>
                </a:solidFill>
                <a:effectLst>
                  <a:glow rad="63500">
                    <a:srgbClr val="001633">
                      <a:alpha val="85000"/>
                    </a:srgbClr>
                  </a:glow>
                </a:effectLst>
                <a:latin typeface="Montserrat"/>
              </a:rPr>
              <a:t>mide la presión y ajusta el caudal</a:t>
            </a:r>
          </a:p>
        </p:txBody>
      </p:sp>
      <p:sp>
        <p:nvSpPr>
          <p:cNvPr id="36" name="TextBox 35"/>
          <p:cNvSpPr txBox="1"/>
          <p:nvPr/>
        </p:nvSpPr>
        <p:spPr>
          <a:xfrm>
            <a:off x="8339328" y="2468880"/>
            <a:ext cx="29260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LO QUE VIAJA POR CADA CONECTOR</a:t>
            </a:r>
          </a:p>
        </p:txBody>
      </p:sp>
      <p:cxnSp>
        <p:nvCxnSpPr>
          <p:cNvPr id="37" name="Muestra Pulpa"/>
          <p:cNvCxnSpPr/>
          <p:nvPr/>
        </p:nvCxnSpPr>
        <p:spPr>
          <a:xfrm>
            <a:off x="8339328" y="2871216"/>
            <a:ext cx="365760" cy="0"/>
          </a:xfrm>
          <a:prstGeom prst="line">
            <a:avLst/>
          </a:prstGeom>
          <a:ln w="38100">
            <a:solidFill>
              <a:srgbClr val="C88A5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842248" y="2743200"/>
            <a:ext cx="2423160" cy="566928"/>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Pulpa  </a:t>
            </a:r>
            <a:r>
              <a:rPr sz="750" b="0" i="0">
                <a:solidFill>
                  <a:srgbClr val="A9B8C9"/>
                </a:solidFill>
                <a:effectLst>
                  <a:glow rad="63500">
                    <a:srgbClr val="001633">
                      <a:alpha val="85000"/>
                    </a:srgbClr>
                  </a:glow>
                </a:effectLst>
                <a:latin typeface="Montserrat"/>
              </a:rPr>
              <a:t>SlurryPort · acausal</a:t>
            </a:r>
          </a:p>
          <a:p>
            <a:pPr algn="l">
              <a:spcAft>
                <a:spcPts val="0"/>
              </a:spcAft>
            </a:pPr>
            <a:r>
              <a:rPr sz="850" b="0" i="0">
                <a:solidFill>
                  <a:srgbClr val="A9B8C9"/>
                </a:solidFill>
                <a:effectLst>
                  <a:glow rad="63500">
                    <a:srgbClr val="001633">
                      <a:alpha val="85000"/>
                    </a:srgbClr>
                  </a:glow>
                </a:effectLst>
                <a:latin typeface="Montserrat"/>
              </a:rPr>
              <a:t>masa total y % de sólidos</a:t>
            </a:r>
          </a:p>
        </p:txBody>
      </p:sp>
      <p:cxnSp>
        <p:nvCxnSpPr>
          <p:cNvPr id="39" name="Muestra Aire"/>
          <p:cNvCxnSpPr/>
          <p:nvPr/>
        </p:nvCxnSpPr>
        <p:spPr>
          <a:xfrm>
            <a:off x="8339328" y="3493008"/>
            <a:ext cx="365760" cy="0"/>
          </a:xfrm>
          <a:prstGeom prst="line">
            <a:avLst/>
          </a:prstGeom>
          <a:ln w="38100">
            <a:solidFill>
              <a:srgbClr val="85D5E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842248" y="3364992"/>
            <a:ext cx="2423160" cy="566928"/>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Aire  </a:t>
            </a:r>
            <a:r>
              <a:rPr sz="750" b="0" i="0">
                <a:solidFill>
                  <a:srgbClr val="A9B8C9"/>
                </a:solidFill>
                <a:effectLst>
                  <a:glow rad="63500">
                    <a:srgbClr val="001633">
                      <a:alpha val="85000"/>
                    </a:srgbClr>
                  </a:glow>
                </a:effectLst>
                <a:latin typeface="Montserrat"/>
              </a:rPr>
              <a:t>GasPort · acausal</a:t>
            </a:r>
          </a:p>
          <a:p>
            <a:pPr algn="l">
              <a:spcAft>
                <a:spcPts val="0"/>
              </a:spcAft>
            </a:pPr>
            <a:r>
              <a:rPr sz="850" b="0" i="0">
                <a:solidFill>
                  <a:srgbClr val="A9B8C9"/>
                </a:solidFill>
                <a:effectLst>
                  <a:glow rad="63500">
                    <a:srgbClr val="001633">
                      <a:alpha val="85000"/>
                    </a:srgbClr>
                  </a:glow>
                </a:effectLst>
                <a:latin typeface="Montserrat"/>
              </a:rPr>
              <a:t>presión y caudal: se reparte solo</a:t>
            </a:r>
          </a:p>
        </p:txBody>
      </p:sp>
      <p:cxnSp>
        <p:nvCxnSpPr>
          <p:cNvPr id="41" name="Muestra Queque"/>
          <p:cNvCxnSpPr/>
          <p:nvPr/>
        </p:nvCxnSpPr>
        <p:spPr>
          <a:xfrm>
            <a:off x="8339328" y="4114800"/>
            <a:ext cx="365760" cy="0"/>
          </a:xfrm>
          <a:prstGeom prst="line">
            <a:avLst/>
          </a:prstGeom>
          <a:ln w="38100">
            <a:solidFill>
              <a:srgbClr val="FFAB4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842248" y="3986784"/>
            <a:ext cx="2423160" cy="566928"/>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Queque  </a:t>
            </a:r>
            <a:r>
              <a:rPr sz="750" b="0" i="0">
                <a:solidFill>
                  <a:srgbClr val="A9B8C9"/>
                </a:solidFill>
                <a:effectLst>
                  <a:glow rad="63500">
                    <a:srgbClr val="001633">
                      <a:alpha val="85000"/>
                    </a:srgbClr>
                  </a:glow>
                </a:effectLst>
                <a:latin typeface="Montserrat"/>
              </a:rPr>
              <a:t>CakePort · causal</a:t>
            </a:r>
          </a:p>
          <a:p>
            <a:pPr algn="l">
              <a:spcAft>
                <a:spcPts val="0"/>
              </a:spcAft>
            </a:pPr>
            <a:r>
              <a:rPr sz="850" b="0" i="0">
                <a:solidFill>
                  <a:srgbClr val="A9B8C9"/>
                </a:solidFill>
                <a:effectLst>
                  <a:glow rad="63500">
                    <a:srgbClr val="001633">
                      <a:alpha val="85000"/>
                    </a:srgbClr>
                  </a:glow>
                </a:effectLst>
                <a:latin typeface="Montserrat"/>
              </a:rPr>
              <a:t>cae por gravedad, en un solo sentido</a:t>
            </a:r>
          </a:p>
        </p:txBody>
      </p:sp>
      <p:sp>
        <p:nvSpPr>
          <p:cNvPr id="43" name="TextBox 42"/>
          <p:cNvSpPr txBox="1"/>
          <p:nvPr/>
        </p:nvSpPr>
        <p:spPr>
          <a:xfrm>
            <a:off x="8339328" y="4681728"/>
            <a:ext cx="29260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POR QUÉ MODELICA</a:t>
            </a:r>
          </a:p>
        </p:txBody>
      </p:sp>
      <p:sp>
        <p:nvSpPr>
          <p:cNvPr id="44" name="Etiqueta Multidominio"/>
          <p:cNvSpPr/>
          <p:nvPr/>
        </p:nvSpPr>
        <p:spPr>
          <a:xfrm>
            <a:off x="8339328" y="4937760"/>
            <a:ext cx="1417320" cy="347472"/>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8339328" y="4937760"/>
            <a:ext cx="1417320"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Multidominio</a:t>
            </a:r>
          </a:p>
        </p:txBody>
      </p:sp>
      <p:sp>
        <p:nvSpPr>
          <p:cNvPr id="46" name="Etiqueta Eventos en el modelo"/>
          <p:cNvSpPr/>
          <p:nvPr/>
        </p:nvSpPr>
        <p:spPr>
          <a:xfrm>
            <a:off x="9848088" y="4937760"/>
            <a:ext cx="1417320" cy="347472"/>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848088" y="4937760"/>
            <a:ext cx="1417320"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Eventos en el modelo</a:t>
            </a:r>
          </a:p>
        </p:txBody>
      </p:sp>
      <p:sp>
        <p:nvSpPr>
          <p:cNvPr id="48" name="Etiqueta Abierto, sin licencias"/>
          <p:cNvSpPr/>
          <p:nvPr/>
        </p:nvSpPr>
        <p:spPr>
          <a:xfrm>
            <a:off x="8339328" y="5358384"/>
            <a:ext cx="1417320" cy="347472"/>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339328" y="5358384"/>
            <a:ext cx="1417320"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Abierto, sin licencias</a:t>
            </a:r>
          </a:p>
        </p:txBody>
      </p:sp>
      <p:sp>
        <p:nvSpPr>
          <p:cNvPr id="50" name="Etiqueta Exporta a FMU"/>
          <p:cNvSpPr/>
          <p:nvPr/>
        </p:nvSpPr>
        <p:spPr>
          <a:xfrm>
            <a:off x="9848088" y="5358384"/>
            <a:ext cx="1417320" cy="347472"/>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9848088" y="5358384"/>
            <a:ext cx="1417320"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Exporta a FMU</a:t>
            </a:r>
          </a:p>
        </p:txBody>
      </p:sp>
      <p:sp>
        <p:nvSpPr>
          <p:cNvPr id="5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Modelica [18] · arquitectura de Filters.HyperbaricDiskFilter: Modelo Dewatering v1.0 (elaboración propia, OpenModelica 1.27)</a:t>
            </a:r>
          </a:p>
        </p:txBody>
      </p:sp>
      <p:sp>
        <p:nvSpPr>
          <p:cNvPr id="5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6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V actual"/>
          <p:cNvSpPr/>
          <p:nvPr/>
        </p:nvSpPr>
        <p:spPr>
          <a:xfrm>
            <a:off x="6876288" y="6510528"/>
            <a:ext cx="8585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13/27 </a:t>
            </a:r>
            <a:r>
              <a:rPr sz="1000" b="0" i="0">
                <a:solidFill>
                  <a:srgbClr val="A9B8C9"/>
                </a:solidFill>
                <a:effectLst>
                  <a:glow rad="63500">
                    <a:srgbClr val="001633">
                      <a:alpha val="85000"/>
                    </a:srgbClr>
                  </a:glow>
                </a:effectLst>
                <a:latin typeface="Montserrat"/>
              </a:rPr>
              <a:t>· Gemelos Digitales para Minería 4.0 · 82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Las perillas del modelo: cinco parámetros que lo sintonizan con la realidad</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EL MODELO · PARÁMETROS</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física da la forma; los parámetros dan el número. Hoy salen de la ficha del fabricante o son supuestos documentados. En operación, el gemelo los vuelve a ajustar con las señales de la planta.</a:t>
            </a:r>
          </a:p>
        </p:txBody>
      </p:sp>
      <p:sp>
        <p:nvSpPr>
          <p:cNvPr id="7" name="Perilla Resistencia del queque"/>
          <p:cNvSpPr/>
          <p:nvPr/>
        </p:nvSpPr>
        <p:spPr>
          <a:xfrm>
            <a:off x="1252728" y="2468880"/>
            <a:ext cx="1870862"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Resistencia del queque"/>
          <p:cNvSpPr/>
          <p:nvPr/>
        </p:nvSpPr>
        <p:spPr>
          <a:xfrm>
            <a:off x="1252728" y="246888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89888" y="2596896"/>
            <a:ext cx="819302" cy="411480"/>
          </a:xfrm>
          <a:prstGeom prst="rect">
            <a:avLst/>
          </a:prstGeom>
          <a:noFill/>
        </p:spPr>
        <p:txBody>
          <a:bodyPr wrap="square" lIns="0" tIns="0" rIns="0" bIns="0" anchor="ctr">
            <a:spAutoFit/>
          </a:bodyPr>
          <a:lstStyle/>
          <a:p>
            <a:pPr algn="l">
              <a:spcAft>
                <a:spcPts val="600"/>
              </a:spcAft>
            </a:pPr>
            <a:r>
              <a:rPr sz="2000" b="0" i="0">
                <a:solidFill>
                  <a:srgbClr val="FFAB40"/>
                </a:solidFill>
                <a:effectLst>
                  <a:glow rad="63500">
                    <a:srgbClr val="001633">
                      <a:alpha val="85000"/>
                    </a:srgbClr>
                  </a:glow>
                </a:effectLst>
                <a:latin typeface="Montserrat"/>
              </a:rPr>
              <a:t>α</a:t>
            </a:r>
          </a:p>
        </p:txBody>
      </p:sp>
      <p:sp>
        <p:nvSpPr>
          <p:cNvPr id="10" name="Etiqueta calibrado"/>
          <p:cNvSpPr/>
          <p:nvPr/>
        </p:nvSpPr>
        <p:spPr>
          <a:xfrm>
            <a:off x="2254910" y="2670048"/>
            <a:ext cx="731520" cy="219456"/>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254910" y="2670048"/>
            <a:ext cx="731520" cy="219456"/>
          </a:xfrm>
          <a:prstGeom prst="rect">
            <a:avLst/>
          </a:prstGeom>
          <a:noFill/>
        </p:spPr>
        <p:txBody>
          <a:bodyPr wrap="square" lIns="0" tIns="0" rIns="0" bIns="0" anchor="ctr">
            <a:spAutoFit/>
          </a:bodyPr>
          <a:lstStyle/>
          <a:p>
            <a:pPr algn="ctr">
              <a:spcAft>
                <a:spcPts val="600"/>
              </a:spcAft>
            </a:pPr>
            <a:r>
              <a:rPr sz="700" b="0" i="0">
                <a:solidFill>
                  <a:srgbClr val="85D5E6"/>
                </a:solidFill>
                <a:effectLst>
                  <a:glow rad="63500">
                    <a:srgbClr val="001633">
                      <a:alpha val="85000"/>
                    </a:srgbClr>
                  </a:glow>
                </a:effectLst>
                <a:latin typeface="Montserrat"/>
              </a:rPr>
              <a:t>calibrado</a:t>
            </a:r>
          </a:p>
        </p:txBody>
      </p:sp>
      <p:sp>
        <p:nvSpPr>
          <p:cNvPr id="12" name="TextBox 11"/>
          <p:cNvSpPr txBox="1"/>
          <p:nvPr/>
        </p:nvSpPr>
        <p:spPr>
          <a:xfrm>
            <a:off x="1389888" y="3035808"/>
            <a:ext cx="1596542" cy="22860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Resistencia del queque</a:t>
            </a:r>
          </a:p>
        </p:txBody>
      </p:sp>
      <p:sp>
        <p:nvSpPr>
          <p:cNvPr id="13" name="TextBox 12"/>
          <p:cNvSpPr txBox="1"/>
          <p:nvPr/>
        </p:nvSpPr>
        <p:spPr>
          <a:xfrm>
            <a:off x="1389888" y="3337560"/>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AJUSTA</a:t>
            </a:r>
          </a:p>
          <a:p>
            <a:pPr algn="l">
              <a:spcAft>
                <a:spcPts val="0"/>
              </a:spcAft>
            </a:pPr>
            <a:r>
              <a:rPr sz="850" b="0" i="0">
                <a:solidFill>
                  <a:srgbClr val="85D5E6"/>
                </a:solidFill>
                <a:effectLst>
                  <a:glow rad="63500">
                    <a:srgbClr val="001633">
                      <a:alpha val="85000"/>
                    </a:srgbClr>
                  </a:glow>
                </a:effectLst>
                <a:latin typeface="Montserrat"/>
              </a:rPr>
              <a:t>capacidad</a:t>
            </a:r>
          </a:p>
        </p:txBody>
      </p:sp>
      <p:sp>
        <p:nvSpPr>
          <p:cNvPr id="14" name="TextBox 13"/>
          <p:cNvSpPr txBox="1"/>
          <p:nvPr/>
        </p:nvSpPr>
        <p:spPr>
          <a:xfrm>
            <a:off x="1389888" y="3758184"/>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HOY</a:t>
            </a:r>
          </a:p>
          <a:p>
            <a:pPr algn="l">
              <a:spcAft>
                <a:spcPts val="0"/>
              </a:spcAft>
            </a:pPr>
            <a:r>
              <a:rPr sz="850" b="0" i="0">
                <a:solidFill>
                  <a:srgbClr val="A9B8C9"/>
                </a:solidFill>
                <a:effectLst>
                  <a:glow rad="63500">
                    <a:srgbClr val="001633">
                      <a:alpha val="85000"/>
                    </a:srgbClr>
                  </a:glow>
                </a:effectLst>
                <a:latin typeface="Montserrat"/>
              </a:rPr>
              <a:t>calibrado a ≈ 990 kg/m²h (cobre: 750–1200)</a:t>
            </a:r>
          </a:p>
        </p:txBody>
      </p:sp>
      <p:sp>
        <p:nvSpPr>
          <p:cNvPr id="15" name="TextBox 14"/>
          <p:cNvSpPr txBox="1"/>
          <p:nvPr/>
        </p:nvSpPr>
        <p:spPr>
          <a:xfrm>
            <a:off x="1389888" y="4178808"/>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SE SINTONIZA CON</a:t>
            </a:r>
          </a:p>
          <a:p>
            <a:pPr algn="l">
              <a:spcAft>
                <a:spcPts val="0"/>
              </a:spcAft>
            </a:pPr>
            <a:r>
              <a:rPr sz="850" b="0" i="0">
                <a:solidFill>
                  <a:srgbClr val="FFFFFF"/>
                </a:solidFill>
                <a:effectLst>
                  <a:glow rad="63500">
                    <a:srgbClr val="001633">
                      <a:alpha val="85000"/>
                    </a:srgbClr>
                  </a:glow>
                </a:effectLst>
                <a:latin typeface="Montserrat"/>
              </a:rPr>
              <a:t>t/h medidas</a:t>
            </a:r>
          </a:p>
        </p:txBody>
      </p:sp>
      <p:sp>
        <p:nvSpPr>
          <p:cNvPr id="16" name="Perilla Resistencia de la tela"/>
          <p:cNvSpPr/>
          <p:nvPr/>
        </p:nvSpPr>
        <p:spPr>
          <a:xfrm>
            <a:off x="3288182" y="2468880"/>
            <a:ext cx="1870862"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Borde Resistencia de la tela"/>
          <p:cNvSpPr/>
          <p:nvPr/>
        </p:nvSpPr>
        <p:spPr>
          <a:xfrm>
            <a:off x="3288182" y="246888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425342" y="2596896"/>
            <a:ext cx="819302" cy="411480"/>
          </a:xfrm>
          <a:prstGeom prst="rect">
            <a:avLst/>
          </a:prstGeom>
          <a:noFill/>
        </p:spPr>
        <p:txBody>
          <a:bodyPr wrap="square" lIns="0" tIns="0" rIns="0" bIns="0" anchor="ctr">
            <a:spAutoFit/>
          </a:bodyPr>
          <a:lstStyle/>
          <a:p>
            <a:pPr algn="l">
              <a:spcAft>
                <a:spcPts val="600"/>
              </a:spcAft>
            </a:pPr>
            <a:r>
              <a:rPr sz="2000" b="0" i="0">
                <a:solidFill>
                  <a:srgbClr val="FFAB40"/>
                </a:solidFill>
                <a:effectLst>
                  <a:glow rad="63500">
                    <a:srgbClr val="001633">
                      <a:alpha val="85000"/>
                    </a:srgbClr>
                  </a:glow>
                </a:effectLst>
                <a:latin typeface="Montserrat"/>
              </a:rPr>
              <a:t>R</a:t>
            </a:r>
            <a:r>
              <a:rPr sz="2000" b="0" i="0" baseline="-25000">
                <a:solidFill>
                  <a:srgbClr val="FFAB40"/>
                </a:solidFill>
                <a:effectLst>
                  <a:glow rad="63500">
                    <a:srgbClr val="001633">
                      <a:alpha val="85000"/>
                    </a:srgbClr>
                  </a:glow>
                </a:effectLst>
                <a:latin typeface="Montserrat"/>
              </a:rPr>
              <a:t>m</a:t>
            </a:r>
          </a:p>
        </p:txBody>
      </p:sp>
      <p:sp>
        <p:nvSpPr>
          <p:cNvPr id="19" name="Etiqueta supuesto"/>
          <p:cNvSpPr/>
          <p:nvPr/>
        </p:nvSpPr>
        <p:spPr>
          <a:xfrm>
            <a:off x="4290364" y="2670048"/>
            <a:ext cx="731520" cy="219456"/>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290364" y="2670048"/>
            <a:ext cx="731520" cy="219456"/>
          </a:xfrm>
          <a:prstGeom prst="rect">
            <a:avLst/>
          </a:prstGeom>
          <a:noFill/>
        </p:spPr>
        <p:txBody>
          <a:bodyPr wrap="square" lIns="0" tIns="0" rIns="0" bIns="0" anchor="ctr">
            <a:spAutoFit/>
          </a:bodyPr>
          <a:lstStyle/>
          <a:p>
            <a:pPr algn="ctr">
              <a:spcAft>
                <a:spcPts val="600"/>
              </a:spcAft>
            </a:pPr>
            <a:r>
              <a:rPr sz="700" b="0" i="0">
                <a:solidFill>
                  <a:srgbClr val="A9B8C9"/>
                </a:solidFill>
                <a:effectLst>
                  <a:glow rad="63500">
                    <a:srgbClr val="001633">
                      <a:alpha val="85000"/>
                    </a:srgbClr>
                  </a:glow>
                </a:effectLst>
                <a:latin typeface="Montserrat"/>
              </a:rPr>
              <a:t>supuesto</a:t>
            </a:r>
          </a:p>
        </p:txBody>
      </p:sp>
      <p:sp>
        <p:nvSpPr>
          <p:cNvPr id="21" name="TextBox 20"/>
          <p:cNvSpPr txBox="1"/>
          <p:nvPr/>
        </p:nvSpPr>
        <p:spPr>
          <a:xfrm>
            <a:off x="3425342" y="3035808"/>
            <a:ext cx="1596542" cy="22860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Resistencia de la tela</a:t>
            </a:r>
          </a:p>
        </p:txBody>
      </p:sp>
      <p:sp>
        <p:nvSpPr>
          <p:cNvPr id="22" name="TextBox 21"/>
          <p:cNvSpPr txBox="1"/>
          <p:nvPr/>
        </p:nvSpPr>
        <p:spPr>
          <a:xfrm>
            <a:off x="3425342" y="3337560"/>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AJUSTA</a:t>
            </a:r>
          </a:p>
          <a:p>
            <a:pPr algn="l">
              <a:spcAft>
                <a:spcPts val="0"/>
              </a:spcAft>
            </a:pPr>
            <a:r>
              <a:rPr sz="850" b="0" i="0">
                <a:solidFill>
                  <a:srgbClr val="85D5E6"/>
                </a:solidFill>
                <a:effectLst>
                  <a:glow rad="63500">
                    <a:srgbClr val="001633">
                      <a:alpha val="85000"/>
                    </a:srgbClr>
                  </a:glow>
                </a:effectLst>
                <a:latin typeface="Montserrat"/>
              </a:rPr>
              <a:t>colmatación</a:t>
            </a:r>
          </a:p>
        </p:txBody>
      </p:sp>
      <p:sp>
        <p:nvSpPr>
          <p:cNvPr id="23" name="TextBox 22"/>
          <p:cNvSpPr txBox="1"/>
          <p:nvPr/>
        </p:nvSpPr>
        <p:spPr>
          <a:xfrm>
            <a:off x="3425342" y="3758184"/>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HOY</a:t>
            </a:r>
          </a:p>
          <a:p>
            <a:pPr algn="l">
              <a:spcAft>
                <a:spcPts val="0"/>
              </a:spcAft>
            </a:pPr>
            <a:r>
              <a:rPr sz="850" b="0" i="0">
                <a:solidFill>
                  <a:srgbClr val="A9B8C9"/>
                </a:solidFill>
                <a:effectLst>
                  <a:glow rad="63500">
                    <a:srgbClr val="001633">
                      <a:alpha val="85000"/>
                    </a:srgbClr>
                  </a:glow>
                </a:effectLst>
                <a:latin typeface="Montserrat"/>
              </a:rPr>
              <a:t>tela limpia</a:t>
            </a:r>
          </a:p>
        </p:txBody>
      </p:sp>
      <p:sp>
        <p:nvSpPr>
          <p:cNvPr id="24" name="TextBox 23"/>
          <p:cNvSpPr txBox="1"/>
          <p:nvPr/>
        </p:nvSpPr>
        <p:spPr>
          <a:xfrm>
            <a:off x="3425342" y="4178808"/>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SE SINTONIZA CON</a:t>
            </a:r>
          </a:p>
          <a:p>
            <a:pPr algn="l">
              <a:spcAft>
                <a:spcPts val="0"/>
              </a:spcAft>
            </a:pPr>
            <a:r>
              <a:rPr sz="850" b="0" i="0">
                <a:solidFill>
                  <a:srgbClr val="FFFFFF"/>
                </a:solidFill>
                <a:effectLst>
                  <a:glow rad="63500">
                    <a:srgbClr val="001633">
                      <a:alpha val="85000"/>
                    </a:srgbClr>
                  </a:glow>
                </a:effectLst>
                <a:latin typeface="Montserrat"/>
              </a:rPr>
              <a:t>caída de t/h en el tiempo</a:t>
            </a:r>
          </a:p>
        </p:txBody>
      </p:sp>
      <p:sp>
        <p:nvSpPr>
          <p:cNvPr id="25" name="Perilla Permeabilidad al aire"/>
          <p:cNvSpPr/>
          <p:nvPr/>
        </p:nvSpPr>
        <p:spPr>
          <a:xfrm>
            <a:off x="5323636" y="2468880"/>
            <a:ext cx="1870862"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Borde Permeabilidad al aire"/>
          <p:cNvSpPr/>
          <p:nvPr/>
        </p:nvSpPr>
        <p:spPr>
          <a:xfrm>
            <a:off x="5323636" y="246888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460796" y="2596896"/>
            <a:ext cx="819302" cy="411480"/>
          </a:xfrm>
          <a:prstGeom prst="rect">
            <a:avLst/>
          </a:prstGeom>
          <a:noFill/>
        </p:spPr>
        <p:txBody>
          <a:bodyPr wrap="square" lIns="0" tIns="0" rIns="0" bIns="0" anchor="ctr">
            <a:spAutoFit/>
          </a:bodyPr>
          <a:lstStyle/>
          <a:p>
            <a:pPr algn="l">
              <a:spcAft>
                <a:spcPts val="600"/>
              </a:spcAft>
            </a:pPr>
            <a:r>
              <a:rPr sz="2000" b="0" i="0">
                <a:solidFill>
                  <a:srgbClr val="FFAB40"/>
                </a:solidFill>
                <a:effectLst>
                  <a:glow rad="63500">
                    <a:srgbClr val="001633">
                      <a:alpha val="85000"/>
                    </a:srgbClr>
                  </a:glow>
                </a:effectLst>
                <a:latin typeface="Montserrat"/>
              </a:rPr>
              <a:t>k</a:t>
            </a:r>
            <a:r>
              <a:rPr sz="2000" b="0" i="0" baseline="-25000">
                <a:solidFill>
                  <a:srgbClr val="FFAB40"/>
                </a:solidFill>
                <a:effectLst>
                  <a:glow rad="63500">
                    <a:srgbClr val="001633">
                      <a:alpha val="85000"/>
                    </a:srgbClr>
                  </a:glow>
                </a:effectLst>
                <a:latin typeface="Montserrat"/>
              </a:rPr>
              <a:t>rg</a:t>
            </a:r>
          </a:p>
        </p:txBody>
      </p:sp>
      <p:sp>
        <p:nvSpPr>
          <p:cNvPr id="28" name="Etiqueta supuesto"/>
          <p:cNvSpPr/>
          <p:nvPr/>
        </p:nvSpPr>
        <p:spPr>
          <a:xfrm>
            <a:off x="6325819" y="2670048"/>
            <a:ext cx="731520" cy="219456"/>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5819" y="2670048"/>
            <a:ext cx="731520" cy="219456"/>
          </a:xfrm>
          <a:prstGeom prst="rect">
            <a:avLst/>
          </a:prstGeom>
          <a:noFill/>
        </p:spPr>
        <p:txBody>
          <a:bodyPr wrap="square" lIns="0" tIns="0" rIns="0" bIns="0" anchor="ctr">
            <a:spAutoFit/>
          </a:bodyPr>
          <a:lstStyle/>
          <a:p>
            <a:pPr algn="ctr">
              <a:spcAft>
                <a:spcPts val="600"/>
              </a:spcAft>
            </a:pPr>
            <a:r>
              <a:rPr sz="700" b="0" i="0">
                <a:solidFill>
                  <a:srgbClr val="A9B8C9"/>
                </a:solidFill>
                <a:effectLst>
                  <a:glow rad="63500">
                    <a:srgbClr val="001633">
                      <a:alpha val="85000"/>
                    </a:srgbClr>
                  </a:glow>
                </a:effectLst>
                <a:latin typeface="Montserrat"/>
              </a:rPr>
              <a:t>supuesto</a:t>
            </a:r>
          </a:p>
        </p:txBody>
      </p:sp>
      <p:sp>
        <p:nvSpPr>
          <p:cNvPr id="30" name="TextBox 29"/>
          <p:cNvSpPr txBox="1"/>
          <p:nvPr/>
        </p:nvSpPr>
        <p:spPr>
          <a:xfrm>
            <a:off x="5460796" y="3035808"/>
            <a:ext cx="1596542" cy="22860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Permeabilidad al aire</a:t>
            </a:r>
          </a:p>
        </p:txBody>
      </p:sp>
      <p:sp>
        <p:nvSpPr>
          <p:cNvPr id="31" name="TextBox 30"/>
          <p:cNvSpPr txBox="1"/>
          <p:nvPr/>
        </p:nvSpPr>
        <p:spPr>
          <a:xfrm>
            <a:off x="5460796" y="3337560"/>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AJUSTA</a:t>
            </a:r>
          </a:p>
          <a:p>
            <a:pPr algn="l">
              <a:spcAft>
                <a:spcPts val="0"/>
              </a:spcAft>
            </a:pPr>
            <a:r>
              <a:rPr sz="850" b="0" i="0">
                <a:solidFill>
                  <a:srgbClr val="85D5E6"/>
                </a:solidFill>
                <a:effectLst>
                  <a:glow rad="63500">
                    <a:srgbClr val="001633">
                      <a:alpha val="85000"/>
                    </a:srgbClr>
                  </a:glow>
                </a:effectLst>
                <a:latin typeface="Montserrat"/>
              </a:rPr>
              <a:t>consumo de aire</a:t>
            </a:r>
          </a:p>
        </p:txBody>
      </p:sp>
      <p:sp>
        <p:nvSpPr>
          <p:cNvPr id="32" name="TextBox 31"/>
          <p:cNvSpPr txBox="1"/>
          <p:nvPr/>
        </p:nvSpPr>
        <p:spPr>
          <a:xfrm>
            <a:off x="5460796" y="3758184"/>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HOY</a:t>
            </a:r>
          </a:p>
          <a:p>
            <a:pPr algn="l">
              <a:spcAft>
                <a:spcPts val="0"/>
              </a:spcAft>
            </a:pPr>
            <a:r>
              <a:rPr sz="850" b="0" i="0">
                <a:solidFill>
                  <a:srgbClr val="A9B8C9"/>
                </a:solidFill>
                <a:effectLst>
                  <a:glow rad="63500">
                    <a:srgbClr val="001633">
                      <a:alpha val="85000"/>
                    </a:srgbClr>
                  </a:glow>
                </a:effectLst>
                <a:latin typeface="Montserrat"/>
              </a:rPr>
              <a:t>≈ 20 Nm³ por tonelada</a:t>
            </a:r>
          </a:p>
        </p:txBody>
      </p:sp>
      <p:sp>
        <p:nvSpPr>
          <p:cNvPr id="33" name="TextBox 32"/>
          <p:cNvSpPr txBox="1"/>
          <p:nvPr/>
        </p:nvSpPr>
        <p:spPr>
          <a:xfrm>
            <a:off x="5460796" y="4178808"/>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SE SINTONIZA CON</a:t>
            </a:r>
          </a:p>
          <a:p>
            <a:pPr algn="l">
              <a:spcAft>
                <a:spcPts val="0"/>
              </a:spcAft>
            </a:pPr>
            <a:r>
              <a:rPr sz="850" b="0" i="0">
                <a:solidFill>
                  <a:srgbClr val="FFFFFF"/>
                </a:solidFill>
                <a:effectLst>
                  <a:glow rad="63500">
                    <a:srgbClr val="001633">
                      <a:alpha val="85000"/>
                    </a:srgbClr>
                  </a:glow>
                </a:effectLst>
                <a:latin typeface="Montserrat"/>
              </a:rPr>
              <a:t>caudal del compresor</a:t>
            </a:r>
          </a:p>
        </p:txBody>
      </p:sp>
      <p:sp>
        <p:nvSpPr>
          <p:cNvPr id="34" name="Perilla Curva de humedad"/>
          <p:cNvSpPr/>
          <p:nvPr/>
        </p:nvSpPr>
        <p:spPr>
          <a:xfrm>
            <a:off x="7359091" y="2468880"/>
            <a:ext cx="1870862"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Borde Curva de humedad"/>
          <p:cNvSpPr/>
          <p:nvPr/>
        </p:nvSpPr>
        <p:spPr>
          <a:xfrm>
            <a:off x="7359091" y="246888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496251" y="2596896"/>
            <a:ext cx="819302" cy="411480"/>
          </a:xfrm>
          <a:prstGeom prst="rect">
            <a:avLst/>
          </a:prstGeom>
          <a:noFill/>
        </p:spPr>
        <p:txBody>
          <a:bodyPr wrap="square" lIns="0" tIns="0" rIns="0" bIns="0" anchor="ctr">
            <a:spAutoFit/>
          </a:bodyPr>
          <a:lstStyle/>
          <a:p>
            <a:pPr algn="l">
              <a:spcAft>
                <a:spcPts val="600"/>
              </a:spcAft>
            </a:pPr>
            <a:r>
              <a:rPr sz="1400" b="0" i="0">
                <a:solidFill>
                  <a:srgbClr val="FFAB40"/>
                </a:solidFill>
                <a:effectLst>
                  <a:glow rad="63500">
                    <a:srgbClr val="001633">
                      <a:alpha val="85000"/>
                    </a:srgbClr>
                  </a:glow>
                </a:effectLst>
                <a:latin typeface="Montserrat"/>
              </a:rPr>
              <a:t>w(Δp, τ)</a:t>
            </a:r>
          </a:p>
        </p:txBody>
      </p:sp>
      <p:sp>
        <p:nvSpPr>
          <p:cNvPr id="37" name="Etiqueta ajustado"/>
          <p:cNvSpPr/>
          <p:nvPr/>
        </p:nvSpPr>
        <p:spPr>
          <a:xfrm>
            <a:off x="8361273" y="2670048"/>
            <a:ext cx="731520" cy="219456"/>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361273" y="2670048"/>
            <a:ext cx="731520" cy="219456"/>
          </a:xfrm>
          <a:prstGeom prst="rect">
            <a:avLst/>
          </a:prstGeom>
          <a:noFill/>
        </p:spPr>
        <p:txBody>
          <a:bodyPr wrap="square" lIns="0" tIns="0" rIns="0" bIns="0" anchor="ctr">
            <a:spAutoFit/>
          </a:bodyPr>
          <a:lstStyle/>
          <a:p>
            <a:pPr algn="ctr">
              <a:spcAft>
                <a:spcPts val="600"/>
              </a:spcAft>
            </a:pPr>
            <a:r>
              <a:rPr sz="700" b="0" i="0">
                <a:solidFill>
                  <a:srgbClr val="85D5E6"/>
                </a:solidFill>
                <a:effectLst>
                  <a:glow rad="63500">
                    <a:srgbClr val="001633">
                      <a:alpha val="85000"/>
                    </a:srgbClr>
                  </a:glow>
                </a:effectLst>
                <a:latin typeface="Montserrat"/>
              </a:rPr>
              <a:t>ajustado</a:t>
            </a:r>
          </a:p>
        </p:txBody>
      </p:sp>
      <p:sp>
        <p:nvSpPr>
          <p:cNvPr id="39" name="TextBox 38"/>
          <p:cNvSpPr txBox="1"/>
          <p:nvPr/>
        </p:nvSpPr>
        <p:spPr>
          <a:xfrm>
            <a:off x="7496251" y="3035808"/>
            <a:ext cx="1596542" cy="22860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Curva de humedad</a:t>
            </a:r>
          </a:p>
        </p:txBody>
      </p:sp>
      <p:sp>
        <p:nvSpPr>
          <p:cNvPr id="40" name="TextBox 39"/>
          <p:cNvSpPr txBox="1"/>
          <p:nvPr/>
        </p:nvSpPr>
        <p:spPr>
          <a:xfrm>
            <a:off x="7496251" y="3337560"/>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AJUSTA</a:t>
            </a:r>
          </a:p>
          <a:p>
            <a:pPr algn="l">
              <a:spcAft>
                <a:spcPts val="0"/>
              </a:spcAft>
            </a:pPr>
            <a:r>
              <a:rPr sz="850" b="0" i="0">
                <a:solidFill>
                  <a:srgbClr val="85D5E6"/>
                </a:solidFill>
                <a:effectLst>
                  <a:glow rad="63500">
                    <a:srgbClr val="001633">
                      <a:alpha val="85000"/>
                    </a:srgbClr>
                  </a:glow>
                </a:effectLst>
                <a:latin typeface="Montserrat"/>
              </a:rPr>
              <a:t>humedad</a:t>
            </a:r>
          </a:p>
        </p:txBody>
      </p:sp>
      <p:sp>
        <p:nvSpPr>
          <p:cNvPr id="41" name="TextBox 40"/>
          <p:cNvSpPr txBox="1"/>
          <p:nvPr/>
        </p:nvSpPr>
        <p:spPr>
          <a:xfrm>
            <a:off x="7496251" y="3758184"/>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HOY</a:t>
            </a:r>
          </a:p>
          <a:p>
            <a:pPr algn="l">
              <a:spcAft>
                <a:spcPts val="0"/>
              </a:spcAft>
            </a:pPr>
            <a:r>
              <a:rPr sz="850" b="0" i="0">
                <a:solidFill>
                  <a:srgbClr val="A9B8C9"/>
                </a:solidFill>
                <a:effectLst>
                  <a:glow rad="63500">
                    <a:srgbClr val="001633">
                      <a:alpha val="85000"/>
                    </a:srgbClr>
                  </a:glow>
                </a:effectLst>
                <a:latin typeface="Montserrat"/>
              </a:rPr>
              <a:t>ajuste a la curva ANDRITZ del cobre</a:t>
            </a:r>
          </a:p>
        </p:txBody>
      </p:sp>
      <p:sp>
        <p:nvSpPr>
          <p:cNvPr id="42" name="TextBox 41"/>
          <p:cNvSpPr txBox="1"/>
          <p:nvPr/>
        </p:nvSpPr>
        <p:spPr>
          <a:xfrm>
            <a:off x="7496251" y="4178808"/>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SE SINTONIZA CON</a:t>
            </a:r>
          </a:p>
          <a:p>
            <a:pPr algn="l">
              <a:spcAft>
                <a:spcPts val="0"/>
              </a:spcAft>
            </a:pPr>
            <a:r>
              <a:rPr sz="850" b="0" i="0">
                <a:solidFill>
                  <a:srgbClr val="FFFFFF"/>
                </a:solidFill>
                <a:effectLst>
                  <a:glow rad="63500">
                    <a:srgbClr val="001633">
                      <a:alpha val="85000"/>
                    </a:srgbClr>
                  </a:glow>
                </a:effectLst>
                <a:latin typeface="Montserrat"/>
              </a:rPr>
              <a:t>laboratorio o analizador</a:t>
            </a:r>
          </a:p>
        </p:txBody>
      </p:sp>
      <p:sp>
        <p:nvSpPr>
          <p:cNvPr id="43" name="Perilla Porosidad del queque"/>
          <p:cNvSpPr/>
          <p:nvPr/>
        </p:nvSpPr>
        <p:spPr>
          <a:xfrm>
            <a:off x="9394545" y="2468880"/>
            <a:ext cx="1870862"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Borde Porosidad del queque"/>
          <p:cNvSpPr/>
          <p:nvPr/>
        </p:nvSpPr>
        <p:spPr>
          <a:xfrm>
            <a:off x="9394545" y="246888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531705" y="2596896"/>
            <a:ext cx="819302" cy="411480"/>
          </a:xfrm>
          <a:prstGeom prst="rect">
            <a:avLst/>
          </a:prstGeom>
          <a:noFill/>
        </p:spPr>
        <p:txBody>
          <a:bodyPr wrap="square" lIns="0" tIns="0" rIns="0" bIns="0" anchor="ctr">
            <a:spAutoFit/>
          </a:bodyPr>
          <a:lstStyle/>
          <a:p>
            <a:pPr algn="l">
              <a:spcAft>
                <a:spcPts val="600"/>
              </a:spcAft>
            </a:pPr>
            <a:r>
              <a:rPr sz="2000" b="0" i="0">
                <a:solidFill>
                  <a:srgbClr val="FFAB40"/>
                </a:solidFill>
                <a:effectLst>
                  <a:glow rad="63500">
                    <a:srgbClr val="001633">
                      <a:alpha val="85000"/>
                    </a:srgbClr>
                  </a:glow>
                </a:effectLst>
                <a:latin typeface="Montserrat"/>
              </a:rPr>
              <a:t>ε</a:t>
            </a:r>
          </a:p>
        </p:txBody>
      </p:sp>
      <p:sp>
        <p:nvSpPr>
          <p:cNvPr id="46" name="Etiqueta supuesto"/>
          <p:cNvSpPr/>
          <p:nvPr/>
        </p:nvSpPr>
        <p:spPr>
          <a:xfrm>
            <a:off x="10396728" y="2670048"/>
            <a:ext cx="731520" cy="219456"/>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396728" y="2670048"/>
            <a:ext cx="731520" cy="219456"/>
          </a:xfrm>
          <a:prstGeom prst="rect">
            <a:avLst/>
          </a:prstGeom>
          <a:noFill/>
        </p:spPr>
        <p:txBody>
          <a:bodyPr wrap="square" lIns="0" tIns="0" rIns="0" bIns="0" anchor="ctr">
            <a:spAutoFit/>
          </a:bodyPr>
          <a:lstStyle/>
          <a:p>
            <a:pPr algn="ctr">
              <a:spcAft>
                <a:spcPts val="600"/>
              </a:spcAft>
            </a:pPr>
            <a:r>
              <a:rPr sz="700" b="0" i="0">
                <a:solidFill>
                  <a:srgbClr val="A9B8C9"/>
                </a:solidFill>
                <a:effectLst>
                  <a:glow rad="63500">
                    <a:srgbClr val="001633">
                      <a:alpha val="85000"/>
                    </a:srgbClr>
                  </a:glow>
                </a:effectLst>
                <a:latin typeface="Montserrat"/>
              </a:rPr>
              <a:t>supuesto</a:t>
            </a:r>
          </a:p>
        </p:txBody>
      </p:sp>
      <p:sp>
        <p:nvSpPr>
          <p:cNvPr id="48" name="TextBox 47"/>
          <p:cNvSpPr txBox="1"/>
          <p:nvPr/>
        </p:nvSpPr>
        <p:spPr>
          <a:xfrm>
            <a:off x="9531705" y="3035808"/>
            <a:ext cx="1596542" cy="228600"/>
          </a:xfrm>
          <a:prstGeom prst="rect">
            <a:avLst/>
          </a:prstGeom>
          <a:noFill/>
        </p:spPr>
        <p:txBody>
          <a:bodyPr wrap="square" lIns="0" tIns="0" rIns="0" bIns="0" anchor="t">
            <a:spAutoFit/>
          </a:bodyPr>
          <a:lstStyle/>
          <a:p>
            <a:pPr algn="l">
              <a:spcAft>
                <a:spcPts val="600"/>
              </a:spcAft>
            </a:pPr>
            <a:r>
              <a:rPr sz="950" b="1" i="0">
                <a:solidFill>
                  <a:srgbClr val="FFFFFF"/>
                </a:solidFill>
                <a:effectLst>
                  <a:glow rad="63500">
                    <a:srgbClr val="001633">
                      <a:alpha val="85000"/>
                    </a:srgbClr>
                  </a:glow>
                </a:effectLst>
                <a:latin typeface="Montserrat"/>
              </a:rPr>
              <a:t>Porosidad del queque</a:t>
            </a:r>
          </a:p>
        </p:txBody>
      </p:sp>
      <p:sp>
        <p:nvSpPr>
          <p:cNvPr id="49" name="TextBox 48"/>
          <p:cNvSpPr txBox="1"/>
          <p:nvPr/>
        </p:nvSpPr>
        <p:spPr>
          <a:xfrm>
            <a:off x="9531705" y="3337560"/>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AJUSTA</a:t>
            </a:r>
          </a:p>
          <a:p>
            <a:pPr algn="l">
              <a:spcAft>
                <a:spcPts val="0"/>
              </a:spcAft>
            </a:pPr>
            <a:r>
              <a:rPr sz="850" b="0" i="0">
                <a:solidFill>
                  <a:srgbClr val="85D5E6"/>
                </a:solidFill>
                <a:effectLst>
                  <a:glow rad="63500">
                    <a:srgbClr val="001633">
                      <a:alpha val="85000"/>
                    </a:srgbClr>
                  </a:glow>
                </a:effectLst>
                <a:latin typeface="Montserrat"/>
              </a:rPr>
              <a:t>agua retenida</a:t>
            </a:r>
          </a:p>
        </p:txBody>
      </p:sp>
      <p:sp>
        <p:nvSpPr>
          <p:cNvPr id="50" name="TextBox 49"/>
          <p:cNvSpPr txBox="1"/>
          <p:nvPr/>
        </p:nvSpPr>
        <p:spPr>
          <a:xfrm>
            <a:off x="9531705" y="3758184"/>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HOY</a:t>
            </a:r>
          </a:p>
          <a:p>
            <a:pPr algn="l">
              <a:spcAft>
                <a:spcPts val="0"/>
              </a:spcAft>
            </a:pPr>
            <a:r>
              <a:rPr sz="850" b="0" i="0">
                <a:solidFill>
                  <a:srgbClr val="A9B8C9"/>
                </a:solidFill>
                <a:effectLst>
                  <a:glow rad="63500">
                    <a:srgbClr val="001633">
                      <a:alpha val="85000"/>
                    </a:srgbClr>
                  </a:glow>
                </a:effectLst>
                <a:latin typeface="Montserrat"/>
              </a:rPr>
              <a:t>0,45</a:t>
            </a:r>
          </a:p>
        </p:txBody>
      </p:sp>
      <p:sp>
        <p:nvSpPr>
          <p:cNvPr id="51" name="TextBox 50"/>
          <p:cNvSpPr txBox="1"/>
          <p:nvPr/>
        </p:nvSpPr>
        <p:spPr>
          <a:xfrm>
            <a:off x="9531705" y="4178808"/>
            <a:ext cx="1596542" cy="420624"/>
          </a:xfrm>
          <a:prstGeom prst="rect">
            <a:avLst/>
          </a:prstGeom>
          <a:noFill/>
        </p:spPr>
        <p:txBody>
          <a:bodyPr wrap="square" lIns="0" tIns="0" rIns="0" bIns="0" anchor="t">
            <a:spAutoFit/>
          </a:bodyPr>
          <a:lstStyle/>
          <a:p>
            <a:pPr algn="l">
              <a:spcAft>
                <a:spcPts val="0"/>
              </a:spcAft>
            </a:pPr>
            <a:r>
              <a:rPr sz="700" b="1" i="0">
                <a:solidFill>
                  <a:srgbClr val="A9B8C9"/>
                </a:solidFill>
                <a:effectLst>
                  <a:glow rad="63500">
                    <a:srgbClr val="001633">
                      <a:alpha val="85000"/>
                    </a:srgbClr>
                  </a:glow>
                </a:effectLst>
                <a:latin typeface="Montserrat"/>
              </a:rPr>
              <a:t>SE SINTONIZA CON</a:t>
            </a:r>
          </a:p>
          <a:p>
            <a:pPr algn="l">
              <a:spcAft>
                <a:spcPts val="0"/>
              </a:spcAft>
            </a:pPr>
            <a:r>
              <a:rPr sz="850" b="0" i="0">
                <a:solidFill>
                  <a:srgbClr val="FFFFFF"/>
                </a:solidFill>
                <a:effectLst>
                  <a:glow rad="63500">
                    <a:srgbClr val="001633">
                      <a:alpha val="85000"/>
                    </a:srgbClr>
                  </a:glow>
                </a:effectLst>
                <a:latin typeface="Montserrat"/>
              </a:rPr>
              <a:t>balance de agua</a:t>
            </a:r>
          </a:p>
        </p:txBody>
      </p:sp>
      <p:sp>
        <p:nvSpPr>
          <p:cNvPr id="52" name="Sintonía inicial"/>
          <p:cNvSpPr/>
          <p:nvPr/>
        </p:nvSpPr>
        <p:spPr>
          <a:xfrm>
            <a:off x="1252728" y="4800600"/>
            <a:ext cx="4572000" cy="1005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1417320" y="4873752"/>
            <a:ext cx="4242816" cy="228600"/>
          </a:xfrm>
          <a:prstGeom prst="rect">
            <a:avLst/>
          </a:prstGeom>
          <a:noFill/>
        </p:spPr>
        <p:txBody>
          <a:bodyPr wrap="square" lIns="0" tIns="0" rIns="0" bIns="0" anchor="t">
            <a:spAutoFit/>
          </a:bodyPr>
          <a:lstStyle/>
          <a:p>
            <a:pPr algn="l">
              <a:spcAft>
                <a:spcPts val="600"/>
              </a:spcAft>
            </a:pPr>
            <a:r>
              <a:rPr sz="750" b="1" i="0">
                <a:solidFill>
                  <a:srgbClr val="FFAB40"/>
                </a:solidFill>
                <a:effectLst>
                  <a:glow rad="63500">
                    <a:srgbClr val="001633">
                      <a:alpha val="85000"/>
                    </a:srgbClr>
                  </a:glow>
                </a:effectLst>
                <a:latin typeface="Montserrat"/>
              </a:rPr>
              <a:t>SINTONÍA INICIAL · HUMEDAD vs. ANDRITZ</a:t>
            </a:r>
          </a:p>
        </p:txBody>
      </p:sp>
      <p:sp>
        <p:nvSpPr>
          <p:cNvPr id="54" name="TextBox 53"/>
          <p:cNvSpPr txBox="1"/>
          <p:nvPr/>
        </p:nvSpPr>
        <p:spPr>
          <a:xfrm>
            <a:off x="1417320" y="5129784"/>
            <a:ext cx="640080" cy="548640"/>
          </a:xfrm>
          <a:prstGeom prst="rect">
            <a:avLst/>
          </a:prstGeom>
          <a:noFill/>
        </p:spPr>
        <p:txBody>
          <a:bodyPr wrap="square" lIns="0" tIns="0" rIns="0" bIns="0" anchor="ctr">
            <a:spAutoFit/>
          </a:bodyPr>
          <a:lstStyle/>
          <a:p>
            <a:pPr algn="l">
              <a:spcAft>
                <a:spcPts val="600"/>
              </a:spcAft>
            </a:pPr>
            <a:r>
              <a:rPr sz="950" b="1" i="0">
                <a:solidFill>
                  <a:srgbClr val="A9B8C9"/>
                </a:solidFill>
                <a:effectLst>
                  <a:glow rad="63500">
                    <a:srgbClr val="001633">
                      <a:alpha val="85000"/>
                    </a:srgbClr>
                  </a:glow>
                </a:effectLst>
                <a:latin typeface="Montserrat"/>
              </a:rPr>
              <a:t>3 bar</a:t>
            </a:r>
          </a:p>
        </p:txBody>
      </p:sp>
      <p:sp>
        <p:nvSpPr>
          <p:cNvPr id="55" name="TextBox 54"/>
          <p:cNvSpPr txBox="1"/>
          <p:nvPr/>
        </p:nvSpPr>
        <p:spPr>
          <a:xfrm>
            <a:off x="2057400" y="5129784"/>
            <a:ext cx="1463040" cy="548640"/>
          </a:xfrm>
          <a:prstGeom prst="rect">
            <a:avLst/>
          </a:prstGeom>
          <a:noFill/>
        </p:spPr>
        <p:txBody>
          <a:bodyPr wrap="square" lIns="0" tIns="0" rIns="0" bIns="0" anchor="ctr">
            <a:spAutoFit/>
          </a:bodyPr>
          <a:lstStyle/>
          <a:p>
            <a:pPr algn="l">
              <a:spcAft>
                <a:spcPts val="0"/>
              </a:spcAft>
            </a:pPr>
            <a:r>
              <a:rPr sz="1600" b="1" i="0">
                <a:solidFill>
                  <a:srgbClr val="FFFFFF"/>
                </a:solidFill>
                <a:effectLst>
                  <a:glow rad="63500">
                    <a:srgbClr val="001633">
                      <a:alpha val="85000"/>
                    </a:srgbClr>
                  </a:glow>
                </a:effectLst>
                <a:latin typeface="Montserrat"/>
              </a:rPr>
              <a:t>9,97 %</a:t>
            </a:r>
            <a:r>
              <a:rPr sz="750" b="0" i="0">
                <a:solidFill>
                  <a:srgbClr val="A9B8C9"/>
                </a:solidFill>
                <a:effectLst>
                  <a:glow rad="63500">
                    <a:srgbClr val="001633">
                      <a:alpha val="85000"/>
                    </a:srgbClr>
                  </a:glow>
                </a:effectLst>
                <a:latin typeface="Montserrat"/>
              </a:rPr>
              <a:t>  modelo</a:t>
            </a:r>
          </a:p>
          <a:p>
            <a:pPr algn="l">
              <a:spcAft>
                <a:spcPts val="0"/>
              </a:spcAft>
            </a:pPr>
            <a:r>
              <a:rPr sz="950" b="1" i="0">
                <a:solidFill>
                  <a:srgbClr val="A9B8C9"/>
                </a:solidFill>
                <a:effectLst>
                  <a:glow rad="63500">
                    <a:srgbClr val="001633">
                      <a:alpha val="85000"/>
                    </a:srgbClr>
                  </a:glow>
                </a:effectLst>
                <a:latin typeface="Montserrat"/>
              </a:rPr>
              <a:t>9,92 %</a:t>
            </a:r>
            <a:r>
              <a:rPr sz="750" b="0" i="0">
                <a:solidFill>
                  <a:srgbClr val="A9B8C9"/>
                </a:solidFill>
                <a:effectLst>
                  <a:glow rad="63500">
                    <a:srgbClr val="001633">
                      <a:alpha val="85000"/>
                    </a:srgbClr>
                  </a:glow>
                </a:effectLst>
                <a:latin typeface="Montserrat"/>
              </a:rPr>
              <a:t>  ANDRITZ</a:t>
            </a:r>
          </a:p>
        </p:txBody>
      </p:sp>
      <p:sp>
        <p:nvSpPr>
          <p:cNvPr id="56" name="TextBox 55"/>
          <p:cNvSpPr txBox="1"/>
          <p:nvPr/>
        </p:nvSpPr>
        <p:spPr>
          <a:xfrm>
            <a:off x="3611880" y="5129784"/>
            <a:ext cx="640080" cy="548640"/>
          </a:xfrm>
          <a:prstGeom prst="rect">
            <a:avLst/>
          </a:prstGeom>
          <a:noFill/>
        </p:spPr>
        <p:txBody>
          <a:bodyPr wrap="square" lIns="0" tIns="0" rIns="0" bIns="0" anchor="ctr">
            <a:spAutoFit/>
          </a:bodyPr>
          <a:lstStyle/>
          <a:p>
            <a:pPr algn="l">
              <a:spcAft>
                <a:spcPts val="600"/>
              </a:spcAft>
            </a:pPr>
            <a:r>
              <a:rPr sz="950" b="1" i="0">
                <a:solidFill>
                  <a:srgbClr val="A9B8C9"/>
                </a:solidFill>
                <a:effectLst>
                  <a:glow rad="63500">
                    <a:srgbClr val="001633">
                      <a:alpha val="85000"/>
                    </a:srgbClr>
                  </a:glow>
                </a:effectLst>
                <a:latin typeface="Montserrat"/>
              </a:rPr>
              <a:t>5 bar</a:t>
            </a:r>
          </a:p>
        </p:txBody>
      </p:sp>
      <p:sp>
        <p:nvSpPr>
          <p:cNvPr id="57" name="TextBox 56"/>
          <p:cNvSpPr txBox="1"/>
          <p:nvPr/>
        </p:nvSpPr>
        <p:spPr>
          <a:xfrm>
            <a:off x="4251960" y="5129784"/>
            <a:ext cx="1463040" cy="548640"/>
          </a:xfrm>
          <a:prstGeom prst="rect">
            <a:avLst/>
          </a:prstGeom>
          <a:noFill/>
        </p:spPr>
        <p:txBody>
          <a:bodyPr wrap="square" lIns="0" tIns="0" rIns="0" bIns="0" anchor="ctr">
            <a:spAutoFit/>
          </a:bodyPr>
          <a:lstStyle/>
          <a:p>
            <a:pPr algn="l">
              <a:spcAft>
                <a:spcPts val="0"/>
              </a:spcAft>
            </a:pPr>
            <a:r>
              <a:rPr sz="1600" b="1" i="0">
                <a:solidFill>
                  <a:srgbClr val="FFFFFF"/>
                </a:solidFill>
                <a:effectLst>
                  <a:glow rad="63500">
                    <a:srgbClr val="001633">
                      <a:alpha val="85000"/>
                    </a:srgbClr>
                  </a:glow>
                </a:effectLst>
                <a:latin typeface="Montserrat"/>
              </a:rPr>
              <a:t>9,05 %</a:t>
            </a:r>
            <a:r>
              <a:rPr sz="750" b="0" i="0">
                <a:solidFill>
                  <a:srgbClr val="A9B8C9"/>
                </a:solidFill>
                <a:effectLst>
                  <a:glow rad="63500">
                    <a:srgbClr val="001633">
                      <a:alpha val="85000"/>
                    </a:srgbClr>
                  </a:glow>
                </a:effectLst>
                <a:latin typeface="Montserrat"/>
              </a:rPr>
              <a:t>  modelo</a:t>
            </a:r>
          </a:p>
          <a:p>
            <a:pPr algn="l">
              <a:spcAft>
                <a:spcPts val="0"/>
              </a:spcAft>
            </a:pPr>
            <a:r>
              <a:rPr sz="950" b="1" i="0">
                <a:solidFill>
                  <a:srgbClr val="A9B8C9"/>
                </a:solidFill>
                <a:effectLst>
                  <a:glow rad="63500">
                    <a:srgbClr val="001633">
                      <a:alpha val="85000"/>
                    </a:srgbClr>
                  </a:glow>
                </a:effectLst>
                <a:latin typeface="Montserrat"/>
              </a:rPr>
              <a:t>9,04 %</a:t>
            </a:r>
            <a:r>
              <a:rPr sz="750" b="0" i="0">
                <a:solidFill>
                  <a:srgbClr val="A9B8C9"/>
                </a:solidFill>
                <a:effectLst>
                  <a:glow rad="63500">
                    <a:srgbClr val="001633">
                      <a:alpha val="85000"/>
                    </a:srgbClr>
                  </a:glow>
                </a:effectLst>
                <a:latin typeface="Montserrat"/>
              </a:rPr>
              <a:t>  ANDRITZ</a:t>
            </a:r>
          </a:p>
        </p:txBody>
      </p:sp>
      <p:sp>
        <p:nvSpPr>
          <p:cNvPr id="58" name="TextBox 57"/>
          <p:cNvSpPr txBox="1"/>
          <p:nvPr/>
        </p:nvSpPr>
        <p:spPr>
          <a:xfrm>
            <a:off x="6099048" y="4782312"/>
            <a:ext cx="5166360" cy="228600"/>
          </a:xfrm>
          <a:prstGeom prst="rect">
            <a:avLst/>
          </a:prstGeom>
          <a:noFill/>
        </p:spPr>
        <p:txBody>
          <a:bodyPr wrap="square" lIns="0" tIns="0" rIns="0" bIns="0" anchor="t">
            <a:spAutoFit/>
          </a:bodyPr>
          <a:lstStyle/>
          <a:p>
            <a:pPr algn="l">
              <a:spcAft>
                <a:spcPts val="600"/>
              </a:spcAft>
            </a:pPr>
            <a:r>
              <a:rPr sz="750" b="1" i="0">
                <a:solidFill>
                  <a:srgbClr val="FFAB40"/>
                </a:solidFill>
                <a:effectLst>
                  <a:glow rad="63500">
                    <a:srgbClr val="001633">
                      <a:alpha val="85000"/>
                    </a:srgbClr>
                  </a:glow>
                </a:effectLst>
                <a:latin typeface="Montserrat"/>
              </a:rPr>
              <a:t>EN OPERACIÓN · DECISIÓN 6</a:t>
            </a:r>
          </a:p>
        </p:txBody>
      </p:sp>
      <p:sp>
        <p:nvSpPr>
          <p:cNvPr id="59" name="Paso Medir"/>
          <p:cNvSpPr/>
          <p:nvPr/>
        </p:nvSpPr>
        <p:spPr>
          <a:xfrm>
            <a:off x="6099048" y="5074920"/>
            <a:ext cx="1539240" cy="731520"/>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6153912" y="5074920"/>
            <a:ext cx="1429512" cy="731520"/>
          </a:xfrm>
          <a:prstGeom prst="rect">
            <a:avLst/>
          </a:prstGeom>
          <a:noFill/>
        </p:spPr>
        <p:txBody>
          <a:bodyPr wrap="square" lIns="0" tIns="0" rIns="0" bIns="0" anchor="ctr">
            <a:spAutoFit/>
          </a:bodyPr>
          <a:lstStyle/>
          <a:p>
            <a:pPr algn="ctr">
              <a:spcAft>
                <a:spcPts val="0"/>
              </a:spcAft>
            </a:pPr>
            <a:r>
              <a:rPr sz="950" b="1" i="0">
                <a:solidFill>
                  <a:srgbClr val="FFFFFF"/>
                </a:solidFill>
                <a:effectLst>
                  <a:glow rad="63500">
                    <a:srgbClr val="001633">
                      <a:alpha val="85000"/>
                    </a:srgbClr>
                  </a:glow>
                </a:effectLst>
                <a:latin typeface="Montserrat"/>
              </a:rPr>
              <a:t>Medir</a:t>
            </a:r>
          </a:p>
          <a:p>
            <a:pPr algn="ctr">
              <a:spcAft>
                <a:spcPts val="0"/>
              </a:spcAft>
            </a:pPr>
            <a:r>
              <a:rPr sz="800" b="0" i="0">
                <a:solidFill>
                  <a:srgbClr val="A9B8C9"/>
                </a:solidFill>
                <a:effectLst>
                  <a:glow rad="63500">
                    <a:srgbClr val="001633">
                      <a:alpha val="85000"/>
                    </a:srgbClr>
                  </a:glow>
                </a:effectLst>
                <a:latin typeface="Montserrat"/>
              </a:rPr>
              <a:t>t/h y presión</a:t>
            </a:r>
          </a:p>
        </p:txBody>
      </p:sp>
      <p:cxnSp>
        <p:nvCxnSpPr>
          <p:cNvPr id="61" name="Connector 60"/>
          <p:cNvCxnSpPr/>
          <p:nvPr/>
        </p:nvCxnSpPr>
        <p:spPr>
          <a:xfrm>
            <a:off x="7674864" y="5440680"/>
            <a:ext cx="201168"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Paso Re‑estimar"/>
          <p:cNvSpPr/>
          <p:nvPr/>
        </p:nvSpPr>
        <p:spPr>
          <a:xfrm>
            <a:off x="7912608" y="5074920"/>
            <a:ext cx="1539240" cy="73152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7967472" y="5074920"/>
            <a:ext cx="1429512" cy="731520"/>
          </a:xfrm>
          <a:prstGeom prst="rect">
            <a:avLst/>
          </a:prstGeom>
          <a:noFill/>
        </p:spPr>
        <p:txBody>
          <a:bodyPr wrap="square" lIns="0" tIns="0" rIns="0" bIns="0" anchor="ctr">
            <a:spAutoFit/>
          </a:bodyPr>
          <a:lstStyle/>
          <a:p>
            <a:pPr algn="ctr">
              <a:spcAft>
                <a:spcPts val="0"/>
              </a:spcAft>
            </a:pPr>
            <a:r>
              <a:rPr sz="950" b="1" i="0">
                <a:solidFill>
                  <a:srgbClr val="FFAB40"/>
                </a:solidFill>
                <a:effectLst>
                  <a:glow rad="63500">
                    <a:srgbClr val="001633">
                      <a:alpha val="85000"/>
                    </a:srgbClr>
                  </a:glow>
                </a:effectLst>
                <a:latin typeface="Montserrat"/>
              </a:rPr>
              <a:t>Re‑estimar</a:t>
            </a:r>
          </a:p>
          <a:p>
            <a:pPr algn="ctr">
              <a:spcAft>
                <a:spcPts val="0"/>
              </a:spcAft>
            </a:pPr>
            <a:r>
              <a:rPr sz="800" b="0" i="0">
                <a:solidFill>
                  <a:srgbClr val="A9B8C9"/>
                </a:solidFill>
                <a:effectLst>
                  <a:glow rad="63500">
                    <a:srgbClr val="001633">
                      <a:alpha val="85000"/>
                    </a:srgbClr>
                  </a:glow>
                </a:effectLst>
                <a:latin typeface="Montserrat"/>
              </a:rPr>
              <a:t>α y R_m</a:t>
            </a:r>
          </a:p>
        </p:txBody>
      </p:sp>
      <p:cxnSp>
        <p:nvCxnSpPr>
          <p:cNvPr id="64" name="Connector 63"/>
          <p:cNvCxnSpPr/>
          <p:nvPr/>
        </p:nvCxnSpPr>
        <p:spPr>
          <a:xfrm>
            <a:off x="9488424" y="5440680"/>
            <a:ext cx="201168"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Paso Vigilar"/>
          <p:cNvSpPr/>
          <p:nvPr/>
        </p:nvSpPr>
        <p:spPr>
          <a:xfrm>
            <a:off x="9726168" y="5074920"/>
            <a:ext cx="1539240" cy="731520"/>
          </a:xfrm>
          <a:prstGeom prst="rect">
            <a:avLst/>
          </a:prstGeom>
          <a:solidFill>
            <a:srgbClr val="0B264A"/>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9781032" y="5074920"/>
            <a:ext cx="1429512" cy="731520"/>
          </a:xfrm>
          <a:prstGeom prst="rect">
            <a:avLst/>
          </a:prstGeom>
          <a:noFill/>
        </p:spPr>
        <p:txBody>
          <a:bodyPr wrap="square" lIns="0" tIns="0" rIns="0" bIns="0" anchor="ctr">
            <a:spAutoFit/>
          </a:bodyPr>
          <a:lstStyle/>
          <a:p>
            <a:pPr algn="ctr">
              <a:spcAft>
                <a:spcPts val="0"/>
              </a:spcAft>
            </a:pPr>
            <a:r>
              <a:rPr sz="950" b="1" i="0">
                <a:solidFill>
                  <a:srgbClr val="FFFFFF"/>
                </a:solidFill>
                <a:effectLst>
                  <a:glow rad="63500">
                    <a:srgbClr val="001633">
                      <a:alpha val="85000"/>
                    </a:srgbClr>
                  </a:glow>
                </a:effectLst>
                <a:latin typeface="Montserrat"/>
              </a:rPr>
              <a:t>Vigilar</a:t>
            </a:r>
          </a:p>
          <a:p>
            <a:pPr algn="ctr">
              <a:spcAft>
                <a:spcPts val="0"/>
              </a:spcAft>
            </a:pPr>
            <a:r>
              <a:rPr sz="800" b="0" i="0">
                <a:solidFill>
                  <a:srgbClr val="A9B8C9"/>
                </a:solidFill>
                <a:effectLst>
                  <a:glow rad="63500">
                    <a:srgbClr val="001633">
                      <a:alpha val="85000"/>
                    </a:srgbClr>
                  </a:glow>
                </a:effectLst>
                <a:latin typeface="Montserrat"/>
              </a:rPr>
              <a:t>R_m que sube sin parar = tela tapándose</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Curva de humedad y rango de capacidad del cobre: ANDRITZ [26] · parámetros y ajuste: Modelo Dewatering v1.0 (elaboración propia, OpenModelica 1.27)</a:t>
            </a:r>
          </a:p>
        </p:txBody>
      </p:sp>
      <p:sp>
        <p:nvSpPr>
          <p:cNvPr id="6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7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7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Avance IV actual"/>
          <p:cNvSpPr/>
          <p:nvPr/>
        </p:nvSpPr>
        <p:spPr>
          <a:xfrm>
            <a:off x="6876288" y="6510528"/>
            <a:ext cx="9245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14/27 </a:t>
            </a:r>
            <a:r>
              <a:rPr sz="1000" b="0" i="0">
                <a:solidFill>
                  <a:srgbClr val="A9B8C9"/>
                </a:solidFill>
                <a:effectLst>
                  <a:glow rad="63500">
                    <a:srgbClr val="001633">
                      <a:alpha val="85000"/>
                    </a:srgbClr>
                  </a:glow>
                </a:effectLst>
                <a:latin typeface="Montserrat"/>
              </a:rPr>
              <a:t>· Gemelos Digitales para Minería 4.0 · 83</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Paso de 1 segundo: más fino que lo más rápido que importa en el filtro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3 · PASO DE TIEMPO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modelo avanza a pasos de tiempo. El paso tiene que ser más corto que lo más rápido que importa: el movimiento de las compuertas de la esclusa, que dura pocos segundos.</a:t>
            </a:r>
          </a:p>
        </p:txBody>
      </p:sp>
      <p:sp>
        <p:nvSpPr>
          <p:cNvPr id="7" name="Escalas de tiempo"/>
          <p:cNvSpPr/>
          <p:nvPr/>
        </p:nvSpPr>
        <p:spPr>
          <a:xfrm>
            <a:off x="1252728" y="2468880"/>
            <a:ext cx="6126480" cy="22860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ajo el paso"/>
          <p:cNvSpPr/>
          <p:nvPr/>
        </p:nvSpPr>
        <p:spPr>
          <a:xfrm>
            <a:off x="3127247" y="2606040"/>
            <a:ext cx="677731" cy="1783080"/>
          </a:xfrm>
          <a:prstGeom prst="rect">
            <a:avLst/>
          </a:prstGeom>
          <a:solidFill>
            <a:srgbClr val="2A45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9" name="Rejilla 1 s"/>
          <p:cNvCxnSpPr/>
          <p:nvPr/>
        </p:nvCxnSpPr>
        <p:spPr>
          <a:xfrm>
            <a:off x="3804978"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84938"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 s</a:t>
            </a:r>
          </a:p>
        </p:txBody>
      </p:sp>
      <p:cxnSp>
        <p:nvCxnSpPr>
          <p:cNvPr id="11" name="Rejilla 10 s"/>
          <p:cNvCxnSpPr/>
          <p:nvPr/>
        </p:nvCxnSpPr>
        <p:spPr>
          <a:xfrm>
            <a:off x="4482709"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162669"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10 s</a:t>
            </a:r>
          </a:p>
        </p:txBody>
      </p:sp>
      <p:cxnSp>
        <p:nvCxnSpPr>
          <p:cNvPr id="13" name="Rejilla 1 min"/>
          <p:cNvCxnSpPr/>
          <p:nvPr/>
        </p:nvCxnSpPr>
        <p:spPr>
          <a:xfrm>
            <a:off x="5010086"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90046"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 min</a:t>
            </a:r>
          </a:p>
        </p:txBody>
      </p:sp>
      <p:cxnSp>
        <p:nvCxnSpPr>
          <p:cNvPr id="15" name="Rejilla 10 min"/>
          <p:cNvCxnSpPr/>
          <p:nvPr/>
        </p:nvCxnSpPr>
        <p:spPr>
          <a:xfrm>
            <a:off x="5687818"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67778"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10 min</a:t>
            </a:r>
          </a:p>
        </p:txBody>
      </p:sp>
      <p:cxnSp>
        <p:nvCxnSpPr>
          <p:cNvPr id="17" name="Rejilla 1 h"/>
          <p:cNvCxnSpPr/>
          <p:nvPr/>
        </p:nvCxnSpPr>
        <p:spPr>
          <a:xfrm>
            <a:off x="6215195"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95155"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 h</a:t>
            </a:r>
          </a:p>
        </p:txBody>
      </p:sp>
      <p:cxnSp>
        <p:nvCxnSpPr>
          <p:cNvPr id="19" name="Rejilla 1 día"/>
          <p:cNvCxnSpPr/>
          <p:nvPr/>
        </p:nvCxnSpPr>
        <p:spPr>
          <a:xfrm>
            <a:off x="7150608" y="2606040"/>
            <a:ext cx="0" cy="178308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30568" y="4434840"/>
            <a:ext cx="640080" cy="201168"/>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1 día</a:t>
            </a:r>
          </a:p>
        </p:txBody>
      </p:sp>
      <p:sp>
        <p:nvSpPr>
          <p:cNvPr id="21" name="TextBox 20"/>
          <p:cNvSpPr txBox="1"/>
          <p:nvPr/>
        </p:nvSpPr>
        <p:spPr>
          <a:xfrm>
            <a:off x="1417320" y="265176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Compuertas de la esclusa</a:t>
            </a:r>
          </a:p>
        </p:txBody>
      </p:sp>
      <p:sp>
        <p:nvSpPr>
          <p:cNvPr id="22" name="Escala Compuertas de la esclusa"/>
          <p:cNvSpPr/>
          <p:nvPr/>
        </p:nvSpPr>
        <p:spPr>
          <a:xfrm>
            <a:off x="4213013" y="2719578"/>
            <a:ext cx="389039" cy="146304"/>
          </a:xfrm>
          <a:prstGeom prst="roundRect">
            <a:avLst>
              <a:gd name="adj" fmla="val 50000"/>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417320" y="293370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Control de presión</a:t>
            </a:r>
          </a:p>
        </p:txBody>
      </p:sp>
      <p:sp>
        <p:nvSpPr>
          <p:cNvPr id="24" name="Escala Control de presión"/>
          <p:cNvSpPr/>
          <p:nvPr/>
        </p:nvSpPr>
        <p:spPr>
          <a:xfrm>
            <a:off x="4686726" y="3001518"/>
            <a:ext cx="204018" cy="14630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417320" y="321564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Una vuelta del disco</a:t>
            </a:r>
          </a:p>
        </p:txBody>
      </p:sp>
      <p:sp>
        <p:nvSpPr>
          <p:cNvPr id="26" name="Escala Una vuelta del disco"/>
          <p:cNvSpPr/>
          <p:nvPr/>
        </p:nvSpPr>
        <p:spPr>
          <a:xfrm>
            <a:off x="4984476" y="3283458"/>
            <a:ext cx="128016" cy="14630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417320" y="349758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Ciclo de la esclusa</a:t>
            </a:r>
          </a:p>
        </p:txBody>
      </p:sp>
      <p:sp>
        <p:nvSpPr>
          <p:cNvPr id="28" name="Escala Ciclo de la esclusa"/>
          <p:cNvSpPr/>
          <p:nvPr/>
        </p:nvSpPr>
        <p:spPr>
          <a:xfrm>
            <a:off x="5087309" y="3565398"/>
            <a:ext cx="128016" cy="146304"/>
          </a:xfrm>
          <a:prstGeom prst="roundRect">
            <a:avLst>
              <a:gd name="adj" fmla="val 50000"/>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17320" y="377952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Nivel de la batea</a:t>
            </a:r>
          </a:p>
        </p:txBody>
      </p:sp>
      <p:sp>
        <p:nvSpPr>
          <p:cNvPr id="30" name="Escala Nivel de la batea"/>
          <p:cNvSpPr/>
          <p:nvPr/>
        </p:nvSpPr>
        <p:spPr>
          <a:xfrm>
            <a:off x="5214104" y="3847338"/>
            <a:ext cx="593056" cy="146304"/>
          </a:xfrm>
          <a:prstGeom prst="roundRect">
            <a:avLst>
              <a:gd name="adj" fmla="val 50000"/>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417320" y="4061460"/>
            <a:ext cx="1691640" cy="281940"/>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Colmatación de la tela</a:t>
            </a:r>
          </a:p>
        </p:txBody>
      </p:sp>
      <p:sp>
        <p:nvSpPr>
          <p:cNvPr id="32" name="Escala Colmatación de la tela"/>
          <p:cNvSpPr/>
          <p:nvPr/>
        </p:nvSpPr>
        <p:spPr>
          <a:xfrm>
            <a:off x="6215195" y="4129278"/>
            <a:ext cx="935413" cy="146304"/>
          </a:xfrm>
          <a:prstGeom prst="roundRect">
            <a:avLst>
              <a:gd name="adj" fmla="val 50000"/>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3" name="Paso 1 s"/>
          <p:cNvCxnSpPr/>
          <p:nvPr/>
        </p:nvCxnSpPr>
        <p:spPr>
          <a:xfrm>
            <a:off x="3804978" y="2560320"/>
            <a:ext cx="0" cy="1828800"/>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127247" y="2606040"/>
            <a:ext cx="641155" cy="457200"/>
          </a:xfrm>
          <a:prstGeom prst="rect">
            <a:avLst/>
          </a:prstGeom>
          <a:noFill/>
        </p:spPr>
        <p:txBody>
          <a:bodyPr wrap="square" lIns="0" tIns="0" rIns="0" bIns="0" anchor="t">
            <a:spAutoFit/>
          </a:bodyPr>
          <a:lstStyle/>
          <a:p>
            <a:pPr algn="r">
              <a:spcAft>
                <a:spcPts val="0"/>
              </a:spcAft>
            </a:pPr>
            <a:r>
              <a:rPr sz="750" b="1" i="0">
                <a:solidFill>
                  <a:srgbClr val="FFAB40"/>
                </a:solidFill>
                <a:effectLst>
                  <a:glow rad="63500">
                    <a:srgbClr val="001633">
                      <a:alpha val="85000"/>
                    </a:srgbClr>
                  </a:glow>
                </a:effectLst>
                <a:latin typeface="Montserrat"/>
              </a:rPr>
              <a:t>paso</a:t>
            </a:r>
          </a:p>
          <a:p>
            <a:pPr algn="r">
              <a:spcAft>
                <a:spcPts val="0"/>
              </a:spcAft>
            </a:pPr>
            <a:r>
              <a:rPr sz="900" b="1" i="0">
                <a:solidFill>
                  <a:srgbClr val="FFAB40"/>
                </a:solidFill>
                <a:effectLst>
                  <a:glow rad="63500">
                    <a:srgbClr val="001633">
                      <a:alpha val="85000"/>
                    </a:srgbClr>
                  </a:glow>
                </a:effectLst>
                <a:latin typeface="Montserrat"/>
              </a:rPr>
              <a:t>1 s</a:t>
            </a:r>
          </a:p>
        </p:txBody>
      </p:sp>
      <p:sp>
        <p:nvSpPr>
          <p:cNvPr id="35" name="TextBox 34"/>
          <p:cNvSpPr txBox="1"/>
          <p:nvPr/>
        </p:nvSpPr>
        <p:spPr>
          <a:xfrm>
            <a:off x="1252728" y="4873752"/>
            <a:ext cx="6126480" cy="201168"/>
          </a:xfrm>
          <a:prstGeom prst="rect">
            <a:avLst/>
          </a:prstGeom>
          <a:noFill/>
        </p:spPr>
        <p:txBody>
          <a:bodyPr wrap="square" lIns="0" tIns="0" rIns="0" bIns="0" anchor="t">
            <a:spAutoFit/>
          </a:bodyPr>
          <a:lstStyle/>
          <a:p>
            <a:pPr algn="l">
              <a:spcAft>
                <a:spcPts val="600"/>
              </a:spcAft>
            </a:pPr>
            <a:r>
              <a:rPr sz="750" b="1" i="0">
                <a:solidFill>
                  <a:srgbClr val="A9B8C9"/>
                </a:solidFill>
                <a:effectLst>
                  <a:glow rad="63500">
                    <a:srgbClr val="001633">
                      <a:alpha val="85000"/>
                    </a:srgbClr>
                  </a:glow>
                </a:effectLst>
                <a:latin typeface="Montserrat"/>
              </a:rPr>
              <a:t>TRES PASOS POSIBLES</a:t>
            </a:r>
          </a:p>
        </p:txBody>
      </p:sp>
      <p:sp>
        <p:nvSpPr>
          <p:cNvPr id="36" name="Paso 0,1 s"/>
          <p:cNvSpPr/>
          <p:nvPr/>
        </p:nvSpPr>
        <p:spPr>
          <a:xfrm>
            <a:off x="1252728" y="5120640"/>
            <a:ext cx="1950720" cy="6583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62456" y="5120640"/>
            <a:ext cx="640080" cy="658368"/>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0,1 s</a:t>
            </a:r>
          </a:p>
        </p:txBody>
      </p:sp>
      <p:sp>
        <p:nvSpPr>
          <p:cNvPr id="38" name="TextBox 37"/>
          <p:cNvSpPr txBox="1"/>
          <p:nvPr/>
        </p:nvSpPr>
        <p:spPr>
          <a:xfrm>
            <a:off x="2002536" y="5120640"/>
            <a:ext cx="1109472" cy="658368"/>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10 veces más cálculo, nada nuevo</a:t>
            </a:r>
          </a:p>
        </p:txBody>
      </p:sp>
      <p:sp>
        <p:nvSpPr>
          <p:cNvPr id="39" name="Paso 1 s"/>
          <p:cNvSpPr/>
          <p:nvPr/>
        </p:nvSpPr>
        <p:spPr>
          <a:xfrm>
            <a:off x="3340608" y="5120640"/>
            <a:ext cx="1950720" cy="658368"/>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450336" y="5120640"/>
            <a:ext cx="640080" cy="658368"/>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1 s</a:t>
            </a:r>
          </a:p>
        </p:txBody>
      </p:sp>
      <p:sp>
        <p:nvSpPr>
          <p:cNvPr id="41" name="TextBox 40"/>
          <p:cNvSpPr txBox="1"/>
          <p:nvPr/>
        </p:nvSpPr>
        <p:spPr>
          <a:xfrm>
            <a:off x="4090416" y="5120640"/>
            <a:ext cx="1109472" cy="658368"/>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elegido: ve cada movimiento de la esclusa</a:t>
            </a:r>
          </a:p>
        </p:txBody>
      </p:sp>
      <p:sp>
        <p:nvSpPr>
          <p:cNvPr id="42" name="Paso 10 s"/>
          <p:cNvSpPr/>
          <p:nvPr/>
        </p:nvSpPr>
        <p:spPr>
          <a:xfrm>
            <a:off x="5428488" y="5120640"/>
            <a:ext cx="1950720" cy="6583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5538216" y="5120640"/>
            <a:ext cx="640080" cy="658368"/>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10 s</a:t>
            </a:r>
          </a:p>
        </p:txBody>
      </p:sp>
      <p:sp>
        <p:nvSpPr>
          <p:cNvPr id="44" name="TextBox 43"/>
          <p:cNvSpPr txBox="1"/>
          <p:nvPr/>
        </p:nvSpPr>
        <p:spPr>
          <a:xfrm>
            <a:off x="6178296" y="5120640"/>
            <a:ext cx="1109472" cy="658368"/>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las compuertas caen entre dos pasos</a:t>
            </a:r>
          </a:p>
        </p:txBody>
      </p:sp>
      <p:sp>
        <p:nvSpPr>
          <p:cNvPr id="45" name="TextBox 44"/>
          <p:cNvSpPr txBox="1"/>
          <p:nvPr/>
        </p:nvSpPr>
        <p:spPr>
          <a:xfrm>
            <a:off x="7699248" y="2395728"/>
            <a:ext cx="356616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VERIFICADO, NO SUPUESTO</a:t>
            </a:r>
          </a:p>
        </p:txBody>
      </p:sp>
      <p:sp>
        <p:nvSpPr>
          <p:cNvPr id="46" name="Chequeo Los balances cierran"/>
          <p:cNvSpPr/>
          <p:nvPr/>
        </p:nvSpPr>
        <p:spPr>
          <a:xfrm>
            <a:off x="7699248" y="2670048"/>
            <a:ext cx="356616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7" name="Ícono circle-check" descr="circle-check-cyan.png"/>
          <p:cNvPicPr>
            <a:picLocks noChangeAspect="1"/>
          </p:cNvPicPr>
          <p:nvPr/>
        </p:nvPicPr>
        <p:blipFill>
          <a:blip r:embed="rId3"/>
          <a:stretch>
            <a:fillRect/>
          </a:stretch>
        </p:blipFill>
        <p:spPr>
          <a:xfrm>
            <a:off x="7790688" y="2798064"/>
            <a:ext cx="219456" cy="219456"/>
          </a:xfrm>
          <a:prstGeom prst="rect">
            <a:avLst/>
          </a:prstGeom>
        </p:spPr>
      </p:pic>
      <p:sp>
        <p:nvSpPr>
          <p:cNvPr id="48" name="TextBox 47"/>
          <p:cNvSpPr txBox="1"/>
          <p:nvPr/>
        </p:nvSpPr>
        <p:spPr>
          <a:xfrm>
            <a:off x="8110728" y="2670048"/>
            <a:ext cx="1965960" cy="475488"/>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Los balances cierran</a:t>
            </a:r>
          </a:p>
          <a:p>
            <a:pPr algn="l">
              <a:spcAft>
                <a:spcPts val="0"/>
              </a:spcAft>
            </a:pPr>
            <a:r>
              <a:rPr sz="750" b="0" i="0">
                <a:solidFill>
                  <a:srgbClr val="A9B8C9"/>
                </a:solidFill>
                <a:effectLst>
                  <a:glow rad="63500">
                    <a:srgbClr val="001633">
                      <a:alpha val="85000"/>
                    </a:srgbClr>
                  </a:glow>
                </a:effectLst>
                <a:latin typeface="Montserrat"/>
              </a:rPr>
              <a:t>masa y aire en 1 h de operación</a:t>
            </a:r>
          </a:p>
        </p:txBody>
      </p:sp>
      <p:sp>
        <p:nvSpPr>
          <p:cNvPr id="49" name="TextBox 48"/>
          <p:cNvSpPr txBox="1"/>
          <p:nvPr/>
        </p:nvSpPr>
        <p:spPr>
          <a:xfrm>
            <a:off x="10076688" y="2670048"/>
            <a:ext cx="1097280" cy="475488"/>
          </a:xfrm>
          <a:prstGeom prst="rect">
            <a:avLst/>
          </a:prstGeom>
          <a:noFill/>
        </p:spPr>
        <p:txBody>
          <a:bodyPr wrap="square" lIns="0" tIns="0" rIns="0" bIns="0" anchor="ctr">
            <a:spAutoFit/>
          </a:bodyPr>
          <a:lstStyle/>
          <a:p>
            <a:pPr algn="r">
              <a:spcAft>
                <a:spcPts val="600"/>
              </a:spcAft>
            </a:pPr>
            <a:r>
              <a:rPr sz="950" b="1" i="0">
                <a:solidFill>
                  <a:srgbClr val="85D5E6"/>
                </a:solidFill>
                <a:effectLst>
                  <a:glow rad="63500">
                    <a:srgbClr val="001633">
                      <a:alpha val="85000"/>
                    </a:srgbClr>
                  </a:glow>
                </a:effectLst>
                <a:latin typeface="Montserrat"/>
              </a:rPr>
              <a:t>&lt; 1 g</a:t>
            </a:r>
          </a:p>
        </p:txBody>
      </p:sp>
      <p:sp>
        <p:nvSpPr>
          <p:cNvPr id="50" name="Chequeo Igual que la referencia"/>
          <p:cNvSpPr/>
          <p:nvPr/>
        </p:nvSpPr>
        <p:spPr>
          <a:xfrm>
            <a:off x="7699248" y="3218688"/>
            <a:ext cx="356616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1" name="Ícono circle-check" descr="circle-check-cyan.png"/>
          <p:cNvPicPr>
            <a:picLocks noChangeAspect="1"/>
          </p:cNvPicPr>
          <p:nvPr/>
        </p:nvPicPr>
        <p:blipFill>
          <a:blip r:embed="rId3"/>
          <a:stretch>
            <a:fillRect/>
          </a:stretch>
        </p:blipFill>
        <p:spPr>
          <a:xfrm>
            <a:off x="7790688" y="3346704"/>
            <a:ext cx="219456" cy="219456"/>
          </a:xfrm>
          <a:prstGeom prst="rect">
            <a:avLst/>
          </a:prstGeom>
        </p:spPr>
      </p:pic>
      <p:sp>
        <p:nvSpPr>
          <p:cNvPr id="52" name="TextBox 51"/>
          <p:cNvSpPr txBox="1"/>
          <p:nvPr/>
        </p:nvSpPr>
        <p:spPr>
          <a:xfrm>
            <a:off x="8110728" y="3218688"/>
            <a:ext cx="1965960" cy="475488"/>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Igual que la referencia</a:t>
            </a:r>
          </a:p>
          <a:p>
            <a:pPr algn="l">
              <a:spcAft>
                <a:spcPts val="0"/>
              </a:spcAft>
            </a:pPr>
            <a:r>
              <a:rPr sz="750" b="0" i="0">
                <a:solidFill>
                  <a:srgbClr val="A9B8C9"/>
                </a:solidFill>
                <a:effectLst>
                  <a:glow rad="63500">
                    <a:srgbClr val="001633">
                      <a:alpha val="85000"/>
                    </a:srgbClr>
                  </a:glow>
                </a:effectLst>
                <a:latin typeface="Montserrat"/>
              </a:rPr>
              <a:t>capacidad y humedad vs. cálculo fino</a:t>
            </a:r>
          </a:p>
        </p:txBody>
      </p:sp>
      <p:sp>
        <p:nvSpPr>
          <p:cNvPr id="53" name="TextBox 52"/>
          <p:cNvSpPr txBox="1"/>
          <p:nvPr/>
        </p:nvSpPr>
        <p:spPr>
          <a:xfrm>
            <a:off x="10076688" y="3218688"/>
            <a:ext cx="1097280" cy="475488"/>
          </a:xfrm>
          <a:prstGeom prst="rect">
            <a:avLst/>
          </a:prstGeom>
          <a:noFill/>
        </p:spPr>
        <p:txBody>
          <a:bodyPr wrap="square" lIns="0" tIns="0" rIns="0" bIns="0" anchor="ctr">
            <a:spAutoFit/>
          </a:bodyPr>
          <a:lstStyle/>
          <a:p>
            <a:pPr algn="r">
              <a:spcAft>
                <a:spcPts val="600"/>
              </a:spcAft>
            </a:pPr>
            <a:r>
              <a:rPr sz="950" b="1" i="0">
                <a:solidFill>
                  <a:srgbClr val="85D5E6"/>
                </a:solidFill>
                <a:effectLst>
                  <a:glow rad="63500">
                    <a:srgbClr val="001633">
                      <a:alpha val="85000"/>
                    </a:srgbClr>
                  </a:glow>
                </a:effectLst>
                <a:latin typeface="Montserrat"/>
              </a:rPr>
              <a:t>−0,5 % · +0,2 %</a:t>
            </a:r>
          </a:p>
        </p:txBody>
      </p:sp>
      <p:sp>
        <p:nvSpPr>
          <p:cNvPr id="54" name="Chequeo La esclusa cicla bien"/>
          <p:cNvSpPr/>
          <p:nvPr/>
        </p:nvSpPr>
        <p:spPr>
          <a:xfrm>
            <a:off x="7699248" y="3767328"/>
            <a:ext cx="356616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5" name="Ícono circle-check" descr="circle-check-cyan.png"/>
          <p:cNvPicPr>
            <a:picLocks noChangeAspect="1"/>
          </p:cNvPicPr>
          <p:nvPr/>
        </p:nvPicPr>
        <p:blipFill>
          <a:blip r:embed="rId3"/>
          <a:stretch>
            <a:fillRect/>
          </a:stretch>
        </p:blipFill>
        <p:spPr>
          <a:xfrm>
            <a:off x="7790688" y="3895344"/>
            <a:ext cx="219456" cy="219456"/>
          </a:xfrm>
          <a:prstGeom prst="rect">
            <a:avLst/>
          </a:prstGeom>
        </p:spPr>
      </p:pic>
      <p:sp>
        <p:nvSpPr>
          <p:cNvPr id="56" name="TextBox 55"/>
          <p:cNvSpPr txBox="1"/>
          <p:nvPr/>
        </p:nvSpPr>
        <p:spPr>
          <a:xfrm>
            <a:off x="8110728" y="3767328"/>
            <a:ext cx="1965960" cy="475488"/>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La esclusa cicla bien</a:t>
            </a:r>
          </a:p>
          <a:p>
            <a:pPr algn="l">
              <a:spcAft>
                <a:spcPts val="0"/>
              </a:spcAft>
            </a:pPr>
            <a:r>
              <a:rPr sz="750" b="0" i="0">
                <a:solidFill>
                  <a:srgbClr val="A9B8C9"/>
                </a:solidFill>
                <a:effectLst>
                  <a:glow rad="63500">
                    <a:srgbClr val="001633">
                      <a:alpha val="85000"/>
                    </a:srgbClr>
                  </a:glow>
                </a:effectLst>
                <a:latin typeface="Montserrat"/>
              </a:rPr>
              <a:t>en el punto nominal</a:t>
            </a:r>
          </a:p>
        </p:txBody>
      </p:sp>
      <p:sp>
        <p:nvSpPr>
          <p:cNvPr id="57" name="TextBox 56"/>
          <p:cNvSpPr txBox="1"/>
          <p:nvPr/>
        </p:nvSpPr>
        <p:spPr>
          <a:xfrm>
            <a:off x="10076688" y="3767328"/>
            <a:ext cx="1097280" cy="475488"/>
          </a:xfrm>
          <a:prstGeom prst="rect">
            <a:avLst/>
          </a:prstGeom>
          <a:noFill/>
        </p:spPr>
        <p:txBody>
          <a:bodyPr wrap="square" lIns="0" tIns="0" rIns="0" bIns="0" anchor="ctr">
            <a:spAutoFit/>
          </a:bodyPr>
          <a:lstStyle/>
          <a:p>
            <a:pPr algn="r">
              <a:spcAft>
                <a:spcPts val="600"/>
              </a:spcAft>
            </a:pPr>
            <a:r>
              <a:rPr sz="950" b="1" i="0">
                <a:solidFill>
                  <a:srgbClr val="85D5E6"/>
                </a:solidFill>
                <a:effectLst>
                  <a:glow rad="63500">
                    <a:srgbClr val="001633">
                      <a:alpha val="85000"/>
                    </a:srgbClr>
                  </a:glow>
                </a:effectLst>
                <a:latin typeface="Montserrat"/>
              </a:rPr>
              <a:t>43 por hora</a:t>
            </a:r>
          </a:p>
        </p:txBody>
      </p:sp>
      <p:sp>
        <p:nvSpPr>
          <p:cNvPr id="58" name="Chequeo Dos copias a la vez"/>
          <p:cNvSpPr/>
          <p:nvPr/>
        </p:nvSpPr>
        <p:spPr>
          <a:xfrm>
            <a:off x="7699248" y="4315968"/>
            <a:ext cx="356616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9" name="Ícono circle-check" descr="circle-check-cyan.png"/>
          <p:cNvPicPr>
            <a:picLocks noChangeAspect="1"/>
          </p:cNvPicPr>
          <p:nvPr/>
        </p:nvPicPr>
        <p:blipFill>
          <a:blip r:embed="rId3"/>
          <a:stretch>
            <a:fillRect/>
          </a:stretch>
        </p:blipFill>
        <p:spPr>
          <a:xfrm>
            <a:off x="7790688" y="4443984"/>
            <a:ext cx="219456" cy="219456"/>
          </a:xfrm>
          <a:prstGeom prst="rect">
            <a:avLst/>
          </a:prstGeom>
        </p:spPr>
      </p:pic>
      <p:sp>
        <p:nvSpPr>
          <p:cNvPr id="60" name="TextBox 59"/>
          <p:cNvSpPr txBox="1"/>
          <p:nvPr/>
        </p:nvSpPr>
        <p:spPr>
          <a:xfrm>
            <a:off x="8110728" y="4315968"/>
            <a:ext cx="1965960" cy="475488"/>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Dos copias a la vez</a:t>
            </a:r>
          </a:p>
          <a:p>
            <a:pPr algn="l">
              <a:spcAft>
                <a:spcPts val="0"/>
              </a:spcAft>
            </a:pPr>
            <a:r>
              <a:rPr sz="750" b="0" i="0">
                <a:solidFill>
                  <a:srgbClr val="A9B8C9"/>
                </a:solidFill>
                <a:effectLst>
                  <a:glow rad="63500">
                    <a:srgbClr val="001633">
                      <a:alpha val="85000"/>
                    </a:srgbClr>
                  </a:glow>
                </a:effectLst>
                <a:latin typeface="Montserrat"/>
              </a:rPr>
              <a:t>para correr la planta virtual</a:t>
            </a:r>
          </a:p>
        </p:txBody>
      </p:sp>
      <p:sp>
        <p:nvSpPr>
          <p:cNvPr id="61" name="TextBox 60"/>
          <p:cNvSpPr txBox="1"/>
          <p:nvPr/>
        </p:nvSpPr>
        <p:spPr>
          <a:xfrm>
            <a:off x="10076688" y="4315968"/>
            <a:ext cx="1097280" cy="475488"/>
          </a:xfrm>
          <a:prstGeom prst="rect">
            <a:avLst/>
          </a:prstGeom>
          <a:noFill/>
        </p:spPr>
        <p:txBody>
          <a:bodyPr wrap="square" lIns="0" tIns="0" rIns="0" bIns="0" anchor="ctr">
            <a:spAutoFit/>
          </a:bodyPr>
          <a:lstStyle/>
          <a:p>
            <a:pPr algn="r">
              <a:spcAft>
                <a:spcPts val="600"/>
              </a:spcAft>
            </a:pPr>
            <a:r>
              <a:rPr sz="950" b="1" i="0">
                <a:solidFill>
                  <a:srgbClr val="85D5E6"/>
                </a:solidFill>
                <a:effectLst>
                  <a:glow rad="63500">
                    <a:srgbClr val="001633">
                      <a:alpha val="85000"/>
                    </a:srgbClr>
                  </a:glow>
                </a:effectLst>
                <a:latin typeface="Montserrat"/>
              </a:rPr>
              <a:t>independientes</a:t>
            </a:r>
          </a:p>
        </p:txBody>
      </p:sp>
      <p:sp>
        <p:nvSpPr>
          <p:cNvPr id="62" name="Más rápido que la realidad"/>
          <p:cNvSpPr/>
          <p:nvPr/>
        </p:nvSpPr>
        <p:spPr>
          <a:xfrm>
            <a:off x="7699248" y="5120640"/>
            <a:ext cx="3566160" cy="658368"/>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7836408" y="5120640"/>
            <a:ext cx="3291840" cy="658368"/>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Más rápido que la realidad: </a:t>
            </a:r>
            <a:r>
              <a:rPr sz="950" b="0" i="0">
                <a:solidFill>
                  <a:srgbClr val="FFFFFF"/>
                </a:solidFill>
                <a:effectLst>
                  <a:glow rad="63500">
                    <a:srgbClr val="001633">
                      <a:alpha val="85000"/>
                    </a:srgbClr>
                  </a:glow>
                </a:effectLst>
                <a:latin typeface="Montserrat"/>
              </a:rPr>
              <a:t>una hora de filtro se simula en segundos.</a:t>
            </a:r>
          </a:p>
        </p:txBody>
      </p:sp>
      <p:sp>
        <p:nvSpPr>
          <p:cNvPr id="64"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Escalas de tiempo y verificación (referencia: OpenModelica, DASSL, tolerancia 1e‑6): Modelo Dewatering v1.0 (elaboración propia, OpenModelica 1.27)</a:t>
            </a:r>
          </a:p>
        </p:txBody>
      </p:sp>
      <p:sp>
        <p:nvSpPr>
          <p:cNvPr id="6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72"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7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Avance IV actual"/>
          <p:cNvSpPr/>
          <p:nvPr/>
        </p:nvSpPr>
        <p:spPr>
          <a:xfrm>
            <a:off x="6876288" y="6510528"/>
            <a:ext cx="9906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15/27 </a:t>
            </a:r>
            <a:r>
              <a:rPr sz="1000" b="0" i="0">
                <a:solidFill>
                  <a:srgbClr val="A9B8C9"/>
                </a:solidFill>
                <a:effectLst>
                  <a:glow rad="63500">
                    <a:srgbClr val="001633">
                      <a:alpha val="85000"/>
                    </a:srgbClr>
                  </a:glow>
                </a:effectLst>
                <a:latin typeface="Montserrat"/>
              </a:rPr>
              <a:t>· Gemelos Digitales para Minería 4.0 · 84</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FMU es el contrato: 6 entradas y 15 salidas, cada una con nombre, unidad y descripción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4 · INTEGRACIÓN</a:t>
            </a:r>
          </a:p>
        </p:txBody>
      </p:sp>
      <p:sp>
        <p:nvSpPr>
          <p:cNvPr id="6" name="TextBox 5"/>
          <p:cNvSpPr txBox="1"/>
          <p:nvPr/>
        </p:nvSpPr>
        <p:spPr>
          <a:xfrm>
            <a:off x="1252728" y="1828800"/>
            <a:ext cx="822960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Quien use el gemelo no necesita abrir el modelo: le basta con el contrato. Se exporta en FMI 2.0 porque FMPy, OMEdit y el HMI del curso lo leen sin problemas.</a:t>
            </a:r>
          </a:p>
        </p:txBody>
      </p:sp>
      <p:sp>
        <p:nvSpPr>
          <p:cNvPr id="7" name="TextBox 6"/>
          <p:cNvSpPr txBox="1"/>
          <p:nvPr/>
        </p:nvSpPr>
        <p:spPr>
          <a:xfrm>
            <a:off x="1362456" y="2514600"/>
            <a:ext cx="109728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ENTRADA</a:t>
            </a:r>
          </a:p>
        </p:txBody>
      </p:sp>
      <p:sp>
        <p:nvSpPr>
          <p:cNvPr id="8" name="TextBox 7"/>
          <p:cNvSpPr txBox="1"/>
          <p:nvPr/>
        </p:nvSpPr>
        <p:spPr>
          <a:xfrm>
            <a:off x="2596896" y="2514600"/>
            <a:ext cx="77724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UNIDAD</a:t>
            </a:r>
          </a:p>
        </p:txBody>
      </p:sp>
      <p:sp>
        <p:nvSpPr>
          <p:cNvPr id="9" name="TextBox 8"/>
          <p:cNvSpPr txBox="1"/>
          <p:nvPr/>
        </p:nvSpPr>
        <p:spPr>
          <a:xfrm>
            <a:off x="3511296" y="2514600"/>
            <a:ext cx="251460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QUÉ ES</a:t>
            </a:r>
          </a:p>
        </p:txBody>
      </p:sp>
      <p:sp>
        <p:nvSpPr>
          <p:cNvPr id="10" name="Fila 1"/>
          <p:cNvSpPr/>
          <p:nvPr/>
        </p:nvSpPr>
        <p:spPr>
          <a:xfrm>
            <a:off x="1252728" y="2825496"/>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62456" y="2825496"/>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p_set</a:t>
            </a:r>
          </a:p>
        </p:txBody>
      </p:sp>
      <p:sp>
        <p:nvSpPr>
          <p:cNvPr id="12" name="TextBox 11"/>
          <p:cNvSpPr txBox="1"/>
          <p:nvPr/>
        </p:nvSpPr>
        <p:spPr>
          <a:xfrm>
            <a:off x="2596896" y="2825496"/>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bar abs</a:t>
            </a:r>
          </a:p>
        </p:txBody>
      </p:sp>
      <p:sp>
        <p:nvSpPr>
          <p:cNvPr id="13" name="TextBox 12"/>
          <p:cNvSpPr txBox="1"/>
          <p:nvPr/>
        </p:nvSpPr>
        <p:spPr>
          <a:xfrm>
            <a:off x="3511296" y="2825496"/>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consigna de presión del recipiente</a:t>
            </a:r>
          </a:p>
        </p:txBody>
      </p:sp>
      <p:sp>
        <p:nvSpPr>
          <p:cNvPr id="14" name="Fila 2"/>
          <p:cNvSpPr/>
          <p:nvPr/>
        </p:nvSpPr>
        <p:spPr>
          <a:xfrm>
            <a:off x="1252728" y="3154680"/>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62456" y="3154680"/>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speed</a:t>
            </a:r>
          </a:p>
        </p:txBody>
      </p:sp>
      <p:sp>
        <p:nvSpPr>
          <p:cNvPr id="16" name="TextBox 15"/>
          <p:cNvSpPr txBox="1"/>
          <p:nvPr/>
        </p:nvSpPr>
        <p:spPr>
          <a:xfrm>
            <a:off x="2596896" y="3154680"/>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rpm</a:t>
            </a:r>
          </a:p>
        </p:txBody>
      </p:sp>
      <p:sp>
        <p:nvSpPr>
          <p:cNvPr id="17" name="TextBox 16"/>
          <p:cNvSpPr txBox="1"/>
          <p:nvPr/>
        </p:nvSpPr>
        <p:spPr>
          <a:xfrm>
            <a:off x="3511296" y="3154680"/>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velocidad de los discos</a:t>
            </a:r>
          </a:p>
        </p:txBody>
      </p:sp>
      <p:sp>
        <p:nvSpPr>
          <p:cNvPr id="18" name="Fila 3"/>
          <p:cNvSpPr/>
          <p:nvPr/>
        </p:nvSpPr>
        <p:spPr>
          <a:xfrm>
            <a:off x="1252728" y="3483864"/>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62456" y="3483864"/>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Q_feed</a:t>
            </a:r>
          </a:p>
        </p:txBody>
      </p:sp>
      <p:sp>
        <p:nvSpPr>
          <p:cNvPr id="20" name="TextBox 19"/>
          <p:cNvSpPr txBox="1"/>
          <p:nvPr/>
        </p:nvSpPr>
        <p:spPr>
          <a:xfrm>
            <a:off x="2596896" y="3483864"/>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m³/h</a:t>
            </a:r>
          </a:p>
        </p:txBody>
      </p:sp>
      <p:sp>
        <p:nvSpPr>
          <p:cNvPr id="21" name="TextBox 20"/>
          <p:cNvSpPr txBox="1"/>
          <p:nvPr/>
        </p:nvSpPr>
        <p:spPr>
          <a:xfrm>
            <a:off x="3511296" y="3483864"/>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caudal de pulpa</a:t>
            </a:r>
          </a:p>
        </p:txBody>
      </p:sp>
      <p:sp>
        <p:nvSpPr>
          <p:cNvPr id="22" name="Fila 4"/>
          <p:cNvSpPr/>
          <p:nvPr/>
        </p:nvSpPr>
        <p:spPr>
          <a:xfrm>
            <a:off x="1252728" y="3813048"/>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62456" y="3813048"/>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w_feed</a:t>
            </a:r>
          </a:p>
        </p:txBody>
      </p:sp>
      <p:sp>
        <p:nvSpPr>
          <p:cNvPr id="24" name="TextBox 23"/>
          <p:cNvSpPr txBox="1"/>
          <p:nvPr/>
        </p:nvSpPr>
        <p:spPr>
          <a:xfrm>
            <a:off x="2596896" y="3813048"/>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a:t>
            </a:r>
          </a:p>
        </p:txBody>
      </p:sp>
      <p:sp>
        <p:nvSpPr>
          <p:cNvPr id="25" name="TextBox 24"/>
          <p:cNvSpPr txBox="1"/>
          <p:nvPr/>
        </p:nvSpPr>
        <p:spPr>
          <a:xfrm>
            <a:off x="3511296" y="3813048"/>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sólidos en la alimentación</a:t>
            </a:r>
          </a:p>
        </p:txBody>
      </p:sp>
      <p:sp>
        <p:nvSpPr>
          <p:cNvPr id="26" name="Fila 5"/>
          <p:cNvSpPr/>
          <p:nvPr/>
        </p:nvSpPr>
        <p:spPr>
          <a:xfrm>
            <a:off x="1252728" y="4142232"/>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62456" y="4142232"/>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f_cloth</a:t>
            </a:r>
          </a:p>
        </p:txBody>
      </p:sp>
      <p:sp>
        <p:nvSpPr>
          <p:cNvPr id="28" name="TextBox 27"/>
          <p:cNvSpPr txBox="1"/>
          <p:nvPr/>
        </p:nvSpPr>
        <p:spPr>
          <a:xfrm>
            <a:off x="2596896" y="4142232"/>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a:t>
            </a:r>
          </a:p>
        </p:txBody>
      </p:sp>
      <p:sp>
        <p:nvSpPr>
          <p:cNvPr id="29" name="TextBox 28"/>
          <p:cNvSpPr txBox="1"/>
          <p:nvPr/>
        </p:nvSpPr>
        <p:spPr>
          <a:xfrm>
            <a:off x="3511296" y="4142232"/>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colmatación de la tela (1 = limpia)</a:t>
            </a:r>
          </a:p>
        </p:txBody>
      </p:sp>
      <p:sp>
        <p:nvSpPr>
          <p:cNvPr id="30" name="Fila 6"/>
          <p:cNvSpPr/>
          <p:nvPr/>
        </p:nvSpPr>
        <p:spPr>
          <a:xfrm>
            <a:off x="1252728" y="4471416"/>
            <a:ext cx="4800600" cy="274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362456" y="4471416"/>
            <a:ext cx="1069848" cy="274320"/>
          </a:xfrm>
          <a:prstGeom prst="rect">
            <a:avLst/>
          </a:prstGeom>
          <a:noFill/>
        </p:spPr>
        <p:txBody>
          <a:bodyPr wrap="square" lIns="0" tIns="0" rIns="0" bIns="0" anchor="ctr">
            <a:spAutoFit/>
          </a:bodyPr>
          <a:lstStyle/>
          <a:p>
            <a:pPr algn="l">
              <a:spcAft>
                <a:spcPts val="600"/>
              </a:spcAft>
            </a:pPr>
            <a:r>
              <a:rPr sz="900" b="1" i="0">
                <a:solidFill>
                  <a:srgbClr val="FFFFFF"/>
                </a:solidFill>
                <a:effectLst>
                  <a:glow rad="63500">
                    <a:srgbClr val="001633">
                      <a:alpha val="85000"/>
                    </a:srgbClr>
                  </a:glow>
                </a:effectLst>
                <a:latin typeface="Montserrat"/>
              </a:rPr>
              <a:t>mu_filtrate</a:t>
            </a:r>
          </a:p>
        </p:txBody>
      </p:sp>
      <p:sp>
        <p:nvSpPr>
          <p:cNvPr id="32" name="TextBox 31"/>
          <p:cNvSpPr txBox="1"/>
          <p:nvPr/>
        </p:nvSpPr>
        <p:spPr>
          <a:xfrm>
            <a:off x="2596896" y="4471416"/>
            <a:ext cx="74980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Pa·s</a:t>
            </a:r>
          </a:p>
        </p:txBody>
      </p:sp>
      <p:sp>
        <p:nvSpPr>
          <p:cNvPr id="33" name="TextBox 32"/>
          <p:cNvSpPr txBox="1"/>
          <p:nvPr/>
        </p:nvSpPr>
        <p:spPr>
          <a:xfrm>
            <a:off x="3511296" y="4471416"/>
            <a:ext cx="2487168" cy="274320"/>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viscosidad del filtrado</a:t>
            </a:r>
          </a:p>
        </p:txBody>
      </p:sp>
      <p:sp>
        <p:nvSpPr>
          <p:cNvPr id="34" name="TextBox 33"/>
          <p:cNvSpPr txBox="1"/>
          <p:nvPr/>
        </p:nvSpPr>
        <p:spPr>
          <a:xfrm>
            <a:off x="6574536" y="2514600"/>
            <a:ext cx="146304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SALIDA (9 DE 15)</a:t>
            </a:r>
          </a:p>
        </p:txBody>
      </p:sp>
      <p:sp>
        <p:nvSpPr>
          <p:cNvPr id="35" name="TextBox 34"/>
          <p:cNvSpPr txBox="1"/>
          <p:nvPr/>
        </p:nvSpPr>
        <p:spPr>
          <a:xfrm>
            <a:off x="8174736" y="2514600"/>
            <a:ext cx="68580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UNIDAD</a:t>
            </a:r>
          </a:p>
        </p:txBody>
      </p:sp>
      <p:sp>
        <p:nvSpPr>
          <p:cNvPr id="36" name="TextBox 35"/>
          <p:cNvSpPr txBox="1"/>
          <p:nvPr/>
        </p:nvSpPr>
        <p:spPr>
          <a:xfrm>
            <a:off x="8997696" y="2514600"/>
            <a:ext cx="224028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NOMINAL</a:t>
            </a:r>
          </a:p>
        </p:txBody>
      </p:sp>
      <p:sp>
        <p:nvSpPr>
          <p:cNvPr id="37" name="Fila 1"/>
          <p:cNvSpPr/>
          <p:nvPr/>
        </p:nvSpPr>
        <p:spPr>
          <a:xfrm>
            <a:off x="6464808" y="282549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574536" y="282549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m_flow_dry</a:t>
            </a:r>
          </a:p>
        </p:txBody>
      </p:sp>
      <p:sp>
        <p:nvSpPr>
          <p:cNvPr id="39" name="TextBox 38"/>
          <p:cNvSpPr txBox="1"/>
          <p:nvPr/>
        </p:nvSpPr>
        <p:spPr>
          <a:xfrm>
            <a:off x="8174736" y="282549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t/h</a:t>
            </a:r>
          </a:p>
        </p:txBody>
      </p:sp>
      <p:sp>
        <p:nvSpPr>
          <p:cNvPr id="40" name="TextBox 39"/>
          <p:cNvSpPr txBox="1"/>
          <p:nvPr/>
        </p:nvSpPr>
        <p:spPr>
          <a:xfrm>
            <a:off x="8997696" y="282549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166,8</a:t>
            </a:r>
          </a:p>
        </p:txBody>
      </p:sp>
      <p:sp>
        <p:nvSpPr>
          <p:cNvPr id="41" name="Fila 2"/>
          <p:cNvSpPr/>
          <p:nvPr/>
        </p:nvSpPr>
        <p:spPr>
          <a:xfrm>
            <a:off x="6464808" y="309981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574536" y="309981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moisture</a:t>
            </a:r>
          </a:p>
        </p:txBody>
      </p:sp>
      <p:sp>
        <p:nvSpPr>
          <p:cNvPr id="43" name="TextBox 42"/>
          <p:cNvSpPr txBox="1"/>
          <p:nvPr/>
        </p:nvSpPr>
        <p:spPr>
          <a:xfrm>
            <a:off x="8174736" y="309981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a:t>
            </a:r>
          </a:p>
        </p:txBody>
      </p:sp>
      <p:sp>
        <p:nvSpPr>
          <p:cNvPr id="44" name="TextBox 43"/>
          <p:cNvSpPr txBox="1"/>
          <p:nvPr/>
        </p:nvSpPr>
        <p:spPr>
          <a:xfrm>
            <a:off x="8997696" y="309981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9,05</a:t>
            </a:r>
          </a:p>
        </p:txBody>
      </p:sp>
      <p:sp>
        <p:nvSpPr>
          <p:cNvPr id="45" name="Fila 3"/>
          <p:cNvSpPr/>
          <p:nvPr/>
        </p:nvSpPr>
        <p:spPr>
          <a:xfrm>
            <a:off x="6464808" y="337413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574536" y="337413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L_cake</a:t>
            </a:r>
          </a:p>
        </p:txBody>
      </p:sp>
      <p:sp>
        <p:nvSpPr>
          <p:cNvPr id="47" name="TextBox 46"/>
          <p:cNvSpPr txBox="1"/>
          <p:nvPr/>
        </p:nvSpPr>
        <p:spPr>
          <a:xfrm>
            <a:off x="8174736" y="337413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mm</a:t>
            </a:r>
          </a:p>
        </p:txBody>
      </p:sp>
      <p:sp>
        <p:nvSpPr>
          <p:cNvPr id="48" name="TextBox 47"/>
          <p:cNvSpPr txBox="1"/>
          <p:nvPr/>
        </p:nvSpPr>
        <p:spPr>
          <a:xfrm>
            <a:off x="8997696" y="337413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7,2</a:t>
            </a:r>
          </a:p>
        </p:txBody>
      </p:sp>
      <p:sp>
        <p:nvSpPr>
          <p:cNvPr id="49" name="Fila 4"/>
          <p:cNvSpPr/>
          <p:nvPr/>
        </p:nvSpPr>
        <p:spPr>
          <a:xfrm>
            <a:off x="6464808" y="364845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6574536" y="364845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p_vessel</a:t>
            </a:r>
          </a:p>
        </p:txBody>
      </p:sp>
      <p:sp>
        <p:nvSpPr>
          <p:cNvPr id="51" name="TextBox 50"/>
          <p:cNvSpPr txBox="1"/>
          <p:nvPr/>
        </p:nvSpPr>
        <p:spPr>
          <a:xfrm>
            <a:off x="8174736" y="364845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bar abs</a:t>
            </a:r>
          </a:p>
        </p:txBody>
      </p:sp>
      <p:sp>
        <p:nvSpPr>
          <p:cNvPr id="52" name="TextBox 51"/>
          <p:cNvSpPr txBox="1"/>
          <p:nvPr/>
        </p:nvSpPr>
        <p:spPr>
          <a:xfrm>
            <a:off x="8997696" y="364845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6,01</a:t>
            </a:r>
          </a:p>
        </p:txBody>
      </p:sp>
      <p:sp>
        <p:nvSpPr>
          <p:cNvPr id="53" name="Fila 5"/>
          <p:cNvSpPr/>
          <p:nvPr/>
        </p:nvSpPr>
        <p:spPr>
          <a:xfrm>
            <a:off x="6464808" y="392277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574536" y="392277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level</a:t>
            </a:r>
          </a:p>
        </p:txBody>
      </p:sp>
      <p:sp>
        <p:nvSpPr>
          <p:cNvPr id="55" name="TextBox 54"/>
          <p:cNvSpPr txBox="1"/>
          <p:nvPr/>
        </p:nvSpPr>
        <p:spPr>
          <a:xfrm>
            <a:off x="8174736" y="392277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a:t>
            </a:r>
          </a:p>
        </p:txBody>
      </p:sp>
      <p:sp>
        <p:nvSpPr>
          <p:cNvPr id="56" name="TextBox 55"/>
          <p:cNvSpPr txBox="1"/>
          <p:nvPr/>
        </p:nvSpPr>
        <p:spPr>
          <a:xfrm>
            <a:off x="8997696" y="392277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1,82</a:t>
            </a:r>
          </a:p>
        </p:txBody>
      </p:sp>
      <p:sp>
        <p:nvSpPr>
          <p:cNvPr id="57" name="Fila 6"/>
          <p:cNvSpPr/>
          <p:nvPr/>
        </p:nvSpPr>
        <p:spPr>
          <a:xfrm>
            <a:off x="6464808" y="419709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6574536" y="419709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P_compressor</a:t>
            </a:r>
          </a:p>
        </p:txBody>
      </p:sp>
      <p:sp>
        <p:nvSpPr>
          <p:cNvPr id="59" name="TextBox 58"/>
          <p:cNvSpPr txBox="1"/>
          <p:nvPr/>
        </p:nvSpPr>
        <p:spPr>
          <a:xfrm>
            <a:off x="8174736" y="419709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kW</a:t>
            </a:r>
          </a:p>
        </p:txBody>
      </p:sp>
      <p:sp>
        <p:nvSpPr>
          <p:cNvPr id="60" name="TextBox 59"/>
          <p:cNvSpPr txBox="1"/>
          <p:nvPr/>
        </p:nvSpPr>
        <p:spPr>
          <a:xfrm>
            <a:off x="8997696" y="419709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376</a:t>
            </a:r>
          </a:p>
        </p:txBody>
      </p:sp>
      <p:sp>
        <p:nvSpPr>
          <p:cNvPr id="61" name="Fila 7"/>
          <p:cNvSpPr/>
          <p:nvPr/>
        </p:nvSpPr>
        <p:spPr>
          <a:xfrm>
            <a:off x="6464808" y="447141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6574536" y="447141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e_specific</a:t>
            </a:r>
          </a:p>
        </p:txBody>
      </p:sp>
      <p:sp>
        <p:nvSpPr>
          <p:cNvPr id="63" name="TextBox 62"/>
          <p:cNvSpPr txBox="1"/>
          <p:nvPr/>
        </p:nvSpPr>
        <p:spPr>
          <a:xfrm>
            <a:off x="8174736" y="447141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kWh/t</a:t>
            </a:r>
          </a:p>
        </p:txBody>
      </p:sp>
      <p:sp>
        <p:nvSpPr>
          <p:cNvPr id="64" name="TextBox 63"/>
          <p:cNvSpPr txBox="1"/>
          <p:nvPr/>
        </p:nvSpPr>
        <p:spPr>
          <a:xfrm>
            <a:off x="8997696" y="447141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 2,2</a:t>
            </a:r>
          </a:p>
        </p:txBody>
      </p:sp>
      <p:sp>
        <p:nvSpPr>
          <p:cNvPr id="65" name="Fila 8"/>
          <p:cNvSpPr/>
          <p:nvPr/>
        </p:nvSpPr>
        <p:spPr>
          <a:xfrm>
            <a:off x="6464808" y="474573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6574536" y="474573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lock_state</a:t>
            </a:r>
          </a:p>
        </p:txBody>
      </p:sp>
      <p:sp>
        <p:nvSpPr>
          <p:cNvPr id="67" name="TextBox 66"/>
          <p:cNvSpPr txBox="1"/>
          <p:nvPr/>
        </p:nvSpPr>
        <p:spPr>
          <a:xfrm>
            <a:off x="8174736" y="474573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1–4</a:t>
            </a:r>
          </a:p>
        </p:txBody>
      </p:sp>
      <p:sp>
        <p:nvSpPr>
          <p:cNvPr id="68" name="TextBox 67"/>
          <p:cNvSpPr txBox="1"/>
          <p:nvPr/>
        </p:nvSpPr>
        <p:spPr>
          <a:xfrm>
            <a:off x="8997696" y="474573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esclusa</a:t>
            </a:r>
          </a:p>
        </p:txBody>
      </p:sp>
      <p:sp>
        <p:nvSpPr>
          <p:cNvPr id="69" name="Fila 9"/>
          <p:cNvSpPr/>
          <p:nvPr/>
        </p:nvSpPr>
        <p:spPr>
          <a:xfrm>
            <a:off x="6464808" y="5020056"/>
            <a:ext cx="4800600" cy="21945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6574536" y="5020056"/>
            <a:ext cx="1435608" cy="219456"/>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m_flow_air_cake</a:t>
            </a:r>
          </a:p>
        </p:txBody>
      </p:sp>
      <p:sp>
        <p:nvSpPr>
          <p:cNvPr id="71" name="TextBox 70"/>
          <p:cNvSpPr txBox="1"/>
          <p:nvPr/>
        </p:nvSpPr>
        <p:spPr>
          <a:xfrm>
            <a:off x="8174736" y="5020056"/>
            <a:ext cx="65836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kg/s</a:t>
            </a:r>
          </a:p>
        </p:txBody>
      </p:sp>
      <p:sp>
        <p:nvSpPr>
          <p:cNvPr id="72" name="TextBox 71"/>
          <p:cNvSpPr txBox="1"/>
          <p:nvPr/>
        </p:nvSpPr>
        <p:spPr>
          <a:xfrm>
            <a:off x="8997696" y="5020056"/>
            <a:ext cx="2212848" cy="21945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1,18</a:t>
            </a:r>
          </a:p>
        </p:txBody>
      </p:sp>
      <p:sp>
        <p:nvSpPr>
          <p:cNvPr id="73" name="Placa fmi"/>
          <p:cNvSpPr/>
          <p:nvPr/>
        </p:nvSpPr>
        <p:spPr>
          <a:xfrm>
            <a:off x="3035808" y="5056632"/>
            <a:ext cx="146304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4" name="Logo fmi" descr="logo-fmi.png"/>
          <p:cNvPicPr>
            <a:picLocks noChangeAspect="1"/>
          </p:cNvPicPr>
          <p:nvPr/>
        </p:nvPicPr>
        <p:blipFill>
          <a:blip r:embed="rId3"/>
          <a:stretch>
            <a:fillRect/>
          </a:stretch>
        </p:blipFill>
        <p:spPr>
          <a:xfrm>
            <a:off x="3217142" y="5111496"/>
            <a:ext cx="1100371" cy="393192"/>
          </a:xfrm>
          <a:prstGeom prst="rect">
            <a:avLst/>
          </a:prstGeom>
        </p:spPr>
      </p:pic>
      <p:sp>
        <p:nvSpPr>
          <p:cNvPr id="7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FMI [19] · contrato: Modelo Dewatering v1.0 (elaboración propia, OpenModelica 1.27)</a:t>
            </a:r>
          </a:p>
        </p:txBody>
      </p:sp>
      <p:sp>
        <p:nvSpPr>
          <p:cNvPr id="7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7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8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8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8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Avance IV actual"/>
          <p:cNvSpPr/>
          <p:nvPr/>
        </p:nvSpPr>
        <p:spPr>
          <a:xfrm>
            <a:off x="6876288" y="6510528"/>
            <a:ext cx="10566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16/27 </a:t>
            </a:r>
            <a:r>
              <a:rPr sz="1000" b="0" i="0">
                <a:solidFill>
                  <a:srgbClr val="A9B8C9"/>
                </a:solidFill>
                <a:effectLst>
                  <a:glow rad="63500">
                    <a:srgbClr val="001633">
                      <a:alpha val="85000"/>
                    </a:srgbClr>
                  </a:glow>
                </a:effectLst>
                <a:latin typeface="Montserrat"/>
              </a:rPr>
              <a:t>· Gemelos Digitales para Minería 4.0 · 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Una FMU o varias: el gemelo también se arma con piezas de distintas herramientas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4 · INTEGRACIÓN</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Hoy todo el filtro es una sola FMU. El mismo estándar permite separarlo: cada especialista modela su parte en su herramienta, la exporta como FMU y un orquestador las conecta.</a:t>
            </a:r>
          </a:p>
        </p:txBody>
      </p:sp>
      <p:sp>
        <p:nvSpPr>
          <p:cNvPr id="7" name="Hoy una FMU"/>
          <p:cNvSpPr/>
          <p:nvPr/>
        </p:nvSpPr>
        <p:spPr>
          <a:xfrm>
            <a:off x="1252728" y="2514600"/>
            <a:ext cx="3291840" cy="25146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17320" y="2606040"/>
            <a:ext cx="2962656"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HOY · UNA SOLA FMU</a:t>
            </a:r>
          </a:p>
        </p:txBody>
      </p:sp>
      <p:sp>
        <p:nvSpPr>
          <p:cNvPr id="9" name="HBF FMU"/>
          <p:cNvSpPr/>
          <p:nvPr/>
        </p:nvSpPr>
        <p:spPr>
          <a:xfrm>
            <a:off x="1664208" y="3017520"/>
            <a:ext cx="2468880" cy="1417320"/>
          </a:xfrm>
          <a:prstGeom prst="roundRect">
            <a:avLst>
              <a:gd name="adj" fmla="val 6000"/>
            </a:avLst>
          </a:prstGeom>
          <a:solidFill>
            <a:srgbClr val="001633"/>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664208" y="3090672"/>
            <a:ext cx="2468880" cy="228600"/>
          </a:xfrm>
          <a:prstGeom prst="rect">
            <a:avLst/>
          </a:prstGeom>
          <a:noFill/>
        </p:spPr>
        <p:txBody>
          <a:bodyPr wrap="square" lIns="0" tIns="0" rIns="0" bIns="0" anchor="t">
            <a:spAutoFit/>
          </a:bodyPr>
          <a:lstStyle/>
          <a:p>
            <a:pPr algn="ctr">
              <a:spcAft>
                <a:spcPts val="600"/>
              </a:spcAft>
            </a:pPr>
            <a:r>
              <a:rPr sz="900" b="1" i="0">
                <a:solidFill>
                  <a:srgbClr val="FFAB40"/>
                </a:solidFill>
                <a:effectLst>
                  <a:glow rad="63500">
                    <a:srgbClr val="001633">
                      <a:alpha val="85000"/>
                    </a:srgbClr>
                  </a:glow>
                </a:effectLst>
                <a:latin typeface="Montserrat"/>
              </a:rPr>
              <a:t>HBF_S_168_12.fmu</a:t>
            </a:r>
          </a:p>
        </p:txBody>
      </p:sp>
      <p:sp>
        <p:nvSpPr>
          <p:cNvPr id="11" name="Bloque Proceso"/>
          <p:cNvSpPr/>
          <p:nvPr/>
        </p:nvSpPr>
        <p:spPr>
          <a:xfrm>
            <a:off x="1801368" y="3429000"/>
            <a:ext cx="1024128" cy="640080"/>
          </a:xfrm>
          <a:prstGeom prst="rect">
            <a:avLst/>
          </a:prstGeom>
          <a:solidFill>
            <a:srgbClr val="12335E"/>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801368" y="3429000"/>
            <a:ext cx="1024128" cy="64008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Proceso</a:t>
            </a:r>
          </a:p>
          <a:p>
            <a:pPr algn="ctr">
              <a:spcAft>
                <a:spcPts val="0"/>
              </a:spcAft>
            </a:pPr>
            <a:r>
              <a:rPr sz="750" b="0" i="0">
                <a:solidFill>
                  <a:srgbClr val="A9B8C9"/>
                </a:solidFill>
                <a:effectLst>
                  <a:glow rad="63500">
                    <a:srgbClr val="001633">
                      <a:alpha val="85000"/>
                    </a:srgbClr>
                  </a:glow>
                </a:effectLst>
                <a:latin typeface="Montserrat"/>
              </a:rPr>
              <a:t>batea · discos · aire</a:t>
            </a:r>
          </a:p>
        </p:txBody>
      </p:sp>
      <p:sp>
        <p:nvSpPr>
          <p:cNvPr id="13" name="Bloque Control PI"/>
          <p:cNvSpPr/>
          <p:nvPr/>
        </p:nvSpPr>
        <p:spPr>
          <a:xfrm>
            <a:off x="2898648" y="3429000"/>
            <a:ext cx="1024128" cy="640080"/>
          </a:xfrm>
          <a:prstGeom prst="rect">
            <a:avLst/>
          </a:prstGeom>
          <a:solidFill>
            <a:srgbClr val="12335E"/>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898648" y="3429000"/>
            <a:ext cx="1024128" cy="64008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Control PI</a:t>
            </a:r>
          </a:p>
          <a:p>
            <a:pPr algn="ctr">
              <a:spcAft>
                <a:spcPts val="0"/>
              </a:spcAft>
            </a:pPr>
            <a:r>
              <a:rPr sz="750" b="0" i="0">
                <a:solidFill>
                  <a:srgbClr val="A9B8C9"/>
                </a:solidFill>
                <a:effectLst>
                  <a:glow rad="63500">
                    <a:srgbClr val="001633">
                      <a:alpha val="85000"/>
                    </a:srgbClr>
                  </a:glow>
                </a:effectLst>
                <a:latin typeface="Montserrat"/>
              </a:rPr>
              <a:t>presión</a:t>
            </a:r>
          </a:p>
        </p:txBody>
      </p:sp>
      <p:sp>
        <p:nvSpPr>
          <p:cNvPr id="15" name="TextBox 14"/>
          <p:cNvSpPr txBox="1"/>
          <p:nvPr/>
        </p:nvSpPr>
        <p:spPr>
          <a:xfrm>
            <a:off x="1664208" y="4133088"/>
            <a:ext cx="2468880" cy="228600"/>
          </a:xfrm>
          <a:prstGeom prst="rect">
            <a:avLst/>
          </a:prstGeom>
          <a:noFill/>
        </p:spPr>
        <p:txBody>
          <a:bodyPr wrap="square" lIns="0" tIns="0" rIns="0" bIns="0" anchor="t">
            <a:spAutoFit/>
          </a:bodyPr>
          <a:lstStyle/>
          <a:p>
            <a:pPr algn="ctr">
              <a:spcAft>
                <a:spcPts val="600"/>
              </a:spcAft>
            </a:pPr>
            <a:r>
              <a:rPr sz="750" b="0" i="0">
                <a:solidFill>
                  <a:srgbClr val="A9B8C9"/>
                </a:solidFill>
                <a:effectLst>
                  <a:glow rad="63500">
                    <a:srgbClr val="001633">
                      <a:alpha val="85000"/>
                    </a:srgbClr>
                  </a:glow>
                </a:effectLst>
                <a:latin typeface="Montserrat"/>
              </a:rPr>
              <a:t>todo hecho en Modelica</a:t>
            </a:r>
          </a:p>
        </p:txBody>
      </p:sp>
      <p:cxnSp>
        <p:nvCxnSpPr>
          <p:cNvPr id="16" name="Connector 15"/>
          <p:cNvCxnSpPr/>
          <p:nvPr/>
        </p:nvCxnSpPr>
        <p:spPr>
          <a:xfrm>
            <a:off x="1325880" y="3726180"/>
            <a:ext cx="310896"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160520" y="3726180"/>
            <a:ext cx="310896"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17320" y="4526280"/>
            <a:ext cx="2962656" cy="45720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6 entradas → 15 salidas. Simple de llevar a cualquier lado; el control viaja pegado al proceso.</a:t>
            </a:r>
          </a:p>
        </p:txBody>
      </p:sp>
      <p:sp>
        <p:nvSpPr>
          <p:cNvPr id="19" name="Varias FMU"/>
          <p:cNvSpPr/>
          <p:nvPr/>
        </p:nvSpPr>
        <p:spPr>
          <a:xfrm>
            <a:off x="4773168" y="2514600"/>
            <a:ext cx="6492240" cy="2514600"/>
          </a:xfrm>
          <a:prstGeom prst="rect">
            <a:avLst/>
          </a:prstGeom>
          <a:solidFill>
            <a:srgbClr val="0B264A"/>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937760" y="2606040"/>
            <a:ext cx="6163056" cy="22860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TAMBIÉN POSIBLE · VARIAS FMU CONECTADAS (EJEMPLO)</a:t>
            </a:r>
          </a:p>
        </p:txBody>
      </p:sp>
      <p:sp>
        <p:nvSpPr>
          <p:cNvPr id="21" name="FMU Proceso del filtro"/>
          <p:cNvSpPr/>
          <p:nvPr/>
        </p:nvSpPr>
        <p:spPr>
          <a:xfrm>
            <a:off x="4937760" y="2971800"/>
            <a:ext cx="1719072" cy="1051560"/>
          </a:xfrm>
          <a:prstGeom prst="roundRect">
            <a:avLst>
              <a:gd name="adj" fmla="val 6000"/>
            </a:avLst>
          </a:prstGeom>
          <a:solidFill>
            <a:srgbClr val="001633"/>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laca modelica"/>
          <p:cNvSpPr/>
          <p:nvPr/>
        </p:nvSpPr>
        <p:spPr>
          <a:xfrm>
            <a:off x="5271516" y="3063240"/>
            <a:ext cx="105156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Logo modelica" descr="logo-modelica.png"/>
          <p:cNvPicPr>
            <a:picLocks noChangeAspect="1"/>
          </p:cNvPicPr>
          <p:nvPr/>
        </p:nvPicPr>
        <p:blipFill>
          <a:blip r:embed="rId3"/>
          <a:stretch>
            <a:fillRect/>
          </a:stretch>
        </p:blipFill>
        <p:spPr>
          <a:xfrm>
            <a:off x="5559855" y="3118104"/>
            <a:ext cx="474881" cy="237744"/>
          </a:xfrm>
          <a:prstGeom prst="rect">
            <a:avLst/>
          </a:prstGeom>
        </p:spPr>
      </p:pic>
      <p:sp>
        <p:nvSpPr>
          <p:cNvPr id="24" name="TextBox 23"/>
          <p:cNvSpPr txBox="1"/>
          <p:nvPr/>
        </p:nvSpPr>
        <p:spPr>
          <a:xfrm>
            <a:off x="4937760" y="3447288"/>
            <a:ext cx="1719072" cy="54864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Proceso del filtro</a:t>
            </a:r>
          </a:p>
          <a:p>
            <a:pPr algn="ctr">
              <a:spcAft>
                <a:spcPts val="0"/>
              </a:spcAft>
            </a:pPr>
            <a:r>
              <a:rPr sz="750" b="0" i="0">
                <a:solidFill>
                  <a:srgbClr val="A9B8C9"/>
                </a:solidFill>
                <a:effectLst>
                  <a:glow rad="63500">
                    <a:srgbClr val="001633">
                      <a:alpha val="85000"/>
                    </a:srgbClr>
                  </a:glow>
                </a:effectLst>
                <a:latin typeface="Montserrat"/>
              </a:rPr>
              <a:t>proceso.fmu</a:t>
            </a:r>
          </a:p>
        </p:txBody>
      </p:sp>
      <p:sp>
        <p:nvSpPr>
          <p:cNvPr id="25" name="FMU Control de presión"/>
          <p:cNvSpPr/>
          <p:nvPr/>
        </p:nvSpPr>
        <p:spPr>
          <a:xfrm>
            <a:off x="7159752" y="2971800"/>
            <a:ext cx="1719072" cy="1051560"/>
          </a:xfrm>
          <a:prstGeom prst="roundRect">
            <a:avLst>
              <a:gd name="adj" fmla="val 6000"/>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Placa simulink"/>
          <p:cNvSpPr/>
          <p:nvPr/>
        </p:nvSpPr>
        <p:spPr>
          <a:xfrm>
            <a:off x="7493508" y="3063240"/>
            <a:ext cx="105156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Logo simulink" descr="logo-simulink.png"/>
          <p:cNvPicPr>
            <a:picLocks noChangeAspect="1"/>
          </p:cNvPicPr>
          <p:nvPr/>
        </p:nvPicPr>
        <p:blipFill>
          <a:blip r:embed="rId4"/>
          <a:stretch>
            <a:fillRect/>
          </a:stretch>
        </p:blipFill>
        <p:spPr>
          <a:xfrm>
            <a:off x="7548372" y="3152884"/>
            <a:ext cx="941832" cy="168184"/>
          </a:xfrm>
          <a:prstGeom prst="rect">
            <a:avLst/>
          </a:prstGeom>
        </p:spPr>
      </p:pic>
      <p:sp>
        <p:nvSpPr>
          <p:cNvPr id="28" name="TextBox 27"/>
          <p:cNvSpPr txBox="1"/>
          <p:nvPr/>
        </p:nvSpPr>
        <p:spPr>
          <a:xfrm>
            <a:off x="7159752" y="3447288"/>
            <a:ext cx="1719072" cy="54864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Control de presión</a:t>
            </a:r>
          </a:p>
          <a:p>
            <a:pPr algn="ctr">
              <a:spcAft>
                <a:spcPts val="0"/>
              </a:spcAft>
            </a:pPr>
            <a:r>
              <a:rPr sz="750" b="0" i="0">
                <a:solidFill>
                  <a:srgbClr val="A9B8C9"/>
                </a:solidFill>
                <a:effectLst>
                  <a:glow rad="63500">
                    <a:srgbClr val="001633">
                      <a:alpha val="85000"/>
                    </a:srgbClr>
                  </a:glow>
                </a:effectLst>
                <a:latin typeface="Montserrat"/>
              </a:rPr>
              <a:t>control.fmu</a:t>
            </a:r>
          </a:p>
        </p:txBody>
      </p:sp>
      <p:sp>
        <p:nvSpPr>
          <p:cNvPr id="29" name="FMU Sensor virtual de humedad"/>
          <p:cNvSpPr/>
          <p:nvPr/>
        </p:nvSpPr>
        <p:spPr>
          <a:xfrm>
            <a:off x="9381744" y="2971800"/>
            <a:ext cx="1719072" cy="1051560"/>
          </a:xfrm>
          <a:prstGeom prst="roundRect">
            <a:avLst>
              <a:gd name="adj" fmla="val 6000"/>
            </a:avLst>
          </a:prstGeom>
          <a:solidFill>
            <a:srgbClr val="001633"/>
          </a:solidFill>
          <a:ln w="1587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Placa python"/>
          <p:cNvSpPr/>
          <p:nvPr/>
        </p:nvSpPr>
        <p:spPr>
          <a:xfrm>
            <a:off x="9715500" y="3063240"/>
            <a:ext cx="105156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Logo python" descr="logo-python.png"/>
          <p:cNvPicPr>
            <a:picLocks noChangeAspect="1"/>
          </p:cNvPicPr>
          <p:nvPr/>
        </p:nvPicPr>
        <p:blipFill>
          <a:blip r:embed="rId5"/>
          <a:stretch>
            <a:fillRect/>
          </a:stretch>
        </p:blipFill>
        <p:spPr>
          <a:xfrm>
            <a:off x="10122408" y="3118104"/>
            <a:ext cx="237744" cy="237744"/>
          </a:xfrm>
          <a:prstGeom prst="rect">
            <a:avLst/>
          </a:prstGeom>
        </p:spPr>
      </p:pic>
      <p:sp>
        <p:nvSpPr>
          <p:cNvPr id="32" name="TextBox 31"/>
          <p:cNvSpPr txBox="1"/>
          <p:nvPr/>
        </p:nvSpPr>
        <p:spPr>
          <a:xfrm>
            <a:off x="9381744" y="3447288"/>
            <a:ext cx="1719072" cy="548640"/>
          </a:xfrm>
          <a:prstGeom prst="rect">
            <a:avLst/>
          </a:prstGeom>
          <a:noFill/>
        </p:spPr>
        <p:txBody>
          <a:bodyPr wrap="square" lIns="0" tIns="0" rIns="0" bIns="0" anchor="ctr">
            <a:spAutoFit/>
          </a:bodyPr>
          <a:lstStyle/>
          <a:p>
            <a:pPr algn="ctr">
              <a:spcAft>
                <a:spcPts val="0"/>
              </a:spcAft>
            </a:pPr>
            <a:r>
              <a:rPr sz="900" b="1" i="0">
                <a:solidFill>
                  <a:srgbClr val="FFFFFF"/>
                </a:solidFill>
                <a:effectLst>
                  <a:glow rad="63500">
                    <a:srgbClr val="001633">
                      <a:alpha val="85000"/>
                    </a:srgbClr>
                  </a:glow>
                </a:effectLst>
                <a:latin typeface="Montserrat"/>
              </a:rPr>
              <a:t>Sensor virtual de humedad</a:t>
            </a:r>
          </a:p>
          <a:p>
            <a:pPr algn="ctr">
              <a:spcAft>
                <a:spcPts val="0"/>
              </a:spcAft>
            </a:pPr>
            <a:r>
              <a:rPr sz="750" b="0" i="0">
                <a:solidFill>
                  <a:srgbClr val="A9B8C9"/>
                </a:solidFill>
                <a:effectLst>
                  <a:glow rad="63500">
                    <a:srgbClr val="001633">
                      <a:alpha val="85000"/>
                    </a:srgbClr>
                  </a:glow>
                </a:effectLst>
                <a:latin typeface="Montserrat"/>
              </a:rPr>
              <a:t>humedad.fmu</a:t>
            </a:r>
          </a:p>
        </p:txBody>
      </p:sp>
      <p:cxnSp>
        <p:nvCxnSpPr>
          <p:cNvPr id="33" name="Connector 32"/>
          <p:cNvCxnSpPr/>
          <p:nvPr/>
        </p:nvCxnSpPr>
        <p:spPr>
          <a:xfrm>
            <a:off x="6684264" y="3360420"/>
            <a:ext cx="448056"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684264" y="3634740"/>
            <a:ext cx="4480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06256" y="3360420"/>
            <a:ext cx="448056" cy="0"/>
          </a:xfrm>
          <a:prstGeom prst="line">
            <a:avLst/>
          </a:prstGeom>
          <a:ln w="1905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6" name="Orquestador"/>
          <p:cNvSpPr/>
          <p:nvPr/>
        </p:nvSpPr>
        <p:spPr>
          <a:xfrm>
            <a:off x="4937760" y="4297680"/>
            <a:ext cx="6163056" cy="621792"/>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937760" y="4297680"/>
            <a:ext cx="6163056" cy="621792"/>
          </a:xfrm>
          <a:prstGeom prst="rect">
            <a:avLst/>
          </a:prstGeom>
          <a:noFill/>
        </p:spPr>
        <p:txBody>
          <a:bodyPr wrap="square" lIns="0" tIns="0" rIns="0" bIns="0" anchor="ctr">
            <a:spAutoFit/>
          </a:bodyPr>
          <a:lstStyle/>
          <a:p>
            <a:pPr algn="ctr">
              <a:spcAft>
                <a:spcPts val="200"/>
              </a:spcAft>
            </a:pPr>
            <a:r>
              <a:rPr sz="900" b="1" i="0">
                <a:solidFill>
                  <a:srgbClr val="85D5E6"/>
                </a:solidFill>
                <a:effectLst>
                  <a:glow rad="63500">
                    <a:srgbClr val="001633">
                      <a:alpha val="85000"/>
                    </a:srgbClr>
                  </a:glow>
                </a:effectLst>
                <a:latin typeface="Montserrat"/>
              </a:rPr>
              <a:t>Orquestador de co‑simulación  </a:t>
            </a:r>
            <a:r>
              <a:rPr sz="800" b="0" i="0">
                <a:solidFill>
                  <a:srgbClr val="A9B8C9"/>
                </a:solidFill>
                <a:effectLst>
                  <a:glow rad="63500">
                    <a:srgbClr val="001633">
                      <a:alpha val="85000"/>
                    </a:srgbClr>
                  </a:glow>
                </a:effectLst>
                <a:latin typeface="Montserrat"/>
              </a:rPr>
              <a:t>avanza las tres cada 1 s e intercambia señales (FMPy, descrito con SSP)</a:t>
            </a:r>
          </a:p>
          <a:p>
            <a:pPr algn="ctr">
              <a:spcAft>
                <a:spcPts val="200"/>
              </a:spcAft>
            </a:pPr>
            <a:r>
              <a:rPr sz="750" b="1" i="0">
                <a:solidFill>
                  <a:srgbClr val="85D5E6"/>
                </a:solidFill>
                <a:effectLst>
                  <a:glow rad="63500">
                    <a:srgbClr val="001633">
                      <a:alpha val="85000"/>
                    </a:srgbClr>
                  </a:glow>
                </a:effectLst>
                <a:latin typeface="Montserrat"/>
              </a:rPr>
              <a:t>p_vessel →</a:t>
            </a:r>
            <a:r>
              <a:rPr sz="750" b="0" i="0">
                <a:solidFill>
                  <a:srgbClr val="A9B8C9"/>
                </a:solidFill>
                <a:effectLst>
                  <a:glow rad="63500">
                    <a:srgbClr val="001633">
                      <a:alpha val="85000"/>
                    </a:srgbClr>
                  </a:glow>
                </a:effectLst>
                <a:latin typeface="Montserrat"/>
              </a:rPr>
              <a:t> control    </a:t>
            </a:r>
            <a:r>
              <a:rPr sz="750" b="1" i="0">
                <a:solidFill>
                  <a:srgbClr val="FFAB40"/>
                </a:solidFill>
                <a:effectLst>
                  <a:glow rad="63500">
                    <a:srgbClr val="001633">
                      <a:alpha val="85000"/>
                    </a:srgbClr>
                  </a:glow>
                </a:effectLst>
                <a:latin typeface="Montserrat"/>
              </a:rPr>
              <a:t>caudal de aire →</a:t>
            </a:r>
            <a:r>
              <a:rPr sz="750" b="0" i="0">
                <a:solidFill>
                  <a:srgbClr val="A9B8C9"/>
                </a:solidFill>
                <a:effectLst>
                  <a:glow rad="63500">
                    <a:srgbClr val="001633">
                      <a:alpha val="85000"/>
                    </a:srgbClr>
                  </a:glow>
                </a:effectLst>
                <a:latin typeface="Montserrat"/>
              </a:rPr>
              <a:t> proceso    </a:t>
            </a:r>
            <a:r>
              <a:rPr sz="750" b="1" i="0">
                <a:solidFill>
                  <a:srgbClr val="85D5E6"/>
                </a:solidFill>
                <a:effectLst>
                  <a:glow rad="63500">
                    <a:srgbClr val="001633">
                      <a:alpha val="85000"/>
                    </a:srgbClr>
                  </a:glow>
                </a:effectLst>
                <a:latin typeface="Montserrat"/>
              </a:rPr>
              <a:t>presión y espesor →</a:t>
            </a:r>
            <a:r>
              <a:rPr sz="750" b="0" i="0">
                <a:solidFill>
                  <a:srgbClr val="A9B8C9"/>
                </a:solidFill>
                <a:effectLst>
                  <a:glow rad="63500">
                    <a:srgbClr val="001633">
                      <a:alpha val="85000"/>
                    </a:srgbClr>
                  </a:glow>
                </a:effectLst>
                <a:latin typeface="Montserrat"/>
              </a:rPr>
              <a:t> humedad estimada</a:t>
            </a:r>
          </a:p>
        </p:txBody>
      </p:sp>
      <p:cxnSp>
        <p:nvCxnSpPr>
          <p:cNvPr id="38" name="Connector 37"/>
          <p:cNvCxnSpPr/>
          <p:nvPr/>
        </p:nvCxnSpPr>
        <p:spPr>
          <a:xfrm>
            <a:off x="5797296" y="4023360"/>
            <a:ext cx="0" cy="274320"/>
          </a:xfrm>
          <a:prstGeom prst="line">
            <a:avLst/>
          </a:prstGeom>
          <a:ln w="9525">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19288" y="4023360"/>
            <a:ext cx="0" cy="274320"/>
          </a:xfrm>
          <a:prstGeom prst="line">
            <a:avLst/>
          </a:prstGeom>
          <a:ln w="9525">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241280" y="4023360"/>
            <a:ext cx="0" cy="274320"/>
          </a:xfrm>
          <a:prstGeom prst="line">
            <a:avLst/>
          </a:prstGeom>
          <a:ln w="9525">
            <a:solidFill>
              <a:srgbClr val="85D5E6"/>
            </a:solidFill>
          </a:ln>
        </p:spPr>
        <p:style>
          <a:lnRef idx="2">
            <a:schemeClr val="accent1"/>
          </a:lnRef>
          <a:fillRef idx="0">
            <a:schemeClr val="accent1"/>
          </a:fillRef>
          <a:effectRef idx="1">
            <a:schemeClr val="accent1"/>
          </a:effectRef>
          <a:fontRef idx="minor">
            <a:schemeClr val="tx1"/>
          </a:fontRef>
        </p:style>
      </p:cxnSp>
      <p:sp>
        <p:nvSpPr>
          <p:cNvPr id="41" name="Clave Cada uno en su herramienta"/>
          <p:cNvSpPr/>
          <p:nvPr/>
        </p:nvSpPr>
        <p:spPr>
          <a:xfrm>
            <a:off x="1252728" y="5193792"/>
            <a:ext cx="318516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Borde Cada uno en su herramienta"/>
          <p:cNvSpPr/>
          <p:nvPr/>
        </p:nvSpPr>
        <p:spPr>
          <a:xfrm>
            <a:off x="1252728" y="5193792"/>
            <a:ext cx="54864" cy="6217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417320" y="5193792"/>
            <a:ext cx="2910840" cy="621792"/>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Cada uno en su herramienta</a:t>
            </a:r>
          </a:p>
          <a:p>
            <a:pPr algn="l">
              <a:spcAft>
                <a:spcPts val="0"/>
              </a:spcAft>
            </a:pPr>
            <a:r>
              <a:rPr sz="800" b="0" i="0">
                <a:solidFill>
                  <a:srgbClr val="A9B8C9"/>
                </a:solidFill>
                <a:effectLst>
                  <a:glow rad="63500">
                    <a:srgbClr val="001633">
                      <a:alpha val="85000"/>
                    </a:srgbClr>
                  </a:glow>
                </a:effectLst>
                <a:latin typeface="Montserrat"/>
              </a:rPr>
              <a:t>el de control en MATLAB/Simulink, el de proceso en Modelica, el de datos en Python.</a:t>
            </a:r>
          </a:p>
        </p:txBody>
      </p:sp>
      <p:sp>
        <p:nvSpPr>
          <p:cNvPr id="44" name="Clave El contrato manda"/>
          <p:cNvSpPr/>
          <p:nvPr/>
        </p:nvSpPr>
        <p:spPr>
          <a:xfrm>
            <a:off x="4666488" y="5193792"/>
            <a:ext cx="318516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Borde El contrato manda"/>
          <p:cNvSpPr/>
          <p:nvPr/>
        </p:nvSpPr>
        <p:spPr>
          <a:xfrm>
            <a:off x="4666488" y="5193792"/>
            <a:ext cx="54864" cy="6217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4831080" y="5193792"/>
            <a:ext cx="2910840" cy="621792"/>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El contrato manda</a:t>
            </a:r>
          </a:p>
          <a:p>
            <a:pPr algn="l">
              <a:spcAft>
                <a:spcPts val="0"/>
              </a:spcAft>
            </a:pPr>
            <a:r>
              <a:rPr sz="800" b="0" i="0">
                <a:solidFill>
                  <a:srgbClr val="A9B8C9"/>
                </a:solidFill>
                <a:effectLst>
                  <a:glow rad="63500">
                    <a:srgbClr val="001633">
                      <a:alpha val="85000"/>
                    </a:srgbClr>
                  </a:glow>
                </a:effectLst>
                <a:latin typeface="Montserrat"/>
              </a:rPr>
              <a:t>mismos nombres y unidades a ambos lados de cada conexión.</a:t>
            </a:r>
          </a:p>
        </p:txBody>
      </p:sp>
      <p:sp>
        <p:nvSpPr>
          <p:cNvPr id="47" name="Clave Se cambia por partes"/>
          <p:cNvSpPr/>
          <p:nvPr/>
        </p:nvSpPr>
        <p:spPr>
          <a:xfrm>
            <a:off x="8080248" y="5193792"/>
            <a:ext cx="318516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Borde Se cambia por partes"/>
          <p:cNvSpPr/>
          <p:nvPr/>
        </p:nvSpPr>
        <p:spPr>
          <a:xfrm>
            <a:off x="8080248" y="5193792"/>
            <a:ext cx="54864" cy="6217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44840" y="5193792"/>
            <a:ext cx="2910840" cy="621792"/>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Se cambia por partes</a:t>
            </a:r>
          </a:p>
          <a:p>
            <a:pPr algn="l">
              <a:spcAft>
                <a:spcPts val="0"/>
              </a:spcAft>
            </a:pPr>
            <a:r>
              <a:rPr sz="800" b="0" i="0">
                <a:solidFill>
                  <a:srgbClr val="A9B8C9"/>
                </a:solidFill>
                <a:effectLst>
                  <a:glow rad="63500">
                    <a:srgbClr val="001633">
                      <a:alpha val="85000"/>
                    </a:srgbClr>
                  </a:glow>
                </a:effectLst>
                <a:latin typeface="Montserrat"/>
              </a:rPr>
              <a:t>un control nuevo se prueba contra la planta virtual sin tocar el proceso.</a:t>
            </a:r>
          </a:p>
        </p:txBody>
      </p:sp>
      <p:sp>
        <p:nvSpPr>
          <p:cNvPr id="5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FMI [19] · SSP [20] · arquitectura de varias FMU ilustrativa: la FMU del curso trae el control adentro</a:t>
            </a:r>
          </a:p>
        </p:txBody>
      </p:sp>
      <p:sp>
        <p:nvSpPr>
          <p:cNvPr id="5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actual"/>
          <p:cNvSpPr/>
          <p:nvPr/>
        </p:nvSpPr>
        <p:spPr>
          <a:xfrm>
            <a:off x="6876288" y="6510528"/>
            <a:ext cx="11226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17/27 </a:t>
            </a:r>
            <a:r>
              <a:rPr sz="1000" b="0" i="0">
                <a:solidFill>
                  <a:srgbClr val="A9B8C9"/>
                </a:solidFill>
                <a:effectLst>
                  <a:glow rad="63500">
                    <a:srgbClr val="001633">
                      <a:alpha val="85000"/>
                    </a:srgbClr>
                  </a:glow>
                </a:effectLst>
                <a:latin typeface="Montserrat"/>
              </a:rPr>
              <a:t>· Gemelos Digitales para Minería 4.0 · 86</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Del modelo a la planta: el gemelo se despliega por etapas, y cada etapa se gana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DESPLIEGUE · ETAPAS</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Nadie conecta un modelo nuevo al control el primer día. Cada etapa le da al gemelo un poco más de responsabilidad, y solo se avanza cuando cumple un criterio medible.</a:t>
            </a:r>
          </a:p>
        </p:txBody>
      </p:sp>
      <p:sp>
        <p:nvSpPr>
          <p:cNvPr id="7" name="Etapa Validar"/>
          <p:cNvSpPr/>
          <p:nvPr/>
        </p:nvSpPr>
        <p:spPr>
          <a:xfrm>
            <a:off x="1252728" y="2560320"/>
            <a:ext cx="1870862" cy="2743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Validar"/>
          <p:cNvSpPr/>
          <p:nvPr/>
        </p:nvSpPr>
        <p:spPr>
          <a:xfrm>
            <a:off x="1252728" y="256032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89888" y="2697480"/>
            <a:ext cx="4572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1</a:t>
            </a:r>
          </a:p>
        </p:txBody>
      </p:sp>
      <p:sp>
        <p:nvSpPr>
          <p:cNvPr id="10" name="Etiqueta Modelo"/>
          <p:cNvSpPr/>
          <p:nvPr/>
        </p:nvSpPr>
        <p:spPr>
          <a:xfrm>
            <a:off x="2254910" y="2761488"/>
            <a:ext cx="731520" cy="23774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254910" y="2761488"/>
            <a:ext cx="731520" cy="237744"/>
          </a:xfrm>
          <a:prstGeom prst="rect">
            <a:avLst/>
          </a:prstGeom>
          <a:noFill/>
        </p:spPr>
        <p:txBody>
          <a:bodyPr wrap="square" lIns="0" tIns="0" rIns="0" bIns="0" anchor="ctr">
            <a:spAutoFit/>
          </a:bodyPr>
          <a:lstStyle/>
          <a:p>
            <a:pPr algn="ctr">
              <a:spcAft>
                <a:spcPts val="600"/>
              </a:spcAft>
            </a:pPr>
            <a:r>
              <a:rPr sz="750" b="0" i="0">
                <a:solidFill>
                  <a:srgbClr val="A9B8C9"/>
                </a:solidFill>
                <a:effectLst>
                  <a:glow rad="63500">
                    <a:srgbClr val="001633">
                      <a:alpha val="85000"/>
                    </a:srgbClr>
                  </a:glow>
                </a:effectLst>
                <a:latin typeface="Montserrat"/>
              </a:rPr>
              <a:t>Modelo</a:t>
            </a:r>
          </a:p>
        </p:txBody>
      </p:sp>
      <p:sp>
        <p:nvSpPr>
          <p:cNvPr id="12" name="TextBox 11"/>
          <p:cNvSpPr txBox="1"/>
          <p:nvPr/>
        </p:nvSpPr>
        <p:spPr>
          <a:xfrm>
            <a:off x="1389888" y="3200400"/>
            <a:ext cx="1596542" cy="502920"/>
          </a:xfrm>
          <a:prstGeom prst="rect">
            <a:avLst/>
          </a:prstGeom>
          <a:noFill/>
        </p:spPr>
        <p:txBody>
          <a:bodyPr wrap="square" lIns="0" tIns="0" rIns="0" bIns="0" anchor="t">
            <a:spAutoFit/>
          </a:bodyPr>
          <a:lstStyle/>
          <a:p>
            <a:pPr algn="l">
              <a:spcAft>
                <a:spcPts val="0"/>
              </a:spcAft>
            </a:pPr>
            <a:r>
              <a:rPr sz="1250" b="1" i="0">
                <a:solidFill>
                  <a:srgbClr val="FFFFFF"/>
                </a:solidFill>
                <a:effectLst>
                  <a:glow rad="63500">
                    <a:srgbClr val="001633">
                      <a:alpha val="85000"/>
                    </a:srgbClr>
                  </a:glow>
                </a:effectLst>
                <a:latin typeface="Montserrat"/>
              </a:rPr>
              <a:t>Validar</a:t>
            </a:r>
          </a:p>
          <a:p>
            <a:pPr algn="l">
              <a:spcAft>
                <a:spcPts val="0"/>
              </a:spcAft>
            </a:pPr>
            <a:r>
              <a:rPr sz="800" b="0" i="0">
                <a:solidFill>
                  <a:srgbClr val="85D5E6"/>
                </a:solidFill>
                <a:effectLst>
                  <a:glow rad="63500">
                    <a:srgbClr val="001633">
                      <a:alpha val="85000"/>
                    </a:srgbClr>
                  </a:glow>
                </a:effectLst>
                <a:latin typeface="Montserrat"/>
              </a:rPr>
              <a:t>fuera de línea</a:t>
            </a:r>
          </a:p>
        </p:txBody>
      </p:sp>
      <p:sp>
        <p:nvSpPr>
          <p:cNvPr id="13" name="TextBox 12"/>
          <p:cNvSpPr txBox="1"/>
          <p:nvPr/>
        </p:nvSpPr>
        <p:spPr>
          <a:xfrm>
            <a:off x="1389888" y="3749040"/>
            <a:ext cx="1596542" cy="7315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contra la ficha del fabricante y los balances</a:t>
            </a:r>
          </a:p>
        </p:txBody>
      </p:sp>
      <p:cxnSp>
        <p:nvCxnSpPr>
          <p:cNvPr id="14" name="Connector 13"/>
          <p:cNvCxnSpPr/>
          <p:nvPr/>
        </p:nvCxnSpPr>
        <p:spPr>
          <a:xfrm>
            <a:off x="1389888" y="4480560"/>
            <a:ext cx="1596542"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89888" y="4526280"/>
            <a:ext cx="1596542" cy="731520"/>
          </a:xfrm>
          <a:prstGeom prst="rect">
            <a:avLst/>
          </a:prstGeom>
          <a:noFill/>
        </p:spPr>
        <p:txBody>
          <a:bodyPr wrap="square" lIns="0" tIns="0" rIns="0" bIns="0" anchor="t">
            <a:spAutoFit/>
          </a:bodyPr>
          <a:lstStyle/>
          <a:p>
            <a:pPr algn="l">
              <a:spcAft>
                <a:spcPts val="100"/>
              </a:spcAft>
            </a:pPr>
            <a:r>
              <a:rPr sz="700" b="1" i="0">
                <a:solidFill>
                  <a:srgbClr val="A9B8C9"/>
                </a:solidFill>
                <a:effectLst>
                  <a:glow rad="63500">
                    <a:srgbClr val="001633">
                      <a:alpha val="85000"/>
                    </a:srgbClr>
                  </a:glow>
                </a:effectLst>
                <a:latin typeface="Montserrat"/>
              </a:rPr>
              <a:t>PARA AVANZAR</a:t>
            </a:r>
          </a:p>
          <a:p>
            <a:pPr algn="l">
              <a:spcAft>
                <a:spcPts val="100"/>
              </a:spcAft>
            </a:pPr>
            <a:r>
              <a:rPr sz="850" b="0" i="0">
                <a:solidFill>
                  <a:srgbClr val="FFFFFF"/>
                </a:solidFill>
                <a:effectLst>
                  <a:glow rad="63500">
                    <a:srgbClr val="001633">
                      <a:alpha val="85000"/>
                    </a:srgbClr>
                  </a:glow>
                </a:effectLst>
                <a:latin typeface="Montserrat"/>
              </a:rPr>
              <a:t>error dentro de lo acordado</a:t>
            </a:r>
          </a:p>
        </p:txBody>
      </p:sp>
      <p:cxnSp>
        <p:nvCxnSpPr>
          <p:cNvPr id="16" name="Connector 15"/>
          <p:cNvCxnSpPr/>
          <p:nvPr/>
        </p:nvCxnSpPr>
        <p:spPr>
          <a:xfrm>
            <a:off x="3132734" y="2971800"/>
            <a:ext cx="146304"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Etapa Probar"/>
          <p:cNvSpPr/>
          <p:nvPr/>
        </p:nvSpPr>
        <p:spPr>
          <a:xfrm>
            <a:off x="3288182" y="2560320"/>
            <a:ext cx="1870862" cy="2743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Borde Probar"/>
          <p:cNvSpPr/>
          <p:nvPr/>
        </p:nvSpPr>
        <p:spPr>
          <a:xfrm>
            <a:off x="3288182" y="256032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25342" y="2697480"/>
            <a:ext cx="4572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2</a:t>
            </a:r>
          </a:p>
        </p:txBody>
      </p:sp>
      <p:sp>
        <p:nvSpPr>
          <p:cNvPr id="20" name="Etiqueta Modelo"/>
          <p:cNvSpPr/>
          <p:nvPr/>
        </p:nvSpPr>
        <p:spPr>
          <a:xfrm>
            <a:off x="4290364" y="2761488"/>
            <a:ext cx="731520" cy="23774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90364" y="2761488"/>
            <a:ext cx="731520" cy="237744"/>
          </a:xfrm>
          <a:prstGeom prst="rect">
            <a:avLst/>
          </a:prstGeom>
          <a:noFill/>
        </p:spPr>
        <p:txBody>
          <a:bodyPr wrap="square" lIns="0" tIns="0" rIns="0" bIns="0" anchor="ctr">
            <a:spAutoFit/>
          </a:bodyPr>
          <a:lstStyle/>
          <a:p>
            <a:pPr algn="ctr">
              <a:spcAft>
                <a:spcPts val="600"/>
              </a:spcAft>
            </a:pPr>
            <a:r>
              <a:rPr sz="750" b="0" i="0">
                <a:solidFill>
                  <a:srgbClr val="A9B8C9"/>
                </a:solidFill>
                <a:effectLst>
                  <a:glow rad="63500">
                    <a:srgbClr val="001633">
                      <a:alpha val="85000"/>
                    </a:srgbClr>
                  </a:glow>
                </a:effectLst>
                <a:latin typeface="Montserrat"/>
              </a:rPr>
              <a:t>Modelo</a:t>
            </a:r>
          </a:p>
        </p:txBody>
      </p:sp>
      <p:sp>
        <p:nvSpPr>
          <p:cNvPr id="22" name="TextBox 21"/>
          <p:cNvSpPr txBox="1"/>
          <p:nvPr/>
        </p:nvSpPr>
        <p:spPr>
          <a:xfrm>
            <a:off x="3425342" y="3200400"/>
            <a:ext cx="1596542" cy="502920"/>
          </a:xfrm>
          <a:prstGeom prst="rect">
            <a:avLst/>
          </a:prstGeom>
          <a:noFill/>
        </p:spPr>
        <p:txBody>
          <a:bodyPr wrap="square" lIns="0" tIns="0" rIns="0" bIns="0" anchor="t">
            <a:spAutoFit/>
          </a:bodyPr>
          <a:lstStyle/>
          <a:p>
            <a:pPr algn="l">
              <a:spcAft>
                <a:spcPts val="0"/>
              </a:spcAft>
            </a:pPr>
            <a:r>
              <a:rPr sz="1250" b="1" i="0">
                <a:solidFill>
                  <a:srgbClr val="FFFFFF"/>
                </a:solidFill>
                <a:effectLst>
                  <a:glow rad="63500">
                    <a:srgbClr val="001633">
                      <a:alpha val="85000"/>
                    </a:srgbClr>
                  </a:glow>
                </a:effectLst>
                <a:latin typeface="Montserrat"/>
              </a:rPr>
              <a:t>Probar</a:t>
            </a:r>
          </a:p>
          <a:p>
            <a:pPr algn="l">
              <a:spcAft>
                <a:spcPts val="0"/>
              </a:spcAft>
            </a:pPr>
            <a:r>
              <a:rPr sz="800" b="0" i="0">
                <a:solidFill>
                  <a:srgbClr val="85D5E6"/>
                </a:solidFill>
                <a:effectLst>
                  <a:glow rad="63500">
                    <a:srgbClr val="001633">
                      <a:alpha val="85000"/>
                    </a:srgbClr>
                  </a:glow>
                </a:effectLst>
                <a:latin typeface="Montserrat"/>
              </a:rPr>
              <a:t>con datos históricos</a:t>
            </a:r>
          </a:p>
        </p:txBody>
      </p:sp>
      <p:sp>
        <p:nvSpPr>
          <p:cNvPr id="23" name="TextBox 22"/>
          <p:cNvSpPr txBox="1"/>
          <p:nvPr/>
        </p:nvSpPr>
        <p:spPr>
          <a:xfrm>
            <a:off x="3425342" y="3749040"/>
            <a:ext cx="1596542" cy="7315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reproduce turnos pasados, buenos y malos</a:t>
            </a:r>
          </a:p>
        </p:txBody>
      </p:sp>
      <p:cxnSp>
        <p:nvCxnSpPr>
          <p:cNvPr id="24" name="Connector 23"/>
          <p:cNvCxnSpPr/>
          <p:nvPr/>
        </p:nvCxnSpPr>
        <p:spPr>
          <a:xfrm>
            <a:off x="3425342" y="4480560"/>
            <a:ext cx="1596542"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25342" y="4526280"/>
            <a:ext cx="1596542" cy="731520"/>
          </a:xfrm>
          <a:prstGeom prst="rect">
            <a:avLst/>
          </a:prstGeom>
          <a:noFill/>
        </p:spPr>
        <p:txBody>
          <a:bodyPr wrap="square" lIns="0" tIns="0" rIns="0" bIns="0" anchor="t">
            <a:spAutoFit/>
          </a:bodyPr>
          <a:lstStyle/>
          <a:p>
            <a:pPr algn="l">
              <a:spcAft>
                <a:spcPts val="100"/>
              </a:spcAft>
            </a:pPr>
            <a:r>
              <a:rPr sz="700" b="1" i="0">
                <a:solidFill>
                  <a:srgbClr val="A9B8C9"/>
                </a:solidFill>
                <a:effectLst>
                  <a:glow rad="63500">
                    <a:srgbClr val="001633">
                      <a:alpha val="85000"/>
                    </a:srgbClr>
                  </a:glow>
                </a:effectLst>
                <a:latin typeface="Montserrat"/>
              </a:rPr>
              <a:t>PARA AVANZAR</a:t>
            </a:r>
          </a:p>
          <a:p>
            <a:pPr algn="l">
              <a:spcAft>
                <a:spcPts val="100"/>
              </a:spcAft>
            </a:pPr>
            <a:r>
              <a:rPr sz="850" b="0" i="0">
                <a:solidFill>
                  <a:srgbClr val="FFFFFF"/>
                </a:solidFill>
                <a:effectLst>
                  <a:glow rad="63500">
                    <a:srgbClr val="001633">
                      <a:alpha val="85000"/>
                    </a:srgbClr>
                  </a:glow>
                </a:effectLst>
                <a:latin typeface="Montserrat"/>
              </a:rPr>
              <a:t>sigue la planta sin recalibrar a mano</a:t>
            </a:r>
          </a:p>
        </p:txBody>
      </p:sp>
      <p:cxnSp>
        <p:nvCxnSpPr>
          <p:cNvPr id="26" name="Connector 25"/>
          <p:cNvCxnSpPr/>
          <p:nvPr/>
        </p:nvCxnSpPr>
        <p:spPr>
          <a:xfrm>
            <a:off x="5168188" y="2971800"/>
            <a:ext cx="146304"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Etapa Sombra"/>
          <p:cNvSpPr/>
          <p:nvPr/>
        </p:nvSpPr>
        <p:spPr>
          <a:xfrm>
            <a:off x="5323636" y="2560320"/>
            <a:ext cx="1870862" cy="274320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Borde Sombra"/>
          <p:cNvSpPr/>
          <p:nvPr/>
        </p:nvSpPr>
        <p:spPr>
          <a:xfrm>
            <a:off x="5323636" y="256032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460796" y="2697480"/>
            <a:ext cx="4572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3</a:t>
            </a:r>
          </a:p>
        </p:txBody>
      </p:sp>
      <p:sp>
        <p:nvSpPr>
          <p:cNvPr id="30" name="Etiqueta Sombra"/>
          <p:cNvSpPr/>
          <p:nvPr/>
        </p:nvSpPr>
        <p:spPr>
          <a:xfrm>
            <a:off x="6325819" y="2761488"/>
            <a:ext cx="731520" cy="23774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25819" y="2761488"/>
            <a:ext cx="731520" cy="237744"/>
          </a:xfrm>
          <a:prstGeom prst="rect">
            <a:avLst/>
          </a:prstGeom>
          <a:noFill/>
        </p:spPr>
        <p:txBody>
          <a:bodyPr wrap="square" lIns="0" tIns="0" rIns="0" bIns="0" anchor="ctr">
            <a:spAutoFit/>
          </a:bodyPr>
          <a:lstStyle/>
          <a:p>
            <a:pPr algn="ctr">
              <a:spcAft>
                <a:spcPts val="600"/>
              </a:spcAft>
            </a:pPr>
            <a:r>
              <a:rPr sz="750" b="0" i="0">
                <a:solidFill>
                  <a:srgbClr val="85D5E6"/>
                </a:solidFill>
                <a:effectLst>
                  <a:glow rad="63500">
                    <a:srgbClr val="001633">
                      <a:alpha val="85000"/>
                    </a:srgbClr>
                  </a:glow>
                </a:effectLst>
                <a:latin typeface="Montserrat"/>
              </a:rPr>
              <a:t>Sombra</a:t>
            </a:r>
          </a:p>
        </p:txBody>
      </p:sp>
      <p:sp>
        <p:nvSpPr>
          <p:cNvPr id="32" name="TextBox 31"/>
          <p:cNvSpPr txBox="1"/>
          <p:nvPr/>
        </p:nvSpPr>
        <p:spPr>
          <a:xfrm>
            <a:off x="5460796" y="3200400"/>
            <a:ext cx="1596542" cy="502920"/>
          </a:xfrm>
          <a:prstGeom prst="rect">
            <a:avLst/>
          </a:prstGeom>
          <a:noFill/>
        </p:spPr>
        <p:txBody>
          <a:bodyPr wrap="square" lIns="0" tIns="0" rIns="0" bIns="0" anchor="t">
            <a:spAutoFit/>
          </a:bodyPr>
          <a:lstStyle/>
          <a:p>
            <a:pPr algn="l">
              <a:spcAft>
                <a:spcPts val="0"/>
              </a:spcAft>
            </a:pPr>
            <a:r>
              <a:rPr sz="1250" b="1" i="0">
                <a:solidFill>
                  <a:srgbClr val="FFFFFF"/>
                </a:solidFill>
                <a:effectLst>
                  <a:glow rad="63500">
                    <a:srgbClr val="001633">
                      <a:alpha val="85000"/>
                    </a:srgbClr>
                  </a:glow>
                </a:effectLst>
                <a:latin typeface="Montserrat"/>
              </a:rPr>
              <a:t>Sombra</a:t>
            </a:r>
          </a:p>
          <a:p>
            <a:pPr algn="l">
              <a:spcAft>
                <a:spcPts val="0"/>
              </a:spcAft>
            </a:pPr>
            <a:r>
              <a:rPr sz="800" b="0" i="0">
                <a:solidFill>
                  <a:srgbClr val="85D5E6"/>
                </a:solidFill>
                <a:effectLst>
                  <a:glow rad="63500">
                    <a:srgbClr val="001633">
                      <a:alpha val="85000"/>
                    </a:srgbClr>
                  </a:glow>
                </a:effectLst>
                <a:latin typeface="Montserrat"/>
              </a:rPr>
              <a:t>lee en línea, no actúa</a:t>
            </a:r>
          </a:p>
        </p:txBody>
      </p:sp>
      <p:sp>
        <p:nvSpPr>
          <p:cNvPr id="33" name="TextBox 32"/>
          <p:cNvSpPr txBox="1"/>
          <p:nvPr/>
        </p:nvSpPr>
        <p:spPr>
          <a:xfrm>
            <a:off x="5460796" y="3749040"/>
            <a:ext cx="1596542" cy="7315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corre junto al filtro con las señales reales</a:t>
            </a:r>
          </a:p>
        </p:txBody>
      </p:sp>
      <p:cxnSp>
        <p:nvCxnSpPr>
          <p:cNvPr id="34" name="Connector 33"/>
          <p:cNvCxnSpPr/>
          <p:nvPr/>
        </p:nvCxnSpPr>
        <p:spPr>
          <a:xfrm>
            <a:off x="5460796" y="4480560"/>
            <a:ext cx="1596543"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60796" y="4526280"/>
            <a:ext cx="1596542" cy="731520"/>
          </a:xfrm>
          <a:prstGeom prst="rect">
            <a:avLst/>
          </a:prstGeom>
          <a:noFill/>
        </p:spPr>
        <p:txBody>
          <a:bodyPr wrap="square" lIns="0" tIns="0" rIns="0" bIns="0" anchor="t">
            <a:spAutoFit/>
          </a:bodyPr>
          <a:lstStyle/>
          <a:p>
            <a:pPr algn="l">
              <a:spcAft>
                <a:spcPts val="100"/>
              </a:spcAft>
            </a:pPr>
            <a:r>
              <a:rPr sz="700" b="1" i="0">
                <a:solidFill>
                  <a:srgbClr val="A9B8C9"/>
                </a:solidFill>
                <a:effectLst>
                  <a:glow rad="63500">
                    <a:srgbClr val="001633">
                      <a:alpha val="85000"/>
                    </a:srgbClr>
                  </a:glow>
                </a:effectLst>
                <a:latin typeface="Montserrat"/>
              </a:rPr>
              <a:t>PARA AVANZAR</a:t>
            </a:r>
          </a:p>
          <a:p>
            <a:pPr algn="l">
              <a:spcAft>
                <a:spcPts val="100"/>
              </a:spcAft>
            </a:pPr>
            <a:r>
              <a:rPr sz="850" b="0" i="0">
                <a:solidFill>
                  <a:srgbClr val="FFFFFF"/>
                </a:solidFill>
                <a:effectLst>
                  <a:glow rad="63500">
                    <a:srgbClr val="001633">
                      <a:alpha val="85000"/>
                    </a:srgbClr>
                  </a:glow>
                </a:effectLst>
                <a:latin typeface="Montserrat"/>
              </a:rPr>
              <a:t>semanas estable; alertas útiles</a:t>
            </a:r>
          </a:p>
        </p:txBody>
      </p:sp>
      <p:cxnSp>
        <p:nvCxnSpPr>
          <p:cNvPr id="36" name="Connector 35"/>
          <p:cNvCxnSpPr/>
          <p:nvPr/>
        </p:nvCxnSpPr>
        <p:spPr>
          <a:xfrm>
            <a:off x="7203643" y="2971800"/>
            <a:ext cx="146304"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Etapa Asesor"/>
          <p:cNvSpPr/>
          <p:nvPr/>
        </p:nvSpPr>
        <p:spPr>
          <a:xfrm>
            <a:off x="7359091" y="2560320"/>
            <a:ext cx="1870862" cy="2743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Borde Asesor"/>
          <p:cNvSpPr/>
          <p:nvPr/>
        </p:nvSpPr>
        <p:spPr>
          <a:xfrm>
            <a:off x="7359091" y="2560320"/>
            <a:ext cx="187086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496251" y="2697480"/>
            <a:ext cx="457200" cy="457200"/>
          </a:xfrm>
          <a:prstGeom prst="rect">
            <a:avLst/>
          </a:prstGeom>
          <a:noFill/>
        </p:spPr>
        <p:txBody>
          <a:bodyPr wrap="square" lIns="0" tIns="0" rIns="0" bIns="0" anchor="t">
            <a:spAutoFit/>
          </a:bodyPr>
          <a:lstStyle/>
          <a:p>
            <a:pPr algn="l">
              <a:spcAft>
                <a:spcPts val="600"/>
              </a:spcAft>
            </a:pPr>
            <a:r>
              <a:rPr sz="2200" b="1" i="0">
                <a:solidFill>
                  <a:srgbClr val="FFAB40"/>
                </a:solidFill>
                <a:effectLst>
                  <a:glow rad="63500">
                    <a:srgbClr val="001633">
                      <a:alpha val="85000"/>
                    </a:srgbClr>
                  </a:glow>
                </a:effectLst>
                <a:latin typeface="Montserrat"/>
              </a:rPr>
              <a:t>4</a:t>
            </a:r>
          </a:p>
        </p:txBody>
      </p:sp>
      <p:sp>
        <p:nvSpPr>
          <p:cNvPr id="40" name="Etiqueta Gemelo"/>
          <p:cNvSpPr/>
          <p:nvPr/>
        </p:nvSpPr>
        <p:spPr>
          <a:xfrm>
            <a:off x="8361273" y="2761488"/>
            <a:ext cx="731520" cy="23774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361273" y="2761488"/>
            <a:ext cx="731520" cy="237744"/>
          </a:xfrm>
          <a:prstGeom prst="rect">
            <a:avLst/>
          </a:prstGeom>
          <a:noFill/>
        </p:spPr>
        <p:txBody>
          <a:bodyPr wrap="square" lIns="0" tIns="0" rIns="0" bIns="0" anchor="ctr">
            <a:spAutoFit/>
          </a:bodyPr>
          <a:lstStyle/>
          <a:p>
            <a:pPr algn="ctr">
              <a:spcAft>
                <a:spcPts val="600"/>
              </a:spcAft>
            </a:pPr>
            <a:r>
              <a:rPr sz="750" b="0" i="0">
                <a:solidFill>
                  <a:srgbClr val="85D5E6"/>
                </a:solidFill>
                <a:effectLst>
                  <a:glow rad="63500">
                    <a:srgbClr val="001633">
                      <a:alpha val="85000"/>
                    </a:srgbClr>
                  </a:glow>
                </a:effectLst>
                <a:latin typeface="Montserrat"/>
              </a:rPr>
              <a:t>Gemelo</a:t>
            </a:r>
          </a:p>
        </p:txBody>
      </p:sp>
      <p:sp>
        <p:nvSpPr>
          <p:cNvPr id="42" name="TextBox 41"/>
          <p:cNvSpPr txBox="1"/>
          <p:nvPr/>
        </p:nvSpPr>
        <p:spPr>
          <a:xfrm>
            <a:off x="7496251" y="3200400"/>
            <a:ext cx="1596542" cy="502920"/>
          </a:xfrm>
          <a:prstGeom prst="rect">
            <a:avLst/>
          </a:prstGeom>
          <a:noFill/>
        </p:spPr>
        <p:txBody>
          <a:bodyPr wrap="square" lIns="0" tIns="0" rIns="0" bIns="0" anchor="t">
            <a:spAutoFit/>
          </a:bodyPr>
          <a:lstStyle/>
          <a:p>
            <a:pPr algn="l">
              <a:spcAft>
                <a:spcPts val="0"/>
              </a:spcAft>
            </a:pPr>
            <a:r>
              <a:rPr sz="1250" b="1" i="0">
                <a:solidFill>
                  <a:srgbClr val="FFFFFF"/>
                </a:solidFill>
                <a:effectLst>
                  <a:glow rad="63500">
                    <a:srgbClr val="001633">
                      <a:alpha val="85000"/>
                    </a:srgbClr>
                  </a:glow>
                </a:effectLst>
                <a:latin typeface="Montserrat"/>
              </a:rPr>
              <a:t>Asesor</a:t>
            </a:r>
          </a:p>
          <a:p>
            <a:pPr algn="l">
              <a:spcAft>
                <a:spcPts val="0"/>
              </a:spcAft>
            </a:pPr>
            <a:r>
              <a:rPr sz="800" b="0" i="0">
                <a:solidFill>
                  <a:srgbClr val="85D5E6"/>
                </a:solidFill>
                <a:effectLst>
                  <a:glow rad="63500">
                    <a:srgbClr val="001633">
                      <a:alpha val="85000"/>
                    </a:srgbClr>
                  </a:glow>
                </a:effectLst>
                <a:latin typeface="Montserrat"/>
              </a:rPr>
              <a:t>recomienda, el operador decide</a:t>
            </a:r>
          </a:p>
        </p:txBody>
      </p:sp>
      <p:sp>
        <p:nvSpPr>
          <p:cNvPr id="43" name="TextBox 42"/>
          <p:cNvSpPr txBox="1"/>
          <p:nvPr/>
        </p:nvSpPr>
        <p:spPr>
          <a:xfrm>
            <a:off x="7496251" y="3749040"/>
            <a:ext cx="1596542" cy="7315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propone presión y velocidad en la sala de control</a:t>
            </a:r>
          </a:p>
        </p:txBody>
      </p:sp>
      <p:cxnSp>
        <p:nvCxnSpPr>
          <p:cNvPr id="44" name="Connector 43"/>
          <p:cNvCxnSpPr/>
          <p:nvPr/>
        </p:nvCxnSpPr>
        <p:spPr>
          <a:xfrm>
            <a:off x="7496251" y="4480560"/>
            <a:ext cx="1596542"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496251" y="4526280"/>
            <a:ext cx="1596542" cy="731520"/>
          </a:xfrm>
          <a:prstGeom prst="rect">
            <a:avLst/>
          </a:prstGeom>
          <a:noFill/>
        </p:spPr>
        <p:txBody>
          <a:bodyPr wrap="square" lIns="0" tIns="0" rIns="0" bIns="0" anchor="t">
            <a:spAutoFit/>
          </a:bodyPr>
          <a:lstStyle/>
          <a:p>
            <a:pPr algn="l">
              <a:spcAft>
                <a:spcPts val="100"/>
              </a:spcAft>
            </a:pPr>
            <a:r>
              <a:rPr sz="700" b="1" i="0">
                <a:solidFill>
                  <a:srgbClr val="A9B8C9"/>
                </a:solidFill>
                <a:effectLst>
                  <a:glow rad="63500">
                    <a:srgbClr val="001633">
                      <a:alpha val="85000"/>
                    </a:srgbClr>
                  </a:glow>
                </a:effectLst>
                <a:latin typeface="Montserrat"/>
              </a:rPr>
              <a:t>PARA AVANZAR</a:t>
            </a:r>
          </a:p>
          <a:p>
            <a:pPr algn="l">
              <a:spcAft>
                <a:spcPts val="100"/>
              </a:spcAft>
            </a:pPr>
            <a:r>
              <a:rPr sz="850" b="0" i="0">
                <a:solidFill>
                  <a:srgbClr val="FFFFFF"/>
                </a:solidFill>
                <a:effectLst>
                  <a:glow rad="63500">
                    <a:srgbClr val="001633">
                      <a:alpha val="85000"/>
                    </a:srgbClr>
                  </a:glow>
                </a:effectLst>
                <a:latin typeface="Montserrat"/>
              </a:rPr>
              <a:t>el operador confía y lo usa</a:t>
            </a:r>
          </a:p>
        </p:txBody>
      </p:sp>
      <p:cxnSp>
        <p:nvCxnSpPr>
          <p:cNvPr id="46" name="Connector 45"/>
          <p:cNvCxnSpPr/>
          <p:nvPr/>
        </p:nvCxnSpPr>
        <p:spPr>
          <a:xfrm>
            <a:off x="9239097" y="2971800"/>
            <a:ext cx="146304"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Etapa Lazo cerrado"/>
          <p:cNvSpPr/>
          <p:nvPr/>
        </p:nvSpPr>
        <p:spPr>
          <a:xfrm>
            <a:off x="9394545" y="2560320"/>
            <a:ext cx="1870862" cy="2743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Borde Lazo cerrado"/>
          <p:cNvSpPr/>
          <p:nvPr/>
        </p:nvSpPr>
        <p:spPr>
          <a:xfrm>
            <a:off x="9394545" y="2560320"/>
            <a:ext cx="1870862"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531705" y="2697480"/>
            <a:ext cx="457200" cy="457200"/>
          </a:xfrm>
          <a:prstGeom prst="rect">
            <a:avLst/>
          </a:prstGeom>
          <a:noFill/>
        </p:spPr>
        <p:txBody>
          <a:bodyPr wrap="square" lIns="0" tIns="0" rIns="0" bIns="0" anchor="t">
            <a:spAutoFit/>
          </a:bodyPr>
          <a:lstStyle/>
          <a:p>
            <a:pPr algn="l">
              <a:spcAft>
                <a:spcPts val="600"/>
              </a:spcAft>
            </a:pPr>
            <a:r>
              <a:rPr sz="2200" b="1" i="0">
                <a:solidFill>
                  <a:srgbClr val="A9B8C9"/>
                </a:solidFill>
                <a:effectLst>
                  <a:glow rad="63500">
                    <a:srgbClr val="001633">
                      <a:alpha val="85000"/>
                    </a:srgbClr>
                  </a:glow>
                </a:effectLst>
                <a:latin typeface="Montserrat"/>
              </a:rPr>
              <a:t>5</a:t>
            </a:r>
          </a:p>
        </p:txBody>
      </p:sp>
      <p:sp>
        <p:nvSpPr>
          <p:cNvPr id="50" name="Etiqueta Gemelo"/>
          <p:cNvSpPr/>
          <p:nvPr/>
        </p:nvSpPr>
        <p:spPr>
          <a:xfrm>
            <a:off x="10396728" y="2761488"/>
            <a:ext cx="731520" cy="23774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396728" y="2761488"/>
            <a:ext cx="731520" cy="237744"/>
          </a:xfrm>
          <a:prstGeom prst="rect">
            <a:avLst/>
          </a:prstGeom>
          <a:noFill/>
        </p:spPr>
        <p:txBody>
          <a:bodyPr wrap="square" lIns="0" tIns="0" rIns="0" bIns="0" anchor="ctr">
            <a:spAutoFit/>
          </a:bodyPr>
          <a:lstStyle/>
          <a:p>
            <a:pPr algn="ctr">
              <a:spcAft>
                <a:spcPts val="600"/>
              </a:spcAft>
            </a:pPr>
            <a:r>
              <a:rPr sz="750" b="0" i="0">
                <a:solidFill>
                  <a:srgbClr val="85D5E6"/>
                </a:solidFill>
                <a:effectLst>
                  <a:glow rad="63500">
                    <a:srgbClr val="001633">
                      <a:alpha val="85000"/>
                    </a:srgbClr>
                  </a:glow>
                </a:effectLst>
                <a:latin typeface="Montserrat"/>
              </a:rPr>
              <a:t>Gemelo</a:t>
            </a:r>
          </a:p>
        </p:txBody>
      </p:sp>
      <p:sp>
        <p:nvSpPr>
          <p:cNvPr id="52" name="TextBox 51"/>
          <p:cNvSpPr txBox="1"/>
          <p:nvPr/>
        </p:nvSpPr>
        <p:spPr>
          <a:xfrm>
            <a:off x="9531705" y="3200400"/>
            <a:ext cx="1596542" cy="502920"/>
          </a:xfrm>
          <a:prstGeom prst="rect">
            <a:avLst/>
          </a:prstGeom>
          <a:noFill/>
        </p:spPr>
        <p:txBody>
          <a:bodyPr wrap="square" lIns="0" tIns="0" rIns="0" bIns="0" anchor="t">
            <a:spAutoFit/>
          </a:bodyPr>
          <a:lstStyle/>
          <a:p>
            <a:pPr algn="l">
              <a:spcAft>
                <a:spcPts val="0"/>
              </a:spcAft>
            </a:pPr>
            <a:r>
              <a:rPr sz="1250" b="1" i="0">
                <a:solidFill>
                  <a:srgbClr val="FFFFFF"/>
                </a:solidFill>
                <a:effectLst>
                  <a:glow rad="63500">
                    <a:srgbClr val="001633">
                      <a:alpha val="85000"/>
                    </a:srgbClr>
                  </a:glow>
                </a:effectLst>
                <a:latin typeface="Montserrat"/>
              </a:rPr>
              <a:t>Lazo cerrado</a:t>
            </a:r>
          </a:p>
          <a:p>
            <a:pPr algn="l">
              <a:spcAft>
                <a:spcPts val="0"/>
              </a:spcAft>
            </a:pPr>
            <a:r>
              <a:rPr sz="800" b="0" i="0">
                <a:solidFill>
                  <a:srgbClr val="85D5E6"/>
                </a:solidFill>
                <a:effectLst>
                  <a:glow rad="63500">
                    <a:srgbClr val="001633">
                      <a:alpha val="85000"/>
                    </a:srgbClr>
                  </a:glow>
                </a:effectLst>
                <a:latin typeface="Montserrat"/>
              </a:rPr>
              <a:t>opcional</a:t>
            </a:r>
          </a:p>
        </p:txBody>
      </p:sp>
      <p:sp>
        <p:nvSpPr>
          <p:cNvPr id="53" name="TextBox 52"/>
          <p:cNvSpPr txBox="1"/>
          <p:nvPr/>
        </p:nvSpPr>
        <p:spPr>
          <a:xfrm>
            <a:off x="9531705" y="3749040"/>
            <a:ext cx="1596542" cy="7315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sus consignas van al control, con límites</a:t>
            </a:r>
          </a:p>
        </p:txBody>
      </p:sp>
      <p:cxnSp>
        <p:nvCxnSpPr>
          <p:cNvPr id="54" name="Connector 53"/>
          <p:cNvCxnSpPr/>
          <p:nvPr/>
        </p:nvCxnSpPr>
        <p:spPr>
          <a:xfrm>
            <a:off x="9531705" y="4480560"/>
            <a:ext cx="1596543" cy="0"/>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531705" y="4526280"/>
            <a:ext cx="1596542" cy="731520"/>
          </a:xfrm>
          <a:prstGeom prst="rect">
            <a:avLst/>
          </a:prstGeom>
          <a:noFill/>
        </p:spPr>
        <p:txBody>
          <a:bodyPr wrap="square" lIns="0" tIns="0" rIns="0" bIns="0" anchor="t">
            <a:spAutoFit/>
          </a:bodyPr>
          <a:lstStyle/>
          <a:p>
            <a:pPr algn="l">
              <a:spcAft>
                <a:spcPts val="100"/>
              </a:spcAft>
            </a:pPr>
            <a:r>
              <a:rPr sz="700" b="1" i="0">
                <a:solidFill>
                  <a:srgbClr val="A9B8C9"/>
                </a:solidFill>
                <a:effectLst>
                  <a:glow rad="63500">
                    <a:srgbClr val="001633">
                      <a:alpha val="85000"/>
                    </a:srgbClr>
                  </a:glow>
                </a:effectLst>
                <a:latin typeface="Montserrat"/>
              </a:rPr>
              <a:t>PARA AVANZAR</a:t>
            </a:r>
          </a:p>
          <a:p>
            <a:pPr algn="l">
              <a:spcAft>
                <a:spcPts val="100"/>
              </a:spcAft>
            </a:pPr>
            <a:r>
              <a:rPr sz="850" b="0" i="0">
                <a:solidFill>
                  <a:srgbClr val="FFFFFF"/>
                </a:solidFill>
                <a:effectLst>
                  <a:glow rad="63500">
                    <a:srgbClr val="001633">
                      <a:alpha val="85000"/>
                    </a:srgbClr>
                  </a:glow>
                </a:effectLst>
                <a:latin typeface="Montserrat"/>
              </a:rPr>
              <a:t>autorización formal</a:t>
            </a:r>
          </a:p>
        </p:txBody>
      </p:sp>
      <p:sp>
        <p:nvSpPr>
          <p:cNvPr id="56" name="TextBox 55"/>
          <p:cNvSpPr txBox="1"/>
          <p:nvPr/>
        </p:nvSpPr>
        <p:spPr>
          <a:xfrm>
            <a:off x="1252728" y="5486400"/>
            <a:ext cx="10012680" cy="32004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El grado del capítulo I no se declara, se alcanza: </a:t>
            </a:r>
            <a:r>
              <a:rPr sz="1000" b="0" i="0">
                <a:solidFill>
                  <a:srgbClr val="FFFFFF"/>
                </a:solidFill>
                <a:effectLst>
                  <a:glow rad="63500">
                    <a:srgbClr val="001633">
                      <a:alpha val="85000"/>
                    </a:srgbClr>
                  </a:glow>
                </a:effectLst>
                <a:latin typeface="Montserrat"/>
              </a:rPr>
              <a:t>una sombra es un modelo que ya demostró que sigue a la planta.</a:t>
            </a:r>
          </a:p>
        </p:txBody>
      </p:sp>
      <p:sp>
        <p:nvSpPr>
          <p:cNvPr id="5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Etapas de despliegue: propuesta de los autores · modelo, sombra y gemelo: capítulo I (Kritzinger et al.)</a:t>
            </a:r>
          </a:p>
        </p:txBody>
      </p:sp>
      <p:sp>
        <p:nvSpPr>
          <p:cNvPr id="5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6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V actual"/>
          <p:cNvSpPr/>
          <p:nvPr/>
        </p:nvSpPr>
        <p:spPr>
          <a:xfrm>
            <a:off x="6876288" y="6510528"/>
            <a:ext cx="11887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18/27 </a:t>
            </a:r>
            <a:r>
              <a:rPr sz="1000" b="0" i="0">
                <a:solidFill>
                  <a:srgbClr val="A9B8C9"/>
                </a:solidFill>
                <a:effectLst>
                  <a:glow rad="63500">
                    <a:srgbClr val="001633">
                      <a:alpha val="85000"/>
                    </a:srgbClr>
                  </a:glow>
                </a:effectLst>
                <a:latin typeface="Montserrat"/>
              </a:rPr>
              <a:t>· Gemelos Digitales para Minería 4.0 · 87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misma FMU corre en tres lugares, porque viaja con su código en C</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5 · DÓNDE CORRE</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FMU trae binarios para Linux y además su código fuente. Con eso se compila para la estación de ingeniería, para un PC junto al filtro o para el navegador.</a:t>
            </a:r>
          </a:p>
        </p:txBody>
      </p:sp>
      <p:sp>
        <p:nvSpPr>
          <p:cNvPr id="7" name="FMU"/>
          <p:cNvSpPr/>
          <p:nvPr/>
        </p:nvSpPr>
        <p:spPr>
          <a:xfrm>
            <a:off x="4796028" y="2606040"/>
            <a:ext cx="2926080" cy="548640"/>
          </a:xfrm>
          <a:prstGeom prst="roundRect">
            <a:avLst>
              <a:gd name="adj" fmla="val 20000"/>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796028" y="2606040"/>
            <a:ext cx="2926080" cy="548640"/>
          </a:xfrm>
          <a:prstGeom prst="rect">
            <a:avLst/>
          </a:prstGeom>
          <a:noFill/>
        </p:spPr>
        <p:txBody>
          <a:bodyPr wrap="square" lIns="0" tIns="0" rIns="0" bIns="0" anchor="ctr">
            <a:spAutoFit/>
          </a:bodyPr>
          <a:lstStyle/>
          <a:p>
            <a:pPr algn="ctr">
              <a:spcAft>
                <a:spcPts val="0"/>
              </a:spcAft>
            </a:pPr>
            <a:r>
              <a:rPr sz="1100" b="1" i="0">
                <a:solidFill>
                  <a:srgbClr val="001633"/>
                </a:solidFill>
                <a:latin typeface="Montserrat"/>
              </a:rPr>
              <a:t>HBF_S_168_12_FMU.fmu</a:t>
            </a:r>
          </a:p>
          <a:p>
            <a:pPr algn="ctr">
              <a:spcAft>
                <a:spcPts val="0"/>
              </a:spcAft>
            </a:pPr>
            <a:r>
              <a:rPr sz="800" b="0" i="0">
                <a:solidFill>
                  <a:srgbClr val="001633"/>
                </a:solidFill>
                <a:latin typeface="Montserrat"/>
              </a:rPr>
              <a:t>modelo + contrato + sources/ en C</a:t>
            </a:r>
          </a:p>
        </p:txBody>
      </p:sp>
      <p:cxnSp>
        <p:nvCxnSpPr>
          <p:cNvPr id="9" name="Connector 8"/>
          <p:cNvCxnSpPr/>
          <p:nvPr/>
        </p:nvCxnSpPr>
        <p:spPr>
          <a:xfrm flipH="1">
            <a:off x="2830068" y="3154680"/>
            <a:ext cx="3429000" cy="36576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Lugar Ingeniería"/>
          <p:cNvSpPr/>
          <p:nvPr/>
        </p:nvSpPr>
        <p:spPr>
          <a:xfrm>
            <a:off x="1252728" y="3566160"/>
            <a:ext cx="3154680" cy="19202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Ingeniería"/>
          <p:cNvSpPr/>
          <p:nvPr/>
        </p:nvSpPr>
        <p:spPr>
          <a:xfrm>
            <a:off x="1435608" y="3703320"/>
            <a:ext cx="548640" cy="54864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Ícono monitor" descr="monitor-orange.png"/>
          <p:cNvPicPr>
            <a:picLocks noChangeAspect="1"/>
          </p:cNvPicPr>
          <p:nvPr/>
        </p:nvPicPr>
        <p:blipFill>
          <a:blip r:embed="rId3"/>
          <a:stretch>
            <a:fillRect/>
          </a:stretch>
        </p:blipFill>
        <p:spPr>
          <a:xfrm>
            <a:off x="1556309" y="3824021"/>
            <a:ext cx="307238" cy="307238"/>
          </a:xfrm>
          <a:prstGeom prst="rect">
            <a:avLst/>
          </a:prstGeom>
        </p:spPr>
      </p:pic>
      <p:sp>
        <p:nvSpPr>
          <p:cNvPr id="13" name="TextBox 12"/>
          <p:cNvSpPr txBox="1"/>
          <p:nvPr/>
        </p:nvSpPr>
        <p:spPr>
          <a:xfrm>
            <a:off x="2121408" y="3703320"/>
            <a:ext cx="2194560" cy="548640"/>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Ingeniería</a:t>
            </a:r>
          </a:p>
          <a:p>
            <a:pPr algn="l">
              <a:spcAft>
                <a:spcPts val="0"/>
              </a:spcAft>
            </a:pPr>
            <a:r>
              <a:rPr sz="900" b="0" i="0">
                <a:solidFill>
                  <a:srgbClr val="85D5E6"/>
                </a:solidFill>
                <a:effectLst>
                  <a:glow rad="63500">
                    <a:srgbClr val="001633">
                      <a:alpha val="85000"/>
                    </a:srgbClr>
                  </a:glow>
                </a:effectLst>
                <a:latin typeface="Montserrat"/>
              </a:rPr>
              <a:t>Python con FMPy</a:t>
            </a:r>
          </a:p>
        </p:txBody>
      </p:sp>
      <p:sp>
        <p:nvSpPr>
          <p:cNvPr id="14" name="TextBox 13"/>
          <p:cNvSpPr txBox="1"/>
          <p:nvPr/>
        </p:nvSpPr>
        <p:spPr>
          <a:xfrm>
            <a:off x="1435608" y="4389120"/>
            <a:ext cx="2788920" cy="59436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estudios, escenarios y recalibración, fuera de línea</a:t>
            </a:r>
          </a:p>
        </p:txBody>
      </p:sp>
      <p:cxnSp>
        <p:nvCxnSpPr>
          <p:cNvPr id="15" name="Connector 14"/>
          <p:cNvCxnSpPr/>
          <p:nvPr/>
        </p:nvCxnSpPr>
        <p:spPr>
          <a:xfrm>
            <a:off x="1435608" y="502920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35608" y="5074920"/>
            <a:ext cx="2788920" cy="36576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binario Windows o macOS compilado desde sources/</a:t>
            </a:r>
          </a:p>
        </p:txBody>
      </p:sp>
      <p:cxnSp>
        <p:nvCxnSpPr>
          <p:cNvPr id="17" name="Connector 16"/>
          <p:cNvCxnSpPr/>
          <p:nvPr/>
        </p:nvCxnSpPr>
        <p:spPr>
          <a:xfrm>
            <a:off x="6259068" y="3154680"/>
            <a:ext cx="0" cy="36576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ugar Edge Linux"/>
          <p:cNvSpPr/>
          <p:nvPr/>
        </p:nvSpPr>
        <p:spPr>
          <a:xfrm>
            <a:off x="4681728" y="3566160"/>
            <a:ext cx="3154680" cy="192024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Edge Linux"/>
          <p:cNvSpPr/>
          <p:nvPr/>
        </p:nvSpPr>
        <p:spPr>
          <a:xfrm>
            <a:off x="4864608" y="3703320"/>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Ícono cpu" descr="cpu-navy.png"/>
          <p:cNvPicPr>
            <a:picLocks noChangeAspect="1"/>
          </p:cNvPicPr>
          <p:nvPr/>
        </p:nvPicPr>
        <p:blipFill>
          <a:blip r:embed="rId4"/>
          <a:stretch>
            <a:fillRect/>
          </a:stretch>
        </p:blipFill>
        <p:spPr>
          <a:xfrm>
            <a:off x="4985309" y="3824021"/>
            <a:ext cx="307238" cy="307238"/>
          </a:xfrm>
          <a:prstGeom prst="rect">
            <a:avLst/>
          </a:prstGeom>
        </p:spPr>
      </p:pic>
      <p:sp>
        <p:nvSpPr>
          <p:cNvPr id="21" name="TextBox 20"/>
          <p:cNvSpPr txBox="1"/>
          <p:nvPr/>
        </p:nvSpPr>
        <p:spPr>
          <a:xfrm>
            <a:off x="5550408" y="3703320"/>
            <a:ext cx="2194560" cy="548640"/>
          </a:xfrm>
          <a:prstGeom prst="rect">
            <a:avLst/>
          </a:prstGeom>
          <a:noFill/>
        </p:spPr>
        <p:txBody>
          <a:bodyPr wrap="square" lIns="0" tIns="0" rIns="0" bIns="0" anchor="ctr">
            <a:spAutoFit/>
          </a:bodyPr>
          <a:lstStyle/>
          <a:p>
            <a:pPr algn="l">
              <a:spcAft>
                <a:spcPts val="0"/>
              </a:spcAft>
            </a:pPr>
            <a:r>
              <a:rPr sz="1300" b="1" i="0">
                <a:solidFill>
                  <a:srgbClr val="FFAB40"/>
                </a:solidFill>
                <a:effectLst>
                  <a:glow rad="63500">
                    <a:srgbClr val="001633">
                      <a:alpha val="85000"/>
                    </a:srgbClr>
                  </a:glow>
                </a:effectLst>
                <a:latin typeface="Montserrat"/>
              </a:rPr>
              <a:t>Edge Linux</a:t>
            </a:r>
          </a:p>
          <a:p>
            <a:pPr algn="l">
              <a:spcAft>
                <a:spcPts val="0"/>
              </a:spcAft>
            </a:pPr>
            <a:r>
              <a:rPr sz="900" b="0" i="0">
                <a:solidFill>
                  <a:srgbClr val="85D5E6"/>
                </a:solidFill>
                <a:effectLst>
                  <a:glow rad="63500">
                    <a:srgbClr val="001633">
                      <a:alpha val="85000"/>
                    </a:srgbClr>
                  </a:glow>
                </a:effectLst>
                <a:latin typeface="Montserrat"/>
              </a:rPr>
              <a:t>PC industrial junto al filtro</a:t>
            </a:r>
          </a:p>
        </p:txBody>
      </p:sp>
      <p:sp>
        <p:nvSpPr>
          <p:cNvPr id="22" name="TextBox 21"/>
          <p:cNvSpPr txBox="1"/>
          <p:nvPr/>
        </p:nvSpPr>
        <p:spPr>
          <a:xfrm>
            <a:off x="4864608" y="4389120"/>
            <a:ext cx="2788920" cy="59436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la sombra en línea: sigue funcionando si se cae la red</a:t>
            </a:r>
          </a:p>
        </p:txBody>
      </p:sp>
      <p:cxnSp>
        <p:nvCxnSpPr>
          <p:cNvPr id="23" name="Connector 22"/>
          <p:cNvCxnSpPr/>
          <p:nvPr/>
        </p:nvCxnSpPr>
        <p:spPr>
          <a:xfrm>
            <a:off x="4864608" y="502920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64608" y="5074920"/>
            <a:ext cx="2788920" cy="36576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binario linux64 incluido en la FMU</a:t>
            </a:r>
          </a:p>
        </p:txBody>
      </p:sp>
      <p:cxnSp>
        <p:nvCxnSpPr>
          <p:cNvPr id="25" name="Connector 24"/>
          <p:cNvCxnSpPr/>
          <p:nvPr/>
        </p:nvCxnSpPr>
        <p:spPr>
          <a:xfrm>
            <a:off x="6259068" y="3154680"/>
            <a:ext cx="3429000" cy="36576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Lugar Navegador"/>
          <p:cNvSpPr/>
          <p:nvPr/>
        </p:nvSpPr>
        <p:spPr>
          <a:xfrm>
            <a:off x="8110728" y="3566160"/>
            <a:ext cx="3154680" cy="19202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Navegador"/>
          <p:cNvSpPr/>
          <p:nvPr/>
        </p:nvSpPr>
        <p:spPr>
          <a:xfrm>
            <a:off x="8293608" y="3703320"/>
            <a:ext cx="548640" cy="54864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Ícono globe" descr="globe-orange.png"/>
          <p:cNvPicPr>
            <a:picLocks noChangeAspect="1"/>
          </p:cNvPicPr>
          <p:nvPr/>
        </p:nvPicPr>
        <p:blipFill>
          <a:blip r:embed="rId5"/>
          <a:stretch>
            <a:fillRect/>
          </a:stretch>
        </p:blipFill>
        <p:spPr>
          <a:xfrm>
            <a:off x="8414309" y="3824021"/>
            <a:ext cx="307238" cy="307238"/>
          </a:xfrm>
          <a:prstGeom prst="rect">
            <a:avLst/>
          </a:prstGeom>
        </p:spPr>
      </p:pic>
      <p:sp>
        <p:nvSpPr>
          <p:cNvPr id="29" name="TextBox 28"/>
          <p:cNvSpPr txBox="1"/>
          <p:nvPr/>
        </p:nvSpPr>
        <p:spPr>
          <a:xfrm>
            <a:off x="8979408" y="3703320"/>
            <a:ext cx="2194560" cy="548640"/>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Navegador</a:t>
            </a:r>
          </a:p>
          <a:p>
            <a:pPr algn="l">
              <a:spcAft>
                <a:spcPts val="0"/>
              </a:spcAft>
            </a:pPr>
            <a:r>
              <a:rPr sz="900" b="0" i="0">
                <a:solidFill>
                  <a:srgbClr val="85D5E6"/>
                </a:solidFill>
                <a:effectLst>
                  <a:glow rad="63500">
                    <a:srgbClr val="001633">
                      <a:alpha val="85000"/>
                    </a:srgbClr>
                  </a:glow>
                </a:effectLst>
                <a:latin typeface="Montserrat"/>
              </a:rPr>
              <a:t>WebAssembly</a:t>
            </a:r>
          </a:p>
        </p:txBody>
      </p:sp>
      <p:sp>
        <p:nvSpPr>
          <p:cNvPr id="30" name="TextBox 29"/>
          <p:cNvSpPr txBox="1"/>
          <p:nvPr/>
        </p:nvSpPr>
        <p:spPr>
          <a:xfrm>
            <a:off x="8293608" y="4389120"/>
            <a:ext cx="2788920" cy="59436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cualquier persona lo abre, sin instalar nada y sin servidor de cálculo</a:t>
            </a:r>
          </a:p>
        </p:txBody>
      </p:sp>
      <p:cxnSp>
        <p:nvCxnSpPr>
          <p:cNvPr id="31" name="Connector 30"/>
          <p:cNvCxnSpPr/>
          <p:nvPr/>
        </p:nvCxnSpPr>
        <p:spPr>
          <a:xfrm>
            <a:off x="8293608" y="502920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93608" y="5074920"/>
            <a:ext cx="2788920" cy="36576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compilado desde sources/ con Emscripten</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Portabilidad de la FMU: capítulo III (hardware de ejecución) · binarios y sources/: HBF_S_168_12_FMU.fmu</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V actual"/>
          <p:cNvSpPr/>
          <p:nvPr/>
        </p:nvSpPr>
        <p:spPr>
          <a:xfrm>
            <a:off x="6876288" y="6510528"/>
            <a:ext cx="12547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19/27 </a:t>
            </a:r>
            <a:r>
              <a:rPr sz="1000" b="0" i="0">
                <a:solidFill>
                  <a:srgbClr val="A9B8C9"/>
                </a:solidFill>
                <a:effectLst>
                  <a:glow rad="63500">
                    <a:srgbClr val="001633">
                      <a:alpha val="85000"/>
                    </a:srgbClr>
                  </a:glow>
                </a:effectLst>
                <a:latin typeface="Montserrat"/>
              </a:rPr>
              <a:t>· Gemelos Digitales para Minería 4.0 · 88</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Las señales que necesita: unas alimentan al gemelo y otras lo vigilan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DESPLIEGUE · SEÑALES</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Las entradas mueven el modelo; las mediciones que el modelo también calcula sirven para comparar. Si lo medido y lo estimado se separan, algo cambió: el filtro o el instrumento.</a:t>
            </a:r>
          </a:p>
        </p:txBody>
      </p:sp>
      <p:sp>
        <p:nvSpPr>
          <p:cNvPr id="7" name="TextBox 6"/>
          <p:cNvSpPr txBox="1"/>
          <p:nvPr/>
        </p:nvSpPr>
        <p:spPr>
          <a:xfrm>
            <a:off x="1252728" y="2468880"/>
            <a:ext cx="4869180" cy="22860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ENTRAN AL MODELO</a:t>
            </a:r>
          </a:p>
        </p:txBody>
      </p:sp>
      <p:sp>
        <p:nvSpPr>
          <p:cNvPr id="8" name="Señal Consigna de presión"/>
          <p:cNvSpPr/>
          <p:nvPr/>
        </p:nvSpPr>
        <p:spPr>
          <a:xfrm>
            <a:off x="1252728" y="27432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Borde Consigna de presión"/>
          <p:cNvSpPr/>
          <p:nvPr/>
        </p:nvSpPr>
        <p:spPr>
          <a:xfrm>
            <a:off x="1252728" y="2743200"/>
            <a:ext cx="54864" cy="3931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417320" y="27432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Consigna de presión</a:t>
            </a:r>
          </a:p>
        </p:txBody>
      </p:sp>
      <p:sp>
        <p:nvSpPr>
          <p:cNvPr id="11" name="TextBox 10"/>
          <p:cNvSpPr txBox="1"/>
          <p:nvPr/>
        </p:nvSpPr>
        <p:spPr>
          <a:xfrm>
            <a:off x="3395167" y="27432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DCS</a:t>
            </a:r>
          </a:p>
        </p:txBody>
      </p:sp>
      <p:sp>
        <p:nvSpPr>
          <p:cNvPr id="12" name="TextBox 11"/>
          <p:cNvSpPr txBox="1"/>
          <p:nvPr/>
        </p:nvSpPr>
        <p:spPr>
          <a:xfrm>
            <a:off x="5001996" y="2743200"/>
            <a:ext cx="1022527" cy="393192"/>
          </a:xfrm>
          <a:prstGeom prst="rect">
            <a:avLst/>
          </a:prstGeom>
          <a:noFill/>
        </p:spPr>
        <p:txBody>
          <a:bodyPr wrap="square" lIns="0" tIns="0" rIns="0" bIns="0" anchor="ctr">
            <a:spAutoFit/>
          </a:bodyPr>
          <a:lstStyle/>
          <a:p>
            <a:pPr algn="r">
              <a:spcAft>
                <a:spcPts val="600"/>
              </a:spcAft>
            </a:pPr>
            <a:r>
              <a:rPr sz="850" b="1" i="0">
                <a:solidFill>
                  <a:srgbClr val="FFAB40"/>
                </a:solidFill>
                <a:effectLst>
                  <a:glow rad="63500">
                    <a:srgbClr val="001633">
                      <a:alpha val="85000"/>
                    </a:srgbClr>
                  </a:glow>
                </a:effectLst>
                <a:latin typeface="Montserrat"/>
              </a:rPr>
              <a:t>p_set</a:t>
            </a:r>
          </a:p>
        </p:txBody>
      </p:sp>
      <p:sp>
        <p:nvSpPr>
          <p:cNvPr id="13" name="Señal Velocidad de discos"/>
          <p:cNvSpPr/>
          <p:nvPr/>
        </p:nvSpPr>
        <p:spPr>
          <a:xfrm>
            <a:off x="1252728" y="32004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Borde Velocidad de discos"/>
          <p:cNvSpPr/>
          <p:nvPr/>
        </p:nvSpPr>
        <p:spPr>
          <a:xfrm>
            <a:off x="1252728" y="3200400"/>
            <a:ext cx="54864" cy="3931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17320" y="32004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Velocidad de discos</a:t>
            </a:r>
          </a:p>
        </p:txBody>
      </p:sp>
      <p:sp>
        <p:nvSpPr>
          <p:cNvPr id="16" name="TextBox 15"/>
          <p:cNvSpPr txBox="1"/>
          <p:nvPr/>
        </p:nvSpPr>
        <p:spPr>
          <a:xfrm>
            <a:off x="3395167" y="32004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variador</a:t>
            </a:r>
          </a:p>
        </p:txBody>
      </p:sp>
      <p:sp>
        <p:nvSpPr>
          <p:cNvPr id="17" name="TextBox 16"/>
          <p:cNvSpPr txBox="1"/>
          <p:nvPr/>
        </p:nvSpPr>
        <p:spPr>
          <a:xfrm>
            <a:off x="5001996" y="3200400"/>
            <a:ext cx="1022527" cy="393192"/>
          </a:xfrm>
          <a:prstGeom prst="rect">
            <a:avLst/>
          </a:prstGeom>
          <a:noFill/>
        </p:spPr>
        <p:txBody>
          <a:bodyPr wrap="square" lIns="0" tIns="0" rIns="0" bIns="0" anchor="ctr">
            <a:spAutoFit/>
          </a:bodyPr>
          <a:lstStyle/>
          <a:p>
            <a:pPr algn="r">
              <a:spcAft>
                <a:spcPts val="600"/>
              </a:spcAft>
            </a:pPr>
            <a:r>
              <a:rPr sz="850" b="1" i="0">
                <a:solidFill>
                  <a:srgbClr val="FFAB40"/>
                </a:solidFill>
                <a:effectLst>
                  <a:glow rad="63500">
                    <a:srgbClr val="001633">
                      <a:alpha val="85000"/>
                    </a:srgbClr>
                  </a:glow>
                </a:effectLst>
                <a:latin typeface="Montserrat"/>
              </a:rPr>
              <a:t>speed</a:t>
            </a:r>
          </a:p>
        </p:txBody>
      </p:sp>
      <p:sp>
        <p:nvSpPr>
          <p:cNvPr id="18" name="Señal Caudal de pulpa"/>
          <p:cNvSpPr/>
          <p:nvPr/>
        </p:nvSpPr>
        <p:spPr>
          <a:xfrm>
            <a:off x="1252728" y="36576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orde Caudal de pulpa"/>
          <p:cNvSpPr/>
          <p:nvPr/>
        </p:nvSpPr>
        <p:spPr>
          <a:xfrm>
            <a:off x="1252728" y="3657600"/>
            <a:ext cx="54864" cy="3931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417320" y="36576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Caudal de pulpa</a:t>
            </a:r>
          </a:p>
        </p:txBody>
      </p:sp>
      <p:sp>
        <p:nvSpPr>
          <p:cNvPr id="21" name="TextBox 20"/>
          <p:cNvSpPr txBox="1"/>
          <p:nvPr/>
        </p:nvSpPr>
        <p:spPr>
          <a:xfrm>
            <a:off x="3395167" y="36576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flujómetro magnético</a:t>
            </a:r>
          </a:p>
        </p:txBody>
      </p:sp>
      <p:sp>
        <p:nvSpPr>
          <p:cNvPr id="22" name="TextBox 21"/>
          <p:cNvSpPr txBox="1"/>
          <p:nvPr/>
        </p:nvSpPr>
        <p:spPr>
          <a:xfrm>
            <a:off x="5001996" y="3657600"/>
            <a:ext cx="1022527" cy="393192"/>
          </a:xfrm>
          <a:prstGeom prst="rect">
            <a:avLst/>
          </a:prstGeom>
          <a:noFill/>
        </p:spPr>
        <p:txBody>
          <a:bodyPr wrap="square" lIns="0" tIns="0" rIns="0" bIns="0" anchor="ctr">
            <a:spAutoFit/>
          </a:bodyPr>
          <a:lstStyle/>
          <a:p>
            <a:pPr algn="r">
              <a:spcAft>
                <a:spcPts val="600"/>
              </a:spcAft>
            </a:pPr>
            <a:r>
              <a:rPr sz="850" b="1" i="0">
                <a:solidFill>
                  <a:srgbClr val="FFAB40"/>
                </a:solidFill>
                <a:effectLst>
                  <a:glow rad="63500">
                    <a:srgbClr val="001633">
                      <a:alpha val="85000"/>
                    </a:srgbClr>
                  </a:glow>
                </a:effectLst>
                <a:latin typeface="Montserrat"/>
              </a:rPr>
              <a:t>Q_feed</a:t>
            </a:r>
          </a:p>
        </p:txBody>
      </p:sp>
      <p:sp>
        <p:nvSpPr>
          <p:cNvPr id="23" name="Señal % de sólidos"/>
          <p:cNvSpPr/>
          <p:nvPr/>
        </p:nvSpPr>
        <p:spPr>
          <a:xfrm>
            <a:off x="1252728" y="41148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orde % de sólidos"/>
          <p:cNvSpPr/>
          <p:nvPr/>
        </p:nvSpPr>
        <p:spPr>
          <a:xfrm>
            <a:off x="1252728" y="4114800"/>
            <a:ext cx="54864" cy="3931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417320" y="41148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 de sólidos</a:t>
            </a:r>
          </a:p>
        </p:txBody>
      </p:sp>
      <p:sp>
        <p:nvSpPr>
          <p:cNvPr id="26" name="TextBox 25"/>
          <p:cNvSpPr txBox="1"/>
          <p:nvPr/>
        </p:nvSpPr>
        <p:spPr>
          <a:xfrm>
            <a:off x="3395167" y="41148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densímetro</a:t>
            </a:r>
          </a:p>
        </p:txBody>
      </p:sp>
      <p:sp>
        <p:nvSpPr>
          <p:cNvPr id="27" name="TextBox 26"/>
          <p:cNvSpPr txBox="1"/>
          <p:nvPr/>
        </p:nvSpPr>
        <p:spPr>
          <a:xfrm>
            <a:off x="5001996" y="4114800"/>
            <a:ext cx="1022527" cy="393192"/>
          </a:xfrm>
          <a:prstGeom prst="rect">
            <a:avLst/>
          </a:prstGeom>
          <a:noFill/>
        </p:spPr>
        <p:txBody>
          <a:bodyPr wrap="square" lIns="0" tIns="0" rIns="0" bIns="0" anchor="ctr">
            <a:spAutoFit/>
          </a:bodyPr>
          <a:lstStyle/>
          <a:p>
            <a:pPr algn="r">
              <a:spcAft>
                <a:spcPts val="600"/>
              </a:spcAft>
            </a:pPr>
            <a:r>
              <a:rPr sz="850" b="1" i="0">
                <a:solidFill>
                  <a:srgbClr val="FFAB40"/>
                </a:solidFill>
                <a:effectLst>
                  <a:glow rad="63500">
                    <a:srgbClr val="001633">
                      <a:alpha val="85000"/>
                    </a:srgbClr>
                  </a:glow>
                </a:effectLst>
                <a:latin typeface="Montserrat"/>
              </a:rPr>
              <a:t>w_feed</a:t>
            </a:r>
          </a:p>
        </p:txBody>
      </p:sp>
      <p:sp>
        <p:nvSpPr>
          <p:cNvPr id="28" name="TextBox 27"/>
          <p:cNvSpPr txBox="1"/>
          <p:nvPr/>
        </p:nvSpPr>
        <p:spPr>
          <a:xfrm>
            <a:off x="6396228" y="2468880"/>
            <a:ext cx="486918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SE COMPARAN CON EL MODELO</a:t>
            </a:r>
          </a:p>
        </p:txBody>
      </p:sp>
      <p:sp>
        <p:nvSpPr>
          <p:cNvPr id="29" name="Señal Presión del recipiente"/>
          <p:cNvSpPr/>
          <p:nvPr/>
        </p:nvSpPr>
        <p:spPr>
          <a:xfrm>
            <a:off x="6396228" y="27432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orde Presión del recipiente"/>
          <p:cNvSpPr/>
          <p:nvPr/>
        </p:nvSpPr>
        <p:spPr>
          <a:xfrm>
            <a:off x="6396228" y="2743200"/>
            <a:ext cx="54864" cy="3931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560820" y="27432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Presión del recipiente</a:t>
            </a:r>
          </a:p>
        </p:txBody>
      </p:sp>
      <p:sp>
        <p:nvSpPr>
          <p:cNvPr id="32" name="TextBox 31"/>
          <p:cNvSpPr txBox="1"/>
          <p:nvPr/>
        </p:nvSpPr>
        <p:spPr>
          <a:xfrm>
            <a:off x="8538667" y="27432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transmisor de presión</a:t>
            </a:r>
          </a:p>
        </p:txBody>
      </p:sp>
      <p:sp>
        <p:nvSpPr>
          <p:cNvPr id="33" name="TextBox 32"/>
          <p:cNvSpPr txBox="1"/>
          <p:nvPr/>
        </p:nvSpPr>
        <p:spPr>
          <a:xfrm>
            <a:off x="10145496" y="2743200"/>
            <a:ext cx="1022527" cy="393192"/>
          </a:xfrm>
          <a:prstGeom prst="rect">
            <a:avLst/>
          </a:prstGeom>
          <a:noFill/>
        </p:spPr>
        <p:txBody>
          <a:bodyPr wrap="square" lIns="0" tIns="0" rIns="0" bIns="0" anchor="ctr">
            <a:spAutoFit/>
          </a:bodyPr>
          <a:lstStyle/>
          <a:p>
            <a:pPr algn="r">
              <a:spcAft>
                <a:spcPts val="600"/>
              </a:spcAft>
            </a:pPr>
            <a:r>
              <a:rPr sz="850" b="1" i="0">
                <a:solidFill>
                  <a:srgbClr val="85D5E6"/>
                </a:solidFill>
                <a:effectLst>
                  <a:glow rad="63500">
                    <a:srgbClr val="001633">
                      <a:alpha val="85000"/>
                    </a:srgbClr>
                  </a:glow>
                </a:effectLst>
                <a:latin typeface="Montserrat"/>
              </a:rPr>
              <a:t>p_vessel</a:t>
            </a:r>
          </a:p>
        </p:txBody>
      </p:sp>
      <p:sp>
        <p:nvSpPr>
          <p:cNvPr id="34" name="Señal Nivel de la batea"/>
          <p:cNvSpPr/>
          <p:nvPr/>
        </p:nvSpPr>
        <p:spPr>
          <a:xfrm>
            <a:off x="6396228" y="32004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Borde Nivel de la batea"/>
          <p:cNvSpPr/>
          <p:nvPr/>
        </p:nvSpPr>
        <p:spPr>
          <a:xfrm>
            <a:off x="6396228" y="3200400"/>
            <a:ext cx="54864" cy="3931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560820" y="32004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Nivel de la batea</a:t>
            </a:r>
          </a:p>
        </p:txBody>
      </p:sp>
      <p:sp>
        <p:nvSpPr>
          <p:cNvPr id="37" name="TextBox 36"/>
          <p:cNvSpPr txBox="1"/>
          <p:nvPr/>
        </p:nvSpPr>
        <p:spPr>
          <a:xfrm>
            <a:off x="8538667" y="32004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radar</a:t>
            </a:r>
          </a:p>
        </p:txBody>
      </p:sp>
      <p:sp>
        <p:nvSpPr>
          <p:cNvPr id="38" name="TextBox 37"/>
          <p:cNvSpPr txBox="1"/>
          <p:nvPr/>
        </p:nvSpPr>
        <p:spPr>
          <a:xfrm>
            <a:off x="10145496" y="3200400"/>
            <a:ext cx="1022527" cy="393192"/>
          </a:xfrm>
          <a:prstGeom prst="rect">
            <a:avLst/>
          </a:prstGeom>
          <a:noFill/>
        </p:spPr>
        <p:txBody>
          <a:bodyPr wrap="square" lIns="0" tIns="0" rIns="0" bIns="0" anchor="ctr">
            <a:spAutoFit/>
          </a:bodyPr>
          <a:lstStyle/>
          <a:p>
            <a:pPr algn="r">
              <a:spcAft>
                <a:spcPts val="600"/>
              </a:spcAft>
            </a:pPr>
            <a:r>
              <a:rPr sz="850" b="1" i="0">
                <a:solidFill>
                  <a:srgbClr val="85D5E6"/>
                </a:solidFill>
                <a:effectLst>
                  <a:glow rad="63500">
                    <a:srgbClr val="001633">
                      <a:alpha val="85000"/>
                    </a:srgbClr>
                  </a:glow>
                </a:effectLst>
                <a:latin typeface="Montserrat"/>
              </a:rPr>
              <a:t>level</a:t>
            </a:r>
          </a:p>
        </p:txBody>
      </p:sp>
      <p:sp>
        <p:nvSpPr>
          <p:cNvPr id="39" name="Señal Capacidad seca"/>
          <p:cNvSpPr/>
          <p:nvPr/>
        </p:nvSpPr>
        <p:spPr>
          <a:xfrm>
            <a:off x="6396228" y="36576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Borde Capacidad seca"/>
          <p:cNvSpPr/>
          <p:nvPr/>
        </p:nvSpPr>
        <p:spPr>
          <a:xfrm>
            <a:off x="6396228" y="3657600"/>
            <a:ext cx="54864" cy="3931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560820" y="36576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Capacidad seca</a:t>
            </a:r>
          </a:p>
        </p:txBody>
      </p:sp>
      <p:sp>
        <p:nvSpPr>
          <p:cNvPr id="42" name="TextBox 41"/>
          <p:cNvSpPr txBox="1"/>
          <p:nvPr/>
        </p:nvSpPr>
        <p:spPr>
          <a:xfrm>
            <a:off x="8538667" y="36576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pesómetro de correa</a:t>
            </a:r>
          </a:p>
        </p:txBody>
      </p:sp>
      <p:sp>
        <p:nvSpPr>
          <p:cNvPr id="43" name="TextBox 42"/>
          <p:cNvSpPr txBox="1"/>
          <p:nvPr/>
        </p:nvSpPr>
        <p:spPr>
          <a:xfrm>
            <a:off x="10145496" y="3657600"/>
            <a:ext cx="1022527" cy="393192"/>
          </a:xfrm>
          <a:prstGeom prst="rect">
            <a:avLst/>
          </a:prstGeom>
          <a:noFill/>
        </p:spPr>
        <p:txBody>
          <a:bodyPr wrap="square" lIns="0" tIns="0" rIns="0" bIns="0" anchor="ctr">
            <a:spAutoFit/>
          </a:bodyPr>
          <a:lstStyle/>
          <a:p>
            <a:pPr algn="r">
              <a:spcAft>
                <a:spcPts val="600"/>
              </a:spcAft>
            </a:pPr>
            <a:r>
              <a:rPr sz="850" b="1" i="0">
                <a:solidFill>
                  <a:srgbClr val="85D5E6"/>
                </a:solidFill>
                <a:effectLst>
                  <a:glow rad="63500">
                    <a:srgbClr val="001633">
                      <a:alpha val="85000"/>
                    </a:srgbClr>
                  </a:glow>
                </a:effectLst>
                <a:latin typeface="Montserrat"/>
              </a:rPr>
              <a:t>m_flow_dry</a:t>
            </a:r>
          </a:p>
        </p:txBody>
      </p:sp>
      <p:sp>
        <p:nvSpPr>
          <p:cNvPr id="44" name="Señal Humedad del queque"/>
          <p:cNvSpPr/>
          <p:nvPr/>
        </p:nvSpPr>
        <p:spPr>
          <a:xfrm>
            <a:off x="6396228" y="41148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Borde Humedad del queque"/>
          <p:cNvSpPr/>
          <p:nvPr/>
        </p:nvSpPr>
        <p:spPr>
          <a:xfrm>
            <a:off x="6396228" y="4114800"/>
            <a:ext cx="54864" cy="3931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560820" y="41148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Humedad del queque</a:t>
            </a:r>
          </a:p>
        </p:txBody>
      </p:sp>
      <p:sp>
        <p:nvSpPr>
          <p:cNvPr id="47" name="TextBox 46"/>
          <p:cNvSpPr txBox="1"/>
          <p:nvPr/>
        </p:nvSpPr>
        <p:spPr>
          <a:xfrm>
            <a:off x="8538667" y="41148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laboratorio o analizador</a:t>
            </a:r>
          </a:p>
        </p:txBody>
      </p:sp>
      <p:sp>
        <p:nvSpPr>
          <p:cNvPr id="48" name="TextBox 47"/>
          <p:cNvSpPr txBox="1"/>
          <p:nvPr/>
        </p:nvSpPr>
        <p:spPr>
          <a:xfrm>
            <a:off x="10145496" y="4114800"/>
            <a:ext cx="1022527" cy="393192"/>
          </a:xfrm>
          <a:prstGeom prst="rect">
            <a:avLst/>
          </a:prstGeom>
          <a:noFill/>
        </p:spPr>
        <p:txBody>
          <a:bodyPr wrap="square" lIns="0" tIns="0" rIns="0" bIns="0" anchor="ctr">
            <a:spAutoFit/>
          </a:bodyPr>
          <a:lstStyle/>
          <a:p>
            <a:pPr algn="r">
              <a:spcAft>
                <a:spcPts val="600"/>
              </a:spcAft>
            </a:pPr>
            <a:r>
              <a:rPr sz="850" b="1" i="0">
                <a:solidFill>
                  <a:srgbClr val="85D5E6"/>
                </a:solidFill>
                <a:effectLst>
                  <a:glow rad="63500">
                    <a:srgbClr val="001633">
                      <a:alpha val="85000"/>
                    </a:srgbClr>
                  </a:glow>
                </a:effectLst>
                <a:latin typeface="Montserrat"/>
              </a:rPr>
              <a:t>moisture</a:t>
            </a:r>
          </a:p>
        </p:txBody>
      </p:sp>
      <p:sp>
        <p:nvSpPr>
          <p:cNvPr id="49" name="Señal Potencia del compresor"/>
          <p:cNvSpPr/>
          <p:nvPr/>
        </p:nvSpPr>
        <p:spPr>
          <a:xfrm>
            <a:off x="6396228" y="4572000"/>
            <a:ext cx="48691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Borde Potencia del compresor"/>
          <p:cNvSpPr/>
          <p:nvPr/>
        </p:nvSpPr>
        <p:spPr>
          <a:xfrm>
            <a:off x="6396228" y="4572000"/>
            <a:ext cx="54864" cy="3931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560820" y="4572000"/>
            <a:ext cx="2045055" cy="393192"/>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Potencia del compresor</a:t>
            </a:r>
          </a:p>
        </p:txBody>
      </p:sp>
      <p:sp>
        <p:nvSpPr>
          <p:cNvPr id="52" name="TextBox 51"/>
          <p:cNvSpPr txBox="1"/>
          <p:nvPr/>
        </p:nvSpPr>
        <p:spPr>
          <a:xfrm>
            <a:off x="8538667" y="4572000"/>
            <a:ext cx="1606829"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medidor de energía</a:t>
            </a:r>
          </a:p>
        </p:txBody>
      </p:sp>
      <p:sp>
        <p:nvSpPr>
          <p:cNvPr id="53" name="TextBox 52"/>
          <p:cNvSpPr txBox="1"/>
          <p:nvPr/>
        </p:nvSpPr>
        <p:spPr>
          <a:xfrm>
            <a:off x="10145496" y="4572000"/>
            <a:ext cx="1022527" cy="393192"/>
          </a:xfrm>
          <a:prstGeom prst="rect">
            <a:avLst/>
          </a:prstGeom>
          <a:noFill/>
        </p:spPr>
        <p:txBody>
          <a:bodyPr wrap="square" lIns="0" tIns="0" rIns="0" bIns="0" anchor="ctr">
            <a:spAutoFit/>
          </a:bodyPr>
          <a:lstStyle/>
          <a:p>
            <a:pPr algn="r">
              <a:spcAft>
                <a:spcPts val="600"/>
              </a:spcAft>
            </a:pPr>
            <a:r>
              <a:rPr sz="850" b="1" i="0">
                <a:solidFill>
                  <a:srgbClr val="85D5E6"/>
                </a:solidFill>
                <a:effectLst>
                  <a:glow rad="63500">
                    <a:srgbClr val="001633">
                      <a:alpha val="85000"/>
                    </a:srgbClr>
                  </a:glow>
                </a:effectLst>
                <a:latin typeface="Montserrat"/>
              </a:rPr>
              <a:t>P_compressor</a:t>
            </a:r>
          </a:p>
        </p:txBody>
      </p:sp>
      <p:sp>
        <p:nvSpPr>
          <p:cNvPr id="54" name="TextBox 53"/>
          <p:cNvSpPr txBox="1"/>
          <p:nvPr/>
        </p:nvSpPr>
        <p:spPr>
          <a:xfrm>
            <a:off x="1252728" y="5166360"/>
            <a:ext cx="18288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ANTES DE USAR UN DATO</a:t>
            </a:r>
          </a:p>
        </p:txBody>
      </p:sp>
      <p:sp>
        <p:nvSpPr>
          <p:cNvPr id="55" name="Etiqueta unidades correctas"/>
          <p:cNvSpPr/>
          <p:nvPr/>
        </p:nvSpPr>
        <p:spPr>
          <a:xfrm>
            <a:off x="3081528" y="5120640"/>
            <a:ext cx="1536192" cy="32918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3081528" y="5120640"/>
            <a:ext cx="1536192" cy="329184"/>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unidades correctas</a:t>
            </a:r>
          </a:p>
        </p:txBody>
      </p:sp>
      <p:sp>
        <p:nvSpPr>
          <p:cNvPr id="57" name="Etiqueta dentro de rango"/>
          <p:cNvSpPr/>
          <p:nvPr/>
        </p:nvSpPr>
        <p:spPr>
          <a:xfrm>
            <a:off x="4727448" y="5120640"/>
            <a:ext cx="1536192" cy="32918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4727448" y="5120640"/>
            <a:ext cx="1536192" cy="329184"/>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dentro de rango</a:t>
            </a:r>
          </a:p>
        </p:txBody>
      </p:sp>
      <p:sp>
        <p:nvSpPr>
          <p:cNvPr id="59" name="Etiqueta sin congelarse"/>
          <p:cNvSpPr/>
          <p:nvPr/>
        </p:nvSpPr>
        <p:spPr>
          <a:xfrm>
            <a:off x="6373368" y="5120640"/>
            <a:ext cx="1536192" cy="32918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6373368" y="5120640"/>
            <a:ext cx="1536192" cy="329184"/>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sin congelarse</a:t>
            </a:r>
          </a:p>
        </p:txBody>
      </p:sp>
      <p:sp>
        <p:nvSpPr>
          <p:cNvPr id="61" name="Etiqueta sin huecos"/>
          <p:cNvSpPr/>
          <p:nvPr/>
        </p:nvSpPr>
        <p:spPr>
          <a:xfrm>
            <a:off x="8019288" y="5120640"/>
            <a:ext cx="1536192" cy="32918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8019288" y="5120640"/>
            <a:ext cx="1536192" cy="329184"/>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sin huecos</a:t>
            </a:r>
          </a:p>
        </p:txBody>
      </p:sp>
      <p:sp>
        <p:nvSpPr>
          <p:cNvPr id="63" name="Etiqueta hora sincronizada"/>
          <p:cNvSpPr/>
          <p:nvPr/>
        </p:nvSpPr>
        <p:spPr>
          <a:xfrm>
            <a:off x="9665208" y="5120640"/>
            <a:ext cx="1536192" cy="329184"/>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9665208" y="5120640"/>
            <a:ext cx="1536192" cy="329184"/>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hora sincronizada</a:t>
            </a:r>
          </a:p>
        </p:txBody>
      </p:sp>
      <p:sp>
        <p:nvSpPr>
          <p:cNvPr id="6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Instrumentos típicos de un filtro de concentrado (ilustrativos) · variables: contrato de la FMU · calidad de datos: capítulo III</a:t>
            </a:r>
          </a:p>
        </p:txBody>
      </p:sp>
      <p:sp>
        <p:nvSpPr>
          <p:cNvPr id="6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7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7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IV actual"/>
          <p:cNvSpPr/>
          <p:nvPr/>
        </p:nvSpPr>
        <p:spPr>
          <a:xfrm>
            <a:off x="6876288" y="6510528"/>
            <a:ext cx="13208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20/27 </a:t>
            </a:r>
            <a:r>
              <a:rPr sz="1000" b="0" i="0">
                <a:solidFill>
                  <a:srgbClr val="A9B8C9"/>
                </a:solidFill>
                <a:effectLst>
                  <a:glow rad="63500">
                    <a:srgbClr val="001633">
                      <a:alpha val="85000"/>
                    </a:srgbClr>
                  </a:glow>
                </a:effectLst>
                <a:latin typeface="Montserrat"/>
              </a:rPr>
              <a:t>· Gemelos Digitales para Minería 4.0 · 89</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Monitoreo: qué vigilar para saber si el gemelo sigue representando al filtro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DECISIÓN 6 · MONITOREO</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gemelo en operación se vigila como cualquier equipo: con indicadores, umbrales, una acción definida y un responsable. Sin eso, se desajusta en silencio.</a:t>
            </a:r>
          </a:p>
        </p:txBody>
      </p:sp>
      <p:sp>
        <p:nvSpPr>
          <p:cNvPr id="7" name="TextBox 6"/>
          <p:cNvSpPr txBox="1"/>
          <p:nvPr/>
        </p:nvSpPr>
        <p:spPr>
          <a:xfrm>
            <a:off x="1362456" y="2423160"/>
            <a:ext cx="196596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QUÉ SE VIGILA</a:t>
            </a:r>
          </a:p>
        </p:txBody>
      </p:sp>
      <p:sp>
        <p:nvSpPr>
          <p:cNvPr id="8" name="TextBox 7"/>
          <p:cNvSpPr txBox="1"/>
          <p:nvPr/>
        </p:nvSpPr>
        <p:spPr>
          <a:xfrm>
            <a:off x="3465576" y="2423160"/>
            <a:ext cx="201168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CÓMO</a:t>
            </a:r>
          </a:p>
        </p:txBody>
      </p:sp>
      <p:sp>
        <p:nvSpPr>
          <p:cNvPr id="9" name="TextBox 8"/>
          <p:cNvSpPr txBox="1"/>
          <p:nvPr/>
        </p:nvSpPr>
        <p:spPr>
          <a:xfrm>
            <a:off x="5614416" y="2423160"/>
            <a:ext cx="178308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ALERTA SI</a:t>
            </a:r>
          </a:p>
        </p:txBody>
      </p:sp>
      <p:sp>
        <p:nvSpPr>
          <p:cNvPr id="10" name="TextBox 9"/>
          <p:cNvSpPr txBox="1"/>
          <p:nvPr/>
        </p:nvSpPr>
        <p:spPr>
          <a:xfrm>
            <a:off x="7534656" y="2423160"/>
            <a:ext cx="192024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ACCIÓN</a:t>
            </a:r>
          </a:p>
        </p:txBody>
      </p:sp>
      <p:sp>
        <p:nvSpPr>
          <p:cNvPr id="11" name="TextBox 10"/>
          <p:cNvSpPr txBox="1"/>
          <p:nvPr/>
        </p:nvSpPr>
        <p:spPr>
          <a:xfrm>
            <a:off x="9592056" y="2423160"/>
            <a:ext cx="164592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RESPONSABLE</a:t>
            </a:r>
          </a:p>
        </p:txBody>
      </p:sp>
      <p:sp>
        <p:nvSpPr>
          <p:cNvPr id="12" name="Fila 1"/>
          <p:cNvSpPr/>
          <p:nvPr/>
        </p:nvSpPr>
        <p:spPr>
          <a:xfrm>
            <a:off x="1252728" y="2734056"/>
            <a:ext cx="100126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62456" y="2734056"/>
            <a:ext cx="1938528" cy="39319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Capacidad: medida vs. estimada</a:t>
            </a:r>
          </a:p>
        </p:txBody>
      </p:sp>
      <p:sp>
        <p:nvSpPr>
          <p:cNvPr id="14" name="TextBox 13"/>
          <p:cNvSpPr txBox="1"/>
          <p:nvPr/>
        </p:nvSpPr>
        <p:spPr>
          <a:xfrm>
            <a:off x="3465576" y="2734056"/>
            <a:ext cx="19842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promedio móvil de 1 h</a:t>
            </a:r>
          </a:p>
        </p:txBody>
      </p:sp>
      <p:sp>
        <p:nvSpPr>
          <p:cNvPr id="15" name="TextBox 14"/>
          <p:cNvSpPr txBox="1"/>
          <p:nvPr/>
        </p:nvSpPr>
        <p:spPr>
          <a:xfrm>
            <a:off x="5614416" y="2734056"/>
            <a:ext cx="17556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desvío &gt; 5 % sostenido</a:t>
            </a:r>
          </a:p>
        </p:txBody>
      </p:sp>
      <p:sp>
        <p:nvSpPr>
          <p:cNvPr id="16" name="TextBox 15"/>
          <p:cNvSpPr txBox="1"/>
          <p:nvPr/>
        </p:nvSpPr>
        <p:spPr>
          <a:xfrm>
            <a:off x="7534656" y="2734056"/>
            <a:ext cx="189280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re‑estimar α</a:t>
            </a:r>
          </a:p>
        </p:txBody>
      </p:sp>
      <p:sp>
        <p:nvSpPr>
          <p:cNvPr id="17" name="TextBox 16"/>
          <p:cNvSpPr txBox="1"/>
          <p:nvPr/>
        </p:nvSpPr>
        <p:spPr>
          <a:xfrm>
            <a:off x="9592056" y="2734056"/>
            <a:ext cx="161848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procesos</a:t>
            </a:r>
          </a:p>
        </p:txBody>
      </p:sp>
      <p:sp>
        <p:nvSpPr>
          <p:cNvPr id="18" name="Fila 2"/>
          <p:cNvSpPr/>
          <p:nvPr/>
        </p:nvSpPr>
        <p:spPr>
          <a:xfrm>
            <a:off x="1252728" y="3182112"/>
            <a:ext cx="100126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62456" y="3182112"/>
            <a:ext cx="1938528" cy="39319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Presión y nivel</a:t>
            </a:r>
          </a:p>
        </p:txBody>
      </p:sp>
      <p:sp>
        <p:nvSpPr>
          <p:cNvPr id="20" name="TextBox 19"/>
          <p:cNvSpPr txBox="1"/>
          <p:nvPr/>
        </p:nvSpPr>
        <p:spPr>
          <a:xfrm>
            <a:off x="3465576" y="3182112"/>
            <a:ext cx="19842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comparación continua</a:t>
            </a:r>
          </a:p>
        </p:txBody>
      </p:sp>
      <p:sp>
        <p:nvSpPr>
          <p:cNvPr id="21" name="TextBox 20"/>
          <p:cNvSpPr txBox="1"/>
          <p:nvPr/>
        </p:nvSpPr>
        <p:spPr>
          <a:xfrm>
            <a:off x="5614416" y="3182112"/>
            <a:ext cx="17556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desvío que no se corrige</a:t>
            </a:r>
          </a:p>
        </p:txBody>
      </p:sp>
      <p:sp>
        <p:nvSpPr>
          <p:cNvPr id="22" name="TextBox 21"/>
          <p:cNvSpPr txBox="1"/>
          <p:nvPr/>
        </p:nvSpPr>
        <p:spPr>
          <a:xfrm>
            <a:off x="7534656" y="3182112"/>
            <a:ext cx="189280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revisar instrumento o fugas</a:t>
            </a:r>
          </a:p>
        </p:txBody>
      </p:sp>
      <p:sp>
        <p:nvSpPr>
          <p:cNvPr id="23" name="TextBox 22"/>
          <p:cNvSpPr txBox="1"/>
          <p:nvPr/>
        </p:nvSpPr>
        <p:spPr>
          <a:xfrm>
            <a:off x="9592056" y="3182112"/>
            <a:ext cx="161848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instrumentación</a:t>
            </a:r>
          </a:p>
        </p:txBody>
      </p:sp>
      <p:sp>
        <p:nvSpPr>
          <p:cNvPr id="24" name="Fila 3"/>
          <p:cNvSpPr/>
          <p:nvPr/>
        </p:nvSpPr>
        <p:spPr>
          <a:xfrm>
            <a:off x="1252728" y="3630168"/>
            <a:ext cx="10012680" cy="39319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362456" y="3630168"/>
            <a:ext cx="1938528" cy="393192"/>
          </a:xfrm>
          <a:prstGeom prst="rect">
            <a:avLst/>
          </a:prstGeom>
          <a:noFill/>
        </p:spPr>
        <p:txBody>
          <a:bodyPr wrap="square" lIns="0" tIns="0" rIns="0" bIns="0" anchor="ctr">
            <a:spAutoFit/>
          </a:bodyPr>
          <a:lstStyle/>
          <a:p>
            <a:pPr algn="l">
              <a:spcAft>
                <a:spcPts val="600"/>
              </a:spcAft>
            </a:pPr>
            <a:r>
              <a:rPr sz="850" b="1" i="0">
                <a:solidFill>
                  <a:srgbClr val="FFAB40"/>
                </a:solidFill>
                <a:effectLst>
                  <a:glow rad="63500">
                    <a:srgbClr val="001633">
                      <a:alpha val="85000"/>
                    </a:srgbClr>
                  </a:glow>
                </a:effectLst>
                <a:latin typeface="Montserrat"/>
              </a:rPr>
              <a:t>Resistencia de la tela (R_m)</a:t>
            </a:r>
          </a:p>
        </p:txBody>
      </p:sp>
      <p:sp>
        <p:nvSpPr>
          <p:cNvPr id="26" name="TextBox 25"/>
          <p:cNvSpPr txBox="1"/>
          <p:nvPr/>
        </p:nvSpPr>
        <p:spPr>
          <a:xfrm>
            <a:off x="3465576" y="3630168"/>
            <a:ext cx="1984248" cy="39319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re‑estimada cada turno</a:t>
            </a:r>
          </a:p>
        </p:txBody>
      </p:sp>
      <p:sp>
        <p:nvSpPr>
          <p:cNvPr id="27" name="TextBox 26"/>
          <p:cNvSpPr txBox="1"/>
          <p:nvPr/>
        </p:nvSpPr>
        <p:spPr>
          <a:xfrm>
            <a:off x="5614416" y="3630168"/>
            <a:ext cx="1755648" cy="39319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crece turno a turno</a:t>
            </a:r>
          </a:p>
        </p:txBody>
      </p:sp>
      <p:sp>
        <p:nvSpPr>
          <p:cNvPr id="28" name="TextBox 27"/>
          <p:cNvSpPr txBox="1"/>
          <p:nvPr/>
        </p:nvSpPr>
        <p:spPr>
          <a:xfrm>
            <a:off x="7534656" y="3630168"/>
            <a:ext cx="1892808" cy="39319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programar lavado o cambio</a:t>
            </a:r>
          </a:p>
        </p:txBody>
      </p:sp>
      <p:sp>
        <p:nvSpPr>
          <p:cNvPr id="29" name="TextBox 28"/>
          <p:cNvSpPr txBox="1"/>
          <p:nvPr/>
        </p:nvSpPr>
        <p:spPr>
          <a:xfrm>
            <a:off x="9592056" y="3630168"/>
            <a:ext cx="1618488" cy="39319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mantención</a:t>
            </a:r>
          </a:p>
        </p:txBody>
      </p:sp>
      <p:sp>
        <p:nvSpPr>
          <p:cNvPr id="30" name="Fila 4"/>
          <p:cNvSpPr/>
          <p:nvPr/>
        </p:nvSpPr>
        <p:spPr>
          <a:xfrm>
            <a:off x="1252728" y="4078224"/>
            <a:ext cx="100126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362456" y="4078224"/>
            <a:ext cx="1938528" cy="39319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Humedad vs. laboratorio</a:t>
            </a:r>
          </a:p>
        </p:txBody>
      </p:sp>
      <p:sp>
        <p:nvSpPr>
          <p:cNvPr id="32" name="TextBox 31"/>
          <p:cNvSpPr txBox="1"/>
          <p:nvPr/>
        </p:nvSpPr>
        <p:spPr>
          <a:xfrm>
            <a:off x="3465576" y="4078224"/>
            <a:ext cx="19842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 cada muestra</a:t>
            </a:r>
          </a:p>
        </p:txBody>
      </p:sp>
      <p:sp>
        <p:nvSpPr>
          <p:cNvPr id="33" name="TextBox 32"/>
          <p:cNvSpPr txBox="1"/>
          <p:nvPr/>
        </p:nvSpPr>
        <p:spPr>
          <a:xfrm>
            <a:off x="5614416" y="4078224"/>
            <a:ext cx="17556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error &gt; 0,3 puntos</a:t>
            </a:r>
          </a:p>
        </p:txBody>
      </p:sp>
      <p:sp>
        <p:nvSpPr>
          <p:cNvPr id="34" name="TextBox 33"/>
          <p:cNvSpPr txBox="1"/>
          <p:nvPr/>
        </p:nvSpPr>
        <p:spPr>
          <a:xfrm>
            <a:off x="7534656" y="4078224"/>
            <a:ext cx="189280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reajustar la curva</a:t>
            </a:r>
          </a:p>
        </p:txBody>
      </p:sp>
      <p:sp>
        <p:nvSpPr>
          <p:cNvPr id="35" name="TextBox 34"/>
          <p:cNvSpPr txBox="1"/>
          <p:nvPr/>
        </p:nvSpPr>
        <p:spPr>
          <a:xfrm>
            <a:off x="9592056" y="4078224"/>
            <a:ext cx="161848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metalurgia</a:t>
            </a:r>
          </a:p>
        </p:txBody>
      </p:sp>
      <p:sp>
        <p:nvSpPr>
          <p:cNvPr id="36" name="Fila 5"/>
          <p:cNvSpPr/>
          <p:nvPr/>
        </p:nvSpPr>
        <p:spPr>
          <a:xfrm>
            <a:off x="1252728" y="4526280"/>
            <a:ext cx="100126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62456" y="4526280"/>
            <a:ext cx="1938528" cy="39319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Salud de los datos</a:t>
            </a:r>
          </a:p>
        </p:txBody>
      </p:sp>
      <p:sp>
        <p:nvSpPr>
          <p:cNvPr id="38" name="TextBox 37"/>
          <p:cNvSpPr txBox="1"/>
          <p:nvPr/>
        </p:nvSpPr>
        <p:spPr>
          <a:xfrm>
            <a:off x="3465576" y="4526280"/>
            <a:ext cx="19842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huecos, congelados, rango</a:t>
            </a:r>
          </a:p>
        </p:txBody>
      </p:sp>
      <p:sp>
        <p:nvSpPr>
          <p:cNvPr id="39" name="TextBox 38"/>
          <p:cNvSpPr txBox="1"/>
          <p:nvPr/>
        </p:nvSpPr>
        <p:spPr>
          <a:xfrm>
            <a:off x="5614416" y="4526280"/>
            <a:ext cx="17556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&gt; 5 % de datos inválidos</a:t>
            </a:r>
          </a:p>
        </p:txBody>
      </p:sp>
      <p:sp>
        <p:nvSpPr>
          <p:cNvPr id="40" name="TextBox 39"/>
          <p:cNvSpPr txBox="1"/>
          <p:nvPr/>
        </p:nvSpPr>
        <p:spPr>
          <a:xfrm>
            <a:off x="7534656" y="4526280"/>
            <a:ext cx="189280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marcar «no confiable»</a:t>
            </a:r>
          </a:p>
        </p:txBody>
      </p:sp>
      <p:sp>
        <p:nvSpPr>
          <p:cNvPr id="41" name="TextBox 40"/>
          <p:cNvSpPr txBox="1"/>
          <p:nvPr/>
        </p:nvSpPr>
        <p:spPr>
          <a:xfrm>
            <a:off x="9592056" y="4526280"/>
            <a:ext cx="161848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automatización</a:t>
            </a:r>
          </a:p>
        </p:txBody>
      </p:sp>
      <p:sp>
        <p:nvSpPr>
          <p:cNvPr id="42" name="Fila 6"/>
          <p:cNvSpPr/>
          <p:nvPr/>
        </p:nvSpPr>
        <p:spPr>
          <a:xfrm>
            <a:off x="1252728" y="4974336"/>
            <a:ext cx="10012680" cy="3931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362456" y="4974336"/>
            <a:ext cx="1938528" cy="39319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Rango de validez</a:t>
            </a:r>
          </a:p>
        </p:txBody>
      </p:sp>
      <p:sp>
        <p:nvSpPr>
          <p:cNvPr id="44" name="TextBox 43"/>
          <p:cNvSpPr txBox="1"/>
          <p:nvPr/>
        </p:nvSpPr>
        <p:spPr>
          <a:xfrm>
            <a:off x="3465576" y="4974336"/>
            <a:ext cx="19842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entradas vs. rango validado</a:t>
            </a:r>
          </a:p>
        </p:txBody>
      </p:sp>
      <p:sp>
        <p:nvSpPr>
          <p:cNvPr id="45" name="TextBox 44"/>
          <p:cNvSpPr txBox="1"/>
          <p:nvPr/>
        </p:nvSpPr>
        <p:spPr>
          <a:xfrm>
            <a:off x="5614416" y="4974336"/>
            <a:ext cx="175564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fuera de lo probado</a:t>
            </a:r>
          </a:p>
        </p:txBody>
      </p:sp>
      <p:sp>
        <p:nvSpPr>
          <p:cNvPr id="46" name="TextBox 45"/>
          <p:cNvSpPr txBox="1"/>
          <p:nvPr/>
        </p:nvSpPr>
        <p:spPr>
          <a:xfrm>
            <a:off x="7534656" y="4974336"/>
            <a:ext cx="189280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avisar: está extrapolando</a:t>
            </a:r>
          </a:p>
        </p:txBody>
      </p:sp>
      <p:sp>
        <p:nvSpPr>
          <p:cNvPr id="47" name="TextBox 46"/>
          <p:cNvSpPr txBox="1"/>
          <p:nvPr/>
        </p:nvSpPr>
        <p:spPr>
          <a:xfrm>
            <a:off x="9592056" y="4974336"/>
            <a:ext cx="1618488" cy="39319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dueño del gemelo</a:t>
            </a:r>
          </a:p>
        </p:txBody>
      </p:sp>
      <p:sp>
        <p:nvSpPr>
          <p:cNvPr id="48"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Umbrales ilustrativos: se fijan con los datos de cada planta · parámetros α y R_m: lámina de parámetros · propuesta de los autores</a:t>
            </a:r>
          </a:p>
        </p:txBody>
      </p:sp>
      <p:sp>
        <p:nvSpPr>
          <p:cNvPr id="4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6"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5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actual"/>
          <p:cNvSpPr/>
          <p:nvPr/>
        </p:nvSpPr>
        <p:spPr>
          <a:xfrm>
            <a:off x="6876288" y="6510528"/>
            <a:ext cx="13868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21/27 </a:t>
            </a:r>
            <a:r>
              <a:rPr sz="1000" b="0" i="0">
                <a:solidFill>
                  <a:srgbClr val="A9B8C9"/>
                </a:solidFill>
                <a:effectLst>
                  <a:glow rad="63500">
                    <a:srgbClr val="001633">
                      <a:alpha val="85000"/>
                    </a:srgbClr>
                  </a:glow>
                </a:effectLst>
                <a:latin typeface="Montserrat"/>
              </a:rPr>
              <a:t>· Gemelos Digitales para Minería 4.0 · 90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Comprar o construir: las mismas cuatro piezas, armadas con herramientas abiertas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DESPLIEGUE · COMPRAR O CONSTRUIR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proveedor del capítulo II entrega las cuatro piezas en su plataforma. Este ejemplo las arma con herramientas abiertas, así que se puede ver qué hay dentro de cada una.</a:t>
            </a:r>
          </a:p>
        </p:txBody>
      </p:sp>
      <p:sp>
        <p:nvSpPr>
          <p:cNvPr id="7" name="Datos y conectores"/>
          <p:cNvSpPr/>
          <p:nvPr/>
        </p:nvSpPr>
        <p:spPr>
          <a:xfrm>
            <a:off x="2098548" y="25603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database" descr="database-navy.png"/>
          <p:cNvPicPr>
            <a:picLocks noChangeAspect="1"/>
          </p:cNvPicPr>
          <p:nvPr/>
        </p:nvPicPr>
        <p:blipFill>
          <a:blip r:embed="rId3"/>
          <a:stretch>
            <a:fillRect/>
          </a:stretch>
        </p:blipFill>
        <p:spPr>
          <a:xfrm>
            <a:off x="2239366" y="2701138"/>
            <a:ext cx="358444" cy="358444"/>
          </a:xfrm>
          <a:prstGeom prst="rect">
            <a:avLst/>
          </a:prstGeom>
        </p:spPr>
      </p:pic>
      <p:sp>
        <p:nvSpPr>
          <p:cNvPr id="9" name="TextBox 8"/>
          <p:cNvSpPr txBox="1"/>
          <p:nvPr/>
        </p:nvSpPr>
        <p:spPr>
          <a:xfrm>
            <a:off x="1252728" y="3273552"/>
            <a:ext cx="2331720" cy="32004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Datos y conectores</a:t>
            </a:r>
          </a:p>
        </p:txBody>
      </p:sp>
      <p:sp>
        <p:nvSpPr>
          <p:cNvPr id="10" name="Proveedor Datos y conectores"/>
          <p:cNvSpPr/>
          <p:nvPr/>
        </p:nvSpPr>
        <p:spPr>
          <a:xfrm>
            <a:off x="1252728" y="3657600"/>
            <a:ext cx="233172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62456" y="3657600"/>
            <a:ext cx="2112264" cy="685800"/>
          </a:xfrm>
          <a:prstGeom prst="rect">
            <a:avLst/>
          </a:prstGeom>
          <a:noFill/>
        </p:spPr>
        <p:txBody>
          <a:bodyPr wrap="square" lIns="0" tIns="0" rIns="0" bIns="0" anchor="ctr">
            <a:spAutoFit/>
          </a:bodyPr>
          <a:lstStyle/>
          <a:p>
            <a:pPr algn="l">
              <a:spcAft>
                <a:spcPts val="100"/>
              </a:spcAft>
            </a:pPr>
            <a:r>
              <a:rPr sz="750" b="1" i="0">
                <a:solidFill>
                  <a:srgbClr val="A9B8C9"/>
                </a:solidFill>
                <a:effectLst>
                  <a:glow rad="63500">
                    <a:srgbClr val="001633">
                      <a:alpha val="85000"/>
                    </a:srgbClr>
                  </a:glow>
                </a:effectLst>
                <a:latin typeface="Montserrat"/>
              </a:rPr>
              <a:t>PROVEEDOR</a:t>
            </a:r>
          </a:p>
          <a:p>
            <a:pPr algn="l">
              <a:spcAft>
                <a:spcPts val="100"/>
              </a:spcAft>
            </a:pPr>
            <a:r>
              <a:rPr sz="900" b="0" i="0">
                <a:solidFill>
                  <a:srgbClr val="A9B8C9"/>
                </a:solidFill>
                <a:effectLst>
                  <a:glow rad="63500">
                    <a:srgbClr val="001633">
                      <a:alpha val="85000"/>
                    </a:srgbClr>
                  </a:glow>
                </a:effectLst>
                <a:latin typeface="Montserrat"/>
              </a:rPr>
              <a:t>historian y conectores de la plataforma</a:t>
            </a:r>
          </a:p>
        </p:txBody>
      </p:sp>
      <p:sp>
        <p:nvSpPr>
          <p:cNvPr id="12" name="Ejemplo Datos y conectores"/>
          <p:cNvSpPr/>
          <p:nvPr/>
        </p:nvSpPr>
        <p:spPr>
          <a:xfrm>
            <a:off x="1252728" y="4434840"/>
            <a:ext cx="2331720" cy="68580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62456" y="4434840"/>
            <a:ext cx="2112264" cy="685800"/>
          </a:xfrm>
          <a:prstGeom prst="rect">
            <a:avLst/>
          </a:prstGeom>
          <a:noFill/>
        </p:spPr>
        <p:txBody>
          <a:bodyPr wrap="square" lIns="0" tIns="0" rIns="0" bIns="0" anchor="ctr">
            <a:spAutoFit/>
          </a:bodyPr>
          <a:lstStyle/>
          <a:p>
            <a:pPr algn="l">
              <a:spcAft>
                <a:spcPts val="100"/>
              </a:spcAft>
            </a:pPr>
            <a:r>
              <a:rPr sz="750" b="1" i="0">
                <a:solidFill>
                  <a:srgbClr val="FFAB40"/>
                </a:solidFill>
                <a:effectLst>
                  <a:glow rad="63500">
                    <a:srgbClr val="001633">
                      <a:alpha val="85000"/>
                    </a:srgbClr>
                  </a:glow>
                </a:effectLst>
                <a:latin typeface="Montserrat"/>
              </a:rPr>
              <a:t>EN EL EJEMPLO</a:t>
            </a:r>
          </a:p>
          <a:p>
            <a:pPr algn="l">
              <a:spcAft>
                <a:spcPts val="100"/>
              </a:spcAft>
            </a:pPr>
            <a:r>
              <a:rPr sz="950" b="1" i="0">
                <a:solidFill>
                  <a:srgbClr val="FFFFFF"/>
                </a:solidFill>
                <a:effectLst>
                  <a:glow rad="63500">
                    <a:srgbClr val="001633">
                      <a:alpha val="85000"/>
                    </a:srgbClr>
                  </a:glow>
                </a:effectLst>
                <a:latin typeface="Montserrat"/>
              </a:rPr>
              <a:t>contrato FMI y Python</a:t>
            </a:r>
          </a:p>
        </p:txBody>
      </p:sp>
      <p:sp>
        <p:nvSpPr>
          <p:cNvPr id="14" name="Modelo"/>
          <p:cNvSpPr/>
          <p:nvPr/>
        </p:nvSpPr>
        <p:spPr>
          <a:xfrm>
            <a:off x="4658868" y="25603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brain-circuit" descr="brain-circuit-navy.png"/>
          <p:cNvPicPr>
            <a:picLocks noChangeAspect="1"/>
          </p:cNvPicPr>
          <p:nvPr/>
        </p:nvPicPr>
        <p:blipFill>
          <a:blip r:embed="rId4"/>
          <a:stretch>
            <a:fillRect/>
          </a:stretch>
        </p:blipFill>
        <p:spPr>
          <a:xfrm>
            <a:off x="4799686" y="2701138"/>
            <a:ext cx="358444" cy="358444"/>
          </a:xfrm>
          <a:prstGeom prst="rect">
            <a:avLst/>
          </a:prstGeom>
        </p:spPr>
      </p:pic>
      <p:sp>
        <p:nvSpPr>
          <p:cNvPr id="16" name="TextBox 15"/>
          <p:cNvSpPr txBox="1"/>
          <p:nvPr/>
        </p:nvSpPr>
        <p:spPr>
          <a:xfrm>
            <a:off x="3813048" y="3273552"/>
            <a:ext cx="2331720" cy="32004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Modelo</a:t>
            </a:r>
          </a:p>
        </p:txBody>
      </p:sp>
      <p:sp>
        <p:nvSpPr>
          <p:cNvPr id="17" name="Proveedor Modelo"/>
          <p:cNvSpPr/>
          <p:nvPr/>
        </p:nvSpPr>
        <p:spPr>
          <a:xfrm>
            <a:off x="3813048" y="3657600"/>
            <a:ext cx="233172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922776" y="3657600"/>
            <a:ext cx="2112264" cy="685800"/>
          </a:xfrm>
          <a:prstGeom prst="rect">
            <a:avLst/>
          </a:prstGeom>
          <a:noFill/>
        </p:spPr>
        <p:txBody>
          <a:bodyPr wrap="square" lIns="0" tIns="0" rIns="0" bIns="0" anchor="ctr">
            <a:spAutoFit/>
          </a:bodyPr>
          <a:lstStyle/>
          <a:p>
            <a:pPr algn="l">
              <a:spcAft>
                <a:spcPts val="100"/>
              </a:spcAft>
            </a:pPr>
            <a:r>
              <a:rPr sz="750" b="1" i="0">
                <a:solidFill>
                  <a:srgbClr val="A9B8C9"/>
                </a:solidFill>
                <a:effectLst>
                  <a:glow rad="63500">
                    <a:srgbClr val="001633">
                      <a:alpha val="85000"/>
                    </a:srgbClr>
                  </a:glow>
                </a:effectLst>
                <a:latin typeface="Montserrat"/>
              </a:rPr>
              <a:t>PROVEEDOR</a:t>
            </a:r>
          </a:p>
          <a:p>
            <a:pPr algn="l">
              <a:spcAft>
                <a:spcPts val="100"/>
              </a:spcAft>
            </a:pPr>
            <a:r>
              <a:rPr sz="900" b="0" i="0">
                <a:solidFill>
                  <a:srgbClr val="A9B8C9"/>
                </a:solidFill>
                <a:effectLst>
                  <a:glow rad="63500">
                    <a:srgbClr val="001633">
                      <a:alpha val="85000"/>
                    </a:srgbClr>
                  </a:glow>
                </a:effectLst>
                <a:latin typeface="Montserrat"/>
              </a:rPr>
              <a:t>librería del fabricante o simulador de proceso</a:t>
            </a:r>
          </a:p>
        </p:txBody>
      </p:sp>
      <p:sp>
        <p:nvSpPr>
          <p:cNvPr id="19" name="Ejemplo Modelo"/>
          <p:cNvSpPr/>
          <p:nvPr/>
        </p:nvSpPr>
        <p:spPr>
          <a:xfrm>
            <a:off x="3813048" y="4434840"/>
            <a:ext cx="2331720" cy="68580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922776" y="4434840"/>
            <a:ext cx="2112264" cy="685800"/>
          </a:xfrm>
          <a:prstGeom prst="rect">
            <a:avLst/>
          </a:prstGeom>
          <a:noFill/>
        </p:spPr>
        <p:txBody>
          <a:bodyPr wrap="square" lIns="0" tIns="0" rIns="0" bIns="0" anchor="ctr">
            <a:spAutoFit/>
          </a:bodyPr>
          <a:lstStyle/>
          <a:p>
            <a:pPr algn="l">
              <a:spcAft>
                <a:spcPts val="100"/>
              </a:spcAft>
            </a:pPr>
            <a:r>
              <a:rPr sz="750" b="1" i="0">
                <a:solidFill>
                  <a:srgbClr val="FFAB40"/>
                </a:solidFill>
                <a:effectLst>
                  <a:glow rad="63500">
                    <a:srgbClr val="001633">
                      <a:alpha val="85000"/>
                    </a:srgbClr>
                  </a:glow>
                </a:effectLst>
                <a:latin typeface="Montserrat"/>
              </a:rPr>
              <a:t>EN EL EJEMPLO</a:t>
            </a:r>
          </a:p>
          <a:p>
            <a:pPr algn="l">
              <a:spcAft>
                <a:spcPts val="100"/>
              </a:spcAft>
            </a:pPr>
            <a:r>
              <a:rPr sz="950" b="1" i="0">
                <a:solidFill>
                  <a:srgbClr val="FFFFFF"/>
                </a:solidFill>
                <a:effectLst>
                  <a:glow rad="63500">
                    <a:srgbClr val="001633">
                      <a:alpha val="85000"/>
                    </a:srgbClr>
                  </a:glow>
                </a:effectLst>
                <a:latin typeface="Montserrat"/>
              </a:rPr>
              <a:t>librería Modelica Dewatering</a:t>
            </a:r>
          </a:p>
        </p:txBody>
      </p:sp>
      <p:sp>
        <p:nvSpPr>
          <p:cNvPr id="21" name="Motor de cálculo"/>
          <p:cNvSpPr/>
          <p:nvPr/>
        </p:nvSpPr>
        <p:spPr>
          <a:xfrm>
            <a:off x="7219188" y="25603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Ícono cpu" descr="cpu-navy.png"/>
          <p:cNvPicPr>
            <a:picLocks noChangeAspect="1"/>
          </p:cNvPicPr>
          <p:nvPr/>
        </p:nvPicPr>
        <p:blipFill>
          <a:blip r:embed="rId5"/>
          <a:stretch>
            <a:fillRect/>
          </a:stretch>
        </p:blipFill>
        <p:spPr>
          <a:xfrm>
            <a:off x="7360006" y="2701138"/>
            <a:ext cx="358444" cy="358444"/>
          </a:xfrm>
          <a:prstGeom prst="rect">
            <a:avLst/>
          </a:prstGeom>
        </p:spPr>
      </p:pic>
      <p:sp>
        <p:nvSpPr>
          <p:cNvPr id="23" name="TextBox 22"/>
          <p:cNvSpPr txBox="1"/>
          <p:nvPr/>
        </p:nvSpPr>
        <p:spPr>
          <a:xfrm>
            <a:off x="6373368" y="3273552"/>
            <a:ext cx="2331720" cy="32004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Motor de cálculo</a:t>
            </a:r>
          </a:p>
        </p:txBody>
      </p:sp>
      <p:sp>
        <p:nvSpPr>
          <p:cNvPr id="24" name="Proveedor Motor de cálculo"/>
          <p:cNvSpPr/>
          <p:nvPr/>
        </p:nvSpPr>
        <p:spPr>
          <a:xfrm>
            <a:off x="6373368" y="3657600"/>
            <a:ext cx="233172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83096" y="3657600"/>
            <a:ext cx="2112264" cy="685800"/>
          </a:xfrm>
          <a:prstGeom prst="rect">
            <a:avLst/>
          </a:prstGeom>
          <a:noFill/>
        </p:spPr>
        <p:txBody>
          <a:bodyPr wrap="square" lIns="0" tIns="0" rIns="0" bIns="0" anchor="ctr">
            <a:spAutoFit/>
          </a:bodyPr>
          <a:lstStyle/>
          <a:p>
            <a:pPr algn="l">
              <a:spcAft>
                <a:spcPts val="100"/>
              </a:spcAft>
            </a:pPr>
            <a:r>
              <a:rPr sz="750" b="1" i="0">
                <a:solidFill>
                  <a:srgbClr val="A9B8C9"/>
                </a:solidFill>
                <a:effectLst>
                  <a:glow rad="63500">
                    <a:srgbClr val="001633">
                      <a:alpha val="85000"/>
                    </a:srgbClr>
                  </a:glow>
                </a:effectLst>
                <a:latin typeface="Montserrat"/>
              </a:rPr>
              <a:t>PROVEEDOR</a:t>
            </a:r>
          </a:p>
          <a:p>
            <a:pPr algn="l">
              <a:spcAft>
                <a:spcPts val="100"/>
              </a:spcAft>
            </a:pPr>
            <a:r>
              <a:rPr sz="900" b="0" i="0">
                <a:solidFill>
                  <a:srgbClr val="A9B8C9"/>
                </a:solidFill>
                <a:effectLst>
                  <a:glow rad="63500">
                    <a:srgbClr val="001633">
                      <a:alpha val="85000"/>
                    </a:srgbClr>
                  </a:glow>
                </a:effectLst>
                <a:latin typeface="Montserrat"/>
              </a:rPr>
              <a:t>solver dentro del producto</a:t>
            </a:r>
          </a:p>
        </p:txBody>
      </p:sp>
      <p:sp>
        <p:nvSpPr>
          <p:cNvPr id="26" name="Ejemplo Motor de cálculo"/>
          <p:cNvSpPr/>
          <p:nvPr/>
        </p:nvSpPr>
        <p:spPr>
          <a:xfrm>
            <a:off x="6373368" y="4434840"/>
            <a:ext cx="2331720" cy="68580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83096" y="4434840"/>
            <a:ext cx="2112264" cy="685800"/>
          </a:xfrm>
          <a:prstGeom prst="rect">
            <a:avLst/>
          </a:prstGeom>
          <a:noFill/>
        </p:spPr>
        <p:txBody>
          <a:bodyPr wrap="square" lIns="0" tIns="0" rIns="0" bIns="0" anchor="ctr">
            <a:spAutoFit/>
          </a:bodyPr>
          <a:lstStyle/>
          <a:p>
            <a:pPr algn="l">
              <a:spcAft>
                <a:spcPts val="100"/>
              </a:spcAft>
            </a:pPr>
            <a:r>
              <a:rPr sz="750" b="1" i="0">
                <a:solidFill>
                  <a:srgbClr val="FFAB40"/>
                </a:solidFill>
                <a:effectLst>
                  <a:glow rad="63500">
                    <a:srgbClr val="001633">
                      <a:alpha val="85000"/>
                    </a:srgbClr>
                  </a:glow>
                </a:effectLst>
                <a:latin typeface="Montserrat"/>
              </a:rPr>
              <a:t>EN EL EJEMPLO</a:t>
            </a:r>
          </a:p>
          <a:p>
            <a:pPr algn="l">
              <a:spcAft>
                <a:spcPts val="100"/>
              </a:spcAft>
            </a:pPr>
            <a:r>
              <a:rPr sz="950" b="1" i="0">
                <a:solidFill>
                  <a:srgbClr val="FFFFFF"/>
                </a:solidFill>
                <a:effectLst>
                  <a:glow rad="63500">
                    <a:srgbClr val="001633">
                      <a:alpha val="85000"/>
                    </a:srgbClr>
                  </a:glow>
                </a:effectLst>
                <a:latin typeface="Montserrat"/>
              </a:rPr>
              <a:t>el solver que viaja dentro de la FMU</a:t>
            </a:r>
          </a:p>
        </p:txBody>
      </p:sp>
      <p:sp>
        <p:nvSpPr>
          <p:cNvPr id="28" name="Interfaz y resultados"/>
          <p:cNvSpPr/>
          <p:nvPr/>
        </p:nvSpPr>
        <p:spPr>
          <a:xfrm>
            <a:off x="9779508" y="25603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Ícono monitor" descr="monitor-navy.png"/>
          <p:cNvPicPr>
            <a:picLocks noChangeAspect="1"/>
          </p:cNvPicPr>
          <p:nvPr/>
        </p:nvPicPr>
        <p:blipFill>
          <a:blip r:embed="rId6"/>
          <a:stretch>
            <a:fillRect/>
          </a:stretch>
        </p:blipFill>
        <p:spPr>
          <a:xfrm>
            <a:off x="9920326" y="2701138"/>
            <a:ext cx="358444" cy="358444"/>
          </a:xfrm>
          <a:prstGeom prst="rect">
            <a:avLst/>
          </a:prstGeom>
        </p:spPr>
      </p:pic>
      <p:sp>
        <p:nvSpPr>
          <p:cNvPr id="30" name="TextBox 29"/>
          <p:cNvSpPr txBox="1"/>
          <p:nvPr/>
        </p:nvSpPr>
        <p:spPr>
          <a:xfrm>
            <a:off x="8933688" y="3273552"/>
            <a:ext cx="2331720" cy="32004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Interfaz y resultados</a:t>
            </a:r>
          </a:p>
        </p:txBody>
      </p:sp>
      <p:sp>
        <p:nvSpPr>
          <p:cNvPr id="31" name="Proveedor Interfaz y resultados"/>
          <p:cNvSpPr/>
          <p:nvPr/>
        </p:nvSpPr>
        <p:spPr>
          <a:xfrm>
            <a:off x="8933688" y="3657600"/>
            <a:ext cx="233172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043416" y="3657600"/>
            <a:ext cx="2112264" cy="685800"/>
          </a:xfrm>
          <a:prstGeom prst="rect">
            <a:avLst/>
          </a:prstGeom>
          <a:noFill/>
        </p:spPr>
        <p:txBody>
          <a:bodyPr wrap="square" lIns="0" tIns="0" rIns="0" bIns="0" anchor="ctr">
            <a:spAutoFit/>
          </a:bodyPr>
          <a:lstStyle/>
          <a:p>
            <a:pPr algn="l">
              <a:spcAft>
                <a:spcPts val="100"/>
              </a:spcAft>
            </a:pPr>
            <a:r>
              <a:rPr sz="750" b="1" i="0">
                <a:solidFill>
                  <a:srgbClr val="A9B8C9"/>
                </a:solidFill>
                <a:effectLst>
                  <a:glow rad="63500">
                    <a:srgbClr val="001633">
                      <a:alpha val="85000"/>
                    </a:srgbClr>
                  </a:glow>
                </a:effectLst>
                <a:latin typeface="Montserrat"/>
              </a:rPr>
              <a:t>PROVEEDOR</a:t>
            </a:r>
          </a:p>
          <a:p>
            <a:pPr algn="l">
              <a:spcAft>
                <a:spcPts val="100"/>
              </a:spcAft>
            </a:pPr>
            <a:r>
              <a:rPr sz="900" b="0" i="0">
                <a:solidFill>
                  <a:srgbClr val="A9B8C9"/>
                </a:solidFill>
                <a:effectLst>
                  <a:glow rad="63500">
                    <a:srgbClr val="001633">
                      <a:alpha val="85000"/>
                    </a:srgbClr>
                  </a:glow>
                </a:effectLst>
                <a:latin typeface="Montserrat"/>
              </a:rPr>
              <a:t>tablero y alertas del producto</a:t>
            </a:r>
          </a:p>
        </p:txBody>
      </p:sp>
      <p:sp>
        <p:nvSpPr>
          <p:cNvPr id="33" name="Ejemplo Interfaz y resultados"/>
          <p:cNvSpPr/>
          <p:nvPr/>
        </p:nvSpPr>
        <p:spPr>
          <a:xfrm>
            <a:off x="8933688" y="4434840"/>
            <a:ext cx="2331720" cy="68580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043416" y="4434840"/>
            <a:ext cx="2112264" cy="685800"/>
          </a:xfrm>
          <a:prstGeom prst="rect">
            <a:avLst/>
          </a:prstGeom>
          <a:noFill/>
        </p:spPr>
        <p:txBody>
          <a:bodyPr wrap="square" lIns="0" tIns="0" rIns="0" bIns="0" anchor="ctr">
            <a:spAutoFit/>
          </a:bodyPr>
          <a:lstStyle/>
          <a:p>
            <a:pPr algn="l">
              <a:spcAft>
                <a:spcPts val="100"/>
              </a:spcAft>
            </a:pPr>
            <a:r>
              <a:rPr sz="750" b="1" i="0">
                <a:solidFill>
                  <a:srgbClr val="FFAB40"/>
                </a:solidFill>
                <a:effectLst>
                  <a:glow rad="63500">
                    <a:srgbClr val="001633">
                      <a:alpha val="85000"/>
                    </a:srgbClr>
                  </a:glow>
                </a:effectLst>
                <a:latin typeface="Montserrat"/>
              </a:rPr>
              <a:t>EN EL EJEMPLO</a:t>
            </a:r>
          </a:p>
          <a:p>
            <a:pPr algn="l">
              <a:spcAft>
                <a:spcPts val="100"/>
              </a:spcAft>
            </a:pPr>
            <a:r>
              <a:rPr sz="950" b="1" i="0">
                <a:solidFill>
                  <a:srgbClr val="FFFFFF"/>
                </a:solidFill>
                <a:effectLst>
                  <a:glow rad="63500">
                    <a:srgbClr val="001633">
                      <a:alpha val="85000"/>
                    </a:srgbClr>
                  </a:glow>
                </a:effectLst>
                <a:latin typeface="Montserrat"/>
              </a:rPr>
              <a:t>three.js en el navegador</a:t>
            </a:r>
          </a:p>
        </p:txBody>
      </p:sp>
      <p:sp>
        <p:nvSpPr>
          <p:cNvPr id="35" name="TextBox 34"/>
          <p:cNvSpPr txBox="1"/>
          <p:nvPr/>
        </p:nvSpPr>
        <p:spPr>
          <a:xfrm>
            <a:off x="1252728" y="5303520"/>
            <a:ext cx="10012680" cy="50292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En la planta, la respuesta suele ser mixta: </a:t>
            </a:r>
            <a:r>
              <a:rPr sz="1000" b="0" i="0">
                <a:solidFill>
                  <a:srgbClr val="FFFFFF"/>
                </a:solidFill>
                <a:effectLst>
                  <a:glow rad="63500">
                    <a:srgbClr val="001633">
                      <a:alpha val="85000"/>
                    </a:srgbClr>
                  </a:glow>
                </a:effectLst>
                <a:latin typeface="Montserrat"/>
              </a:rPr>
              <a:t>la FMU propia corre dentro de la plataforma del proveedor si esta importa FMI. Se compra la infraestructura y se conserva el conocimiento del equipo.</a:t>
            </a:r>
          </a:p>
        </p:txBody>
      </p:sp>
      <p:sp>
        <p:nvSpPr>
          <p:cNvPr id="3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Cuatro piezas del software: capítulo II · herramientas: OpenModelica, FMPy y three.js (abiertas)</a:t>
            </a:r>
          </a:p>
        </p:txBody>
      </p:sp>
      <p:sp>
        <p:nvSpPr>
          <p:cNvPr id="3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4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4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V actual"/>
          <p:cNvSpPr/>
          <p:nvPr/>
        </p:nvSpPr>
        <p:spPr>
          <a:xfrm>
            <a:off x="6876288" y="6510528"/>
            <a:ext cx="14528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22/27 </a:t>
            </a:r>
            <a:r>
              <a:rPr sz="1000" b="0" i="0">
                <a:solidFill>
                  <a:srgbClr val="A9B8C9"/>
                </a:solidFill>
                <a:effectLst>
                  <a:glow rad="63500">
                    <a:srgbClr val="001633">
                      <a:alpha val="85000"/>
                    </a:srgbClr>
                  </a:glow>
                </a:effectLst>
                <a:latin typeface="Montserrat"/>
              </a:rPr>
              <a:t>· Gemelos Digitales para Minería 4.0 · 91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Todo lo que se ve con un número lo calcula la FMU; el resto ayuda a entenderlo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UN EJEMPLO REAL</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física viene de la FMU. La cámara, el giro y los terrones son cinemática para que se entienda qué pasa dentro del recipiente.</a:t>
            </a:r>
          </a:p>
        </p:txBody>
      </p:sp>
      <p:sp>
        <p:nvSpPr>
          <p:cNvPr id="7" name="Encabezado Lo calcula la FMU"/>
          <p:cNvSpPr/>
          <p:nvPr/>
        </p:nvSpPr>
        <p:spPr>
          <a:xfrm>
            <a:off x="1252728" y="2560320"/>
            <a:ext cx="4869180" cy="5029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brain-circuit" descr="brain-circuit-orange.png"/>
          <p:cNvPicPr>
            <a:picLocks noChangeAspect="1"/>
          </p:cNvPicPr>
          <p:nvPr/>
        </p:nvPicPr>
        <p:blipFill>
          <a:blip r:embed="rId3"/>
          <a:stretch>
            <a:fillRect/>
          </a:stretch>
        </p:blipFill>
        <p:spPr>
          <a:xfrm>
            <a:off x="1389888" y="2651760"/>
            <a:ext cx="320040" cy="320040"/>
          </a:xfrm>
          <a:prstGeom prst="rect">
            <a:avLst/>
          </a:prstGeom>
        </p:spPr>
      </p:pic>
      <p:sp>
        <p:nvSpPr>
          <p:cNvPr id="9" name="TextBox 8"/>
          <p:cNvSpPr txBox="1"/>
          <p:nvPr/>
        </p:nvSpPr>
        <p:spPr>
          <a:xfrm>
            <a:off x="1819656" y="2560320"/>
            <a:ext cx="4229100" cy="502920"/>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Lo calcula la FMU</a:t>
            </a:r>
          </a:p>
        </p:txBody>
      </p:sp>
      <p:sp>
        <p:nvSpPr>
          <p:cNvPr id="10" name="Lo calcula la FMU 0"/>
          <p:cNvSpPr/>
          <p:nvPr/>
        </p:nvSpPr>
        <p:spPr>
          <a:xfrm>
            <a:off x="1252728" y="3154680"/>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9888" y="3154680"/>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Color del queque</a:t>
            </a:r>
          </a:p>
        </p:txBody>
      </p:sp>
      <p:sp>
        <p:nvSpPr>
          <p:cNvPr id="12" name="TextBox 11"/>
          <p:cNvSpPr txBox="1"/>
          <p:nvPr/>
        </p:nvSpPr>
        <p:spPr>
          <a:xfrm>
            <a:off x="3784701" y="3154680"/>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moisture</a:t>
            </a:r>
          </a:p>
        </p:txBody>
      </p:sp>
      <p:sp>
        <p:nvSpPr>
          <p:cNvPr id="13" name="Lo calcula la FMU 1"/>
          <p:cNvSpPr/>
          <p:nvPr/>
        </p:nvSpPr>
        <p:spPr>
          <a:xfrm>
            <a:off x="1252728" y="3575304"/>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389888" y="3575304"/>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Espesor del queque</a:t>
            </a:r>
          </a:p>
        </p:txBody>
      </p:sp>
      <p:sp>
        <p:nvSpPr>
          <p:cNvPr id="15" name="TextBox 14"/>
          <p:cNvSpPr txBox="1"/>
          <p:nvPr/>
        </p:nvSpPr>
        <p:spPr>
          <a:xfrm>
            <a:off x="3784701" y="3575304"/>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L_cake</a:t>
            </a:r>
          </a:p>
        </p:txBody>
      </p:sp>
      <p:sp>
        <p:nvSpPr>
          <p:cNvPr id="16" name="Lo calcula la FMU 2"/>
          <p:cNvSpPr/>
          <p:nvPr/>
        </p:nvSpPr>
        <p:spPr>
          <a:xfrm>
            <a:off x="1252728" y="3995928"/>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89888" y="3995928"/>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Nivel de pulpa en la batea</a:t>
            </a:r>
          </a:p>
        </p:txBody>
      </p:sp>
      <p:sp>
        <p:nvSpPr>
          <p:cNvPr id="18" name="TextBox 17"/>
          <p:cNvSpPr txBox="1"/>
          <p:nvPr/>
        </p:nvSpPr>
        <p:spPr>
          <a:xfrm>
            <a:off x="3784701" y="3995928"/>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level</a:t>
            </a:r>
          </a:p>
        </p:txBody>
      </p:sp>
      <p:sp>
        <p:nvSpPr>
          <p:cNvPr id="19" name="Lo calcula la FMU 3"/>
          <p:cNvSpPr/>
          <p:nvPr/>
        </p:nvSpPr>
        <p:spPr>
          <a:xfrm>
            <a:off x="1252728" y="4416552"/>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89888" y="4416552"/>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Compuertas y venteo de la esclusa</a:t>
            </a:r>
          </a:p>
        </p:txBody>
      </p:sp>
      <p:sp>
        <p:nvSpPr>
          <p:cNvPr id="21" name="TextBox 20"/>
          <p:cNvSpPr txBox="1"/>
          <p:nvPr/>
        </p:nvSpPr>
        <p:spPr>
          <a:xfrm>
            <a:off x="3784701" y="4416552"/>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lock_state</a:t>
            </a:r>
          </a:p>
        </p:txBody>
      </p:sp>
      <p:sp>
        <p:nvSpPr>
          <p:cNvPr id="22" name="Lo calcula la FMU 4"/>
          <p:cNvSpPr/>
          <p:nvPr/>
        </p:nvSpPr>
        <p:spPr>
          <a:xfrm>
            <a:off x="1252728" y="4837176"/>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9888" y="4837176"/>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Aguja del manómetro</a:t>
            </a:r>
          </a:p>
        </p:txBody>
      </p:sp>
      <p:sp>
        <p:nvSpPr>
          <p:cNvPr id="24" name="TextBox 23"/>
          <p:cNvSpPr txBox="1"/>
          <p:nvPr/>
        </p:nvSpPr>
        <p:spPr>
          <a:xfrm>
            <a:off x="3784701" y="4837176"/>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p_vessel</a:t>
            </a:r>
          </a:p>
        </p:txBody>
      </p:sp>
      <p:sp>
        <p:nvSpPr>
          <p:cNvPr id="25" name="Lo calcula la FMU 5"/>
          <p:cNvSpPr/>
          <p:nvPr/>
        </p:nvSpPr>
        <p:spPr>
          <a:xfrm>
            <a:off x="1252728" y="5257800"/>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389888" y="5257800"/>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Capacidad, aire y kWh/t</a:t>
            </a:r>
          </a:p>
        </p:txBody>
      </p:sp>
      <p:sp>
        <p:nvSpPr>
          <p:cNvPr id="27" name="TextBox 26"/>
          <p:cNvSpPr txBox="1"/>
          <p:nvPr/>
        </p:nvSpPr>
        <p:spPr>
          <a:xfrm>
            <a:off x="3784701" y="5257800"/>
            <a:ext cx="2239822" cy="365760"/>
          </a:xfrm>
          <a:prstGeom prst="rect">
            <a:avLst/>
          </a:prstGeom>
          <a:noFill/>
        </p:spPr>
        <p:txBody>
          <a:bodyPr wrap="square" lIns="0" tIns="0" rIns="0" bIns="0" anchor="ctr">
            <a:spAutoFit/>
          </a:bodyPr>
          <a:lstStyle/>
          <a:p>
            <a:pPr algn="r">
              <a:spcAft>
                <a:spcPts val="600"/>
              </a:spcAft>
            </a:pPr>
            <a:r>
              <a:rPr sz="900" b="1" i="0">
                <a:solidFill>
                  <a:srgbClr val="85D5E6"/>
                </a:solidFill>
                <a:effectLst>
                  <a:glow rad="63500">
                    <a:srgbClr val="001633">
                      <a:alpha val="85000"/>
                    </a:srgbClr>
                  </a:glow>
                </a:effectLst>
                <a:latin typeface="Montserrat"/>
              </a:rPr>
              <a:t>m_flow_dry · P_compressor</a:t>
            </a:r>
          </a:p>
        </p:txBody>
      </p:sp>
      <p:sp>
        <p:nvSpPr>
          <p:cNvPr id="28" name="Encabezado Lo resuelve la animación"/>
          <p:cNvSpPr/>
          <p:nvPr/>
        </p:nvSpPr>
        <p:spPr>
          <a:xfrm>
            <a:off x="6396228" y="2560320"/>
            <a:ext cx="4869180" cy="50292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Ícono eye" descr="eye-muted.png"/>
          <p:cNvPicPr>
            <a:picLocks noChangeAspect="1"/>
          </p:cNvPicPr>
          <p:nvPr/>
        </p:nvPicPr>
        <p:blipFill>
          <a:blip r:embed="rId4"/>
          <a:stretch>
            <a:fillRect/>
          </a:stretch>
        </p:blipFill>
        <p:spPr>
          <a:xfrm>
            <a:off x="6533388" y="2651760"/>
            <a:ext cx="320040" cy="320040"/>
          </a:xfrm>
          <a:prstGeom prst="rect">
            <a:avLst/>
          </a:prstGeom>
        </p:spPr>
      </p:pic>
      <p:sp>
        <p:nvSpPr>
          <p:cNvPr id="30" name="TextBox 29"/>
          <p:cNvSpPr txBox="1"/>
          <p:nvPr/>
        </p:nvSpPr>
        <p:spPr>
          <a:xfrm>
            <a:off x="6963156" y="2560320"/>
            <a:ext cx="4229100" cy="50292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Lo resuelve la animación</a:t>
            </a:r>
          </a:p>
        </p:txBody>
      </p:sp>
      <p:sp>
        <p:nvSpPr>
          <p:cNvPr id="31" name="Lo resuelve la animación 0"/>
          <p:cNvSpPr/>
          <p:nvPr/>
        </p:nvSpPr>
        <p:spPr>
          <a:xfrm>
            <a:off x="6396228" y="3154680"/>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33388" y="3154680"/>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Giro de los discos</a:t>
            </a:r>
          </a:p>
        </p:txBody>
      </p:sp>
      <p:sp>
        <p:nvSpPr>
          <p:cNvPr id="33" name="TextBox 32"/>
          <p:cNvSpPr txBox="1"/>
          <p:nvPr/>
        </p:nvSpPr>
        <p:spPr>
          <a:xfrm>
            <a:off x="8928201" y="3154680"/>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a la velocidad pedida</a:t>
            </a:r>
          </a:p>
        </p:txBody>
      </p:sp>
      <p:sp>
        <p:nvSpPr>
          <p:cNvPr id="34" name="Lo resuelve la animación 1"/>
          <p:cNvSpPr/>
          <p:nvPr/>
        </p:nvSpPr>
        <p:spPr>
          <a:xfrm>
            <a:off x="6396228" y="3575304"/>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533388" y="3575304"/>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Terrones sobre la correa</a:t>
            </a:r>
          </a:p>
        </p:txBody>
      </p:sp>
      <p:sp>
        <p:nvSpPr>
          <p:cNvPr id="36" name="TextBox 35"/>
          <p:cNvSpPr txBox="1"/>
          <p:nvPr/>
        </p:nvSpPr>
        <p:spPr>
          <a:xfrm>
            <a:off x="8928201" y="3575304"/>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proporcionales a la descarga</a:t>
            </a:r>
          </a:p>
        </p:txBody>
      </p:sp>
      <p:sp>
        <p:nvSpPr>
          <p:cNvPr id="37" name="Lo resuelve la animación 2"/>
          <p:cNvSpPr/>
          <p:nvPr/>
        </p:nvSpPr>
        <p:spPr>
          <a:xfrm>
            <a:off x="6396228" y="3995928"/>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533388" y="3995928"/>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Espesor dibujado</a:t>
            </a:r>
          </a:p>
        </p:txBody>
      </p:sp>
      <p:sp>
        <p:nvSpPr>
          <p:cNvPr id="39" name="TextBox 38"/>
          <p:cNvSpPr txBox="1"/>
          <p:nvPr/>
        </p:nvSpPr>
        <p:spPr>
          <a:xfrm>
            <a:off x="8928201" y="3995928"/>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exagerado × 3 para que se vea</a:t>
            </a:r>
          </a:p>
        </p:txBody>
      </p:sp>
      <p:sp>
        <p:nvSpPr>
          <p:cNvPr id="40" name="Lo resuelve la animación 3"/>
          <p:cNvSpPr/>
          <p:nvPr/>
        </p:nvSpPr>
        <p:spPr>
          <a:xfrm>
            <a:off x="6396228" y="4416552"/>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533388" y="4416552"/>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Cámara y cortes</a:t>
            </a:r>
          </a:p>
        </p:txBody>
      </p:sp>
      <p:sp>
        <p:nvSpPr>
          <p:cNvPr id="42" name="TextBox 41"/>
          <p:cNvSpPr txBox="1"/>
          <p:nvPr/>
        </p:nvSpPr>
        <p:spPr>
          <a:xfrm>
            <a:off x="8928201" y="4416552"/>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exterior, interior y mapa de humedad</a:t>
            </a:r>
          </a:p>
        </p:txBody>
      </p:sp>
      <p:sp>
        <p:nvSpPr>
          <p:cNvPr id="43" name="Lo resuelve la animación 4"/>
          <p:cNvSpPr/>
          <p:nvPr/>
        </p:nvSpPr>
        <p:spPr>
          <a:xfrm>
            <a:off x="6396228" y="4837176"/>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533388" y="4837176"/>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Edificio y estructura</a:t>
            </a:r>
          </a:p>
        </p:txBody>
      </p:sp>
      <p:sp>
        <p:nvSpPr>
          <p:cNvPr id="45" name="TextBox 44"/>
          <p:cNvSpPr txBox="1"/>
          <p:nvPr/>
        </p:nvSpPr>
        <p:spPr>
          <a:xfrm>
            <a:off x="8928201" y="4837176"/>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geometría conceptual</a:t>
            </a:r>
          </a:p>
        </p:txBody>
      </p:sp>
      <p:sp>
        <p:nvSpPr>
          <p:cNvPr id="46" name="Lo resuelve la animación 5"/>
          <p:cNvSpPr/>
          <p:nvPr/>
        </p:nvSpPr>
        <p:spPr>
          <a:xfrm>
            <a:off x="6396228" y="5257800"/>
            <a:ext cx="48691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533388" y="5257800"/>
            <a:ext cx="2531973"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Factor de tiempo</a:t>
            </a:r>
          </a:p>
        </p:txBody>
      </p:sp>
      <p:sp>
        <p:nvSpPr>
          <p:cNvPr id="48" name="TextBox 47"/>
          <p:cNvSpPr txBox="1"/>
          <p:nvPr/>
        </p:nvSpPr>
        <p:spPr>
          <a:xfrm>
            <a:off x="8928201" y="5257800"/>
            <a:ext cx="2239822" cy="365760"/>
          </a:xfrm>
          <a:prstGeom prst="rect">
            <a:avLst/>
          </a:prstGeom>
          <a:noFill/>
        </p:spPr>
        <p:txBody>
          <a:bodyPr wrap="square" lIns="0" tIns="0" rIns="0" bIns="0" anchor="ctr">
            <a:spAutoFit/>
          </a:bodyPr>
          <a:lstStyle/>
          <a:p>
            <a:pPr algn="r">
              <a:spcAft>
                <a:spcPts val="600"/>
              </a:spcAft>
            </a:pPr>
            <a:r>
              <a:rPr sz="900" b="0" i="0">
                <a:solidFill>
                  <a:srgbClr val="A9B8C9"/>
                </a:solidFill>
                <a:effectLst>
                  <a:glow rad="63500">
                    <a:srgbClr val="001633">
                      <a:alpha val="85000"/>
                    </a:srgbClr>
                  </a:glow>
                </a:effectLst>
                <a:latin typeface="Montserrat"/>
              </a:rPr>
              <a:t>10× por defecto</a:t>
            </a:r>
          </a:p>
        </p:txBody>
      </p:sp>
      <p:sp>
        <p:nvSpPr>
          <p:cNvPr id="49"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Animación three.js del filtro (elaboración propia) · salidas: contrato de la FMU</a:t>
            </a:r>
          </a:p>
        </p:txBody>
      </p:sp>
      <p:sp>
        <p:nvSpPr>
          <p:cNvPr id="50"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1"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4"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7"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0"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V actual"/>
          <p:cNvSpPr/>
          <p:nvPr/>
        </p:nvSpPr>
        <p:spPr>
          <a:xfrm>
            <a:off x="6876288" y="6510528"/>
            <a:ext cx="15189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23/27 </a:t>
            </a:r>
            <a:r>
              <a:rPr sz="1000" b="0" i="0">
                <a:solidFill>
                  <a:srgbClr val="A9B8C9"/>
                </a:solidFill>
                <a:effectLst>
                  <a:glow rad="63500">
                    <a:srgbClr val="001633">
                      <a:alpha val="85000"/>
                    </a:srgbClr>
                  </a:glow>
                </a:effectLst>
                <a:latin typeface="Montserrat"/>
              </a:rPr>
              <a:t>· Gemelos Digitales para Minería 4.0 · 92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Demo en vivo: tres preguntas para hacerle al filtro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UN EJEMPLO REAL</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Abran el ejemplo en el teléfono o el computador. Antes de mover cada control, apuesten qué va a pasar; después comparen con la FMU.</a:t>
            </a:r>
          </a:p>
        </p:txBody>
      </p:sp>
      <p:sp>
        <p:nvSpPr>
          <p:cNvPr id="7" name="QR del ejemplo"/>
          <p:cNvSpPr/>
          <p:nvPr/>
        </p:nvSpPr>
        <p:spPr>
          <a:xfrm>
            <a:off x="1252728" y="2560320"/>
            <a:ext cx="2377440" cy="2377440"/>
          </a:xfrm>
          <a:prstGeom prst="roundRect">
            <a:avLst>
              <a:gd name="adj" fmla="val 6000"/>
            </a:avLst>
          </a:prstGeom>
          <a:solidFill>
            <a:srgbClr val="FFFFFF"/>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QR" descr="qr-demo-filtro.png"/>
          <p:cNvPicPr>
            <a:picLocks noChangeAspect="1"/>
          </p:cNvPicPr>
          <p:nvPr/>
        </p:nvPicPr>
        <p:blipFill>
          <a:blip r:embed="rId3"/>
          <a:stretch>
            <a:fillRect/>
          </a:stretch>
        </p:blipFill>
        <p:spPr>
          <a:xfrm>
            <a:off x="1389888" y="2697480"/>
            <a:ext cx="2103120" cy="2103120"/>
          </a:xfrm>
          <a:prstGeom prst="rect">
            <a:avLst/>
          </a:prstGeom>
        </p:spPr>
      </p:pic>
      <p:sp>
        <p:nvSpPr>
          <p:cNvPr id="9" name="TextBox 8"/>
          <p:cNvSpPr txBox="1"/>
          <p:nvPr/>
        </p:nvSpPr>
        <p:spPr>
          <a:xfrm>
            <a:off x="1069848" y="5029200"/>
            <a:ext cx="2743200" cy="457200"/>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filtro-hiperbarico-dt.vercel.app</a:t>
            </a:r>
          </a:p>
          <a:p>
            <a:pPr algn="ctr">
              <a:spcAft>
                <a:spcPts val="0"/>
              </a:spcAft>
            </a:pPr>
            <a:r>
              <a:rPr sz="800" b="0" i="0">
                <a:solidFill>
                  <a:srgbClr val="A9B8C9"/>
                </a:solidFill>
                <a:effectLst>
                  <a:glow rad="63500">
                    <a:srgbClr val="001633">
                      <a:alpha val="85000"/>
                    </a:srgbClr>
                  </a:glow>
                </a:effectLst>
                <a:latin typeface="Montserrat"/>
              </a:rPr>
              <a:t>escanear o escribir en el navegador</a:t>
            </a:r>
          </a:p>
        </p:txBody>
      </p:sp>
      <p:sp>
        <p:nvSpPr>
          <p:cNvPr id="10" name="Escenario 1"/>
          <p:cNvSpPr/>
          <p:nvPr/>
        </p:nvSpPr>
        <p:spPr>
          <a:xfrm>
            <a:off x="3950208" y="2560320"/>
            <a:ext cx="7315200" cy="868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087368" y="2560320"/>
            <a:ext cx="411480" cy="868680"/>
          </a:xfrm>
          <a:prstGeom prst="rect">
            <a:avLst/>
          </a:prstGeom>
          <a:noFill/>
        </p:spPr>
        <p:txBody>
          <a:bodyPr wrap="square" lIns="0" tIns="0" rIns="0" bIns="0" anchor="ctr">
            <a:spAutoFit/>
          </a:bodyPr>
          <a:lstStyle/>
          <a:p>
            <a:pPr algn="l">
              <a:spcAft>
                <a:spcPts val="600"/>
              </a:spcAft>
            </a:pPr>
            <a:r>
              <a:rPr sz="2200" b="1" i="0">
                <a:solidFill>
                  <a:srgbClr val="FFAB40"/>
                </a:solidFill>
                <a:effectLst>
                  <a:glow rad="63500">
                    <a:srgbClr val="001633">
                      <a:alpha val="85000"/>
                    </a:srgbClr>
                  </a:glow>
                </a:effectLst>
                <a:latin typeface="Montserrat"/>
              </a:rPr>
              <a:t>1</a:t>
            </a:r>
          </a:p>
        </p:txBody>
      </p:sp>
      <p:sp>
        <p:nvSpPr>
          <p:cNvPr id="12" name="TextBox 11"/>
          <p:cNvSpPr txBox="1"/>
          <p:nvPr/>
        </p:nvSpPr>
        <p:spPr>
          <a:xfrm>
            <a:off x="4544568" y="2633472"/>
            <a:ext cx="658368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Bajar la presión de 5 a 3 bar   </a:t>
            </a:r>
            <a:r>
              <a:rPr sz="950" b="0" i="0">
                <a:solidFill>
                  <a:srgbClr val="85D5E6"/>
                </a:solidFill>
                <a:effectLst>
                  <a:glow rad="63500">
                    <a:srgbClr val="001633">
                      <a:alpha val="85000"/>
                    </a:srgbClr>
                  </a:glow>
                </a:effectLst>
                <a:latin typeface="Montserrat"/>
              </a:rPr>
              <a:t>¿Cuánta energía se ahorra y qué se pierde?</a:t>
            </a:r>
          </a:p>
        </p:txBody>
      </p:sp>
      <p:sp>
        <p:nvSpPr>
          <p:cNvPr id="13" name="TextBox 12"/>
          <p:cNvSpPr txBox="1"/>
          <p:nvPr/>
        </p:nvSpPr>
        <p:spPr>
          <a:xfrm>
            <a:off x="4544568" y="2971800"/>
            <a:ext cx="6583680"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FMU: </a:t>
            </a:r>
            <a:r>
              <a:rPr sz="900" b="0" i="0">
                <a:solidFill>
                  <a:srgbClr val="A9B8C9"/>
                </a:solidFill>
                <a:effectLst>
                  <a:glow rad="63500">
                    <a:srgbClr val="001633">
                      <a:alpha val="85000"/>
                    </a:srgbClr>
                  </a:glow>
                </a:effectLst>
                <a:latin typeface="Montserrat"/>
              </a:rPr>
              <a:t>compresor 364 → 144 kW · capacidad 168,7 → 130,7 t/h · humedad 9,08 → 9,99 %</a:t>
            </a:r>
          </a:p>
        </p:txBody>
      </p:sp>
      <p:sp>
        <p:nvSpPr>
          <p:cNvPr id="14" name="Escenario 2"/>
          <p:cNvSpPr/>
          <p:nvPr/>
        </p:nvSpPr>
        <p:spPr>
          <a:xfrm>
            <a:off x="3950208" y="3520440"/>
            <a:ext cx="7315200" cy="868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087368" y="3520440"/>
            <a:ext cx="411480" cy="868680"/>
          </a:xfrm>
          <a:prstGeom prst="rect">
            <a:avLst/>
          </a:prstGeom>
          <a:noFill/>
        </p:spPr>
        <p:txBody>
          <a:bodyPr wrap="square" lIns="0" tIns="0" rIns="0" bIns="0" anchor="ctr">
            <a:spAutoFit/>
          </a:bodyPr>
          <a:lstStyle/>
          <a:p>
            <a:pPr algn="l">
              <a:spcAft>
                <a:spcPts val="600"/>
              </a:spcAft>
            </a:pPr>
            <a:r>
              <a:rPr sz="2200" b="1" i="0">
                <a:solidFill>
                  <a:srgbClr val="FFAB40"/>
                </a:solidFill>
                <a:effectLst>
                  <a:glow rad="63500">
                    <a:srgbClr val="001633">
                      <a:alpha val="85000"/>
                    </a:srgbClr>
                  </a:glow>
                </a:effectLst>
                <a:latin typeface="Montserrat"/>
              </a:rPr>
              <a:t>2</a:t>
            </a:r>
          </a:p>
        </p:txBody>
      </p:sp>
      <p:sp>
        <p:nvSpPr>
          <p:cNvPr id="16" name="TextBox 15"/>
          <p:cNvSpPr txBox="1"/>
          <p:nvPr/>
        </p:nvSpPr>
        <p:spPr>
          <a:xfrm>
            <a:off x="4544568" y="3593592"/>
            <a:ext cx="658368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Subir la velocidad   </a:t>
            </a:r>
            <a:r>
              <a:rPr sz="950" b="0" i="0">
                <a:solidFill>
                  <a:srgbClr val="85D5E6"/>
                </a:solidFill>
                <a:effectLst>
                  <a:glow rad="63500">
                    <a:srgbClr val="001633">
                      <a:alpha val="85000"/>
                    </a:srgbClr>
                  </a:glow>
                </a:effectLst>
                <a:latin typeface="Montserrat"/>
              </a:rPr>
              <a:t>Si sale más queque, ¿sale más húmedo?</a:t>
            </a:r>
          </a:p>
        </p:txBody>
      </p:sp>
      <p:sp>
        <p:nvSpPr>
          <p:cNvPr id="17" name="TextBox 16"/>
          <p:cNvSpPr txBox="1"/>
          <p:nvPr/>
        </p:nvSpPr>
        <p:spPr>
          <a:xfrm>
            <a:off x="4544568" y="3931920"/>
            <a:ext cx="6583680"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FMU: </a:t>
            </a:r>
            <a:r>
              <a:rPr sz="900" b="0" i="0">
                <a:solidFill>
                  <a:srgbClr val="A9B8C9"/>
                </a:solidFill>
                <a:effectLst>
                  <a:glow rad="63500">
                    <a:srgbClr val="001633">
                      <a:alpha val="85000"/>
                    </a:srgbClr>
                  </a:glow>
                </a:effectLst>
                <a:latin typeface="Montserrat"/>
              </a:rPr>
              <a:t>la capacidad sube con √rpm y la humedad queda en ≈ 9,1 %: ¿por qué no girar a 3 rpm?</a:t>
            </a:r>
          </a:p>
        </p:txBody>
      </p:sp>
      <p:sp>
        <p:nvSpPr>
          <p:cNvPr id="18" name="Escenario 3"/>
          <p:cNvSpPr/>
          <p:nvPr/>
        </p:nvSpPr>
        <p:spPr>
          <a:xfrm>
            <a:off x="3950208" y="4480560"/>
            <a:ext cx="7315200" cy="868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087368" y="4480560"/>
            <a:ext cx="411480" cy="868680"/>
          </a:xfrm>
          <a:prstGeom prst="rect">
            <a:avLst/>
          </a:prstGeom>
          <a:noFill/>
        </p:spPr>
        <p:txBody>
          <a:bodyPr wrap="square" lIns="0" tIns="0" rIns="0" bIns="0" anchor="ctr">
            <a:spAutoFit/>
          </a:bodyPr>
          <a:lstStyle/>
          <a:p>
            <a:pPr algn="l">
              <a:spcAft>
                <a:spcPts val="600"/>
              </a:spcAft>
            </a:pPr>
            <a:r>
              <a:rPr sz="2200" b="1" i="0">
                <a:solidFill>
                  <a:srgbClr val="FFAB40"/>
                </a:solidFill>
                <a:effectLst>
                  <a:glow rad="63500">
                    <a:srgbClr val="001633">
                      <a:alpha val="85000"/>
                    </a:srgbClr>
                  </a:glow>
                </a:effectLst>
                <a:latin typeface="Montserrat"/>
              </a:rPr>
              <a:t>3</a:t>
            </a:r>
          </a:p>
        </p:txBody>
      </p:sp>
      <p:sp>
        <p:nvSpPr>
          <p:cNvPr id="20" name="TextBox 19"/>
          <p:cNvSpPr txBox="1"/>
          <p:nvPr/>
        </p:nvSpPr>
        <p:spPr>
          <a:xfrm>
            <a:off x="4544568" y="4553712"/>
            <a:ext cx="658368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Tapar la tela   </a:t>
            </a:r>
            <a:r>
              <a:rPr sz="950" b="0" i="0">
                <a:solidFill>
                  <a:srgbClr val="85D5E6"/>
                </a:solidFill>
                <a:effectLst>
                  <a:glow rad="63500">
                    <a:srgbClr val="001633">
                      <a:alpha val="85000"/>
                    </a:srgbClr>
                  </a:glow>
                </a:effectLst>
                <a:latin typeface="Montserrat"/>
              </a:rPr>
              <a:t>¿Cuándo se nota y cómo lo vería la sala de control?</a:t>
            </a:r>
          </a:p>
        </p:txBody>
      </p:sp>
      <p:sp>
        <p:nvSpPr>
          <p:cNvPr id="21" name="TextBox 20"/>
          <p:cNvSpPr txBox="1"/>
          <p:nvPr/>
        </p:nvSpPr>
        <p:spPr>
          <a:xfrm>
            <a:off x="4544568" y="4892040"/>
            <a:ext cx="6583680"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FMU: </a:t>
            </a:r>
            <a:r>
              <a:rPr sz="900" b="0" i="0">
                <a:solidFill>
                  <a:srgbClr val="A9B8C9"/>
                </a:solidFill>
                <a:effectLst>
                  <a:glow rad="63500">
                    <a:srgbClr val="001633">
                      <a:alpha val="85000"/>
                    </a:srgbClr>
                  </a:glow>
                </a:effectLst>
                <a:latin typeface="Montserrat"/>
              </a:rPr>
              <a:t>la capacidad cae de a poco y luego se acelera: −8 % con la tela × 10, −16 % con × 20, −56 % con × 100</a:t>
            </a:r>
          </a:p>
        </p:txBody>
      </p:sp>
      <p:sp>
        <p:nvSpPr>
          <p:cNvPr id="2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Valores del barrido con la FMU a 1 rpm y del escenario de colmatación: Modelo Dewatering v1.0 (elaboración propia, OpenModelica 1.27)</a:t>
            </a:r>
          </a:p>
        </p:txBody>
      </p:sp>
      <p:sp>
        <p:nvSpPr>
          <p:cNvPr id="2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2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2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3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3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V actual"/>
          <p:cNvSpPr/>
          <p:nvPr/>
        </p:nvSpPr>
        <p:spPr>
          <a:xfrm>
            <a:off x="6876288" y="6510528"/>
            <a:ext cx="15849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24/27 </a:t>
            </a:r>
            <a:r>
              <a:rPr sz="1000" b="0" i="0">
                <a:solidFill>
                  <a:srgbClr val="A9B8C9"/>
                </a:solidFill>
                <a:effectLst>
                  <a:glow rad="63500">
                    <a:srgbClr val="001633">
                      <a:alpha val="85000"/>
                    </a:srgbClr>
                  </a:glow>
                </a:effectLst>
                <a:latin typeface="Montserrat"/>
              </a:rPr>
              <a:t>· Gemelos Digitales para Minería 4.0 · 93</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Taller: ¿dónde es técnicamente viable un gemelo en su faena?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TALLER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Cada grupo elige un proceso y responde la matriz con los conceptos de los capítulos I, II y III. La columna del filtro ya está resuelta, como guía.</a:t>
            </a:r>
          </a:p>
        </p:txBody>
      </p:sp>
      <p:sp>
        <p:nvSpPr>
          <p:cNvPr id="7" name="TextBox 6"/>
          <p:cNvSpPr txBox="1"/>
          <p:nvPr/>
        </p:nvSpPr>
        <p:spPr>
          <a:xfrm>
            <a:off x="1362456" y="2395728"/>
            <a:ext cx="36576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CAP.</a:t>
            </a:r>
          </a:p>
        </p:txBody>
      </p:sp>
      <p:sp>
        <p:nvSpPr>
          <p:cNvPr id="8" name="TextBox 7"/>
          <p:cNvSpPr txBox="1"/>
          <p:nvPr/>
        </p:nvSpPr>
        <p:spPr>
          <a:xfrm>
            <a:off x="1865376" y="2395728"/>
            <a:ext cx="265176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PREGUNTA</a:t>
            </a:r>
          </a:p>
        </p:txBody>
      </p:sp>
      <p:sp>
        <p:nvSpPr>
          <p:cNvPr id="9" name="TextBox 8"/>
          <p:cNvSpPr txBox="1"/>
          <p:nvPr/>
        </p:nvSpPr>
        <p:spPr>
          <a:xfrm>
            <a:off x="4654296" y="2395728"/>
            <a:ext cx="338328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EJEMPLO: FILTRO HIPERBÁRICO</a:t>
            </a:r>
          </a:p>
        </p:txBody>
      </p:sp>
      <p:sp>
        <p:nvSpPr>
          <p:cNvPr id="10" name="TextBox 9"/>
          <p:cNvSpPr txBox="1"/>
          <p:nvPr/>
        </p:nvSpPr>
        <p:spPr>
          <a:xfrm>
            <a:off x="8174736" y="2395728"/>
            <a:ext cx="3063240" cy="256032"/>
          </a:xfrm>
          <a:prstGeom prst="rect">
            <a:avLst/>
          </a:prstGeom>
          <a:noFill/>
        </p:spPr>
        <p:txBody>
          <a:bodyPr wrap="square" lIns="0" tIns="0" rIns="0" bIns="0" anchor="b">
            <a:spAutoFit/>
          </a:bodyPr>
          <a:lstStyle/>
          <a:p>
            <a:pPr algn="l">
              <a:spcAft>
                <a:spcPts val="600"/>
              </a:spcAft>
            </a:pPr>
            <a:r>
              <a:rPr sz="750" b="1" i="0">
                <a:solidFill>
                  <a:srgbClr val="A9B8C9"/>
                </a:solidFill>
                <a:effectLst>
                  <a:glow rad="63500">
                    <a:srgbClr val="001633">
                      <a:alpha val="85000"/>
                    </a:srgbClr>
                  </a:glow>
                </a:effectLst>
                <a:latin typeface="Montserrat"/>
              </a:rPr>
              <a:t>SU PROCESO</a:t>
            </a:r>
          </a:p>
        </p:txBody>
      </p:sp>
      <p:sp>
        <p:nvSpPr>
          <p:cNvPr id="11" name="Fila 1"/>
          <p:cNvSpPr/>
          <p:nvPr/>
        </p:nvSpPr>
        <p:spPr>
          <a:xfrm>
            <a:off x="1252728" y="2706624"/>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2456" y="2706624"/>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a:t>
            </a:r>
          </a:p>
        </p:txBody>
      </p:sp>
      <p:sp>
        <p:nvSpPr>
          <p:cNvPr id="13" name="TextBox 12"/>
          <p:cNvSpPr txBox="1"/>
          <p:nvPr/>
        </p:nvSpPr>
        <p:spPr>
          <a:xfrm>
            <a:off x="1865376" y="2706624"/>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¿Qué grado necesita: modelo, sombra o gemelo?</a:t>
            </a:r>
          </a:p>
        </p:txBody>
      </p:sp>
      <p:sp>
        <p:nvSpPr>
          <p:cNvPr id="14" name="TextBox 13"/>
          <p:cNvSpPr txBox="1"/>
          <p:nvPr/>
        </p:nvSpPr>
        <p:spPr>
          <a:xfrm>
            <a:off x="4654296" y="2706624"/>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sombra que luego asesora</a:t>
            </a:r>
          </a:p>
        </p:txBody>
      </p:sp>
      <p:sp>
        <p:nvSpPr>
          <p:cNvPr id="15" name="TextBox 14"/>
          <p:cNvSpPr txBox="1"/>
          <p:nvPr/>
        </p:nvSpPr>
        <p:spPr>
          <a:xfrm>
            <a:off x="8174736" y="2706624"/>
            <a:ext cx="3035808" cy="329184"/>
          </a:xfrm>
          <a:prstGeom prst="rect">
            <a:avLst/>
          </a:prstGeom>
          <a:noFill/>
        </p:spPr>
        <p:txBody>
          <a:bodyPr wrap="square" lIns="0" tIns="0" rIns="0" bIns="0" anchor="ctr">
            <a:spAutoFit/>
          </a:bodyPr>
          <a:lstStyle/>
          <a:p>
            <a:pPr algn="l">
              <a:spcAft>
                <a:spcPts val="600"/>
              </a:spcAft>
            </a:pPr>
            <a:endParaRPr/>
          </a:p>
        </p:txBody>
      </p:sp>
      <p:sp>
        <p:nvSpPr>
          <p:cNvPr id="16" name="Fila 2"/>
          <p:cNvSpPr/>
          <p:nvPr/>
        </p:nvSpPr>
        <p:spPr>
          <a:xfrm>
            <a:off x="1252728" y="3090672"/>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62456" y="3090672"/>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a:t>
            </a:r>
          </a:p>
        </p:txBody>
      </p:sp>
      <p:sp>
        <p:nvSpPr>
          <p:cNvPr id="18" name="TextBox 17"/>
          <p:cNvSpPr txBox="1"/>
          <p:nvPr/>
        </p:nvSpPr>
        <p:spPr>
          <a:xfrm>
            <a:off x="1865376" y="3090672"/>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¿Dónde cae en el cubo: nivel, fase y uso?</a:t>
            </a:r>
          </a:p>
        </p:txBody>
      </p:sp>
      <p:sp>
        <p:nvSpPr>
          <p:cNvPr id="19" name="TextBox 18"/>
          <p:cNvSpPr txBox="1"/>
          <p:nvPr/>
        </p:nvSpPr>
        <p:spPr>
          <a:xfrm>
            <a:off x="4654296" y="3090672"/>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un equipo · operar · simular y predecir</a:t>
            </a:r>
          </a:p>
        </p:txBody>
      </p:sp>
      <p:sp>
        <p:nvSpPr>
          <p:cNvPr id="20" name="TextBox 19"/>
          <p:cNvSpPr txBox="1"/>
          <p:nvPr/>
        </p:nvSpPr>
        <p:spPr>
          <a:xfrm>
            <a:off x="8174736" y="3090672"/>
            <a:ext cx="3035808" cy="329184"/>
          </a:xfrm>
          <a:prstGeom prst="rect">
            <a:avLst/>
          </a:prstGeom>
          <a:noFill/>
        </p:spPr>
        <p:txBody>
          <a:bodyPr wrap="square" lIns="0" tIns="0" rIns="0" bIns="0" anchor="ctr">
            <a:spAutoFit/>
          </a:bodyPr>
          <a:lstStyle/>
          <a:p>
            <a:pPr algn="l">
              <a:spcAft>
                <a:spcPts val="600"/>
              </a:spcAft>
            </a:pPr>
            <a:endParaRPr/>
          </a:p>
        </p:txBody>
      </p:sp>
      <p:sp>
        <p:nvSpPr>
          <p:cNvPr id="21" name="Fila 3"/>
          <p:cNvSpPr/>
          <p:nvPr/>
        </p:nvSpPr>
        <p:spPr>
          <a:xfrm>
            <a:off x="1252728" y="3474720"/>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362456" y="3474720"/>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a:t>
            </a:r>
          </a:p>
        </p:txBody>
      </p:sp>
      <p:sp>
        <p:nvSpPr>
          <p:cNvPr id="23" name="TextBox 22"/>
          <p:cNvSpPr txBox="1"/>
          <p:nvPr/>
        </p:nvSpPr>
        <p:spPr>
          <a:xfrm>
            <a:off x="1865376" y="3474720"/>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¿Qué KPI mueve y qué tan cerca del puerto está?</a:t>
            </a:r>
          </a:p>
        </p:txBody>
      </p:sp>
      <p:sp>
        <p:nvSpPr>
          <p:cNvPr id="24" name="TextBox 23"/>
          <p:cNvSpPr txBox="1"/>
          <p:nvPr/>
        </p:nvSpPr>
        <p:spPr>
          <a:xfrm>
            <a:off x="4654296" y="3474720"/>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humedad y t/h · última etapa antes del despacho</a:t>
            </a:r>
          </a:p>
        </p:txBody>
      </p:sp>
      <p:sp>
        <p:nvSpPr>
          <p:cNvPr id="25" name="TextBox 24"/>
          <p:cNvSpPr txBox="1"/>
          <p:nvPr/>
        </p:nvSpPr>
        <p:spPr>
          <a:xfrm>
            <a:off x="8174736" y="3474720"/>
            <a:ext cx="3035808" cy="329184"/>
          </a:xfrm>
          <a:prstGeom prst="rect">
            <a:avLst/>
          </a:prstGeom>
          <a:noFill/>
        </p:spPr>
        <p:txBody>
          <a:bodyPr wrap="square" lIns="0" tIns="0" rIns="0" bIns="0" anchor="ctr">
            <a:spAutoFit/>
          </a:bodyPr>
          <a:lstStyle/>
          <a:p>
            <a:pPr algn="l">
              <a:spcAft>
                <a:spcPts val="600"/>
              </a:spcAft>
            </a:pPr>
            <a:endParaRPr/>
          </a:p>
        </p:txBody>
      </p:sp>
      <p:sp>
        <p:nvSpPr>
          <p:cNvPr id="26" name="Fila 4"/>
          <p:cNvSpPr/>
          <p:nvPr/>
        </p:nvSpPr>
        <p:spPr>
          <a:xfrm>
            <a:off x="1252728" y="3858768"/>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62456" y="3858768"/>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a:t>
            </a:r>
          </a:p>
        </p:txBody>
      </p:sp>
      <p:sp>
        <p:nvSpPr>
          <p:cNvPr id="28" name="TextBox 27"/>
          <p:cNvSpPr txBox="1"/>
          <p:nvPr/>
        </p:nvSpPr>
        <p:spPr>
          <a:xfrm>
            <a:off x="1865376" y="3858768"/>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¿Comprar, construir o mixto?</a:t>
            </a:r>
          </a:p>
        </p:txBody>
      </p:sp>
      <p:sp>
        <p:nvSpPr>
          <p:cNvPr id="29" name="TextBox 28"/>
          <p:cNvSpPr txBox="1"/>
          <p:nvPr/>
        </p:nvSpPr>
        <p:spPr>
          <a:xfrm>
            <a:off x="4654296" y="3858768"/>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mixto: FMU propia en una plataforma</a:t>
            </a:r>
          </a:p>
        </p:txBody>
      </p:sp>
      <p:sp>
        <p:nvSpPr>
          <p:cNvPr id="30" name="TextBox 29"/>
          <p:cNvSpPr txBox="1"/>
          <p:nvPr/>
        </p:nvSpPr>
        <p:spPr>
          <a:xfrm>
            <a:off x="8174736" y="3858768"/>
            <a:ext cx="3035808" cy="329184"/>
          </a:xfrm>
          <a:prstGeom prst="rect">
            <a:avLst/>
          </a:prstGeom>
          <a:noFill/>
        </p:spPr>
        <p:txBody>
          <a:bodyPr wrap="square" lIns="0" tIns="0" rIns="0" bIns="0" anchor="ctr">
            <a:spAutoFit/>
          </a:bodyPr>
          <a:lstStyle/>
          <a:p>
            <a:pPr algn="l">
              <a:spcAft>
                <a:spcPts val="600"/>
              </a:spcAft>
            </a:pPr>
            <a:endParaRPr/>
          </a:p>
        </p:txBody>
      </p:sp>
      <p:sp>
        <p:nvSpPr>
          <p:cNvPr id="31" name="Fila 5"/>
          <p:cNvSpPr/>
          <p:nvPr/>
        </p:nvSpPr>
        <p:spPr>
          <a:xfrm>
            <a:off x="1252728" y="4242816"/>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362456" y="4242816"/>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III</a:t>
            </a:r>
          </a:p>
        </p:txBody>
      </p:sp>
      <p:sp>
        <p:nvSpPr>
          <p:cNvPr id="33" name="TextBox 32"/>
          <p:cNvSpPr txBox="1"/>
          <p:nvPr/>
        </p:nvSpPr>
        <p:spPr>
          <a:xfrm>
            <a:off x="1865376" y="4242816"/>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¿Hay física conocida? ¿Hay datos?</a:t>
            </a:r>
          </a:p>
        </p:txBody>
      </p:sp>
      <p:sp>
        <p:nvSpPr>
          <p:cNvPr id="34" name="TextBox 33"/>
          <p:cNvSpPr txBox="1"/>
          <p:nvPr/>
        </p:nvSpPr>
        <p:spPr>
          <a:xfrm>
            <a:off x="4654296" y="4242816"/>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física sí, datos pocos → fenomenológico</a:t>
            </a:r>
          </a:p>
        </p:txBody>
      </p:sp>
      <p:sp>
        <p:nvSpPr>
          <p:cNvPr id="35" name="TextBox 34"/>
          <p:cNvSpPr txBox="1"/>
          <p:nvPr/>
        </p:nvSpPr>
        <p:spPr>
          <a:xfrm>
            <a:off x="8174736" y="4242816"/>
            <a:ext cx="3035808" cy="329184"/>
          </a:xfrm>
          <a:prstGeom prst="rect">
            <a:avLst/>
          </a:prstGeom>
          <a:noFill/>
        </p:spPr>
        <p:txBody>
          <a:bodyPr wrap="square" lIns="0" tIns="0" rIns="0" bIns="0" anchor="ctr">
            <a:spAutoFit/>
          </a:bodyPr>
          <a:lstStyle/>
          <a:p>
            <a:pPr algn="l">
              <a:spcAft>
                <a:spcPts val="600"/>
              </a:spcAft>
            </a:pPr>
            <a:endParaRPr/>
          </a:p>
        </p:txBody>
      </p:sp>
      <p:sp>
        <p:nvSpPr>
          <p:cNvPr id="36" name="Fila 6"/>
          <p:cNvSpPr/>
          <p:nvPr/>
        </p:nvSpPr>
        <p:spPr>
          <a:xfrm>
            <a:off x="1252728" y="4626864"/>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62456" y="4626864"/>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III</a:t>
            </a:r>
          </a:p>
        </p:txBody>
      </p:sp>
      <p:sp>
        <p:nvSpPr>
          <p:cNvPr id="38" name="TextBox 37"/>
          <p:cNvSpPr txBox="1"/>
          <p:nvPr/>
        </p:nvSpPr>
        <p:spPr>
          <a:xfrm>
            <a:off x="1865376" y="4626864"/>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¿Existen las señales que necesita?</a:t>
            </a:r>
          </a:p>
        </p:txBody>
      </p:sp>
      <p:sp>
        <p:nvSpPr>
          <p:cNvPr id="39" name="TextBox 38"/>
          <p:cNvSpPr txBox="1"/>
          <p:nvPr/>
        </p:nvSpPr>
        <p:spPr>
          <a:xfrm>
            <a:off x="4654296" y="4626864"/>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presión, nivel, caudal, densidad; humedad por laboratorio</a:t>
            </a:r>
          </a:p>
        </p:txBody>
      </p:sp>
      <p:sp>
        <p:nvSpPr>
          <p:cNvPr id="40" name="TextBox 39"/>
          <p:cNvSpPr txBox="1"/>
          <p:nvPr/>
        </p:nvSpPr>
        <p:spPr>
          <a:xfrm>
            <a:off x="8174736" y="4626864"/>
            <a:ext cx="3035808" cy="329184"/>
          </a:xfrm>
          <a:prstGeom prst="rect">
            <a:avLst/>
          </a:prstGeom>
          <a:noFill/>
        </p:spPr>
        <p:txBody>
          <a:bodyPr wrap="square" lIns="0" tIns="0" rIns="0" bIns="0" anchor="ctr">
            <a:spAutoFit/>
          </a:bodyPr>
          <a:lstStyle/>
          <a:p>
            <a:pPr algn="l">
              <a:spcAft>
                <a:spcPts val="600"/>
              </a:spcAft>
            </a:pPr>
            <a:endParaRPr/>
          </a:p>
        </p:txBody>
      </p:sp>
      <p:sp>
        <p:nvSpPr>
          <p:cNvPr id="41" name="Fila 7"/>
          <p:cNvSpPr/>
          <p:nvPr/>
        </p:nvSpPr>
        <p:spPr>
          <a:xfrm>
            <a:off x="1252728" y="5010912"/>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362456" y="5010912"/>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III</a:t>
            </a:r>
          </a:p>
        </p:txBody>
      </p:sp>
      <p:sp>
        <p:nvSpPr>
          <p:cNvPr id="43" name="TextBox 42"/>
          <p:cNvSpPr txBox="1"/>
          <p:nvPr/>
        </p:nvSpPr>
        <p:spPr>
          <a:xfrm>
            <a:off x="1865376" y="5010912"/>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¿Qué tan rápido debe responder y dónde corre?</a:t>
            </a:r>
          </a:p>
        </p:txBody>
      </p:sp>
      <p:sp>
        <p:nvSpPr>
          <p:cNvPr id="44" name="TextBox 43"/>
          <p:cNvSpPr txBox="1"/>
          <p:nvPr/>
        </p:nvSpPr>
        <p:spPr>
          <a:xfrm>
            <a:off x="4654296" y="5010912"/>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segundos (esclusa) · edge junto al equipo</a:t>
            </a:r>
          </a:p>
        </p:txBody>
      </p:sp>
      <p:sp>
        <p:nvSpPr>
          <p:cNvPr id="45" name="TextBox 44"/>
          <p:cNvSpPr txBox="1"/>
          <p:nvPr/>
        </p:nvSpPr>
        <p:spPr>
          <a:xfrm>
            <a:off x="8174736" y="5010912"/>
            <a:ext cx="3035808" cy="329184"/>
          </a:xfrm>
          <a:prstGeom prst="rect">
            <a:avLst/>
          </a:prstGeom>
          <a:noFill/>
        </p:spPr>
        <p:txBody>
          <a:bodyPr wrap="square" lIns="0" tIns="0" rIns="0" bIns="0" anchor="ctr">
            <a:spAutoFit/>
          </a:bodyPr>
          <a:lstStyle/>
          <a:p>
            <a:pPr algn="l">
              <a:spcAft>
                <a:spcPts val="600"/>
              </a:spcAft>
            </a:pPr>
            <a:endParaRPr/>
          </a:p>
        </p:txBody>
      </p:sp>
      <p:sp>
        <p:nvSpPr>
          <p:cNvPr id="46" name="Fila 8"/>
          <p:cNvSpPr/>
          <p:nvPr/>
        </p:nvSpPr>
        <p:spPr>
          <a:xfrm>
            <a:off x="1252728" y="5394960"/>
            <a:ext cx="10012680" cy="32918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362456" y="5394960"/>
            <a:ext cx="338328" cy="32918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III</a:t>
            </a:r>
          </a:p>
        </p:txBody>
      </p:sp>
      <p:sp>
        <p:nvSpPr>
          <p:cNvPr id="48" name="TextBox 47"/>
          <p:cNvSpPr txBox="1"/>
          <p:nvPr/>
        </p:nvSpPr>
        <p:spPr>
          <a:xfrm>
            <a:off x="1865376" y="5394960"/>
            <a:ext cx="262432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¿Quién lo mantiene y cómo se vigila?</a:t>
            </a:r>
          </a:p>
        </p:txBody>
      </p:sp>
      <p:sp>
        <p:nvSpPr>
          <p:cNvPr id="49" name="TextBox 48"/>
          <p:cNvSpPr txBox="1"/>
          <p:nvPr/>
        </p:nvSpPr>
        <p:spPr>
          <a:xfrm>
            <a:off x="4654296" y="5394960"/>
            <a:ext cx="3355848" cy="32918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procesos y mantención · deriva de la tela</a:t>
            </a:r>
          </a:p>
        </p:txBody>
      </p:sp>
      <p:sp>
        <p:nvSpPr>
          <p:cNvPr id="50" name="TextBox 49"/>
          <p:cNvSpPr txBox="1"/>
          <p:nvPr/>
        </p:nvSpPr>
        <p:spPr>
          <a:xfrm>
            <a:off x="8174736" y="5394960"/>
            <a:ext cx="3035808" cy="329184"/>
          </a:xfrm>
          <a:prstGeom prst="rect">
            <a:avLst/>
          </a:prstGeom>
          <a:noFill/>
        </p:spPr>
        <p:txBody>
          <a:bodyPr wrap="square" lIns="0" tIns="0" rIns="0" bIns="0" anchor="ctr">
            <a:spAutoFit/>
          </a:bodyPr>
          <a:lstStyle/>
          <a:p>
            <a:pPr algn="l">
              <a:spcAft>
                <a:spcPts val="600"/>
              </a:spcAft>
            </a:pPr>
            <a:endParaRPr/>
          </a:p>
        </p:txBody>
      </p:sp>
      <p:sp>
        <p:nvSpPr>
          <p:cNvPr id="5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Matriz de viabilidad del taller: elaboración propia a partir de los capítulos I, II y III</a:t>
            </a:r>
          </a:p>
        </p:txBody>
      </p:sp>
      <p:sp>
        <p:nvSpPr>
          <p:cNvPr id="5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5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V actual"/>
          <p:cNvSpPr/>
          <p:nvPr/>
        </p:nvSpPr>
        <p:spPr>
          <a:xfrm>
            <a:off x="6876288" y="6510528"/>
            <a:ext cx="16510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25/27 </a:t>
            </a:r>
            <a:r>
              <a:rPr sz="1000" b="0" i="0">
                <a:solidFill>
                  <a:srgbClr val="A9B8C9"/>
                </a:solidFill>
                <a:effectLst>
                  <a:glow rad="63500">
                    <a:srgbClr val="001633">
                      <a:alpha val="85000"/>
                    </a:srgbClr>
                  </a:glow>
                </a:effectLst>
                <a:latin typeface="Montserrat"/>
              </a:rPr>
              <a:t>· Gemelos Digitales para Minería 4.0 · 94</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entregable: un veredicto de viabilidad, con sus razones y su primer paso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TALLER</a:t>
            </a:r>
          </a:p>
        </p:txBody>
      </p:sp>
      <p:sp>
        <p:nvSpPr>
          <p:cNvPr id="6" name="TextBox 5"/>
          <p:cNvSpPr txBox="1"/>
          <p:nvPr/>
        </p:nvSpPr>
        <p:spPr>
          <a:xfrm>
            <a:off x="1252728" y="1828800"/>
            <a:ext cx="95097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matriz no termina en un sí o un no: termina en qué tan viable es, qué falta y por dónde partir. Cada grupo lo presenta en cinco minutos.</a:t>
            </a:r>
          </a:p>
        </p:txBody>
      </p:sp>
      <p:sp>
        <p:nvSpPr>
          <p:cNvPr id="7" name="Paso Elegir"/>
          <p:cNvSpPr/>
          <p:nvPr/>
        </p:nvSpPr>
        <p:spPr>
          <a:xfrm>
            <a:off x="1252728" y="2514600"/>
            <a:ext cx="1737360" cy="1097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17320" y="2606040"/>
            <a:ext cx="548640" cy="548640"/>
          </a:xfrm>
          <a:prstGeom prst="rect">
            <a:avLst/>
          </a:prstGeom>
          <a:noFill/>
        </p:spPr>
        <p:txBody>
          <a:bodyPr wrap="square" lIns="0" tIns="0" rIns="0" bIns="0" anchor="t">
            <a:spAutoFit/>
          </a:bodyPr>
          <a:lstStyle/>
          <a:p>
            <a:pPr algn="l">
              <a:spcAft>
                <a:spcPts val="600"/>
              </a:spcAft>
            </a:pPr>
            <a:r>
              <a:rPr sz="2600" b="1" i="0">
                <a:solidFill>
                  <a:srgbClr val="FFAB40"/>
                </a:solidFill>
                <a:effectLst>
                  <a:glow rad="63500">
                    <a:srgbClr val="001633">
                      <a:alpha val="85000"/>
                    </a:srgbClr>
                  </a:glow>
                </a:effectLst>
                <a:latin typeface="Montserrat"/>
              </a:rPr>
              <a:t>1</a:t>
            </a:r>
          </a:p>
        </p:txBody>
      </p:sp>
      <p:sp>
        <p:nvSpPr>
          <p:cNvPr id="9" name="TextBox 8"/>
          <p:cNvSpPr txBox="1"/>
          <p:nvPr/>
        </p:nvSpPr>
        <p:spPr>
          <a:xfrm>
            <a:off x="1938528" y="2651760"/>
            <a:ext cx="960120" cy="32004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Elegir</a:t>
            </a:r>
          </a:p>
        </p:txBody>
      </p:sp>
      <p:sp>
        <p:nvSpPr>
          <p:cNvPr id="10" name="TextBox 9"/>
          <p:cNvSpPr txBox="1"/>
          <p:nvPr/>
        </p:nvSpPr>
        <p:spPr>
          <a:xfrm>
            <a:off x="1417320" y="3154680"/>
            <a:ext cx="1463040" cy="41148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un proceso de su faena</a:t>
            </a:r>
          </a:p>
        </p:txBody>
      </p:sp>
      <p:cxnSp>
        <p:nvCxnSpPr>
          <p:cNvPr id="11" name="Connector 10"/>
          <p:cNvCxnSpPr/>
          <p:nvPr/>
        </p:nvCxnSpPr>
        <p:spPr>
          <a:xfrm>
            <a:off x="3026664" y="3063240"/>
            <a:ext cx="246888"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Paso Responder"/>
          <p:cNvSpPr/>
          <p:nvPr/>
        </p:nvSpPr>
        <p:spPr>
          <a:xfrm>
            <a:off x="3310128" y="2514600"/>
            <a:ext cx="1737360" cy="1097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474720" y="2606040"/>
            <a:ext cx="548640" cy="548640"/>
          </a:xfrm>
          <a:prstGeom prst="rect">
            <a:avLst/>
          </a:prstGeom>
          <a:noFill/>
        </p:spPr>
        <p:txBody>
          <a:bodyPr wrap="square" lIns="0" tIns="0" rIns="0" bIns="0" anchor="t">
            <a:spAutoFit/>
          </a:bodyPr>
          <a:lstStyle/>
          <a:p>
            <a:pPr algn="l">
              <a:spcAft>
                <a:spcPts val="600"/>
              </a:spcAft>
            </a:pPr>
            <a:r>
              <a:rPr sz="2600" b="1" i="0">
                <a:solidFill>
                  <a:srgbClr val="FFAB40"/>
                </a:solidFill>
                <a:effectLst>
                  <a:glow rad="63500">
                    <a:srgbClr val="001633">
                      <a:alpha val="85000"/>
                    </a:srgbClr>
                  </a:glow>
                </a:effectLst>
                <a:latin typeface="Montserrat"/>
              </a:rPr>
              <a:t>2</a:t>
            </a:r>
          </a:p>
        </p:txBody>
      </p:sp>
      <p:sp>
        <p:nvSpPr>
          <p:cNvPr id="14" name="TextBox 13"/>
          <p:cNvSpPr txBox="1"/>
          <p:nvPr/>
        </p:nvSpPr>
        <p:spPr>
          <a:xfrm>
            <a:off x="3995928" y="2651760"/>
            <a:ext cx="960120" cy="32004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Responder</a:t>
            </a:r>
          </a:p>
        </p:txBody>
      </p:sp>
      <p:sp>
        <p:nvSpPr>
          <p:cNvPr id="15" name="TextBox 14"/>
          <p:cNvSpPr txBox="1"/>
          <p:nvPr/>
        </p:nvSpPr>
        <p:spPr>
          <a:xfrm>
            <a:off x="3474720" y="3154680"/>
            <a:ext cx="1463040" cy="41148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las ocho preguntas de la matriz</a:t>
            </a:r>
          </a:p>
        </p:txBody>
      </p:sp>
      <p:cxnSp>
        <p:nvCxnSpPr>
          <p:cNvPr id="16" name="Connector 15"/>
          <p:cNvCxnSpPr/>
          <p:nvPr/>
        </p:nvCxnSpPr>
        <p:spPr>
          <a:xfrm>
            <a:off x="5084064" y="3063240"/>
            <a:ext cx="246888"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aso Presentar"/>
          <p:cNvSpPr/>
          <p:nvPr/>
        </p:nvSpPr>
        <p:spPr>
          <a:xfrm>
            <a:off x="5367528" y="2514600"/>
            <a:ext cx="1737360" cy="10972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532120" y="2606040"/>
            <a:ext cx="548640" cy="548640"/>
          </a:xfrm>
          <a:prstGeom prst="rect">
            <a:avLst/>
          </a:prstGeom>
          <a:noFill/>
        </p:spPr>
        <p:txBody>
          <a:bodyPr wrap="square" lIns="0" tIns="0" rIns="0" bIns="0" anchor="t">
            <a:spAutoFit/>
          </a:bodyPr>
          <a:lstStyle/>
          <a:p>
            <a:pPr algn="l">
              <a:spcAft>
                <a:spcPts val="600"/>
              </a:spcAft>
            </a:pPr>
            <a:r>
              <a:rPr sz="2600" b="1" i="0">
                <a:solidFill>
                  <a:srgbClr val="FFAB40"/>
                </a:solidFill>
                <a:effectLst>
                  <a:glow rad="63500">
                    <a:srgbClr val="001633">
                      <a:alpha val="85000"/>
                    </a:srgbClr>
                  </a:glow>
                </a:effectLst>
                <a:latin typeface="Montserrat"/>
              </a:rPr>
              <a:t>3</a:t>
            </a:r>
          </a:p>
        </p:txBody>
      </p:sp>
      <p:sp>
        <p:nvSpPr>
          <p:cNvPr id="19" name="TextBox 18"/>
          <p:cNvSpPr txBox="1"/>
          <p:nvPr/>
        </p:nvSpPr>
        <p:spPr>
          <a:xfrm>
            <a:off x="6053328" y="2651760"/>
            <a:ext cx="960120" cy="32004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Presentar</a:t>
            </a:r>
          </a:p>
        </p:txBody>
      </p:sp>
      <p:sp>
        <p:nvSpPr>
          <p:cNvPr id="20" name="TextBox 19"/>
          <p:cNvSpPr txBox="1"/>
          <p:nvPr/>
        </p:nvSpPr>
        <p:spPr>
          <a:xfrm>
            <a:off x="5532120" y="3154680"/>
            <a:ext cx="1463040" cy="41148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veredicto, razones y primer paso</a:t>
            </a:r>
          </a:p>
        </p:txBody>
      </p:sp>
      <p:sp>
        <p:nvSpPr>
          <p:cNvPr id="21" name="Qué presenta"/>
          <p:cNvSpPr/>
          <p:nvPr/>
        </p:nvSpPr>
        <p:spPr>
          <a:xfrm>
            <a:off x="7424928" y="2514600"/>
            <a:ext cx="3840480" cy="1097280"/>
          </a:xfrm>
          <a:prstGeom prst="rect">
            <a:avLst/>
          </a:prstGeom>
          <a:solidFill>
            <a:srgbClr val="0B264A"/>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560320"/>
            <a:ext cx="3511296" cy="228600"/>
          </a:xfrm>
          <a:prstGeom prst="rect">
            <a:avLst/>
          </a:prstGeom>
          <a:noFill/>
        </p:spPr>
        <p:txBody>
          <a:bodyPr wrap="square" lIns="0" tIns="0" rIns="0" bIns="0" anchor="t">
            <a:spAutoFit/>
          </a:bodyPr>
          <a:lstStyle/>
          <a:p>
            <a:pPr algn="l">
              <a:spcAft>
                <a:spcPts val="600"/>
              </a:spcAft>
            </a:pPr>
            <a:r>
              <a:rPr sz="750" b="1" i="0">
                <a:solidFill>
                  <a:srgbClr val="FFAB40"/>
                </a:solidFill>
                <a:effectLst>
                  <a:glow rad="63500">
                    <a:srgbClr val="001633">
                      <a:alpha val="85000"/>
                    </a:srgbClr>
                  </a:glow>
                </a:effectLst>
                <a:latin typeface="Montserrat"/>
              </a:rPr>
              <a:t>UNA LÁMINA POR GRUPO</a:t>
            </a:r>
          </a:p>
        </p:txBody>
      </p:sp>
      <p:pic>
        <p:nvPicPr>
          <p:cNvPr id="23" name="Ícono circle-check" descr="circle-check-cyan.png"/>
          <p:cNvPicPr>
            <a:picLocks noChangeAspect="1"/>
          </p:cNvPicPr>
          <p:nvPr/>
        </p:nvPicPr>
        <p:blipFill>
          <a:blip r:embed="rId3"/>
          <a:stretch>
            <a:fillRect/>
          </a:stretch>
        </p:blipFill>
        <p:spPr>
          <a:xfrm>
            <a:off x="7589520" y="2834640"/>
            <a:ext cx="146304" cy="146304"/>
          </a:xfrm>
          <a:prstGeom prst="rect">
            <a:avLst/>
          </a:prstGeom>
        </p:spPr>
      </p:pic>
      <p:sp>
        <p:nvSpPr>
          <p:cNvPr id="24" name="TextBox 23"/>
          <p:cNvSpPr txBox="1"/>
          <p:nvPr/>
        </p:nvSpPr>
        <p:spPr>
          <a:xfrm>
            <a:off x="7808976" y="2816352"/>
            <a:ext cx="3291840" cy="192024"/>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Proceso y KPI que mueve</a:t>
            </a:r>
          </a:p>
        </p:txBody>
      </p:sp>
      <p:pic>
        <p:nvPicPr>
          <p:cNvPr id="25" name="Ícono circle-check" descr="circle-check-cyan.png"/>
          <p:cNvPicPr>
            <a:picLocks noChangeAspect="1"/>
          </p:cNvPicPr>
          <p:nvPr/>
        </p:nvPicPr>
        <p:blipFill>
          <a:blip r:embed="rId3"/>
          <a:stretch>
            <a:fillRect/>
          </a:stretch>
        </p:blipFill>
        <p:spPr>
          <a:xfrm>
            <a:off x="7589520" y="3026664"/>
            <a:ext cx="146304" cy="146304"/>
          </a:xfrm>
          <a:prstGeom prst="rect">
            <a:avLst/>
          </a:prstGeom>
        </p:spPr>
      </p:pic>
      <p:sp>
        <p:nvSpPr>
          <p:cNvPr id="26" name="TextBox 25"/>
          <p:cNvSpPr txBox="1"/>
          <p:nvPr/>
        </p:nvSpPr>
        <p:spPr>
          <a:xfrm>
            <a:off x="7808976" y="3008376"/>
            <a:ext cx="3291840" cy="192024"/>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Veredicto y sus dos razones</a:t>
            </a:r>
          </a:p>
        </p:txBody>
      </p:sp>
      <p:pic>
        <p:nvPicPr>
          <p:cNvPr id="27" name="Ícono circle-check" descr="circle-check-cyan.png"/>
          <p:cNvPicPr>
            <a:picLocks noChangeAspect="1"/>
          </p:cNvPicPr>
          <p:nvPr/>
        </p:nvPicPr>
        <p:blipFill>
          <a:blip r:embed="rId3"/>
          <a:stretch>
            <a:fillRect/>
          </a:stretch>
        </p:blipFill>
        <p:spPr>
          <a:xfrm>
            <a:off x="7589520" y="3218688"/>
            <a:ext cx="146304" cy="146304"/>
          </a:xfrm>
          <a:prstGeom prst="rect">
            <a:avLst/>
          </a:prstGeom>
        </p:spPr>
      </p:pic>
      <p:sp>
        <p:nvSpPr>
          <p:cNvPr id="28" name="TextBox 27"/>
          <p:cNvSpPr txBox="1"/>
          <p:nvPr/>
        </p:nvSpPr>
        <p:spPr>
          <a:xfrm>
            <a:off x="7808976" y="3200400"/>
            <a:ext cx="3291840" cy="192024"/>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Qué falta: dato, señal o persona</a:t>
            </a:r>
          </a:p>
        </p:txBody>
      </p:sp>
      <p:pic>
        <p:nvPicPr>
          <p:cNvPr id="29" name="Ícono circle-check" descr="circle-check-cyan.png"/>
          <p:cNvPicPr>
            <a:picLocks noChangeAspect="1"/>
          </p:cNvPicPr>
          <p:nvPr/>
        </p:nvPicPr>
        <p:blipFill>
          <a:blip r:embed="rId3"/>
          <a:stretch>
            <a:fillRect/>
          </a:stretch>
        </p:blipFill>
        <p:spPr>
          <a:xfrm>
            <a:off x="7589520" y="3410712"/>
            <a:ext cx="146304" cy="146304"/>
          </a:xfrm>
          <a:prstGeom prst="rect">
            <a:avLst/>
          </a:prstGeom>
        </p:spPr>
      </p:pic>
      <p:sp>
        <p:nvSpPr>
          <p:cNvPr id="30" name="TextBox 29"/>
          <p:cNvSpPr txBox="1"/>
          <p:nvPr/>
        </p:nvSpPr>
        <p:spPr>
          <a:xfrm>
            <a:off x="7808976" y="3392424"/>
            <a:ext cx="3291840" cy="192024"/>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Primer paso concreto</a:t>
            </a:r>
          </a:p>
        </p:txBody>
      </p:sp>
      <p:sp>
        <p:nvSpPr>
          <p:cNvPr id="31" name="TextBox 30"/>
          <p:cNvSpPr txBox="1"/>
          <p:nvPr/>
        </p:nvSpPr>
        <p:spPr>
          <a:xfrm>
            <a:off x="1252728" y="3840480"/>
            <a:ext cx="1001268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EL VEREDICTO, DE MENOS A MÁS VIABLE</a:t>
            </a:r>
          </a:p>
        </p:txBody>
      </p:sp>
      <p:sp>
        <p:nvSpPr>
          <p:cNvPr id="32" name="Escala Todavía no"/>
          <p:cNvSpPr/>
          <p:nvPr/>
        </p:nvSpPr>
        <p:spPr>
          <a:xfrm>
            <a:off x="1252728" y="4114800"/>
            <a:ext cx="3185160" cy="109728"/>
          </a:xfrm>
          <a:prstGeom prst="rect">
            <a:avLst/>
          </a:prstGeom>
          <a:solidFill>
            <a:srgbClr val="A9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3" name="Connector 32"/>
          <p:cNvCxnSpPr/>
          <p:nvPr/>
        </p:nvCxnSpPr>
        <p:spPr>
          <a:xfrm>
            <a:off x="4456176" y="4169663"/>
            <a:ext cx="192024" cy="0"/>
          </a:xfrm>
          <a:prstGeom prst="line">
            <a:avLst/>
          </a:prstGeom>
          <a:ln w="1270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Veredicto Todavía no"/>
          <p:cNvSpPr/>
          <p:nvPr/>
        </p:nvSpPr>
        <p:spPr>
          <a:xfrm>
            <a:off x="1252728" y="4315968"/>
            <a:ext cx="3185160" cy="1417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Ícono circle-x" descr="circle-x-muted.png"/>
          <p:cNvPicPr>
            <a:picLocks noChangeAspect="1"/>
          </p:cNvPicPr>
          <p:nvPr/>
        </p:nvPicPr>
        <p:blipFill>
          <a:blip r:embed="rId4"/>
          <a:stretch>
            <a:fillRect/>
          </a:stretch>
        </p:blipFill>
        <p:spPr>
          <a:xfrm>
            <a:off x="1417320" y="4453128"/>
            <a:ext cx="310896" cy="310896"/>
          </a:xfrm>
          <a:prstGeom prst="rect">
            <a:avLst/>
          </a:prstGeom>
        </p:spPr>
      </p:pic>
      <p:sp>
        <p:nvSpPr>
          <p:cNvPr id="36" name="TextBox 35"/>
          <p:cNvSpPr txBox="1"/>
          <p:nvPr/>
        </p:nvSpPr>
        <p:spPr>
          <a:xfrm>
            <a:off x="1819656" y="4407408"/>
            <a:ext cx="249936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Todavía no</a:t>
            </a:r>
          </a:p>
        </p:txBody>
      </p:sp>
      <p:sp>
        <p:nvSpPr>
          <p:cNvPr id="37" name="TextBox 36"/>
          <p:cNvSpPr txBox="1"/>
          <p:nvPr/>
        </p:nvSpPr>
        <p:spPr>
          <a:xfrm>
            <a:off x="1417320" y="4846320"/>
            <a:ext cx="2855976" cy="41148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Cuándo: </a:t>
            </a:r>
            <a:r>
              <a:rPr sz="900" b="0" i="0">
                <a:solidFill>
                  <a:srgbClr val="A9B8C9"/>
                </a:solidFill>
                <a:effectLst>
                  <a:glow rad="63500">
                    <a:srgbClr val="001633">
                      <a:alpha val="85000"/>
                    </a:srgbClr>
                  </a:glow>
                </a:effectLst>
                <a:latin typeface="Montserrat"/>
              </a:rPr>
              <a:t>ni física conocida ni datos, o nadie que lo use.</a:t>
            </a:r>
          </a:p>
        </p:txBody>
      </p:sp>
      <p:sp>
        <p:nvSpPr>
          <p:cNvPr id="38" name="TextBox 37"/>
          <p:cNvSpPr txBox="1"/>
          <p:nvPr/>
        </p:nvSpPr>
        <p:spPr>
          <a:xfrm>
            <a:off x="1417320" y="5285232"/>
            <a:ext cx="2855976" cy="41148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Primer paso: </a:t>
            </a:r>
            <a:r>
              <a:rPr sz="900" b="0" i="0">
                <a:solidFill>
                  <a:srgbClr val="FFFFFF"/>
                </a:solidFill>
                <a:effectLst>
                  <a:glow rad="63500">
                    <a:srgbClr val="001633">
                      <a:alpha val="85000"/>
                    </a:srgbClr>
                  </a:glow>
                </a:effectLst>
                <a:latin typeface="Montserrat"/>
              </a:rPr>
              <a:t>empezar por medir y volver en un año.</a:t>
            </a:r>
          </a:p>
        </p:txBody>
      </p:sp>
      <p:sp>
        <p:nvSpPr>
          <p:cNvPr id="39" name="Escala Viable con condiciones"/>
          <p:cNvSpPr/>
          <p:nvPr/>
        </p:nvSpPr>
        <p:spPr>
          <a:xfrm>
            <a:off x="4666488" y="4114800"/>
            <a:ext cx="3185160" cy="1097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40" name="Connector 39"/>
          <p:cNvCxnSpPr/>
          <p:nvPr/>
        </p:nvCxnSpPr>
        <p:spPr>
          <a:xfrm>
            <a:off x="7869936" y="4169663"/>
            <a:ext cx="192024" cy="0"/>
          </a:xfrm>
          <a:prstGeom prst="line">
            <a:avLst/>
          </a:prstGeom>
          <a:ln w="1270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Veredicto Viable con condiciones"/>
          <p:cNvSpPr/>
          <p:nvPr/>
        </p:nvSpPr>
        <p:spPr>
          <a:xfrm>
            <a:off x="4666488" y="4315968"/>
            <a:ext cx="3185160" cy="1417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Ícono triangle-alert" descr="triangle-alert-orange.png"/>
          <p:cNvPicPr>
            <a:picLocks noChangeAspect="1"/>
          </p:cNvPicPr>
          <p:nvPr/>
        </p:nvPicPr>
        <p:blipFill>
          <a:blip r:embed="rId5"/>
          <a:stretch>
            <a:fillRect/>
          </a:stretch>
        </p:blipFill>
        <p:spPr>
          <a:xfrm>
            <a:off x="4831080" y="4453128"/>
            <a:ext cx="310896" cy="310896"/>
          </a:xfrm>
          <a:prstGeom prst="rect">
            <a:avLst/>
          </a:prstGeom>
        </p:spPr>
      </p:pic>
      <p:sp>
        <p:nvSpPr>
          <p:cNvPr id="43" name="TextBox 42"/>
          <p:cNvSpPr txBox="1"/>
          <p:nvPr/>
        </p:nvSpPr>
        <p:spPr>
          <a:xfrm>
            <a:off x="5233416" y="4407408"/>
            <a:ext cx="249936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Viable con condiciones</a:t>
            </a:r>
          </a:p>
        </p:txBody>
      </p:sp>
      <p:sp>
        <p:nvSpPr>
          <p:cNvPr id="44" name="TextBox 43"/>
          <p:cNvSpPr txBox="1"/>
          <p:nvPr/>
        </p:nvSpPr>
        <p:spPr>
          <a:xfrm>
            <a:off x="4831080" y="4846320"/>
            <a:ext cx="2855976" cy="41148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Cuándo: </a:t>
            </a:r>
            <a:r>
              <a:rPr sz="900" b="0" i="0">
                <a:solidFill>
                  <a:srgbClr val="A9B8C9"/>
                </a:solidFill>
                <a:effectLst>
                  <a:glow rad="63500">
                    <a:srgbClr val="001633">
                      <a:alpha val="85000"/>
                    </a:srgbClr>
                  </a:glow>
                </a:effectLst>
                <a:latin typeface="Montserrat"/>
              </a:rPr>
              <a:t>falta una señal, un dato o un responsable.</a:t>
            </a:r>
          </a:p>
        </p:txBody>
      </p:sp>
      <p:sp>
        <p:nvSpPr>
          <p:cNvPr id="45" name="TextBox 44"/>
          <p:cNvSpPr txBox="1"/>
          <p:nvPr/>
        </p:nvSpPr>
        <p:spPr>
          <a:xfrm>
            <a:off x="4831080" y="5285232"/>
            <a:ext cx="2855976"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Primer paso: </a:t>
            </a:r>
            <a:r>
              <a:rPr sz="900" b="0" i="0">
                <a:solidFill>
                  <a:srgbClr val="FFFFFF"/>
                </a:solidFill>
                <a:effectLst>
                  <a:glow rad="63500">
                    <a:srgbClr val="001633">
                      <a:alpha val="85000"/>
                    </a:srgbClr>
                  </a:glow>
                </a:effectLst>
                <a:latin typeface="Montserrat"/>
              </a:rPr>
              <a:t>conseguir eso primero; después, la sombra.</a:t>
            </a:r>
          </a:p>
        </p:txBody>
      </p:sp>
      <p:sp>
        <p:nvSpPr>
          <p:cNvPr id="46" name="Escala Viable"/>
          <p:cNvSpPr/>
          <p:nvPr/>
        </p:nvSpPr>
        <p:spPr>
          <a:xfrm>
            <a:off x="8080248" y="4114800"/>
            <a:ext cx="3185160" cy="10972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Veredicto Viable"/>
          <p:cNvSpPr/>
          <p:nvPr/>
        </p:nvSpPr>
        <p:spPr>
          <a:xfrm>
            <a:off x="8080248" y="4315968"/>
            <a:ext cx="3185160" cy="1417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8" name="Ícono circle-check" descr="circle-check-cyan.png"/>
          <p:cNvPicPr>
            <a:picLocks noChangeAspect="1"/>
          </p:cNvPicPr>
          <p:nvPr/>
        </p:nvPicPr>
        <p:blipFill>
          <a:blip r:embed="rId3"/>
          <a:stretch>
            <a:fillRect/>
          </a:stretch>
        </p:blipFill>
        <p:spPr>
          <a:xfrm>
            <a:off x="8244840" y="4453128"/>
            <a:ext cx="310896" cy="310896"/>
          </a:xfrm>
          <a:prstGeom prst="rect">
            <a:avLst/>
          </a:prstGeom>
        </p:spPr>
      </p:pic>
      <p:sp>
        <p:nvSpPr>
          <p:cNvPr id="49" name="TextBox 48"/>
          <p:cNvSpPr txBox="1"/>
          <p:nvPr/>
        </p:nvSpPr>
        <p:spPr>
          <a:xfrm>
            <a:off x="8647176" y="4407408"/>
            <a:ext cx="249936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Viable</a:t>
            </a:r>
          </a:p>
        </p:txBody>
      </p:sp>
      <p:sp>
        <p:nvSpPr>
          <p:cNvPr id="50" name="TextBox 49"/>
          <p:cNvSpPr txBox="1"/>
          <p:nvPr/>
        </p:nvSpPr>
        <p:spPr>
          <a:xfrm>
            <a:off x="8244840" y="4846320"/>
            <a:ext cx="2855976" cy="41148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Cuándo: </a:t>
            </a:r>
            <a:r>
              <a:rPr sz="900" b="0" i="0">
                <a:solidFill>
                  <a:srgbClr val="A9B8C9"/>
                </a:solidFill>
                <a:effectLst>
                  <a:glow rad="63500">
                    <a:srgbClr val="001633">
                      <a:alpha val="85000"/>
                    </a:srgbClr>
                  </a:glow>
                </a:effectLst>
                <a:latin typeface="Montserrat"/>
              </a:rPr>
              <a:t>la física o los datos alcanzan, las señales existen y hay un dueño.</a:t>
            </a:r>
          </a:p>
        </p:txBody>
      </p:sp>
      <p:sp>
        <p:nvSpPr>
          <p:cNvPr id="51" name="TextBox 50"/>
          <p:cNvSpPr txBox="1"/>
          <p:nvPr/>
        </p:nvSpPr>
        <p:spPr>
          <a:xfrm>
            <a:off x="8244840" y="5285232"/>
            <a:ext cx="2855976" cy="411480"/>
          </a:xfrm>
          <a:prstGeom prst="rect">
            <a:avLst/>
          </a:prstGeom>
          <a:noFill/>
        </p:spPr>
        <p:txBody>
          <a:bodyPr wrap="square" lIns="0" tIns="0" rIns="0" bIns="0" anchor="t">
            <a:spAutoFit/>
          </a:bodyPr>
          <a:lstStyle/>
          <a:p>
            <a:pPr algn="l">
              <a:spcAft>
                <a:spcPts val="600"/>
              </a:spcAft>
            </a:pPr>
            <a:r>
              <a:rPr sz="900" b="1" i="0">
                <a:solidFill>
                  <a:srgbClr val="85D5E6"/>
                </a:solidFill>
                <a:effectLst>
                  <a:glow rad="63500">
                    <a:srgbClr val="001633">
                      <a:alpha val="85000"/>
                    </a:srgbClr>
                  </a:glow>
                </a:effectLst>
                <a:latin typeface="Montserrat"/>
              </a:rPr>
              <a:t>Primer paso: </a:t>
            </a:r>
            <a:r>
              <a:rPr sz="900" b="0" i="0">
                <a:solidFill>
                  <a:srgbClr val="FFFFFF"/>
                </a:solidFill>
                <a:effectLst>
                  <a:glow rad="63500">
                    <a:srgbClr val="001633">
                      <a:alpha val="85000"/>
                    </a:srgbClr>
                  </a:glow>
                </a:effectLst>
                <a:latin typeface="Montserrat"/>
              </a:rPr>
              <a:t>partir por una sombra en un equipo.</a:t>
            </a:r>
          </a:p>
        </p:txBody>
      </p:sp>
      <p:sp>
        <p:nvSpPr>
          <p:cNvPr id="5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Formato del taller: elaboración propia</a:t>
            </a:r>
          </a:p>
        </p:txBody>
      </p:sp>
      <p:sp>
        <p:nvSpPr>
          <p:cNvPr id="5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6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6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V actual"/>
          <p:cNvSpPr/>
          <p:nvPr/>
        </p:nvSpPr>
        <p:spPr>
          <a:xfrm>
            <a:off x="6876288" y="6510528"/>
            <a:ext cx="17170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26/27 </a:t>
            </a:r>
            <a:r>
              <a:rPr sz="1000" b="0" i="0">
                <a:solidFill>
                  <a:srgbClr val="A9B8C9"/>
                </a:solidFill>
                <a:effectLst>
                  <a:glow rad="63500">
                    <a:srgbClr val="001633">
                      <a:alpha val="85000"/>
                    </a:srgbClr>
                  </a:glow>
                </a:effectLst>
                <a:latin typeface="Montserrat"/>
              </a:rPr>
              <a:t>· Gemelos Digitales para Minería 4.0 · 95</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ideas para llevarse del curso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IV · CASO PRÁCTICO — CIERRE DEL CURSO</a:t>
            </a:r>
          </a:p>
        </p:txBody>
      </p:sp>
      <p:sp>
        <p:nvSpPr>
          <p:cNvPr id="6" name="Idea 1"/>
          <p:cNvSpPr/>
          <p:nvPr/>
        </p:nvSpPr>
        <p:spPr>
          <a:xfrm>
            <a:off x="125272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Idea 1 borde"/>
          <p:cNvSpPr/>
          <p:nvPr/>
        </p:nvSpPr>
        <p:spPr>
          <a:xfrm>
            <a:off x="125272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8132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1</a:t>
            </a:r>
          </a:p>
        </p:txBody>
      </p:sp>
      <p:pic>
        <p:nvPicPr>
          <p:cNvPr id="9" name="Ícono compass" descr="compass-orange.png"/>
          <p:cNvPicPr>
            <a:picLocks noChangeAspect="1"/>
          </p:cNvPicPr>
          <p:nvPr/>
        </p:nvPicPr>
        <p:blipFill>
          <a:blip r:embed="rId3"/>
          <a:stretch>
            <a:fillRect/>
          </a:stretch>
        </p:blipFill>
        <p:spPr>
          <a:xfrm>
            <a:off x="3782568" y="2468880"/>
            <a:ext cx="365760" cy="365760"/>
          </a:xfrm>
          <a:prstGeom prst="rect">
            <a:avLst/>
          </a:prstGeom>
        </p:spPr>
      </p:pic>
      <p:sp>
        <p:nvSpPr>
          <p:cNvPr id="10" name="TextBox 9"/>
          <p:cNvSpPr txBox="1"/>
          <p:nvPr/>
        </p:nvSpPr>
        <p:spPr>
          <a:xfrm>
            <a:off x="148132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CLASIFICAR</a:t>
            </a:r>
          </a:p>
        </p:txBody>
      </p:sp>
      <p:sp>
        <p:nvSpPr>
          <p:cNvPr id="11" name="TextBox 10"/>
          <p:cNvSpPr txBox="1"/>
          <p:nvPr/>
        </p:nvSpPr>
        <p:spPr>
          <a:xfrm>
            <a:off x="1481328" y="3337560"/>
            <a:ext cx="2667000" cy="11887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Un gemelo se define por su grado y su lugar en el cubo, no por su nombre comercial.</a:t>
            </a:r>
          </a:p>
          <a:p>
            <a:pPr algn="l">
              <a:spcAft>
                <a:spcPts val="400"/>
              </a:spcAft>
            </a:pPr>
            <a:r>
              <a:rPr sz="1000" b="0" i="0">
                <a:solidFill>
                  <a:srgbClr val="A9B8C9"/>
                </a:solidFill>
                <a:effectLst>
                  <a:glow rad="63500">
                    <a:srgbClr val="001633">
                      <a:alpha val="85000"/>
                    </a:srgbClr>
                  </a:glow>
                </a:effectLst>
                <a:latin typeface="Montserrat"/>
              </a:rPr>
              <a:t>Modelo, sombra o gemelo: el grado se gana con evidencia.</a:t>
            </a:r>
          </a:p>
        </p:txBody>
      </p:sp>
      <p:sp>
        <p:nvSpPr>
          <p:cNvPr id="12" name="Idea 2"/>
          <p:cNvSpPr/>
          <p:nvPr/>
        </p:nvSpPr>
        <p:spPr>
          <a:xfrm>
            <a:off x="469696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Idea 2 borde"/>
          <p:cNvSpPr/>
          <p:nvPr/>
        </p:nvSpPr>
        <p:spPr>
          <a:xfrm>
            <a:off x="469696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92556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2</a:t>
            </a:r>
          </a:p>
        </p:txBody>
      </p:sp>
      <p:pic>
        <p:nvPicPr>
          <p:cNvPr id="15" name="Ícono brain-circuit" descr="brain-circuit-orange.png"/>
          <p:cNvPicPr>
            <a:picLocks noChangeAspect="1"/>
          </p:cNvPicPr>
          <p:nvPr/>
        </p:nvPicPr>
        <p:blipFill>
          <a:blip r:embed="rId4"/>
          <a:stretch>
            <a:fillRect/>
          </a:stretch>
        </p:blipFill>
        <p:spPr>
          <a:xfrm>
            <a:off x="7226808" y="2468880"/>
            <a:ext cx="365760" cy="365760"/>
          </a:xfrm>
          <a:prstGeom prst="rect">
            <a:avLst/>
          </a:prstGeom>
        </p:spPr>
      </p:pic>
      <p:sp>
        <p:nvSpPr>
          <p:cNvPr id="16" name="TextBox 15"/>
          <p:cNvSpPr txBox="1"/>
          <p:nvPr/>
        </p:nvSpPr>
        <p:spPr>
          <a:xfrm>
            <a:off x="492556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CONSTRUIR</a:t>
            </a:r>
          </a:p>
        </p:txBody>
      </p:sp>
      <p:sp>
        <p:nvSpPr>
          <p:cNvPr id="17" name="TextBox 16"/>
          <p:cNvSpPr txBox="1"/>
          <p:nvPr/>
        </p:nvSpPr>
        <p:spPr>
          <a:xfrm>
            <a:off x="4925568" y="3337560"/>
            <a:ext cx="2667000" cy="11887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Seis decisiones, cada una justificada por la decisión de operación que apoya.</a:t>
            </a:r>
          </a:p>
          <a:p>
            <a:pPr algn="l">
              <a:spcAft>
                <a:spcPts val="400"/>
              </a:spcAft>
            </a:pPr>
            <a:r>
              <a:rPr sz="1000" b="0" i="0">
                <a:solidFill>
                  <a:srgbClr val="A9B8C9"/>
                </a:solidFill>
                <a:effectLst>
                  <a:glow rad="63500">
                    <a:srgbClr val="001633">
                      <a:alpha val="85000"/>
                    </a:srgbClr>
                  </a:glow>
                </a:effectLst>
                <a:latin typeface="Montserrat"/>
              </a:rPr>
              <a:t>Verificar los balances antes de creer en las salidas.</a:t>
            </a:r>
          </a:p>
        </p:txBody>
      </p:sp>
      <p:sp>
        <p:nvSpPr>
          <p:cNvPr id="18" name="Idea 3"/>
          <p:cNvSpPr/>
          <p:nvPr/>
        </p:nvSpPr>
        <p:spPr>
          <a:xfrm>
            <a:off x="814120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dea 3 borde"/>
          <p:cNvSpPr/>
          <p:nvPr/>
        </p:nvSpPr>
        <p:spPr>
          <a:xfrm>
            <a:off x="814120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6980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3</a:t>
            </a:r>
          </a:p>
        </p:txBody>
      </p:sp>
      <p:pic>
        <p:nvPicPr>
          <p:cNvPr id="21" name="Ícono refresh-cw" descr="refresh-cw-orange.png"/>
          <p:cNvPicPr>
            <a:picLocks noChangeAspect="1"/>
          </p:cNvPicPr>
          <p:nvPr/>
        </p:nvPicPr>
        <p:blipFill>
          <a:blip r:embed="rId5"/>
          <a:stretch>
            <a:fillRect/>
          </a:stretch>
        </p:blipFill>
        <p:spPr>
          <a:xfrm>
            <a:off x="10671048" y="2468880"/>
            <a:ext cx="365760" cy="365760"/>
          </a:xfrm>
          <a:prstGeom prst="rect">
            <a:avLst/>
          </a:prstGeom>
        </p:spPr>
      </p:pic>
      <p:sp>
        <p:nvSpPr>
          <p:cNvPr id="22" name="TextBox 21"/>
          <p:cNvSpPr txBox="1"/>
          <p:nvPr/>
        </p:nvSpPr>
        <p:spPr>
          <a:xfrm>
            <a:off x="836980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OPERAR</a:t>
            </a:r>
          </a:p>
        </p:txBody>
      </p:sp>
      <p:sp>
        <p:nvSpPr>
          <p:cNvPr id="23" name="TextBox 22"/>
          <p:cNvSpPr txBox="1"/>
          <p:nvPr/>
        </p:nvSpPr>
        <p:spPr>
          <a:xfrm>
            <a:off x="8369808" y="3337560"/>
            <a:ext cx="2667000" cy="11887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El contrato de la FMU es lo que permite moverla de la ingeniería a la planta.</a:t>
            </a:r>
          </a:p>
          <a:p>
            <a:pPr algn="l">
              <a:spcAft>
                <a:spcPts val="400"/>
              </a:spcAft>
            </a:pPr>
            <a:r>
              <a:rPr sz="1000" b="0" i="0">
                <a:solidFill>
                  <a:srgbClr val="A9B8C9"/>
                </a:solidFill>
                <a:effectLst>
                  <a:glow rad="63500">
                    <a:srgbClr val="001633">
                      <a:alpha val="85000"/>
                    </a:srgbClr>
                  </a:glow>
                </a:effectLst>
                <a:latin typeface="Montserrat"/>
              </a:rPr>
              <a:t>Un gemelo sin dueño ni monitoreo vuelve a ser una demo.</a:t>
            </a:r>
          </a:p>
        </p:txBody>
      </p:sp>
      <p:sp>
        <p:nvSpPr>
          <p:cNvPr id="24" name="Hoja de ruta"/>
          <p:cNvSpPr/>
          <p:nvPr/>
        </p:nvSpPr>
        <p:spPr>
          <a:xfrm>
            <a:off x="1252728" y="4754880"/>
            <a:ext cx="10012680" cy="7315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Hoja de ruta"/>
          <p:cNvSpPr/>
          <p:nvPr/>
        </p:nvSpPr>
        <p:spPr>
          <a:xfrm>
            <a:off x="1435608" y="4864608"/>
            <a:ext cx="512064" cy="51206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route" descr="route-navy.png"/>
          <p:cNvPicPr>
            <a:picLocks noChangeAspect="1"/>
          </p:cNvPicPr>
          <p:nvPr/>
        </p:nvPicPr>
        <p:blipFill>
          <a:blip r:embed="rId6"/>
          <a:stretch>
            <a:fillRect/>
          </a:stretch>
        </p:blipFill>
        <p:spPr>
          <a:xfrm>
            <a:off x="1548262" y="4977262"/>
            <a:ext cx="286755" cy="286755"/>
          </a:xfrm>
          <a:prstGeom prst="rect">
            <a:avLst/>
          </a:prstGeom>
        </p:spPr>
      </p:pic>
      <p:sp>
        <p:nvSpPr>
          <p:cNvPr id="27" name="TextBox 26"/>
          <p:cNvSpPr txBox="1"/>
          <p:nvPr/>
        </p:nvSpPr>
        <p:spPr>
          <a:xfrm>
            <a:off x="2121408" y="4754880"/>
            <a:ext cx="9006840" cy="731520"/>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Hoja de ruta   </a:t>
            </a:r>
            <a:r>
              <a:rPr sz="1300" b="0" i="0">
                <a:solidFill>
                  <a:srgbClr val="FFFFFF"/>
                </a:solidFill>
                <a:effectLst>
                  <a:glow rad="63500">
                    <a:srgbClr val="001633">
                      <a:alpha val="85000"/>
                    </a:srgbClr>
                  </a:glow>
                </a:effectLst>
                <a:latin typeface="Montserrat"/>
              </a:rPr>
              <a:t>lleven la matriz del taller a su faena y elijan el primer equipo.</a:t>
            </a:r>
          </a:p>
        </p:txBody>
      </p:sp>
      <p:sp>
        <p:nvSpPr>
          <p:cNvPr id="28"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Resumen del curso</a:t>
            </a:r>
          </a:p>
        </p:txBody>
      </p:sp>
      <p:sp>
        <p:nvSpPr>
          <p:cNvPr id="2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III · Construcción</a:t>
            </a:r>
          </a:p>
        </p:txBody>
      </p:sp>
      <p:sp>
        <p:nvSpPr>
          <p:cNvPr id="36"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I completo"/>
          <p:cNvSpPr/>
          <p:nvPr/>
        </p:nvSpPr>
        <p:spPr>
          <a:xfrm>
            <a:off x="500176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IV · Caso práctico</a:t>
            </a:r>
          </a:p>
        </p:txBody>
      </p:sp>
      <p:sp>
        <p:nvSpPr>
          <p:cNvPr id="3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actual"/>
          <p:cNvSpPr/>
          <p:nvPr/>
        </p:nvSpPr>
        <p:spPr>
          <a:xfrm>
            <a:off x="6876288" y="6510528"/>
            <a:ext cx="17830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27/27 </a:t>
            </a:r>
            <a:r>
              <a:rPr sz="1000" b="0" i="0">
                <a:solidFill>
                  <a:srgbClr val="A9B8C9"/>
                </a:solidFill>
                <a:effectLst>
                  <a:glow rad="63500">
                    <a:srgbClr val="001633">
                      <a:alpha val="85000"/>
                    </a:srgbClr>
                  </a:glow>
                </a:effectLst>
                <a:latin typeface="Montserrat"/>
              </a:rPr>
              <a:t>· Gemelos Digitales para Minería 4.0 · 96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(1/3)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a:t>
            </a:r>
          </a:p>
        </p:txBody>
      </p:sp>
      <p:sp>
        <p:nvSpPr>
          <p:cNvPr id="8" name="Tipo Industria"/>
          <p:cNvSpPr/>
          <p:nvPr/>
        </p:nvSpPr>
        <p:spPr>
          <a:xfrm>
            <a:off x="1252728" y="20299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(2026, 26 de agosto). Inside the $1.3B digital twin market: Why no vendor owns the full stack. IoT Analytics.</a:t>
            </a:r>
          </a:p>
          <a:p>
            <a:pPr algn="l">
              <a:spcAft>
                <a:spcPts val="100"/>
              </a:spcAft>
            </a:pPr>
            <a:r>
              <a:rPr sz="700" b="0" i="0">
                <a:solidFill>
                  <a:srgbClr val="A9B8C9"/>
                </a:solidFill>
                <a:effectLst>
                  <a:glow rad="63500">
                    <a:srgbClr val="001633">
                      <a:alpha val="85000"/>
                    </a:srgbClr>
                  </a:glow>
                </a:effectLst>
                <a:latin typeface="Montserrat"/>
              </a:rPr>
              <a:t>https://iot-analytics.com/why-no-vendor-owns-the-full-digital-twin-tech-stack/</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a:t>
            </a:r>
          </a:p>
        </p:txBody>
      </p:sp>
      <p:sp>
        <p:nvSpPr>
          <p:cNvPr id="13" name="Tipo Académica"/>
          <p:cNvSpPr/>
          <p:nvPr/>
        </p:nvSpPr>
        <p:spPr>
          <a:xfrm>
            <a:off x="125272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Kritzinger, W., Karner, M., Traar, G., Henjes, J. y Sihn, W. (2018). Digital Twin in manufacturing: A categorical literature review and classification. IFAC-PapersOnLine, 51(11), 1016–1022.</a:t>
            </a:r>
          </a:p>
          <a:p>
            <a:pPr algn="l">
              <a:spcAft>
                <a:spcPts val="100"/>
              </a:spcAft>
            </a:pPr>
            <a:r>
              <a:rPr sz="700" b="0" i="0">
                <a:solidFill>
                  <a:srgbClr val="A9B8C9"/>
                </a:solidFill>
                <a:effectLst>
                  <a:glow rad="63500">
                    <a:srgbClr val="001633">
                      <a:alpha val="85000"/>
                    </a:srgbClr>
                  </a:glow>
                </a:effectLst>
                <a:latin typeface="Montserrat"/>
              </a:rPr>
              <a:t>https://doi.org/10.1016/j.ifacol.2018.08.474</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[3]</a:t>
            </a:r>
          </a:p>
        </p:txBody>
      </p:sp>
      <p:sp>
        <p:nvSpPr>
          <p:cNvPr id="18" name="Tipo Proveedor"/>
          <p:cNvSpPr/>
          <p:nvPr/>
        </p:nvSpPr>
        <p:spPr>
          <a:xfrm>
            <a:off x="1252728" y="32491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Davies, L. (2026, 6 de marzo). Digital twins drive proactive tailings monitoring. Engineering News. Contenido patrocinado por Dassault Systèmes.</a:t>
            </a:r>
          </a:p>
          <a:p>
            <a:pPr algn="l">
              <a:spcAft>
                <a:spcPts val="100"/>
              </a:spcAft>
            </a:pPr>
            <a:r>
              <a:rPr sz="700" b="0" i="0">
                <a:solidFill>
                  <a:srgbClr val="A9B8C9"/>
                </a:solidFill>
                <a:effectLst>
                  <a:glow rad="63500">
                    <a:srgbClr val="001633">
                      <a:alpha val="85000"/>
                    </a:srgbClr>
                  </a:glow>
                </a:effectLst>
                <a:latin typeface="Montserrat"/>
              </a:rPr>
              <a:t>https://www.engineeringnews.co.za/article/digital-twins-drive-proactive-tailings-monitoring-2026-03-06</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[4]</a:t>
            </a:r>
          </a:p>
        </p:txBody>
      </p:sp>
      <p:sp>
        <p:nvSpPr>
          <p:cNvPr id="23" name="Tipo Industria"/>
          <p:cNvSpPr/>
          <p:nvPr/>
        </p:nvSpPr>
        <p:spPr>
          <a:xfrm>
            <a:off x="1252728" y="38587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(2020, 29 de abril). How the world's 250 Digital Twins compare? Same, same but different. IoT Analytics.</a:t>
            </a:r>
          </a:p>
          <a:p>
            <a:pPr algn="l">
              <a:spcAft>
                <a:spcPts val="100"/>
              </a:spcAft>
            </a:pPr>
            <a:r>
              <a:rPr sz="700" b="0" i="0">
                <a:solidFill>
                  <a:srgbClr val="A9B8C9"/>
                </a:solidFill>
                <a:effectLst>
                  <a:glow rad="63500">
                    <a:srgbClr val="001633">
                      <a:alpha val="85000"/>
                    </a:srgbClr>
                  </a:glow>
                </a:effectLst>
                <a:latin typeface="Montserrat"/>
              </a:rPr>
              <a:t>https://iot-analytics.com/how-the-worlds-250-digital-twins-compare/</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[5]</a:t>
            </a:r>
          </a:p>
        </p:txBody>
      </p:sp>
      <p:sp>
        <p:nvSpPr>
          <p:cNvPr id="28" name="Tipo Industria"/>
          <p:cNvSpPr/>
          <p:nvPr/>
        </p:nvSpPr>
        <p:spPr>
          <a:xfrm>
            <a:off x="125272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Digital Twin Consortium (2022). Digital Twin Capabilities Periodic Table: A Digital Twin Consortium User Guide.</a:t>
            </a:r>
          </a:p>
          <a:p>
            <a:pPr algn="l">
              <a:spcAft>
                <a:spcPts val="100"/>
              </a:spcAft>
            </a:pPr>
            <a:r>
              <a:rPr sz="700" b="0" i="0">
                <a:solidFill>
                  <a:srgbClr val="A9B8C9"/>
                </a:solidFill>
                <a:effectLst>
                  <a:glow rad="63500">
                    <a:srgbClr val="001633">
                      <a:alpha val="85000"/>
                    </a:srgbClr>
                  </a:glow>
                </a:effectLst>
                <a:latin typeface="Montserrat"/>
              </a:rPr>
              <a:t>https://media.digitaltwinconsortium.org/wp-content/uploads/2022/06/Digital-Twin-Capabilities-Periodic-Table-User-Guide.pdf</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[6]</a:t>
            </a:r>
          </a:p>
        </p:txBody>
      </p:sp>
      <p:sp>
        <p:nvSpPr>
          <p:cNvPr id="33" name="Tipo Académica"/>
          <p:cNvSpPr/>
          <p:nvPr/>
        </p:nvSpPr>
        <p:spPr>
          <a:xfrm>
            <a:off x="1252728" y="5077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National Academies of Sciences, Engineering, and Medicine (2024). Foundational Research Gaps and Future Directions for Digital Twins. The National Academies Press.</a:t>
            </a:r>
          </a:p>
          <a:p>
            <a:pPr algn="l">
              <a:spcAft>
                <a:spcPts val="100"/>
              </a:spcAft>
            </a:pPr>
            <a:r>
              <a:rPr sz="700" b="0" i="0">
                <a:solidFill>
                  <a:srgbClr val="A9B8C9"/>
                </a:solidFill>
                <a:effectLst>
                  <a:glow rad="63500">
                    <a:srgbClr val="001633">
                      <a:alpha val="85000"/>
                    </a:srgbClr>
                  </a:glow>
                </a:effectLst>
                <a:latin typeface="Montserrat"/>
              </a:rPr>
              <a:t>https://doi.org/10.17226/26894</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[7]</a:t>
            </a:r>
          </a:p>
        </p:txBody>
      </p:sp>
      <p:sp>
        <p:nvSpPr>
          <p:cNvPr id="38" name="Tipo Académica"/>
          <p:cNvSpPr/>
          <p:nvPr/>
        </p:nvSpPr>
        <p:spPr>
          <a:xfrm>
            <a:off x="644194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Tao, F., Zhang, H., Liu, A. y Nee, A. Y. C. (2019). Digital Twin in Industry: State-of-the-Art. IEEE Transactions on Industrial Informatics, 15(4).</a:t>
            </a:r>
          </a:p>
          <a:p>
            <a:pPr algn="l">
              <a:spcAft>
                <a:spcPts val="100"/>
              </a:spcAft>
            </a:pPr>
            <a:r>
              <a:rPr sz="700" b="0" i="0">
                <a:solidFill>
                  <a:srgbClr val="A9B8C9"/>
                </a:solidFill>
                <a:effectLst>
                  <a:glow rad="63500">
                    <a:srgbClr val="001633">
                      <a:alpha val="85000"/>
                    </a:srgbClr>
                  </a:glow>
                </a:effectLst>
                <a:latin typeface="Montserrat"/>
              </a:rPr>
              <a:t>https://doi.org/10.1109/TII.2018.2873186</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[8]</a:t>
            </a:r>
          </a:p>
        </p:txBody>
      </p:sp>
      <p:sp>
        <p:nvSpPr>
          <p:cNvPr id="43" name="Tipo Académica"/>
          <p:cNvSpPr/>
          <p:nvPr/>
        </p:nvSpPr>
        <p:spPr>
          <a:xfrm>
            <a:off x="644194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Taylor, J., Clark, J. M., Levy, I., Horne, P., Smith, M. y Passmore, M. (2019). BHP Olympic Dam's transformation to live implicit modelling and innovative solutions to working in data dense environments. 11th International Mining Geology Conference, AusIMM.</a:t>
            </a:r>
          </a:p>
          <a:p>
            <a:pPr algn="l">
              <a:spcAft>
                <a:spcPts val="100"/>
              </a:spcAft>
            </a:pPr>
            <a:r>
              <a:rPr sz="700" b="0" i="0">
                <a:solidFill>
                  <a:srgbClr val="A9B8C9"/>
                </a:solidFill>
                <a:effectLst>
                  <a:glow rad="63500">
                    <a:srgbClr val="001633">
                      <a:alpha val="85000"/>
                    </a:srgbClr>
                  </a:glow>
                </a:effectLst>
                <a:latin typeface="Montserrat"/>
              </a:rPr>
              <a:t>https://www.ausimm.com/publications/conference-proceedings/11th-international-mining-geology-conference-2019/bhp-olympic-dams-transformation-to-live-implicit-modelling-and-innovative-solutions-to-working-in-data-dense-environments/</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[9]</a:t>
            </a:r>
          </a:p>
        </p:txBody>
      </p:sp>
      <p:sp>
        <p:nvSpPr>
          <p:cNvPr id="48" name="Tipo Académica"/>
          <p:cNvSpPr/>
          <p:nvPr/>
        </p:nvSpPr>
        <p:spPr>
          <a:xfrm>
            <a:off x="6441948" y="32491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Zamani, V., Badiozamani, M. M. y Askari-Nasab, H. (2025). An Ore-to-Barrel Digital Twin: Simulating Fleet and Plant Development in Oil Sands Mining Operations. Mining Optimization Laboratory, University of Alberta.</a:t>
            </a:r>
          </a:p>
          <a:p>
            <a:pPr algn="l">
              <a:spcAft>
                <a:spcPts val="100"/>
              </a:spcAft>
            </a:pPr>
            <a:r>
              <a:rPr sz="700" b="0" i="0">
                <a:solidFill>
                  <a:srgbClr val="A9B8C9"/>
                </a:solidFill>
                <a:effectLst>
                  <a:glow rad="63500">
                    <a:srgbClr val="001633">
                      <a:alpha val="85000"/>
                    </a:srgbClr>
                  </a:glow>
                </a:effectLst>
                <a:latin typeface="Montserrat"/>
              </a:rPr>
              <a:t>https://sites.ualberta.ca/MOL/DataFiles/2025_Papers/303_Zamani.pdf</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[10]</a:t>
            </a:r>
          </a:p>
        </p:txBody>
      </p:sp>
      <p:sp>
        <p:nvSpPr>
          <p:cNvPr id="53" name="Tipo Prensa"/>
          <p:cNvSpPr/>
          <p:nvPr/>
        </p:nvSpPr>
        <p:spPr>
          <a:xfrm>
            <a:off x="6441948" y="38587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Mining Digital (2024, 31 de enero). ABB &amp; Boliden use digital twins to optimise mining processes.</a:t>
            </a:r>
          </a:p>
          <a:p>
            <a:pPr algn="l">
              <a:spcAft>
                <a:spcPts val="100"/>
              </a:spcAft>
            </a:pPr>
            <a:r>
              <a:rPr sz="700" b="0" i="0">
                <a:solidFill>
                  <a:srgbClr val="A9B8C9"/>
                </a:solidFill>
                <a:effectLst>
                  <a:glow rad="63500">
                    <a:srgbClr val="001633">
                      <a:alpha val="85000"/>
                    </a:srgbClr>
                  </a:glow>
                </a:effectLst>
                <a:latin typeface="Montserrat"/>
              </a:rPr>
              <a:t>https://miningdigital.com/articles/abb-boliden-use-digital-twins-to-optimise-mining-processes</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[11]</a:t>
            </a:r>
          </a:p>
        </p:txBody>
      </p:sp>
      <p:sp>
        <p:nvSpPr>
          <p:cNvPr id="58" name="Tipo Industria"/>
          <p:cNvSpPr/>
          <p:nvPr/>
        </p:nvSpPr>
        <p:spPr>
          <a:xfrm>
            <a:off x="644194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MMG (2026, 20 de julio). The new digital twin technology adoption that delivered strong value.</a:t>
            </a:r>
          </a:p>
          <a:p>
            <a:pPr algn="l">
              <a:spcAft>
                <a:spcPts val="100"/>
              </a:spcAft>
            </a:pPr>
            <a:r>
              <a:rPr sz="700" b="0" i="0">
                <a:solidFill>
                  <a:srgbClr val="A9B8C9"/>
                </a:solidFill>
                <a:effectLst>
                  <a:glow rad="63500">
                    <a:srgbClr val="001633">
                      <a:alpha val="85000"/>
                    </a:srgbClr>
                  </a:glow>
                </a:effectLst>
                <a:latin typeface="Montserrat"/>
              </a:rPr>
              <a:t>https://www.mmg.com/investors/news-centre/169701</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[12]</a:t>
            </a:r>
          </a:p>
        </p:txBody>
      </p:sp>
      <p:sp>
        <p:nvSpPr>
          <p:cNvPr id="63" name="Tipo Proveedor"/>
          <p:cNvSpPr/>
          <p:nvPr/>
        </p:nvSpPr>
        <p:spPr>
          <a:xfrm>
            <a:off x="6441948" y="5077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Kenworthy, A. (2021). The role of a dynamically updated digital twin in modern tailing storage facilities management. Seequent.</a:t>
            </a:r>
          </a:p>
          <a:p>
            <a:pPr algn="l">
              <a:spcAft>
                <a:spcPts val="100"/>
              </a:spcAft>
            </a:pPr>
            <a:r>
              <a:rPr sz="700" b="0" i="0">
                <a:solidFill>
                  <a:srgbClr val="A9B8C9"/>
                </a:solidFill>
                <a:effectLst>
                  <a:glow rad="63500">
                    <a:srgbClr val="001633">
                      <a:alpha val="85000"/>
                    </a:srgbClr>
                  </a:glow>
                </a:effectLst>
                <a:latin typeface="Montserrat"/>
              </a:rPr>
              <a:t>https://www.seequent.com/the-role-of-a-dynamically-updated-digital-twin-in-modern-tailing-storage-facilities-management-monitoring-to-modeling</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(2/3)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[13]</a:t>
            </a:r>
          </a:p>
        </p:txBody>
      </p:sp>
      <p:sp>
        <p:nvSpPr>
          <p:cNvPr id="8" name="Tipo Proveedor"/>
          <p:cNvSpPr/>
          <p:nvPr/>
        </p:nvSpPr>
        <p:spPr>
          <a:xfrm>
            <a:off x="1252728" y="2029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Visagie, C. (2026, 13 de mayo). Real-time ventilation-on-demand using digital twins. MechChem Africa. El autor es director de Vuma Software.</a:t>
            </a:r>
          </a:p>
          <a:p>
            <a:pPr algn="l">
              <a:spcAft>
                <a:spcPts val="100"/>
              </a:spcAft>
            </a:pPr>
            <a:r>
              <a:rPr sz="700" b="0" i="0">
                <a:solidFill>
                  <a:srgbClr val="A9B8C9"/>
                </a:solidFill>
                <a:effectLst>
                  <a:glow rad="63500">
                    <a:srgbClr val="001633">
                      <a:alpha val="85000"/>
                    </a:srgbClr>
                  </a:glow>
                </a:effectLst>
                <a:latin typeface="Montserrat"/>
              </a:rPr>
              <a:t>https://www.crown.co.za/mechchem-africa/industry-innovations/36611-real-time-ventilation-on-demand-using-digital-twins</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[14]</a:t>
            </a:r>
          </a:p>
        </p:txBody>
      </p:sp>
      <p:sp>
        <p:nvSpPr>
          <p:cNvPr id="13" name="Tipo Proveedor"/>
          <p:cNvSpPr/>
          <p:nvPr/>
        </p:nvSpPr>
        <p:spPr>
          <a:xfrm>
            <a:off x="1252728" y="26395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Mipac (2025, 21 de mayo). Ok Tedi's AVEVA PI System journey with Mipac.</a:t>
            </a:r>
          </a:p>
          <a:p>
            <a:pPr algn="l">
              <a:spcAft>
                <a:spcPts val="100"/>
              </a:spcAft>
            </a:pPr>
            <a:r>
              <a:rPr sz="700" b="0" i="0">
                <a:solidFill>
                  <a:srgbClr val="A9B8C9"/>
                </a:solidFill>
                <a:effectLst>
                  <a:glow rad="63500">
                    <a:srgbClr val="001633">
                      <a:alpha val="85000"/>
                    </a:srgbClr>
                  </a:glow>
                </a:effectLst>
                <a:latin typeface="Montserrat"/>
              </a:rPr>
              <a:t>https://www.mipac.com.au/insights/ok-tedis-aveva-pi-system-journey-with-mipac/</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[15]</a:t>
            </a:r>
          </a:p>
        </p:txBody>
      </p:sp>
      <p:sp>
        <p:nvSpPr>
          <p:cNvPr id="18" name="Tipo Prensa"/>
          <p:cNvSpPr/>
          <p:nvPr/>
        </p:nvSpPr>
        <p:spPr>
          <a:xfrm>
            <a:off x="1252728" y="32491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International Mining (2022, 12 de diciembre). Anglo American utilising latest digital twin technology at Quellaveco.</a:t>
            </a:r>
          </a:p>
          <a:p>
            <a:pPr algn="l">
              <a:spcAft>
                <a:spcPts val="100"/>
              </a:spcAft>
            </a:pPr>
            <a:r>
              <a:rPr sz="700" b="0" i="0">
                <a:solidFill>
                  <a:srgbClr val="A9B8C9"/>
                </a:solidFill>
                <a:effectLst>
                  <a:glow rad="63500">
                    <a:srgbClr val="001633">
                      <a:alpha val="85000"/>
                    </a:srgbClr>
                  </a:glow>
                </a:effectLst>
                <a:latin typeface="Montserrat"/>
              </a:rPr>
              <a:t>https://im-mining.com/?p=91754</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[16]</a:t>
            </a:r>
          </a:p>
        </p:txBody>
      </p:sp>
      <p:sp>
        <p:nvSpPr>
          <p:cNvPr id="23" name="Tipo Proveedor"/>
          <p:cNvSpPr/>
          <p:nvPr/>
        </p:nvSpPr>
        <p:spPr>
          <a:xfrm>
            <a:off x="1252728" y="38587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MechChem Africa (2024, mayo-junio). Innomotics partners in world's first digital mine.</a:t>
            </a:r>
          </a:p>
          <a:p>
            <a:pPr algn="l">
              <a:spcAft>
                <a:spcPts val="100"/>
              </a:spcAft>
            </a:pPr>
            <a:r>
              <a:rPr sz="700" b="0" i="0">
                <a:solidFill>
                  <a:srgbClr val="A9B8C9"/>
                </a:solidFill>
                <a:effectLst>
                  <a:glow rad="63500">
                    <a:srgbClr val="001633">
                      <a:alpha val="85000"/>
                    </a:srgbClr>
                  </a:glow>
                </a:effectLst>
                <a:latin typeface="Montserrat"/>
              </a:rPr>
              <a:t>https://www.crown.co.za/images/magazines/mechchem-africa/2024/Innomotics_partners_in_worlds_first_digital_mine.pdf</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[17]</a:t>
            </a:r>
          </a:p>
        </p:txBody>
      </p:sp>
      <p:sp>
        <p:nvSpPr>
          <p:cNvPr id="28" name="Tipo Prensa"/>
          <p:cNvSpPr/>
          <p:nvPr/>
        </p:nvSpPr>
        <p:spPr>
          <a:xfrm>
            <a:off x="1252728" y="44683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Global Mining Review (2023, 16 de febrero). Hexagon and BUMA successfully deploy MineOperate OP Pro.</a:t>
            </a:r>
          </a:p>
          <a:p>
            <a:pPr algn="l">
              <a:spcAft>
                <a:spcPts val="100"/>
              </a:spcAft>
            </a:pPr>
            <a:r>
              <a:rPr sz="700" b="0" i="0">
                <a:solidFill>
                  <a:srgbClr val="A9B8C9"/>
                </a:solidFill>
                <a:effectLst>
                  <a:glow rad="63500">
                    <a:srgbClr val="001633">
                      <a:alpha val="85000"/>
                    </a:srgbClr>
                  </a:glow>
                </a:effectLst>
                <a:latin typeface="Montserrat"/>
              </a:rPr>
              <a:t>https://www.globalminingreview.com/mining/16022023/hexagon-and-buma-successfully-deploy-mineoperate-op-pro/</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[18]</a:t>
            </a:r>
          </a:p>
        </p:txBody>
      </p:sp>
      <p:sp>
        <p:nvSpPr>
          <p:cNvPr id="33" name="Tipo Estándar"/>
          <p:cNvSpPr/>
          <p:nvPr/>
        </p:nvSpPr>
        <p:spPr>
          <a:xfrm>
            <a:off x="125272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Modelica Language Specification 3.6.</a:t>
            </a:r>
          </a:p>
          <a:p>
            <a:pPr algn="l">
              <a:spcAft>
                <a:spcPts val="100"/>
              </a:spcAft>
            </a:pPr>
            <a:r>
              <a:rPr sz="700" b="0" i="0">
                <a:solidFill>
                  <a:srgbClr val="A9B8C9"/>
                </a:solidFill>
                <a:effectLst>
                  <a:glow rad="63500">
                    <a:srgbClr val="001633">
                      <a:alpha val="85000"/>
                    </a:srgbClr>
                  </a:glow>
                </a:effectLst>
                <a:latin typeface="Montserrat"/>
              </a:rPr>
              <a:t>https://specification.modelica.org/</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[19]</a:t>
            </a:r>
          </a:p>
        </p:txBody>
      </p:sp>
      <p:sp>
        <p:nvSpPr>
          <p:cNvPr id="3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Functional Mock-up Interface (FMI) 3.0.</a:t>
            </a:r>
          </a:p>
          <a:p>
            <a:pPr algn="l">
              <a:spcAft>
                <a:spcPts val="100"/>
              </a:spcAft>
            </a:pPr>
            <a:r>
              <a:rPr sz="700" b="0" i="0">
                <a:solidFill>
                  <a:srgbClr val="A9B8C9"/>
                </a:solidFill>
                <a:effectLst>
                  <a:glow rad="63500">
                    <a:srgbClr val="001633">
                      <a:alpha val="85000"/>
                    </a:srgbClr>
                  </a:glow>
                </a:effectLst>
                <a:latin typeface="Montserrat"/>
              </a:rPr>
              <a:t>https://fmi-standard.org/</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[20]</a:t>
            </a:r>
          </a:p>
        </p:txBody>
      </p:sp>
      <p:sp>
        <p:nvSpPr>
          <p:cNvPr id="43" name="Tipo Estándar"/>
          <p:cNvSpPr/>
          <p:nvPr/>
        </p:nvSpPr>
        <p:spPr>
          <a:xfrm>
            <a:off x="6441948" y="26395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System Structure and Parameterization (SSP) 1.0.</a:t>
            </a:r>
          </a:p>
          <a:p>
            <a:pPr algn="l">
              <a:spcAft>
                <a:spcPts val="100"/>
              </a:spcAft>
            </a:pPr>
            <a:r>
              <a:rPr sz="700" b="0" i="0">
                <a:solidFill>
                  <a:srgbClr val="A9B8C9"/>
                </a:solidFill>
                <a:effectLst>
                  <a:glow rad="63500">
                    <a:srgbClr val="001633">
                      <a:alpha val="85000"/>
                    </a:srgbClr>
                  </a:glow>
                </a:effectLst>
                <a:latin typeface="Montserrat"/>
              </a:rPr>
              <a:t>https://ssp-standard.org/</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[21]</a:t>
            </a:r>
          </a:p>
        </p:txBody>
      </p:sp>
      <p:sp>
        <p:nvSpPr>
          <p:cNvPr id="48" name="Tipo Estándar"/>
          <p:cNvSpPr/>
          <p:nvPr/>
        </p:nvSpPr>
        <p:spPr>
          <a:xfrm>
            <a:off x="6441948" y="32491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OPC Foundation. OPC Unified Architecture (IEC 62541).</a:t>
            </a:r>
          </a:p>
          <a:p>
            <a:pPr algn="l">
              <a:spcAft>
                <a:spcPts val="100"/>
              </a:spcAft>
            </a:pPr>
            <a:r>
              <a:rPr sz="700" b="0" i="0">
                <a:solidFill>
                  <a:srgbClr val="A9B8C9"/>
                </a:solidFill>
                <a:effectLst>
                  <a:glow rad="63500">
                    <a:srgbClr val="001633">
                      <a:alpha val="85000"/>
                    </a:srgbClr>
                  </a:glow>
                </a:effectLst>
                <a:latin typeface="Montserrat"/>
              </a:rPr>
              <a:t>https://opcfoundation.org/about/opc-technologies/opc-ua/</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[22]</a:t>
            </a:r>
          </a:p>
        </p:txBody>
      </p:sp>
      <p:sp>
        <p:nvSpPr>
          <p:cNvPr id="53" name="Tipo Estándar"/>
          <p:cNvSpPr/>
          <p:nvPr/>
        </p:nvSpPr>
        <p:spPr>
          <a:xfrm>
            <a:off x="6441948" y="38587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OASIS. MQTT Version 5.0, OASIS Standard (2019).</a:t>
            </a:r>
          </a:p>
          <a:p>
            <a:pPr algn="l">
              <a:spcAft>
                <a:spcPts val="100"/>
              </a:spcAft>
            </a:pPr>
            <a:r>
              <a:rPr sz="700" b="0" i="0">
                <a:solidFill>
                  <a:srgbClr val="A9B8C9"/>
                </a:solidFill>
                <a:effectLst>
                  <a:glow rad="63500">
                    <a:srgbClr val="001633">
                      <a:alpha val="85000"/>
                    </a:srgbClr>
                  </a:glow>
                </a:effectLst>
                <a:latin typeface="Montserrat"/>
              </a:rPr>
              <a:t>https://docs.oasis-open.org/mqtt/mqtt/v5.0/mqtt-v5.0.html</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[23]</a:t>
            </a:r>
          </a:p>
        </p:txBody>
      </p:sp>
      <p:sp>
        <p:nvSpPr>
          <p:cNvPr id="58" name="Tipo Estándar"/>
          <p:cNvSpPr/>
          <p:nvPr/>
        </p:nvSpPr>
        <p:spPr>
          <a:xfrm>
            <a:off x="6441948" y="44683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ISA. ISA-95 / IEC 62264: Enterprise-Control System Integration.</a:t>
            </a:r>
          </a:p>
          <a:p>
            <a:pPr algn="l">
              <a:spcAft>
                <a:spcPts val="100"/>
              </a:spcAft>
            </a:pPr>
            <a:r>
              <a:rPr sz="700" b="0" i="0">
                <a:solidFill>
                  <a:srgbClr val="A9B8C9"/>
                </a:solidFill>
                <a:effectLst>
                  <a:glow rad="63500">
                    <a:srgbClr val="001633">
                      <a:alpha val="85000"/>
                    </a:srgbClr>
                  </a:glow>
                </a:effectLst>
                <a:latin typeface="Montserrat"/>
              </a:rPr>
              <a:t>https://www.isa.org/standards-and-publications/isa-standards/isa-95-standard</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[24]</a:t>
            </a:r>
          </a:p>
        </p:txBody>
      </p:sp>
      <p:sp>
        <p:nvSpPr>
          <p:cNvPr id="63" name="Tipo Estándar"/>
          <p:cNvSpPr/>
          <p:nvPr/>
        </p:nvSpPr>
        <p:spPr>
          <a:xfrm>
            <a:off x="644194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Industrial Digital Twin Association. Asset Administration Shell (IEC 63278).</a:t>
            </a:r>
          </a:p>
          <a:p>
            <a:pPr algn="l">
              <a:spcAft>
                <a:spcPts val="100"/>
              </a:spcAft>
            </a:pPr>
            <a:r>
              <a:rPr sz="700" b="0" i="0">
                <a:solidFill>
                  <a:srgbClr val="A9B8C9"/>
                </a:solidFill>
                <a:effectLst>
                  <a:glow rad="63500">
                    <a:srgbClr val="001633">
                      <a:alpha val="85000"/>
                    </a:srgbClr>
                  </a:glow>
                </a:effectLst>
                <a:latin typeface="Montserrat"/>
              </a:rPr>
              <a:t>https://industrialdigitaltwin.org/en/content-hub/aasspecifications</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(3/3)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[25]</a:t>
            </a:r>
          </a:p>
        </p:txBody>
      </p:sp>
      <p:sp>
        <p:nvSpPr>
          <p:cNvPr id="8" name="Tipo Académica"/>
          <p:cNvSpPr/>
          <p:nvPr/>
        </p:nvSpPr>
        <p:spPr>
          <a:xfrm>
            <a:off x="125272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11" name="TextBox 10"/>
          <p:cNvSpPr txBox="1"/>
          <p:nvPr/>
        </p:nvSpPr>
        <p:spPr>
          <a:xfrm>
            <a:off x="175564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Kalman, R. E. (1960). A New Approach to Linear Filtering and Prediction Problems. Journal of Basic Engineering, 82(1), 35–45.</a:t>
            </a:r>
          </a:p>
          <a:p>
            <a:pPr algn="l">
              <a:spcAft>
                <a:spcPts val="100"/>
              </a:spcAft>
            </a:pPr>
            <a:r>
              <a:rPr sz="700" b="0" i="0">
                <a:solidFill>
                  <a:srgbClr val="A9B8C9"/>
                </a:solidFill>
                <a:effectLst>
                  <a:glow rad="63500">
                    <a:srgbClr val="001633">
                      <a:alpha val="85000"/>
                    </a:srgbClr>
                  </a:glow>
                </a:effectLst>
                <a:latin typeface="Montserrat"/>
              </a:rPr>
              <a:t>https://doi.org/10.1115/1.3662552</a:t>
            </a:r>
          </a:p>
        </p:txBody>
      </p:sp>
      <p:sp>
        <p:nvSpPr>
          <p:cNvPr id="12" name="TextBox 11"/>
          <p:cNvSpPr txBox="1"/>
          <p:nvPr/>
        </p:nvSpPr>
        <p:spPr>
          <a:xfrm>
            <a:off x="125272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[26]</a:t>
            </a:r>
          </a:p>
        </p:txBody>
      </p:sp>
      <p:sp>
        <p:nvSpPr>
          <p:cNvPr id="13" name="Tipo Proveedor"/>
          <p:cNvSpPr/>
          <p:nvPr/>
        </p:nvSpPr>
        <p:spPr>
          <a:xfrm>
            <a:off x="1252728" y="2688335"/>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88335"/>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16" name="TextBox 15"/>
          <p:cNvSpPr txBox="1"/>
          <p:nvPr/>
        </p:nvSpPr>
        <p:spPr>
          <a:xfrm>
            <a:off x="175564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ANDRITZ AG. ANDRITZ Hyperbaric Disc Filter (HBF): folleto HBF 1.0/07.2019 y hoja de producto 1.0/01.2013.</a:t>
            </a:r>
          </a:p>
          <a:p>
            <a:pPr algn="l">
              <a:spcAft>
                <a:spcPts val="100"/>
              </a:spcAft>
            </a:pPr>
            <a:r>
              <a:rPr sz="700" b="0" i="0">
                <a:solidFill>
                  <a:srgbClr val="A9B8C9"/>
                </a:solidFill>
                <a:effectLst>
                  <a:glow rad="63500">
                    <a:srgbClr val="001633">
                      <a:alpha val="85000"/>
                    </a:srgbClr>
                  </a:glow>
                </a:effectLst>
                <a:latin typeface="Montserrat"/>
              </a:rPr>
              <a:t>https://www.andritz.com/products-en/separation/disc-drum-filters/andritz-hyperbaric-disc-filter-hbf</a:t>
            </a:r>
          </a:p>
        </p:txBody>
      </p:sp>
      <p:sp>
        <p:nvSpPr>
          <p:cNvPr id="17" name="TextBox 1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[27]</a:t>
            </a:r>
          </a:p>
        </p:txBody>
      </p:sp>
      <p:sp>
        <p:nvSpPr>
          <p:cNvPr id="1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20" name="TextBox 1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1" name="TextBox 20"/>
          <p:cNvSpPr txBox="1"/>
          <p:nvPr/>
        </p:nvSpPr>
        <p:spPr>
          <a:xfrm>
            <a:off x="694486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IMO. International Maritime Solid Bulk Cargoes Code (IMSBC Code): cargas del Grupo A y límite de humedad transportable.</a:t>
            </a:r>
          </a:p>
          <a:p>
            <a:pPr algn="l">
              <a:spcAft>
                <a:spcPts val="100"/>
              </a:spcAft>
            </a:pPr>
            <a:r>
              <a:rPr sz="700" b="0" i="0">
                <a:solidFill>
                  <a:srgbClr val="A9B8C9"/>
                </a:solidFill>
                <a:effectLst>
                  <a:glow rad="63500">
                    <a:srgbClr val="001633">
                      <a:alpha val="85000"/>
                    </a:srgbClr>
                  </a:glow>
                </a:effectLst>
                <a:latin typeface="Montserrat"/>
              </a:rPr>
              <a:t>https://www.imo.org/en/OurWork/Safety/Pages/BulkCarriers.aspx</a:t>
            </a:r>
          </a:p>
        </p:txBody>
      </p:sp>
      <p:sp>
        <p:nvSpPr>
          <p:cNvPr id="22" name="TextBox 21"/>
          <p:cNvSpPr txBox="1"/>
          <p:nvPr/>
        </p:nvSpPr>
        <p:spPr>
          <a:xfrm>
            <a:off x="644194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[28]</a:t>
            </a:r>
          </a:p>
        </p:txBody>
      </p:sp>
      <p:sp>
        <p:nvSpPr>
          <p:cNvPr id="23" name="Tipo Académica"/>
          <p:cNvSpPr/>
          <p:nvPr/>
        </p:nvSpPr>
        <p:spPr>
          <a:xfrm>
            <a:off x="6441948" y="2688335"/>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41948" y="2688335"/>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25" name="TextBox 24"/>
          <p:cNvSpPr txBox="1"/>
          <p:nvPr/>
        </p:nvSpPr>
        <p:spPr>
          <a:xfrm>
            <a:off x="644194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6" name="TextBox 25"/>
          <p:cNvSpPr txBox="1"/>
          <p:nvPr/>
        </p:nvSpPr>
        <p:spPr>
          <a:xfrm>
            <a:off x="694486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Hahn, J. (2019). Tailings dewatering with increased filtration rates and lowest filter cake moisture for filtered tailings stacking. Paste 2019, ACG, 245–257.</a:t>
            </a:r>
          </a:p>
          <a:p>
            <a:pPr algn="l">
              <a:spcAft>
                <a:spcPts val="100"/>
              </a:spcAft>
            </a:pPr>
            <a:r>
              <a:rPr sz="700" b="0" i="0">
                <a:solidFill>
                  <a:srgbClr val="A9B8C9"/>
                </a:solidFill>
                <a:effectLst>
                  <a:glow rad="63500">
                    <a:srgbClr val="001633">
                      <a:alpha val="85000"/>
                    </a:srgbClr>
                  </a:glow>
                </a:effectLst>
                <a:latin typeface="Montserrat"/>
              </a:rPr>
              <a:t>https://doi.org/10.36487/ACG_rep/1910_16_Hahn</a:t>
            </a:r>
          </a:p>
        </p:txBody>
      </p:sp>
      <p:sp>
        <p:nvSpPr>
          <p:cNvPr id="2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800" b="1" i="0">
                <a:solidFill>
                  <a:srgbClr val="FFFFFF"/>
                </a:solidFill>
                <a:effectLst>
                  <a:glow rad="63500">
                    <a:srgbClr val="001633">
                      <a:alpha val="85000"/>
                    </a:srgbClr>
                  </a:glow>
                </a:effectLst>
                <a:latin typeface="Montserrat"/>
              </a:rPr>
              <a:t>¡Gracias!</a:t>
            </a:r>
          </a:p>
        </p:txBody>
      </p:sp>
      <p:sp>
        <p:nvSpPr>
          <p:cNvPr id="3" name="Subtitle 2"/>
          <p:cNvSpPr>
            <a:spLocks noGrp="1"/>
          </p:cNvSpPr>
          <p:nvPr>
            <p:ph type="subTitle" idx="1"/>
          </p:nvPr>
        </p:nvSpPr>
        <p:spPr/>
        <p:txBody>
          <a:bodyPr/>
          <a:lstStyle/>
          <a:p>
            <a:r>
              <a:rPr sz="2000" b="1" i="0">
                <a:solidFill>
                  <a:srgbClr val="FFAB40"/>
                </a:solidFill>
                <a:effectLst>
                  <a:glow rad="63500">
                    <a:srgbClr val="001633">
                      <a:alpha val="85000"/>
                    </a:srgbClr>
                  </a:glow>
                </a:effectLst>
                <a:latin typeface="Montserrat"/>
              </a:rPr>
              <a:t>Preguntas y conversación</a:t>
            </a:r>
          </a:p>
        </p:txBody>
      </p:sp>
      <p:sp>
        <p:nvSpPr>
          <p:cNvPr id="4" name="Contacto Luis Jaraquemada S."/>
          <p:cNvSpPr txBox="1"/>
          <p:nvPr/>
        </p:nvSpPr>
        <p:spPr>
          <a:xfrm>
            <a:off x="2286000" y="5989320"/>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Luis Jaraquemada S.   </a:t>
            </a:r>
            <a:r>
              <a:rPr sz="1600" b="0" i="0">
                <a:solidFill>
                  <a:srgbClr val="FFAB40"/>
                </a:solidFill>
                <a:effectLst>
                  <a:glow rad="63500">
                    <a:srgbClr val="001633">
                      <a:alpha val="85000"/>
                    </a:srgbClr>
                  </a:glow>
                </a:effectLst>
                <a:latin typeface="Montserrat"/>
              </a:rPr>
              <a:t>ljaraque@yahoo.com</a:t>
            </a:r>
          </a:p>
        </p:txBody>
      </p:sp>
      <p:sp>
        <p:nvSpPr>
          <p:cNvPr id="5" name="Contacto Andrés Venegas G."/>
          <p:cNvSpPr txBox="1"/>
          <p:nvPr/>
        </p:nvSpPr>
        <p:spPr>
          <a:xfrm>
            <a:off x="2286000" y="6300216"/>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Andrés Venegas G.   </a:t>
            </a:r>
            <a:r>
              <a:rPr sz="1600" b="0" i="0">
                <a:solidFill>
                  <a:srgbClr val="FFAB40"/>
                </a:solidFill>
                <a:effectLst>
                  <a:glow rad="63500">
                    <a:srgbClr val="001633">
                      <a:alpha val="85000"/>
                    </a:srgbClr>
                  </a:glow>
                </a:effectLst>
                <a:latin typeface="Montserrat"/>
              </a:rPr>
              <a:t>lvenegas15@hotmail.com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32454</Words>
  <Application>Microsoft Macintosh PowerPoint</Application>
  <PresentationFormat>Panorámica</PresentationFormat>
  <Paragraphs>3338</Paragraphs>
  <Slides>100</Slides>
  <Notes>98</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100</vt:i4>
      </vt:variant>
    </vt:vector>
  </HeadingPairs>
  <TitlesOfParts>
    <vt:vector size="108" baseType="lpstr">
      <vt:lpstr>Aptos</vt:lpstr>
      <vt:lpstr>Aptos Display</vt:lpstr>
      <vt:lpstr>Arial</vt:lpstr>
      <vt:lpstr>Montserrat</vt:lpstr>
      <vt:lpstr>Montserrat ExtraBold</vt:lpstr>
      <vt:lpstr>Montserrat Medium</vt:lpstr>
      <vt:lpstr>Tema de Office</vt:lpstr>
      <vt:lpstr>Futuristic Background by Slidesgo</vt:lpstr>
      <vt:lpstr>Gemelos Digitales para Minería 4.0</vt:lpstr>
      <vt:lpstr>Quiénes somos Diseñamos, construimos y presentamos gemelos digitales mineros</vt:lpstr>
      <vt:lpstr>Quiénes somos Hablamos de gemelos digitales donde la minería decide</vt:lpstr>
      <vt:lpstr>Mapa del curso Cuatro capítulos, de lo general a lo particular</vt:lpstr>
      <vt:lpstr>Presentación de PowerPoint</vt:lpstr>
      <vt:lpstr>¿Qué es un gemelo digital?</vt:lpstr>
      <vt:lpstr>Tres preguntas ubican cualquier gemelo: de qué, cuándo y para qué</vt:lpstr>
      <vt:lpstr>De una pieza a toda la cadena: el nivel define qué se modela</vt:lpstr>
      <vt:lpstr>El gemelo acompaña al activo desde el diseño hasta el cierre</vt:lpstr>
      <vt:lpstr>Siete usos frecuentes, de digitalizar a predecir, y la lista sigue abierta</vt:lpstr>
      <vt:lpstr>El cubo dice dónde y para qué; la integración dice cuán gemelo es</vt:lpstr>
      <vt:lpstr>Seis familias de capacidades: cada gemelo necesita una combinación distinta</vt:lpstr>
      <vt:lpstr>Un gemelo se justifica por la decisión que mejora</vt:lpstr>
      <vt:lpstr>Lo difícil no es construir el modelo: es que siga siendo confiable</vt:lpstr>
      <vt:lpstr>Todo gemelo tiene cinco partes, y el modelo es solo una</vt:lpstr>
      <vt:lpstr>Cuatro gemelos con el mismo nombre y casi nada en común</vt:lpstr>
      <vt:lpstr>Tres ideas para llevarse del capítulo I</vt:lpstr>
      <vt:lpstr>Presentación de PowerPoint</vt:lpstr>
      <vt:lpstr>Hay gemelos en cada eslabón de la cadena, pero rara vez conectados entre sí</vt:lpstr>
      <vt:lpstr>Cinco capas tecnológicas sostienen un gemelo, y la integración es la que más cuesta</vt:lpstr>
      <vt:lpstr>Tres familias de soluciones, y cada una cubre capas distintas</vt:lpstr>
      <vt:lpstr>Geología y planificación: un modelo geológico que se actualiza solo</vt:lpstr>
      <vt:lpstr>Carguío y transporte: simular la flota antes de comprarla</vt:lpstr>
      <vt:lpstr>Molienda: probar el control en el gemelo antes de tocar la planta</vt:lpstr>
      <vt:lpstr>Flotación: un gemelo que ajusta la recuperación en tiempo real</vt:lpstr>
      <vt:lpstr>Relaves: un gemelo vivo de la estabilidad del depósito</vt:lpstr>
      <vt:lpstr>Subterránea: ventilación que sigue a la demanda</vt:lpstr>
      <vt:lpstr>Seis empresas ofrecen gemelos para la minería, y cada una parte de un lugar distinto</vt:lpstr>
      <vt:lpstr>AVEVA: el gemelo nace de los datos de operación</vt:lpstr>
      <vt:lpstr>Siemens: el gemelo nace de la ingeniería y la automatización</vt:lpstr>
      <vt:lpstr>ABB: el gemelo vive dentro del control de procesos</vt:lpstr>
      <vt:lpstr>Innomotics: el gemelo nace de lo que mueve la mina y la planta</vt:lpstr>
      <vt:lpstr>Hexagon: el gemelo de la mina, del plan a la flota</vt:lpstr>
      <vt:lpstr>Dassault Systèmes: el gemelo nace del modelo 3D de la mina</vt:lpstr>
      <vt:lpstr>Detrás de cada producto hay las mismas cuatro piezas</vt:lpstr>
      <vt:lpstr>Tres ideas para llevarse del capítulo II</vt:lpstr>
      <vt:lpstr>Presentación de PowerPoint</vt:lpstr>
      <vt:lpstr>Construir un gemelo es tomar seis decisiones técnicas, una tras otra</vt:lpstr>
      <vt:lpstr>Una demo corre una vez; un gemelo operativo corre siempre</vt:lpstr>
      <vt:lpstr>Todo modelo está en algún punto entre la física y los datos</vt:lpstr>
      <vt:lpstr>Un modelo físico escribe en ecuaciones lo que ya sabemos del equipo</vt:lpstr>
      <vt:lpstr>Un modelo de datos aprende el patrón sin saber la física</vt:lpstr>
      <vt:lpstr>Un modelo híbrido usa la física como esqueleto y los datos como corrección</vt:lpstr>
      <vt:lpstr>Seis preguntas ubican cada activo entre la física y los datos</vt:lpstr>
      <vt:lpstr>Más detalle no siempre es mejor: la fidelidad se elige por la pregunta</vt:lpstr>
      <vt:lpstr>Causal o acausal: lo que cambia es el significado del signo «=»</vt:lpstr>
      <vt:lpstr>Modelica: cada componente se escribe una vez y después solo se conecta</vt:lpstr>
      <vt:lpstr>Cada lenguaje tiene su lugar: no hay uno que sirva para todo</vt:lpstr>
      <vt:lpstr>Herramientas abiertas o comerciales: lo que importa es no quedar encerrado</vt:lpstr>
      <vt:lpstr>El solver es el motor: convierte las ecuaciones en una trayectoria, paso a paso</vt:lpstr>
      <vt:lpstr>El paso de simulación depende de qué tan rápido cambia lo que importa</vt:lpstr>
      <vt:lpstr>Un modelo que simula no es un modelo correcto: verificar, calibrar y validar</vt:lpstr>
      <vt:lpstr>Cada equipo trae su propio modelo: el gemelo necesita integrarlos</vt:lpstr>
      <vt:lpstr>La FMU: un modelo empaquetado que cualquier herramienta puede abrir</vt:lpstr>
      <vt:lpstr>La interfaz de la FMU es un contrato: declara todo lo que el otro necesita saber</vt:lpstr>
      <vt:lpstr>Co-Simulation: la FMU trae su solver y quien la usa solo le pide avanzar</vt:lpstr>
      <vt:lpstr>Así se arma un gemelo multiproveedor: cada pieza en su capa, unidas por estándares</vt:lpstr>
      <vt:lpstr>Seis estándares para tres problemas: unir modelos, mover datos y describir equipos</vt:lpstr>
      <vt:lpstr>Una señal recorre cinco escalones antes de llegar al gemelo</vt:lpstr>
      <vt:lpstr>Los datos reales llegan con huecos, ruido y desfases, y el gemelo debe tolerarlos</vt:lpstr>
      <vt:lpstr>Para seguir a la planta, el gemelo combina lo que predice con lo que mide</vt:lpstr>
      <vt:lpstr>Edge, faena o nube: el gemelo corre donde su decisión lo necesita</vt:lpstr>
      <vt:lpstr>El hardware define qué modelo cabe y a qué velocidad corre</vt:lpstr>
      <vt:lpstr>Un escenario what-if clona el presente y prueba el futuro más rápido que la realidad</vt:lpstr>
      <vt:lpstr>Del escenario al control: cuatro escalones de autonomía</vt:lpstr>
      <vt:lpstr>Cuando un parámetro se mueve solo, el gemelo está avisando algo de la planta</vt:lpstr>
      <vt:lpstr>El modelo también se mantiene: versiones, pruebas y despliegue</vt:lpstr>
      <vt:lpstr>Tres ideas para llevarse del capítulo III</vt:lpstr>
      <vt:lpstr>Presentación de PowerPoint</vt:lpstr>
      <vt:lpstr>Implementar un gemelo en una faena exige seis partes, no solo un modelo</vt:lpstr>
      <vt:lpstr>Áreas estratégicas para la creación de valor</vt:lpstr>
      <vt:lpstr>La misma mejora vale más seguro cuanto más cerca del puerto ocurre</vt:lpstr>
      <vt:lpstr>El problema del filtrado: la última puerta antes del despacho</vt:lpstr>
      <vt:lpstr>Para qué sirve: cuatro preguntas de la operación que el gemelo del filtro responde</vt:lpstr>
      <vt:lpstr>Por qué el HBF‑S 168/12: alto desempeño, pocas unidades en el mundo y casi sin datos</vt:lpstr>
      <vt:lpstr>El filtro en una lámina: cada sector del disco pasa por tres zonas en cada vuelta</vt:lpstr>
      <vt:lpstr>Un modelo fenomenológico: la física del filtro, sintonizada con la planta</vt:lpstr>
      <vt:lpstr>La base física: la ley de Darcy dice cuánto líquido atraviesa el queque</vt:lpstr>
      <vt:lpstr>Del equipo al modelo: seis elementos guardan lo que cambia el resultado</vt:lpstr>
      <vt:lpstr>Pulpa y queque: de dónde salen la capacidad y la humedad</vt:lpstr>
      <vt:lpstr>El aire: la presión sale de un balance, y la paga el compresor</vt:lpstr>
      <vt:lpstr>Los elementos se conectan en Modelica, igual que en el equipo real</vt:lpstr>
      <vt:lpstr>Las perillas del modelo: cinco parámetros que lo sintonizan con la realidad</vt:lpstr>
      <vt:lpstr>Paso de 1 segundo: más fino que lo más rápido que importa en el filtro</vt:lpstr>
      <vt:lpstr>La FMU es el contrato: 6 entradas y 15 salidas, cada una con nombre, unidad y descripción</vt:lpstr>
      <vt:lpstr>Una FMU o varias: el gemelo también se arma con piezas de distintas herramientas</vt:lpstr>
      <vt:lpstr>Del modelo a la planta: el gemelo se despliega por etapas, y cada etapa se gana</vt:lpstr>
      <vt:lpstr>La misma FMU corre en tres lugares, porque viaja con su código en C</vt:lpstr>
      <vt:lpstr>Las señales que necesita: unas alimentan al gemelo y otras lo vigilan</vt:lpstr>
      <vt:lpstr>Monitoreo: qué vigilar para saber si el gemelo sigue representando al filtro</vt:lpstr>
      <vt:lpstr>Comprar o construir: las mismas cuatro piezas, armadas con herramientas abiertas</vt:lpstr>
      <vt:lpstr>Todo lo que se ve con un número lo calcula la FMU; el resto ayuda a entenderlo</vt:lpstr>
      <vt:lpstr>Demo en vivo: tres preguntas para hacerle al filtro</vt:lpstr>
      <vt:lpstr>Taller: ¿dónde es técnicamente viable un gemelo en su faena?</vt:lpstr>
      <vt:lpstr>El entregable: un veredicto de viabilidad, con sus razones y su primer paso</vt:lpstr>
      <vt:lpstr>Tres ideas para llevarse del curso</vt:lpstr>
      <vt:lpstr>Referencias del curso (1/3)</vt:lpstr>
      <vt:lpstr>Referencias del curso (2/3)</vt:lpstr>
      <vt:lpstr>Referencias del curso (3/3)</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Jaraquemada Jaraquemada</dc:creator>
  <cp:lastModifiedBy>Luis Venegas Gonzalez</cp:lastModifiedBy>
  <cp:revision>3</cp:revision>
  <dcterms:created xsi:type="dcterms:W3CDTF">2026-07-16T02:12:16Z</dcterms:created>
  <dcterms:modified xsi:type="dcterms:W3CDTF">2026-10-17T11:47:10Z</dcterms:modified>
</cp:coreProperties>
</file>