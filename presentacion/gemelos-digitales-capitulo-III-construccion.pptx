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03"/>
  </p:notesMasterIdLst>
  <p:sldIdLst>
    <p:sldId id="256" r:id="rId3"/>
    <p:sldId id="257" r:id="rId4"/>
    <p:sldId id="258" r:id="rId5"/>
    <p:sldId id="259" r:id="rId6"/>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52" r:id="rId99"/>
    <p:sldId id="353" r:id="rId100"/>
    <p:sldId id="354" r:id="rId101"/>
    <p:sldId id="355" r:id="rId102"/>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21" autoAdjust="0"/>
    <p:restoredTop sz="96121"/>
  </p:normalViewPr>
  <p:slideViewPr>
    <p:cSldViewPr snapToGrid="0">
      <p:cViewPr varScale="1">
        <p:scale>
          <a:sx n="121" d="100"/>
          <a:sy n="121" d="100"/>
        </p:scale>
        <p:origin x="36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slide" Target="slides/slide55.xml"/><Relationship Id="rId58" Type="http://schemas.openxmlformats.org/officeDocument/2006/relationships/slide" Target="slides/slide56.xml"/><Relationship Id="rId59" Type="http://schemas.openxmlformats.org/officeDocument/2006/relationships/slide" Target="slides/slide57.xml"/><Relationship Id="rId60" Type="http://schemas.openxmlformats.org/officeDocument/2006/relationships/slide" Target="slides/slide58.xml"/><Relationship Id="rId61" Type="http://schemas.openxmlformats.org/officeDocument/2006/relationships/slide" Target="slides/slide59.xml"/><Relationship Id="rId62" Type="http://schemas.openxmlformats.org/officeDocument/2006/relationships/slide" Target="slides/slide60.xml"/><Relationship Id="rId63" Type="http://schemas.openxmlformats.org/officeDocument/2006/relationships/slide" Target="slides/slide61.xml"/><Relationship Id="rId64" Type="http://schemas.openxmlformats.org/officeDocument/2006/relationships/slide" Target="slides/slide62.xml"/><Relationship Id="rId65" Type="http://schemas.openxmlformats.org/officeDocument/2006/relationships/slide" Target="slides/slide63.xml"/><Relationship Id="rId66" Type="http://schemas.openxmlformats.org/officeDocument/2006/relationships/slide" Target="slides/slide64.xml"/><Relationship Id="rId67" Type="http://schemas.openxmlformats.org/officeDocument/2006/relationships/slide" Target="slides/slide65.xml"/><Relationship Id="rId68" Type="http://schemas.openxmlformats.org/officeDocument/2006/relationships/slide" Target="slides/slide66.xml"/><Relationship Id="rId69" Type="http://schemas.openxmlformats.org/officeDocument/2006/relationships/slide" Target="slides/slide67.xml"/><Relationship Id="rId70" Type="http://schemas.openxmlformats.org/officeDocument/2006/relationships/slide" Target="slides/slide68.xml"/><Relationship Id="rId99" Type="http://schemas.openxmlformats.org/officeDocument/2006/relationships/slide" Target="slides/slide97.xml"/><Relationship Id="rId100" Type="http://schemas.openxmlformats.org/officeDocument/2006/relationships/slide" Target="slides/slide98.xml"/><Relationship Id="rId101" Type="http://schemas.openxmlformats.org/officeDocument/2006/relationships/slide" Target="slides/slide99.xml"/><Relationship Id="rId102" Type="http://schemas.openxmlformats.org/officeDocument/2006/relationships/slide" Target="slides/slide100.xml"/><Relationship Id="rId103" Type="http://schemas.openxmlformats.org/officeDocument/2006/relationships/notesMaster" Target="notesMasters/notesMaster1.xml"/><Relationship Id="rId104" Type="http://schemas.openxmlformats.org/officeDocument/2006/relationships/presProps" Target="presProps.xml"/><Relationship Id="rId105" Type="http://schemas.openxmlformats.org/officeDocument/2006/relationships/viewProps" Target="viewProps.xml"/><Relationship Id="rId106" Type="http://schemas.openxmlformats.org/officeDocument/2006/relationships/theme" Target="theme/theme1.xml"/><Relationship Id="rId10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E27D3-C215-4CF0-B1FA-89AF1A49981C}" type="datetimeFigureOut">
              <a:rPr lang="es-CL" smtClean="0"/>
              <a:t>17-10-26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5E836-5B69-40A0-869E-1082D9FB5991}" type="slidenum">
              <a:rPr lang="es-CL" smtClean="0"/>
              <a:t>‹Nº›</a:t>
            </a:fld>
            <a:endParaRPr lang="es-CL"/>
          </a:p>
        </p:txBody>
      </p:sp>
    </p:spTree>
    <p:extLst>
      <p:ext uri="{BB962C8B-B14F-4D97-AF65-F5344CB8AC3E}">
        <p14:creationId xmlns:p14="http://schemas.microsoft.com/office/powerpoint/2010/main" val="3847864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Portada: Gemelos Digitales para Minería 4.0 · De la estrategia al impacto operacional · tres ejes: modelamiento dinámico, integración de datos y decisión en tiempo real.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Lámina de impacto. Fuente: bios del equipo a cargo del curso y trabajos en congresos 2022–2025.</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Mapa del curso de lo general a lo particular: conceptos, soluciones de la industria, cómo se construye un gemelo (en general) y el caso del filtro, que recorre todo lo anterior y termina en el taller.</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Apertura del capítulo III: qué pregunta responde, los temas que cubre y el avance del curso.</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Seis decisiones que separan un gemelo bien construido de una demo. Las tres primeras definen el modelo (capa 3); la cuarta, cómo se conecta (capas 1 y 2); la quinta, dónde corre (capa 4); la sexta, cómo se mantiene en el tiempo (capas 3 y 5). Es el índice del capítulo.</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Comparación demo vs. gemelo operativo en seis dimensiones; el número naranja indica cuál de las seis decisiones lo resuelve. Mensaje: el modelo es necesario pero no suficiente; lo que convierte una demo en gemelo es la integración, la ejecución continua, la recalibración y un dueño en la operación.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Concepto: los modelos forman un espectro. En un extremo, los físicos (primeros principios): balances y leyes conocidas; extrapolan y se explican, pero cuestan ingeniería y piden parámetros. En el otro, los basados en datos: aprenden de la historia; son rápidos si hay buenos datos, pero no extrapolan. En el medio, los híbridos (grey-box): la física da la estructura y los datos corrigen. Ejemplos: correa overland (física), molino SAG con corrección por dureza (híbrido), sensor virtual de P80 (datos). Las tres láminas siguientes profundizan cada punto del espectro.</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Modelo de primeros principios. Ejemplo de la correa: fuerza resistente = fricción a lo largo + levantar la carga; potencia = fuerza × velocidad / eficiencia (simplificación de la forma de cálculo de CEMA o ISO 5048). Técnicas físicas usadas en minería: balances dinámicos con ecuaciones diferenciales ordinarias (niveles, inventarios); sistemas de ecuaciones diferenciales-algebraicas para equipos multidominio (lo que resuelve Modelica); balance poblacional para granulometría (base de los simuladores de conminución); elementos finitos para geotecnia y estructuras; DEM y CFD para partículas y fluidos (molinos, ciclones), muy costosos de calcular. Ventaja: extrapola y se explica. Límite: costo de ingeniería y parámetros desconocidos, que se calibran con datos.</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Modelo basado en datos. Ejemplo central: sensor virtual del P80 de molienda entrenado con variables del DCS y los resultados del laboratorio. Técnicas: regresión lineal y PLS (mínimos cuadrados parciales, muy usada en procesos con muchas variables correlacionadas); árboles de decisión y gradient boosting para datos tabulares; redes neuronales y LSTM para series de tiempo; detección de anomalías (autoencoders, isolation forest) cuando no hay etiquetas de falla; identificación de sistemas (modelos ARX o de función de transferencia) para control; visión por computador para granulometría en correas y análisis de espuma. Riesgo: no extrapola fuera del rango entrenado y depende de la calidad del dato.</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Modelo híbrido (grey-box). Ejemplo: potencia del molino SAG = modelo físico de potencia + corrección aprendida de los datos (el efecto de la dureza, que la física no captura). Cuatro variantes con su técnica: parámetros ajustados (mínimos cuadrados fuera de línea o filtro de Kalman en línea); física más corrección de datos (modelo residual: regresión o red sobre el error de la física); PINN (redes neuronales cuya función de pérdida penaliza violar las ecuaciones); modelos de orden reducido (POD o modelos sustitutos entrenados con simulaciones detalladas). Es el enfoque más común en gemelos industriales porque combina extrapolación y ajuste a la faena.</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Seis criterios para elegir el enfoque, cada uno como una barra entre física (izquierda) y datos (derecha). Conocimiento del proceso: si se conocen las leyes, física. Datos históricos: sin historia, física; con años de buenos datos, datos. Rango de operación: para condiciones nuevas, física (extrapola). Explicabilidad: si el operador debe entender, física. Tiempo de cálculo: respuestas en milisegundos favorecen modelos de datos o reducidos. Tiempo de desarrollo: si hay que partir ya, datos. Tres activos ilustrativos: un tranque nuevo sin historia cae en física; el molino SAG, con física conocida y mucha historia, en híbrido; el sensor virtual de P80, en datos.</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Fidelidad a la medida (desafío NASEM del capítulo I). El valor para la decisión crece rápido al principio y luego se aplana; el costo (datos, ingeniería y cálculo) crece cada vez más rápido. Para un gemelo en operación el punto justo suele ser el modelo del equipo. Nivel 1, balance de masa: responde cuánto sale, corre en segundos, sirve para planificar. Nivel 2, modelo del equipo (clasificación y rotura, o Modelica): responde qué granulometría da un ajuste; sirve para operar. Nivel 3, DEM (elementos discretos): responde cómo se mueve cada roca y dónde se gasta el revestimiento; tarda horas o días y sirve para diseñar, o para entrenar un modelo reducido que luego corre en operación.</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clave es el signo igual. Causal: «=» es asignación; Q = √(Δp/k) solo calcula Q. Si se necesita Δp hay que escribir otra línea u otro bloque (Δp = k·Q²). Acausal: «=» es una relación que siempre se cumple; Δp = k·Q² no dice qué se calcula. El compilador de la herramienta ordena todas las ecuaciones del sistema y despeja lo que falta; luego el solver las resuelve en el tiempo. Cómo reconocerlo: puertos con flecha (causal) o puertos físicos sin dirección (acausal); quién decide el orden del cálculo; si al conectar se crean ecuaciones solas (misma presión, caudales que suman cero). Un mismo proveedor puede ofrecer ambos: Simulink (causal) y Simscape (acausal). Al exportar un modelo acausal como FMU queda causal: la FMU tiene entradas y salidas fijas (decisión 4).</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Modelica en dos pasos. 1) El componente: la tubería declara dos puertos (a y b), un parámetro k y dos ecuaciones: la ley de pérdida de presión y la conservación del caudal. Se escribe una sola vez. 2) El sistema: se instancian bomba, tubería y estanque y se conectan. Cada conector tiene variables de potencial (presión, voltaje, velocidad) que se igualan en la unión y variables de flujo (caudal, corriente, torque) que suman cero en la unión; por eso «connect» genera las ecuaciones solo. La Modelica Standard Library trae componentes eléctricos, mecánicos, de fluidos, térmicos y de control. Herramientas: OpenModelica (abierta, la que se usa en el capítulo IV), Dymola y otras.</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Mapa práctico, con la forma de modelar de la lámina 47. Acausal: Modelica (OpenModelica, Dymola) y Simscape (dentro de MATLAB, junto a Simulink) para equipos físicos. Causal: Simulink para control; Python para datos, ML y orquestar FMU; C/C++ para hardware embebido. Julia ofrece ambas (ModelingToolkit es acausal). Los simuladores de proceso (METSIM, SysCAD, etc.) tienen su propia forma, orientada a balances de planta. Las filas destacadas son las del capítulo IV.</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Comparación neutral. Comercial (MATLAB/Simulink y Simscape, Dymola, gPROMS, simuladores de proceso): soporte y librerías listas, a cambio de licencia y dependencia del proveedor. Abierta (OpenModelica, Python con FMPy, Julia): libertad y costo cero de licencia, a cambio de más trabajo propio y de depender del conocimiento del equipo. En ambos casos, la pregunta clave es la portabilidad: si el modelo se exporta como FMU y los datos se leen por OPC UA o MQTT, no se queda encerrado. Lista de herramientas ilustrativa, sin ranking.</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Idea central: el modelo describe la tasa de cambio (dh/dt = (Q_entra − Q_sale)/A para el nivel de un cajón de bomba). El solver la convierte en una trayectoria: parte del nivel actual y avanza un paso Δt con h(t+Δt) = h(t) + Δt·dh/dt (método de Euler, el más simple). El gráfico muestra el efecto del paso: con un paso grande el resultado se aleja de la solución real; con uno chico es preciso pero requiere más cálculo. Paso fijo: necesario cuando el gemelo corre al ritmo de los datos (tiempo real). Paso variable: el solver ajusta solo el paso, útil fuera de línea. Sistemas rígidos: dinámicas muy rápidas y muy lentas juntas (molino SAG y su accionamiento) requieren solvers implícitos como DASSL o CVODE (OpenModelica usa DASSL por defecto). Runge-Kutta es la familia clásica explícita, más precisa que Euler.</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paso se elige por la dinámica más rápida que afecta la decisión, no por la más rápida que existe. Tres gemelos distintos sobre la misma faena: el del accionamiento de una correa necesita pasos de milisegundos; el del circuito de molienda, del orden del segundo; el del plan semanal mina–planta, del orden de la hora. Regla práctica: paso unas diez veces menor que la dinámica relevante y no mayor que el muestreo de los datos. Tiempo real: el gemelo sigue a la planta con paso fijo. Más rápido que el tiempo real: para what-if y optimización; factor de tiempo real = tiempo simulado / tiempo de cálculo (8 h en 30 s = 960).</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Orden: primero verificar (el código resuelve bien las ecuaciones: unidades, balances, convergencia al achicar el paso); luego calibrar (ajustar parámetros desconocidos con una parte de los datos); por último validar (probar con datos que no se usaron para calibrar). La división típica es por tiempo: calibrar con los primeros meses y validar con los últimos, para no hacer trampa. Error frecuente: calibrar sin validar, con parámetros que se compensan entre sí; el modelo reproduce la historia pero falla en el futuro. NASEM insiste en que esto es continuo: cuando la faena cambia, se repite.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Caso de la decisión 4: circuito de molienda SAG con cuatro modelos de cuatro proveedores (roles genéricos por neutralidad). Cada modelo entrega unas variables y necesita otras de los demás. La cadena de abajo muestra por qué hay que unirlos: si sube la dureza, el molino pide más potencia, el accionamiento puede llegar a su límite, el control reduce la alimentación y cambia el tamaño de producto que llega a flotación. Ningún modelo aislado ve esa cadena. Las láminas siguientes muestran cómo se unen: FMU, interfaz, co-simulación y estándares.</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FMI: estándar abierto de la Modelica Association para intercambiar modelos. Flujo: el modelo se construye en cualquier herramienta (Modelica, Simulink, software de un fabricante), se exporta como FMU y se importa en otra (Python con FMPy, la plataforma del gemelo, otra herramienta de simulación). La lista oficial de fmi-standard.org registra 291 herramientas (13 de octubre de 2026). Una FMU es un zip con modelDescription.xml (la interfaz), binarios compilados por plataforma y recursos. Model Exchange: la FMU entrega ecuaciones y el importador pone el solver. Co-Simulation: la FMU trae su solver y solo intercambia valores; es la forma habitual de compartir modelos cerrados. FMI 2.0 es el más soportado; FMI 3.0 (2022) agrega arreglos, relojes y tipos.</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contrato es el archivo modelDescription.xml. Por cada variable declara: nombre; sentido o causalidad (entrada, salida, parámetro); tipo y variabilidad (real, entero, booleano; continua, discreta, fija); unidad; valor inicial y rango (start, min, max); y descripción. Ejemplo: potencia_eje es una salida real continua en kW, entre 0 y 20 000. A la derecha, la misma FMU vista desde afuera: entradas, salidas y parámetro. Error típico de integración: unidades distintas (bar vs. kPa); con la unidad declarada se detecta antes de simular. Recuerda la lámina 47: al exportar, un modelo acausal queda con entradas y salidas fijas.</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Co-Simulation es una forma de exportar la FMU: trae su propio solver. Quien la importa no integra ecuaciones; solo repite un ciclo: entregar entradas, pedir que avance un paso (doStep) y leer salidas. Eso funciona con una sola FMU: es el caso típico del gemelo, donde un script alimenta la FMU con datos de planta cada segundo (lo que se hace en el capítulo IV). Con varias FMU, el mismo ciclo además pasa salidas de unas como entradas de otras; ese programa se llama algoritmo maestro. Cuidados: el paso de comunicación y la extrapolación de entradas aplican siempre; los lazos algebraicos aparecen solo cuando hay varias FMU que dependen mutuamente. Contraste con Model Exchange: ahí la FMU entrega sus ecuaciones y el importador pone el solver.</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El caso completo sobre el stack de cinco capas, con un color por proveedor. Capa 1: DCS, analizador de tamaño, laboratorio. Capa 2: OPC UA, historian y SSP (archivo que describe cómo se conectan las FMU). Capa 3: cada proveedor entrega su FMU; el MPC del control se conecta como otro participante. Capa 4: un maestro abierto (Python + FMPy) corre en un servidor en faena. Capa 5: tablero y what-if. A la derecha, alineado con cada capa, el viaje de un dato de abajo hacia arriba (piezas con borde cian): la presión de ciclones sale del DCS, llega por OPC UA, entra a la FMU de ciclones, el maestro avanza el conjunto y el tablero muestra un P80 estimado. Roles genéricos, sin nombres de empresas.</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Tres problemas de integración, seis estándares. Unir modelos (capa 3): FMI empaqueta un modelo para usarlo en otra herramienta; SSP describe un sistema de varias FMU con sus conexiones y parámetros. Mover datos (capas 1 y 2): OPC UA (IEC 62541) comunica datos de control con su significado; MQTT (OASIS) es mensajería liviana publicar/suscribir para IoT; ISA-95 (IEC 62264) ordena los niveles entre planta y empresa. Describir el equipo (capas 2 y 3): AAS (IEC 63278) es la ficha digital estándar del activo. Un gemelo multiproveedor típico usa varios a la vez.</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Ruta típica de una señal: sensor (4–20 mA) → PLC/DCS (control, 100 ms) → SCADA (visualización) → historian (almacenamiento, a menudo comprimido) → gemelo. Cada escalón agrega retardo y un punto de falla: sensor sucio o descalibrado, redondeo o filtro en el PLC, SCADA que no guarda, compresión del historian que borra detalle, y llegada tardía o con huecos al gemelo. El gemelo suele leer del historian o directo del servidor OPC UA. La vía corta MQTT conecta sensores IoT nuevos (p. ej. vibración inalámbrica en polines) directo al gemelo. Frecuencias ilustrativas.</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problemas de datos reales, cada uno con un ejemplo minero y qué hacer: huecos (pérdida de comunicación, típico en subterránea), valores congelados (sensor fallado que repite el último valor), ruido (pulpa, vibración) y desfases (relojes distintos o retardos del historian). Abajo, los cuatro chequeos automáticos que corre el gemelo antes de usar un dato: rango, frescura, variación y coherencia entre sensores.</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Estimación de estado: en cada paso el modelo predice, llega la medición y la estimación se corrige; el filtro de Kalman pondera ambos según su incertidumbre. Gana tres cosas: filtra ruido sin el retardo de un filtro simple, tapa huecos (el modelo sigue estimando si se cae la red) y estima variables no medidas (densidad de la cama, carga de bolas, inventario de un stockpile). Alternativas: observadores, filtro de Kalman extendido o unscented, filtros de partículas, o reinicializar el modelo con los datos.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Edge: junto al equipo, latencia mínima y sigue funcionando sin red; ideal para subterránea con comunicación intermitente. Servidor en faena: el lugar habitual de un gemelo de planta. Nube: mucho cálculo y datos de varias faenas, pero depende del enlace. Tres preguntas para decidir. La arquitectura real suele ser híbrida: edge para lo rápido, faena para operar, nube para aprender.</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Cuatro niveles de hardware. PLC con runtime: modelos mínimos dentro del ciclo de control. PC industrial edge: equipo robusto (sin ventilador, resistente a polvo y vibración) para FMU livianas, filtros de Kalman y sensores virtuales. Servidor en faena: co-simulación y what-if. Nube con CPU/GPU: entrenamiento de ML, simulaciones pesadas (DEM, CFD) y barridos masivos. Clave: la FMU compilada se lleva a cualquiera si hay binarios para su plataforma.</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What-if: clonar el estado actual del gemelo (posición de la flota, colas, stocks), simular hacia adelante con decisiones alternativas y comparar indicadores. Exige un modelo sincronizado (decisión 4), ejecución más rápida que el tiempo real (decisión 3) y capacidad de cálculo (decisión 5). La decisión final sigue siendo del despachador. Cifras ilustrativas.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Escalera de autonomía, conectada al capítulo I: what-if manual (modelo), recomendación (sombra), control supervisado (sombra, con el operador aprobando), lazo cerrado con MPC (gemelo). Cada escalón trae un ejemplo en molienda. El control predictivo usa un modelo para predecir y optimizar consignas en un horizonte; es lo que ofrecen los proveedores de control avanzado del capítulo II.</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Calibración en línea y detección de deriva. Si un parámetro físico (eficiencia de levante, curva de la bomba, fricción de polines, corte del ciclón) se recalibra continuamente, su tendencia revela el estado del equipo y permite programar la mantención. Cuidado: distinguir deriva real (lenta, sostenida) de un sensor que falla (saltos bruscos).</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ModelOps: el ciclo de vida del modelo. Desarrollar, probar (regresión contra datos históricos y resultados conocidos), versionar (cada FMU con número y registro de cambios), desplegar con posibilidad de volver atrás, monitorear el error frente a la planta y recalibrar. Necesita un dueño en la operación. Abajo, una historia de versiones ilustrativa: puesta en marcha, recalibración tras cambiar revestimientos, corrección de una unidad y un equipo nuevo.</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Resumen del capítulo III. 1) Modelo: enfoque y fidelidad según la decisión; verificar, validar y calibrar. 2) Integración: estándares para unir proveedores; validar el conjunto. 3) Operación: dónde corre, cómo se sincroniza y cómo se mantiene. Puente: el capítulo IV recorre el cubo, el stack, las capacidades y la construcción con el filtro HBF-S 168/12.</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Referencias de todo el curso, numeradas en orden de aparición; bajo cada número, el capítulo donde se cita.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 Id="rId3" Type="http://schemas.openxmlformats.org/officeDocument/2006/relationships/image" Target="../media/image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9.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4.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7.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1.png"/><Relationship Id="rId3" Type="http://schemas.openxmlformats.org/officeDocument/2006/relationships/hyperlink" Target="http://bit.ly/2Tynxth"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jpe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1C1EC3-D699-5938-A4A3-682198A9E5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E713AF42-5521-3368-35D0-9BAE0A8D6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D6DDCFB1-BDA3-581B-9B59-04BD281347AE}"/>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1877ED4-AD61-9958-B8BF-9D6E203C959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AEA3FE22-F655-A5A5-501B-A49B967C307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498667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CC4884-AC19-2253-D13F-C8673DBB835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00060FA2-4EA6-36C1-43FA-23CFA05280AE}"/>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E333E93A-101E-9DE0-5167-50281558ED6D}"/>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B9CFDB-C719-7609-8375-5A75591152F0}"/>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EDBA177-BFE8-69F7-61AD-8DEC70875203}"/>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648530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F63449-D190-EC86-EFE5-9E6A2CF0EAE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CBA531C0-4F44-1C00-A978-32B758E48C6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1E15581-AE2F-4427-D998-E41DAA0C18C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D513A1E9-7981-EFE8-41DE-A6C4DFC90DE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78698054-145E-947F-80C5-B25F537184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4027929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14FD70-939C-E1DC-EDDD-4A9B67CD4694}"/>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9195D4DC-A947-BD93-4A3D-AACAF9AB250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3A7977C-3263-D267-7E01-A7072E6E039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B4782E93-7870-B13F-62E9-4489CE15F2C8}"/>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66E39DAF-12F8-BFB8-E205-C03F4602599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8A377EBA-A376-5E20-ACD6-7A1BFB95C41C}"/>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619637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03E840-B297-F495-62C6-2F5A591FB89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6F2D2530-A86D-7DF5-5433-87B672593A5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5018532-2796-2A90-F39E-FA91057272F9}"/>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62D7F3C8-C0FD-139D-7805-11818CEA337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4E3FA0C-A922-F94D-44D2-DD070E355034}"/>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54EFA2AE-2AE0-004D-40D5-B785E6C950B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8" name="Marcador de pie de página 7">
            <a:extLst>
              <a:ext uri="{FF2B5EF4-FFF2-40B4-BE49-F238E27FC236}">
                <a16:creationId xmlns:a16="http://schemas.microsoft.com/office/drawing/2014/main" id="{A00ECF31-7FE1-9314-3C67-25E05E665F37}"/>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2EF40F13-A8B3-5C8C-28BE-AB7C0A167294}"/>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5614309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F408A5-6035-F4FD-F943-1F9E630B0406}"/>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6C561BDF-C03F-52B4-EA59-4EB9BF4486C4}"/>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4" name="Marcador de pie de página 3">
            <a:extLst>
              <a:ext uri="{FF2B5EF4-FFF2-40B4-BE49-F238E27FC236}">
                <a16:creationId xmlns:a16="http://schemas.microsoft.com/office/drawing/2014/main" id="{94653506-5914-A42E-AC3B-9C1DFF889BDC}"/>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387EEF24-ACCD-82DD-BFC2-6DE86647AC4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9576088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8A5D5D1-9398-DBD0-CC96-4DCC0903CD5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3" name="Marcador de pie de página 2">
            <a:extLst>
              <a:ext uri="{FF2B5EF4-FFF2-40B4-BE49-F238E27FC236}">
                <a16:creationId xmlns:a16="http://schemas.microsoft.com/office/drawing/2014/main" id="{4FEBF566-555D-B77A-E8D8-BF879E781670}"/>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6D8F82D6-2724-68E1-E832-9BA570873A2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26776132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DE4FBA-EC44-CEC9-7C61-56591E3F3DF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40A153E-83C0-21AA-D27D-086706A031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E6D0FE2B-A801-50D0-3B55-F18535FE55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774A35C-644E-CE67-843E-3912E2B1753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58BD8E3-F770-F9CC-12EC-75900ED0360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E87368D2-3F1E-CDFB-372D-1C6D507CF18D}"/>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8268329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8BB538-FB5B-94D8-AF11-91E676754D9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31911712-9666-A7C3-2AB8-1E49540217D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AB0EA63F-91E5-3C8E-D4A7-3774C15C02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E9ECD04-0D35-ECC0-9BAF-9F02E7352DEA}"/>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6" name="Marcador de pie de página 5">
            <a:extLst>
              <a:ext uri="{FF2B5EF4-FFF2-40B4-BE49-F238E27FC236}">
                <a16:creationId xmlns:a16="http://schemas.microsoft.com/office/drawing/2014/main" id="{A4E1CA51-EFED-5252-1F89-51CDD981E66E}"/>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0ACFA750-B593-4349-FAEB-F1B774BF577B}"/>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130404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4D27A2-2DCE-78A5-CD90-90CBB4AE9E35}"/>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D984B10D-65EB-F8A0-C4A1-F93E244AF08C}"/>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0AB1436B-DD56-82FB-E6B1-830BF8033FB1}"/>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09D4B1D8-66F8-CFFD-EBA8-55F4CD69704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19A29C4C-F216-F989-E4D0-0357833185F6}"/>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39193359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9306880-4021-4239-12B5-3559F5F994F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B3749660-7C27-8A53-859E-CC11E91228F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F44F580E-CD7C-599A-4508-DE444E0686A6}"/>
              </a:ext>
            </a:extLst>
          </p:cNvPr>
          <p:cNvSpPr>
            <a:spLocks noGrp="1"/>
          </p:cNvSpPr>
          <p:nvPr>
            <p:ph type="dt" sz="half" idx="10"/>
          </p:nvPr>
        </p:nvSpPr>
        <p:spPr/>
        <p:txBody>
          <a:body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5118370D-FC2F-70B6-A108-7AEF0CBA6812}"/>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ED19D3B-1D74-8F29-5DF0-2CA05713A75A}"/>
              </a:ext>
            </a:extLst>
          </p:cNvPr>
          <p:cNvSpPr>
            <a:spLocks noGrp="1"/>
          </p:cNvSpPr>
          <p:nvPr>
            <p:ph type="sldNum" sz="quarter" idx="12"/>
          </p:nvPr>
        </p:nvSpPr>
        <p:spPr/>
        <p:txBody>
          <a:bodyPr/>
          <a:lstStyle/>
          <a:p>
            <a:fld id="{326001BE-C829-45D8-A74C-DB7038EE08AC}" type="slidenum">
              <a:rPr lang="es-CL" smtClean="0"/>
              <a:t>‹Nº›</a:t>
            </a:fld>
            <a:endParaRPr lang="es-CL"/>
          </a:p>
        </p:txBody>
      </p:sp>
    </p:spTree>
    <p:extLst>
      <p:ext uri="{BB962C8B-B14F-4D97-AF65-F5344CB8AC3E}">
        <p14:creationId xmlns:p14="http://schemas.microsoft.com/office/powerpoint/2010/main" val="1662887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2901200" y="2600133"/>
            <a:ext cx="6389600" cy="8596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600"/>
              <a:buNone/>
              <a:defRPr sz="4800" b="1">
                <a:solidFill>
                  <a:schemeClr val="lt1"/>
                </a:solidFill>
              </a:defRPr>
            </a:lvl1pPr>
            <a:lvl2pPr lvl="1" algn="ctr">
              <a:spcBef>
                <a:spcPts val="0"/>
              </a:spcBef>
              <a:spcAft>
                <a:spcPts val="0"/>
              </a:spcAft>
              <a:buClr>
                <a:schemeClr val="lt1"/>
              </a:buClr>
              <a:buSzPts val="3600"/>
              <a:buNone/>
              <a:defRPr sz="4800" b="1">
                <a:solidFill>
                  <a:schemeClr val="lt1"/>
                </a:solidFill>
              </a:defRPr>
            </a:lvl2pPr>
            <a:lvl3pPr lvl="2" algn="ctr">
              <a:spcBef>
                <a:spcPts val="0"/>
              </a:spcBef>
              <a:spcAft>
                <a:spcPts val="0"/>
              </a:spcAft>
              <a:buClr>
                <a:schemeClr val="lt1"/>
              </a:buClr>
              <a:buSzPts val="3600"/>
              <a:buNone/>
              <a:defRPr sz="4800" b="1">
                <a:solidFill>
                  <a:schemeClr val="lt1"/>
                </a:solidFill>
              </a:defRPr>
            </a:lvl3pPr>
            <a:lvl4pPr lvl="3" algn="ctr">
              <a:spcBef>
                <a:spcPts val="0"/>
              </a:spcBef>
              <a:spcAft>
                <a:spcPts val="0"/>
              </a:spcAft>
              <a:buClr>
                <a:schemeClr val="lt1"/>
              </a:buClr>
              <a:buSzPts val="3600"/>
              <a:buNone/>
              <a:defRPr sz="4800" b="1">
                <a:solidFill>
                  <a:schemeClr val="lt1"/>
                </a:solidFill>
              </a:defRPr>
            </a:lvl4pPr>
            <a:lvl5pPr lvl="4" algn="ctr">
              <a:spcBef>
                <a:spcPts val="0"/>
              </a:spcBef>
              <a:spcAft>
                <a:spcPts val="0"/>
              </a:spcAft>
              <a:buClr>
                <a:schemeClr val="lt1"/>
              </a:buClr>
              <a:buSzPts val="3600"/>
              <a:buNone/>
              <a:defRPr sz="4800" b="1">
                <a:solidFill>
                  <a:schemeClr val="lt1"/>
                </a:solidFill>
              </a:defRPr>
            </a:lvl5pPr>
            <a:lvl6pPr lvl="5" algn="ctr">
              <a:spcBef>
                <a:spcPts val="0"/>
              </a:spcBef>
              <a:spcAft>
                <a:spcPts val="0"/>
              </a:spcAft>
              <a:buClr>
                <a:schemeClr val="lt1"/>
              </a:buClr>
              <a:buSzPts val="3600"/>
              <a:buNone/>
              <a:defRPr sz="4800" b="1">
                <a:solidFill>
                  <a:schemeClr val="lt1"/>
                </a:solidFill>
              </a:defRPr>
            </a:lvl6pPr>
            <a:lvl7pPr lvl="6" algn="ctr">
              <a:spcBef>
                <a:spcPts val="0"/>
              </a:spcBef>
              <a:spcAft>
                <a:spcPts val="0"/>
              </a:spcAft>
              <a:buClr>
                <a:schemeClr val="lt1"/>
              </a:buClr>
              <a:buSzPts val="3600"/>
              <a:buNone/>
              <a:defRPr sz="4800" b="1">
                <a:solidFill>
                  <a:schemeClr val="lt1"/>
                </a:solidFill>
              </a:defRPr>
            </a:lvl7pPr>
            <a:lvl8pPr lvl="7" algn="ctr">
              <a:spcBef>
                <a:spcPts val="0"/>
              </a:spcBef>
              <a:spcAft>
                <a:spcPts val="0"/>
              </a:spcAft>
              <a:buClr>
                <a:schemeClr val="lt1"/>
              </a:buClr>
              <a:buSzPts val="3600"/>
              <a:buNone/>
              <a:defRPr sz="4800" b="1">
                <a:solidFill>
                  <a:schemeClr val="lt1"/>
                </a:solidFill>
              </a:defRPr>
            </a:lvl8pPr>
            <a:lvl9pPr lvl="8" algn="ctr">
              <a:spcBef>
                <a:spcPts val="0"/>
              </a:spcBef>
              <a:spcAft>
                <a:spcPts val="0"/>
              </a:spcAft>
              <a:buClr>
                <a:schemeClr val="lt1"/>
              </a:buClr>
              <a:buSzPts val="3600"/>
              <a:buNone/>
              <a:defRPr sz="4800" b="1">
                <a:solidFill>
                  <a:schemeClr val="lt1"/>
                </a:solidFill>
              </a:defRPr>
            </a:lvl9pPr>
          </a:lstStyle>
          <a:p>
            <a:endParaRPr/>
          </a:p>
        </p:txBody>
      </p:sp>
      <p:sp>
        <p:nvSpPr>
          <p:cNvPr id="10" name="Google Shape;10;p2"/>
          <p:cNvSpPr txBox="1">
            <a:spLocks noGrp="1"/>
          </p:cNvSpPr>
          <p:nvPr>
            <p:ph type="subTitle" idx="1"/>
          </p:nvPr>
        </p:nvSpPr>
        <p:spPr>
          <a:xfrm>
            <a:off x="2725600" y="4939533"/>
            <a:ext cx="6740800" cy="619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Clr>
                <a:schemeClr val="accent1"/>
              </a:buClr>
              <a:buSzPts val="1400"/>
              <a:buNone/>
              <a:defRPr sz="1867">
                <a:solidFill>
                  <a:schemeClr val="accent1"/>
                </a:solidFill>
              </a:defRPr>
            </a:lvl1pPr>
            <a:lvl2pPr lvl="1" algn="ctr">
              <a:lnSpc>
                <a:spcPct val="100000"/>
              </a:lnSpc>
              <a:spcBef>
                <a:spcPts val="0"/>
              </a:spcBef>
              <a:spcAft>
                <a:spcPts val="0"/>
              </a:spcAft>
              <a:buClr>
                <a:schemeClr val="lt1"/>
              </a:buClr>
              <a:buSzPts val="1800"/>
              <a:buNone/>
              <a:defRPr sz="2400">
                <a:solidFill>
                  <a:schemeClr val="lt1"/>
                </a:solidFill>
              </a:defRPr>
            </a:lvl2pPr>
            <a:lvl3pPr lvl="2" algn="ctr">
              <a:lnSpc>
                <a:spcPct val="100000"/>
              </a:lnSpc>
              <a:spcBef>
                <a:spcPts val="0"/>
              </a:spcBef>
              <a:spcAft>
                <a:spcPts val="0"/>
              </a:spcAft>
              <a:buClr>
                <a:schemeClr val="lt1"/>
              </a:buClr>
              <a:buSzPts val="1800"/>
              <a:buNone/>
              <a:defRPr sz="2400">
                <a:solidFill>
                  <a:schemeClr val="lt1"/>
                </a:solidFill>
              </a:defRPr>
            </a:lvl3pPr>
            <a:lvl4pPr lvl="3" algn="ctr">
              <a:lnSpc>
                <a:spcPct val="100000"/>
              </a:lnSpc>
              <a:spcBef>
                <a:spcPts val="0"/>
              </a:spcBef>
              <a:spcAft>
                <a:spcPts val="0"/>
              </a:spcAft>
              <a:buClr>
                <a:schemeClr val="lt1"/>
              </a:buClr>
              <a:buSzPts val="1800"/>
              <a:buNone/>
              <a:defRPr sz="2400">
                <a:solidFill>
                  <a:schemeClr val="lt1"/>
                </a:solidFill>
              </a:defRPr>
            </a:lvl4pPr>
            <a:lvl5pPr lvl="4" algn="ctr">
              <a:lnSpc>
                <a:spcPct val="100000"/>
              </a:lnSpc>
              <a:spcBef>
                <a:spcPts val="0"/>
              </a:spcBef>
              <a:spcAft>
                <a:spcPts val="0"/>
              </a:spcAft>
              <a:buClr>
                <a:schemeClr val="lt1"/>
              </a:buClr>
              <a:buSzPts val="1800"/>
              <a:buNone/>
              <a:defRPr sz="2400">
                <a:solidFill>
                  <a:schemeClr val="lt1"/>
                </a:solidFill>
              </a:defRPr>
            </a:lvl5pPr>
            <a:lvl6pPr lvl="5" algn="ctr">
              <a:lnSpc>
                <a:spcPct val="100000"/>
              </a:lnSpc>
              <a:spcBef>
                <a:spcPts val="0"/>
              </a:spcBef>
              <a:spcAft>
                <a:spcPts val="0"/>
              </a:spcAft>
              <a:buClr>
                <a:schemeClr val="lt1"/>
              </a:buClr>
              <a:buSzPts val="1800"/>
              <a:buNone/>
              <a:defRPr sz="2400">
                <a:solidFill>
                  <a:schemeClr val="lt1"/>
                </a:solidFill>
              </a:defRPr>
            </a:lvl6pPr>
            <a:lvl7pPr lvl="6" algn="ctr">
              <a:lnSpc>
                <a:spcPct val="100000"/>
              </a:lnSpc>
              <a:spcBef>
                <a:spcPts val="0"/>
              </a:spcBef>
              <a:spcAft>
                <a:spcPts val="0"/>
              </a:spcAft>
              <a:buClr>
                <a:schemeClr val="lt1"/>
              </a:buClr>
              <a:buSzPts val="1800"/>
              <a:buNone/>
              <a:defRPr sz="2400">
                <a:solidFill>
                  <a:schemeClr val="lt1"/>
                </a:solidFill>
              </a:defRPr>
            </a:lvl7pPr>
            <a:lvl8pPr lvl="7" algn="ctr">
              <a:lnSpc>
                <a:spcPct val="100000"/>
              </a:lnSpc>
              <a:spcBef>
                <a:spcPts val="0"/>
              </a:spcBef>
              <a:spcAft>
                <a:spcPts val="0"/>
              </a:spcAft>
              <a:buClr>
                <a:schemeClr val="lt1"/>
              </a:buClr>
              <a:buSzPts val="1800"/>
              <a:buNone/>
              <a:defRPr sz="2400">
                <a:solidFill>
                  <a:schemeClr val="lt1"/>
                </a:solidFill>
              </a:defRPr>
            </a:lvl8pPr>
            <a:lvl9pPr lvl="8" algn="ctr">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39982286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016893" y="4237000"/>
            <a:ext cx="4091600" cy="798400"/>
          </a:xfrm>
          <a:prstGeom prst="rect">
            <a:avLst/>
          </a:prstGeom>
        </p:spPr>
        <p:txBody>
          <a:bodyPr spcFirstLastPara="1" wrap="square" lIns="91425" tIns="91425" rIns="91425" bIns="91425" anchor="b" anchorCtr="0">
            <a:noAutofit/>
          </a:bodyPr>
          <a:lstStyle>
            <a:lvl1pPr lvl="0">
              <a:spcBef>
                <a:spcPts val="0"/>
              </a:spcBef>
              <a:spcAft>
                <a:spcPts val="0"/>
              </a:spcAft>
              <a:buClr>
                <a:schemeClr val="lt1"/>
              </a:buClr>
              <a:buSzPts val="3600"/>
              <a:buNone/>
              <a:defRPr sz="4800">
                <a:solidFill>
                  <a:schemeClr val="lt1"/>
                </a:solidFill>
              </a:defRPr>
            </a:lvl1pPr>
            <a:lvl2pPr lvl="1">
              <a:spcBef>
                <a:spcPts val="0"/>
              </a:spcBef>
              <a:spcAft>
                <a:spcPts val="0"/>
              </a:spcAft>
              <a:buClr>
                <a:schemeClr val="lt1"/>
              </a:buClr>
              <a:buSzPts val="3600"/>
              <a:buNone/>
              <a:defRPr sz="4800">
                <a:solidFill>
                  <a:schemeClr val="lt1"/>
                </a:solidFill>
              </a:defRPr>
            </a:lvl2pPr>
            <a:lvl3pPr lvl="2">
              <a:spcBef>
                <a:spcPts val="0"/>
              </a:spcBef>
              <a:spcAft>
                <a:spcPts val="0"/>
              </a:spcAft>
              <a:buClr>
                <a:schemeClr val="lt1"/>
              </a:buClr>
              <a:buSzPts val="3600"/>
              <a:buNone/>
              <a:defRPr sz="4800">
                <a:solidFill>
                  <a:schemeClr val="lt1"/>
                </a:solidFill>
              </a:defRPr>
            </a:lvl3pPr>
            <a:lvl4pPr lvl="3">
              <a:spcBef>
                <a:spcPts val="0"/>
              </a:spcBef>
              <a:spcAft>
                <a:spcPts val="0"/>
              </a:spcAft>
              <a:buClr>
                <a:schemeClr val="lt1"/>
              </a:buClr>
              <a:buSzPts val="3600"/>
              <a:buNone/>
              <a:defRPr sz="4800">
                <a:solidFill>
                  <a:schemeClr val="lt1"/>
                </a:solidFill>
              </a:defRPr>
            </a:lvl4pPr>
            <a:lvl5pPr lvl="4">
              <a:spcBef>
                <a:spcPts val="0"/>
              </a:spcBef>
              <a:spcAft>
                <a:spcPts val="0"/>
              </a:spcAft>
              <a:buClr>
                <a:schemeClr val="lt1"/>
              </a:buClr>
              <a:buSzPts val="3600"/>
              <a:buNone/>
              <a:defRPr sz="4800">
                <a:solidFill>
                  <a:schemeClr val="lt1"/>
                </a:solidFill>
              </a:defRPr>
            </a:lvl5pPr>
            <a:lvl6pPr lvl="5">
              <a:spcBef>
                <a:spcPts val="0"/>
              </a:spcBef>
              <a:spcAft>
                <a:spcPts val="0"/>
              </a:spcAft>
              <a:buClr>
                <a:schemeClr val="lt1"/>
              </a:buClr>
              <a:buSzPts val="3600"/>
              <a:buNone/>
              <a:defRPr sz="4800">
                <a:solidFill>
                  <a:schemeClr val="lt1"/>
                </a:solidFill>
              </a:defRPr>
            </a:lvl6pPr>
            <a:lvl7pPr lvl="6">
              <a:spcBef>
                <a:spcPts val="0"/>
              </a:spcBef>
              <a:spcAft>
                <a:spcPts val="0"/>
              </a:spcAft>
              <a:buClr>
                <a:schemeClr val="lt1"/>
              </a:buClr>
              <a:buSzPts val="3600"/>
              <a:buNone/>
              <a:defRPr sz="4800">
                <a:solidFill>
                  <a:schemeClr val="lt1"/>
                </a:solidFill>
              </a:defRPr>
            </a:lvl7pPr>
            <a:lvl8pPr lvl="7">
              <a:spcBef>
                <a:spcPts val="0"/>
              </a:spcBef>
              <a:spcAft>
                <a:spcPts val="0"/>
              </a:spcAft>
              <a:buClr>
                <a:schemeClr val="lt1"/>
              </a:buClr>
              <a:buSzPts val="3600"/>
              <a:buNone/>
              <a:defRPr sz="4800">
                <a:solidFill>
                  <a:schemeClr val="lt1"/>
                </a:solidFill>
              </a:defRPr>
            </a:lvl8pPr>
            <a:lvl9pPr lvl="8">
              <a:spcBef>
                <a:spcPts val="0"/>
              </a:spcBef>
              <a:spcAft>
                <a:spcPts val="0"/>
              </a:spcAft>
              <a:buClr>
                <a:schemeClr val="lt1"/>
              </a:buClr>
              <a:buSzPts val="3600"/>
              <a:buNone/>
              <a:defRPr sz="4800">
                <a:solidFill>
                  <a:schemeClr val="lt1"/>
                </a:solidFill>
              </a:defRPr>
            </a:lvl9pPr>
          </a:lstStyle>
          <a:p>
            <a:endParaRPr/>
          </a:p>
        </p:txBody>
      </p:sp>
      <p:sp>
        <p:nvSpPr>
          <p:cNvPr id="13" name="Google Shape;13;p3"/>
          <p:cNvSpPr txBox="1">
            <a:spLocks noGrp="1"/>
          </p:cNvSpPr>
          <p:nvPr>
            <p:ph type="title" idx="2" hasCustomPrompt="1"/>
          </p:nvPr>
        </p:nvSpPr>
        <p:spPr>
          <a:xfrm>
            <a:off x="1397693" y="4383333"/>
            <a:ext cx="3217200" cy="1242000"/>
          </a:xfrm>
          <a:prstGeom prst="rect">
            <a:avLst/>
          </a:prstGeom>
          <a:effectLst>
            <a:outerShdw blurRad="114300" dist="28575" dir="6360000" algn="bl" rotWithShape="0">
              <a:schemeClr val="accent1">
                <a:alpha val="50000"/>
              </a:schemeClr>
            </a:outerShdw>
          </a:effectLst>
        </p:spPr>
        <p:txBody>
          <a:bodyPr spcFirstLastPara="1" wrap="square" lIns="91425" tIns="91425" rIns="91425" bIns="91425" anchor="ctr" anchorCtr="0">
            <a:noAutofit/>
          </a:bodyPr>
          <a:lstStyle>
            <a:lvl1pPr lvl="0" algn="r" rtl="0">
              <a:spcBef>
                <a:spcPts val="0"/>
              </a:spcBef>
              <a:spcAft>
                <a:spcPts val="0"/>
              </a:spcAft>
              <a:buClr>
                <a:schemeClr val="lt1"/>
              </a:buClr>
              <a:buSzPts val="6000"/>
              <a:buNone/>
              <a:defRPr sz="8000">
                <a:solidFill>
                  <a:schemeClr val="lt1"/>
                </a:solidFill>
              </a:defRPr>
            </a:lvl1pPr>
            <a:lvl2pPr lvl="1" algn="ctr" rtl="0">
              <a:spcBef>
                <a:spcPts val="0"/>
              </a:spcBef>
              <a:spcAft>
                <a:spcPts val="0"/>
              </a:spcAft>
              <a:buClr>
                <a:schemeClr val="lt1"/>
              </a:buClr>
              <a:buSzPts val="7200"/>
              <a:buNone/>
              <a:defRPr sz="9600">
                <a:solidFill>
                  <a:schemeClr val="lt1"/>
                </a:solidFill>
              </a:defRPr>
            </a:lvl2pPr>
            <a:lvl3pPr lvl="2" algn="ctr" rtl="0">
              <a:spcBef>
                <a:spcPts val="0"/>
              </a:spcBef>
              <a:spcAft>
                <a:spcPts val="0"/>
              </a:spcAft>
              <a:buClr>
                <a:schemeClr val="lt1"/>
              </a:buClr>
              <a:buSzPts val="7200"/>
              <a:buNone/>
              <a:defRPr sz="9600">
                <a:solidFill>
                  <a:schemeClr val="lt1"/>
                </a:solidFill>
              </a:defRPr>
            </a:lvl3pPr>
            <a:lvl4pPr lvl="3" algn="ctr" rtl="0">
              <a:spcBef>
                <a:spcPts val="0"/>
              </a:spcBef>
              <a:spcAft>
                <a:spcPts val="0"/>
              </a:spcAft>
              <a:buClr>
                <a:schemeClr val="lt1"/>
              </a:buClr>
              <a:buSzPts val="7200"/>
              <a:buNone/>
              <a:defRPr sz="9600">
                <a:solidFill>
                  <a:schemeClr val="lt1"/>
                </a:solidFill>
              </a:defRPr>
            </a:lvl4pPr>
            <a:lvl5pPr lvl="4" algn="ctr" rtl="0">
              <a:spcBef>
                <a:spcPts val="0"/>
              </a:spcBef>
              <a:spcAft>
                <a:spcPts val="0"/>
              </a:spcAft>
              <a:buClr>
                <a:schemeClr val="lt1"/>
              </a:buClr>
              <a:buSzPts val="7200"/>
              <a:buNone/>
              <a:defRPr sz="9600">
                <a:solidFill>
                  <a:schemeClr val="lt1"/>
                </a:solidFill>
              </a:defRPr>
            </a:lvl5pPr>
            <a:lvl6pPr lvl="5" algn="ctr" rtl="0">
              <a:spcBef>
                <a:spcPts val="0"/>
              </a:spcBef>
              <a:spcAft>
                <a:spcPts val="0"/>
              </a:spcAft>
              <a:buClr>
                <a:schemeClr val="lt1"/>
              </a:buClr>
              <a:buSzPts val="7200"/>
              <a:buNone/>
              <a:defRPr sz="9600">
                <a:solidFill>
                  <a:schemeClr val="lt1"/>
                </a:solidFill>
              </a:defRPr>
            </a:lvl6pPr>
            <a:lvl7pPr lvl="6" algn="ctr" rtl="0">
              <a:spcBef>
                <a:spcPts val="0"/>
              </a:spcBef>
              <a:spcAft>
                <a:spcPts val="0"/>
              </a:spcAft>
              <a:buClr>
                <a:schemeClr val="lt1"/>
              </a:buClr>
              <a:buSzPts val="7200"/>
              <a:buNone/>
              <a:defRPr sz="9600">
                <a:solidFill>
                  <a:schemeClr val="lt1"/>
                </a:solidFill>
              </a:defRPr>
            </a:lvl7pPr>
            <a:lvl8pPr lvl="7" algn="ctr" rtl="0">
              <a:spcBef>
                <a:spcPts val="0"/>
              </a:spcBef>
              <a:spcAft>
                <a:spcPts val="0"/>
              </a:spcAft>
              <a:buClr>
                <a:schemeClr val="lt1"/>
              </a:buClr>
              <a:buSzPts val="7200"/>
              <a:buNone/>
              <a:defRPr sz="9600">
                <a:solidFill>
                  <a:schemeClr val="lt1"/>
                </a:solidFill>
              </a:defRPr>
            </a:lvl8pPr>
            <a:lvl9pPr lvl="8" algn="ctr" rtl="0">
              <a:spcBef>
                <a:spcPts val="0"/>
              </a:spcBef>
              <a:spcAft>
                <a:spcPts val="0"/>
              </a:spcAft>
              <a:buClr>
                <a:schemeClr val="lt1"/>
              </a:buClr>
              <a:buSzPts val="7200"/>
              <a:buNone/>
              <a:defRPr sz="9600">
                <a:solidFill>
                  <a:schemeClr val="lt1"/>
                </a:solidFill>
              </a:defRPr>
            </a:lvl9pPr>
          </a:lstStyle>
          <a:p>
            <a:r>
              <a:t>xx%</a:t>
            </a:r>
          </a:p>
        </p:txBody>
      </p:sp>
      <p:sp>
        <p:nvSpPr>
          <p:cNvPr id="14" name="Google Shape;14;p3"/>
          <p:cNvSpPr txBox="1">
            <a:spLocks noGrp="1"/>
          </p:cNvSpPr>
          <p:nvPr>
            <p:ph type="subTitle" idx="1"/>
          </p:nvPr>
        </p:nvSpPr>
        <p:spPr>
          <a:xfrm>
            <a:off x="5016893" y="4960867"/>
            <a:ext cx="4091600" cy="619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Tree>
    <p:extLst>
      <p:ext uri="{BB962C8B-B14F-4D97-AF65-F5344CB8AC3E}">
        <p14:creationId xmlns:p14="http://schemas.microsoft.com/office/powerpoint/2010/main" val="145671127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2400"/>
              <a:buNone/>
              <a:defRPr sz="3200">
                <a:solidFill>
                  <a:schemeClr val="accen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17" name="Google Shape;17;p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05069976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0" name="Google Shape;20;p5"/>
          <p:cNvSpPr txBox="1">
            <a:spLocks noGrp="1"/>
          </p:cNvSpPr>
          <p:nvPr>
            <p:ph type="body" idx="1"/>
          </p:nvPr>
        </p:nvSpPr>
        <p:spPr>
          <a:xfrm>
            <a:off x="1251333"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21" name="Google Shape;21;p5"/>
          <p:cNvSpPr txBox="1">
            <a:spLocks noGrp="1"/>
          </p:cNvSpPr>
          <p:nvPr>
            <p:ph type="body" idx="2"/>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3174343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1623973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116233" y="1729500"/>
            <a:ext cx="3783200" cy="16700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26" name="Google Shape;26;p7"/>
          <p:cNvSpPr txBox="1">
            <a:spLocks noGrp="1"/>
          </p:cNvSpPr>
          <p:nvPr>
            <p:ph type="body" idx="1"/>
          </p:nvPr>
        </p:nvSpPr>
        <p:spPr>
          <a:xfrm>
            <a:off x="7116233" y="3458500"/>
            <a:ext cx="3783200" cy="1670000"/>
          </a:xfrm>
          <a:prstGeom prst="rect">
            <a:avLst/>
          </a:prstGeom>
        </p:spPr>
        <p:txBody>
          <a:bodyPr spcFirstLastPara="1" wrap="square" lIns="91425" tIns="91425" rIns="91425" bIns="91425" anchor="t" anchorCtr="0">
            <a:noAutofit/>
          </a:bodyPr>
          <a:lstStyle>
            <a:lvl1pPr marL="609585" lvl="0" indent="-440256" rtl="0">
              <a:spcBef>
                <a:spcPts val="0"/>
              </a:spcBef>
              <a:spcAft>
                <a:spcPts val="0"/>
              </a:spcAft>
              <a:buClr>
                <a:schemeClr val="lt1"/>
              </a:buClr>
              <a:buSzPts val="1600"/>
              <a:buChar char="●"/>
              <a:defRPr sz="2133">
                <a:solidFill>
                  <a:schemeClr val="lt1"/>
                </a:solidFill>
              </a:defRPr>
            </a:lvl1pPr>
            <a:lvl2pPr marL="1219170" lvl="1" indent="-440256" rtl="0">
              <a:spcBef>
                <a:spcPts val="2133"/>
              </a:spcBef>
              <a:spcAft>
                <a:spcPts val="0"/>
              </a:spcAft>
              <a:buClr>
                <a:schemeClr val="lt1"/>
              </a:buClr>
              <a:buSzPts val="1600"/>
              <a:buChar char="○"/>
              <a:defRPr sz="2133">
                <a:solidFill>
                  <a:schemeClr val="lt1"/>
                </a:solidFill>
              </a:defRPr>
            </a:lvl2pPr>
            <a:lvl3pPr marL="1828754" lvl="2" indent="-440256" rtl="0">
              <a:spcBef>
                <a:spcPts val="2133"/>
              </a:spcBef>
              <a:spcAft>
                <a:spcPts val="0"/>
              </a:spcAft>
              <a:buClr>
                <a:schemeClr val="lt1"/>
              </a:buClr>
              <a:buSzPts val="1600"/>
              <a:buChar char="■"/>
              <a:defRPr sz="2133">
                <a:solidFill>
                  <a:schemeClr val="lt1"/>
                </a:solidFill>
              </a:defRPr>
            </a:lvl3pPr>
            <a:lvl4pPr marL="2438339" lvl="3" indent="-440256" rtl="0">
              <a:spcBef>
                <a:spcPts val="2133"/>
              </a:spcBef>
              <a:spcAft>
                <a:spcPts val="0"/>
              </a:spcAft>
              <a:buClr>
                <a:schemeClr val="lt1"/>
              </a:buClr>
              <a:buSzPts val="1600"/>
              <a:buChar char="●"/>
              <a:defRPr sz="2133">
                <a:solidFill>
                  <a:schemeClr val="lt1"/>
                </a:solidFill>
              </a:defRPr>
            </a:lvl4pPr>
            <a:lvl5pPr marL="3047924" lvl="4" indent="-440256" rtl="0">
              <a:spcBef>
                <a:spcPts val="2133"/>
              </a:spcBef>
              <a:spcAft>
                <a:spcPts val="0"/>
              </a:spcAft>
              <a:buClr>
                <a:schemeClr val="lt1"/>
              </a:buClr>
              <a:buSzPts val="1600"/>
              <a:buChar char="○"/>
              <a:defRPr sz="2133">
                <a:solidFill>
                  <a:schemeClr val="lt1"/>
                </a:solidFill>
              </a:defRPr>
            </a:lvl5pPr>
            <a:lvl6pPr marL="3657509" lvl="5" indent="-440256" rtl="0">
              <a:spcBef>
                <a:spcPts val="2133"/>
              </a:spcBef>
              <a:spcAft>
                <a:spcPts val="0"/>
              </a:spcAft>
              <a:buClr>
                <a:schemeClr val="lt1"/>
              </a:buClr>
              <a:buSzPts val="1600"/>
              <a:buChar char="■"/>
              <a:defRPr sz="2133">
                <a:solidFill>
                  <a:schemeClr val="lt1"/>
                </a:solidFill>
              </a:defRPr>
            </a:lvl6pPr>
            <a:lvl7pPr marL="4267093" lvl="6" indent="-440256" rtl="0">
              <a:spcBef>
                <a:spcPts val="2133"/>
              </a:spcBef>
              <a:spcAft>
                <a:spcPts val="0"/>
              </a:spcAft>
              <a:buClr>
                <a:schemeClr val="lt1"/>
              </a:buClr>
              <a:buSzPts val="1600"/>
              <a:buChar char="●"/>
              <a:defRPr sz="2133">
                <a:solidFill>
                  <a:schemeClr val="lt1"/>
                </a:solidFill>
              </a:defRPr>
            </a:lvl7pPr>
            <a:lvl8pPr marL="4876678" lvl="7" indent="-440256" rtl="0">
              <a:spcBef>
                <a:spcPts val="2133"/>
              </a:spcBef>
              <a:spcAft>
                <a:spcPts val="0"/>
              </a:spcAft>
              <a:buClr>
                <a:schemeClr val="lt1"/>
              </a:buClr>
              <a:buSzPts val="1600"/>
              <a:buChar char="○"/>
              <a:defRPr sz="2133">
                <a:solidFill>
                  <a:schemeClr val="lt1"/>
                </a:solidFill>
              </a:defRPr>
            </a:lvl8pPr>
            <a:lvl9pPr marL="5486263" lvl="8" indent="-440256" rtl="0">
              <a:spcBef>
                <a:spcPts val="2133"/>
              </a:spcBef>
              <a:spcAft>
                <a:spcPts val="2133"/>
              </a:spcAft>
              <a:buClr>
                <a:schemeClr val="lt1"/>
              </a:buClr>
              <a:buSzPts val="1600"/>
              <a:buChar char="■"/>
              <a:defRPr sz="2133">
                <a:solidFill>
                  <a:schemeClr val="lt1"/>
                </a:solidFill>
              </a:defRPr>
            </a:lvl9pPr>
          </a:lstStyle>
          <a:p>
            <a:endParaRPr/>
          </a:p>
        </p:txBody>
      </p:sp>
    </p:spTree>
    <p:extLst>
      <p:ext uri="{BB962C8B-B14F-4D97-AF65-F5344CB8AC3E}">
        <p14:creationId xmlns:p14="http://schemas.microsoft.com/office/powerpoint/2010/main" val="20430584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8"/>
          <p:cNvSpPr txBox="1">
            <a:spLocks noGrp="1"/>
          </p:cNvSpPr>
          <p:nvPr>
            <p:ph type="title"/>
          </p:nvPr>
        </p:nvSpPr>
        <p:spPr>
          <a:xfrm>
            <a:off x="1239303" y="581577"/>
            <a:ext cx="3662000" cy="54544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3000"/>
              <a:buNone/>
              <a:defRPr sz="4000">
                <a:solidFill>
                  <a:schemeClr val="accent1"/>
                </a:solidFill>
              </a:defRPr>
            </a:lvl1pPr>
            <a:lvl2pPr lvl="1">
              <a:spcBef>
                <a:spcPts val="0"/>
              </a:spcBef>
              <a:spcAft>
                <a:spcPts val="0"/>
              </a:spcAft>
              <a:buClr>
                <a:schemeClr val="accent1"/>
              </a:buClr>
              <a:buSzPts val="4800"/>
              <a:buNone/>
              <a:defRPr sz="6400">
                <a:solidFill>
                  <a:schemeClr val="accent1"/>
                </a:solidFill>
              </a:defRPr>
            </a:lvl2pPr>
            <a:lvl3pPr lvl="2">
              <a:spcBef>
                <a:spcPts val="0"/>
              </a:spcBef>
              <a:spcAft>
                <a:spcPts val="0"/>
              </a:spcAft>
              <a:buClr>
                <a:schemeClr val="accent1"/>
              </a:buClr>
              <a:buSzPts val="4800"/>
              <a:buNone/>
              <a:defRPr sz="6400">
                <a:solidFill>
                  <a:schemeClr val="accent1"/>
                </a:solidFill>
              </a:defRPr>
            </a:lvl3pPr>
            <a:lvl4pPr lvl="3">
              <a:spcBef>
                <a:spcPts val="0"/>
              </a:spcBef>
              <a:spcAft>
                <a:spcPts val="0"/>
              </a:spcAft>
              <a:buClr>
                <a:schemeClr val="accent1"/>
              </a:buClr>
              <a:buSzPts val="4800"/>
              <a:buNone/>
              <a:defRPr sz="6400">
                <a:solidFill>
                  <a:schemeClr val="accent1"/>
                </a:solidFill>
              </a:defRPr>
            </a:lvl4pPr>
            <a:lvl5pPr lvl="4">
              <a:spcBef>
                <a:spcPts val="0"/>
              </a:spcBef>
              <a:spcAft>
                <a:spcPts val="0"/>
              </a:spcAft>
              <a:buClr>
                <a:schemeClr val="accent1"/>
              </a:buClr>
              <a:buSzPts val="4800"/>
              <a:buNone/>
              <a:defRPr sz="6400">
                <a:solidFill>
                  <a:schemeClr val="accent1"/>
                </a:solidFill>
              </a:defRPr>
            </a:lvl5pPr>
            <a:lvl6pPr lvl="5">
              <a:spcBef>
                <a:spcPts val="0"/>
              </a:spcBef>
              <a:spcAft>
                <a:spcPts val="0"/>
              </a:spcAft>
              <a:buClr>
                <a:schemeClr val="accent1"/>
              </a:buClr>
              <a:buSzPts val="4800"/>
              <a:buNone/>
              <a:defRPr sz="6400">
                <a:solidFill>
                  <a:schemeClr val="accent1"/>
                </a:solidFill>
              </a:defRPr>
            </a:lvl6pPr>
            <a:lvl7pPr lvl="6">
              <a:spcBef>
                <a:spcPts val="0"/>
              </a:spcBef>
              <a:spcAft>
                <a:spcPts val="0"/>
              </a:spcAft>
              <a:buClr>
                <a:schemeClr val="accent1"/>
              </a:buClr>
              <a:buSzPts val="4800"/>
              <a:buNone/>
              <a:defRPr sz="6400">
                <a:solidFill>
                  <a:schemeClr val="accent1"/>
                </a:solidFill>
              </a:defRPr>
            </a:lvl7pPr>
            <a:lvl8pPr lvl="7">
              <a:spcBef>
                <a:spcPts val="0"/>
              </a:spcBef>
              <a:spcAft>
                <a:spcPts val="0"/>
              </a:spcAft>
              <a:buClr>
                <a:schemeClr val="accent1"/>
              </a:buClr>
              <a:buSzPts val="4800"/>
              <a:buNone/>
              <a:defRPr sz="6400">
                <a:solidFill>
                  <a:schemeClr val="accent1"/>
                </a:solidFill>
              </a:defRPr>
            </a:lvl8pPr>
            <a:lvl9pPr lvl="8">
              <a:spcBef>
                <a:spcPts val="0"/>
              </a:spcBef>
              <a:spcAft>
                <a:spcPts val="0"/>
              </a:spcAft>
              <a:buClr>
                <a:schemeClr val="accent1"/>
              </a:buClr>
              <a:buSzPts val="4800"/>
              <a:buNone/>
              <a:defRPr sz="6400">
                <a:solidFill>
                  <a:schemeClr val="accent1"/>
                </a:solidFill>
              </a:defRPr>
            </a:lvl9pPr>
          </a:lstStyle>
          <a:p>
            <a:endParaRPr/>
          </a:p>
        </p:txBody>
      </p:sp>
      <p:pic>
        <p:nvPicPr>
          <p:cNvPr id="29" name="Google Shape;29;p8"/>
          <p:cNvPicPr preferRelativeResize="0"/>
          <p:nvPr/>
        </p:nvPicPr>
        <p:blipFill>
          <a:blip r:embed="rId3">
            <a:alphaModFix/>
          </a:blip>
          <a:stretch>
            <a:fillRect/>
          </a:stretch>
        </p:blipFill>
        <p:spPr>
          <a:xfrm rot="5400000">
            <a:off x="4371899" y="552068"/>
            <a:ext cx="10168735" cy="3845065"/>
          </a:xfrm>
          <a:prstGeom prst="rect">
            <a:avLst/>
          </a:prstGeom>
          <a:noFill/>
          <a:ln>
            <a:noFill/>
          </a:ln>
        </p:spPr>
      </p:pic>
      <p:pic>
        <p:nvPicPr>
          <p:cNvPr id="30" name="Google Shape;30;p8"/>
          <p:cNvPicPr preferRelativeResize="0"/>
          <p:nvPr/>
        </p:nvPicPr>
        <p:blipFill>
          <a:blip r:embed="rId3">
            <a:alphaModFix/>
          </a:blip>
          <a:stretch>
            <a:fillRect/>
          </a:stretch>
        </p:blipFill>
        <p:spPr>
          <a:xfrm rot="5400000" flipH="1">
            <a:off x="6429886" y="-469214"/>
            <a:ext cx="12413063" cy="4693700"/>
          </a:xfrm>
          <a:prstGeom prst="rect">
            <a:avLst/>
          </a:prstGeom>
          <a:noFill/>
          <a:ln>
            <a:noFill/>
          </a:ln>
        </p:spPr>
      </p:pic>
    </p:spTree>
    <p:extLst>
      <p:ext uri="{BB962C8B-B14F-4D97-AF65-F5344CB8AC3E}">
        <p14:creationId xmlns:p14="http://schemas.microsoft.com/office/powerpoint/2010/main" val="31459782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subTitle" idx="1"/>
          </p:nvPr>
        </p:nvSpPr>
        <p:spPr>
          <a:xfrm>
            <a:off x="1251333" y="2359433"/>
            <a:ext cx="3828800" cy="1646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2"/>
              </a:buClr>
              <a:buSzPts val="1600"/>
              <a:buNone/>
              <a:defRPr sz="2133">
                <a:solidFill>
                  <a:schemeClr val="lt2"/>
                </a:solidFill>
              </a:defRPr>
            </a:lvl1pPr>
            <a:lvl2pPr lvl="1" algn="ctr">
              <a:lnSpc>
                <a:spcPct val="100000"/>
              </a:lnSpc>
              <a:spcBef>
                <a:spcPts val="0"/>
              </a:spcBef>
              <a:spcAft>
                <a:spcPts val="0"/>
              </a:spcAft>
              <a:buSzPts val="1600"/>
              <a:buNone/>
              <a:defRPr sz="2133"/>
            </a:lvl2pPr>
            <a:lvl3pPr lvl="2" algn="ctr">
              <a:lnSpc>
                <a:spcPct val="100000"/>
              </a:lnSpc>
              <a:spcBef>
                <a:spcPts val="0"/>
              </a:spcBef>
              <a:spcAft>
                <a:spcPts val="0"/>
              </a:spcAft>
              <a:buSzPts val="1600"/>
              <a:buNone/>
              <a:defRPr sz="2133"/>
            </a:lvl3pPr>
            <a:lvl4pPr lvl="3" algn="ctr">
              <a:lnSpc>
                <a:spcPct val="100000"/>
              </a:lnSpc>
              <a:spcBef>
                <a:spcPts val="0"/>
              </a:spcBef>
              <a:spcAft>
                <a:spcPts val="0"/>
              </a:spcAft>
              <a:buSzPts val="1600"/>
              <a:buNone/>
              <a:defRPr sz="2133"/>
            </a:lvl4pPr>
            <a:lvl5pPr lvl="4" algn="ctr">
              <a:lnSpc>
                <a:spcPct val="100000"/>
              </a:lnSpc>
              <a:spcBef>
                <a:spcPts val="0"/>
              </a:spcBef>
              <a:spcAft>
                <a:spcPts val="0"/>
              </a:spcAft>
              <a:buSzPts val="1600"/>
              <a:buNone/>
              <a:defRPr sz="2133"/>
            </a:lvl5pPr>
            <a:lvl6pPr lvl="5" algn="ctr">
              <a:lnSpc>
                <a:spcPct val="100000"/>
              </a:lnSpc>
              <a:spcBef>
                <a:spcPts val="0"/>
              </a:spcBef>
              <a:spcAft>
                <a:spcPts val="0"/>
              </a:spcAft>
              <a:buSzPts val="1600"/>
              <a:buNone/>
              <a:defRPr sz="2133"/>
            </a:lvl6pPr>
            <a:lvl7pPr lvl="6" algn="ctr">
              <a:lnSpc>
                <a:spcPct val="100000"/>
              </a:lnSpc>
              <a:spcBef>
                <a:spcPts val="0"/>
              </a:spcBef>
              <a:spcAft>
                <a:spcPts val="0"/>
              </a:spcAft>
              <a:buSzPts val="1600"/>
              <a:buNone/>
              <a:defRPr sz="2133"/>
            </a:lvl7pPr>
            <a:lvl8pPr lvl="7" algn="ctr">
              <a:lnSpc>
                <a:spcPct val="100000"/>
              </a:lnSpc>
              <a:spcBef>
                <a:spcPts val="0"/>
              </a:spcBef>
              <a:spcAft>
                <a:spcPts val="0"/>
              </a:spcAft>
              <a:buSzPts val="1600"/>
              <a:buNone/>
              <a:defRPr sz="2133"/>
            </a:lvl8pPr>
            <a:lvl9pPr lvl="8" algn="ctr">
              <a:lnSpc>
                <a:spcPct val="100000"/>
              </a:lnSpc>
              <a:spcBef>
                <a:spcPts val="0"/>
              </a:spcBef>
              <a:spcAft>
                <a:spcPts val="0"/>
              </a:spcAft>
              <a:buSzPts val="1600"/>
              <a:buNone/>
              <a:defRPr sz="2133"/>
            </a:lvl9pPr>
          </a:lstStyle>
          <a:p>
            <a:endParaRPr/>
          </a:p>
        </p:txBody>
      </p:sp>
      <p:sp>
        <p:nvSpPr>
          <p:cNvPr id="33" name="Google Shape;33;p9"/>
          <p:cNvSpPr txBox="1">
            <a:spLocks noGrp="1"/>
          </p:cNvSpPr>
          <p:nvPr>
            <p:ph type="body" idx="2"/>
          </p:nvPr>
        </p:nvSpPr>
        <p:spPr>
          <a:xfrm>
            <a:off x="6271167" y="1212800"/>
            <a:ext cx="4625200" cy="4432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lt1"/>
              </a:buClr>
              <a:buSzPts val="1400"/>
              <a:buChar char="●"/>
              <a:defRPr sz="1867">
                <a:solidFill>
                  <a:schemeClr val="lt1"/>
                </a:solidFill>
              </a:defRPr>
            </a:lvl1pPr>
            <a:lvl2pPr marL="1219170" lvl="1" indent="-423323">
              <a:spcBef>
                <a:spcPts val="2133"/>
              </a:spcBef>
              <a:spcAft>
                <a:spcPts val="0"/>
              </a:spcAft>
              <a:buClr>
                <a:schemeClr val="lt1"/>
              </a:buClr>
              <a:buSzPts val="1400"/>
              <a:buChar char="○"/>
              <a:defRPr>
                <a:solidFill>
                  <a:schemeClr val="lt1"/>
                </a:solidFill>
              </a:defRPr>
            </a:lvl2pPr>
            <a:lvl3pPr marL="1828754" lvl="2" indent="-423323">
              <a:spcBef>
                <a:spcPts val="2133"/>
              </a:spcBef>
              <a:spcAft>
                <a:spcPts val="0"/>
              </a:spcAft>
              <a:buClr>
                <a:schemeClr val="lt1"/>
              </a:buClr>
              <a:buSzPts val="1400"/>
              <a:buChar char="■"/>
              <a:defRPr>
                <a:solidFill>
                  <a:schemeClr val="lt1"/>
                </a:solidFill>
              </a:defRPr>
            </a:lvl3pPr>
            <a:lvl4pPr marL="2438339" lvl="3" indent="-423323">
              <a:spcBef>
                <a:spcPts val="2133"/>
              </a:spcBef>
              <a:spcAft>
                <a:spcPts val="0"/>
              </a:spcAft>
              <a:buClr>
                <a:schemeClr val="lt1"/>
              </a:buClr>
              <a:buSzPts val="1400"/>
              <a:buChar char="●"/>
              <a:defRPr>
                <a:solidFill>
                  <a:schemeClr val="lt1"/>
                </a:solidFill>
              </a:defRPr>
            </a:lvl4pPr>
            <a:lvl5pPr marL="3047924" lvl="4" indent="-423323">
              <a:spcBef>
                <a:spcPts val="2133"/>
              </a:spcBef>
              <a:spcAft>
                <a:spcPts val="0"/>
              </a:spcAft>
              <a:buClr>
                <a:schemeClr val="lt1"/>
              </a:buClr>
              <a:buSzPts val="1400"/>
              <a:buChar char="○"/>
              <a:defRPr>
                <a:solidFill>
                  <a:schemeClr val="lt1"/>
                </a:solidFill>
              </a:defRPr>
            </a:lvl5pPr>
            <a:lvl6pPr marL="3657509" lvl="5" indent="-423323">
              <a:spcBef>
                <a:spcPts val="2133"/>
              </a:spcBef>
              <a:spcAft>
                <a:spcPts val="0"/>
              </a:spcAft>
              <a:buClr>
                <a:schemeClr val="lt1"/>
              </a:buClr>
              <a:buSzPts val="1400"/>
              <a:buChar char="■"/>
              <a:defRPr>
                <a:solidFill>
                  <a:schemeClr val="lt1"/>
                </a:solidFill>
              </a:defRPr>
            </a:lvl6pPr>
            <a:lvl7pPr marL="4267093" lvl="6" indent="-423323">
              <a:spcBef>
                <a:spcPts val="2133"/>
              </a:spcBef>
              <a:spcAft>
                <a:spcPts val="0"/>
              </a:spcAft>
              <a:buClr>
                <a:schemeClr val="lt1"/>
              </a:buClr>
              <a:buSzPts val="1400"/>
              <a:buChar char="●"/>
              <a:defRPr>
                <a:solidFill>
                  <a:schemeClr val="lt1"/>
                </a:solidFill>
              </a:defRPr>
            </a:lvl7pPr>
            <a:lvl8pPr marL="4876678" lvl="7" indent="-423323">
              <a:spcBef>
                <a:spcPts val="2133"/>
              </a:spcBef>
              <a:spcAft>
                <a:spcPts val="0"/>
              </a:spcAft>
              <a:buClr>
                <a:schemeClr val="lt1"/>
              </a:buClr>
              <a:buSzPts val="1400"/>
              <a:buChar char="○"/>
              <a:defRPr>
                <a:solidFill>
                  <a:schemeClr val="lt1"/>
                </a:solidFill>
              </a:defRPr>
            </a:lvl8pPr>
            <a:lvl9pPr marL="5486263" lvl="8" indent="-423323">
              <a:spcBef>
                <a:spcPts val="2133"/>
              </a:spcBef>
              <a:spcAft>
                <a:spcPts val="2133"/>
              </a:spcAft>
              <a:buClr>
                <a:schemeClr val="lt1"/>
              </a:buClr>
              <a:buSzPts val="1400"/>
              <a:buChar char="■"/>
              <a:defRPr>
                <a:solidFill>
                  <a:schemeClr val="lt1"/>
                </a:solidFill>
              </a:defRPr>
            </a:lvl9pPr>
          </a:lstStyle>
          <a:p>
            <a:endParaRPr/>
          </a:p>
        </p:txBody>
      </p:sp>
      <p:sp>
        <p:nvSpPr>
          <p:cNvPr id="34" name="Google Shape;34;p9"/>
          <p:cNvSpPr txBox="1">
            <a:spLocks noGrp="1"/>
          </p:cNvSpPr>
          <p:nvPr>
            <p:ph type="title"/>
          </p:nvPr>
        </p:nvSpPr>
        <p:spPr>
          <a:xfrm>
            <a:off x="1251333" y="593367"/>
            <a:ext cx="4298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1823211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5"/>
        <p:cNvGrpSpPr/>
        <p:nvPr/>
      </p:nvGrpSpPr>
      <p:grpSpPr>
        <a:xfrm>
          <a:off x="0" y="0"/>
          <a:ext cx="0" cy="0"/>
          <a:chOff x="0" y="0"/>
          <a:chExt cx="0" cy="0"/>
        </a:xfrm>
      </p:grpSpPr>
      <p:sp>
        <p:nvSpPr>
          <p:cNvPr id="36" name="Google Shape;36;p10"/>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852498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2561000" y="2179233"/>
            <a:ext cx="7070000" cy="14888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7200"/>
              <a:buNone/>
              <a:defRPr sz="9600">
                <a:solidFill>
                  <a:schemeClr val="lt1"/>
                </a:solidFill>
              </a:defRPr>
            </a:lvl1pPr>
            <a:lvl2pPr lvl="1" algn="ctr">
              <a:spcBef>
                <a:spcPts val="0"/>
              </a:spcBef>
              <a:spcAft>
                <a:spcPts val="0"/>
              </a:spcAft>
              <a:buClr>
                <a:schemeClr val="lt1"/>
              </a:buClr>
              <a:buSzPts val="7200"/>
              <a:buNone/>
              <a:defRPr sz="9600">
                <a:solidFill>
                  <a:schemeClr val="lt1"/>
                </a:solidFill>
              </a:defRPr>
            </a:lvl2pPr>
            <a:lvl3pPr lvl="2" algn="ctr">
              <a:spcBef>
                <a:spcPts val="0"/>
              </a:spcBef>
              <a:spcAft>
                <a:spcPts val="0"/>
              </a:spcAft>
              <a:buClr>
                <a:schemeClr val="lt1"/>
              </a:buClr>
              <a:buSzPts val="7200"/>
              <a:buNone/>
              <a:defRPr sz="9600">
                <a:solidFill>
                  <a:schemeClr val="lt1"/>
                </a:solidFill>
              </a:defRPr>
            </a:lvl3pPr>
            <a:lvl4pPr lvl="3" algn="ctr">
              <a:spcBef>
                <a:spcPts val="0"/>
              </a:spcBef>
              <a:spcAft>
                <a:spcPts val="0"/>
              </a:spcAft>
              <a:buClr>
                <a:schemeClr val="lt1"/>
              </a:buClr>
              <a:buSzPts val="7200"/>
              <a:buNone/>
              <a:defRPr sz="9600">
                <a:solidFill>
                  <a:schemeClr val="lt1"/>
                </a:solidFill>
              </a:defRPr>
            </a:lvl4pPr>
            <a:lvl5pPr lvl="4" algn="ctr">
              <a:spcBef>
                <a:spcPts val="0"/>
              </a:spcBef>
              <a:spcAft>
                <a:spcPts val="0"/>
              </a:spcAft>
              <a:buClr>
                <a:schemeClr val="lt1"/>
              </a:buClr>
              <a:buSzPts val="7200"/>
              <a:buNone/>
              <a:defRPr sz="9600">
                <a:solidFill>
                  <a:schemeClr val="lt1"/>
                </a:solidFill>
              </a:defRPr>
            </a:lvl5pPr>
            <a:lvl6pPr lvl="5" algn="ctr">
              <a:spcBef>
                <a:spcPts val="0"/>
              </a:spcBef>
              <a:spcAft>
                <a:spcPts val="0"/>
              </a:spcAft>
              <a:buClr>
                <a:schemeClr val="lt1"/>
              </a:buClr>
              <a:buSzPts val="7200"/>
              <a:buNone/>
              <a:defRPr sz="9600">
                <a:solidFill>
                  <a:schemeClr val="lt1"/>
                </a:solidFill>
              </a:defRPr>
            </a:lvl6pPr>
            <a:lvl7pPr lvl="6" algn="ctr">
              <a:spcBef>
                <a:spcPts val="0"/>
              </a:spcBef>
              <a:spcAft>
                <a:spcPts val="0"/>
              </a:spcAft>
              <a:buClr>
                <a:schemeClr val="lt1"/>
              </a:buClr>
              <a:buSzPts val="7200"/>
              <a:buNone/>
              <a:defRPr sz="9600">
                <a:solidFill>
                  <a:schemeClr val="lt1"/>
                </a:solidFill>
              </a:defRPr>
            </a:lvl7pPr>
            <a:lvl8pPr lvl="7" algn="ctr">
              <a:spcBef>
                <a:spcPts val="0"/>
              </a:spcBef>
              <a:spcAft>
                <a:spcPts val="0"/>
              </a:spcAft>
              <a:buClr>
                <a:schemeClr val="lt1"/>
              </a:buClr>
              <a:buSzPts val="7200"/>
              <a:buNone/>
              <a:defRPr sz="9600">
                <a:solidFill>
                  <a:schemeClr val="lt1"/>
                </a:solidFill>
              </a:defRPr>
            </a:lvl8pPr>
            <a:lvl9pPr lvl="8" algn="ctr">
              <a:spcBef>
                <a:spcPts val="0"/>
              </a:spcBef>
              <a:spcAft>
                <a:spcPts val="0"/>
              </a:spcAft>
              <a:buClr>
                <a:schemeClr val="lt1"/>
              </a:buClr>
              <a:buSzPts val="7200"/>
              <a:buNone/>
              <a:defRPr sz="9600">
                <a:solidFill>
                  <a:schemeClr val="lt1"/>
                </a:solidFill>
              </a:defRPr>
            </a:lvl9pPr>
          </a:lstStyle>
          <a:p>
            <a:r>
              <a:t>xx%</a:t>
            </a:r>
          </a:p>
        </p:txBody>
      </p:sp>
      <p:sp>
        <p:nvSpPr>
          <p:cNvPr id="39" name="Google Shape;39;p11"/>
          <p:cNvSpPr txBox="1">
            <a:spLocks noGrp="1"/>
          </p:cNvSpPr>
          <p:nvPr>
            <p:ph type="body" idx="1"/>
          </p:nvPr>
        </p:nvSpPr>
        <p:spPr>
          <a:xfrm>
            <a:off x="3715400" y="4125967"/>
            <a:ext cx="4761200" cy="7560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Clr>
                <a:schemeClr val="accent1"/>
              </a:buClr>
              <a:buSzPts val="1800"/>
              <a:buChar char="●"/>
              <a:defRPr>
                <a:solidFill>
                  <a:schemeClr val="accent1"/>
                </a:solidFill>
              </a:defRPr>
            </a:lvl1pPr>
            <a:lvl2pPr marL="1219170" lvl="1" indent="-457189" algn="ctr">
              <a:spcBef>
                <a:spcPts val="2133"/>
              </a:spcBef>
              <a:spcAft>
                <a:spcPts val="0"/>
              </a:spcAft>
              <a:buClr>
                <a:schemeClr val="accent1"/>
              </a:buClr>
              <a:buSzPts val="1800"/>
              <a:buChar char="○"/>
              <a:defRPr sz="2400">
                <a:solidFill>
                  <a:schemeClr val="accent1"/>
                </a:solidFill>
              </a:defRPr>
            </a:lvl2pPr>
            <a:lvl3pPr marL="1828754" lvl="2" indent="-457189" algn="ctr">
              <a:spcBef>
                <a:spcPts val="2133"/>
              </a:spcBef>
              <a:spcAft>
                <a:spcPts val="0"/>
              </a:spcAft>
              <a:buClr>
                <a:schemeClr val="accent1"/>
              </a:buClr>
              <a:buSzPts val="1800"/>
              <a:buChar char="■"/>
              <a:defRPr sz="2400">
                <a:solidFill>
                  <a:schemeClr val="accent1"/>
                </a:solidFill>
              </a:defRPr>
            </a:lvl3pPr>
            <a:lvl4pPr marL="2438339" lvl="3" indent="-457189" algn="ctr">
              <a:spcBef>
                <a:spcPts val="2133"/>
              </a:spcBef>
              <a:spcAft>
                <a:spcPts val="0"/>
              </a:spcAft>
              <a:buClr>
                <a:schemeClr val="accent1"/>
              </a:buClr>
              <a:buSzPts val="1800"/>
              <a:buChar char="●"/>
              <a:defRPr sz="2400">
                <a:solidFill>
                  <a:schemeClr val="accent1"/>
                </a:solidFill>
              </a:defRPr>
            </a:lvl4pPr>
            <a:lvl5pPr marL="3047924" lvl="4" indent="-457189" algn="ctr">
              <a:spcBef>
                <a:spcPts val="2133"/>
              </a:spcBef>
              <a:spcAft>
                <a:spcPts val="0"/>
              </a:spcAft>
              <a:buClr>
                <a:schemeClr val="accent1"/>
              </a:buClr>
              <a:buSzPts val="1800"/>
              <a:buChar char="○"/>
              <a:defRPr sz="2400">
                <a:solidFill>
                  <a:schemeClr val="accent1"/>
                </a:solidFill>
              </a:defRPr>
            </a:lvl5pPr>
            <a:lvl6pPr marL="3657509" lvl="5" indent="-457189" algn="ctr">
              <a:spcBef>
                <a:spcPts val="2133"/>
              </a:spcBef>
              <a:spcAft>
                <a:spcPts val="0"/>
              </a:spcAft>
              <a:buClr>
                <a:schemeClr val="accent1"/>
              </a:buClr>
              <a:buSzPts val="1800"/>
              <a:buChar char="■"/>
              <a:defRPr sz="2400">
                <a:solidFill>
                  <a:schemeClr val="accent1"/>
                </a:solidFill>
              </a:defRPr>
            </a:lvl6pPr>
            <a:lvl7pPr marL="4267093" lvl="6" indent="-457189" algn="ctr">
              <a:spcBef>
                <a:spcPts val="2133"/>
              </a:spcBef>
              <a:spcAft>
                <a:spcPts val="0"/>
              </a:spcAft>
              <a:buClr>
                <a:schemeClr val="accent1"/>
              </a:buClr>
              <a:buSzPts val="1800"/>
              <a:buChar char="●"/>
              <a:defRPr sz="2400">
                <a:solidFill>
                  <a:schemeClr val="accent1"/>
                </a:solidFill>
              </a:defRPr>
            </a:lvl7pPr>
            <a:lvl8pPr marL="4876678" lvl="7" indent="-457189" algn="ctr">
              <a:spcBef>
                <a:spcPts val="2133"/>
              </a:spcBef>
              <a:spcAft>
                <a:spcPts val="0"/>
              </a:spcAft>
              <a:buClr>
                <a:schemeClr val="accent1"/>
              </a:buClr>
              <a:buSzPts val="1800"/>
              <a:buChar char="○"/>
              <a:defRPr sz="2400">
                <a:solidFill>
                  <a:schemeClr val="accent1"/>
                </a:solidFill>
              </a:defRPr>
            </a:lvl8pPr>
            <a:lvl9pPr marL="5486263" lvl="8" indent="-457189" algn="ctr">
              <a:spcBef>
                <a:spcPts val="2133"/>
              </a:spcBef>
              <a:spcAft>
                <a:spcPts val="2133"/>
              </a:spcAft>
              <a:buClr>
                <a:schemeClr val="accent1"/>
              </a:buClr>
              <a:buSzPts val="1800"/>
              <a:buChar char="■"/>
              <a:defRPr sz="2400">
                <a:solidFill>
                  <a:schemeClr val="accent1"/>
                </a:solidFill>
              </a:defRPr>
            </a:lvl9pPr>
          </a:lstStyle>
          <a:p>
            <a:endParaRPr/>
          </a:p>
        </p:txBody>
      </p:sp>
    </p:spTree>
    <p:extLst>
      <p:ext uri="{BB962C8B-B14F-4D97-AF65-F5344CB8AC3E}">
        <p14:creationId xmlns:p14="http://schemas.microsoft.com/office/powerpoint/2010/main" val="3746317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40"/>
        <p:cNvGrpSpPr/>
        <p:nvPr/>
      </p:nvGrpSpPr>
      <p:grpSpPr>
        <a:xfrm>
          <a:off x="0" y="0"/>
          <a:ext cx="0" cy="0"/>
          <a:chOff x="0" y="0"/>
          <a:chExt cx="0" cy="0"/>
        </a:xfrm>
      </p:grpSpPr>
    </p:spTree>
    <p:extLst>
      <p:ext uri="{BB962C8B-B14F-4D97-AF65-F5344CB8AC3E}">
        <p14:creationId xmlns:p14="http://schemas.microsoft.com/office/powerpoint/2010/main" val="27739509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 Bullet Points">
  <p:cSld name="Title + Bullet Poi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3" name="Google Shape;43;p13"/>
          <p:cNvSpPr txBox="1">
            <a:spLocks noGrp="1"/>
          </p:cNvSpPr>
          <p:nvPr>
            <p:ph type="body" idx="1"/>
          </p:nvPr>
        </p:nvSpPr>
        <p:spPr>
          <a:xfrm>
            <a:off x="1251333" y="1661367"/>
            <a:ext cx="9562800" cy="4053200"/>
          </a:xfrm>
          <a:prstGeom prst="rect">
            <a:avLst/>
          </a:prstGeom>
        </p:spPr>
        <p:txBody>
          <a:bodyPr spcFirstLastPara="1" wrap="square" lIns="91425" tIns="91425" rIns="91425" bIns="91425" anchor="t" anchorCtr="0">
            <a:noAutofit/>
          </a:bodyPr>
          <a:lstStyle>
            <a:lvl1pPr marL="609585" lvl="0" indent="-402157" rtl="0">
              <a:spcBef>
                <a:spcPts val="0"/>
              </a:spcBef>
              <a:spcAft>
                <a:spcPts val="0"/>
              </a:spcAft>
              <a:buClr>
                <a:schemeClr val="lt1"/>
              </a:buClr>
              <a:buSzPts val="1150"/>
              <a:buChar char="●"/>
              <a:defRPr sz="1533">
                <a:solidFill>
                  <a:schemeClr val="lt1"/>
                </a:solidFill>
              </a:defRPr>
            </a:lvl1pPr>
            <a:lvl2pPr marL="1219170" lvl="1" indent="-402157" rtl="0">
              <a:spcBef>
                <a:spcPts val="2133"/>
              </a:spcBef>
              <a:spcAft>
                <a:spcPts val="0"/>
              </a:spcAft>
              <a:buClr>
                <a:schemeClr val="lt1"/>
              </a:buClr>
              <a:buSzPts val="1150"/>
              <a:buChar char="○"/>
              <a:defRPr sz="1533">
                <a:solidFill>
                  <a:schemeClr val="lt1"/>
                </a:solidFill>
              </a:defRPr>
            </a:lvl2pPr>
            <a:lvl3pPr marL="1828754" lvl="2" indent="-402157" rtl="0">
              <a:spcBef>
                <a:spcPts val="2133"/>
              </a:spcBef>
              <a:spcAft>
                <a:spcPts val="0"/>
              </a:spcAft>
              <a:buClr>
                <a:schemeClr val="lt1"/>
              </a:buClr>
              <a:buSzPts val="1150"/>
              <a:buChar char="■"/>
              <a:defRPr sz="1533">
                <a:solidFill>
                  <a:schemeClr val="lt1"/>
                </a:solidFill>
              </a:defRPr>
            </a:lvl3pPr>
            <a:lvl4pPr marL="2438339" lvl="3" indent="-402157" rtl="0">
              <a:spcBef>
                <a:spcPts val="2133"/>
              </a:spcBef>
              <a:spcAft>
                <a:spcPts val="0"/>
              </a:spcAft>
              <a:buClr>
                <a:schemeClr val="lt1"/>
              </a:buClr>
              <a:buSzPts val="1150"/>
              <a:buChar char="●"/>
              <a:defRPr sz="1533">
                <a:solidFill>
                  <a:schemeClr val="lt1"/>
                </a:solidFill>
              </a:defRPr>
            </a:lvl4pPr>
            <a:lvl5pPr marL="3047924" lvl="4" indent="-402157" rtl="0">
              <a:spcBef>
                <a:spcPts val="2133"/>
              </a:spcBef>
              <a:spcAft>
                <a:spcPts val="0"/>
              </a:spcAft>
              <a:buClr>
                <a:schemeClr val="lt1"/>
              </a:buClr>
              <a:buSzPts val="1150"/>
              <a:buChar char="○"/>
              <a:defRPr sz="1533">
                <a:solidFill>
                  <a:schemeClr val="lt1"/>
                </a:solidFill>
              </a:defRPr>
            </a:lvl5pPr>
            <a:lvl6pPr marL="3657509" lvl="5" indent="-402157" rtl="0">
              <a:spcBef>
                <a:spcPts val="2133"/>
              </a:spcBef>
              <a:spcAft>
                <a:spcPts val="0"/>
              </a:spcAft>
              <a:buClr>
                <a:schemeClr val="lt1"/>
              </a:buClr>
              <a:buSzPts val="1150"/>
              <a:buChar char="■"/>
              <a:defRPr sz="1533">
                <a:solidFill>
                  <a:schemeClr val="lt1"/>
                </a:solidFill>
              </a:defRPr>
            </a:lvl6pPr>
            <a:lvl7pPr marL="4267093" lvl="6" indent="-402157" rtl="0">
              <a:spcBef>
                <a:spcPts val="2133"/>
              </a:spcBef>
              <a:spcAft>
                <a:spcPts val="0"/>
              </a:spcAft>
              <a:buClr>
                <a:schemeClr val="lt1"/>
              </a:buClr>
              <a:buSzPts val="1150"/>
              <a:buChar char="●"/>
              <a:defRPr sz="1533">
                <a:solidFill>
                  <a:schemeClr val="lt1"/>
                </a:solidFill>
              </a:defRPr>
            </a:lvl7pPr>
            <a:lvl8pPr marL="4876678" lvl="7" indent="-402157" rtl="0">
              <a:spcBef>
                <a:spcPts val="2133"/>
              </a:spcBef>
              <a:spcAft>
                <a:spcPts val="0"/>
              </a:spcAft>
              <a:buClr>
                <a:schemeClr val="lt1"/>
              </a:buClr>
              <a:buSzPts val="1150"/>
              <a:buChar char="○"/>
              <a:defRPr sz="1533">
                <a:solidFill>
                  <a:schemeClr val="lt1"/>
                </a:solidFill>
              </a:defRPr>
            </a:lvl8pPr>
            <a:lvl9pPr marL="5486263" lvl="8" indent="-402157" rtl="0">
              <a:spcBef>
                <a:spcPts val="2133"/>
              </a:spcBef>
              <a:spcAft>
                <a:spcPts val="2133"/>
              </a:spcAft>
              <a:buClr>
                <a:schemeClr val="lt1"/>
              </a:buClr>
              <a:buSzPts val="1150"/>
              <a:buChar char="■"/>
              <a:defRPr sz="1533">
                <a:solidFill>
                  <a:schemeClr val="lt1"/>
                </a:solidFill>
              </a:defRPr>
            </a:lvl9pPr>
          </a:lstStyle>
          <a:p>
            <a:endParaRPr/>
          </a:p>
        </p:txBody>
      </p:sp>
    </p:spTree>
    <p:extLst>
      <p:ext uri="{BB962C8B-B14F-4D97-AF65-F5344CB8AC3E}">
        <p14:creationId xmlns:p14="http://schemas.microsoft.com/office/powerpoint/2010/main" val="243462563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4"/>
        <p:cNvGrpSpPr/>
        <p:nvPr/>
      </p:nvGrpSpPr>
      <p:grpSpPr>
        <a:xfrm>
          <a:off x="0" y="0"/>
          <a:ext cx="0" cy="0"/>
          <a:chOff x="0" y="0"/>
          <a:chExt cx="0" cy="0"/>
        </a:xfrm>
      </p:grpSpPr>
      <p:sp>
        <p:nvSpPr>
          <p:cNvPr id="45" name="Google Shape;45;p14"/>
          <p:cNvSpPr txBox="1">
            <a:spLocks noGrp="1"/>
          </p:cNvSpPr>
          <p:nvPr>
            <p:ph type="title"/>
          </p:nvPr>
        </p:nvSpPr>
        <p:spPr>
          <a:xfrm>
            <a:off x="4717996"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6" name="Google Shape;46;p14"/>
          <p:cNvSpPr txBox="1">
            <a:spLocks noGrp="1"/>
          </p:cNvSpPr>
          <p:nvPr>
            <p:ph type="subTitle" idx="1"/>
          </p:nvPr>
        </p:nvSpPr>
        <p:spPr>
          <a:xfrm>
            <a:off x="4717996"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7" name="Google Shape;47;p14"/>
          <p:cNvSpPr txBox="1">
            <a:spLocks noGrp="1"/>
          </p:cNvSpPr>
          <p:nvPr>
            <p:ph type="title" idx="2"/>
          </p:nvPr>
        </p:nvSpPr>
        <p:spPr>
          <a:xfrm>
            <a:off x="8038071"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48" name="Google Shape;48;p14"/>
          <p:cNvSpPr txBox="1">
            <a:spLocks noGrp="1"/>
          </p:cNvSpPr>
          <p:nvPr>
            <p:ph type="subTitle" idx="3"/>
          </p:nvPr>
        </p:nvSpPr>
        <p:spPr>
          <a:xfrm>
            <a:off x="8038071"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49" name="Google Shape;49;p14"/>
          <p:cNvSpPr txBox="1">
            <a:spLocks noGrp="1"/>
          </p:cNvSpPr>
          <p:nvPr>
            <p:ph type="title" idx="4"/>
          </p:nvPr>
        </p:nvSpPr>
        <p:spPr>
          <a:xfrm>
            <a:off x="1397929" y="34874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50" name="Google Shape;50;p14"/>
          <p:cNvSpPr txBox="1">
            <a:spLocks noGrp="1"/>
          </p:cNvSpPr>
          <p:nvPr>
            <p:ph type="subTitle" idx="5"/>
          </p:nvPr>
        </p:nvSpPr>
        <p:spPr>
          <a:xfrm>
            <a:off x="1397929" y="41974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51" name="Google Shape;51;p14"/>
          <p:cNvSpPr txBox="1">
            <a:spLocks noGrp="1"/>
          </p:cNvSpPr>
          <p:nvPr>
            <p:ph type="title" idx="6" hasCustomPrompt="1"/>
          </p:nvPr>
        </p:nvSpPr>
        <p:spPr>
          <a:xfrm>
            <a:off x="1397933"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2" name="Google Shape;52;p14"/>
          <p:cNvSpPr txBox="1">
            <a:spLocks noGrp="1"/>
          </p:cNvSpPr>
          <p:nvPr>
            <p:ph type="title" idx="7" hasCustomPrompt="1"/>
          </p:nvPr>
        </p:nvSpPr>
        <p:spPr>
          <a:xfrm>
            <a:off x="4718000"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
        <p:nvSpPr>
          <p:cNvPr id="53" name="Google Shape;53;p14"/>
          <p:cNvSpPr txBox="1">
            <a:spLocks noGrp="1"/>
          </p:cNvSpPr>
          <p:nvPr>
            <p:ph type="title" idx="8" hasCustomPrompt="1"/>
          </p:nvPr>
        </p:nvSpPr>
        <p:spPr>
          <a:xfrm>
            <a:off x="8038067" y="2360933"/>
            <a:ext cx="27560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2"/>
              </a:buClr>
              <a:buSzPts val="3600"/>
              <a:buNone/>
              <a:defRPr sz="4800">
                <a:solidFill>
                  <a:schemeClr val="lt2"/>
                </a:solidFill>
              </a:defRPr>
            </a:lvl1pPr>
            <a:lvl2pPr lvl="1" algn="ctr" rtl="0">
              <a:spcBef>
                <a:spcPts val="0"/>
              </a:spcBef>
              <a:spcAft>
                <a:spcPts val="0"/>
              </a:spcAft>
              <a:buClr>
                <a:schemeClr val="lt2"/>
              </a:buClr>
              <a:buSzPts val="3600"/>
              <a:buNone/>
              <a:defRPr sz="4800">
                <a:solidFill>
                  <a:schemeClr val="lt2"/>
                </a:solidFill>
              </a:defRPr>
            </a:lvl2pPr>
            <a:lvl3pPr lvl="2" algn="ctr" rtl="0">
              <a:spcBef>
                <a:spcPts val="0"/>
              </a:spcBef>
              <a:spcAft>
                <a:spcPts val="0"/>
              </a:spcAft>
              <a:buClr>
                <a:schemeClr val="lt2"/>
              </a:buClr>
              <a:buSzPts val="3600"/>
              <a:buNone/>
              <a:defRPr sz="4800">
                <a:solidFill>
                  <a:schemeClr val="lt2"/>
                </a:solidFill>
              </a:defRPr>
            </a:lvl3pPr>
            <a:lvl4pPr lvl="3" algn="ctr" rtl="0">
              <a:spcBef>
                <a:spcPts val="0"/>
              </a:spcBef>
              <a:spcAft>
                <a:spcPts val="0"/>
              </a:spcAft>
              <a:buClr>
                <a:schemeClr val="lt2"/>
              </a:buClr>
              <a:buSzPts val="3600"/>
              <a:buNone/>
              <a:defRPr sz="4800">
                <a:solidFill>
                  <a:schemeClr val="lt2"/>
                </a:solidFill>
              </a:defRPr>
            </a:lvl4pPr>
            <a:lvl5pPr lvl="4" algn="ctr" rtl="0">
              <a:spcBef>
                <a:spcPts val="0"/>
              </a:spcBef>
              <a:spcAft>
                <a:spcPts val="0"/>
              </a:spcAft>
              <a:buClr>
                <a:schemeClr val="lt2"/>
              </a:buClr>
              <a:buSzPts val="3600"/>
              <a:buNone/>
              <a:defRPr sz="4800">
                <a:solidFill>
                  <a:schemeClr val="lt2"/>
                </a:solidFill>
              </a:defRPr>
            </a:lvl5pPr>
            <a:lvl6pPr lvl="5" algn="ctr" rtl="0">
              <a:spcBef>
                <a:spcPts val="0"/>
              </a:spcBef>
              <a:spcAft>
                <a:spcPts val="0"/>
              </a:spcAft>
              <a:buClr>
                <a:schemeClr val="lt2"/>
              </a:buClr>
              <a:buSzPts val="3600"/>
              <a:buNone/>
              <a:defRPr sz="4800">
                <a:solidFill>
                  <a:schemeClr val="lt2"/>
                </a:solidFill>
              </a:defRPr>
            </a:lvl6pPr>
            <a:lvl7pPr lvl="6" algn="ctr" rtl="0">
              <a:spcBef>
                <a:spcPts val="0"/>
              </a:spcBef>
              <a:spcAft>
                <a:spcPts val="0"/>
              </a:spcAft>
              <a:buClr>
                <a:schemeClr val="lt2"/>
              </a:buClr>
              <a:buSzPts val="3600"/>
              <a:buNone/>
              <a:defRPr sz="4800">
                <a:solidFill>
                  <a:schemeClr val="lt2"/>
                </a:solidFill>
              </a:defRPr>
            </a:lvl7pPr>
            <a:lvl8pPr lvl="7" algn="ctr" rtl="0">
              <a:spcBef>
                <a:spcPts val="0"/>
              </a:spcBef>
              <a:spcAft>
                <a:spcPts val="0"/>
              </a:spcAft>
              <a:buClr>
                <a:schemeClr val="lt2"/>
              </a:buClr>
              <a:buSzPts val="3600"/>
              <a:buNone/>
              <a:defRPr sz="4800">
                <a:solidFill>
                  <a:schemeClr val="lt2"/>
                </a:solidFill>
              </a:defRPr>
            </a:lvl8pPr>
            <a:lvl9pPr lvl="8" algn="ctr" rtl="0">
              <a:spcBef>
                <a:spcPts val="0"/>
              </a:spcBef>
              <a:spcAft>
                <a:spcPts val="0"/>
              </a:spcAft>
              <a:buClr>
                <a:schemeClr val="lt2"/>
              </a:buClr>
              <a:buSzPts val="3600"/>
              <a:buNone/>
              <a:defRPr sz="4800">
                <a:solidFill>
                  <a:schemeClr val="lt2"/>
                </a:solidFill>
              </a:defRPr>
            </a:lvl9pPr>
          </a:lstStyle>
          <a:p>
            <a:r>
              <a:t>xx%</a:t>
            </a:r>
          </a:p>
        </p:txBody>
      </p:sp>
    </p:spTree>
    <p:extLst>
      <p:ext uri="{BB962C8B-B14F-4D97-AF65-F5344CB8AC3E}">
        <p14:creationId xmlns:p14="http://schemas.microsoft.com/office/powerpoint/2010/main" val="1450709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ig Text">
  <p:cSld name="Big Text">
    <p:bg>
      <p:bgPr>
        <a:blipFill>
          <a:blip r:embed="rId2">
            <a:alphaModFix/>
          </a:blip>
          <a:stretch>
            <a:fillRect/>
          </a:stretch>
        </a:blipFill>
        <a:effectLst/>
      </p:bgPr>
    </p:bg>
    <p:spTree>
      <p:nvGrpSpPr>
        <p:cNvPr id="1" name="Shape 54"/>
        <p:cNvGrpSpPr/>
        <p:nvPr/>
      </p:nvGrpSpPr>
      <p:grpSpPr>
        <a:xfrm>
          <a:off x="0" y="0"/>
          <a:ext cx="0" cy="0"/>
          <a:chOff x="0" y="0"/>
          <a:chExt cx="0" cy="0"/>
        </a:xfrm>
      </p:grpSpPr>
      <p:sp>
        <p:nvSpPr>
          <p:cNvPr id="55" name="Google Shape;55;p15"/>
          <p:cNvSpPr txBox="1">
            <a:spLocks noGrp="1"/>
          </p:cNvSpPr>
          <p:nvPr>
            <p:ph type="ctrTitle"/>
          </p:nvPr>
        </p:nvSpPr>
        <p:spPr>
          <a:xfrm>
            <a:off x="5714000" y="3777167"/>
            <a:ext cx="4876400" cy="859600"/>
          </a:xfrm>
          <a:prstGeom prst="rect">
            <a:avLst/>
          </a:prstGeom>
          <a:effectLst>
            <a:outerShdw blurRad="57150" dist="19050" dir="5400000" algn="bl" rotWithShape="0">
              <a:srgbClr val="76A5AF">
                <a:alpha val="88000"/>
              </a:srgbClr>
            </a:outerShdw>
          </a:effectLst>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8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56" name="Google Shape;56;p15"/>
          <p:cNvSpPr txBox="1">
            <a:spLocks noGrp="1"/>
          </p:cNvSpPr>
          <p:nvPr>
            <p:ph type="subTitle" idx="1"/>
          </p:nvPr>
        </p:nvSpPr>
        <p:spPr>
          <a:xfrm>
            <a:off x="5525400" y="4733133"/>
            <a:ext cx="525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1841597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16"/>
          <p:cNvSpPr txBox="1">
            <a:spLocks noGrp="1"/>
          </p:cNvSpPr>
          <p:nvPr>
            <p:ph type="ctrTitle"/>
          </p:nvPr>
        </p:nvSpPr>
        <p:spPr>
          <a:xfrm>
            <a:off x="2467367" y="1543900"/>
            <a:ext cx="7257200" cy="3470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3000"/>
              <a:buNone/>
              <a:defRPr sz="4000" b="1">
                <a:solidFill>
                  <a:schemeClr val="lt1"/>
                </a:solidFill>
              </a:defRPr>
            </a:lvl1pPr>
            <a:lvl2pPr lvl="1" algn="ctr" rtl="0">
              <a:spcBef>
                <a:spcPts val="0"/>
              </a:spcBef>
              <a:spcAft>
                <a:spcPts val="0"/>
              </a:spcAft>
              <a:buClr>
                <a:schemeClr val="lt1"/>
              </a:buClr>
              <a:buSzPts val="3000"/>
              <a:buNone/>
              <a:defRPr sz="4000" b="1">
                <a:solidFill>
                  <a:schemeClr val="lt1"/>
                </a:solidFill>
              </a:defRPr>
            </a:lvl2pPr>
            <a:lvl3pPr lvl="2" algn="ctr" rtl="0">
              <a:spcBef>
                <a:spcPts val="0"/>
              </a:spcBef>
              <a:spcAft>
                <a:spcPts val="0"/>
              </a:spcAft>
              <a:buClr>
                <a:schemeClr val="lt1"/>
              </a:buClr>
              <a:buSzPts val="3000"/>
              <a:buNone/>
              <a:defRPr sz="4000" b="1">
                <a:solidFill>
                  <a:schemeClr val="lt1"/>
                </a:solidFill>
              </a:defRPr>
            </a:lvl3pPr>
            <a:lvl4pPr lvl="3" algn="ctr" rtl="0">
              <a:spcBef>
                <a:spcPts val="0"/>
              </a:spcBef>
              <a:spcAft>
                <a:spcPts val="0"/>
              </a:spcAft>
              <a:buClr>
                <a:schemeClr val="lt1"/>
              </a:buClr>
              <a:buSzPts val="3000"/>
              <a:buNone/>
              <a:defRPr sz="4000" b="1">
                <a:solidFill>
                  <a:schemeClr val="lt1"/>
                </a:solidFill>
              </a:defRPr>
            </a:lvl4pPr>
            <a:lvl5pPr lvl="4" algn="ctr" rtl="0">
              <a:spcBef>
                <a:spcPts val="0"/>
              </a:spcBef>
              <a:spcAft>
                <a:spcPts val="0"/>
              </a:spcAft>
              <a:buClr>
                <a:schemeClr val="lt1"/>
              </a:buClr>
              <a:buSzPts val="3000"/>
              <a:buNone/>
              <a:defRPr sz="4000" b="1">
                <a:solidFill>
                  <a:schemeClr val="lt1"/>
                </a:solidFill>
              </a:defRPr>
            </a:lvl5pPr>
            <a:lvl6pPr lvl="5" algn="ctr" rtl="0">
              <a:spcBef>
                <a:spcPts val="0"/>
              </a:spcBef>
              <a:spcAft>
                <a:spcPts val="0"/>
              </a:spcAft>
              <a:buClr>
                <a:schemeClr val="lt1"/>
              </a:buClr>
              <a:buSzPts val="3000"/>
              <a:buNone/>
              <a:defRPr sz="4000" b="1">
                <a:solidFill>
                  <a:schemeClr val="lt1"/>
                </a:solidFill>
              </a:defRPr>
            </a:lvl6pPr>
            <a:lvl7pPr lvl="6" algn="ctr" rtl="0">
              <a:spcBef>
                <a:spcPts val="0"/>
              </a:spcBef>
              <a:spcAft>
                <a:spcPts val="0"/>
              </a:spcAft>
              <a:buClr>
                <a:schemeClr val="lt1"/>
              </a:buClr>
              <a:buSzPts val="3000"/>
              <a:buNone/>
              <a:defRPr sz="4000" b="1">
                <a:solidFill>
                  <a:schemeClr val="lt1"/>
                </a:solidFill>
              </a:defRPr>
            </a:lvl7pPr>
            <a:lvl8pPr lvl="7" algn="ctr" rtl="0">
              <a:spcBef>
                <a:spcPts val="0"/>
              </a:spcBef>
              <a:spcAft>
                <a:spcPts val="0"/>
              </a:spcAft>
              <a:buClr>
                <a:schemeClr val="lt1"/>
              </a:buClr>
              <a:buSzPts val="3000"/>
              <a:buNone/>
              <a:defRPr sz="4000" b="1">
                <a:solidFill>
                  <a:schemeClr val="lt1"/>
                </a:solidFill>
              </a:defRPr>
            </a:lvl8pPr>
            <a:lvl9pPr lvl="8" algn="ctr" rtl="0">
              <a:spcBef>
                <a:spcPts val="0"/>
              </a:spcBef>
              <a:spcAft>
                <a:spcPts val="0"/>
              </a:spcAft>
              <a:buClr>
                <a:schemeClr val="lt1"/>
              </a:buClr>
              <a:buSzPts val="3000"/>
              <a:buNone/>
              <a:defRPr sz="4000" b="1">
                <a:solidFill>
                  <a:schemeClr val="lt1"/>
                </a:solidFill>
              </a:defRPr>
            </a:lvl9pPr>
          </a:lstStyle>
          <a:p>
            <a:endParaRPr/>
          </a:p>
        </p:txBody>
      </p:sp>
      <p:sp>
        <p:nvSpPr>
          <p:cNvPr id="59" name="Google Shape;59;p16"/>
          <p:cNvSpPr txBox="1">
            <a:spLocks noGrp="1"/>
          </p:cNvSpPr>
          <p:nvPr>
            <p:ph type="subTitle" idx="1"/>
          </p:nvPr>
        </p:nvSpPr>
        <p:spPr>
          <a:xfrm>
            <a:off x="3309200" y="5260800"/>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34470643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 Two Columns">
  <p:cSld name="Title + Two Columns">
    <p:bg>
      <p:bgPr>
        <a:blipFill>
          <a:blip r:embed="rId2">
            <a:alphaModFix/>
          </a:blip>
          <a:stretch>
            <a:fillRect/>
          </a:stretch>
        </a:blipFill>
        <a:effectLst/>
      </p:bgPr>
    </p:bg>
    <p:spTree>
      <p:nvGrpSpPr>
        <p:cNvPr id="1" name="Shape 60"/>
        <p:cNvGrpSpPr/>
        <p:nvPr/>
      </p:nvGrpSpPr>
      <p:grpSpPr>
        <a:xfrm>
          <a:off x="0" y="0"/>
          <a:ext cx="0" cy="0"/>
          <a:chOff x="0" y="0"/>
          <a:chExt cx="0" cy="0"/>
        </a:xfrm>
      </p:grpSpPr>
      <p:sp>
        <p:nvSpPr>
          <p:cNvPr id="61" name="Google Shape;61;p17"/>
          <p:cNvSpPr txBox="1">
            <a:spLocks noGrp="1"/>
          </p:cNvSpPr>
          <p:nvPr>
            <p:ph type="title"/>
          </p:nvPr>
        </p:nvSpPr>
        <p:spPr>
          <a:xfrm>
            <a:off x="2583117"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2" name="Google Shape;62;p17"/>
          <p:cNvSpPr txBox="1">
            <a:spLocks noGrp="1"/>
          </p:cNvSpPr>
          <p:nvPr>
            <p:ph type="subTitle" idx="1"/>
          </p:nvPr>
        </p:nvSpPr>
        <p:spPr>
          <a:xfrm>
            <a:off x="2583117"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3" name="Google Shape;63;p17"/>
          <p:cNvSpPr txBox="1">
            <a:spLocks noGrp="1"/>
          </p:cNvSpPr>
          <p:nvPr>
            <p:ph type="title" idx="2"/>
          </p:nvPr>
        </p:nvSpPr>
        <p:spPr>
          <a:xfrm>
            <a:off x="6422084" y="3284233"/>
            <a:ext cx="3186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4" name="Google Shape;64;p17"/>
          <p:cNvSpPr txBox="1">
            <a:spLocks noGrp="1"/>
          </p:cNvSpPr>
          <p:nvPr>
            <p:ph type="subTitle" idx="3"/>
          </p:nvPr>
        </p:nvSpPr>
        <p:spPr>
          <a:xfrm>
            <a:off x="6422084" y="4197433"/>
            <a:ext cx="31868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5" name="Google Shape;65;p1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90334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 Three Columns ">
  <p:cSld name="Title + Three Columns ">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18"/>
          <p:cNvSpPr txBox="1">
            <a:spLocks noGrp="1"/>
          </p:cNvSpPr>
          <p:nvPr>
            <p:ph type="title"/>
          </p:nvPr>
        </p:nvSpPr>
        <p:spPr>
          <a:xfrm>
            <a:off x="4717996"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68" name="Google Shape;68;p18"/>
          <p:cNvSpPr txBox="1">
            <a:spLocks noGrp="1"/>
          </p:cNvSpPr>
          <p:nvPr>
            <p:ph type="subTitle" idx="1"/>
          </p:nvPr>
        </p:nvSpPr>
        <p:spPr>
          <a:xfrm>
            <a:off x="4717996"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69" name="Google Shape;69;p18"/>
          <p:cNvSpPr txBox="1">
            <a:spLocks noGrp="1"/>
          </p:cNvSpPr>
          <p:nvPr>
            <p:ph type="title" idx="2"/>
          </p:nvPr>
        </p:nvSpPr>
        <p:spPr>
          <a:xfrm>
            <a:off x="8038071"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0" name="Google Shape;70;p18"/>
          <p:cNvSpPr txBox="1">
            <a:spLocks noGrp="1"/>
          </p:cNvSpPr>
          <p:nvPr>
            <p:ph type="subTitle" idx="3"/>
          </p:nvPr>
        </p:nvSpPr>
        <p:spPr>
          <a:xfrm>
            <a:off x="8038071"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71" name="Google Shape;71;p18"/>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72" name="Google Shape;72;p18"/>
          <p:cNvSpPr txBox="1">
            <a:spLocks noGrp="1"/>
          </p:cNvSpPr>
          <p:nvPr>
            <p:ph type="title" idx="5"/>
          </p:nvPr>
        </p:nvSpPr>
        <p:spPr>
          <a:xfrm>
            <a:off x="1397929" y="3690633"/>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73" name="Google Shape;73;p18"/>
          <p:cNvSpPr txBox="1">
            <a:spLocks noGrp="1"/>
          </p:cNvSpPr>
          <p:nvPr>
            <p:ph type="subTitle" idx="6"/>
          </p:nvPr>
        </p:nvSpPr>
        <p:spPr>
          <a:xfrm>
            <a:off x="1397929" y="4603833"/>
            <a:ext cx="2756000" cy="16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76086043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ig text">
  <p:cSld name="1_Big text">
    <p:bg>
      <p:bgPr>
        <a:blipFill>
          <a:blip r:embed="rId2">
            <a:alphaModFix/>
          </a:blip>
          <a:stretch>
            <a:fillRect/>
          </a:stretch>
        </a:blipFill>
        <a:effectLst/>
      </p:bgPr>
    </p:bg>
    <p:spTree>
      <p:nvGrpSpPr>
        <p:cNvPr id="1" name="Shape 74"/>
        <p:cNvGrpSpPr/>
        <p:nvPr/>
      </p:nvGrpSpPr>
      <p:grpSpPr>
        <a:xfrm>
          <a:off x="0" y="0"/>
          <a:ext cx="0" cy="0"/>
          <a:chOff x="0" y="0"/>
          <a:chExt cx="0" cy="0"/>
        </a:xfrm>
      </p:grpSpPr>
      <p:sp>
        <p:nvSpPr>
          <p:cNvPr id="75" name="Google Shape;75;p19"/>
          <p:cNvSpPr txBox="1">
            <a:spLocks noGrp="1"/>
          </p:cNvSpPr>
          <p:nvPr>
            <p:ph type="ctrTitle"/>
          </p:nvPr>
        </p:nvSpPr>
        <p:spPr>
          <a:xfrm>
            <a:off x="1698000" y="1825333"/>
            <a:ext cx="8796000" cy="281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lt1"/>
              </a:buClr>
              <a:buSzPts val="4500"/>
              <a:buNone/>
              <a:defRPr sz="6000" b="1">
                <a:solidFill>
                  <a:schemeClr val="lt1"/>
                </a:solidFill>
              </a:defRPr>
            </a:lvl1pPr>
            <a:lvl2pPr lvl="1" algn="ctr" rtl="0">
              <a:spcBef>
                <a:spcPts val="0"/>
              </a:spcBef>
              <a:spcAft>
                <a:spcPts val="0"/>
              </a:spcAft>
              <a:buClr>
                <a:schemeClr val="lt1"/>
              </a:buClr>
              <a:buSzPts val="3600"/>
              <a:buNone/>
              <a:defRPr sz="4800" b="1">
                <a:solidFill>
                  <a:schemeClr val="lt1"/>
                </a:solidFill>
              </a:defRPr>
            </a:lvl2pPr>
            <a:lvl3pPr lvl="2" algn="ctr" rtl="0">
              <a:spcBef>
                <a:spcPts val="0"/>
              </a:spcBef>
              <a:spcAft>
                <a:spcPts val="0"/>
              </a:spcAft>
              <a:buClr>
                <a:schemeClr val="lt1"/>
              </a:buClr>
              <a:buSzPts val="3600"/>
              <a:buNone/>
              <a:defRPr sz="4800" b="1">
                <a:solidFill>
                  <a:schemeClr val="lt1"/>
                </a:solidFill>
              </a:defRPr>
            </a:lvl3pPr>
            <a:lvl4pPr lvl="3" algn="ctr" rtl="0">
              <a:spcBef>
                <a:spcPts val="0"/>
              </a:spcBef>
              <a:spcAft>
                <a:spcPts val="0"/>
              </a:spcAft>
              <a:buClr>
                <a:schemeClr val="lt1"/>
              </a:buClr>
              <a:buSzPts val="3600"/>
              <a:buNone/>
              <a:defRPr sz="4800" b="1">
                <a:solidFill>
                  <a:schemeClr val="lt1"/>
                </a:solidFill>
              </a:defRPr>
            </a:lvl4pPr>
            <a:lvl5pPr lvl="4" algn="ctr" rtl="0">
              <a:spcBef>
                <a:spcPts val="0"/>
              </a:spcBef>
              <a:spcAft>
                <a:spcPts val="0"/>
              </a:spcAft>
              <a:buClr>
                <a:schemeClr val="lt1"/>
              </a:buClr>
              <a:buSzPts val="3600"/>
              <a:buNone/>
              <a:defRPr sz="4800" b="1">
                <a:solidFill>
                  <a:schemeClr val="lt1"/>
                </a:solidFill>
              </a:defRPr>
            </a:lvl5pPr>
            <a:lvl6pPr lvl="5" algn="ctr" rtl="0">
              <a:spcBef>
                <a:spcPts val="0"/>
              </a:spcBef>
              <a:spcAft>
                <a:spcPts val="0"/>
              </a:spcAft>
              <a:buClr>
                <a:schemeClr val="lt1"/>
              </a:buClr>
              <a:buSzPts val="3600"/>
              <a:buNone/>
              <a:defRPr sz="4800" b="1">
                <a:solidFill>
                  <a:schemeClr val="lt1"/>
                </a:solidFill>
              </a:defRPr>
            </a:lvl6pPr>
            <a:lvl7pPr lvl="6" algn="ctr" rtl="0">
              <a:spcBef>
                <a:spcPts val="0"/>
              </a:spcBef>
              <a:spcAft>
                <a:spcPts val="0"/>
              </a:spcAft>
              <a:buClr>
                <a:schemeClr val="lt1"/>
              </a:buClr>
              <a:buSzPts val="3600"/>
              <a:buNone/>
              <a:defRPr sz="4800" b="1">
                <a:solidFill>
                  <a:schemeClr val="lt1"/>
                </a:solidFill>
              </a:defRPr>
            </a:lvl7pPr>
            <a:lvl8pPr lvl="7" algn="ctr" rtl="0">
              <a:spcBef>
                <a:spcPts val="0"/>
              </a:spcBef>
              <a:spcAft>
                <a:spcPts val="0"/>
              </a:spcAft>
              <a:buClr>
                <a:schemeClr val="lt1"/>
              </a:buClr>
              <a:buSzPts val="3600"/>
              <a:buNone/>
              <a:defRPr sz="4800" b="1">
                <a:solidFill>
                  <a:schemeClr val="lt1"/>
                </a:solidFill>
              </a:defRPr>
            </a:lvl8pPr>
            <a:lvl9pPr lvl="8" algn="ctr" rtl="0">
              <a:spcBef>
                <a:spcPts val="0"/>
              </a:spcBef>
              <a:spcAft>
                <a:spcPts val="0"/>
              </a:spcAft>
              <a:buClr>
                <a:schemeClr val="lt1"/>
              </a:buClr>
              <a:buSzPts val="3600"/>
              <a:buNone/>
              <a:defRPr sz="4800" b="1">
                <a:solidFill>
                  <a:schemeClr val="lt1"/>
                </a:solidFill>
              </a:defRPr>
            </a:lvl9pPr>
          </a:lstStyle>
          <a:p>
            <a:endParaRPr/>
          </a:p>
        </p:txBody>
      </p:sp>
      <p:sp>
        <p:nvSpPr>
          <p:cNvPr id="76" name="Google Shape;76;p19"/>
          <p:cNvSpPr txBox="1">
            <a:spLocks noGrp="1"/>
          </p:cNvSpPr>
          <p:nvPr>
            <p:ph type="subTitle" idx="1"/>
          </p:nvPr>
        </p:nvSpPr>
        <p:spPr>
          <a:xfrm>
            <a:off x="3309200" y="3359367"/>
            <a:ext cx="5573600" cy="61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1800"/>
              <a:buNone/>
              <a:defRPr sz="2400">
                <a:solidFill>
                  <a:schemeClr val="accent1"/>
                </a:solidFill>
              </a:defRPr>
            </a:lvl2pPr>
            <a:lvl3pPr lvl="2" algn="ctr" rtl="0">
              <a:lnSpc>
                <a:spcPct val="100000"/>
              </a:lnSpc>
              <a:spcBef>
                <a:spcPts val="0"/>
              </a:spcBef>
              <a:spcAft>
                <a:spcPts val="0"/>
              </a:spcAft>
              <a:buClr>
                <a:schemeClr val="accent1"/>
              </a:buClr>
              <a:buSzPts val="1800"/>
              <a:buNone/>
              <a:defRPr sz="2400">
                <a:solidFill>
                  <a:schemeClr val="accent1"/>
                </a:solidFill>
              </a:defRPr>
            </a:lvl3pPr>
            <a:lvl4pPr lvl="3" algn="ctr" rtl="0">
              <a:lnSpc>
                <a:spcPct val="100000"/>
              </a:lnSpc>
              <a:spcBef>
                <a:spcPts val="0"/>
              </a:spcBef>
              <a:spcAft>
                <a:spcPts val="0"/>
              </a:spcAft>
              <a:buClr>
                <a:schemeClr val="accent1"/>
              </a:buClr>
              <a:buSzPts val="1800"/>
              <a:buNone/>
              <a:defRPr sz="2400">
                <a:solidFill>
                  <a:schemeClr val="accent1"/>
                </a:solidFill>
              </a:defRPr>
            </a:lvl4pPr>
            <a:lvl5pPr lvl="4" algn="ctr" rtl="0">
              <a:lnSpc>
                <a:spcPct val="100000"/>
              </a:lnSpc>
              <a:spcBef>
                <a:spcPts val="0"/>
              </a:spcBef>
              <a:spcAft>
                <a:spcPts val="0"/>
              </a:spcAft>
              <a:buClr>
                <a:schemeClr val="accent1"/>
              </a:buClr>
              <a:buSzPts val="1800"/>
              <a:buNone/>
              <a:defRPr sz="2400">
                <a:solidFill>
                  <a:schemeClr val="accent1"/>
                </a:solidFill>
              </a:defRPr>
            </a:lvl5pPr>
            <a:lvl6pPr lvl="5" algn="ctr" rtl="0">
              <a:lnSpc>
                <a:spcPct val="100000"/>
              </a:lnSpc>
              <a:spcBef>
                <a:spcPts val="0"/>
              </a:spcBef>
              <a:spcAft>
                <a:spcPts val="0"/>
              </a:spcAft>
              <a:buClr>
                <a:schemeClr val="accent1"/>
              </a:buClr>
              <a:buSzPts val="1800"/>
              <a:buNone/>
              <a:defRPr sz="2400">
                <a:solidFill>
                  <a:schemeClr val="accent1"/>
                </a:solidFill>
              </a:defRPr>
            </a:lvl6pPr>
            <a:lvl7pPr lvl="6" algn="ctr" rtl="0">
              <a:lnSpc>
                <a:spcPct val="100000"/>
              </a:lnSpc>
              <a:spcBef>
                <a:spcPts val="0"/>
              </a:spcBef>
              <a:spcAft>
                <a:spcPts val="0"/>
              </a:spcAft>
              <a:buClr>
                <a:schemeClr val="accent1"/>
              </a:buClr>
              <a:buSzPts val="1800"/>
              <a:buNone/>
              <a:defRPr sz="2400">
                <a:solidFill>
                  <a:schemeClr val="accent1"/>
                </a:solidFill>
              </a:defRPr>
            </a:lvl7pPr>
            <a:lvl8pPr lvl="7" algn="ctr" rtl="0">
              <a:lnSpc>
                <a:spcPct val="100000"/>
              </a:lnSpc>
              <a:spcBef>
                <a:spcPts val="0"/>
              </a:spcBef>
              <a:spcAft>
                <a:spcPts val="0"/>
              </a:spcAft>
              <a:buClr>
                <a:schemeClr val="accent1"/>
              </a:buClr>
              <a:buSzPts val="1800"/>
              <a:buNone/>
              <a:defRPr sz="2400">
                <a:solidFill>
                  <a:schemeClr val="accent1"/>
                </a:solidFill>
              </a:defRPr>
            </a:lvl8pPr>
            <a:lvl9pPr lvl="8" algn="ctr" rtl="0">
              <a:lnSpc>
                <a:spcPct val="100000"/>
              </a:lnSpc>
              <a:spcBef>
                <a:spcPts val="0"/>
              </a:spcBef>
              <a:spcAft>
                <a:spcPts val="0"/>
              </a:spcAft>
              <a:buClr>
                <a:schemeClr val="accent1"/>
              </a:buClr>
              <a:buSzPts val="1800"/>
              <a:buNone/>
              <a:defRPr sz="2400">
                <a:solidFill>
                  <a:schemeClr val="accent1"/>
                </a:solidFill>
              </a:defRPr>
            </a:lvl9pPr>
          </a:lstStyle>
          <a:p>
            <a:endParaRPr/>
          </a:p>
        </p:txBody>
      </p:sp>
    </p:spTree>
    <p:extLst>
      <p:ext uri="{BB962C8B-B14F-4D97-AF65-F5344CB8AC3E}">
        <p14:creationId xmlns:p14="http://schemas.microsoft.com/office/powerpoint/2010/main" val="299841846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 Design">
  <p:cSld name="Title + Design">
    <p:bg>
      <p:bgPr>
        <a:blipFill>
          <a:blip r:embed="rId2">
            <a:alphaModFix/>
          </a:blip>
          <a:stretch>
            <a:fillRect/>
          </a:stretch>
        </a:blipFill>
        <a:effectLst/>
      </p:bgPr>
    </p:bg>
    <p:spTree>
      <p:nvGrpSpPr>
        <p:cNvPr id="1" name="Shape 77"/>
        <p:cNvGrpSpPr/>
        <p:nvPr/>
      </p:nvGrpSpPr>
      <p:grpSpPr>
        <a:xfrm>
          <a:off x="0" y="0"/>
          <a:ext cx="0" cy="0"/>
          <a:chOff x="0" y="0"/>
          <a:chExt cx="0" cy="0"/>
        </a:xfrm>
      </p:grpSpPr>
      <p:sp>
        <p:nvSpPr>
          <p:cNvPr id="78" name="Google Shape;78;p20"/>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7668378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 Design 1">
  <p:cSld name="Title + Design 1">
    <p:bg>
      <p:bgPr>
        <a:blipFill>
          <a:blip r:embed="rId2">
            <a:alphaModFix/>
          </a:blip>
          <a:stretch>
            <a:fillRect/>
          </a:stretch>
        </a:blipFill>
        <a:effectLst/>
      </p:bgPr>
    </p:bg>
    <p:spTree>
      <p:nvGrpSpPr>
        <p:cNvPr id="1" name="Shape 79"/>
        <p:cNvGrpSpPr/>
        <p:nvPr/>
      </p:nvGrpSpPr>
      <p:grpSpPr>
        <a:xfrm>
          <a:off x="0" y="0"/>
          <a:ext cx="0" cy="0"/>
          <a:chOff x="0" y="0"/>
          <a:chExt cx="0" cy="0"/>
        </a:xfrm>
      </p:grpSpPr>
      <p:sp>
        <p:nvSpPr>
          <p:cNvPr id="80" name="Google Shape;80;p21"/>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2285961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 Design 2">
  <p:cSld name="Title + Design 2">
    <p:bg>
      <p:bgPr>
        <a:blipFill>
          <a:blip r:embed="rId2">
            <a:alphaModFix/>
          </a:blip>
          <a:stretch>
            <a:fillRect/>
          </a:stretch>
        </a:blipFill>
        <a:effectLst/>
      </p:bgPr>
    </p:bg>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3187418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 Design 3">
  <p:cSld name="Title + Design 3">
    <p:bg>
      <p:bgPr>
        <a:blipFill>
          <a:blip r:embed="rId2">
            <a:alphaModFix/>
          </a:blip>
          <a:stretch>
            <a:fillRect/>
          </a:stretch>
        </a:blipFill>
        <a:effectLst/>
      </p:bgPr>
    </p:bg>
    <p:spTree>
      <p:nvGrpSpPr>
        <p:cNvPr id="1" name="Shape 83"/>
        <p:cNvGrpSpPr/>
        <p:nvPr/>
      </p:nvGrpSpPr>
      <p:grpSpPr>
        <a:xfrm>
          <a:off x="0" y="0"/>
          <a:ext cx="0" cy="0"/>
          <a:chOff x="0" y="0"/>
          <a:chExt cx="0" cy="0"/>
        </a:xfrm>
      </p:grpSpPr>
      <p:sp>
        <p:nvSpPr>
          <p:cNvPr id="84" name="Google Shape;84;p23"/>
          <p:cNvSpPr txBox="1">
            <a:spLocks noGrp="1"/>
          </p:cNvSpPr>
          <p:nvPr>
            <p:ph type="title"/>
          </p:nvPr>
        </p:nvSpPr>
        <p:spPr>
          <a:xfrm>
            <a:off x="1251333" y="593367"/>
            <a:ext cx="626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285760894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 Two Lists">
  <p:cSld name="Title + Two Lists">
    <p:bg>
      <p:bgPr>
        <a:blipFill>
          <a:blip r:embed="rId2">
            <a:alphaModFix/>
          </a:blip>
          <a:stretch>
            <a:fillRect/>
          </a:stretch>
        </a:blipFill>
        <a:effectLst/>
      </p:bgPr>
    </p:bg>
    <p:spTree>
      <p:nvGrpSpPr>
        <p:cNvPr id="1" name="Shape 85"/>
        <p:cNvGrpSpPr/>
        <p:nvPr/>
      </p:nvGrpSpPr>
      <p:grpSpPr>
        <a:xfrm>
          <a:off x="0" y="0"/>
          <a:ext cx="0" cy="0"/>
          <a:chOff x="0" y="0"/>
          <a:chExt cx="0" cy="0"/>
        </a:xfrm>
      </p:grpSpPr>
      <p:sp>
        <p:nvSpPr>
          <p:cNvPr id="86" name="Google Shape;86;p24"/>
          <p:cNvSpPr txBox="1">
            <a:spLocks noGrp="1"/>
          </p:cNvSpPr>
          <p:nvPr>
            <p:ph type="title"/>
          </p:nvPr>
        </p:nvSpPr>
        <p:spPr>
          <a:xfrm>
            <a:off x="1251333" y="593367"/>
            <a:ext cx="6619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7" name="Google Shape;87;p24"/>
          <p:cNvSpPr txBox="1">
            <a:spLocks noGrp="1"/>
          </p:cNvSpPr>
          <p:nvPr>
            <p:ph type="body" idx="1"/>
          </p:nvPr>
        </p:nvSpPr>
        <p:spPr>
          <a:xfrm>
            <a:off x="1422988"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8" name="Google Shape;88;p24"/>
          <p:cNvSpPr txBox="1">
            <a:spLocks noGrp="1"/>
          </p:cNvSpPr>
          <p:nvPr>
            <p:ph type="body" idx="2"/>
          </p:nvPr>
        </p:nvSpPr>
        <p:spPr>
          <a:xfrm>
            <a:off x="6231803" y="3535700"/>
            <a:ext cx="4345200" cy="23940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13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
        <p:nvSpPr>
          <p:cNvPr id="89" name="Google Shape;89;p24"/>
          <p:cNvSpPr txBox="1">
            <a:spLocks noGrp="1"/>
          </p:cNvSpPr>
          <p:nvPr>
            <p:ph type="title" idx="3"/>
          </p:nvPr>
        </p:nvSpPr>
        <p:spPr>
          <a:xfrm>
            <a:off x="16179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90" name="Google Shape;90;p24"/>
          <p:cNvSpPr txBox="1">
            <a:spLocks noGrp="1"/>
          </p:cNvSpPr>
          <p:nvPr>
            <p:ph type="title" idx="4"/>
          </p:nvPr>
        </p:nvSpPr>
        <p:spPr>
          <a:xfrm>
            <a:off x="6426799" y="2606833"/>
            <a:ext cx="4345200" cy="7312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1800"/>
              <a:buNone/>
              <a:defRPr sz="2400">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Tree>
    <p:extLst>
      <p:ext uri="{BB962C8B-B14F-4D97-AF65-F5344CB8AC3E}">
        <p14:creationId xmlns:p14="http://schemas.microsoft.com/office/powerpoint/2010/main" val="401956827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 Four Columns">
  <p:cSld name="Title + Four Columns">
    <p:bg>
      <p:bgPr>
        <a:blipFill>
          <a:blip r:embed="rId2">
            <a:alphaModFix/>
          </a:blip>
          <a:stretch>
            <a:fillRect/>
          </a:stretch>
        </a:blipFill>
        <a:effectLst/>
      </p:bgPr>
    </p:bg>
    <p:spTree>
      <p:nvGrpSpPr>
        <p:cNvPr id="1" name="Shape 91"/>
        <p:cNvGrpSpPr/>
        <p:nvPr/>
      </p:nvGrpSpPr>
      <p:grpSpPr>
        <a:xfrm>
          <a:off x="0" y="0"/>
          <a:ext cx="0" cy="0"/>
          <a:chOff x="0" y="0"/>
          <a:chExt cx="0" cy="0"/>
        </a:xfrm>
      </p:grpSpPr>
      <p:sp>
        <p:nvSpPr>
          <p:cNvPr id="92" name="Google Shape;92;p2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93" name="Google Shape;93;p25"/>
          <p:cNvSpPr txBox="1">
            <a:spLocks noGrp="1"/>
          </p:cNvSpPr>
          <p:nvPr>
            <p:ph type="title" idx="2"/>
          </p:nvPr>
        </p:nvSpPr>
        <p:spPr>
          <a:xfrm>
            <a:off x="1197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4" name="Google Shape;94;p25"/>
          <p:cNvSpPr txBox="1">
            <a:spLocks noGrp="1"/>
          </p:cNvSpPr>
          <p:nvPr>
            <p:ph type="subTitle" idx="1"/>
          </p:nvPr>
        </p:nvSpPr>
        <p:spPr>
          <a:xfrm>
            <a:off x="1197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5" name="Google Shape;95;p25"/>
          <p:cNvSpPr txBox="1">
            <a:spLocks noGrp="1"/>
          </p:cNvSpPr>
          <p:nvPr>
            <p:ph type="title" idx="3"/>
          </p:nvPr>
        </p:nvSpPr>
        <p:spPr>
          <a:xfrm>
            <a:off x="3720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6" name="Google Shape;96;p25"/>
          <p:cNvSpPr txBox="1">
            <a:spLocks noGrp="1"/>
          </p:cNvSpPr>
          <p:nvPr>
            <p:ph type="subTitle" idx="4"/>
          </p:nvPr>
        </p:nvSpPr>
        <p:spPr>
          <a:xfrm>
            <a:off x="3720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7" name="Google Shape;97;p25"/>
          <p:cNvSpPr txBox="1">
            <a:spLocks noGrp="1"/>
          </p:cNvSpPr>
          <p:nvPr>
            <p:ph type="title" idx="5"/>
          </p:nvPr>
        </p:nvSpPr>
        <p:spPr>
          <a:xfrm>
            <a:off x="62428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98" name="Google Shape;98;p25"/>
          <p:cNvSpPr txBox="1">
            <a:spLocks noGrp="1"/>
          </p:cNvSpPr>
          <p:nvPr>
            <p:ph type="subTitle" idx="6"/>
          </p:nvPr>
        </p:nvSpPr>
        <p:spPr>
          <a:xfrm>
            <a:off x="62428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99" name="Google Shape;99;p25"/>
          <p:cNvSpPr txBox="1">
            <a:spLocks noGrp="1"/>
          </p:cNvSpPr>
          <p:nvPr>
            <p:ph type="title" idx="7"/>
          </p:nvPr>
        </p:nvSpPr>
        <p:spPr>
          <a:xfrm>
            <a:off x="8765348" y="4070167"/>
            <a:ext cx="22288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00" name="Google Shape;100;p25"/>
          <p:cNvSpPr txBox="1">
            <a:spLocks noGrp="1"/>
          </p:cNvSpPr>
          <p:nvPr>
            <p:ph type="subTitle" idx="8"/>
          </p:nvPr>
        </p:nvSpPr>
        <p:spPr>
          <a:xfrm>
            <a:off x="8765352" y="4745116"/>
            <a:ext cx="2228800" cy="154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96750060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Numbers">
  <p:cSld name="Three Numbers">
    <p:bg>
      <p:bgPr>
        <a:blipFill>
          <a:blip r:embed="rId2">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6"/>
          <p:cNvSpPr txBox="1">
            <a:spLocks noGrp="1"/>
          </p:cNvSpPr>
          <p:nvPr>
            <p:ph type="title" hasCustomPrompt="1"/>
          </p:nvPr>
        </p:nvSpPr>
        <p:spPr>
          <a:xfrm>
            <a:off x="6662400" y="882457"/>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3" name="Google Shape;103;p26"/>
          <p:cNvSpPr txBox="1">
            <a:spLocks noGrp="1"/>
          </p:cNvSpPr>
          <p:nvPr>
            <p:ph type="subTitle" idx="1"/>
          </p:nvPr>
        </p:nvSpPr>
        <p:spPr>
          <a:xfrm>
            <a:off x="6548000" y="1687800"/>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4" name="Google Shape;104;p26"/>
          <p:cNvSpPr txBox="1">
            <a:spLocks noGrp="1"/>
          </p:cNvSpPr>
          <p:nvPr>
            <p:ph type="title" idx="2" hasCustomPrompt="1"/>
          </p:nvPr>
        </p:nvSpPr>
        <p:spPr>
          <a:xfrm>
            <a:off x="6662400" y="2798924"/>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5" name="Google Shape;105;p26"/>
          <p:cNvSpPr txBox="1">
            <a:spLocks noGrp="1"/>
          </p:cNvSpPr>
          <p:nvPr>
            <p:ph type="subTitle" idx="3"/>
          </p:nvPr>
        </p:nvSpPr>
        <p:spPr>
          <a:xfrm>
            <a:off x="6548000" y="3604267"/>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
        <p:nvSpPr>
          <p:cNvPr id="106" name="Google Shape;106;p26"/>
          <p:cNvSpPr txBox="1">
            <a:spLocks noGrp="1"/>
          </p:cNvSpPr>
          <p:nvPr>
            <p:ph type="title" idx="4" hasCustomPrompt="1"/>
          </p:nvPr>
        </p:nvSpPr>
        <p:spPr>
          <a:xfrm>
            <a:off x="6662400" y="4715391"/>
            <a:ext cx="4212400" cy="965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4800"/>
              <a:buNone/>
              <a:defRPr sz="6400">
                <a:solidFill>
                  <a:schemeClr val="lt1"/>
                </a:solidFill>
              </a:defRPr>
            </a:lvl1pPr>
            <a:lvl2pPr lvl="1" algn="ctr" rtl="0">
              <a:spcBef>
                <a:spcPts val="0"/>
              </a:spcBef>
              <a:spcAft>
                <a:spcPts val="0"/>
              </a:spcAft>
              <a:buClr>
                <a:schemeClr val="lt1"/>
              </a:buClr>
              <a:buSzPts val="6000"/>
              <a:buNone/>
              <a:defRPr sz="8000">
                <a:solidFill>
                  <a:schemeClr val="lt1"/>
                </a:solidFill>
              </a:defRPr>
            </a:lvl2pPr>
            <a:lvl3pPr lvl="2" algn="ctr" rtl="0">
              <a:spcBef>
                <a:spcPts val="0"/>
              </a:spcBef>
              <a:spcAft>
                <a:spcPts val="0"/>
              </a:spcAft>
              <a:buClr>
                <a:schemeClr val="lt1"/>
              </a:buClr>
              <a:buSzPts val="6000"/>
              <a:buNone/>
              <a:defRPr sz="8000">
                <a:solidFill>
                  <a:schemeClr val="lt1"/>
                </a:solidFill>
              </a:defRPr>
            </a:lvl3pPr>
            <a:lvl4pPr lvl="3" algn="ctr" rtl="0">
              <a:spcBef>
                <a:spcPts val="0"/>
              </a:spcBef>
              <a:spcAft>
                <a:spcPts val="0"/>
              </a:spcAft>
              <a:buClr>
                <a:schemeClr val="lt1"/>
              </a:buClr>
              <a:buSzPts val="6000"/>
              <a:buNone/>
              <a:defRPr sz="8000">
                <a:solidFill>
                  <a:schemeClr val="lt1"/>
                </a:solidFill>
              </a:defRPr>
            </a:lvl4pPr>
            <a:lvl5pPr lvl="4" algn="ctr" rtl="0">
              <a:spcBef>
                <a:spcPts val="0"/>
              </a:spcBef>
              <a:spcAft>
                <a:spcPts val="0"/>
              </a:spcAft>
              <a:buClr>
                <a:schemeClr val="lt1"/>
              </a:buClr>
              <a:buSzPts val="6000"/>
              <a:buNone/>
              <a:defRPr sz="8000">
                <a:solidFill>
                  <a:schemeClr val="lt1"/>
                </a:solidFill>
              </a:defRPr>
            </a:lvl5pPr>
            <a:lvl6pPr lvl="5" algn="ctr" rtl="0">
              <a:spcBef>
                <a:spcPts val="0"/>
              </a:spcBef>
              <a:spcAft>
                <a:spcPts val="0"/>
              </a:spcAft>
              <a:buClr>
                <a:schemeClr val="lt1"/>
              </a:buClr>
              <a:buSzPts val="6000"/>
              <a:buNone/>
              <a:defRPr sz="8000">
                <a:solidFill>
                  <a:schemeClr val="lt1"/>
                </a:solidFill>
              </a:defRPr>
            </a:lvl6pPr>
            <a:lvl7pPr lvl="6" algn="ctr" rtl="0">
              <a:spcBef>
                <a:spcPts val="0"/>
              </a:spcBef>
              <a:spcAft>
                <a:spcPts val="0"/>
              </a:spcAft>
              <a:buClr>
                <a:schemeClr val="lt1"/>
              </a:buClr>
              <a:buSzPts val="6000"/>
              <a:buNone/>
              <a:defRPr sz="8000">
                <a:solidFill>
                  <a:schemeClr val="lt1"/>
                </a:solidFill>
              </a:defRPr>
            </a:lvl7pPr>
            <a:lvl8pPr lvl="7" algn="ctr" rtl="0">
              <a:spcBef>
                <a:spcPts val="0"/>
              </a:spcBef>
              <a:spcAft>
                <a:spcPts val="0"/>
              </a:spcAft>
              <a:buClr>
                <a:schemeClr val="lt1"/>
              </a:buClr>
              <a:buSzPts val="6000"/>
              <a:buNone/>
              <a:defRPr sz="8000">
                <a:solidFill>
                  <a:schemeClr val="lt1"/>
                </a:solidFill>
              </a:defRPr>
            </a:lvl8pPr>
            <a:lvl9pPr lvl="8" algn="ctr" rtl="0">
              <a:spcBef>
                <a:spcPts val="0"/>
              </a:spcBef>
              <a:spcAft>
                <a:spcPts val="0"/>
              </a:spcAft>
              <a:buClr>
                <a:schemeClr val="lt1"/>
              </a:buClr>
              <a:buSzPts val="6000"/>
              <a:buNone/>
              <a:defRPr sz="8000">
                <a:solidFill>
                  <a:schemeClr val="lt1"/>
                </a:solidFill>
              </a:defRPr>
            </a:lvl9pPr>
          </a:lstStyle>
          <a:p>
            <a:r>
              <a:t>xx%</a:t>
            </a:r>
          </a:p>
        </p:txBody>
      </p:sp>
      <p:sp>
        <p:nvSpPr>
          <p:cNvPr id="107" name="Google Shape;107;p26"/>
          <p:cNvSpPr txBox="1">
            <a:spLocks noGrp="1"/>
          </p:cNvSpPr>
          <p:nvPr>
            <p:ph type="subTitle" idx="5"/>
          </p:nvPr>
        </p:nvSpPr>
        <p:spPr>
          <a:xfrm>
            <a:off x="6548000" y="5520733"/>
            <a:ext cx="4441200" cy="55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accent1"/>
              </a:buClr>
              <a:buSzPts val="1400"/>
              <a:buNone/>
              <a:defRPr sz="1867">
                <a:solidFill>
                  <a:schemeClr val="accent1"/>
                </a:solidFill>
              </a:defRPr>
            </a:lvl1pPr>
            <a:lvl2pPr lvl="1" algn="ctr" rtl="0">
              <a:lnSpc>
                <a:spcPct val="100000"/>
              </a:lnSpc>
              <a:spcBef>
                <a:spcPts val="0"/>
              </a:spcBef>
              <a:spcAft>
                <a:spcPts val="0"/>
              </a:spcAft>
              <a:buClr>
                <a:schemeClr val="accent1"/>
              </a:buClr>
              <a:buSzPts val="2100"/>
              <a:buNone/>
              <a:defRPr sz="2800">
                <a:solidFill>
                  <a:schemeClr val="accent1"/>
                </a:solidFill>
              </a:defRPr>
            </a:lvl2pPr>
            <a:lvl3pPr lvl="2" algn="ctr" rtl="0">
              <a:lnSpc>
                <a:spcPct val="100000"/>
              </a:lnSpc>
              <a:spcBef>
                <a:spcPts val="0"/>
              </a:spcBef>
              <a:spcAft>
                <a:spcPts val="0"/>
              </a:spcAft>
              <a:buClr>
                <a:schemeClr val="accent1"/>
              </a:buClr>
              <a:buSzPts val="2100"/>
              <a:buNone/>
              <a:defRPr sz="2800">
                <a:solidFill>
                  <a:schemeClr val="accent1"/>
                </a:solidFill>
              </a:defRPr>
            </a:lvl3pPr>
            <a:lvl4pPr lvl="3" algn="ctr" rtl="0">
              <a:lnSpc>
                <a:spcPct val="100000"/>
              </a:lnSpc>
              <a:spcBef>
                <a:spcPts val="0"/>
              </a:spcBef>
              <a:spcAft>
                <a:spcPts val="0"/>
              </a:spcAft>
              <a:buClr>
                <a:schemeClr val="accent1"/>
              </a:buClr>
              <a:buSzPts val="2100"/>
              <a:buNone/>
              <a:defRPr sz="2800">
                <a:solidFill>
                  <a:schemeClr val="accent1"/>
                </a:solidFill>
              </a:defRPr>
            </a:lvl4pPr>
            <a:lvl5pPr lvl="4" algn="ctr" rtl="0">
              <a:lnSpc>
                <a:spcPct val="100000"/>
              </a:lnSpc>
              <a:spcBef>
                <a:spcPts val="0"/>
              </a:spcBef>
              <a:spcAft>
                <a:spcPts val="0"/>
              </a:spcAft>
              <a:buClr>
                <a:schemeClr val="accent1"/>
              </a:buClr>
              <a:buSzPts val="2100"/>
              <a:buNone/>
              <a:defRPr sz="2800">
                <a:solidFill>
                  <a:schemeClr val="accent1"/>
                </a:solidFill>
              </a:defRPr>
            </a:lvl5pPr>
            <a:lvl6pPr lvl="5" algn="ctr" rtl="0">
              <a:lnSpc>
                <a:spcPct val="100000"/>
              </a:lnSpc>
              <a:spcBef>
                <a:spcPts val="0"/>
              </a:spcBef>
              <a:spcAft>
                <a:spcPts val="0"/>
              </a:spcAft>
              <a:buClr>
                <a:schemeClr val="accent1"/>
              </a:buClr>
              <a:buSzPts val="2100"/>
              <a:buNone/>
              <a:defRPr sz="2800">
                <a:solidFill>
                  <a:schemeClr val="accent1"/>
                </a:solidFill>
              </a:defRPr>
            </a:lvl6pPr>
            <a:lvl7pPr lvl="6" algn="ctr" rtl="0">
              <a:lnSpc>
                <a:spcPct val="100000"/>
              </a:lnSpc>
              <a:spcBef>
                <a:spcPts val="0"/>
              </a:spcBef>
              <a:spcAft>
                <a:spcPts val="0"/>
              </a:spcAft>
              <a:buClr>
                <a:schemeClr val="accent1"/>
              </a:buClr>
              <a:buSzPts val="2100"/>
              <a:buNone/>
              <a:defRPr sz="2800">
                <a:solidFill>
                  <a:schemeClr val="accent1"/>
                </a:solidFill>
              </a:defRPr>
            </a:lvl7pPr>
            <a:lvl8pPr lvl="7" algn="ctr" rtl="0">
              <a:lnSpc>
                <a:spcPct val="100000"/>
              </a:lnSpc>
              <a:spcBef>
                <a:spcPts val="0"/>
              </a:spcBef>
              <a:spcAft>
                <a:spcPts val="0"/>
              </a:spcAft>
              <a:buClr>
                <a:schemeClr val="accent1"/>
              </a:buClr>
              <a:buSzPts val="2100"/>
              <a:buNone/>
              <a:defRPr sz="2800">
                <a:solidFill>
                  <a:schemeClr val="accent1"/>
                </a:solidFill>
              </a:defRPr>
            </a:lvl8pPr>
            <a:lvl9pPr lvl="8" algn="ctr" rtl="0">
              <a:lnSpc>
                <a:spcPct val="100000"/>
              </a:lnSpc>
              <a:spcBef>
                <a:spcPts val="0"/>
              </a:spcBef>
              <a:spcAft>
                <a:spcPts val="0"/>
              </a:spcAft>
              <a:buClr>
                <a:schemeClr val="accent1"/>
              </a:buClr>
              <a:buSzPts val="2100"/>
              <a:buNone/>
              <a:defRPr sz="2800">
                <a:solidFill>
                  <a:schemeClr val="accent1"/>
                </a:solidFill>
              </a:defRPr>
            </a:lvl9pPr>
          </a:lstStyle>
          <a:p>
            <a:endParaRPr/>
          </a:p>
        </p:txBody>
      </p:sp>
    </p:spTree>
    <p:extLst>
      <p:ext uri="{BB962C8B-B14F-4D97-AF65-F5344CB8AC3E}">
        <p14:creationId xmlns:p14="http://schemas.microsoft.com/office/powerpoint/2010/main" val="1482259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 Six Columns  ">
  <p:cSld name="Title + Six Columns  ">
    <p:bg>
      <p:bgPr>
        <a:blipFill>
          <a:blip r:embed="rId2">
            <a:alphaModFix/>
          </a:blip>
          <a:stretch>
            <a:fillRect/>
          </a:stretch>
        </a:blipFill>
        <a:effectLst/>
      </p:bgPr>
    </p:bg>
    <p:spTree>
      <p:nvGrpSpPr>
        <p:cNvPr id="1" name="Shape 108"/>
        <p:cNvGrpSpPr/>
        <p:nvPr/>
      </p:nvGrpSpPr>
      <p:grpSpPr>
        <a:xfrm>
          <a:off x="0" y="0"/>
          <a:ext cx="0" cy="0"/>
          <a:chOff x="0" y="0"/>
          <a:chExt cx="0" cy="0"/>
        </a:xfrm>
      </p:grpSpPr>
      <p:sp>
        <p:nvSpPr>
          <p:cNvPr id="109" name="Google Shape;109;p27"/>
          <p:cNvSpPr txBox="1">
            <a:spLocks noGrp="1"/>
          </p:cNvSpPr>
          <p:nvPr>
            <p:ph type="title"/>
          </p:nvPr>
        </p:nvSpPr>
        <p:spPr>
          <a:xfrm>
            <a:off x="4717996"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0" name="Google Shape;110;p27"/>
          <p:cNvSpPr txBox="1">
            <a:spLocks noGrp="1"/>
          </p:cNvSpPr>
          <p:nvPr>
            <p:ph type="subTitle" idx="1"/>
          </p:nvPr>
        </p:nvSpPr>
        <p:spPr>
          <a:xfrm>
            <a:off x="4717997"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1" name="Google Shape;111;p27"/>
          <p:cNvSpPr txBox="1">
            <a:spLocks noGrp="1"/>
          </p:cNvSpPr>
          <p:nvPr>
            <p:ph type="title" idx="2"/>
          </p:nvPr>
        </p:nvSpPr>
        <p:spPr>
          <a:xfrm>
            <a:off x="8038071"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2" name="Google Shape;112;p27"/>
          <p:cNvSpPr txBox="1">
            <a:spLocks noGrp="1"/>
          </p:cNvSpPr>
          <p:nvPr>
            <p:ph type="subTitle" idx="3"/>
          </p:nvPr>
        </p:nvSpPr>
        <p:spPr>
          <a:xfrm>
            <a:off x="8038069"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3" name="Google Shape;113;p27"/>
          <p:cNvSpPr txBox="1">
            <a:spLocks noGrp="1"/>
          </p:cNvSpPr>
          <p:nvPr>
            <p:ph type="title" idx="4"/>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4" name="Google Shape;114;p27"/>
          <p:cNvSpPr txBox="1">
            <a:spLocks noGrp="1"/>
          </p:cNvSpPr>
          <p:nvPr>
            <p:ph type="title" idx="5"/>
          </p:nvPr>
        </p:nvSpPr>
        <p:spPr>
          <a:xfrm>
            <a:off x="1397929" y="2424721"/>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5" name="Google Shape;115;p27"/>
          <p:cNvSpPr txBox="1">
            <a:spLocks noGrp="1"/>
          </p:cNvSpPr>
          <p:nvPr>
            <p:ph type="subTitle" idx="6"/>
          </p:nvPr>
        </p:nvSpPr>
        <p:spPr>
          <a:xfrm>
            <a:off x="1397933" y="3099687"/>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6" name="Google Shape;116;p27"/>
          <p:cNvSpPr txBox="1">
            <a:spLocks noGrp="1"/>
          </p:cNvSpPr>
          <p:nvPr>
            <p:ph type="title" idx="7"/>
          </p:nvPr>
        </p:nvSpPr>
        <p:spPr>
          <a:xfrm>
            <a:off x="4717996"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7" name="Google Shape;117;p27"/>
          <p:cNvSpPr txBox="1">
            <a:spLocks noGrp="1"/>
          </p:cNvSpPr>
          <p:nvPr>
            <p:ph type="subTitle" idx="8"/>
          </p:nvPr>
        </p:nvSpPr>
        <p:spPr>
          <a:xfrm>
            <a:off x="4717997"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18" name="Google Shape;118;p27"/>
          <p:cNvSpPr txBox="1">
            <a:spLocks noGrp="1"/>
          </p:cNvSpPr>
          <p:nvPr>
            <p:ph type="title" idx="9"/>
          </p:nvPr>
        </p:nvSpPr>
        <p:spPr>
          <a:xfrm>
            <a:off x="8038071"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19" name="Google Shape;119;p27"/>
          <p:cNvSpPr txBox="1">
            <a:spLocks noGrp="1"/>
          </p:cNvSpPr>
          <p:nvPr>
            <p:ph type="subTitle" idx="13"/>
          </p:nvPr>
        </p:nvSpPr>
        <p:spPr>
          <a:xfrm>
            <a:off x="8038069"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
        <p:nvSpPr>
          <p:cNvPr id="120" name="Google Shape;120;p27"/>
          <p:cNvSpPr txBox="1">
            <a:spLocks noGrp="1"/>
          </p:cNvSpPr>
          <p:nvPr>
            <p:ph type="title" idx="14"/>
          </p:nvPr>
        </p:nvSpPr>
        <p:spPr>
          <a:xfrm>
            <a:off x="1397929" y="4433380"/>
            <a:ext cx="2756000" cy="7312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lt1"/>
              </a:buClr>
              <a:buSzPts val="1800"/>
              <a:buNone/>
              <a:defRPr sz="2400">
                <a:solidFill>
                  <a:schemeClr val="lt1"/>
                </a:solidFill>
              </a:defRPr>
            </a:lvl1pPr>
            <a:lvl2pPr lvl="1" algn="ctr" rtl="0">
              <a:spcBef>
                <a:spcPts val="0"/>
              </a:spcBef>
              <a:spcAft>
                <a:spcPts val="0"/>
              </a:spcAft>
              <a:buClr>
                <a:schemeClr val="lt1"/>
              </a:buClr>
              <a:buSzPts val="4200"/>
              <a:buNone/>
              <a:defRPr sz="5600">
                <a:solidFill>
                  <a:schemeClr val="lt1"/>
                </a:solidFill>
              </a:defRPr>
            </a:lvl2pPr>
            <a:lvl3pPr lvl="2" algn="ctr" rtl="0">
              <a:spcBef>
                <a:spcPts val="0"/>
              </a:spcBef>
              <a:spcAft>
                <a:spcPts val="0"/>
              </a:spcAft>
              <a:buClr>
                <a:schemeClr val="lt1"/>
              </a:buClr>
              <a:buSzPts val="4200"/>
              <a:buNone/>
              <a:defRPr sz="5600">
                <a:solidFill>
                  <a:schemeClr val="lt1"/>
                </a:solidFill>
              </a:defRPr>
            </a:lvl3pPr>
            <a:lvl4pPr lvl="3" algn="ctr" rtl="0">
              <a:spcBef>
                <a:spcPts val="0"/>
              </a:spcBef>
              <a:spcAft>
                <a:spcPts val="0"/>
              </a:spcAft>
              <a:buClr>
                <a:schemeClr val="lt1"/>
              </a:buClr>
              <a:buSzPts val="4200"/>
              <a:buNone/>
              <a:defRPr sz="5600">
                <a:solidFill>
                  <a:schemeClr val="lt1"/>
                </a:solidFill>
              </a:defRPr>
            </a:lvl4pPr>
            <a:lvl5pPr lvl="4" algn="ctr" rtl="0">
              <a:spcBef>
                <a:spcPts val="0"/>
              </a:spcBef>
              <a:spcAft>
                <a:spcPts val="0"/>
              </a:spcAft>
              <a:buClr>
                <a:schemeClr val="lt1"/>
              </a:buClr>
              <a:buSzPts val="4200"/>
              <a:buNone/>
              <a:defRPr sz="5600">
                <a:solidFill>
                  <a:schemeClr val="lt1"/>
                </a:solidFill>
              </a:defRPr>
            </a:lvl5pPr>
            <a:lvl6pPr lvl="5" algn="ctr" rtl="0">
              <a:spcBef>
                <a:spcPts val="0"/>
              </a:spcBef>
              <a:spcAft>
                <a:spcPts val="0"/>
              </a:spcAft>
              <a:buClr>
                <a:schemeClr val="lt1"/>
              </a:buClr>
              <a:buSzPts val="4200"/>
              <a:buNone/>
              <a:defRPr sz="5600">
                <a:solidFill>
                  <a:schemeClr val="lt1"/>
                </a:solidFill>
              </a:defRPr>
            </a:lvl6pPr>
            <a:lvl7pPr lvl="6" algn="ctr" rtl="0">
              <a:spcBef>
                <a:spcPts val="0"/>
              </a:spcBef>
              <a:spcAft>
                <a:spcPts val="0"/>
              </a:spcAft>
              <a:buClr>
                <a:schemeClr val="lt1"/>
              </a:buClr>
              <a:buSzPts val="4200"/>
              <a:buNone/>
              <a:defRPr sz="5600">
                <a:solidFill>
                  <a:schemeClr val="lt1"/>
                </a:solidFill>
              </a:defRPr>
            </a:lvl7pPr>
            <a:lvl8pPr lvl="7" algn="ctr" rtl="0">
              <a:spcBef>
                <a:spcPts val="0"/>
              </a:spcBef>
              <a:spcAft>
                <a:spcPts val="0"/>
              </a:spcAft>
              <a:buClr>
                <a:schemeClr val="lt1"/>
              </a:buClr>
              <a:buSzPts val="4200"/>
              <a:buNone/>
              <a:defRPr sz="5600">
                <a:solidFill>
                  <a:schemeClr val="lt1"/>
                </a:solidFill>
              </a:defRPr>
            </a:lvl8pPr>
            <a:lvl9pPr lvl="8" algn="ctr" rtl="0">
              <a:spcBef>
                <a:spcPts val="0"/>
              </a:spcBef>
              <a:spcAft>
                <a:spcPts val="0"/>
              </a:spcAft>
              <a:buClr>
                <a:schemeClr val="lt1"/>
              </a:buClr>
              <a:buSzPts val="4200"/>
              <a:buNone/>
              <a:defRPr sz="5600">
                <a:solidFill>
                  <a:schemeClr val="lt1"/>
                </a:solidFill>
              </a:defRPr>
            </a:lvl9pPr>
          </a:lstStyle>
          <a:p>
            <a:endParaRPr/>
          </a:p>
        </p:txBody>
      </p:sp>
      <p:sp>
        <p:nvSpPr>
          <p:cNvPr id="121" name="Google Shape;121;p27"/>
          <p:cNvSpPr txBox="1">
            <a:spLocks noGrp="1"/>
          </p:cNvSpPr>
          <p:nvPr>
            <p:ph type="subTitle" idx="15"/>
          </p:nvPr>
        </p:nvSpPr>
        <p:spPr>
          <a:xfrm>
            <a:off x="1397933" y="5108345"/>
            <a:ext cx="2756000" cy="8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2100"/>
              <a:buNone/>
              <a:defRPr sz="2800">
                <a:solidFill>
                  <a:schemeClr val="lt1"/>
                </a:solidFill>
              </a:defRPr>
            </a:lvl2pPr>
            <a:lvl3pPr lvl="2" algn="ctr" rtl="0">
              <a:lnSpc>
                <a:spcPct val="100000"/>
              </a:lnSpc>
              <a:spcBef>
                <a:spcPts val="0"/>
              </a:spcBef>
              <a:spcAft>
                <a:spcPts val="0"/>
              </a:spcAft>
              <a:buClr>
                <a:schemeClr val="lt1"/>
              </a:buClr>
              <a:buSzPts val="2100"/>
              <a:buNone/>
              <a:defRPr sz="2800">
                <a:solidFill>
                  <a:schemeClr val="lt1"/>
                </a:solidFill>
              </a:defRPr>
            </a:lvl3pPr>
            <a:lvl4pPr lvl="3" algn="ctr" rtl="0">
              <a:lnSpc>
                <a:spcPct val="100000"/>
              </a:lnSpc>
              <a:spcBef>
                <a:spcPts val="0"/>
              </a:spcBef>
              <a:spcAft>
                <a:spcPts val="0"/>
              </a:spcAft>
              <a:buClr>
                <a:schemeClr val="lt1"/>
              </a:buClr>
              <a:buSzPts val="2100"/>
              <a:buNone/>
              <a:defRPr sz="2800">
                <a:solidFill>
                  <a:schemeClr val="lt1"/>
                </a:solidFill>
              </a:defRPr>
            </a:lvl4pPr>
            <a:lvl5pPr lvl="4" algn="ctr" rtl="0">
              <a:lnSpc>
                <a:spcPct val="100000"/>
              </a:lnSpc>
              <a:spcBef>
                <a:spcPts val="0"/>
              </a:spcBef>
              <a:spcAft>
                <a:spcPts val="0"/>
              </a:spcAft>
              <a:buClr>
                <a:schemeClr val="lt1"/>
              </a:buClr>
              <a:buSzPts val="2100"/>
              <a:buNone/>
              <a:defRPr sz="2800">
                <a:solidFill>
                  <a:schemeClr val="lt1"/>
                </a:solidFill>
              </a:defRPr>
            </a:lvl5pPr>
            <a:lvl6pPr lvl="5" algn="ctr" rtl="0">
              <a:lnSpc>
                <a:spcPct val="100000"/>
              </a:lnSpc>
              <a:spcBef>
                <a:spcPts val="0"/>
              </a:spcBef>
              <a:spcAft>
                <a:spcPts val="0"/>
              </a:spcAft>
              <a:buClr>
                <a:schemeClr val="lt1"/>
              </a:buClr>
              <a:buSzPts val="2100"/>
              <a:buNone/>
              <a:defRPr sz="2800">
                <a:solidFill>
                  <a:schemeClr val="lt1"/>
                </a:solidFill>
              </a:defRPr>
            </a:lvl6pPr>
            <a:lvl7pPr lvl="6" algn="ctr" rtl="0">
              <a:lnSpc>
                <a:spcPct val="100000"/>
              </a:lnSpc>
              <a:spcBef>
                <a:spcPts val="0"/>
              </a:spcBef>
              <a:spcAft>
                <a:spcPts val="0"/>
              </a:spcAft>
              <a:buClr>
                <a:schemeClr val="lt1"/>
              </a:buClr>
              <a:buSzPts val="2100"/>
              <a:buNone/>
              <a:defRPr sz="2800">
                <a:solidFill>
                  <a:schemeClr val="lt1"/>
                </a:solidFill>
              </a:defRPr>
            </a:lvl7pPr>
            <a:lvl8pPr lvl="7" algn="ctr" rtl="0">
              <a:lnSpc>
                <a:spcPct val="100000"/>
              </a:lnSpc>
              <a:spcBef>
                <a:spcPts val="0"/>
              </a:spcBef>
              <a:spcAft>
                <a:spcPts val="0"/>
              </a:spcAft>
              <a:buClr>
                <a:schemeClr val="lt1"/>
              </a:buClr>
              <a:buSzPts val="2100"/>
              <a:buNone/>
              <a:defRPr sz="2800">
                <a:solidFill>
                  <a:schemeClr val="lt1"/>
                </a:solidFill>
              </a:defRPr>
            </a:lvl8pPr>
            <a:lvl9pPr lvl="8" algn="ctr" rtl="0">
              <a:lnSpc>
                <a:spcPct val="100000"/>
              </a:lnSpc>
              <a:spcBef>
                <a:spcPts val="0"/>
              </a:spcBef>
              <a:spcAft>
                <a:spcPts val="0"/>
              </a:spcAft>
              <a:buClr>
                <a:schemeClr val="lt1"/>
              </a:buClr>
              <a:buSzPts val="2100"/>
              <a:buNone/>
              <a:defRPr sz="2800">
                <a:solidFill>
                  <a:schemeClr val="lt1"/>
                </a:solidFill>
              </a:defRPr>
            </a:lvl9pPr>
          </a:lstStyle>
          <a:p>
            <a:endParaRPr/>
          </a:p>
        </p:txBody>
      </p:sp>
    </p:spTree>
    <p:extLst>
      <p:ext uri="{BB962C8B-B14F-4D97-AF65-F5344CB8AC3E}">
        <p14:creationId xmlns:p14="http://schemas.microsoft.com/office/powerpoint/2010/main" val="46622301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 Four Columns 1">
  <p:cSld name="Title + Four Columns 1">
    <p:bg>
      <p:bgPr>
        <a:blipFill>
          <a:blip r:embed="rId2">
            <a:alphaModFix/>
          </a:blip>
          <a:stretch>
            <a:fillRect/>
          </a:stretch>
        </a:blipFill>
        <a:effectLst/>
      </p:bgPr>
    </p:bg>
    <p:spTree>
      <p:nvGrpSpPr>
        <p:cNvPr id="1" name="Shape 122"/>
        <p:cNvGrpSpPr/>
        <p:nvPr/>
      </p:nvGrpSpPr>
      <p:grpSpPr>
        <a:xfrm>
          <a:off x="0" y="0"/>
          <a:ext cx="0" cy="0"/>
          <a:chOff x="0" y="0"/>
          <a:chExt cx="0" cy="0"/>
        </a:xfrm>
      </p:grpSpPr>
      <p:sp>
        <p:nvSpPr>
          <p:cNvPr id="123" name="Google Shape;123;p28"/>
          <p:cNvSpPr txBox="1">
            <a:spLocks noGrp="1"/>
          </p:cNvSpPr>
          <p:nvPr>
            <p:ph type="title"/>
          </p:nvPr>
        </p:nvSpPr>
        <p:spPr>
          <a:xfrm>
            <a:off x="1251333" y="593367"/>
            <a:ext cx="67248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24" name="Google Shape;124;p28"/>
          <p:cNvSpPr txBox="1">
            <a:spLocks noGrp="1"/>
          </p:cNvSpPr>
          <p:nvPr>
            <p:ph type="title" idx="2"/>
          </p:nvPr>
        </p:nvSpPr>
        <p:spPr>
          <a:xfrm>
            <a:off x="1784317" y="3146433"/>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5" name="Google Shape;125;p28"/>
          <p:cNvSpPr txBox="1">
            <a:spLocks noGrp="1"/>
          </p:cNvSpPr>
          <p:nvPr>
            <p:ph type="subTitle" idx="1"/>
          </p:nvPr>
        </p:nvSpPr>
        <p:spPr>
          <a:xfrm>
            <a:off x="1784317" y="2284068"/>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6" name="Google Shape;126;p28"/>
          <p:cNvSpPr txBox="1">
            <a:spLocks noGrp="1"/>
          </p:cNvSpPr>
          <p:nvPr>
            <p:ph type="title" idx="3"/>
          </p:nvPr>
        </p:nvSpPr>
        <p:spPr>
          <a:xfrm>
            <a:off x="1784317" y="5318600"/>
            <a:ext cx="3636800" cy="500800"/>
          </a:xfrm>
          <a:prstGeom prst="rect">
            <a:avLst/>
          </a:prstGeom>
        </p:spPr>
        <p:txBody>
          <a:bodyPr spcFirstLastPara="1" wrap="square" lIns="91425" tIns="91425" rIns="91425" bIns="91425" anchor="t" anchorCtr="0">
            <a:noAutofit/>
          </a:bodyPr>
          <a:lstStyle>
            <a:lvl1pPr lvl="0" algn="r" rtl="0">
              <a:spcBef>
                <a:spcPts val="0"/>
              </a:spcBef>
              <a:spcAft>
                <a:spcPts val="0"/>
              </a:spcAft>
              <a:buClr>
                <a:schemeClr val="lt1"/>
              </a:buClr>
              <a:buSzPts val="1400"/>
              <a:buNone/>
              <a:defRPr sz="1867">
                <a:solidFill>
                  <a:schemeClr val="lt1"/>
                </a:solidFill>
              </a:defRPr>
            </a:lvl1pPr>
            <a:lvl2pPr lvl="1" algn="r" rtl="0">
              <a:spcBef>
                <a:spcPts val="0"/>
              </a:spcBef>
              <a:spcAft>
                <a:spcPts val="0"/>
              </a:spcAft>
              <a:buClr>
                <a:schemeClr val="lt1"/>
              </a:buClr>
              <a:buSzPts val="4200"/>
              <a:buNone/>
              <a:defRPr sz="5600">
                <a:solidFill>
                  <a:schemeClr val="lt1"/>
                </a:solidFill>
              </a:defRPr>
            </a:lvl2pPr>
            <a:lvl3pPr lvl="2" algn="r" rtl="0">
              <a:spcBef>
                <a:spcPts val="0"/>
              </a:spcBef>
              <a:spcAft>
                <a:spcPts val="0"/>
              </a:spcAft>
              <a:buClr>
                <a:schemeClr val="lt1"/>
              </a:buClr>
              <a:buSzPts val="4200"/>
              <a:buNone/>
              <a:defRPr sz="5600">
                <a:solidFill>
                  <a:schemeClr val="lt1"/>
                </a:solidFill>
              </a:defRPr>
            </a:lvl3pPr>
            <a:lvl4pPr lvl="3" algn="r" rtl="0">
              <a:spcBef>
                <a:spcPts val="0"/>
              </a:spcBef>
              <a:spcAft>
                <a:spcPts val="0"/>
              </a:spcAft>
              <a:buClr>
                <a:schemeClr val="lt1"/>
              </a:buClr>
              <a:buSzPts val="4200"/>
              <a:buNone/>
              <a:defRPr sz="5600">
                <a:solidFill>
                  <a:schemeClr val="lt1"/>
                </a:solidFill>
              </a:defRPr>
            </a:lvl4pPr>
            <a:lvl5pPr lvl="4" algn="r" rtl="0">
              <a:spcBef>
                <a:spcPts val="0"/>
              </a:spcBef>
              <a:spcAft>
                <a:spcPts val="0"/>
              </a:spcAft>
              <a:buClr>
                <a:schemeClr val="lt1"/>
              </a:buClr>
              <a:buSzPts val="4200"/>
              <a:buNone/>
              <a:defRPr sz="5600">
                <a:solidFill>
                  <a:schemeClr val="lt1"/>
                </a:solidFill>
              </a:defRPr>
            </a:lvl5pPr>
            <a:lvl6pPr lvl="5" algn="r" rtl="0">
              <a:spcBef>
                <a:spcPts val="0"/>
              </a:spcBef>
              <a:spcAft>
                <a:spcPts val="0"/>
              </a:spcAft>
              <a:buClr>
                <a:schemeClr val="lt1"/>
              </a:buClr>
              <a:buSzPts val="4200"/>
              <a:buNone/>
              <a:defRPr sz="5600">
                <a:solidFill>
                  <a:schemeClr val="lt1"/>
                </a:solidFill>
              </a:defRPr>
            </a:lvl6pPr>
            <a:lvl7pPr lvl="6" algn="r" rtl="0">
              <a:spcBef>
                <a:spcPts val="0"/>
              </a:spcBef>
              <a:spcAft>
                <a:spcPts val="0"/>
              </a:spcAft>
              <a:buClr>
                <a:schemeClr val="lt1"/>
              </a:buClr>
              <a:buSzPts val="4200"/>
              <a:buNone/>
              <a:defRPr sz="5600">
                <a:solidFill>
                  <a:schemeClr val="lt1"/>
                </a:solidFill>
              </a:defRPr>
            </a:lvl7pPr>
            <a:lvl8pPr lvl="7" algn="r" rtl="0">
              <a:spcBef>
                <a:spcPts val="0"/>
              </a:spcBef>
              <a:spcAft>
                <a:spcPts val="0"/>
              </a:spcAft>
              <a:buClr>
                <a:schemeClr val="lt1"/>
              </a:buClr>
              <a:buSzPts val="4200"/>
              <a:buNone/>
              <a:defRPr sz="5600">
                <a:solidFill>
                  <a:schemeClr val="lt1"/>
                </a:solidFill>
              </a:defRPr>
            </a:lvl8pPr>
            <a:lvl9pPr lvl="8" algn="r" rtl="0">
              <a:spcBef>
                <a:spcPts val="0"/>
              </a:spcBef>
              <a:spcAft>
                <a:spcPts val="0"/>
              </a:spcAft>
              <a:buClr>
                <a:schemeClr val="lt1"/>
              </a:buClr>
              <a:buSzPts val="4200"/>
              <a:buNone/>
              <a:defRPr sz="5600">
                <a:solidFill>
                  <a:schemeClr val="lt1"/>
                </a:solidFill>
              </a:defRPr>
            </a:lvl9pPr>
          </a:lstStyle>
          <a:p>
            <a:endParaRPr/>
          </a:p>
        </p:txBody>
      </p:sp>
      <p:sp>
        <p:nvSpPr>
          <p:cNvPr id="127" name="Google Shape;127;p28"/>
          <p:cNvSpPr txBox="1">
            <a:spLocks noGrp="1"/>
          </p:cNvSpPr>
          <p:nvPr>
            <p:ph type="subTitle" idx="4"/>
          </p:nvPr>
        </p:nvSpPr>
        <p:spPr>
          <a:xfrm>
            <a:off x="1784317" y="4456235"/>
            <a:ext cx="3636800" cy="807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lt1"/>
              </a:buClr>
              <a:buSzPts val="1600"/>
              <a:buNone/>
              <a:defRPr sz="2133">
                <a:solidFill>
                  <a:schemeClr val="lt1"/>
                </a:solidFill>
              </a:defRPr>
            </a:lvl1pPr>
            <a:lvl2pPr lvl="1" algn="r" rtl="0">
              <a:lnSpc>
                <a:spcPct val="100000"/>
              </a:lnSpc>
              <a:spcBef>
                <a:spcPts val="0"/>
              </a:spcBef>
              <a:spcAft>
                <a:spcPts val="0"/>
              </a:spcAft>
              <a:buClr>
                <a:schemeClr val="lt1"/>
              </a:buClr>
              <a:buSzPts val="1600"/>
              <a:buNone/>
              <a:defRPr sz="2133">
                <a:solidFill>
                  <a:schemeClr val="lt1"/>
                </a:solidFill>
              </a:defRPr>
            </a:lvl2pPr>
            <a:lvl3pPr lvl="2" algn="r" rtl="0">
              <a:lnSpc>
                <a:spcPct val="100000"/>
              </a:lnSpc>
              <a:spcBef>
                <a:spcPts val="0"/>
              </a:spcBef>
              <a:spcAft>
                <a:spcPts val="0"/>
              </a:spcAft>
              <a:buClr>
                <a:schemeClr val="lt1"/>
              </a:buClr>
              <a:buSzPts val="1600"/>
              <a:buNone/>
              <a:defRPr sz="2133">
                <a:solidFill>
                  <a:schemeClr val="lt1"/>
                </a:solidFill>
              </a:defRPr>
            </a:lvl3pPr>
            <a:lvl4pPr lvl="3" algn="r" rtl="0">
              <a:lnSpc>
                <a:spcPct val="100000"/>
              </a:lnSpc>
              <a:spcBef>
                <a:spcPts val="0"/>
              </a:spcBef>
              <a:spcAft>
                <a:spcPts val="0"/>
              </a:spcAft>
              <a:buClr>
                <a:schemeClr val="lt1"/>
              </a:buClr>
              <a:buSzPts val="1600"/>
              <a:buNone/>
              <a:defRPr sz="2133">
                <a:solidFill>
                  <a:schemeClr val="lt1"/>
                </a:solidFill>
              </a:defRPr>
            </a:lvl4pPr>
            <a:lvl5pPr lvl="4" algn="r" rtl="0">
              <a:lnSpc>
                <a:spcPct val="100000"/>
              </a:lnSpc>
              <a:spcBef>
                <a:spcPts val="0"/>
              </a:spcBef>
              <a:spcAft>
                <a:spcPts val="0"/>
              </a:spcAft>
              <a:buClr>
                <a:schemeClr val="lt1"/>
              </a:buClr>
              <a:buSzPts val="1600"/>
              <a:buNone/>
              <a:defRPr sz="2133">
                <a:solidFill>
                  <a:schemeClr val="lt1"/>
                </a:solidFill>
              </a:defRPr>
            </a:lvl5pPr>
            <a:lvl6pPr lvl="5" algn="r" rtl="0">
              <a:lnSpc>
                <a:spcPct val="100000"/>
              </a:lnSpc>
              <a:spcBef>
                <a:spcPts val="0"/>
              </a:spcBef>
              <a:spcAft>
                <a:spcPts val="0"/>
              </a:spcAft>
              <a:buClr>
                <a:schemeClr val="lt1"/>
              </a:buClr>
              <a:buSzPts val="1600"/>
              <a:buNone/>
              <a:defRPr sz="2133">
                <a:solidFill>
                  <a:schemeClr val="lt1"/>
                </a:solidFill>
              </a:defRPr>
            </a:lvl6pPr>
            <a:lvl7pPr lvl="6" algn="r" rtl="0">
              <a:lnSpc>
                <a:spcPct val="100000"/>
              </a:lnSpc>
              <a:spcBef>
                <a:spcPts val="0"/>
              </a:spcBef>
              <a:spcAft>
                <a:spcPts val="0"/>
              </a:spcAft>
              <a:buClr>
                <a:schemeClr val="lt1"/>
              </a:buClr>
              <a:buSzPts val="1600"/>
              <a:buNone/>
              <a:defRPr sz="2133">
                <a:solidFill>
                  <a:schemeClr val="lt1"/>
                </a:solidFill>
              </a:defRPr>
            </a:lvl7pPr>
            <a:lvl8pPr lvl="7" algn="r" rtl="0">
              <a:lnSpc>
                <a:spcPct val="100000"/>
              </a:lnSpc>
              <a:spcBef>
                <a:spcPts val="0"/>
              </a:spcBef>
              <a:spcAft>
                <a:spcPts val="0"/>
              </a:spcAft>
              <a:buClr>
                <a:schemeClr val="lt1"/>
              </a:buClr>
              <a:buSzPts val="1600"/>
              <a:buNone/>
              <a:defRPr sz="2133">
                <a:solidFill>
                  <a:schemeClr val="lt1"/>
                </a:solidFill>
              </a:defRPr>
            </a:lvl8pPr>
            <a:lvl9pPr lvl="8" algn="r"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28" name="Google Shape;128;p28"/>
          <p:cNvSpPr txBox="1">
            <a:spLocks noGrp="1"/>
          </p:cNvSpPr>
          <p:nvPr>
            <p:ph type="title" idx="5"/>
          </p:nvPr>
        </p:nvSpPr>
        <p:spPr>
          <a:xfrm>
            <a:off x="6770884" y="3146433"/>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29" name="Google Shape;129;p28"/>
          <p:cNvSpPr txBox="1">
            <a:spLocks noGrp="1"/>
          </p:cNvSpPr>
          <p:nvPr>
            <p:ph type="subTitle" idx="6"/>
          </p:nvPr>
        </p:nvSpPr>
        <p:spPr>
          <a:xfrm>
            <a:off x="6770884" y="2284068"/>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
        <p:nvSpPr>
          <p:cNvPr id="130" name="Google Shape;130;p28"/>
          <p:cNvSpPr txBox="1">
            <a:spLocks noGrp="1"/>
          </p:cNvSpPr>
          <p:nvPr>
            <p:ph type="title" idx="7"/>
          </p:nvPr>
        </p:nvSpPr>
        <p:spPr>
          <a:xfrm>
            <a:off x="6770884" y="5318600"/>
            <a:ext cx="3636800" cy="5008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lt1"/>
              </a:buClr>
              <a:buSzPts val="1400"/>
              <a:buNone/>
              <a:defRPr sz="1867">
                <a:solidFill>
                  <a:schemeClr val="lt1"/>
                </a:solidFill>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endParaRPr/>
          </a:p>
        </p:txBody>
      </p:sp>
      <p:sp>
        <p:nvSpPr>
          <p:cNvPr id="131" name="Google Shape;131;p28"/>
          <p:cNvSpPr txBox="1">
            <a:spLocks noGrp="1"/>
          </p:cNvSpPr>
          <p:nvPr>
            <p:ph type="subTitle" idx="8"/>
          </p:nvPr>
        </p:nvSpPr>
        <p:spPr>
          <a:xfrm>
            <a:off x="6770884" y="4456235"/>
            <a:ext cx="3636800" cy="80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600"/>
              <a:buNone/>
              <a:defRPr sz="2133">
                <a:solidFill>
                  <a:schemeClr val="lt1"/>
                </a:solidFill>
              </a:defRPr>
            </a:lvl1pPr>
            <a:lvl2pPr lvl="1" rtl="0">
              <a:lnSpc>
                <a:spcPct val="100000"/>
              </a:lnSpc>
              <a:spcBef>
                <a:spcPts val="0"/>
              </a:spcBef>
              <a:spcAft>
                <a:spcPts val="0"/>
              </a:spcAft>
              <a:buClr>
                <a:schemeClr val="lt1"/>
              </a:buClr>
              <a:buSzPts val="1600"/>
              <a:buNone/>
              <a:defRPr sz="2133">
                <a:solidFill>
                  <a:schemeClr val="lt1"/>
                </a:solidFill>
              </a:defRPr>
            </a:lvl2pPr>
            <a:lvl3pPr lvl="2" rtl="0">
              <a:lnSpc>
                <a:spcPct val="100000"/>
              </a:lnSpc>
              <a:spcBef>
                <a:spcPts val="0"/>
              </a:spcBef>
              <a:spcAft>
                <a:spcPts val="0"/>
              </a:spcAft>
              <a:buClr>
                <a:schemeClr val="lt1"/>
              </a:buClr>
              <a:buSzPts val="1600"/>
              <a:buNone/>
              <a:defRPr sz="2133">
                <a:solidFill>
                  <a:schemeClr val="lt1"/>
                </a:solidFill>
              </a:defRPr>
            </a:lvl3pPr>
            <a:lvl4pPr lvl="3" rtl="0">
              <a:lnSpc>
                <a:spcPct val="100000"/>
              </a:lnSpc>
              <a:spcBef>
                <a:spcPts val="0"/>
              </a:spcBef>
              <a:spcAft>
                <a:spcPts val="0"/>
              </a:spcAft>
              <a:buClr>
                <a:schemeClr val="lt1"/>
              </a:buClr>
              <a:buSzPts val="1600"/>
              <a:buNone/>
              <a:defRPr sz="2133">
                <a:solidFill>
                  <a:schemeClr val="lt1"/>
                </a:solidFill>
              </a:defRPr>
            </a:lvl4pPr>
            <a:lvl5pPr lvl="4" rtl="0">
              <a:lnSpc>
                <a:spcPct val="100000"/>
              </a:lnSpc>
              <a:spcBef>
                <a:spcPts val="0"/>
              </a:spcBef>
              <a:spcAft>
                <a:spcPts val="0"/>
              </a:spcAft>
              <a:buClr>
                <a:schemeClr val="lt1"/>
              </a:buClr>
              <a:buSzPts val="1600"/>
              <a:buNone/>
              <a:defRPr sz="2133">
                <a:solidFill>
                  <a:schemeClr val="lt1"/>
                </a:solidFill>
              </a:defRPr>
            </a:lvl5pPr>
            <a:lvl6pPr lvl="5" rtl="0">
              <a:lnSpc>
                <a:spcPct val="100000"/>
              </a:lnSpc>
              <a:spcBef>
                <a:spcPts val="0"/>
              </a:spcBef>
              <a:spcAft>
                <a:spcPts val="0"/>
              </a:spcAft>
              <a:buClr>
                <a:schemeClr val="lt1"/>
              </a:buClr>
              <a:buSzPts val="1600"/>
              <a:buNone/>
              <a:defRPr sz="2133">
                <a:solidFill>
                  <a:schemeClr val="lt1"/>
                </a:solidFill>
              </a:defRPr>
            </a:lvl6pPr>
            <a:lvl7pPr lvl="6" rtl="0">
              <a:lnSpc>
                <a:spcPct val="100000"/>
              </a:lnSpc>
              <a:spcBef>
                <a:spcPts val="0"/>
              </a:spcBef>
              <a:spcAft>
                <a:spcPts val="0"/>
              </a:spcAft>
              <a:buClr>
                <a:schemeClr val="lt1"/>
              </a:buClr>
              <a:buSzPts val="1600"/>
              <a:buNone/>
              <a:defRPr sz="2133">
                <a:solidFill>
                  <a:schemeClr val="lt1"/>
                </a:solidFill>
              </a:defRPr>
            </a:lvl7pPr>
            <a:lvl8pPr lvl="7" rtl="0">
              <a:lnSpc>
                <a:spcPct val="100000"/>
              </a:lnSpc>
              <a:spcBef>
                <a:spcPts val="0"/>
              </a:spcBef>
              <a:spcAft>
                <a:spcPts val="0"/>
              </a:spcAft>
              <a:buClr>
                <a:schemeClr val="lt1"/>
              </a:buClr>
              <a:buSzPts val="1600"/>
              <a:buNone/>
              <a:defRPr sz="2133">
                <a:solidFill>
                  <a:schemeClr val="lt1"/>
                </a:solidFill>
              </a:defRPr>
            </a:lvl8pPr>
            <a:lvl9pPr lvl="8" rtl="0">
              <a:lnSpc>
                <a:spcPct val="100000"/>
              </a:lnSpc>
              <a:spcBef>
                <a:spcPts val="0"/>
              </a:spcBef>
              <a:spcAft>
                <a:spcPts val="0"/>
              </a:spcAft>
              <a:buClr>
                <a:schemeClr val="lt1"/>
              </a:buClr>
              <a:buSzPts val="1600"/>
              <a:buNone/>
              <a:defRPr sz="2133">
                <a:solidFill>
                  <a:schemeClr val="lt1"/>
                </a:solidFill>
              </a:defRPr>
            </a:lvl9pPr>
          </a:lstStyle>
          <a:p>
            <a:endParaRPr/>
          </a:p>
        </p:txBody>
      </p:sp>
    </p:spTree>
    <p:extLst>
      <p:ext uri="{BB962C8B-B14F-4D97-AF65-F5344CB8AC3E}">
        <p14:creationId xmlns:p14="http://schemas.microsoft.com/office/powerpoint/2010/main" val="367188682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 Text">
  <p:cSld name="Title + Text">
    <p:bg>
      <p:bgPr>
        <a:blipFill>
          <a:blip r:embed="rId2">
            <a:alphaModFix/>
          </a:blip>
          <a:stretch>
            <a:fillRect/>
          </a:stretch>
        </a:blipFill>
        <a:effectLst/>
      </p:bgPr>
    </p:bg>
    <p:spTree>
      <p:nvGrpSpPr>
        <p:cNvPr id="1" name="Shape 132"/>
        <p:cNvGrpSpPr/>
        <p:nvPr/>
      </p:nvGrpSpPr>
      <p:grpSpPr>
        <a:xfrm>
          <a:off x="0" y="0"/>
          <a:ext cx="0" cy="0"/>
          <a:chOff x="0" y="0"/>
          <a:chExt cx="0" cy="0"/>
        </a:xfrm>
      </p:grpSpPr>
      <p:sp>
        <p:nvSpPr>
          <p:cNvPr id="133" name="Google Shape;133;p29"/>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
        <p:nvSpPr>
          <p:cNvPr id="134" name="Google Shape;134;p29"/>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Tree>
    <p:extLst>
      <p:ext uri="{BB962C8B-B14F-4D97-AF65-F5344CB8AC3E}">
        <p14:creationId xmlns:p14="http://schemas.microsoft.com/office/powerpoint/2010/main" val="350086868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 Text 1">
  <p:cSld name="Title + Text 1">
    <p:bg>
      <p:bgPr>
        <a:blipFill>
          <a:blip r:embed="rId2">
            <a:alphaModFix/>
          </a:blip>
          <a:stretch>
            <a:fillRect/>
          </a:stretch>
        </a:blipFill>
        <a:effectLst/>
      </p:bgPr>
    </p:bg>
    <p:spTree>
      <p:nvGrpSpPr>
        <p:cNvPr id="1" name="Shape 135"/>
        <p:cNvGrpSpPr/>
        <p:nvPr/>
      </p:nvGrpSpPr>
      <p:grpSpPr>
        <a:xfrm>
          <a:off x="0" y="0"/>
          <a:ext cx="0" cy="0"/>
          <a:chOff x="0" y="0"/>
          <a:chExt cx="0" cy="0"/>
        </a:xfrm>
      </p:grpSpPr>
      <p:sp>
        <p:nvSpPr>
          <p:cNvPr id="136" name="Google Shape;136;p30"/>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7" name="Google Shape;137;p30"/>
          <p:cNvSpPr txBox="1">
            <a:spLocks noGrp="1"/>
          </p:cNvSpPr>
          <p:nvPr>
            <p:ph type="subTitle" idx="1"/>
          </p:nvPr>
        </p:nvSpPr>
        <p:spPr>
          <a:xfrm>
            <a:off x="1251333"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190394312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 Text 2">
  <p:cSld name="Title + Text 2">
    <p:bg>
      <p:bgPr>
        <a:blipFill>
          <a:blip r:embed="rId2">
            <a:alphaModFix/>
          </a:blip>
          <a:stretch>
            <a:fillRect/>
          </a:stretch>
        </a:blipFill>
        <a:effectLst/>
      </p:bgPr>
    </p:bg>
    <p:spTree>
      <p:nvGrpSpPr>
        <p:cNvPr id="1" name="Shape 138"/>
        <p:cNvGrpSpPr/>
        <p:nvPr/>
      </p:nvGrpSpPr>
      <p:grpSpPr>
        <a:xfrm>
          <a:off x="0" y="0"/>
          <a:ext cx="0" cy="0"/>
          <a:chOff x="0" y="0"/>
          <a:chExt cx="0" cy="0"/>
        </a:xfrm>
      </p:grpSpPr>
      <p:sp>
        <p:nvSpPr>
          <p:cNvPr id="139" name="Google Shape;139;p31"/>
          <p:cNvSpPr txBox="1">
            <a:spLocks noGrp="1"/>
          </p:cNvSpPr>
          <p:nvPr>
            <p:ph type="title"/>
          </p:nvPr>
        </p:nvSpPr>
        <p:spPr>
          <a:xfrm>
            <a:off x="1251333" y="593367"/>
            <a:ext cx="76476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40" name="Google Shape;140;p31"/>
          <p:cNvSpPr txBox="1">
            <a:spLocks noGrp="1"/>
          </p:cNvSpPr>
          <p:nvPr>
            <p:ph type="subTitle" idx="1"/>
          </p:nvPr>
        </p:nvSpPr>
        <p:spPr>
          <a:xfrm>
            <a:off x="7756067" y="3247900"/>
            <a:ext cx="3408400" cy="273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algn="ctr" rtl="0">
              <a:lnSpc>
                <a:spcPct val="100000"/>
              </a:lnSpc>
              <a:spcBef>
                <a:spcPts val="0"/>
              </a:spcBef>
              <a:spcAft>
                <a:spcPts val="0"/>
              </a:spcAft>
              <a:buClr>
                <a:schemeClr val="lt1"/>
              </a:buClr>
              <a:buSzPts val="1800"/>
              <a:buNone/>
              <a:defRPr sz="2400">
                <a:solidFill>
                  <a:schemeClr val="lt1"/>
                </a:solidFill>
              </a:defRPr>
            </a:lvl2pPr>
            <a:lvl3pPr lvl="2" algn="ctr" rtl="0">
              <a:lnSpc>
                <a:spcPct val="100000"/>
              </a:lnSpc>
              <a:spcBef>
                <a:spcPts val="0"/>
              </a:spcBef>
              <a:spcAft>
                <a:spcPts val="0"/>
              </a:spcAft>
              <a:buClr>
                <a:schemeClr val="lt1"/>
              </a:buClr>
              <a:buSzPts val="1800"/>
              <a:buNone/>
              <a:defRPr sz="2400">
                <a:solidFill>
                  <a:schemeClr val="lt1"/>
                </a:solidFill>
              </a:defRPr>
            </a:lvl3pPr>
            <a:lvl4pPr lvl="3" algn="ctr" rtl="0">
              <a:lnSpc>
                <a:spcPct val="100000"/>
              </a:lnSpc>
              <a:spcBef>
                <a:spcPts val="0"/>
              </a:spcBef>
              <a:spcAft>
                <a:spcPts val="0"/>
              </a:spcAft>
              <a:buClr>
                <a:schemeClr val="lt1"/>
              </a:buClr>
              <a:buSzPts val="1800"/>
              <a:buNone/>
              <a:defRPr sz="2400">
                <a:solidFill>
                  <a:schemeClr val="lt1"/>
                </a:solidFill>
              </a:defRPr>
            </a:lvl4pPr>
            <a:lvl5pPr lvl="4" algn="ctr" rtl="0">
              <a:lnSpc>
                <a:spcPct val="100000"/>
              </a:lnSpc>
              <a:spcBef>
                <a:spcPts val="0"/>
              </a:spcBef>
              <a:spcAft>
                <a:spcPts val="0"/>
              </a:spcAft>
              <a:buClr>
                <a:schemeClr val="lt1"/>
              </a:buClr>
              <a:buSzPts val="1800"/>
              <a:buNone/>
              <a:defRPr sz="2400">
                <a:solidFill>
                  <a:schemeClr val="lt1"/>
                </a:solidFill>
              </a:defRPr>
            </a:lvl5pPr>
            <a:lvl6pPr lvl="5" algn="ctr" rtl="0">
              <a:lnSpc>
                <a:spcPct val="100000"/>
              </a:lnSpc>
              <a:spcBef>
                <a:spcPts val="0"/>
              </a:spcBef>
              <a:spcAft>
                <a:spcPts val="0"/>
              </a:spcAft>
              <a:buClr>
                <a:schemeClr val="lt1"/>
              </a:buClr>
              <a:buSzPts val="1800"/>
              <a:buNone/>
              <a:defRPr sz="2400">
                <a:solidFill>
                  <a:schemeClr val="lt1"/>
                </a:solidFill>
              </a:defRPr>
            </a:lvl6pPr>
            <a:lvl7pPr lvl="6" algn="ctr" rtl="0">
              <a:lnSpc>
                <a:spcPct val="100000"/>
              </a:lnSpc>
              <a:spcBef>
                <a:spcPts val="0"/>
              </a:spcBef>
              <a:spcAft>
                <a:spcPts val="0"/>
              </a:spcAft>
              <a:buClr>
                <a:schemeClr val="lt1"/>
              </a:buClr>
              <a:buSzPts val="1800"/>
              <a:buNone/>
              <a:defRPr sz="2400">
                <a:solidFill>
                  <a:schemeClr val="lt1"/>
                </a:solidFill>
              </a:defRPr>
            </a:lvl7pPr>
            <a:lvl8pPr lvl="7" algn="ctr" rtl="0">
              <a:lnSpc>
                <a:spcPct val="100000"/>
              </a:lnSpc>
              <a:spcBef>
                <a:spcPts val="0"/>
              </a:spcBef>
              <a:spcAft>
                <a:spcPts val="0"/>
              </a:spcAft>
              <a:buClr>
                <a:schemeClr val="lt1"/>
              </a:buClr>
              <a:buSzPts val="1800"/>
              <a:buNone/>
              <a:defRPr sz="2400">
                <a:solidFill>
                  <a:schemeClr val="lt1"/>
                </a:solidFill>
              </a:defRPr>
            </a:lvl8pPr>
            <a:lvl9pPr lvl="8" algn="ctr" rtl="0">
              <a:lnSpc>
                <a:spcPct val="100000"/>
              </a:lnSpc>
              <a:spcBef>
                <a:spcPts val="0"/>
              </a:spcBef>
              <a:spcAft>
                <a:spcPts val="0"/>
              </a:spcAft>
              <a:buClr>
                <a:schemeClr val="lt1"/>
              </a:buClr>
              <a:buSzPts val="1800"/>
              <a:buNone/>
              <a:defRPr sz="2400">
                <a:solidFill>
                  <a:schemeClr val="lt1"/>
                </a:solidFill>
              </a:defRPr>
            </a:lvl9pPr>
          </a:lstStyle>
          <a:p>
            <a:endParaRPr/>
          </a:p>
        </p:txBody>
      </p:sp>
    </p:spTree>
    <p:extLst>
      <p:ext uri="{BB962C8B-B14F-4D97-AF65-F5344CB8AC3E}">
        <p14:creationId xmlns:p14="http://schemas.microsoft.com/office/powerpoint/2010/main" val="407951258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p:cSld name="One Column">
    <p:bg>
      <p:bgPr>
        <a:blipFill>
          <a:blip r:embed="rId2">
            <a:alphaModFix/>
          </a:blip>
          <a:stretch>
            <a:fillRect/>
          </a:stretch>
        </a:blipFill>
        <a:effectLst/>
      </p:bgPr>
    </p:bg>
    <p:spTree>
      <p:nvGrpSpPr>
        <p:cNvPr id="1" name="Shape 141"/>
        <p:cNvGrpSpPr/>
        <p:nvPr/>
      </p:nvGrpSpPr>
      <p:grpSpPr>
        <a:xfrm>
          <a:off x="0" y="0"/>
          <a:ext cx="0" cy="0"/>
          <a:chOff x="0" y="0"/>
          <a:chExt cx="0" cy="0"/>
        </a:xfrm>
      </p:grpSpPr>
      <p:sp>
        <p:nvSpPr>
          <p:cNvPr id="142" name="Google Shape;142;p32"/>
          <p:cNvSpPr txBox="1">
            <a:spLocks noGrp="1"/>
          </p:cNvSpPr>
          <p:nvPr>
            <p:ph type="title"/>
          </p:nvPr>
        </p:nvSpPr>
        <p:spPr>
          <a:xfrm>
            <a:off x="2750400" y="3256067"/>
            <a:ext cx="6691200" cy="798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3" name="Google Shape;143;p32"/>
          <p:cNvSpPr txBox="1">
            <a:spLocks noGrp="1"/>
          </p:cNvSpPr>
          <p:nvPr>
            <p:ph type="subTitle" idx="1"/>
          </p:nvPr>
        </p:nvSpPr>
        <p:spPr>
          <a:xfrm>
            <a:off x="3862000" y="4521767"/>
            <a:ext cx="4468000" cy="1597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lt1"/>
              </a:buClr>
              <a:buSzPts val="1400"/>
              <a:buNone/>
              <a:defRPr sz="1867">
                <a:solidFill>
                  <a:schemeClr val="lt1"/>
                </a:solidFill>
              </a:defRPr>
            </a:lvl1pPr>
            <a:lvl2pPr lvl="1" algn="ctr" rtl="0">
              <a:lnSpc>
                <a:spcPct val="100000"/>
              </a:lnSpc>
              <a:spcBef>
                <a:spcPts val="0"/>
              </a:spcBef>
              <a:spcAft>
                <a:spcPts val="0"/>
              </a:spcAft>
              <a:buClr>
                <a:schemeClr val="lt1"/>
              </a:buClr>
              <a:buSzPts val="1400"/>
              <a:buNone/>
              <a:defRPr>
                <a:solidFill>
                  <a:schemeClr val="lt1"/>
                </a:solidFill>
              </a:defRPr>
            </a:lvl2pPr>
            <a:lvl3pPr lvl="2" algn="ctr" rtl="0">
              <a:lnSpc>
                <a:spcPct val="100000"/>
              </a:lnSpc>
              <a:spcBef>
                <a:spcPts val="0"/>
              </a:spcBef>
              <a:spcAft>
                <a:spcPts val="0"/>
              </a:spcAft>
              <a:buClr>
                <a:schemeClr val="lt1"/>
              </a:buClr>
              <a:buSzPts val="1400"/>
              <a:buNone/>
              <a:defRPr>
                <a:solidFill>
                  <a:schemeClr val="lt1"/>
                </a:solidFill>
              </a:defRPr>
            </a:lvl3pPr>
            <a:lvl4pPr lvl="3" algn="ctr" rtl="0">
              <a:lnSpc>
                <a:spcPct val="100000"/>
              </a:lnSpc>
              <a:spcBef>
                <a:spcPts val="0"/>
              </a:spcBef>
              <a:spcAft>
                <a:spcPts val="0"/>
              </a:spcAft>
              <a:buClr>
                <a:schemeClr val="lt1"/>
              </a:buClr>
              <a:buSzPts val="1400"/>
              <a:buNone/>
              <a:defRPr>
                <a:solidFill>
                  <a:schemeClr val="lt1"/>
                </a:solidFill>
              </a:defRPr>
            </a:lvl4pPr>
            <a:lvl5pPr lvl="4" algn="ctr" rtl="0">
              <a:lnSpc>
                <a:spcPct val="100000"/>
              </a:lnSpc>
              <a:spcBef>
                <a:spcPts val="0"/>
              </a:spcBef>
              <a:spcAft>
                <a:spcPts val="0"/>
              </a:spcAft>
              <a:buClr>
                <a:schemeClr val="lt1"/>
              </a:buClr>
              <a:buSzPts val="1400"/>
              <a:buNone/>
              <a:defRPr>
                <a:solidFill>
                  <a:schemeClr val="lt1"/>
                </a:solidFill>
              </a:defRPr>
            </a:lvl5pPr>
            <a:lvl6pPr lvl="5" algn="ctr" rtl="0">
              <a:lnSpc>
                <a:spcPct val="100000"/>
              </a:lnSpc>
              <a:spcBef>
                <a:spcPts val="0"/>
              </a:spcBef>
              <a:spcAft>
                <a:spcPts val="0"/>
              </a:spcAft>
              <a:buClr>
                <a:schemeClr val="lt1"/>
              </a:buClr>
              <a:buSzPts val="1400"/>
              <a:buNone/>
              <a:defRPr>
                <a:solidFill>
                  <a:schemeClr val="lt1"/>
                </a:solidFill>
              </a:defRPr>
            </a:lvl6pPr>
            <a:lvl7pPr lvl="6" algn="ctr" rtl="0">
              <a:lnSpc>
                <a:spcPct val="100000"/>
              </a:lnSpc>
              <a:spcBef>
                <a:spcPts val="0"/>
              </a:spcBef>
              <a:spcAft>
                <a:spcPts val="0"/>
              </a:spcAft>
              <a:buClr>
                <a:schemeClr val="lt1"/>
              </a:buClr>
              <a:buSzPts val="1400"/>
              <a:buNone/>
              <a:defRPr>
                <a:solidFill>
                  <a:schemeClr val="lt1"/>
                </a:solidFill>
              </a:defRPr>
            </a:lvl7pPr>
            <a:lvl8pPr lvl="7" algn="ctr" rtl="0">
              <a:lnSpc>
                <a:spcPct val="100000"/>
              </a:lnSpc>
              <a:spcBef>
                <a:spcPts val="0"/>
              </a:spcBef>
              <a:spcAft>
                <a:spcPts val="0"/>
              </a:spcAft>
              <a:buClr>
                <a:schemeClr val="lt1"/>
              </a:buClr>
              <a:buSzPts val="1400"/>
              <a:buNone/>
              <a:defRPr>
                <a:solidFill>
                  <a:schemeClr val="lt1"/>
                </a:solidFill>
              </a:defRPr>
            </a:lvl8pPr>
            <a:lvl9pPr lvl="8" algn="ctr" rtl="0">
              <a:lnSpc>
                <a:spcPct val="100000"/>
              </a:lnSpc>
              <a:spcBef>
                <a:spcPts val="0"/>
              </a:spcBef>
              <a:spcAft>
                <a:spcPts val="0"/>
              </a:spcAft>
              <a:buClr>
                <a:schemeClr val="lt1"/>
              </a:buClr>
              <a:buSzPts val="1400"/>
              <a:buNone/>
              <a:defRPr>
                <a:solidFill>
                  <a:schemeClr val="lt1"/>
                </a:solidFill>
              </a:defRPr>
            </a:lvl9pPr>
          </a:lstStyle>
          <a:p>
            <a:endParaRPr/>
          </a:p>
        </p:txBody>
      </p:sp>
    </p:spTree>
    <p:extLst>
      <p:ext uri="{BB962C8B-B14F-4D97-AF65-F5344CB8AC3E}">
        <p14:creationId xmlns:p14="http://schemas.microsoft.com/office/powerpoint/2010/main" val="30707060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anks + Credits">
  <p:cSld name="Thanks + Credits">
    <p:bg>
      <p:bgPr>
        <a:blipFill>
          <a:blip r:embed="rId2">
            <a:alphaModFix/>
          </a:blip>
          <a:stretch>
            <a:fillRect/>
          </a:stretch>
        </a:blipFill>
        <a:effectLst/>
      </p:bgPr>
    </p:bg>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1233160" y="1013833"/>
            <a:ext cx="4091600" cy="7984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lt1"/>
              </a:buClr>
              <a:buSzPts val="3600"/>
              <a:buNone/>
              <a:defRPr sz="4800">
                <a:solidFill>
                  <a:schemeClr val="lt1"/>
                </a:solidFill>
              </a:defRPr>
            </a:lvl1pPr>
            <a:lvl2pPr lvl="1" rtl="0">
              <a:spcBef>
                <a:spcPts val="0"/>
              </a:spcBef>
              <a:spcAft>
                <a:spcPts val="0"/>
              </a:spcAft>
              <a:buClr>
                <a:schemeClr val="lt1"/>
              </a:buClr>
              <a:buSzPts val="3600"/>
              <a:buNone/>
              <a:defRPr sz="4800">
                <a:solidFill>
                  <a:schemeClr val="lt1"/>
                </a:solidFill>
              </a:defRPr>
            </a:lvl2pPr>
            <a:lvl3pPr lvl="2" rtl="0">
              <a:spcBef>
                <a:spcPts val="0"/>
              </a:spcBef>
              <a:spcAft>
                <a:spcPts val="0"/>
              </a:spcAft>
              <a:buClr>
                <a:schemeClr val="lt1"/>
              </a:buClr>
              <a:buSzPts val="3600"/>
              <a:buNone/>
              <a:defRPr sz="4800">
                <a:solidFill>
                  <a:schemeClr val="lt1"/>
                </a:solidFill>
              </a:defRPr>
            </a:lvl3pPr>
            <a:lvl4pPr lvl="3" rtl="0">
              <a:spcBef>
                <a:spcPts val="0"/>
              </a:spcBef>
              <a:spcAft>
                <a:spcPts val="0"/>
              </a:spcAft>
              <a:buClr>
                <a:schemeClr val="lt1"/>
              </a:buClr>
              <a:buSzPts val="3600"/>
              <a:buNone/>
              <a:defRPr sz="4800">
                <a:solidFill>
                  <a:schemeClr val="lt1"/>
                </a:solidFill>
              </a:defRPr>
            </a:lvl4pPr>
            <a:lvl5pPr lvl="4" rtl="0">
              <a:spcBef>
                <a:spcPts val="0"/>
              </a:spcBef>
              <a:spcAft>
                <a:spcPts val="0"/>
              </a:spcAft>
              <a:buClr>
                <a:schemeClr val="lt1"/>
              </a:buClr>
              <a:buSzPts val="3600"/>
              <a:buNone/>
              <a:defRPr sz="4800">
                <a:solidFill>
                  <a:schemeClr val="lt1"/>
                </a:solidFill>
              </a:defRPr>
            </a:lvl5pPr>
            <a:lvl6pPr lvl="5" rtl="0">
              <a:spcBef>
                <a:spcPts val="0"/>
              </a:spcBef>
              <a:spcAft>
                <a:spcPts val="0"/>
              </a:spcAft>
              <a:buClr>
                <a:schemeClr val="lt1"/>
              </a:buClr>
              <a:buSzPts val="3600"/>
              <a:buNone/>
              <a:defRPr sz="4800">
                <a:solidFill>
                  <a:schemeClr val="lt1"/>
                </a:solidFill>
              </a:defRPr>
            </a:lvl6pPr>
            <a:lvl7pPr lvl="6" rtl="0">
              <a:spcBef>
                <a:spcPts val="0"/>
              </a:spcBef>
              <a:spcAft>
                <a:spcPts val="0"/>
              </a:spcAft>
              <a:buClr>
                <a:schemeClr val="lt1"/>
              </a:buClr>
              <a:buSzPts val="3600"/>
              <a:buNone/>
              <a:defRPr sz="4800">
                <a:solidFill>
                  <a:schemeClr val="lt1"/>
                </a:solidFill>
              </a:defRPr>
            </a:lvl7pPr>
            <a:lvl8pPr lvl="7" rtl="0">
              <a:spcBef>
                <a:spcPts val="0"/>
              </a:spcBef>
              <a:spcAft>
                <a:spcPts val="0"/>
              </a:spcAft>
              <a:buClr>
                <a:schemeClr val="lt1"/>
              </a:buClr>
              <a:buSzPts val="3600"/>
              <a:buNone/>
              <a:defRPr sz="4800">
                <a:solidFill>
                  <a:schemeClr val="lt1"/>
                </a:solidFill>
              </a:defRPr>
            </a:lvl8pPr>
            <a:lvl9pPr lvl="8" rtl="0">
              <a:spcBef>
                <a:spcPts val="0"/>
              </a:spcBef>
              <a:spcAft>
                <a:spcPts val="0"/>
              </a:spcAft>
              <a:buClr>
                <a:schemeClr val="lt1"/>
              </a:buClr>
              <a:buSzPts val="3600"/>
              <a:buNone/>
              <a:defRPr sz="4800">
                <a:solidFill>
                  <a:schemeClr val="lt1"/>
                </a:solidFill>
              </a:defRPr>
            </a:lvl9pPr>
          </a:lstStyle>
          <a:p>
            <a:endParaRPr/>
          </a:p>
        </p:txBody>
      </p:sp>
      <p:sp>
        <p:nvSpPr>
          <p:cNvPr id="146" name="Google Shape;146;p33"/>
          <p:cNvSpPr txBox="1">
            <a:spLocks noGrp="1"/>
          </p:cNvSpPr>
          <p:nvPr>
            <p:ph type="subTitle" idx="1"/>
          </p:nvPr>
        </p:nvSpPr>
        <p:spPr>
          <a:xfrm>
            <a:off x="1233167" y="2245700"/>
            <a:ext cx="4407200" cy="1456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400"/>
              <a:buNone/>
              <a:defRPr sz="1867">
                <a:solidFill>
                  <a:schemeClr val="accent1"/>
                </a:solidFill>
              </a:defRPr>
            </a:lvl1pPr>
            <a:lvl2pPr lvl="1" rtl="0">
              <a:lnSpc>
                <a:spcPct val="100000"/>
              </a:lnSpc>
              <a:spcBef>
                <a:spcPts val="0"/>
              </a:spcBef>
              <a:spcAft>
                <a:spcPts val="0"/>
              </a:spcAft>
              <a:buClr>
                <a:schemeClr val="accent1"/>
              </a:buClr>
              <a:buSzPts val="1400"/>
              <a:buNone/>
              <a:defRPr>
                <a:solidFill>
                  <a:schemeClr val="accent1"/>
                </a:solidFill>
              </a:defRPr>
            </a:lvl2pPr>
            <a:lvl3pPr lvl="2" rtl="0">
              <a:lnSpc>
                <a:spcPct val="100000"/>
              </a:lnSpc>
              <a:spcBef>
                <a:spcPts val="0"/>
              </a:spcBef>
              <a:spcAft>
                <a:spcPts val="0"/>
              </a:spcAft>
              <a:buClr>
                <a:schemeClr val="accent1"/>
              </a:buClr>
              <a:buSzPts val="1400"/>
              <a:buNone/>
              <a:defRPr>
                <a:solidFill>
                  <a:schemeClr val="accent1"/>
                </a:solidFill>
              </a:defRPr>
            </a:lvl3pPr>
            <a:lvl4pPr lvl="3" rtl="0">
              <a:lnSpc>
                <a:spcPct val="100000"/>
              </a:lnSpc>
              <a:spcBef>
                <a:spcPts val="0"/>
              </a:spcBef>
              <a:spcAft>
                <a:spcPts val="0"/>
              </a:spcAft>
              <a:buClr>
                <a:schemeClr val="accent1"/>
              </a:buClr>
              <a:buSzPts val="1400"/>
              <a:buNone/>
              <a:defRPr>
                <a:solidFill>
                  <a:schemeClr val="accent1"/>
                </a:solidFill>
              </a:defRPr>
            </a:lvl4pPr>
            <a:lvl5pPr lvl="4" rtl="0">
              <a:lnSpc>
                <a:spcPct val="100000"/>
              </a:lnSpc>
              <a:spcBef>
                <a:spcPts val="0"/>
              </a:spcBef>
              <a:spcAft>
                <a:spcPts val="0"/>
              </a:spcAft>
              <a:buClr>
                <a:schemeClr val="accent1"/>
              </a:buClr>
              <a:buSzPts val="1400"/>
              <a:buNone/>
              <a:defRPr>
                <a:solidFill>
                  <a:schemeClr val="accent1"/>
                </a:solidFill>
              </a:defRPr>
            </a:lvl5pPr>
            <a:lvl6pPr lvl="5" rtl="0">
              <a:lnSpc>
                <a:spcPct val="100000"/>
              </a:lnSpc>
              <a:spcBef>
                <a:spcPts val="0"/>
              </a:spcBef>
              <a:spcAft>
                <a:spcPts val="0"/>
              </a:spcAft>
              <a:buClr>
                <a:schemeClr val="accent1"/>
              </a:buClr>
              <a:buSzPts val="1400"/>
              <a:buNone/>
              <a:defRPr>
                <a:solidFill>
                  <a:schemeClr val="accent1"/>
                </a:solidFill>
              </a:defRPr>
            </a:lvl6pPr>
            <a:lvl7pPr lvl="6" rtl="0">
              <a:lnSpc>
                <a:spcPct val="100000"/>
              </a:lnSpc>
              <a:spcBef>
                <a:spcPts val="0"/>
              </a:spcBef>
              <a:spcAft>
                <a:spcPts val="0"/>
              </a:spcAft>
              <a:buClr>
                <a:schemeClr val="accent1"/>
              </a:buClr>
              <a:buSzPts val="1400"/>
              <a:buNone/>
              <a:defRPr>
                <a:solidFill>
                  <a:schemeClr val="accent1"/>
                </a:solidFill>
              </a:defRPr>
            </a:lvl7pPr>
            <a:lvl8pPr lvl="7" rtl="0">
              <a:lnSpc>
                <a:spcPct val="100000"/>
              </a:lnSpc>
              <a:spcBef>
                <a:spcPts val="0"/>
              </a:spcBef>
              <a:spcAft>
                <a:spcPts val="0"/>
              </a:spcAft>
              <a:buClr>
                <a:schemeClr val="accent1"/>
              </a:buClr>
              <a:buSzPts val="1400"/>
              <a:buNone/>
              <a:defRPr>
                <a:solidFill>
                  <a:schemeClr val="accent1"/>
                </a:solidFill>
              </a:defRPr>
            </a:lvl8pPr>
            <a:lvl9pPr lvl="8" rtl="0">
              <a:lnSpc>
                <a:spcPct val="100000"/>
              </a:lnSpc>
              <a:spcBef>
                <a:spcPts val="0"/>
              </a:spcBef>
              <a:spcAft>
                <a:spcPts val="0"/>
              </a:spcAft>
              <a:buClr>
                <a:schemeClr val="accent1"/>
              </a:buClr>
              <a:buSzPts val="1400"/>
              <a:buNone/>
              <a:defRPr>
                <a:solidFill>
                  <a:schemeClr val="accent1"/>
                </a:solidFill>
              </a:defRPr>
            </a:lvl9pPr>
          </a:lstStyle>
          <a:p>
            <a:endParaRPr/>
          </a:p>
        </p:txBody>
      </p:sp>
      <p:sp>
        <p:nvSpPr>
          <p:cNvPr id="147" name="Google Shape;147;p33"/>
          <p:cNvSpPr txBox="1"/>
          <p:nvPr/>
        </p:nvSpPr>
        <p:spPr>
          <a:xfrm>
            <a:off x="1233167" y="4760000"/>
            <a:ext cx="4407200" cy="889200"/>
          </a:xfrm>
          <a:prstGeom prst="rect">
            <a:avLst/>
          </a:prstGeom>
          <a:noFill/>
          <a:ln>
            <a:noFill/>
          </a:ln>
        </p:spPr>
        <p:txBody>
          <a:bodyPr spcFirstLastPara="1" wrap="square" lIns="121900" tIns="121900" rIns="121900" bIns="121900" anchor="t" anchorCtr="0">
            <a:noAutofit/>
          </a:bodyPr>
          <a:lstStyle/>
          <a:p>
            <a:pPr marL="0" lvl="0" indent="0" algn="l" rtl="0">
              <a:spcBef>
                <a:spcPts val="400"/>
              </a:spcBef>
              <a:spcAft>
                <a:spcPts val="0"/>
              </a:spcAft>
              <a:buNone/>
            </a:pPr>
            <a:r>
              <a:rPr lang="en" sz="1333">
                <a:solidFill>
                  <a:schemeClr val="accent1"/>
                </a:solidFill>
                <a:latin typeface="Montserrat Medium"/>
                <a:ea typeface="Montserrat Medium"/>
                <a:cs typeface="Montserrat Medium"/>
                <a:sym typeface="Montserrat Medium"/>
              </a:rPr>
              <a:t>CREDITS: This presentation template was created by </a:t>
            </a:r>
            <a:r>
              <a:rPr lang="en" sz="1333">
                <a:solidFill>
                  <a:schemeClr val="accent1"/>
                </a:solidFill>
                <a:uFill>
                  <a:noFill/>
                </a:u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Slidesgo</a:t>
            </a:r>
            <a:r>
              <a:rPr lang="en" sz="1333">
                <a:solidFill>
                  <a:schemeClr val="accent1"/>
                </a:solidFill>
                <a:latin typeface="Montserrat Medium"/>
                <a:ea typeface="Montserrat Medium"/>
                <a:cs typeface="Montserrat Medium"/>
                <a:sym typeface="Montserrat Medium"/>
              </a:rPr>
              <a:t>, including icons by </a:t>
            </a:r>
            <a:r>
              <a:rPr lang="en" sz="1333">
                <a:solidFill>
                  <a:schemeClr val="accent1"/>
                </a:solidFill>
                <a:uFill>
                  <a:noFill/>
                </a:uFill>
                <a:latin typeface="Montserrat Medium"/>
                <a:ea typeface="Montserrat Medium"/>
                <a:cs typeface="Montserrat Medium"/>
                <a:sym typeface="Montserrat Medium"/>
                <a:hlinkClick r:id="rId4">
                  <a:extLst>
                    <a:ext uri="{A12FA001-AC4F-418D-AE19-62706E023703}">
                      <ahyp:hlinkClr xmlns:ahyp="http://schemas.microsoft.com/office/drawing/2018/hyperlinkcolor" val="tx"/>
                    </a:ext>
                  </a:extLst>
                </a:hlinkClick>
              </a:rPr>
              <a:t>Flaticon</a:t>
            </a:r>
            <a:r>
              <a:rPr lang="en" sz="1333">
                <a:solidFill>
                  <a:schemeClr val="accent1"/>
                </a:solidFill>
                <a:latin typeface="Montserrat Medium"/>
                <a:ea typeface="Montserrat Medium"/>
                <a:cs typeface="Montserrat Medium"/>
                <a:sym typeface="Montserrat Medium"/>
              </a:rPr>
              <a:t>, and infographics &amp; images by </a:t>
            </a:r>
            <a:r>
              <a:rPr lang="en" sz="1333">
                <a:solidFill>
                  <a:schemeClr val="accent1"/>
                </a:solidFill>
                <a:uFill>
                  <a:noFill/>
                </a:uFill>
                <a:latin typeface="Montserrat Medium"/>
                <a:ea typeface="Montserrat Medium"/>
                <a:cs typeface="Montserrat Medium"/>
                <a:sym typeface="Montserrat Medium"/>
                <a:hlinkClick r:id="rId5">
                  <a:extLst>
                    <a:ext uri="{A12FA001-AC4F-418D-AE19-62706E023703}">
                      <ahyp:hlinkClr xmlns:ahyp="http://schemas.microsoft.com/office/drawing/2018/hyperlinkcolor" val="tx"/>
                    </a:ext>
                  </a:extLst>
                </a:hlinkClick>
              </a:rPr>
              <a:t>Freepik</a:t>
            </a:r>
            <a:r>
              <a:rPr lang="en" sz="1333">
                <a:solidFill>
                  <a:schemeClr val="accent1"/>
                </a:solidFill>
                <a:latin typeface="Montserrat Medium"/>
                <a:ea typeface="Montserrat Medium"/>
                <a:cs typeface="Montserrat Medium"/>
                <a:sym typeface="Montserrat Medium"/>
              </a:rPr>
              <a:t>. </a:t>
            </a:r>
            <a:endParaRPr sz="1333">
              <a:solidFill>
                <a:schemeClr val="accent1"/>
              </a:solidFill>
              <a:latin typeface="Montserrat Medium"/>
              <a:ea typeface="Montserrat Medium"/>
              <a:cs typeface="Montserrat Medium"/>
              <a:sym typeface="Montserrat Medium"/>
            </a:endParaRPr>
          </a:p>
          <a:p>
            <a:pPr marL="0" lvl="0" indent="0" algn="l" rtl="0">
              <a:spcBef>
                <a:spcPts val="400"/>
              </a:spcBef>
              <a:spcAft>
                <a:spcPts val="0"/>
              </a:spcAft>
              <a:buNone/>
            </a:pPr>
            <a:endParaRPr sz="1333">
              <a:solidFill>
                <a:schemeClr val="accent1"/>
              </a:solidFill>
              <a:latin typeface="Montserrat Medium"/>
              <a:ea typeface="Montserrat Medium"/>
              <a:cs typeface="Montserrat Medium"/>
              <a:sym typeface="Montserrat Medium"/>
            </a:endParaRPr>
          </a:p>
        </p:txBody>
      </p:sp>
    </p:spTree>
    <p:extLst>
      <p:ext uri="{BB962C8B-B14F-4D97-AF65-F5344CB8AC3E}">
        <p14:creationId xmlns:p14="http://schemas.microsoft.com/office/powerpoint/2010/main" val="18658505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 Bullet points 1">
  <p:cSld name="Title + Bullet points 1">
    <p:bg>
      <p:bgPr>
        <a:blipFill>
          <a:blip r:embed="rId2">
            <a:alphaModFix/>
          </a:blip>
          <a:stretch>
            <a:fillRect/>
          </a:stretch>
        </a:blipFill>
        <a:effectLst/>
      </p:bgPr>
    </p:bg>
    <p:spTree>
      <p:nvGrpSpPr>
        <p:cNvPr id="1" name="Shape 148"/>
        <p:cNvGrpSpPr/>
        <p:nvPr/>
      </p:nvGrpSpPr>
      <p:grpSpPr>
        <a:xfrm>
          <a:off x="0" y="0"/>
          <a:ext cx="0" cy="0"/>
          <a:chOff x="0" y="0"/>
          <a:chExt cx="0" cy="0"/>
        </a:xfrm>
      </p:grpSpPr>
      <p:sp>
        <p:nvSpPr>
          <p:cNvPr id="149" name="Google Shape;149;p34"/>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0" name="Google Shape;150;p34"/>
          <p:cNvSpPr txBox="1">
            <a:spLocks noGrp="1"/>
          </p:cNvSpPr>
          <p:nvPr>
            <p:ph type="body" idx="1"/>
          </p:nvPr>
        </p:nvSpPr>
        <p:spPr>
          <a:xfrm>
            <a:off x="1251333" y="2212367"/>
            <a:ext cx="6595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170078151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 list">
  <p:cSld name="Title + list">
    <p:bg>
      <p:bgPr>
        <a:blipFill>
          <a:blip r:embed="rId2">
            <a:alphaModFix/>
          </a:blip>
          <a:stretch>
            <a:fillRect/>
          </a:stretch>
        </a:blipFill>
        <a:effectLst/>
      </p:bgPr>
    </p:bg>
    <p:spTree>
      <p:nvGrpSpPr>
        <p:cNvPr id="1" name="Shape 151"/>
        <p:cNvGrpSpPr/>
        <p:nvPr/>
      </p:nvGrpSpPr>
      <p:grpSpPr>
        <a:xfrm>
          <a:off x="0" y="0"/>
          <a:ext cx="0" cy="0"/>
          <a:chOff x="0" y="0"/>
          <a:chExt cx="0" cy="0"/>
        </a:xfrm>
      </p:grpSpPr>
      <p:sp>
        <p:nvSpPr>
          <p:cNvPr id="152" name="Google Shape;152;p35"/>
          <p:cNvSpPr txBox="1">
            <a:spLocks noGrp="1"/>
          </p:cNvSpPr>
          <p:nvPr>
            <p:ph type="title"/>
          </p:nvPr>
        </p:nvSpPr>
        <p:spPr>
          <a:xfrm>
            <a:off x="1251333" y="593367"/>
            <a:ext cx="6172400" cy="1255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2400"/>
              <a:buNone/>
              <a:defRPr sz="3200">
                <a:solidFill>
                  <a:schemeClr val="accen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53" name="Google Shape;153;p35"/>
          <p:cNvSpPr txBox="1">
            <a:spLocks noGrp="1"/>
          </p:cNvSpPr>
          <p:nvPr>
            <p:ph type="body" idx="1"/>
          </p:nvPr>
        </p:nvSpPr>
        <p:spPr>
          <a:xfrm>
            <a:off x="6716700" y="2212367"/>
            <a:ext cx="4249200" cy="3681200"/>
          </a:xfrm>
          <a:prstGeom prst="rect">
            <a:avLst/>
          </a:prstGeom>
        </p:spPr>
        <p:txBody>
          <a:bodyPr spcFirstLastPara="1" wrap="square" lIns="91425" tIns="91425" rIns="91425" bIns="91425" anchor="t" anchorCtr="0">
            <a:noAutofit/>
          </a:bodyPr>
          <a:lstStyle>
            <a:lvl1pPr marL="609585" lvl="0" indent="-423323" rtl="0">
              <a:spcBef>
                <a:spcPts val="0"/>
              </a:spcBef>
              <a:spcAft>
                <a:spcPts val="0"/>
              </a:spcAft>
              <a:buClr>
                <a:schemeClr val="lt1"/>
              </a:buClr>
              <a:buSzPts val="1400"/>
              <a:buChar char="●"/>
              <a:defRPr sz="1867">
                <a:solidFill>
                  <a:schemeClr val="lt1"/>
                </a:solidFill>
              </a:defRPr>
            </a:lvl1pPr>
            <a:lvl2pPr marL="1219170" lvl="1" indent="-423323" rtl="0">
              <a:spcBef>
                <a:spcPts val="2133"/>
              </a:spcBef>
              <a:spcAft>
                <a:spcPts val="0"/>
              </a:spcAft>
              <a:buClr>
                <a:schemeClr val="lt1"/>
              </a:buClr>
              <a:buSzPts val="1400"/>
              <a:buChar char="○"/>
              <a:defRPr>
                <a:solidFill>
                  <a:schemeClr val="lt1"/>
                </a:solidFill>
              </a:defRPr>
            </a:lvl2pPr>
            <a:lvl3pPr marL="1828754" lvl="2" indent="-423323" rtl="0">
              <a:spcBef>
                <a:spcPts val="2133"/>
              </a:spcBef>
              <a:spcAft>
                <a:spcPts val="0"/>
              </a:spcAft>
              <a:buClr>
                <a:schemeClr val="lt1"/>
              </a:buClr>
              <a:buSzPts val="1400"/>
              <a:buChar char="■"/>
              <a:defRPr>
                <a:solidFill>
                  <a:schemeClr val="lt1"/>
                </a:solidFill>
              </a:defRPr>
            </a:lvl3pPr>
            <a:lvl4pPr marL="2438339" lvl="3" indent="-423323" rtl="0">
              <a:spcBef>
                <a:spcPts val="2133"/>
              </a:spcBef>
              <a:spcAft>
                <a:spcPts val="0"/>
              </a:spcAft>
              <a:buClr>
                <a:schemeClr val="lt1"/>
              </a:buClr>
              <a:buSzPts val="1400"/>
              <a:buChar char="●"/>
              <a:defRPr>
                <a:solidFill>
                  <a:schemeClr val="lt1"/>
                </a:solidFill>
              </a:defRPr>
            </a:lvl4pPr>
            <a:lvl5pPr marL="3047924" lvl="4" indent="-423323" rtl="0">
              <a:spcBef>
                <a:spcPts val="2133"/>
              </a:spcBef>
              <a:spcAft>
                <a:spcPts val="0"/>
              </a:spcAft>
              <a:buClr>
                <a:schemeClr val="lt1"/>
              </a:buClr>
              <a:buSzPts val="1400"/>
              <a:buChar char="○"/>
              <a:defRPr>
                <a:solidFill>
                  <a:schemeClr val="lt1"/>
                </a:solidFill>
              </a:defRPr>
            </a:lvl5pPr>
            <a:lvl6pPr marL="3657509" lvl="5" indent="-423323" rtl="0">
              <a:spcBef>
                <a:spcPts val="2133"/>
              </a:spcBef>
              <a:spcAft>
                <a:spcPts val="0"/>
              </a:spcAft>
              <a:buClr>
                <a:schemeClr val="lt1"/>
              </a:buClr>
              <a:buSzPts val="1400"/>
              <a:buChar char="■"/>
              <a:defRPr>
                <a:solidFill>
                  <a:schemeClr val="lt1"/>
                </a:solidFill>
              </a:defRPr>
            </a:lvl6pPr>
            <a:lvl7pPr marL="4267093" lvl="6" indent="-423323" rtl="0">
              <a:spcBef>
                <a:spcPts val="2133"/>
              </a:spcBef>
              <a:spcAft>
                <a:spcPts val="0"/>
              </a:spcAft>
              <a:buClr>
                <a:schemeClr val="lt1"/>
              </a:buClr>
              <a:buSzPts val="1400"/>
              <a:buChar char="●"/>
              <a:defRPr>
                <a:solidFill>
                  <a:schemeClr val="lt1"/>
                </a:solidFill>
              </a:defRPr>
            </a:lvl7pPr>
            <a:lvl8pPr marL="4876678" lvl="7" indent="-423323" rtl="0">
              <a:spcBef>
                <a:spcPts val="2133"/>
              </a:spcBef>
              <a:spcAft>
                <a:spcPts val="0"/>
              </a:spcAft>
              <a:buClr>
                <a:schemeClr val="lt1"/>
              </a:buClr>
              <a:buSzPts val="1400"/>
              <a:buChar char="○"/>
              <a:defRPr>
                <a:solidFill>
                  <a:schemeClr val="lt1"/>
                </a:solidFill>
              </a:defRPr>
            </a:lvl8pPr>
            <a:lvl9pPr marL="5486263" lvl="8" indent="-423323" rtl="0">
              <a:spcBef>
                <a:spcPts val="2133"/>
              </a:spcBef>
              <a:spcAft>
                <a:spcPts val="2133"/>
              </a:spcAft>
              <a:buClr>
                <a:schemeClr val="lt1"/>
              </a:buClr>
              <a:buSzPts val="1400"/>
              <a:buChar char="■"/>
              <a:defRPr>
                <a:solidFill>
                  <a:schemeClr val="lt1"/>
                </a:solidFill>
              </a:defRPr>
            </a:lvl9pPr>
          </a:lstStyle>
          <a:p>
            <a:endParaRPr/>
          </a:p>
        </p:txBody>
      </p:sp>
    </p:spTree>
    <p:extLst>
      <p:ext uri="{BB962C8B-B14F-4D97-AF65-F5344CB8AC3E}">
        <p14:creationId xmlns:p14="http://schemas.microsoft.com/office/powerpoint/2010/main" val="290878151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slideLayout" Target="../slideLayouts/slideLayout39.xml"/><Relationship Id="rId29" Type="http://schemas.openxmlformats.org/officeDocument/2006/relationships/slideLayout" Target="../slideLayouts/slideLayout40.xml"/><Relationship Id="rId30" Type="http://schemas.openxmlformats.org/officeDocument/2006/relationships/slideLayout" Target="../slideLayouts/slideLayout41.xml"/><Relationship Id="rId31" Type="http://schemas.openxmlformats.org/officeDocument/2006/relationships/slideLayout" Target="../slideLayouts/slideLayout42.xml"/><Relationship Id="rId32" Type="http://schemas.openxmlformats.org/officeDocument/2006/relationships/slideLayout" Target="../slideLayouts/slideLayout43.xml"/><Relationship Id="rId33" Type="http://schemas.openxmlformats.org/officeDocument/2006/relationships/slideLayout" Target="../slideLayouts/slideLayout44.xml"/><Relationship Id="rId34" Type="http://schemas.openxmlformats.org/officeDocument/2006/relationships/slideLayout" Target="../slideLayouts/slideLayout45.xml"/><Relationship Id="rId3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7629121-19DA-F768-5CFC-B107B5E571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DEED587A-86C9-0CB1-9E78-92A5B40A5A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37848B63-FCC0-1F0C-6FA0-E39236C4D95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2F0A0C-3F80-48F7-91EE-B33537999778}" type="datetimeFigureOut">
              <a:rPr lang="es-CL" smtClean="0"/>
              <a:t>17-10-26</a:t>
            </a:fld>
            <a:endParaRPr lang="es-CL"/>
          </a:p>
        </p:txBody>
      </p:sp>
      <p:sp>
        <p:nvSpPr>
          <p:cNvPr id="5" name="Marcador de pie de página 4">
            <a:extLst>
              <a:ext uri="{FF2B5EF4-FFF2-40B4-BE49-F238E27FC236}">
                <a16:creationId xmlns:a16="http://schemas.microsoft.com/office/drawing/2014/main" id="{FF5485DA-5959-B532-3F7A-88CB3767A17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L"/>
          </a:p>
        </p:txBody>
      </p:sp>
      <p:sp>
        <p:nvSpPr>
          <p:cNvPr id="6" name="Marcador de número de diapositiva 5">
            <a:extLst>
              <a:ext uri="{FF2B5EF4-FFF2-40B4-BE49-F238E27FC236}">
                <a16:creationId xmlns:a16="http://schemas.microsoft.com/office/drawing/2014/main" id="{8A00227E-72C4-001E-FC04-94BC34817A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26001BE-C829-45D8-A74C-DB7038EE08AC}" type="slidenum">
              <a:rPr lang="es-CL" smtClean="0"/>
              <a:t>‹Nº›</a:t>
            </a:fld>
            <a:endParaRPr lang="es-CL"/>
          </a:p>
        </p:txBody>
      </p:sp>
    </p:spTree>
    <p:extLst>
      <p:ext uri="{BB962C8B-B14F-4D97-AF65-F5344CB8AC3E}">
        <p14:creationId xmlns:p14="http://schemas.microsoft.com/office/powerpoint/2010/main" val="19536083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ExtraBold"/>
              <a:buNone/>
              <a:defRPr sz="2800">
                <a:solidFill>
                  <a:schemeClr val="lt1"/>
                </a:solidFill>
                <a:latin typeface="Montserrat ExtraBold"/>
                <a:ea typeface="Montserrat ExtraBold"/>
                <a:cs typeface="Montserrat ExtraBold"/>
                <a:sym typeface="Montserrat ExtraBold"/>
              </a:defRPr>
            </a:lvl1pPr>
            <a:lvl2pPr lvl="1">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2pPr>
            <a:lvl3pPr lvl="2">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3pPr>
            <a:lvl4pPr lvl="3">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4pPr>
            <a:lvl5pPr lvl="4">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5pPr>
            <a:lvl6pPr lvl="5">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6pPr>
            <a:lvl7pPr lvl="6">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7pPr>
            <a:lvl8pPr lvl="7">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8pPr>
            <a:lvl9pPr lvl="8">
              <a:spcBef>
                <a:spcPts val="0"/>
              </a:spcBef>
              <a:spcAft>
                <a:spcPts val="0"/>
              </a:spcAft>
              <a:buClr>
                <a:schemeClr val="dk1"/>
              </a:buClr>
              <a:buSzPts val="2800"/>
              <a:buFont typeface="Montserrat"/>
              <a:buNone/>
              <a:defRPr sz="28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marL="914400" lvl="1"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marL="1371600" lvl="2"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marL="1828800" lvl="3"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marL="2286000" lvl="4"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marL="2743200" lvl="5"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marL="3200400" lvl="6"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marL="3657600" lvl="7" indent="-317500">
              <a:lnSpc>
                <a:spcPct val="100000"/>
              </a:lnSpc>
              <a:spcBef>
                <a:spcPts val="160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dk2"/>
              </a:buClr>
              <a:buSzPts val="1400"/>
              <a:buFont typeface="Montserrat"/>
              <a:buChar char="■"/>
              <a:defRPr>
                <a:solidFill>
                  <a:schemeClr val="dk2"/>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604188862"/>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xml"/><Relationship Id="rId3" Type="http://schemas.openxmlformats.org/officeDocument/2006/relationships/image" Target="../media/image39.png"/><Relationship Id="rId4" Type="http://schemas.openxmlformats.org/officeDocument/2006/relationships/image" Target="../media/image40.jpg"/><Relationship Id="rId5" Type="http://schemas.openxmlformats.org/officeDocument/2006/relationships/image" Target="../media/image41.png"/><Relationship Id="rId6" Type="http://schemas.openxmlformats.org/officeDocument/2006/relationships/image" Target="../media/image4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6.xml"/><Relationship Id="rId3" Type="http://schemas.openxmlformats.org/officeDocument/2006/relationships/image" Target="../media/image4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8.xml"/><Relationship Id="rId3" Type="http://schemas.openxmlformats.org/officeDocument/2006/relationships/image" Target="../media/image93.png"/><Relationship Id="rId4" Type="http://schemas.openxmlformats.org/officeDocument/2006/relationships/image" Target="../media/image9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39.xml"/><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9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1.xml"/><Relationship Id="rId3" Type="http://schemas.openxmlformats.org/officeDocument/2006/relationships/image" Target="../media/image98.png"/><Relationship Id="rId4" Type="http://schemas.openxmlformats.org/officeDocument/2006/relationships/image" Target="../media/image80.png"/><Relationship Id="rId5" Type="http://schemas.openxmlformats.org/officeDocument/2006/relationships/image" Target="../media/image9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6.xml"/><Relationship Id="rId3" Type="http://schemas.openxmlformats.org/officeDocument/2006/relationships/image" Target="../media/image100.png"/><Relationship Id="rId4" Type="http://schemas.openxmlformats.org/officeDocument/2006/relationships/image" Target="../media/image101.png"/><Relationship Id="rId5" Type="http://schemas.openxmlformats.org/officeDocument/2006/relationships/image" Target="../media/image102.png"/><Relationship Id="rId6" Type="http://schemas.openxmlformats.org/officeDocument/2006/relationships/image" Target="../media/image103.png"/><Relationship Id="rId7" Type="http://schemas.openxmlformats.org/officeDocument/2006/relationships/image" Target="../media/image65.png"/><Relationship Id="rId8" Type="http://schemas.openxmlformats.org/officeDocument/2006/relationships/image" Target="../media/image10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7.xml"/><Relationship Id="rId3" Type="http://schemas.openxmlformats.org/officeDocument/2006/relationships/image" Target="../media/image100.png"/><Relationship Id="rId4" Type="http://schemas.openxmlformats.org/officeDocument/2006/relationships/image" Target="../media/image105.png"/><Relationship Id="rId5" Type="http://schemas.openxmlformats.org/officeDocument/2006/relationships/image" Target="../media/image106.png"/><Relationship Id="rId6" Type="http://schemas.openxmlformats.org/officeDocument/2006/relationships/image" Target="../media/image107.png"/><Relationship Id="rId7" Type="http://schemas.openxmlformats.org/officeDocument/2006/relationships/image" Target="../media/image108.png"/><Relationship Id="rId8" Type="http://schemas.openxmlformats.org/officeDocument/2006/relationships/image" Target="../media/image109.png"/><Relationship Id="rId9" Type="http://schemas.openxmlformats.org/officeDocument/2006/relationships/image" Target="../media/image11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8.xml"/><Relationship Id="rId3" Type="http://schemas.openxmlformats.org/officeDocument/2006/relationships/image" Target="../media/image105.png"/><Relationship Id="rId4" Type="http://schemas.openxmlformats.org/officeDocument/2006/relationships/image" Target="../media/image106.png"/><Relationship Id="rId5" Type="http://schemas.openxmlformats.org/officeDocument/2006/relationships/image" Target="../media/image107.png"/><Relationship Id="rId6" Type="http://schemas.openxmlformats.org/officeDocument/2006/relationships/image" Target="../media/image10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49.xml"/><Relationship Id="rId3"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0.xml"/><Relationship Id="rId3" Type="http://schemas.openxmlformats.org/officeDocument/2006/relationships/image" Target="../media/image114.png"/><Relationship Id="rId4" Type="http://schemas.openxmlformats.org/officeDocument/2006/relationships/image" Target="../media/image11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1.xml"/><Relationship Id="rId3" Type="http://schemas.openxmlformats.org/officeDocument/2006/relationships/image" Target="../media/image116.png"/><Relationship Id="rId4" Type="http://schemas.openxmlformats.org/officeDocument/2006/relationships/image" Target="../media/image104.png"/><Relationship Id="rId5" Type="http://schemas.openxmlformats.org/officeDocument/2006/relationships/image" Target="../media/image117.png"/><Relationship Id="rId6" Type="http://schemas.openxmlformats.org/officeDocument/2006/relationships/image" Target="../media/image11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2.xml"/><Relationship Id="rId3" Type="http://schemas.openxmlformats.org/officeDocument/2006/relationships/image" Target="../media/image81.png"/><Relationship Id="rId4" Type="http://schemas.openxmlformats.org/officeDocument/2006/relationships/image" Target="../media/image118.png"/><Relationship Id="rId5" Type="http://schemas.openxmlformats.org/officeDocument/2006/relationships/image" Target="../media/image119.png"/><Relationship Id="rId6" Type="http://schemas.openxmlformats.org/officeDocument/2006/relationships/image" Target="../media/image120.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3.xml"/><Relationship Id="rId3" Type="http://schemas.openxmlformats.org/officeDocument/2006/relationships/image" Target="../media/image121.png"/><Relationship Id="rId4" Type="http://schemas.openxmlformats.org/officeDocument/2006/relationships/image" Target="../media/image100.png"/><Relationship Id="rId5" Type="http://schemas.openxmlformats.org/officeDocument/2006/relationships/image" Target="../media/image106.png"/><Relationship Id="rId6" Type="http://schemas.openxmlformats.org/officeDocument/2006/relationships/image" Target="../media/image105.png"/><Relationship Id="rId7" Type="http://schemas.openxmlformats.org/officeDocument/2006/relationships/image" Target="../media/image122.png"/><Relationship Id="rId8" Type="http://schemas.openxmlformats.org/officeDocument/2006/relationships/image" Target="../media/image107.png"/><Relationship Id="rId9" Type="http://schemas.openxmlformats.org/officeDocument/2006/relationships/image" Target="../media/image123.png"/><Relationship Id="rId10" Type="http://schemas.openxmlformats.org/officeDocument/2006/relationships/image" Target="../media/image91.png"/><Relationship Id="rId11" Type="http://schemas.openxmlformats.org/officeDocument/2006/relationships/image" Target="../media/image8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4.xml"/><Relationship Id="rId3" Type="http://schemas.openxmlformats.org/officeDocument/2006/relationships/image" Target="../media/image11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7.xml"/><Relationship Id="rId3" Type="http://schemas.openxmlformats.org/officeDocument/2006/relationships/image" Target="../media/image124.png"/><Relationship Id="rId4" Type="http://schemas.openxmlformats.org/officeDocument/2006/relationships/image" Target="../media/image125.png"/><Relationship Id="rId5" Type="http://schemas.openxmlformats.org/officeDocument/2006/relationships/image" Target="../media/image12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8.xml"/><Relationship Id="rId3" Type="http://schemas.openxmlformats.org/officeDocument/2006/relationships/image" Target="../media/image65.png"/><Relationship Id="rId4" Type="http://schemas.openxmlformats.org/officeDocument/2006/relationships/image" Target="../media/image91.png"/><Relationship Id="rId5" Type="http://schemas.openxmlformats.org/officeDocument/2006/relationships/image" Target="../media/image89.png"/><Relationship Id="rId6" Type="http://schemas.openxmlformats.org/officeDocument/2006/relationships/image" Target="../media/image64.png"/><Relationship Id="rId7" Type="http://schemas.openxmlformats.org/officeDocument/2006/relationships/image" Target="../media/image8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5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0.xml"/><Relationship Id="rId3" Type="http://schemas.openxmlformats.org/officeDocument/2006/relationships/image" Target="../media/image127.png"/><Relationship Id="rId4" Type="http://schemas.openxmlformats.org/officeDocument/2006/relationships/image" Target="../media/image65.png"/><Relationship Id="rId5" Type="http://schemas.openxmlformats.org/officeDocument/2006/relationships/image" Target="../media/image12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1.xml"/><Relationship Id="rId3" Type="http://schemas.openxmlformats.org/officeDocument/2006/relationships/image" Target="../media/image91.png"/><Relationship Id="rId4" Type="http://schemas.openxmlformats.org/officeDocument/2006/relationships/image" Target="../media/image129.png"/><Relationship Id="rId5" Type="http://schemas.openxmlformats.org/officeDocument/2006/relationships/image" Target="../media/image130.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2.xml"/><Relationship Id="rId3" Type="http://schemas.openxmlformats.org/officeDocument/2006/relationships/image" Target="../media/image91.png"/><Relationship Id="rId4" Type="http://schemas.openxmlformats.org/officeDocument/2006/relationships/image" Target="../media/image131.png"/><Relationship Id="rId5" Type="http://schemas.openxmlformats.org/officeDocument/2006/relationships/image" Target="../media/image132.png"/><Relationship Id="rId6" Type="http://schemas.openxmlformats.org/officeDocument/2006/relationships/image" Target="../media/image1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3.xml"/><Relationship Id="rId3" Type="http://schemas.openxmlformats.org/officeDocument/2006/relationships/image" Target="../media/image133.png"/><Relationship Id="rId4" Type="http://schemas.openxmlformats.org/officeDocument/2006/relationships/image" Target="../media/image65.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5.xml"/><Relationship Id="rId3" Type="http://schemas.openxmlformats.org/officeDocument/2006/relationships/image" Target="../media/image1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6.xml"/><Relationship Id="rId3" Type="http://schemas.openxmlformats.org/officeDocument/2006/relationships/image" Target="../media/image134.png"/><Relationship Id="rId4" Type="http://schemas.openxmlformats.org/officeDocument/2006/relationships/image" Target="../media/image135.png"/><Relationship Id="rId5" Type="http://schemas.openxmlformats.org/officeDocument/2006/relationships/image" Target="../media/image136.png"/><Relationship Id="rId6" Type="http://schemas.openxmlformats.org/officeDocument/2006/relationships/image" Target="../media/image137.png"/><Relationship Id="rId7" Type="http://schemas.openxmlformats.org/officeDocument/2006/relationships/image" Target="../media/image138.png"/><Relationship Id="rId8" Type="http://schemas.openxmlformats.org/officeDocument/2006/relationships/image" Target="../media/image63.png"/><Relationship Id="rId9" Type="http://schemas.openxmlformats.org/officeDocument/2006/relationships/image" Target="../media/image94.png"/><Relationship Id="rId10" Type="http://schemas.openxmlformats.org/officeDocument/2006/relationships/image" Target="../media/image139.png"/><Relationship Id="rId11" Type="http://schemas.openxmlformats.org/officeDocument/2006/relationships/image" Target="../media/image14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67.xml"/><Relationship Id="rId3" Type="http://schemas.openxmlformats.org/officeDocument/2006/relationships/image" Target="../media/image82.png"/><Relationship Id="rId4" Type="http://schemas.openxmlformats.org/officeDocument/2006/relationships/image" Target="../media/image124.png"/><Relationship Id="rId5" Type="http://schemas.openxmlformats.org/officeDocument/2006/relationships/image" Target="../media/image132.png"/><Relationship Id="rId6" Type="http://schemas.openxmlformats.org/officeDocument/2006/relationships/image" Target="../media/image14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6.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98.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400" b="1" i="0">
                <a:solidFill>
                  <a:srgbClr val="FFFFFF"/>
                </a:solidFill>
                <a:effectLst>
                  <a:glow rad="63500">
                    <a:srgbClr val="001633">
                      <a:alpha val="85000"/>
                    </a:srgbClr>
                  </a:glow>
                </a:effectLst>
                <a:latin typeface="Montserrat"/>
              </a:rPr>
              <a:t>Gemelos Digitales para Minería 4.0</a:t>
            </a:r>
          </a:p>
        </p:txBody>
      </p:sp>
      <p:sp>
        <p:nvSpPr>
          <p:cNvPr id="3" name="Subtítulo"/>
          <p:cNvSpPr txBox="1"/>
          <p:nvPr/>
        </p:nvSpPr>
        <p:spPr>
          <a:xfrm>
            <a:off x="1981047" y="4343400"/>
            <a:ext cx="8229600" cy="457200"/>
          </a:xfrm>
          <a:prstGeom prst="rect">
            <a:avLst/>
          </a:prstGeom>
          <a:noFill/>
        </p:spPr>
        <p:txBody>
          <a:bodyPr wrap="square" lIns="0" tIns="0" rIns="0" bIns="0" anchor="t">
            <a:spAutoFit/>
          </a:bodyPr>
          <a:lstStyle/>
          <a:p>
            <a:pPr algn="ctr">
              <a:spcAft>
                <a:spcPts val="600"/>
              </a:spcAft>
            </a:pPr>
            <a:r>
              <a:rPr sz="2600" b="1" i="0">
                <a:solidFill>
                  <a:srgbClr val="FFAB40"/>
                </a:solidFill>
                <a:effectLst>
                  <a:glow rad="63500">
                    <a:srgbClr val="001633">
                      <a:alpha val="85000"/>
                    </a:srgbClr>
                  </a:glow>
                </a:effectLst>
                <a:latin typeface="Montserrat"/>
              </a:rPr>
              <a:t>De la estrategia al impacto operacional</a:t>
            </a:r>
          </a:p>
        </p:txBody>
      </p:sp>
      <p:cxnSp>
        <p:nvCxnSpPr>
          <p:cNvPr id="4" name="Raya portada"/>
          <p:cNvCxnSpPr/>
          <p:nvPr/>
        </p:nvCxnSpPr>
        <p:spPr>
          <a:xfrm>
            <a:off x="5730087" y="4956048"/>
            <a:ext cx="731520"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5" name="Ejes"/>
          <p:cNvSpPr txBox="1"/>
          <p:nvPr/>
        </p:nvSpPr>
        <p:spPr>
          <a:xfrm>
            <a:off x="1981047" y="5102352"/>
            <a:ext cx="8229600" cy="365760"/>
          </a:xfrm>
          <a:prstGeom prst="rect">
            <a:avLst/>
          </a:prstGeom>
          <a:noFill/>
        </p:spPr>
        <p:txBody>
          <a:bodyPr wrap="square" lIns="0" tIns="0" rIns="0" bIns="0" anchor="t">
            <a:spAutoFit/>
          </a:bodyPr>
          <a:lstStyle/>
          <a:p>
            <a:pPr algn="ctr">
              <a:spcAft>
                <a:spcPts val="600"/>
              </a:spcAft>
            </a:pPr>
            <a:r>
              <a:rPr sz="1600" b="0" i="0">
                <a:solidFill>
                  <a:srgbClr val="FFFFFF"/>
                </a:solidFill>
                <a:effectLst>
                  <a:glow rad="63500">
                    <a:srgbClr val="001633">
                      <a:alpha val="85000"/>
                    </a:srgbClr>
                  </a:glow>
                </a:effectLst>
                <a:latin typeface="Montserrat"/>
              </a:rPr>
              <a:t>Modelamiento dinámico   |   Integración de datos   |   Decisión en tiempo real</a:t>
            </a:r>
          </a:p>
        </p:txBody>
      </p:sp>
      <p:sp>
        <p:nvSpPr>
          <p:cNvPr id="6" name="Autores"/>
          <p:cNvSpPr txBox="1"/>
          <p:nvPr/>
        </p:nvSpPr>
        <p:spPr>
          <a:xfrm>
            <a:off x="7315200" y="6172200"/>
            <a:ext cx="4389120" cy="365760"/>
          </a:xfrm>
          <a:prstGeom prst="rect">
            <a:avLst/>
          </a:prstGeom>
          <a:noFill/>
        </p:spPr>
        <p:txBody>
          <a:bodyPr wrap="square" lIns="0" tIns="0" rIns="0" bIns="0" anchor="t">
            <a:spAutoFit/>
          </a:bodyPr>
          <a:lstStyle/>
          <a:p>
            <a:pPr algn="r">
              <a:spcAft>
                <a:spcPts val="600"/>
              </a:spcAft>
            </a:pPr>
            <a:r>
              <a:rPr sz="1300" b="0" i="0">
                <a:solidFill>
                  <a:srgbClr val="FFFFFF"/>
                </a:solidFill>
                <a:effectLst>
                  <a:glow rad="63500">
                    <a:srgbClr val="001633">
                      <a:alpha val="85000"/>
                    </a:srgbClr>
                  </a:glow>
                </a:effectLst>
                <a:latin typeface="Montserrat"/>
              </a:rPr>
              <a:t>Luis Jaraquemada S.  ·  Andrés Venegas 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Diseñamos, construimos y presentamos gemelos digitales mineros</a:t>
            </a:r>
          </a:p>
        </p:txBody>
      </p:sp>
      <p:sp>
        <p:nvSpPr>
          <p:cNvPr id="3" name="Cifra años en software industrial minero"/>
          <p:cNvSpPr txBox="1"/>
          <p:nvPr/>
        </p:nvSpPr>
        <p:spPr>
          <a:xfrm>
            <a:off x="1252728" y="1691639"/>
            <a:ext cx="13716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+15</a:t>
            </a:r>
          </a:p>
        </p:txBody>
      </p:sp>
      <p:sp>
        <p:nvSpPr>
          <p:cNvPr id="4" name="TextBox 3"/>
          <p:cNvSpPr txBox="1"/>
          <p:nvPr/>
        </p:nvSpPr>
        <p:spPr>
          <a:xfrm>
            <a:off x="2715768" y="1691639"/>
            <a:ext cx="17373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años en software industrial minero</a:t>
            </a:r>
          </a:p>
        </p:txBody>
      </p:sp>
      <p:sp>
        <p:nvSpPr>
          <p:cNvPr id="5" name="Cifra procesos mineros con gemelo digital"/>
          <p:cNvSpPr txBox="1"/>
          <p:nvPr/>
        </p:nvSpPr>
        <p:spPr>
          <a:xfrm>
            <a:off x="459028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6</a:t>
            </a:r>
          </a:p>
        </p:txBody>
      </p:sp>
      <p:sp>
        <p:nvSpPr>
          <p:cNvPr id="6" name="TextBox 5"/>
          <p:cNvSpPr txBox="1"/>
          <p:nvPr/>
        </p:nvSpPr>
        <p:spPr>
          <a:xfrm>
            <a:off x="536752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procesos mineros con gemelo digital</a:t>
            </a:r>
          </a:p>
        </p:txBody>
      </p:sp>
      <p:sp>
        <p:nvSpPr>
          <p:cNvPr id="7" name="Cifra trabajos en congresos, 2022–2025"/>
          <p:cNvSpPr txBox="1"/>
          <p:nvPr/>
        </p:nvSpPr>
        <p:spPr>
          <a:xfrm>
            <a:off x="7927848" y="1691639"/>
            <a:ext cx="685800" cy="914400"/>
          </a:xfrm>
          <a:prstGeom prst="rect">
            <a:avLst/>
          </a:prstGeom>
          <a:noFill/>
        </p:spPr>
        <p:txBody>
          <a:bodyPr wrap="square" lIns="0" tIns="0" rIns="0" bIns="0" anchor="ctr">
            <a:spAutoFit/>
          </a:bodyPr>
          <a:lstStyle/>
          <a:p>
            <a:pPr algn="l">
              <a:spcAft>
                <a:spcPts val="600"/>
              </a:spcAft>
            </a:pPr>
            <a:r>
              <a:rPr sz="5400" b="1" i="0">
                <a:solidFill>
                  <a:srgbClr val="FFAB40"/>
                </a:solidFill>
                <a:effectLst>
                  <a:glow rad="63500">
                    <a:srgbClr val="001633">
                      <a:alpha val="85000"/>
                    </a:srgbClr>
                  </a:glow>
                </a:effectLst>
                <a:latin typeface="Montserrat"/>
              </a:rPr>
              <a:t>5</a:t>
            </a:r>
          </a:p>
        </p:txBody>
      </p:sp>
      <p:sp>
        <p:nvSpPr>
          <p:cNvPr id="8" name="TextBox 7"/>
          <p:cNvSpPr txBox="1"/>
          <p:nvPr/>
        </p:nvSpPr>
        <p:spPr>
          <a:xfrm>
            <a:off x="8705088" y="1691639"/>
            <a:ext cx="2423160" cy="914400"/>
          </a:xfrm>
          <a:prstGeom prst="rect">
            <a:avLst/>
          </a:prstGeom>
          <a:noFill/>
        </p:spPr>
        <p:txBody>
          <a:bodyPr wrap="square" lIns="0" tIns="0" rIns="0" bIns="0" anchor="ctr">
            <a:spAutoFit/>
          </a:bodyPr>
          <a:lstStyle/>
          <a:p>
            <a:pPr algn="l">
              <a:spcAft>
                <a:spcPts val="600"/>
              </a:spcAft>
            </a:pPr>
            <a:r>
              <a:rPr sz="1500" b="1" i="0">
                <a:solidFill>
                  <a:srgbClr val="FFFFFF"/>
                </a:solidFill>
                <a:effectLst>
                  <a:glow rad="63500">
                    <a:srgbClr val="001633">
                      <a:alpha val="85000"/>
                    </a:srgbClr>
                  </a:glow>
                </a:effectLst>
                <a:latin typeface="Montserrat"/>
              </a:rPr>
              <a:t>trabajos en congresos, 2022–2025</a:t>
            </a:r>
          </a:p>
        </p:txBody>
      </p:sp>
      <p:sp>
        <p:nvSpPr>
          <p:cNvPr id="9" name="TextBox 8"/>
          <p:cNvSpPr txBox="1"/>
          <p:nvPr/>
        </p:nvSpPr>
        <p:spPr>
          <a:xfrm>
            <a:off x="1252728" y="2651759"/>
            <a:ext cx="10012680" cy="27432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Carguío y transporte · chancado · correas y tolvas · stockpiles · flotación · filtración</a:t>
            </a:r>
          </a:p>
        </p:txBody>
      </p:sp>
      <p:sp>
        <p:nvSpPr>
          <p:cNvPr id="10" name="Perfil Luis Jaraquemada S."/>
          <p:cNvSpPr/>
          <p:nvPr/>
        </p:nvSpPr>
        <p:spPr>
          <a:xfrm>
            <a:off x="12527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Luis Jaraquemada S." descr="luis.png"/>
          <p:cNvPicPr>
            <a:picLocks noChangeAspect="1"/>
          </p:cNvPicPr>
          <p:nvPr/>
        </p:nvPicPr>
        <p:blipFill>
          <a:blip r:embed="rId3"/>
          <a:srcRect l="4777" r="4777"/>
          <a:stretch>
            <a:fillRect/>
          </a:stretch>
        </p:blipFill>
        <p:spPr>
          <a:xfrm>
            <a:off x="1527048" y="3337559"/>
            <a:ext cx="1417320" cy="1417320"/>
          </a:xfrm>
          <a:prstGeom prst="ellipse">
            <a:avLst/>
          </a:prstGeom>
        </p:spPr>
      </p:pic>
      <p:sp>
        <p:nvSpPr>
          <p:cNvPr id="12" name="Luis Jaraquemada S. anillo"/>
          <p:cNvSpPr/>
          <p:nvPr/>
        </p:nvSpPr>
        <p:spPr>
          <a:xfrm>
            <a:off x="14813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218688" y="3337559"/>
            <a:ext cx="2766060" cy="1463040"/>
          </a:xfrm>
          <a:prstGeom prst="rect">
            <a:avLst/>
          </a:prstGeom>
          <a:noFill/>
        </p:spPr>
        <p:txBody>
          <a:bodyPr wrap="square" lIns="0" tIns="0" rIns="0" bIns="0" anchor="ctr">
            <a:spAutoFit/>
          </a:bodyPr>
          <a:lstStyle/>
          <a:p>
            <a:pPr algn="l">
              <a:spcAft>
                <a:spcPts val="300"/>
              </a:spcAft>
            </a:pPr>
            <a:r>
              <a:rPr sz="2000" b="1" i="0">
                <a:solidFill>
                  <a:srgbClr val="FFFFFF"/>
                </a:solidFill>
                <a:effectLst>
                  <a:glow rad="63500">
                    <a:srgbClr val="001633">
                      <a:alpha val="85000"/>
                    </a:srgbClr>
                  </a:glow>
                </a:effectLst>
                <a:latin typeface="Montserrat"/>
              </a:rPr>
              <a:t>Luis Jaraquemada S.</a:t>
            </a:r>
          </a:p>
          <a:p>
            <a:pPr algn="l">
              <a:spcAft>
                <a:spcPts val="300"/>
              </a:spcAft>
            </a:pPr>
            <a:r>
              <a:rPr sz="1300" b="1" i="0">
                <a:solidFill>
                  <a:srgbClr val="FFAB40"/>
                </a:solidFill>
                <a:effectLst>
                  <a:glow rad="63500">
                    <a:srgbClr val="001633">
                      <a:alpha val="85000"/>
                    </a:srgbClr>
                  </a:glow>
                </a:effectLst>
                <a:latin typeface="Montserrat"/>
              </a:rPr>
              <a:t>Global R&amp;D Manager · Production Management</a:t>
            </a:r>
          </a:p>
          <a:p>
            <a:pPr algn="l">
              <a:spcAft>
                <a:spcPts val="300"/>
              </a:spcAft>
            </a:pPr>
            <a:r>
              <a:rPr sz="1200" b="0" i="0">
                <a:solidFill>
                  <a:srgbClr val="FFFFFF"/>
                </a:solidFill>
                <a:effectLst>
                  <a:glow rad="63500">
                    <a:srgbClr val="001633">
                      <a:alpha val="85000"/>
                    </a:srgbClr>
                  </a:glow>
                </a:effectLst>
                <a:latin typeface="Montserrat"/>
              </a:rPr>
              <a:t>Epiroc Digital Solutions Division</a:t>
            </a:r>
          </a:p>
          <a:p>
            <a:pPr algn="l">
              <a:spcAft>
                <a:spcPts val="300"/>
              </a:spcAft>
            </a:pPr>
            <a:r>
              <a:rPr sz="1100" b="0" i="0">
                <a:solidFill>
                  <a:srgbClr val="A9B8C9"/>
                </a:solidFill>
                <a:effectLst>
                  <a:glow rad="63500">
                    <a:srgbClr val="001633">
                      <a:alpha val="85000"/>
                    </a:srgbClr>
                  </a:glow>
                </a:effectLst>
                <a:latin typeface="Montserrat"/>
              </a:rPr>
              <a:t>Ing. Civil Eléctrico y MSc (USACH)</a:t>
            </a:r>
          </a:p>
        </p:txBody>
      </p:sp>
      <p:sp>
        <p:nvSpPr>
          <p:cNvPr id="14" name="Perfil Andrés Venegas G."/>
          <p:cNvSpPr/>
          <p:nvPr/>
        </p:nvSpPr>
        <p:spPr>
          <a:xfrm>
            <a:off x="6396228" y="3108959"/>
            <a:ext cx="4869180" cy="1874519"/>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Andrés Venegas G." descr="andres.png"/>
          <p:cNvPicPr>
            <a:picLocks noChangeAspect="1"/>
          </p:cNvPicPr>
          <p:nvPr/>
        </p:nvPicPr>
        <p:blipFill>
          <a:blip r:embed="rId4"/>
          <a:stretch>
            <a:fillRect/>
          </a:stretch>
        </p:blipFill>
        <p:spPr>
          <a:xfrm>
            <a:off x="6670548" y="3337559"/>
            <a:ext cx="1417320" cy="1417320"/>
          </a:xfrm>
          <a:prstGeom prst="ellipse">
            <a:avLst/>
          </a:prstGeom>
        </p:spPr>
      </p:pic>
      <p:sp>
        <p:nvSpPr>
          <p:cNvPr id="16" name="Andrés Venegas G. anillo"/>
          <p:cNvSpPr/>
          <p:nvPr/>
        </p:nvSpPr>
        <p:spPr>
          <a:xfrm>
            <a:off x="6624828" y="3291839"/>
            <a:ext cx="1508760" cy="1508760"/>
          </a:xfrm>
          <a:prstGeom prst="ellipse">
            <a:avLst/>
          </a:prstGeom>
          <a:noFill/>
          <a:ln w="381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8362188" y="3480456"/>
            <a:ext cx="2766060" cy="1177245"/>
          </a:xfrm>
          <a:prstGeom prst="rect">
            <a:avLst/>
          </a:prstGeom>
          <a:noFill/>
        </p:spPr>
        <p:txBody>
          <a:bodyPr wrap="square" lIns="0" tIns="0" rIns="0" bIns="0" anchor="ctr">
            <a:spAutoFit/>
          </a:bodyPr>
          <a:lstStyle/>
          <a:p>
            <a:pPr algn="l">
              <a:spcAft>
                <a:spcPts val="300"/>
              </a:spcAft>
            </a:pPr>
            <a:r>
              <a:rPr sz="2000" b="1" i="0" dirty="0">
                <a:solidFill>
                  <a:srgbClr val="FFFFFF"/>
                </a:solidFill>
                <a:effectLst>
                  <a:glow rad="63500">
                    <a:srgbClr val="001633">
                      <a:alpha val="85000"/>
                    </a:srgbClr>
                  </a:glow>
                </a:effectLst>
                <a:latin typeface="Montserrat"/>
              </a:rPr>
              <a:t>Andrés Venegas G.</a:t>
            </a:r>
          </a:p>
          <a:p>
            <a:pPr algn="l">
              <a:spcAft>
                <a:spcPts val="300"/>
              </a:spcAft>
            </a:pPr>
            <a:r>
              <a:rPr sz="1300" b="1" i="0" dirty="0">
                <a:solidFill>
                  <a:srgbClr val="FFAB40"/>
                </a:solidFill>
                <a:effectLst>
                  <a:glow rad="63500">
                    <a:srgbClr val="001633">
                      <a:alpha val="85000"/>
                    </a:srgbClr>
                  </a:glow>
                </a:effectLst>
                <a:latin typeface="Montserrat"/>
              </a:rPr>
              <a:t>Process &amp; Data Modelling Manager</a:t>
            </a:r>
          </a:p>
          <a:p>
            <a:pPr algn="l">
              <a:spcAft>
                <a:spcPts val="300"/>
              </a:spcAft>
            </a:pPr>
            <a:r>
              <a:rPr sz="1200" b="0" i="0" dirty="0">
                <a:solidFill>
                  <a:srgbClr val="FFFFFF"/>
                </a:solidFill>
                <a:effectLst>
                  <a:glow rad="63500">
                    <a:srgbClr val="001633">
                      <a:alpha val="85000"/>
                    </a:srgbClr>
                  </a:glow>
                </a:effectLst>
                <a:latin typeface="Montserrat"/>
              </a:rPr>
              <a:t>Epiroc Digital Solutions Division</a:t>
            </a:r>
          </a:p>
          <a:p>
            <a:pPr algn="l">
              <a:spcAft>
                <a:spcPts val="300"/>
              </a:spcAft>
            </a:pPr>
            <a:r>
              <a:rPr sz="1100" b="0" i="0" dirty="0">
                <a:solidFill>
                  <a:srgbClr val="A9B8C9"/>
                </a:solidFill>
                <a:effectLst>
                  <a:glow rad="63500">
                    <a:srgbClr val="001633">
                      <a:alpha val="85000"/>
                    </a:srgbClr>
                  </a:glow>
                </a:effectLst>
                <a:latin typeface="Montserrat"/>
              </a:rPr>
              <a:t>Ing. Civil </a:t>
            </a:r>
            <a:r>
              <a:rPr sz="1100" b="0" i="0" dirty="0" err="1">
                <a:solidFill>
                  <a:srgbClr val="A9B8C9"/>
                </a:solidFill>
                <a:effectLst>
                  <a:glow rad="63500">
                    <a:srgbClr val="001633">
                      <a:alpha val="85000"/>
                    </a:srgbClr>
                  </a:glow>
                </a:effectLst>
                <a:latin typeface="Montserrat"/>
              </a:rPr>
              <a:t>Mecatrónico</a:t>
            </a:r>
            <a:endParaRPr sz="1100" b="0" i="0" dirty="0">
              <a:solidFill>
                <a:srgbClr val="A9B8C9"/>
              </a:solidFill>
              <a:effectLst>
                <a:glow rad="63500">
                  <a:srgbClr val="001633">
                    <a:alpha val="85000"/>
                  </a:srgbClr>
                </a:glow>
              </a:effectLst>
              <a:latin typeface="Montserrat"/>
            </a:endParaRPr>
          </a:p>
        </p:txBody>
      </p:sp>
      <p:sp>
        <p:nvSpPr>
          <p:cNvPr id="18" name="TextBox 17"/>
          <p:cNvSpPr txBox="1"/>
          <p:nvPr/>
        </p:nvSpPr>
        <p:spPr>
          <a:xfrm>
            <a:off x="1252728" y="5257800"/>
            <a:ext cx="1920240" cy="411480"/>
          </a:xfrm>
          <a:prstGeom prst="rect">
            <a:avLst/>
          </a:prstGeom>
          <a:noFill/>
        </p:spPr>
        <p:txBody>
          <a:bodyPr wrap="square" lIns="0" tIns="0" rIns="0" bIns="0" anchor="ctr">
            <a:spAutoFit/>
          </a:bodyPr>
          <a:lstStyle/>
          <a:p>
            <a:pPr algn="l">
              <a:spcAft>
                <a:spcPts val="600"/>
              </a:spcAft>
            </a:pPr>
            <a:r>
              <a:rPr sz="1300" b="1" i="0">
                <a:solidFill>
                  <a:srgbClr val="A9B8C9"/>
                </a:solidFill>
                <a:effectLst>
                  <a:glow rad="63500">
                    <a:srgbClr val="001633">
                      <a:alpha val="85000"/>
                    </a:srgbClr>
                  </a:glow>
                </a:effectLst>
                <a:latin typeface="Montserrat"/>
              </a:rPr>
              <a:t>Trayectoria en</a:t>
            </a:r>
          </a:p>
        </p:txBody>
      </p:sp>
      <p:pic>
        <p:nvPicPr>
          <p:cNvPr id="19" name="logo-epiroc.png" descr="logo-epiroc.png"/>
          <p:cNvPicPr>
            <a:picLocks noChangeAspect="1"/>
          </p:cNvPicPr>
          <p:nvPr/>
        </p:nvPicPr>
        <p:blipFill>
          <a:blip r:embed="rId5"/>
          <a:stretch>
            <a:fillRect/>
          </a:stretch>
        </p:blipFill>
        <p:spPr>
          <a:xfrm>
            <a:off x="2990088" y="5257800"/>
            <a:ext cx="740664" cy="411480"/>
          </a:xfrm>
          <a:prstGeom prst="rect">
            <a:avLst/>
          </a:prstGeom>
        </p:spPr>
      </p:pic>
      <p:pic>
        <p:nvPicPr>
          <p:cNvPr id="20" name="logo-siemens.png" descr="logo-siemens.png"/>
          <p:cNvPicPr>
            <a:picLocks noChangeAspect="1"/>
          </p:cNvPicPr>
          <p:nvPr/>
        </p:nvPicPr>
        <p:blipFill>
          <a:blip r:embed="rId6"/>
          <a:stretch>
            <a:fillRect/>
          </a:stretch>
        </p:blipFill>
        <p:spPr>
          <a:xfrm>
            <a:off x="3959352" y="5257800"/>
            <a:ext cx="1930790" cy="411480"/>
          </a:xfrm>
          <a:prstGeom prst="rect">
            <a:avLst/>
          </a:prstGeom>
        </p:spPr>
      </p:pic>
      <p:pic>
        <p:nvPicPr>
          <p:cNvPr id="21" name="logo-innomotics.png" descr="logo-innomotics.png"/>
          <p:cNvPicPr>
            <a:picLocks noChangeAspect="1"/>
          </p:cNvPicPr>
          <p:nvPr/>
        </p:nvPicPr>
        <p:blipFill>
          <a:blip r:embed="rId7"/>
          <a:stretch>
            <a:fillRect/>
          </a:stretch>
        </p:blipFill>
        <p:spPr>
          <a:xfrm>
            <a:off x="6118742" y="5257800"/>
            <a:ext cx="1379876" cy="411480"/>
          </a:xfrm>
          <a:prstGeom prst="rect">
            <a:avLst/>
          </a:prstGeom>
        </p:spPr>
      </p:pic>
      <p:pic>
        <p:nvPicPr>
          <p:cNvPr id="22" name="logo-huawei.png" descr="logo-huawei.png"/>
          <p:cNvPicPr>
            <a:picLocks noChangeAspect="1"/>
          </p:cNvPicPr>
          <p:nvPr/>
        </p:nvPicPr>
        <p:blipFill>
          <a:blip r:embed="rId8"/>
          <a:stretch>
            <a:fillRect/>
          </a:stretch>
        </p:blipFill>
        <p:spPr>
          <a:xfrm>
            <a:off x="7727218" y="5257800"/>
            <a:ext cx="1402177" cy="411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Quiénes somos</a:t>
            </a:r>
          </a:p>
          <a:p>
            <a:r>
              <a:rPr sz="2200" b="0" i="0">
                <a:solidFill>
                  <a:srgbClr val="FFFFFF"/>
                </a:solidFill>
                <a:effectLst>
                  <a:glow rad="63500">
                    <a:srgbClr val="001633">
                      <a:alpha val="85000"/>
                    </a:srgbClr>
                  </a:glow>
                </a:effectLst>
                <a:latin typeface="Montserrat"/>
              </a:rPr>
              <a:t>Hablamos de gemelos digitales donde la minería decide</a:t>
            </a:r>
          </a:p>
        </p:txBody>
      </p:sp>
      <p:cxnSp>
        <p:nvCxnSpPr>
          <p:cNvPr id="3" name="Connector 2"/>
          <p:cNvCxnSpPr/>
          <p:nvPr/>
        </p:nvCxnSpPr>
        <p:spPr>
          <a:xfrm>
            <a:off x="1527048" y="2057399"/>
            <a:ext cx="0" cy="2487168"/>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4" name="Charla 1"/>
          <p:cNvSpPr/>
          <p:nvPr/>
        </p:nvSpPr>
        <p:spPr>
          <a:xfrm>
            <a:off x="1252728" y="1783079"/>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 name="Ícono mic" descr="mic-orange.png"/>
          <p:cNvPicPr>
            <a:picLocks noChangeAspect="1"/>
          </p:cNvPicPr>
          <p:nvPr/>
        </p:nvPicPr>
        <p:blipFill>
          <a:blip r:embed="rId2"/>
          <a:stretch>
            <a:fillRect/>
          </a:stretch>
        </p:blipFill>
        <p:spPr>
          <a:xfrm>
            <a:off x="1373429" y="1903780"/>
            <a:ext cx="307238" cy="307238"/>
          </a:xfrm>
          <a:prstGeom prst="rect">
            <a:avLst/>
          </a:prstGeom>
        </p:spPr>
      </p:pic>
      <p:sp>
        <p:nvSpPr>
          <p:cNvPr id="6" name="TextBox 5"/>
          <p:cNvSpPr txBox="1"/>
          <p:nvPr/>
        </p:nvSpPr>
        <p:spPr>
          <a:xfrm>
            <a:off x="1984248" y="1764791"/>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Gemelos digitales en conminución y transporte</a:t>
            </a:r>
          </a:p>
        </p:txBody>
      </p:sp>
      <p:sp>
        <p:nvSpPr>
          <p:cNvPr id="7" name="Charla 2"/>
          <p:cNvSpPr/>
          <p:nvPr/>
        </p:nvSpPr>
        <p:spPr>
          <a:xfrm>
            <a:off x="1252728" y="2404871"/>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mic" descr="mic-orange.png"/>
          <p:cNvPicPr>
            <a:picLocks noChangeAspect="1"/>
          </p:cNvPicPr>
          <p:nvPr/>
        </p:nvPicPr>
        <p:blipFill>
          <a:blip r:embed="rId2"/>
          <a:stretch>
            <a:fillRect/>
          </a:stretch>
        </p:blipFill>
        <p:spPr>
          <a:xfrm>
            <a:off x="1373429" y="2525572"/>
            <a:ext cx="307238" cy="307238"/>
          </a:xfrm>
          <a:prstGeom prst="rect">
            <a:avLst/>
          </a:prstGeom>
        </p:spPr>
      </p:pic>
      <p:sp>
        <p:nvSpPr>
          <p:cNvPr id="9" name="TextBox 8"/>
          <p:cNvSpPr txBox="1"/>
          <p:nvPr/>
        </p:nvSpPr>
        <p:spPr>
          <a:xfrm>
            <a:off x="1984248" y="2386583"/>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2022 · </a:t>
            </a:r>
            <a:r>
              <a:rPr sz="1300" b="1" i="0">
                <a:solidFill>
                  <a:srgbClr val="FFFFFF"/>
                </a:solidFill>
                <a:effectLst>
                  <a:glow rad="63500">
                    <a:srgbClr val="001633">
                      <a:alpha val="85000"/>
                    </a:srgbClr>
                  </a:glow>
                </a:effectLst>
                <a:latin typeface="Montserrat"/>
              </a:rPr>
              <a:t>MAPLA–MANTEMIN</a:t>
            </a:r>
          </a:p>
          <a:p>
            <a:pPr algn="l">
              <a:spcAft>
                <a:spcPts val="100"/>
              </a:spcAft>
            </a:pPr>
            <a:r>
              <a:rPr sz="1100" b="0" i="0">
                <a:solidFill>
                  <a:srgbClr val="A9B8C9"/>
                </a:solidFill>
                <a:effectLst>
                  <a:glow rad="63500">
                    <a:srgbClr val="001633">
                      <a:alpha val="85000"/>
                    </a:srgbClr>
                  </a:glow>
                </a:effectLst>
                <a:latin typeface="Montserrat"/>
              </a:rPr>
              <a:t>Gemelos digitales en chancado y transporte de material</a:t>
            </a:r>
          </a:p>
        </p:txBody>
      </p:sp>
      <p:sp>
        <p:nvSpPr>
          <p:cNvPr id="10" name="Charla 3"/>
          <p:cNvSpPr/>
          <p:nvPr/>
        </p:nvSpPr>
        <p:spPr>
          <a:xfrm>
            <a:off x="1252728" y="3026663"/>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Ícono award" descr="award-orange.png"/>
          <p:cNvPicPr>
            <a:picLocks noChangeAspect="1"/>
          </p:cNvPicPr>
          <p:nvPr/>
        </p:nvPicPr>
        <p:blipFill>
          <a:blip r:embed="rId3"/>
          <a:stretch>
            <a:fillRect/>
          </a:stretch>
        </p:blipFill>
        <p:spPr>
          <a:xfrm>
            <a:off x="1373429" y="3147364"/>
            <a:ext cx="307238" cy="307238"/>
          </a:xfrm>
          <a:prstGeom prst="rect">
            <a:avLst/>
          </a:prstGeom>
        </p:spPr>
      </p:pic>
      <p:sp>
        <p:nvSpPr>
          <p:cNvPr id="12" name="TextBox 11"/>
          <p:cNvSpPr txBox="1"/>
          <p:nvPr/>
        </p:nvSpPr>
        <p:spPr>
          <a:xfrm>
            <a:off x="1984248" y="3008375"/>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2024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Gemelo digital y datos artificiales en chancado y correas</a:t>
            </a:r>
          </a:p>
        </p:txBody>
      </p:sp>
      <p:sp>
        <p:nvSpPr>
          <p:cNvPr id="13" name="Charla 4"/>
          <p:cNvSpPr/>
          <p:nvPr/>
        </p:nvSpPr>
        <p:spPr>
          <a:xfrm>
            <a:off x="1252728" y="3648455"/>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cpu" descr="cpu-navy.png"/>
          <p:cNvPicPr>
            <a:picLocks noChangeAspect="1"/>
          </p:cNvPicPr>
          <p:nvPr/>
        </p:nvPicPr>
        <p:blipFill>
          <a:blip r:embed="rId4"/>
          <a:stretch>
            <a:fillRect/>
          </a:stretch>
        </p:blipFill>
        <p:spPr>
          <a:xfrm>
            <a:off x="1373429" y="3769156"/>
            <a:ext cx="307238" cy="307238"/>
          </a:xfrm>
          <a:prstGeom prst="rect">
            <a:avLst/>
          </a:prstGeom>
        </p:spPr>
      </p:pic>
      <p:sp>
        <p:nvSpPr>
          <p:cNvPr id="15" name="TextBox 14"/>
          <p:cNvSpPr txBox="1"/>
          <p:nvPr/>
        </p:nvSpPr>
        <p:spPr>
          <a:xfrm>
            <a:off x="1984248" y="3630167"/>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Minería Digital</a:t>
            </a:r>
          </a:p>
          <a:p>
            <a:pPr algn="l">
              <a:spcAft>
                <a:spcPts val="100"/>
              </a:spcAft>
            </a:pPr>
            <a:r>
              <a:rPr sz="1100" b="0" i="0">
                <a:solidFill>
                  <a:srgbClr val="A9B8C9"/>
                </a:solidFill>
                <a:effectLst>
                  <a:glow rad="63500">
                    <a:srgbClr val="001633">
                      <a:alpha val="85000"/>
                    </a:srgbClr>
                  </a:glow>
                </a:effectLst>
                <a:latin typeface="Montserrat"/>
              </a:rPr>
              <a:t>Control de producción en minería subterránea con edge computing</a:t>
            </a:r>
          </a:p>
        </p:txBody>
      </p:sp>
      <p:sp>
        <p:nvSpPr>
          <p:cNvPr id="16" name="Charla 5"/>
          <p:cNvSpPr/>
          <p:nvPr/>
        </p:nvSpPr>
        <p:spPr>
          <a:xfrm>
            <a:off x="1252728" y="4270247"/>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droplet" descr="droplet-navy.png"/>
          <p:cNvPicPr>
            <a:picLocks noChangeAspect="1"/>
          </p:cNvPicPr>
          <p:nvPr/>
        </p:nvPicPr>
        <p:blipFill>
          <a:blip r:embed="rId5"/>
          <a:stretch>
            <a:fillRect/>
          </a:stretch>
        </p:blipFill>
        <p:spPr>
          <a:xfrm>
            <a:off x="1373429" y="4390948"/>
            <a:ext cx="307238" cy="307238"/>
          </a:xfrm>
          <a:prstGeom prst="rect">
            <a:avLst/>
          </a:prstGeom>
        </p:spPr>
      </p:pic>
      <p:sp>
        <p:nvSpPr>
          <p:cNvPr id="18" name="TextBox 17"/>
          <p:cNvSpPr txBox="1"/>
          <p:nvPr/>
        </p:nvSpPr>
        <p:spPr>
          <a:xfrm>
            <a:off x="1984248" y="4251959"/>
            <a:ext cx="5394960" cy="603504"/>
          </a:xfrm>
          <a:prstGeom prst="rect">
            <a:avLst/>
          </a:prstGeom>
          <a:noFill/>
        </p:spPr>
        <p:txBody>
          <a:bodyPr wrap="square" lIns="0" tIns="0" rIns="0" bIns="0" anchor="ctr">
            <a:spAutoFit/>
          </a:bodyPr>
          <a:lstStyle/>
          <a:p>
            <a:pPr algn="l">
              <a:spcAft>
                <a:spcPts val="100"/>
              </a:spcAft>
            </a:pPr>
            <a:r>
              <a:rPr sz="1300" b="1" i="0">
                <a:solidFill>
                  <a:srgbClr val="FFAB40"/>
                </a:solidFill>
                <a:effectLst>
                  <a:glow rad="63500">
                    <a:srgbClr val="001633">
                      <a:alpha val="85000"/>
                    </a:srgbClr>
                  </a:glow>
                </a:effectLst>
                <a:latin typeface="Montserrat"/>
              </a:rPr>
              <a:t>2025 · </a:t>
            </a:r>
            <a:r>
              <a:rPr sz="1300" b="1" i="0">
                <a:solidFill>
                  <a:srgbClr val="FFFFFF"/>
                </a:solidFill>
                <a:effectLst>
                  <a:glow rad="63500">
                    <a:srgbClr val="001633">
                      <a:alpha val="85000"/>
                    </a:srgbClr>
                  </a:glow>
                </a:effectLst>
                <a:latin typeface="Montserrat"/>
              </a:rPr>
              <a:t>Procemin‑Geomet · Gecamin</a:t>
            </a:r>
          </a:p>
          <a:p>
            <a:pPr algn="l">
              <a:spcAft>
                <a:spcPts val="100"/>
              </a:spcAft>
            </a:pPr>
            <a:r>
              <a:rPr sz="1100" b="0" i="0">
                <a:solidFill>
                  <a:srgbClr val="A9B8C9"/>
                </a:solidFill>
                <a:effectLst>
                  <a:glow rad="63500">
                    <a:srgbClr val="001633">
                      <a:alpha val="85000"/>
                    </a:srgbClr>
                  </a:glow>
                </a:effectLst>
                <a:latin typeface="Montserrat"/>
              </a:rPr>
              <a:t>Intelligent Filtering: Digital Twins as a Tool for Future Mining</a:t>
            </a:r>
          </a:p>
        </p:txBody>
      </p:sp>
      <p:pic>
        <p:nvPicPr>
          <p:cNvPr id="19" name="Ícono tv" descr="tv-muted.png"/>
          <p:cNvPicPr>
            <a:picLocks noChangeAspect="1"/>
          </p:cNvPicPr>
          <p:nvPr/>
        </p:nvPicPr>
        <p:blipFill>
          <a:blip r:embed="rId6"/>
          <a:stretch>
            <a:fillRect/>
          </a:stretch>
        </p:blipFill>
        <p:spPr>
          <a:xfrm>
            <a:off x="7699248" y="1892807"/>
            <a:ext cx="256032" cy="256032"/>
          </a:xfrm>
          <a:prstGeom prst="rect">
            <a:avLst/>
          </a:prstGeom>
        </p:spPr>
      </p:pic>
      <p:sp>
        <p:nvSpPr>
          <p:cNvPr id="20" name="TextBox 19"/>
          <p:cNvSpPr txBox="1"/>
          <p:nvPr/>
        </p:nvSpPr>
        <p:spPr>
          <a:xfrm>
            <a:off x="8046720" y="1874519"/>
            <a:ext cx="3657600" cy="320040"/>
          </a:xfrm>
          <a:prstGeom prst="rect">
            <a:avLst/>
          </a:prstGeom>
          <a:noFill/>
        </p:spPr>
        <p:txBody>
          <a:bodyPr wrap="square" lIns="0" tIns="0" rIns="0" bIns="0" anchor="t">
            <a:spAutoFit/>
          </a:bodyPr>
          <a:lstStyle/>
          <a:p>
            <a:pPr algn="l">
              <a:spcAft>
                <a:spcPts val="600"/>
              </a:spcAft>
            </a:pPr>
            <a:r>
              <a:rPr sz="1300" b="1" i="0">
                <a:solidFill>
                  <a:srgbClr val="A9B8C9"/>
                </a:solidFill>
                <a:effectLst>
                  <a:glow rad="63500">
                    <a:srgbClr val="001633">
                      <a:alpha val="85000"/>
                    </a:srgbClr>
                  </a:glow>
                </a:effectLst>
                <a:latin typeface="Montserrat"/>
              </a:rPr>
              <a:t>En escenarios y medios</a:t>
            </a:r>
          </a:p>
        </p:txBody>
      </p:sp>
      <p:pic>
        <p:nvPicPr>
          <p:cNvPr id="21" name="Minería Digital 2024" descr="medio-mineria-digital-2024.png"/>
          <p:cNvPicPr>
            <a:picLocks noChangeAspect="1"/>
          </p:cNvPicPr>
          <p:nvPr/>
        </p:nvPicPr>
        <p:blipFill>
          <a:blip r:embed="rId7"/>
          <a:srcRect t="4915" b="4915"/>
          <a:stretch>
            <a:fillRect/>
          </a:stretch>
        </p:blipFill>
        <p:spPr>
          <a:xfrm>
            <a:off x="7699248" y="2285999"/>
            <a:ext cx="1691640" cy="1024128"/>
          </a:xfrm>
          <a:prstGeom prst="rect">
            <a:avLst/>
          </a:prstGeom>
          <a:ln>
            <a:solidFill>
              <a:srgbClr val="2A456B"/>
            </a:solidFill>
          </a:ln>
        </p:spPr>
      </p:pic>
      <p:sp>
        <p:nvSpPr>
          <p:cNvPr id="22" name="TextBox 21"/>
          <p:cNvSpPr txBox="1"/>
          <p:nvPr/>
        </p:nvSpPr>
        <p:spPr>
          <a:xfrm>
            <a:off x="7699248"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Minería Digital 2024</a:t>
            </a:r>
          </a:p>
        </p:txBody>
      </p:sp>
      <p:pic>
        <p:nvPicPr>
          <p:cNvPr id="23" name="Siemens Minerals Week" descr="medio-siemens-minerals-week.png"/>
          <p:cNvPicPr>
            <a:picLocks noChangeAspect="1"/>
          </p:cNvPicPr>
          <p:nvPr/>
        </p:nvPicPr>
        <p:blipFill>
          <a:blip r:embed="rId8"/>
          <a:srcRect l="8202" r="8202"/>
          <a:stretch>
            <a:fillRect/>
          </a:stretch>
        </p:blipFill>
        <p:spPr>
          <a:xfrm>
            <a:off x="9509760" y="2285999"/>
            <a:ext cx="1691640" cy="1024128"/>
          </a:xfrm>
          <a:prstGeom prst="rect">
            <a:avLst/>
          </a:prstGeom>
          <a:ln>
            <a:solidFill>
              <a:srgbClr val="2A456B"/>
            </a:solidFill>
          </a:ln>
        </p:spPr>
      </p:pic>
      <p:sp>
        <p:nvSpPr>
          <p:cNvPr id="24" name="TextBox 23"/>
          <p:cNvSpPr txBox="1"/>
          <p:nvPr/>
        </p:nvSpPr>
        <p:spPr>
          <a:xfrm>
            <a:off x="9509760" y="3355847"/>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Siemens Minerals Week</a:t>
            </a:r>
          </a:p>
        </p:txBody>
      </p:sp>
      <p:pic>
        <p:nvPicPr>
          <p:cNvPr id="25" name="Podcast América Minera" descr="medio-america-minera.png"/>
          <p:cNvPicPr>
            <a:picLocks noChangeAspect="1"/>
          </p:cNvPicPr>
          <p:nvPr/>
        </p:nvPicPr>
        <p:blipFill>
          <a:blip r:embed="rId9"/>
          <a:srcRect l="27635" r="27635"/>
          <a:stretch>
            <a:fillRect/>
          </a:stretch>
        </p:blipFill>
        <p:spPr>
          <a:xfrm>
            <a:off x="7699248" y="3858767"/>
            <a:ext cx="1691640" cy="1024128"/>
          </a:xfrm>
          <a:prstGeom prst="rect">
            <a:avLst/>
          </a:prstGeom>
          <a:ln>
            <a:solidFill>
              <a:srgbClr val="2A456B"/>
            </a:solidFill>
          </a:ln>
        </p:spPr>
      </p:pic>
      <p:sp>
        <p:nvSpPr>
          <p:cNvPr id="26" name="TextBox 25"/>
          <p:cNvSpPr txBox="1"/>
          <p:nvPr/>
        </p:nvSpPr>
        <p:spPr>
          <a:xfrm>
            <a:off x="7699248"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Podcast América Minera</a:t>
            </a:r>
          </a:p>
        </p:txBody>
      </p:sp>
      <p:pic>
        <p:nvPicPr>
          <p:cNvPr id="27" name="Circle Digital · Siemens" descr="medio-circle-digital.png"/>
          <p:cNvPicPr>
            <a:picLocks noChangeAspect="1"/>
          </p:cNvPicPr>
          <p:nvPr/>
        </p:nvPicPr>
        <p:blipFill>
          <a:blip r:embed="rId10"/>
          <a:srcRect t="19136" b="19136"/>
          <a:stretch>
            <a:fillRect/>
          </a:stretch>
        </p:blipFill>
        <p:spPr>
          <a:xfrm>
            <a:off x="9509760" y="3858767"/>
            <a:ext cx="1691640" cy="1024128"/>
          </a:xfrm>
          <a:prstGeom prst="rect">
            <a:avLst/>
          </a:prstGeom>
          <a:ln>
            <a:solidFill>
              <a:srgbClr val="2A456B"/>
            </a:solidFill>
          </a:ln>
        </p:spPr>
      </p:pic>
      <p:sp>
        <p:nvSpPr>
          <p:cNvPr id="28" name="TextBox 27"/>
          <p:cNvSpPr txBox="1"/>
          <p:nvPr/>
        </p:nvSpPr>
        <p:spPr>
          <a:xfrm>
            <a:off x="9509760" y="4928615"/>
            <a:ext cx="1691640" cy="320040"/>
          </a:xfrm>
          <a:prstGeom prst="rect">
            <a:avLst/>
          </a:prstGeom>
          <a:noFill/>
        </p:spPr>
        <p:txBody>
          <a:bodyPr wrap="square" lIns="0" tIns="0" rIns="0" bIns="0" anchor="t">
            <a:spAutoFit/>
          </a:bodyPr>
          <a:lstStyle/>
          <a:p>
            <a:pPr algn="l">
              <a:spcAft>
                <a:spcPts val="600"/>
              </a:spcAft>
            </a:pPr>
            <a:r>
              <a:rPr sz="1100" b="0" i="0">
                <a:solidFill>
                  <a:srgbClr val="A9B8C9"/>
                </a:solidFill>
                <a:effectLst>
                  <a:glow rad="63500">
                    <a:srgbClr val="001633">
                      <a:alpha val="85000"/>
                    </a:srgbClr>
                  </a:glow>
                </a:effectLst>
                <a:latin typeface="Montserrat"/>
              </a:rPr>
              <a:t>Circle Digital · Siemens</a:t>
            </a:r>
          </a:p>
        </p:txBody>
      </p:sp>
      <p:sp>
        <p:nvSpPr>
          <p:cNvPr id="29" name="Mensaje trayectoria"/>
          <p:cNvSpPr/>
          <p:nvPr/>
        </p:nvSpPr>
        <p:spPr>
          <a:xfrm>
            <a:off x="1252728" y="5029199"/>
            <a:ext cx="612648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layers" descr="layers-orange.png"/>
          <p:cNvPicPr>
            <a:picLocks noChangeAspect="1"/>
          </p:cNvPicPr>
          <p:nvPr/>
        </p:nvPicPr>
        <p:blipFill>
          <a:blip r:embed="rId11"/>
          <a:stretch>
            <a:fillRect/>
          </a:stretch>
        </p:blipFill>
        <p:spPr>
          <a:xfrm>
            <a:off x="1481328" y="5212079"/>
            <a:ext cx="329184" cy="329184"/>
          </a:xfrm>
          <a:prstGeom prst="rect">
            <a:avLst/>
          </a:prstGeom>
        </p:spPr>
      </p:pic>
      <p:sp>
        <p:nvSpPr>
          <p:cNvPr id="31" name="TextBox 30"/>
          <p:cNvSpPr txBox="1"/>
          <p:nvPr/>
        </p:nvSpPr>
        <p:spPr>
          <a:xfrm>
            <a:off x="1984248" y="5029199"/>
            <a:ext cx="5212080" cy="685800"/>
          </a:xfrm>
          <a:prstGeom prst="rect">
            <a:avLst/>
          </a:prstGeom>
          <a:noFill/>
        </p:spPr>
        <p:txBody>
          <a:bodyPr wrap="square" lIns="0" tIns="0" rIns="0" bIns="0" anchor="ctr">
            <a:spAutoFit/>
          </a:bodyPr>
          <a:lstStyle/>
          <a:p>
            <a:pPr algn="l">
              <a:spcAft>
                <a:spcPts val="600"/>
              </a:spcAft>
            </a:pPr>
            <a:r>
              <a:rPr sz="1600" b="0" i="0">
                <a:solidFill>
                  <a:srgbClr val="FFFFFF"/>
                </a:solidFill>
                <a:effectLst>
                  <a:glow rad="63500">
                    <a:srgbClr val="001633">
                      <a:alpha val="85000"/>
                    </a:srgbClr>
                  </a:glow>
                </a:effectLst>
                <a:latin typeface="Montserrat"/>
              </a:rPr>
              <a:t>Este curso reúne lo que hemos construido y presentado en la industria.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52728" y="502920"/>
            <a:ext cx="9692640" cy="1188720"/>
          </a:xfrm>
        </p:spPr>
        <p:txBody>
          <a:bodyPr wrap="square"/>
          <a:lstStyle/>
          <a:p>
            <a:r>
              <a:rPr sz="2600" b="1" i="0">
                <a:solidFill>
                  <a:srgbClr val="FFAB40"/>
                </a:solidFill>
                <a:effectLst>
                  <a:glow rad="63500">
                    <a:srgbClr val="001633">
                      <a:alpha val="85000"/>
                    </a:srgbClr>
                  </a:glow>
                </a:effectLst>
                <a:latin typeface="Montserrat"/>
              </a:rPr>
              <a:t>Mapa del curso</a:t>
            </a:r>
          </a:p>
          <a:p>
            <a:r>
              <a:rPr sz="2200" b="0" i="0">
                <a:solidFill>
                  <a:srgbClr val="FFFFFF"/>
                </a:solidFill>
                <a:effectLst>
                  <a:glow rad="63500">
                    <a:srgbClr val="001633">
                      <a:alpha val="85000"/>
                    </a:srgbClr>
                  </a:glow>
                </a:effectLst>
                <a:latin typeface="Montserrat"/>
              </a:rPr>
              <a:t>Cuatro capítulos, de lo general a lo particular</a:t>
            </a:r>
          </a:p>
        </p:txBody>
      </p:sp>
      <p:cxnSp>
        <p:nvCxnSpPr>
          <p:cNvPr id="3" name="General a particular"/>
          <p:cNvCxnSpPr/>
          <p:nvPr/>
        </p:nvCxnSpPr>
        <p:spPr>
          <a:xfrm>
            <a:off x="1252728" y="4050791"/>
            <a:ext cx="10012680"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8522208" y="4123943"/>
            <a:ext cx="2743200" cy="201168"/>
          </a:xfrm>
          <a:prstGeom prst="rect">
            <a:avLst/>
          </a:prstGeom>
          <a:noFill/>
        </p:spPr>
        <p:txBody>
          <a:bodyPr wrap="square" lIns="0" tIns="0" rIns="0" bIns="0" anchor="t">
            <a:spAutoFit/>
          </a:bodyPr>
          <a:lstStyle/>
          <a:p>
            <a:pPr algn="r">
              <a:spcAft>
                <a:spcPts val="600"/>
              </a:spcAft>
            </a:pPr>
            <a:r>
              <a:rPr sz="900" b="1" i="0">
                <a:solidFill>
                  <a:srgbClr val="A9B8C9"/>
                </a:solidFill>
                <a:effectLst>
                  <a:glow rad="63500">
                    <a:srgbClr val="001633">
                      <a:alpha val="85000"/>
                    </a:srgbClr>
                  </a:glow>
                </a:effectLst>
                <a:latin typeface="Montserrat"/>
              </a:rPr>
              <a:t>de lo general a lo particular</a:t>
            </a:r>
          </a:p>
        </p:txBody>
      </p:sp>
      <p:pic>
        <p:nvPicPr>
          <p:cNvPr id="5" name="Capítulo I imagen" descr="virtual-rajo-chuquicamata.png"/>
          <p:cNvPicPr>
            <a:picLocks noChangeAspect="1"/>
          </p:cNvPicPr>
          <p:nvPr/>
        </p:nvPicPr>
        <p:blipFill>
          <a:blip r:embed="rId3"/>
          <a:srcRect l="9356" r="9356"/>
          <a:stretch>
            <a:fillRect/>
          </a:stretch>
        </p:blipFill>
        <p:spPr>
          <a:xfrm>
            <a:off x="1252728" y="1783079"/>
            <a:ext cx="2274570" cy="1920240"/>
          </a:xfrm>
          <a:prstGeom prst="rect">
            <a:avLst/>
          </a:prstGeom>
        </p:spPr>
      </p:pic>
      <p:cxnSp>
        <p:nvCxnSpPr>
          <p:cNvPr id="6" name="Guía capítulo"/>
          <p:cNvCxnSpPr/>
          <p:nvPr/>
        </p:nvCxnSpPr>
        <p:spPr>
          <a:xfrm>
            <a:off x="239001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7" name="Hito I"/>
          <p:cNvSpPr/>
          <p:nvPr/>
        </p:nvSpPr>
        <p:spPr>
          <a:xfrm>
            <a:off x="230771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 </a:t>
            </a:r>
            <a:r>
              <a:rPr sz="1800" b="1" i="0">
                <a:solidFill>
                  <a:srgbClr val="FFFFFF"/>
                </a:solidFill>
                <a:effectLst>
                  <a:glow rad="63500">
                    <a:srgbClr val="001633">
                      <a:alpha val="85000"/>
                    </a:srgbClr>
                  </a:glow>
                </a:effectLst>
                <a:latin typeface="Montserrat"/>
              </a:rPr>
              <a:t>Fundamentos</a:t>
            </a:r>
          </a:p>
        </p:txBody>
      </p:sp>
      <p:sp>
        <p:nvSpPr>
          <p:cNvPr id="9" name="TextBox 8"/>
          <p:cNvSpPr txBox="1"/>
          <p:nvPr/>
        </p:nvSpPr>
        <p:spPr>
          <a:xfrm>
            <a:off x="125272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es un gemelo digital y cómo se clasifica?</a:t>
            </a:r>
          </a:p>
        </p:txBody>
      </p:sp>
      <p:cxnSp>
        <p:nvCxnSpPr>
          <p:cNvPr id="10" name="Raya capítulo"/>
          <p:cNvCxnSpPr/>
          <p:nvPr/>
        </p:nvCxnSpPr>
        <p:spPr>
          <a:xfrm>
            <a:off x="125272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25272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Definición, el cubo de IoT Analytics: niveles, fases y usos</a:t>
            </a:r>
          </a:p>
        </p:txBody>
      </p:sp>
      <p:pic>
        <p:nvPicPr>
          <p:cNvPr id="12" name="Capítulo II imagen" descr="sala-control-fundicion-mufulira.jpg"/>
          <p:cNvPicPr>
            <a:picLocks noChangeAspect="1"/>
          </p:cNvPicPr>
          <p:nvPr/>
        </p:nvPicPr>
        <p:blipFill>
          <a:blip r:embed="rId4">
            <a:duotone>
              <a:srgbClr val="001633"/>
              <a:srgbClr val="A9B8C9"/>
            </a:duotone>
          </a:blip>
          <a:srcRect l="10670" r="10670"/>
          <a:stretch>
            <a:fillRect/>
          </a:stretch>
        </p:blipFill>
        <p:spPr>
          <a:xfrm>
            <a:off x="3755898" y="1783079"/>
            <a:ext cx="2274570" cy="1920240"/>
          </a:xfrm>
          <a:prstGeom prst="rect">
            <a:avLst/>
          </a:prstGeom>
        </p:spPr>
      </p:pic>
      <p:cxnSp>
        <p:nvCxnSpPr>
          <p:cNvPr id="13" name="Guía capítulo"/>
          <p:cNvCxnSpPr/>
          <p:nvPr/>
        </p:nvCxnSpPr>
        <p:spPr>
          <a:xfrm>
            <a:off x="489318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Hito II"/>
          <p:cNvSpPr/>
          <p:nvPr/>
        </p:nvSpPr>
        <p:spPr>
          <a:xfrm>
            <a:off x="481088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75589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 </a:t>
            </a:r>
            <a:r>
              <a:rPr sz="1800" b="1" i="0">
                <a:solidFill>
                  <a:srgbClr val="FFFFFF"/>
                </a:solidFill>
                <a:effectLst>
                  <a:glow rad="63500">
                    <a:srgbClr val="001633">
                      <a:alpha val="85000"/>
                    </a:srgbClr>
                  </a:glow>
                </a:effectLst>
                <a:latin typeface="Montserrat"/>
              </a:rPr>
              <a:t>Industria</a:t>
            </a:r>
          </a:p>
        </p:txBody>
      </p:sp>
      <p:sp>
        <p:nvSpPr>
          <p:cNvPr id="16" name="TextBox 15"/>
          <p:cNvSpPr txBox="1"/>
          <p:nvPr/>
        </p:nvSpPr>
        <p:spPr>
          <a:xfrm>
            <a:off x="375589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¿Qué soluciones existen hoy en minería?</a:t>
            </a:r>
          </a:p>
        </p:txBody>
      </p:sp>
      <p:cxnSp>
        <p:nvCxnSpPr>
          <p:cNvPr id="17" name="Raya capítulo"/>
          <p:cNvCxnSpPr/>
          <p:nvPr/>
        </p:nvCxnSpPr>
        <p:spPr>
          <a:xfrm>
            <a:off x="375589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75589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cadena minera, seis procesos y el software del mercado</a:t>
            </a:r>
          </a:p>
        </p:txBody>
      </p:sp>
      <p:pic>
        <p:nvPicPr>
          <p:cNvPr id="19" name="Capítulo III imagen" descr="nivel1-plano-bomba.png"/>
          <p:cNvPicPr>
            <a:picLocks noChangeAspect="1"/>
          </p:cNvPicPr>
          <p:nvPr/>
        </p:nvPicPr>
        <p:blipFill>
          <a:blip r:embed="rId5"/>
          <a:srcRect l="11750" r="11750"/>
          <a:stretch>
            <a:fillRect/>
          </a:stretch>
        </p:blipFill>
        <p:spPr>
          <a:xfrm>
            <a:off x="6259068" y="1783079"/>
            <a:ext cx="2274570" cy="1920240"/>
          </a:xfrm>
          <a:prstGeom prst="rect">
            <a:avLst/>
          </a:prstGeom>
        </p:spPr>
      </p:pic>
      <p:cxnSp>
        <p:nvCxnSpPr>
          <p:cNvPr id="20" name="Guía capítulo"/>
          <p:cNvCxnSpPr/>
          <p:nvPr/>
        </p:nvCxnSpPr>
        <p:spPr>
          <a:xfrm>
            <a:off x="739635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1" name="Hito III"/>
          <p:cNvSpPr/>
          <p:nvPr/>
        </p:nvSpPr>
        <p:spPr>
          <a:xfrm>
            <a:off x="731405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25906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III </a:t>
            </a:r>
            <a:r>
              <a:rPr sz="1800" b="1" i="0">
                <a:solidFill>
                  <a:srgbClr val="FFFFFF"/>
                </a:solidFill>
                <a:effectLst>
                  <a:glow rad="63500">
                    <a:srgbClr val="001633">
                      <a:alpha val="85000"/>
                    </a:srgbClr>
                  </a:glow>
                </a:effectLst>
                <a:latin typeface="Montserrat"/>
              </a:rPr>
              <a:t>Construcción</a:t>
            </a:r>
          </a:p>
        </p:txBody>
      </p:sp>
      <p:sp>
        <p:nvSpPr>
          <p:cNvPr id="23" name="TextBox 22"/>
          <p:cNvSpPr txBox="1"/>
          <p:nvPr/>
        </p:nvSpPr>
        <p:spPr>
          <a:xfrm>
            <a:off x="625906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construye un gemelo y qué hay detrás del software?</a:t>
            </a:r>
          </a:p>
        </p:txBody>
      </p:sp>
      <p:cxnSp>
        <p:nvCxnSpPr>
          <p:cNvPr id="24" name="Raya capítulo"/>
          <p:cNvCxnSpPr/>
          <p:nvPr/>
        </p:nvCxnSpPr>
        <p:spPr>
          <a:xfrm>
            <a:off x="625906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5906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Modelamiento, integración multiproveedor, ejecución en edge y nube</a:t>
            </a:r>
          </a:p>
        </p:txBody>
      </p:sp>
      <p:pic>
        <p:nvPicPr>
          <p:cNvPr id="26" name="Capítulo IV imagen" descr="haer-filtro-discos-denver.jpg"/>
          <p:cNvPicPr>
            <a:picLocks noChangeAspect="1"/>
          </p:cNvPicPr>
          <p:nvPr/>
        </p:nvPicPr>
        <p:blipFill>
          <a:blip r:embed="rId6">
            <a:duotone>
              <a:srgbClr val="001633"/>
              <a:srgbClr val="A9B8C9"/>
            </a:duotone>
          </a:blip>
          <a:srcRect l="12493" t="5000" r="12493" b="5000"/>
          <a:stretch>
            <a:fillRect/>
          </a:stretch>
        </p:blipFill>
        <p:spPr>
          <a:xfrm>
            <a:off x="8762238" y="1783079"/>
            <a:ext cx="2274570" cy="1920240"/>
          </a:xfrm>
          <a:prstGeom prst="rect">
            <a:avLst/>
          </a:prstGeom>
        </p:spPr>
      </p:pic>
      <p:cxnSp>
        <p:nvCxnSpPr>
          <p:cNvPr id="27" name="Guía capítulo"/>
          <p:cNvCxnSpPr/>
          <p:nvPr/>
        </p:nvCxnSpPr>
        <p:spPr>
          <a:xfrm>
            <a:off x="9899523" y="3703319"/>
            <a:ext cx="0" cy="347472"/>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28" name="Hito IV"/>
          <p:cNvSpPr/>
          <p:nvPr/>
        </p:nvSpPr>
        <p:spPr>
          <a:xfrm>
            <a:off x="9817227" y="3968495"/>
            <a:ext cx="164592" cy="16459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8762238" y="4416551"/>
            <a:ext cx="2274570" cy="365760"/>
          </a:xfrm>
          <a:prstGeom prst="rect">
            <a:avLst/>
          </a:prstGeom>
          <a:noFill/>
        </p:spPr>
        <p:txBody>
          <a:bodyPr wrap="square" lIns="0" tIns="0" rIns="0" bIns="0" anchor="t">
            <a:spAutoFit/>
          </a:bodyPr>
          <a:lstStyle/>
          <a:p>
            <a:pPr algn="l">
              <a:spcAft>
                <a:spcPts val="600"/>
              </a:spcAft>
            </a:pPr>
            <a:r>
              <a:rPr sz="1800" b="1" i="0">
                <a:solidFill>
                  <a:srgbClr val="FFAB40"/>
                </a:solidFill>
                <a:effectLst>
                  <a:glow rad="63500">
                    <a:srgbClr val="001633">
                      <a:alpha val="85000"/>
                    </a:srgbClr>
                  </a:glow>
                </a:effectLst>
                <a:latin typeface="Montserrat"/>
              </a:rPr>
              <a:t>IV </a:t>
            </a:r>
            <a:r>
              <a:rPr sz="1800" b="1" i="0">
                <a:solidFill>
                  <a:srgbClr val="FFFFFF"/>
                </a:solidFill>
                <a:effectLst>
                  <a:glow rad="63500">
                    <a:srgbClr val="001633">
                      <a:alpha val="85000"/>
                    </a:srgbClr>
                  </a:glow>
                </a:effectLst>
                <a:latin typeface="Montserrat"/>
              </a:rPr>
              <a:t>Caso práctico</a:t>
            </a:r>
          </a:p>
        </p:txBody>
      </p:sp>
      <p:sp>
        <p:nvSpPr>
          <p:cNvPr id="30" name="TextBox 29"/>
          <p:cNvSpPr txBox="1"/>
          <p:nvPr/>
        </p:nvSpPr>
        <p:spPr>
          <a:xfrm>
            <a:off x="8762238" y="4828031"/>
            <a:ext cx="2274570" cy="548640"/>
          </a:xfrm>
          <a:prstGeom prst="rect">
            <a:avLst/>
          </a:prstGeom>
          <a:noFill/>
        </p:spPr>
        <p:txBody>
          <a:bodyPr wrap="square" lIns="0" tIns="0" rIns="0" bIns="0" anchor="t">
            <a:spAutoFit/>
          </a:bodyPr>
          <a:lstStyle/>
          <a:p>
            <a:pPr algn="l">
              <a:spcAft>
                <a:spcPts val="600"/>
              </a:spcAft>
            </a:pPr>
            <a:r>
              <a:rPr sz="1200" b="0" i="0">
                <a:solidFill>
                  <a:srgbClr val="A9B8C9"/>
                </a:solidFill>
                <a:effectLst>
                  <a:glow rad="63500">
                    <a:srgbClr val="001633">
                      <a:alpha val="85000"/>
                    </a:srgbClr>
                  </a:glow>
                </a:effectLst>
                <a:latin typeface="Montserrat"/>
              </a:rPr>
              <a:t>¿Cómo se ve todo el curso en un solo equipo?</a:t>
            </a:r>
          </a:p>
        </p:txBody>
      </p:sp>
      <p:cxnSp>
        <p:nvCxnSpPr>
          <p:cNvPr id="31" name="Raya capítulo"/>
          <p:cNvCxnSpPr/>
          <p:nvPr/>
        </p:nvCxnSpPr>
        <p:spPr>
          <a:xfrm>
            <a:off x="8762238" y="5468111"/>
            <a:ext cx="36576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8762238" y="5559551"/>
            <a:ext cx="227457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Todo el curso aplicado a un filtro hiperbárico, de la física a la demo en vivo</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capítulo III" descr="nivel1-plano-bomba.png"/>
          <p:cNvPicPr>
            <a:picLocks noChangeAspect="1"/>
          </p:cNvPicPr>
          <p:nvPr/>
        </p:nvPicPr>
        <p:blipFill>
          <a:blip r:embed="rId3"/>
          <a:srcRect l="21011" r="21011"/>
          <a:stretch>
            <a:fillRect/>
          </a:stretch>
        </p:blipFill>
        <p:spPr>
          <a:xfrm>
            <a:off x="6035040" y="0"/>
            <a:ext cx="6156655" cy="6858000"/>
          </a:xfrm>
          <a:prstGeom prst="rect">
            <a:avLst/>
          </a:prstGeom>
        </p:spPr>
      </p:pic>
      <p:sp>
        <p:nvSpPr>
          <p:cNvPr id="3" name="Fundido imagen"/>
          <p:cNvSpPr/>
          <p:nvPr/>
        </p:nvSpPr>
        <p:spPr>
          <a:xfrm>
            <a:off x="5989320" y="0"/>
            <a:ext cx="2926080" cy="6858000"/>
          </a:xfrm>
          <a:prstGeom prst="rect">
            <a:avLst/>
          </a:prstGeom>
          <a:gradFill rotWithShape="1">
            <a:gsLst>
              <a:gs pos="0">
                <a:srgbClr val="001633">
                  <a:alpha val="100000"/>
                </a:srgbClr>
              </a:gs>
              <a:gs pos="100000">
                <a:srgbClr val="001633">
                  <a:alpha val="0"/>
                </a:srgbClr>
              </a:gs>
            </a:gsLst>
            <a:lin ang="0" scaled="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Raya rótulo"/>
          <p:cNvSpPr/>
          <p:nvPr/>
        </p:nvSpPr>
        <p:spPr>
          <a:xfrm>
            <a:off x="1252728" y="12435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11430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CAPÍTULO III</a:t>
            </a:r>
          </a:p>
        </p:txBody>
      </p:sp>
      <p:sp>
        <p:nvSpPr>
          <p:cNvPr id="6" name="Nombre capítulo"/>
          <p:cNvSpPr txBox="1"/>
          <p:nvPr/>
        </p:nvSpPr>
        <p:spPr>
          <a:xfrm>
            <a:off x="1252728" y="1508760"/>
            <a:ext cx="5486400" cy="914400"/>
          </a:xfrm>
          <a:prstGeom prst="rect">
            <a:avLst/>
          </a:prstGeom>
          <a:noFill/>
        </p:spPr>
        <p:txBody>
          <a:bodyPr wrap="square" lIns="0" tIns="0" rIns="0" bIns="0" anchor="t">
            <a:spAutoFit/>
          </a:bodyPr>
          <a:lstStyle/>
          <a:p>
            <a:pPr algn="l">
              <a:spcAft>
                <a:spcPts val="600"/>
              </a:spcAft>
            </a:pPr>
            <a:r>
              <a:rPr sz="4400" b="1" i="0">
                <a:solidFill>
                  <a:srgbClr val="FFFFFF"/>
                </a:solidFill>
                <a:effectLst>
                  <a:glow rad="63500">
                    <a:srgbClr val="001633">
                      <a:alpha val="85000"/>
                    </a:srgbClr>
                  </a:glow>
                </a:effectLst>
                <a:latin typeface="Montserrat"/>
              </a:rPr>
              <a:t>Construcción</a:t>
            </a:r>
          </a:p>
        </p:txBody>
      </p:sp>
      <p:sp>
        <p:nvSpPr>
          <p:cNvPr id="7" name="Pregunta capítulo"/>
          <p:cNvSpPr txBox="1"/>
          <p:nvPr/>
        </p:nvSpPr>
        <p:spPr>
          <a:xfrm>
            <a:off x="1252728" y="2423160"/>
            <a:ext cx="5120640" cy="731520"/>
          </a:xfrm>
          <a:prstGeom prst="rect">
            <a:avLst/>
          </a:prstGeom>
          <a:noFill/>
        </p:spPr>
        <p:txBody>
          <a:bodyPr wrap="square" lIns="0" tIns="0" rIns="0" bIns="0" anchor="t">
            <a:spAutoFit/>
          </a:bodyPr>
          <a:lstStyle/>
          <a:p>
            <a:pPr algn="l">
              <a:spcAft>
                <a:spcPts val="600"/>
              </a:spcAft>
            </a:pPr>
            <a:r>
              <a:rPr sz="1800" b="0" i="0">
                <a:solidFill>
                  <a:srgbClr val="A9B8C9"/>
                </a:solidFill>
                <a:effectLst>
                  <a:glow rad="63500">
                    <a:srgbClr val="001633">
                      <a:alpha val="85000"/>
                    </a:srgbClr>
                  </a:glow>
                </a:effectLst>
                <a:latin typeface="Montserrat"/>
              </a:rPr>
              <a:t>¿Cómo se construye un gemelo y qué hay detrás del software?</a:t>
            </a:r>
          </a:p>
        </p:txBody>
      </p:sp>
      <p:cxnSp>
        <p:nvCxnSpPr>
          <p:cNvPr id="8" name="Raya temas"/>
          <p:cNvCxnSpPr/>
          <p:nvPr/>
        </p:nvCxnSpPr>
        <p:spPr>
          <a:xfrm>
            <a:off x="1252728" y="3337560"/>
            <a:ext cx="457200" cy="0"/>
          </a:xfrm>
          <a:prstGeom prst="line">
            <a:avLst/>
          </a:prstGeom>
          <a:ln w="25400">
            <a:solidFill>
              <a:srgbClr val="FFAB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52728" y="356616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01</a:t>
            </a:r>
          </a:p>
        </p:txBody>
      </p:sp>
      <p:sp>
        <p:nvSpPr>
          <p:cNvPr id="10" name="TextBox 9"/>
          <p:cNvSpPr txBox="1"/>
          <p:nvPr/>
        </p:nvSpPr>
        <p:spPr>
          <a:xfrm>
            <a:off x="1709928" y="356616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Enfoque del modelo</a:t>
            </a:r>
          </a:p>
        </p:txBody>
      </p:sp>
      <p:sp>
        <p:nvSpPr>
          <p:cNvPr id="11" name="TextBox 10"/>
          <p:cNvSpPr txBox="1"/>
          <p:nvPr/>
        </p:nvSpPr>
        <p:spPr>
          <a:xfrm>
            <a:off x="1252728" y="397764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02</a:t>
            </a:r>
          </a:p>
        </p:txBody>
      </p:sp>
      <p:sp>
        <p:nvSpPr>
          <p:cNvPr id="12" name="TextBox 11"/>
          <p:cNvSpPr txBox="1"/>
          <p:nvPr/>
        </p:nvSpPr>
        <p:spPr>
          <a:xfrm>
            <a:off x="1709928" y="397764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Herramienta y lenguaje</a:t>
            </a:r>
          </a:p>
        </p:txBody>
      </p:sp>
      <p:sp>
        <p:nvSpPr>
          <p:cNvPr id="13" name="TextBox 12"/>
          <p:cNvSpPr txBox="1"/>
          <p:nvPr/>
        </p:nvSpPr>
        <p:spPr>
          <a:xfrm>
            <a:off x="1252728" y="438912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03</a:t>
            </a:r>
          </a:p>
        </p:txBody>
      </p:sp>
      <p:sp>
        <p:nvSpPr>
          <p:cNvPr id="14" name="TextBox 13"/>
          <p:cNvSpPr txBox="1"/>
          <p:nvPr/>
        </p:nvSpPr>
        <p:spPr>
          <a:xfrm>
            <a:off x="1709928" y="438912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Solver y paso</a:t>
            </a:r>
          </a:p>
        </p:txBody>
      </p:sp>
      <p:sp>
        <p:nvSpPr>
          <p:cNvPr id="15" name="TextBox 14"/>
          <p:cNvSpPr txBox="1"/>
          <p:nvPr/>
        </p:nvSpPr>
        <p:spPr>
          <a:xfrm>
            <a:off x="1252728" y="480060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04</a:t>
            </a:r>
          </a:p>
        </p:txBody>
      </p:sp>
      <p:sp>
        <p:nvSpPr>
          <p:cNvPr id="16" name="TextBox 15"/>
          <p:cNvSpPr txBox="1"/>
          <p:nvPr/>
        </p:nvSpPr>
        <p:spPr>
          <a:xfrm>
            <a:off x="1709928" y="480060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Integración y datos</a:t>
            </a:r>
          </a:p>
        </p:txBody>
      </p:sp>
      <p:sp>
        <p:nvSpPr>
          <p:cNvPr id="17" name="TextBox 16"/>
          <p:cNvSpPr txBox="1"/>
          <p:nvPr/>
        </p:nvSpPr>
        <p:spPr>
          <a:xfrm>
            <a:off x="1252728" y="521208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05</a:t>
            </a:r>
          </a:p>
        </p:txBody>
      </p:sp>
      <p:sp>
        <p:nvSpPr>
          <p:cNvPr id="18" name="TextBox 17"/>
          <p:cNvSpPr txBox="1"/>
          <p:nvPr/>
        </p:nvSpPr>
        <p:spPr>
          <a:xfrm>
            <a:off x="1709928" y="521208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Dónde corre</a:t>
            </a:r>
          </a:p>
        </p:txBody>
      </p:sp>
      <p:sp>
        <p:nvSpPr>
          <p:cNvPr id="19" name="TextBox 18"/>
          <p:cNvSpPr txBox="1"/>
          <p:nvPr/>
        </p:nvSpPr>
        <p:spPr>
          <a:xfrm>
            <a:off x="1252728" y="5623560"/>
            <a:ext cx="411480" cy="365760"/>
          </a:xfrm>
          <a:prstGeom prst="rect">
            <a:avLst/>
          </a:prstGeom>
          <a:noFill/>
        </p:spPr>
        <p:txBody>
          <a:bodyPr wrap="square" lIns="0" tIns="0" rIns="0" bIns="0" anchor="t">
            <a:spAutoFit/>
          </a:bodyPr>
          <a:lstStyle/>
          <a:p>
            <a:pPr algn="l">
              <a:spcAft>
                <a:spcPts val="600"/>
              </a:spcAft>
            </a:pPr>
            <a:r>
              <a:rPr sz="1400" b="1" i="0">
                <a:solidFill>
                  <a:srgbClr val="FFAB40"/>
                </a:solidFill>
                <a:effectLst>
                  <a:glow rad="63500">
                    <a:srgbClr val="001633">
                      <a:alpha val="85000"/>
                    </a:srgbClr>
                  </a:glow>
                </a:effectLst>
                <a:latin typeface="Montserrat"/>
              </a:rPr>
              <a:t>06</a:t>
            </a:r>
          </a:p>
        </p:txBody>
      </p:sp>
      <p:sp>
        <p:nvSpPr>
          <p:cNvPr id="20" name="TextBox 19"/>
          <p:cNvSpPr txBox="1"/>
          <p:nvPr/>
        </p:nvSpPr>
        <p:spPr>
          <a:xfrm>
            <a:off x="1709928" y="5623560"/>
            <a:ext cx="4754880" cy="365760"/>
          </a:xfrm>
          <a:prstGeom prst="rect">
            <a:avLst/>
          </a:prstGeom>
          <a:noFill/>
        </p:spPr>
        <p:txBody>
          <a:bodyPr wrap="square" lIns="0" tIns="0" rIns="0" bIns="0" anchor="t">
            <a:spAutoFit/>
          </a:bodyPr>
          <a:lstStyle/>
          <a:p>
            <a:pPr algn="l">
              <a:spcAft>
                <a:spcPts val="600"/>
              </a:spcAft>
            </a:pPr>
            <a:r>
              <a:rPr sz="1400" b="0" i="0">
                <a:solidFill>
                  <a:srgbClr val="FFFFFF"/>
                </a:solidFill>
                <a:effectLst>
                  <a:glow rad="63500">
                    <a:srgbClr val="001633">
                      <a:alpha val="85000"/>
                    </a:srgbClr>
                  </a:glow>
                </a:effectLst>
                <a:latin typeface="Montserrat"/>
              </a:rPr>
              <a:t>Cómo se mantiene</a:t>
            </a:r>
          </a:p>
        </p:txBody>
      </p:sp>
      <p:sp>
        <p:nvSpPr>
          <p:cNvPr id="21" name="Avance I"/>
          <p:cNvSpPr txBox="1"/>
          <p:nvPr/>
        </p:nvSpPr>
        <p:spPr>
          <a:xfrm>
            <a:off x="1252728" y="5742432"/>
            <a:ext cx="13258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I · Fundamentos</a:t>
            </a:r>
          </a:p>
        </p:txBody>
      </p:sp>
      <p:sp>
        <p:nvSpPr>
          <p:cNvPr id="22" name="Avance I pista"/>
          <p:cNvSpPr/>
          <p:nvPr/>
        </p:nvSpPr>
        <p:spPr>
          <a:xfrm>
            <a:off x="1252728" y="5989320"/>
            <a:ext cx="1325880" cy="54864"/>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Avance II"/>
          <p:cNvSpPr txBox="1"/>
          <p:nvPr/>
        </p:nvSpPr>
        <p:spPr>
          <a:xfrm>
            <a:off x="2633472" y="5742432"/>
            <a:ext cx="13258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II · Industria</a:t>
            </a:r>
          </a:p>
        </p:txBody>
      </p:sp>
      <p:sp>
        <p:nvSpPr>
          <p:cNvPr id="24" name="Avance II pista"/>
          <p:cNvSpPr/>
          <p:nvPr/>
        </p:nvSpPr>
        <p:spPr>
          <a:xfrm>
            <a:off x="2633472" y="5989320"/>
            <a:ext cx="1325880" cy="54864"/>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Avance III"/>
          <p:cNvSpPr txBox="1"/>
          <p:nvPr/>
        </p:nvSpPr>
        <p:spPr>
          <a:xfrm>
            <a:off x="4014216" y="5742432"/>
            <a:ext cx="13258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III · Construcción</a:t>
            </a:r>
          </a:p>
        </p:txBody>
      </p:sp>
      <p:sp>
        <p:nvSpPr>
          <p:cNvPr id="26" name="Avance III pista"/>
          <p:cNvSpPr/>
          <p:nvPr/>
        </p:nvSpPr>
        <p:spPr>
          <a:xfrm>
            <a:off x="4014216" y="5989320"/>
            <a:ext cx="132588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Avance IV"/>
          <p:cNvSpPr txBox="1"/>
          <p:nvPr/>
        </p:nvSpPr>
        <p:spPr>
          <a:xfrm>
            <a:off x="5394960" y="5742432"/>
            <a:ext cx="13258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28" name="Avance IV pista"/>
          <p:cNvSpPr/>
          <p:nvPr/>
        </p:nvSpPr>
        <p:spPr>
          <a:xfrm>
            <a:off x="5394960" y="5989320"/>
            <a:ext cx="1325880" cy="54864"/>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Construir un gemelo es tomar seis decisiones técnicas, una tras otra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INTRODUCCIÓN</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capítulo recorre estas seis decisiones en orden. A la derecha, la capa del stack (capítulo II) donde vive cada una.</a:t>
            </a:r>
          </a:p>
        </p:txBody>
      </p:sp>
      <p:sp>
        <p:nvSpPr>
          <p:cNvPr id="7" name="Decisión Enfoque del modelo"/>
          <p:cNvSpPr/>
          <p:nvPr/>
        </p:nvSpPr>
        <p:spPr>
          <a:xfrm>
            <a:off x="1252728" y="2560320"/>
            <a:ext cx="667512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89888" y="2560320"/>
            <a:ext cx="365760" cy="475488"/>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1</a:t>
            </a:r>
          </a:p>
        </p:txBody>
      </p:sp>
      <p:sp>
        <p:nvSpPr>
          <p:cNvPr id="9" name="TextBox 8"/>
          <p:cNvSpPr txBox="1"/>
          <p:nvPr/>
        </p:nvSpPr>
        <p:spPr>
          <a:xfrm>
            <a:off x="1755648" y="2560320"/>
            <a:ext cx="2011680" cy="475488"/>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Enfoque del modelo</a:t>
            </a:r>
          </a:p>
        </p:txBody>
      </p:sp>
      <p:sp>
        <p:nvSpPr>
          <p:cNvPr id="10" name="TextBox 9"/>
          <p:cNvSpPr txBox="1"/>
          <p:nvPr/>
        </p:nvSpPr>
        <p:spPr>
          <a:xfrm>
            <a:off x="3767328" y="2560320"/>
            <a:ext cx="4023360" cy="475488"/>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¿física, datos o híbrido?</a:t>
            </a:r>
          </a:p>
        </p:txBody>
      </p:sp>
      <p:sp>
        <p:nvSpPr>
          <p:cNvPr id="11" name="Decisión Herramienta y lenguaje"/>
          <p:cNvSpPr/>
          <p:nvPr/>
        </p:nvSpPr>
        <p:spPr>
          <a:xfrm>
            <a:off x="1252728" y="3108960"/>
            <a:ext cx="667512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89888" y="3108960"/>
            <a:ext cx="365760" cy="475488"/>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2</a:t>
            </a:r>
          </a:p>
        </p:txBody>
      </p:sp>
      <p:sp>
        <p:nvSpPr>
          <p:cNvPr id="13" name="TextBox 12"/>
          <p:cNvSpPr txBox="1"/>
          <p:nvPr/>
        </p:nvSpPr>
        <p:spPr>
          <a:xfrm>
            <a:off x="1755648" y="3108960"/>
            <a:ext cx="2011680" cy="475488"/>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Herramienta y lenguaje</a:t>
            </a:r>
          </a:p>
        </p:txBody>
      </p:sp>
      <p:sp>
        <p:nvSpPr>
          <p:cNvPr id="14" name="TextBox 13"/>
          <p:cNvSpPr txBox="1"/>
          <p:nvPr/>
        </p:nvSpPr>
        <p:spPr>
          <a:xfrm>
            <a:off x="3767328" y="3108960"/>
            <a:ext cx="4023360" cy="475488"/>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¿Modelica, Simulink, Python o un simulador de proceso?</a:t>
            </a:r>
          </a:p>
        </p:txBody>
      </p:sp>
      <p:sp>
        <p:nvSpPr>
          <p:cNvPr id="15" name="Decisión Solver y paso"/>
          <p:cNvSpPr/>
          <p:nvPr/>
        </p:nvSpPr>
        <p:spPr>
          <a:xfrm>
            <a:off x="1252728" y="3657600"/>
            <a:ext cx="667512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389888" y="3657600"/>
            <a:ext cx="365760" cy="475488"/>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3</a:t>
            </a:r>
          </a:p>
        </p:txBody>
      </p:sp>
      <p:sp>
        <p:nvSpPr>
          <p:cNvPr id="17" name="TextBox 16"/>
          <p:cNvSpPr txBox="1"/>
          <p:nvPr/>
        </p:nvSpPr>
        <p:spPr>
          <a:xfrm>
            <a:off x="1755648" y="3657600"/>
            <a:ext cx="2011680" cy="475488"/>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Solver y paso</a:t>
            </a:r>
          </a:p>
        </p:txBody>
      </p:sp>
      <p:sp>
        <p:nvSpPr>
          <p:cNvPr id="18" name="TextBox 17"/>
          <p:cNvSpPr txBox="1"/>
          <p:nvPr/>
        </p:nvSpPr>
        <p:spPr>
          <a:xfrm>
            <a:off x="3767328" y="3657600"/>
            <a:ext cx="4023360" cy="475488"/>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¿cómo avanza el modelo en el tiempo y a qué velocidad?</a:t>
            </a:r>
          </a:p>
        </p:txBody>
      </p:sp>
      <p:sp>
        <p:nvSpPr>
          <p:cNvPr id="19" name="Decisión Integración y datos"/>
          <p:cNvSpPr/>
          <p:nvPr/>
        </p:nvSpPr>
        <p:spPr>
          <a:xfrm>
            <a:off x="1252728" y="4206240"/>
            <a:ext cx="667512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89888" y="4206240"/>
            <a:ext cx="365760" cy="475488"/>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4</a:t>
            </a:r>
          </a:p>
        </p:txBody>
      </p:sp>
      <p:sp>
        <p:nvSpPr>
          <p:cNvPr id="21" name="TextBox 20"/>
          <p:cNvSpPr txBox="1"/>
          <p:nvPr/>
        </p:nvSpPr>
        <p:spPr>
          <a:xfrm>
            <a:off x="1755648" y="4206240"/>
            <a:ext cx="2011680" cy="475488"/>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Integración y datos</a:t>
            </a:r>
          </a:p>
        </p:txBody>
      </p:sp>
      <p:sp>
        <p:nvSpPr>
          <p:cNvPr id="22" name="TextBox 21"/>
          <p:cNvSpPr txBox="1"/>
          <p:nvPr/>
        </p:nvSpPr>
        <p:spPr>
          <a:xfrm>
            <a:off x="3767328" y="4206240"/>
            <a:ext cx="4023360" cy="475488"/>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¿cómo conversan modelos y datos de distintos proveedores?</a:t>
            </a:r>
          </a:p>
        </p:txBody>
      </p:sp>
      <p:sp>
        <p:nvSpPr>
          <p:cNvPr id="23" name="Decisión Dónde corre"/>
          <p:cNvSpPr/>
          <p:nvPr/>
        </p:nvSpPr>
        <p:spPr>
          <a:xfrm>
            <a:off x="1252728" y="4754880"/>
            <a:ext cx="667512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389888" y="4754880"/>
            <a:ext cx="365760" cy="475488"/>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5</a:t>
            </a:r>
          </a:p>
        </p:txBody>
      </p:sp>
      <p:sp>
        <p:nvSpPr>
          <p:cNvPr id="25" name="TextBox 24"/>
          <p:cNvSpPr txBox="1"/>
          <p:nvPr/>
        </p:nvSpPr>
        <p:spPr>
          <a:xfrm>
            <a:off x="1755648" y="4754880"/>
            <a:ext cx="2011680" cy="475488"/>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Dónde corre</a:t>
            </a:r>
          </a:p>
        </p:txBody>
      </p:sp>
      <p:sp>
        <p:nvSpPr>
          <p:cNvPr id="26" name="TextBox 25"/>
          <p:cNvSpPr txBox="1"/>
          <p:nvPr/>
        </p:nvSpPr>
        <p:spPr>
          <a:xfrm>
            <a:off x="3767328" y="4754880"/>
            <a:ext cx="4023360" cy="475488"/>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¿en el equipo, en la faena o en la nube, y en qué hardware?</a:t>
            </a:r>
          </a:p>
        </p:txBody>
      </p:sp>
      <p:sp>
        <p:nvSpPr>
          <p:cNvPr id="27" name="Decisión Cómo se mantiene"/>
          <p:cNvSpPr/>
          <p:nvPr/>
        </p:nvSpPr>
        <p:spPr>
          <a:xfrm>
            <a:off x="1252728" y="5303520"/>
            <a:ext cx="667512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389888" y="5303520"/>
            <a:ext cx="365760" cy="475488"/>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6</a:t>
            </a:r>
          </a:p>
        </p:txBody>
      </p:sp>
      <p:sp>
        <p:nvSpPr>
          <p:cNvPr id="29" name="TextBox 28"/>
          <p:cNvSpPr txBox="1"/>
          <p:nvPr/>
        </p:nvSpPr>
        <p:spPr>
          <a:xfrm>
            <a:off x="1755648" y="5303520"/>
            <a:ext cx="2011680" cy="475488"/>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Cómo se mantiene</a:t>
            </a:r>
          </a:p>
        </p:txBody>
      </p:sp>
      <p:sp>
        <p:nvSpPr>
          <p:cNvPr id="30" name="TextBox 29"/>
          <p:cNvSpPr txBox="1"/>
          <p:nvPr/>
        </p:nvSpPr>
        <p:spPr>
          <a:xfrm>
            <a:off x="3767328" y="5303520"/>
            <a:ext cx="4023360" cy="475488"/>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¿quién lo recalibra, lo versiona y lo protege?</a:t>
            </a:r>
          </a:p>
        </p:txBody>
      </p:sp>
      <p:sp>
        <p:nvSpPr>
          <p:cNvPr id="31" name="TextBox 30"/>
          <p:cNvSpPr txBox="1"/>
          <p:nvPr/>
        </p:nvSpPr>
        <p:spPr>
          <a:xfrm>
            <a:off x="8293608" y="2331720"/>
            <a:ext cx="297180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DÓNDE VIVE CADA DECISIÓN</a:t>
            </a:r>
          </a:p>
        </p:txBody>
      </p:sp>
      <p:sp>
        <p:nvSpPr>
          <p:cNvPr id="32" name="Capa 5"/>
          <p:cNvSpPr/>
          <p:nvPr/>
        </p:nvSpPr>
        <p:spPr>
          <a:xfrm>
            <a:off x="8293608" y="2606040"/>
            <a:ext cx="2971800" cy="54864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403336" y="2606040"/>
            <a:ext cx="1634490" cy="54864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5 · Aplicaciones</a:t>
            </a:r>
          </a:p>
        </p:txBody>
      </p:sp>
      <p:sp>
        <p:nvSpPr>
          <p:cNvPr id="34" name="Decisión 6"/>
          <p:cNvSpPr/>
          <p:nvPr/>
        </p:nvSpPr>
        <p:spPr>
          <a:xfrm>
            <a:off x="10853928" y="275234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853928" y="275234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6</a:t>
            </a:r>
          </a:p>
        </p:txBody>
      </p:sp>
      <p:sp>
        <p:nvSpPr>
          <p:cNvPr id="36" name="Capa 4"/>
          <p:cNvSpPr/>
          <p:nvPr/>
        </p:nvSpPr>
        <p:spPr>
          <a:xfrm>
            <a:off x="8293608" y="3246120"/>
            <a:ext cx="2971800" cy="54864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403336" y="3246120"/>
            <a:ext cx="1634490" cy="54864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4 · Infraestructura</a:t>
            </a:r>
          </a:p>
        </p:txBody>
      </p:sp>
      <p:sp>
        <p:nvSpPr>
          <p:cNvPr id="38" name="Decisión 3"/>
          <p:cNvSpPr/>
          <p:nvPr/>
        </p:nvSpPr>
        <p:spPr>
          <a:xfrm>
            <a:off x="10552176" y="339242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10552176" y="339242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3</a:t>
            </a:r>
          </a:p>
        </p:txBody>
      </p:sp>
      <p:sp>
        <p:nvSpPr>
          <p:cNvPr id="40" name="Decisión 5"/>
          <p:cNvSpPr/>
          <p:nvPr/>
        </p:nvSpPr>
        <p:spPr>
          <a:xfrm>
            <a:off x="10853928" y="339242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0853928" y="339242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5</a:t>
            </a:r>
          </a:p>
        </p:txBody>
      </p:sp>
      <p:sp>
        <p:nvSpPr>
          <p:cNvPr id="42" name="Capa 3"/>
          <p:cNvSpPr/>
          <p:nvPr/>
        </p:nvSpPr>
        <p:spPr>
          <a:xfrm>
            <a:off x="8293608" y="3886200"/>
            <a:ext cx="2971800" cy="54864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8403336" y="3886200"/>
            <a:ext cx="1634490" cy="54864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3 · Modelamiento</a:t>
            </a:r>
          </a:p>
        </p:txBody>
      </p:sp>
      <p:sp>
        <p:nvSpPr>
          <p:cNvPr id="44" name="Decisión 1"/>
          <p:cNvSpPr/>
          <p:nvPr/>
        </p:nvSpPr>
        <p:spPr>
          <a:xfrm>
            <a:off x="9948672" y="403250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9948672" y="403250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1</a:t>
            </a:r>
          </a:p>
        </p:txBody>
      </p:sp>
      <p:sp>
        <p:nvSpPr>
          <p:cNvPr id="46" name="Decisión 2"/>
          <p:cNvSpPr/>
          <p:nvPr/>
        </p:nvSpPr>
        <p:spPr>
          <a:xfrm>
            <a:off x="10250424" y="403250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0250424" y="403250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2</a:t>
            </a:r>
          </a:p>
        </p:txBody>
      </p:sp>
      <p:sp>
        <p:nvSpPr>
          <p:cNvPr id="48" name="Decisión 3"/>
          <p:cNvSpPr/>
          <p:nvPr/>
        </p:nvSpPr>
        <p:spPr>
          <a:xfrm>
            <a:off x="10552176" y="403250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0552176" y="403250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3</a:t>
            </a:r>
          </a:p>
        </p:txBody>
      </p:sp>
      <p:sp>
        <p:nvSpPr>
          <p:cNvPr id="50" name="Decisión 6"/>
          <p:cNvSpPr/>
          <p:nvPr/>
        </p:nvSpPr>
        <p:spPr>
          <a:xfrm>
            <a:off x="10853928" y="403250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0853928" y="403250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6</a:t>
            </a:r>
          </a:p>
        </p:txBody>
      </p:sp>
      <p:sp>
        <p:nvSpPr>
          <p:cNvPr id="52" name="Capa 2"/>
          <p:cNvSpPr/>
          <p:nvPr/>
        </p:nvSpPr>
        <p:spPr>
          <a:xfrm>
            <a:off x="8293608" y="4526280"/>
            <a:ext cx="2971800" cy="54864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8403336" y="4526280"/>
            <a:ext cx="1634490" cy="54864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2 · Integración</a:t>
            </a:r>
          </a:p>
        </p:txBody>
      </p:sp>
      <p:sp>
        <p:nvSpPr>
          <p:cNvPr id="54" name="Decisión 4"/>
          <p:cNvSpPr/>
          <p:nvPr/>
        </p:nvSpPr>
        <p:spPr>
          <a:xfrm>
            <a:off x="10853928" y="467258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TextBox 54"/>
          <p:cNvSpPr txBox="1"/>
          <p:nvPr/>
        </p:nvSpPr>
        <p:spPr>
          <a:xfrm>
            <a:off x="10853928" y="467258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4</a:t>
            </a:r>
          </a:p>
        </p:txBody>
      </p:sp>
      <p:sp>
        <p:nvSpPr>
          <p:cNvPr id="56" name="Capa 1"/>
          <p:cNvSpPr/>
          <p:nvPr/>
        </p:nvSpPr>
        <p:spPr>
          <a:xfrm>
            <a:off x="8293608" y="5166360"/>
            <a:ext cx="2971800" cy="54864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8403336" y="5166360"/>
            <a:ext cx="1634490" cy="548640"/>
          </a:xfrm>
          <a:prstGeom prst="rect">
            <a:avLst/>
          </a:prstGeom>
          <a:noFill/>
        </p:spPr>
        <p:txBody>
          <a:bodyPr wrap="square" lIns="0" tIns="0" rIns="0" bIns="0" anchor="ctr">
            <a:spAutoFit/>
          </a:bodyPr>
          <a:lstStyle/>
          <a:p>
            <a:pPr algn="l">
              <a:spcAft>
                <a:spcPts val="600"/>
              </a:spcAft>
            </a:pPr>
            <a:r>
              <a:rPr sz="950" b="1" i="0">
                <a:solidFill>
                  <a:srgbClr val="FFFFFF"/>
                </a:solidFill>
                <a:effectLst>
                  <a:glow rad="63500">
                    <a:srgbClr val="001633">
                      <a:alpha val="85000"/>
                    </a:srgbClr>
                  </a:glow>
                </a:effectLst>
                <a:latin typeface="Montserrat"/>
              </a:rPr>
              <a:t>1 · Fuentes de datos</a:t>
            </a:r>
          </a:p>
        </p:txBody>
      </p:sp>
      <p:sp>
        <p:nvSpPr>
          <p:cNvPr id="58" name="Decisión 4"/>
          <p:cNvSpPr/>
          <p:nvPr/>
        </p:nvSpPr>
        <p:spPr>
          <a:xfrm>
            <a:off x="10853928" y="5312664"/>
            <a:ext cx="256032" cy="25603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10853928" y="5312664"/>
            <a:ext cx="256032" cy="256032"/>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4</a:t>
            </a:r>
          </a:p>
        </p:txBody>
      </p:sp>
      <p:sp>
        <p:nvSpPr>
          <p:cNvPr id="6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Decisiones: elaboración propia · capas: stack de cinco capas del capítulo II</a:t>
            </a:r>
          </a:p>
        </p:txBody>
      </p:sp>
      <p:sp>
        <p:nvSpPr>
          <p:cNvPr id="6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6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II actual"/>
          <p:cNvSpPr/>
          <p:nvPr/>
        </p:nvSpPr>
        <p:spPr>
          <a:xfrm>
            <a:off x="5001768" y="6510528"/>
            <a:ext cx="57518"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7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1/31 </a:t>
            </a:r>
            <a:r>
              <a:rPr sz="1000" b="0" i="0">
                <a:solidFill>
                  <a:srgbClr val="A9B8C9"/>
                </a:solidFill>
                <a:effectLst>
                  <a:glow rad="63500">
                    <a:srgbClr val="001633">
                      <a:alpha val="85000"/>
                    </a:srgbClr>
                  </a:glow>
                </a:effectLst>
                <a:latin typeface="Montserrat"/>
              </a:rPr>
              <a:t>· Gemelos Digitales para Minería 4.0 · 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Una demo corre una vez; un gemelo operativo corre siempre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INTRODUCCIÓN</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mayoría de los gemelos se quedan en demo. La diferencia no está en el modelo: está en todo lo que lo rodea, y eso es lo que deciden las seis decisiones.</a:t>
            </a:r>
          </a:p>
        </p:txBody>
      </p:sp>
      <p:sp>
        <p:nvSpPr>
          <p:cNvPr id="7" name="Encabezado Demo"/>
          <p:cNvSpPr/>
          <p:nvPr/>
        </p:nvSpPr>
        <p:spPr>
          <a:xfrm>
            <a:off x="3310128" y="2514600"/>
            <a:ext cx="3863340" cy="6858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Demo"/>
          <p:cNvSpPr/>
          <p:nvPr/>
        </p:nvSpPr>
        <p:spPr>
          <a:xfrm>
            <a:off x="3447288" y="2606040"/>
            <a:ext cx="502920" cy="502920"/>
          </a:xfrm>
          <a:prstGeom prst="ellipse">
            <a:avLst/>
          </a:prstGeom>
          <a:solidFill>
            <a:srgbClr val="12335E"/>
          </a:solidFill>
          <a:ln w="222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presentation" descr="presentation-orange.png"/>
          <p:cNvPicPr>
            <a:picLocks noChangeAspect="1"/>
          </p:cNvPicPr>
          <p:nvPr/>
        </p:nvPicPr>
        <p:blipFill>
          <a:blip r:embed="rId3"/>
          <a:stretch>
            <a:fillRect/>
          </a:stretch>
        </p:blipFill>
        <p:spPr>
          <a:xfrm>
            <a:off x="3557930" y="2716682"/>
            <a:ext cx="281635" cy="281635"/>
          </a:xfrm>
          <a:prstGeom prst="rect">
            <a:avLst/>
          </a:prstGeom>
        </p:spPr>
      </p:pic>
      <p:sp>
        <p:nvSpPr>
          <p:cNvPr id="10" name="TextBox 9"/>
          <p:cNvSpPr txBox="1"/>
          <p:nvPr/>
        </p:nvSpPr>
        <p:spPr>
          <a:xfrm>
            <a:off x="4087368" y="2514600"/>
            <a:ext cx="2994660" cy="68580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Demo</a:t>
            </a:r>
          </a:p>
          <a:p>
            <a:pPr algn="l">
              <a:spcAft>
                <a:spcPts val="0"/>
              </a:spcAft>
            </a:pPr>
            <a:r>
              <a:rPr sz="950" b="0" i="0">
                <a:solidFill>
                  <a:srgbClr val="A9B8C9"/>
                </a:solidFill>
                <a:effectLst>
                  <a:glow rad="63500">
                    <a:srgbClr val="001633">
                      <a:alpha val="85000"/>
                    </a:srgbClr>
                  </a:glow>
                </a:effectLst>
                <a:latin typeface="Montserrat"/>
              </a:rPr>
              <a:t>corre una vez, en una reunión</a:t>
            </a:r>
          </a:p>
        </p:txBody>
      </p:sp>
      <p:sp>
        <p:nvSpPr>
          <p:cNvPr id="11" name="Encabezado Gemelo operativo"/>
          <p:cNvSpPr/>
          <p:nvPr/>
        </p:nvSpPr>
        <p:spPr>
          <a:xfrm>
            <a:off x="7402068" y="2514600"/>
            <a:ext cx="3863340" cy="68580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Gemelo operativo"/>
          <p:cNvSpPr/>
          <p:nvPr/>
        </p:nvSpPr>
        <p:spPr>
          <a:xfrm>
            <a:off x="7539228" y="2606040"/>
            <a:ext cx="502920" cy="50292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Ícono refresh-cw" descr="refresh-cw-navy.png"/>
          <p:cNvPicPr>
            <a:picLocks noChangeAspect="1"/>
          </p:cNvPicPr>
          <p:nvPr/>
        </p:nvPicPr>
        <p:blipFill>
          <a:blip r:embed="rId4"/>
          <a:stretch>
            <a:fillRect/>
          </a:stretch>
        </p:blipFill>
        <p:spPr>
          <a:xfrm>
            <a:off x="7649870" y="2716682"/>
            <a:ext cx="281635" cy="281635"/>
          </a:xfrm>
          <a:prstGeom prst="rect">
            <a:avLst/>
          </a:prstGeom>
        </p:spPr>
      </p:pic>
      <p:sp>
        <p:nvSpPr>
          <p:cNvPr id="14" name="TextBox 13"/>
          <p:cNvSpPr txBox="1"/>
          <p:nvPr/>
        </p:nvSpPr>
        <p:spPr>
          <a:xfrm>
            <a:off x="8179308" y="2514600"/>
            <a:ext cx="2994660" cy="685800"/>
          </a:xfrm>
          <a:prstGeom prst="rect">
            <a:avLst/>
          </a:prstGeom>
          <a:noFill/>
        </p:spPr>
        <p:txBody>
          <a:bodyPr wrap="square" lIns="0" tIns="0" rIns="0" bIns="0" anchor="ctr">
            <a:spAutoFit/>
          </a:bodyPr>
          <a:lstStyle/>
          <a:p>
            <a:pPr algn="l">
              <a:spcAft>
                <a:spcPts val="0"/>
              </a:spcAft>
            </a:pPr>
            <a:r>
              <a:rPr sz="1400" b="1" i="0">
                <a:solidFill>
                  <a:srgbClr val="FFAB40"/>
                </a:solidFill>
                <a:effectLst>
                  <a:glow rad="63500">
                    <a:srgbClr val="001633">
                      <a:alpha val="85000"/>
                    </a:srgbClr>
                  </a:glow>
                </a:effectLst>
                <a:latin typeface="Montserrat"/>
              </a:rPr>
              <a:t>Gemelo operativo</a:t>
            </a:r>
          </a:p>
          <a:p>
            <a:pPr algn="l">
              <a:spcAft>
                <a:spcPts val="0"/>
              </a:spcAft>
            </a:pPr>
            <a:r>
              <a:rPr sz="950" b="0" i="0">
                <a:solidFill>
                  <a:srgbClr val="A9B8C9"/>
                </a:solidFill>
                <a:effectLst>
                  <a:glow rad="63500">
                    <a:srgbClr val="001633">
                      <a:alpha val="85000"/>
                    </a:srgbClr>
                  </a:glow>
                </a:effectLst>
                <a:latin typeface="Montserrat"/>
              </a:rPr>
              <a:t>corre 24/7 en la faena</a:t>
            </a:r>
          </a:p>
        </p:txBody>
      </p:sp>
      <p:sp>
        <p:nvSpPr>
          <p:cNvPr id="15" name="Fila Datos"/>
          <p:cNvSpPr/>
          <p:nvPr/>
        </p:nvSpPr>
        <p:spPr>
          <a:xfrm>
            <a:off x="1252728" y="3310128"/>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1389888" y="3310128"/>
            <a:ext cx="1645920" cy="347472"/>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Datos</a:t>
            </a:r>
          </a:p>
        </p:txBody>
      </p:sp>
      <p:sp>
        <p:nvSpPr>
          <p:cNvPr id="17" name="TextBox 16"/>
          <p:cNvSpPr txBox="1"/>
          <p:nvPr/>
        </p:nvSpPr>
        <p:spPr>
          <a:xfrm>
            <a:off x="3447288" y="3310128"/>
            <a:ext cx="3589020" cy="347472"/>
          </a:xfrm>
          <a:prstGeom prst="rect">
            <a:avLst/>
          </a:prstGeom>
          <a:noFill/>
        </p:spPr>
        <p:txBody>
          <a:bodyPr wrap="square" lIns="0" tIns="0" rIns="0" bIns="0" anchor="ctr">
            <a:spAutoFit/>
          </a:bodyPr>
          <a:lstStyle/>
          <a:p>
            <a:pPr algn="l">
              <a:spcAft>
                <a:spcPts val="600"/>
              </a:spcAft>
            </a:pPr>
            <a:r>
              <a:rPr sz="1000" b="0" i="0">
                <a:solidFill>
                  <a:srgbClr val="A9B8C9"/>
                </a:solidFill>
                <a:effectLst>
                  <a:glow rad="63500">
                    <a:srgbClr val="001633">
                      <a:alpha val="85000"/>
                    </a:srgbClr>
                  </a:glow>
                </a:effectLst>
                <a:latin typeface="Montserrat"/>
              </a:rPr>
              <a:t>limpios, de una planilla</a:t>
            </a:r>
          </a:p>
        </p:txBody>
      </p:sp>
      <p:cxnSp>
        <p:nvCxnSpPr>
          <p:cNvPr id="18" name="Paso"/>
          <p:cNvCxnSpPr/>
          <p:nvPr/>
        </p:nvCxnSpPr>
        <p:spPr>
          <a:xfrm>
            <a:off x="7200900" y="3483864"/>
            <a:ext cx="17373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539228" y="3310128"/>
            <a:ext cx="2674620" cy="347472"/>
          </a:xfrm>
          <a:prstGeom prst="rect">
            <a:avLst/>
          </a:prstGeom>
          <a:noFill/>
        </p:spPr>
        <p:txBody>
          <a:bodyPr wrap="square" lIns="0" tIns="0" rIns="0" bIns="0" anchor="ctr">
            <a:spAutoFit/>
          </a:bodyPr>
          <a:lstStyle/>
          <a:p>
            <a:pPr algn="l">
              <a:spcAft>
                <a:spcPts val="600"/>
              </a:spcAft>
            </a:pPr>
            <a:r>
              <a:rPr sz="1000" b="0" i="0">
                <a:solidFill>
                  <a:srgbClr val="FFFFFF"/>
                </a:solidFill>
                <a:effectLst>
                  <a:glow rad="63500">
                    <a:srgbClr val="001633">
                      <a:alpha val="85000"/>
                    </a:srgbClr>
                  </a:glow>
                </a:effectLst>
                <a:latin typeface="Montserrat"/>
              </a:rPr>
              <a:t>en línea, con huecos, ruido y desfases</a:t>
            </a:r>
          </a:p>
        </p:txBody>
      </p:sp>
      <p:sp>
        <p:nvSpPr>
          <p:cNvPr id="20" name="Decisión 4"/>
          <p:cNvSpPr/>
          <p:nvPr/>
        </p:nvSpPr>
        <p:spPr>
          <a:xfrm>
            <a:off x="10881360" y="3364992"/>
            <a:ext cx="237744" cy="23774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10881360" y="3364992"/>
            <a:ext cx="237744" cy="237744"/>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4</a:t>
            </a:r>
          </a:p>
        </p:txBody>
      </p:sp>
      <p:sp>
        <p:nvSpPr>
          <p:cNvPr id="22" name="Fila Integración"/>
          <p:cNvSpPr/>
          <p:nvPr/>
        </p:nvSpPr>
        <p:spPr>
          <a:xfrm>
            <a:off x="1252728" y="3712464"/>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89888" y="3712464"/>
            <a:ext cx="1645920" cy="347472"/>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Integración</a:t>
            </a:r>
          </a:p>
        </p:txBody>
      </p:sp>
      <p:sp>
        <p:nvSpPr>
          <p:cNvPr id="24" name="TextBox 23"/>
          <p:cNvSpPr txBox="1"/>
          <p:nvPr/>
        </p:nvSpPr>
        <p:spPr>
          <a:xfrm>
            <a:off x="3447288" y="3712464"/>
            <a:ext cx="3589020" cy="347472"/>
          </a:xfrm>
          <a:prstGeom prst="rect">
            <a:avLst/>
          </a:prstGeom>
          <a:noFill/>
        </p:spPr>
        <p:txBody>
          <a:bodyPr wrap="square" lIns="0" tIns="0" rIns="0" bIns="0" anchor="ctr">
            <a:spAutoFit/>
          </a:bodyPr>
          <a:lstStyle/>
          <a:p>
            <a:pPr algn="l">
              <a:spcAft>
                <a:spcPts val="600"/>
              </a:spcAft>
            </a:pPr>
            <a:r>
              <a:rPr sz="1000" b="0" i="0">
                <a:solidFill>
                  <a:srgbClr val="A9B8C9"/>
                </a:solidFill>
                <a:effectLst>
                  <a:glow rad="63500">
                    <a:srgbClr val="001633">
                      <a:alpha val="85000"/>
                    </a:srgbClr>
                  </a:glow>
                </a:effectLst>
                <a:latin typeface="Montserrat"/>
              </a:rPr>
              <a:t>aislado, se copia a mano</a:t>
            </a:r>
          </a:p>
        </p:txBody>
      </p:sp>
      <p:cxnSp>
        <p:nvCxnSpPr>
          <p:cNvPr id="25" name="Paso"/>
          <p:cNvCxnSpPr/>
          <p:nvPr/>
        </p:nvCxnSpPr>
        <p:spPr>
          <a:xfrm>
            <a:off x="7200900" y="3886200"/>
            <a:ext cx="17373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7539228" y="3712464"/>
            <a:ext cx="2674620" cy="347472"/>
          </a:xfrm>
          <a:prstGeom prst="rect">
            <a:avLst/>
          </a:prstGeom>
          <a:noFill/>
        </p:spPr>
        <p:txBody>
          <a:bodyPr wrap="square" lIns="0" tIns="0" rIns="0" bIns="0" anchor="ctr">
            <a:spAutoFit/>
          </a:bodyPr>
          <a:lstStyle/>
          <a:p>
            <a:pPr algn="l">
              <a:spcAft>
                <a:spcPts val="600"/>
              </a:spcAft>
            </a:pPr>
            <a:r>
              <a:rPr sz="1000" b="0" i="0">
                <a:solidFill>
                  <a:srgbClr val="FFFFFF"/>
                </a:solidFill>
                <a:effectLst>
                  <a:glow rad="63500">
                    <a:srgbClr val="001633">
                      <a:alpha val="85000"/>
                    </a:srgbClr>
                  </a:glow>
                </a:effectLst>
                <a:latin typeface="Montserrat"/>
              </a:rPr>
              <a:t>conectado a SCADA, historian y mantención</a:t>
            </a:r>
          </a:p>
        </p:txBody>
      </p:sp>
      <p:sp>
        <p:nvSpPr>
          <p:cNvPr id="27" name="Decisión 4"/>
          <p:cNvSpPr/>
          <p:nvPr/>
        </p:nvSpPr>
        <p:spPr>
          <a:xfrm>
            <a:off x="10881360" y="3767328"/>
            <a:ext cx="237744" cy="23774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0881360" y="3767328"/>
            <a:ext cx="237744" cy="237744"/>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4</a:t>
            </a:r>
          </a:p>
        </p:txBody>
      </p:sp>
      <p:sp>
        <p:nvSpPr>
          <p:cNvPr id="29" name="Fila Modelo"/>
          <p:cNvSpPr/>
          <p:nvPr/>
        </p:nvSpPr>
        <p:spPr>
          <a:xfrm>
            <a:off x="1252728" y="4114800"/>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389888" y="4114800"/>
            <a:ext cx="1645920" cy="347472"/>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Modelo</a:t>
            </a:r>
          </a:p>
        </p:txBody>
      </p:sp>
      <p:sp>
        <p:nvSpPr>
          <p:cNvPr id="31" name="TextBox 30"/>
          <p:cNvSpPr txBox="1"/>
          <p:nvPr/>
        </p:nvSpPr>
        <p:spPr>
          <a:xfrm>
            <a:off x="3447288" y="4114800"/>
            <a:ext cx="3589020" cy="347472"/>
          </a:xfrm>
          <a:prstGeom prst="rect">
            <a:avLst/>
          </a:prstGeom>
          <a:noFill/>
        </p:spPr>
        <p:txBody>
          <a:bodyPr wrap="square" lIns="0" tIns="0" rIns="0" bIns="0" anchor="ctr">
            <a:spAutoFit/>
          </a:bodyPr>
          <a:lstStyle/>
          <a:p>
            <a:pPr algn="l">
              <a:spcAft>
                <a:spcPts val="600"/>
              </a:spcAft>
            </a:pPr>
            <a:r>
              <a:rPr sz="1000" b="0" i="0">
                <a:solidFill>
                  <a:srgbClr val="A9B8C9"/>
                </a:solidFill>
                <a:effectLst>
                  <a:glow rad="63500">
                    <a:srgbClr val="001633">
                      <a:alpha val="85000"/>
                    </a:srgbClr>
                  </a:glow>
                </a:effectLst>
                <a:latin typeface="Montserrat"/>
              </a:rPr>
              <a:t>calibrado una vez</a:t>
            </a:r>
          </a:p>
        </p:txBody>
      </p:sp>
      <p:cxnSp>
        <p:nvCxnSpPr>
          <p:cNvPr id="32" name="Paso"/>
          <p:cNvCxnSpPr/>
          <p:nvPr/>
        </p:nvCxnSpPr>
        <p:spPr>
          <a:xfrm>
            <a:off x="7200900" y="4288536"/>
            <a:ext cx="17373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539228" y="4114800"/>
            <a:ext cx="2674620" cy="347472"/>
          </a:xfrm>
          <a:prstGeom prst="rect">
            <a:avLst/>
          </a:prstGeom>
          <a:noFill/>
        </p:spPr>
        <p:txBody>
          <a:bodyPr wrap="square" lIns="0" tIns="0" rIns="0" bIns="0" anchor="ctr">
            <a:spAutoFit/>
          </a:bodyPr>
          <a:lstStyle/>
          <a:p>
            <a:pPr algn="l">
              <a:spcAft>
                <a:spcPts val="600"/>
              </a:spcAft>
            </a:pPr>
            <a:r>
              <a:rPr sz="1000" b="0" i="0">
                <a:solidFill>
                  <a:srgbClr val="FFFFFF"/>
                </a:solidFill>
                <a:effectLst>
                  <a:glow rad="63500">
                    <a:srgbClr val="001633">
                      <a:alpha val="85000"/>
                    </a:srgbClr>
                  </a:glow>
                </a:effectLst>
                <a:latin typeface="Montserrat"/>
              </a:rPr>
              <a:t>se recalibra cuando la faena cambia</a:t>
            </a:r>
          </a:p>
        </p:txBody>
      </p:sp>
      <p:sp>
        <p:nvSpPr>
          <p:cNvPr id="34" name="Decisión 6"/>
          <p:cNvSpPr/>
          <p:nvPr/>
        </p:nvSpPr>
        <p:spPr>
          <a:xfrm>
            <a:off x="10881360" y="4169664"/>
            <a:ext cx="237744" cy="23774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0881360" y="4169664"/>
            <a:ext cx="237744" cy="237744"/>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6</a:t>
            </a:r>
          </a:p>
        </p:txBody>
      </p:sp>
      <p:sp>
        <p:nvSpPr>
          <p:cNvPr id="36" name="Fila Ejecución"/>
          <p:cNvSpPr/>
          <p:nvPr/>
        </p:nvSpPr>
        <p:spPr>
          <a:xfrm>
            <a:off x="1252728" y="4517136"/>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1389888" y="4517136"/>
            <a:ext cx="1645920" cy="347472"/>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Ejecución</a:t>
            </a:r>
          </a:p>
        </p:txBody>
      </p:sp>
      <p:sp>
        <p:nvSpPr>
          <p:cNvPr id="38" name="TextBox 37"/>
          <p:cNvSpPr txBox="1"/>
          <p:nvPr/>
        </p:nvSpPr>
        <p:spPr>
          <a:xfrm>
            <a:off x="3447288" y="4517136"/>
            <a:ext cx="3589020" cy="347472"/>
          </a:xfrm>
          <a:prstGeom prst="rect">
            <a:avLst/>
          </a:prstGeom>
          <a:noFill/>
        </p:spPr>
        <p:txBody>
          <a:bodyPr wrap="square" lIns="0" tIns="0" rIns="0" bIns="0" anchor="ctr">
            <a:spAutoFit/>
          </a:bodyPr>
          <a:lstStyle/>
          <a:p>
            <a:pPr algn="l">
              <a:spcAft>
                <a:spcPts val="600"/>
              </a:spcAft>
            </a:pPr>
            <a:r>
              <a:rPr sz="1000" b="0" i="0">
                <a:solidFill>
                  <a:srgbClr val="A9B8C9"/>
                </a:solidFill>
                <a:effectLst>
                  <a:glow rad="63500">
                    <a:srgbClr val="001633">
                      <a:alpha val="85000"/>
                    </a:srgbClr>
                  </a:glow>
                </a:effectLst>
                <a:latin typeface="Montserrat"/>
              </a:rPr>
              <a:t>en el computador de quien lo hizo</a:t>
            </a:r>
          </a:p>
        </p:txBody>
      </p:sp>
      <p:cxnSp>
        <p:nvCxnSpPr>
          <p:cNvPr id="39" name="Paso"/>
          <p:cNvCxnSpPr/>
          <p:nvPr/>
        </p:nvCxnSpPr>
        <p:spPr>
          <a:xfrm>
            <a:off x="7200900" y="4690872"/>
            <a:ext cx="17373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539228" y="4517136"/>
            <a:ext cx="2674620" cy="347472"/>
          </a:xfrm>
          <a:prstGeom prst="rect">
            <a:avLst/>
          </a:prstGeom>
          <a:noFill/>
        </p:spPr>
        <p:txBody>
          <a:bodyPr wrap="square" lIns="0" tIns="0" rIns="0" bIns="0" anchor="ctr">
            <a:spAutoFit/>
          </a:bodyPr>
          <a:lstStyle/>
          <a:p>
            <a:pPr algn="l">
              <a:spcAft>
                <a:spcPts val="600"/>
              </a:spcAft>
            </a:pPr>
            <a:r>
              <a:rPr sz="1000" b="0" i="0">
                <a:solidFill>
                  <a:srgbClr val="FFFFFF"/>
                </a:solidFill>
                <a:effectLst>
                  <a:glow rad="63500">
                    <a:srgbClr val="001633">
                      <a:alpha val="85000"/>
                    </a:srgbClr>
                  </a:glow>
                </a:effectLst>
                <a:latin typeface="Montserrat"/>
              </a:rPr>
              <a:t>en un servidor o en el edge, con respaldo</a:t>
            </a:r>
          </a:p>
        </p:txBody>
      </p:sp>
      <p:sp>
        <p:nvSpPr>
          <p:cNvPr id="41" name="Decisión 5"/>
          <p:cNvSpPr/>
          <p:nvPr/>
        </p:nvSpPr>
        <p:spPr>
          <a:xfrm>
            <a:off x="10881360" y="4572000"/>
            <a:ext cx="237744" cy="23774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10881360" y="4572000"/>
            <a:ext cx="237744" cy="237744"/>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5</a:t>
            </a:r>
          </a:p>
        </p:txBody>
      </p:sp>
      <p:sp>
        <p:nvSpPr>
          <p:cNvPr id="43" name="Fila Uso"/>
          <p:cNvSpPr/>
          <p:nvPr/>
        </p:nvSpPr>
        <p:spPr>
          <a:xfrm>
            <a:off x="1252728" y="4919472"/>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389888" y="4919472"/>
            <a:ext cx="1645920" cy="347472"/>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Uso</a:t>
            </a:r>
          </a:p>
        </p:txBody>
      </p:sp>
      <p:sp>
        <p:nvSpPr>
          <p:cNvPr id="45" name="TextBox 44"/>
          <p:cNvSpPr txBox="1"/>
          <p:nvPr/>
        </p:nvSpPr>
        <p:spPr>
          <a:xfrm>
            <a:off x="3447288" y="4919472"/>
            <a:ext cx="3589020" cy="347472"/>
          </a:xfrm>
          <a:prstGeom prst="rect">
            <a:avLst/>
          </a:prstGeom>
          <a:noFill/>
        </p:spPr>
        <p:txBody>
          <a:bodyPr wrap="square" lIns="0" tIns="0" rIns="0" bIns="0" anchor="ctr">
            <a:spAutoFit/>
          </a:bodyPr>
          <a:lstStyle/>
          <a:p>
            <a:pPr algn="l">
              <a:spcAft>
                <a:spcPts val="600"/>
              </a:spcAft>
            </a:pPr>
            <a:r>
              <a:rPr sz="1000" b="0" i="0">
                <a:solidFill>
                  <a:srgbClr val="A9B8C9"/>
                </a:solidFill>
                <a:effectLst>
                  <a:glow rad="63500">
                    <a:srgbClr val="001633">
                      <a:alpha val="85000"/>
                    </a:srgbClr>
                  </a:glow>
                </a:effectLst>
                <a:latin typeface="Montserrat"/>
              </a:rPr>
              <a:t>una presentación</a:t>
            </a:r>
          </a:p>
        </p:txBody>
      </p:sp>
      <p:cxnSp>
        <p:nvCxnSpPr>
          <p:cNvPr id="46" name="Paso"/>
          <p:cNvCxnSpPr/>
          <p:nvPr/>
        </p:nvCxnSpPr>
        <p:spPr>
          <a:xfrm>
            <a:off x="7200900" y="5093208"/>
            <a:ext cx="17373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7539228" y="4919472"/>
            <a:ext cx="2674620" cy="347472"/>
          </a:xfrm>
          <a:prstGeom prst="rect">
            <a:avLst/>
          </a:prstGeom>
          <a:noFill/>
        </p:spPr>
        <p:txBody>
          <a:bodyPr wrap="square" lIns="0" tIns="0" rIns="0" bIns="0" anchor="ctr">
            <a:spAutoFit/>
          </a:bodyPr>
          <a:lstStyle/>
          <a:p>
            <a:pPr algn="l">
              <a:spcAft>
                <a:spcPts val="600"/>
              </a:spcAft>
            </a:pPr>
            <a:r>
              <a:rPr sz="1000" b="0" i="0">
                <a:solidFill>
                  <a:srgbClr val="FFFFFF"/>
                </a:solidFill>
                <a:effectLst>
                  <a:glow rad="63500">
                    <a:srgbClr val="001633">
                      <a:alpha val="85000"/>
                    </a:srgbClr>
                  </a:glow>
                </a:effectLst>
                <a:latin typeface="Montserrat"/>
              </a:rPr>
              <a:t>una decisión diaria de la operación</a:t>
            </a:r>
          </a:p>
        </p:txBody>
      </p:sp>
      <p:sp>
        <p:nvSpPr>
          <p:cNvPr id="48" name="Decisión 1"/>
          <p:cNvSpPr/>
          <p:nvPr/>
        </p:nvSpPr>
        <p:spPr>
          <a:xfrm>
            <a:off x="10881360" y="4974336"/>
            <a:ext cx="237744" cy="23774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0881360" y="4974336"/>
            <a:ext cx="237744" cy="237744"/>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1</a:t>
            </a:r>
          </a:p>
        </p:txBody>
      </p:sp>
      <p:sp>
        <p:nvSpPr>
          <p:cNvPr id="50" name="Fila Dueño"/>
          <p:cNvSpPr/>
          <p:nvPr/>
        </p:nvSpPr>
        <p:spPr>
          <a:xfrm>
            <a:off x="1252728" y="5321808"/>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1389888" y="5321808"/>
            <a:ext cx="1645920" cy="347472"/>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Dueño</a:t>
            </a:r>
          </a:p>
        </p:txBody>
      </p:sp>
      <p:sp>
        <p:nvSpPr>
          <p:cNvPr id="52" name="TextBox 51"/>
          <p:cNvSpPr txBox="1"/>
          <p:nvPr/>
        </p:nvSpPr>
        <p:spPr>
          <a:xfrm>
            <a:off x="3447288" y="5321808"/>
            <a:ext cx="3589020" cy="347472"/>
          </a:xfrm>
          <a:prstGeom prst="rect">
            <a:avLst/>
          </a:prstGeom>
          <a:noFill/>
        </p:spPr>
        <p:txBody>
          <a:bodyPr wrap="square" lIns="0" tIns="0" rIns="0" bIns="0" anchor="ctr">
            <a:spAutoFit/>
          </a:bodyPr>
          <a:lstStyle/>
          <a:p>
            <a:pPr algn="l">
              <a:spcAft>
                <a:spcPts val="600"/>
              </a:spcAft>
            </a:pPr>
            <a:r>
              <a:rPr sz="1000" b="0" i="0">
                <a:solidFill>
                  <a:srgbClr val="A9B8C9"/>
                </a:solidFill>
                <a:effectLst>
                  <a:glow rad="63500">
                    <a:srgbClr val="001633">
                      <a:alpha val="85000"/>
                    </a:srgbClr>
                  </a:glow>
                </a:effectLst>
                <a:latin typeface="Montserrat"/>
              </a:rPr>
              <a:t>quien lo programó</a:t>
            </a:r>
          </a:p>
        </p:txBody>
      </p:sp>
      <p:cxnSp>
        <p:nvCxnSpPr>
          <p:cNvPr id="53" name="Paso"/>
          <p:cNvCxnSpPr/>
          <p:nvPr/>
        </p:nvCxnSpPr>
        <p:spPr>
          <a:xfrm>
            <a:off x="7200900" y="5495544"/>
            <a:ext cx="17373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539228" y="5321808"/>
            <a:ext cx="2674620" cy="347472"/>
          </a:xfrm>
          <a:prstGeom prst="rect">
            <a:avLst/>
          </a:prstGeom>
          <a:noFill/>
        </p:spPr>
        <p:txBody>
          <a:bodyPr wrap="square" lIns="0" tIns="0" rIns="0" bIns="0" anchor="ctr">
            <a:spAutoFit/>
          </a:bodyPr>
          <a:lstStyle/>
          <a:p>
            <a:pPr algn="l">
              <a:spcAft>
                <a:spcPts val="600"/>
              </a:spcAft>
            </a:pPr>
            <a:r>
              <a:rPr sz="1000" b="0" i="0">
                <a:solidFill>
                  <a:srgbClr val="FFFFFF"/>
                </a:solidFill>
                <a:effectLst>
                  <a:glow rad="63500">
                    <a:srgbClr val="001633">
                      <a:alpha val="85000"/>
                    </a:srgbClr>
                  </a:glow>
                </a:effectLst>
                <a:latin typeface="Montserrat"/>
              </a:rPr>
              <a:t>un responsable en la operación</a:t>
            </a:r>
          </a:p>
        </p:txBody>
      </p:sp>
      <p:sp>
        <p:nvSpPr>
          <p:cNvPr id="55" name="Decisión 6"/>
          <p:cNvSpPr/>
          <p:nvPr/>
        </p:nvSpPr>
        <p:spPr>
          <a:xfrm>
            <a:off x="10881360" y="5376672"/>
            <a:ext cx="237744" cy="23774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0881360" y="5376672"/>
            <a:ext cx="237744" cy="237744"/>
          </a:xfrm>
          <a:prstGeom prst="rect">
            <a:avLst/>
          </a:prstGeom>
          <a:noFill/>
        </p:spPr>
        <p:txBody>
          <a:bodyPr wrap="square" lIns="0" tIns="0" rIns="0" bIns="0" anchor="ctr">
            <a:spAutoFit/>
          </a:bodyPr>
          <a:lstStyle/>
          <a:p>
            <a:pPr algn="ctr">
              <a:spcAft>
                <a:spcPts val="600"/>
              </a:spcAft>
            </a:pPr>
            <a:r>
              <a:rPr sz="850" b="1" i="0">
                <a:solidFill>
                  <a:srgbClr val="001633"/>
                </a:solidFill>
                <a:latin typeface="Montserrat"/>
              </a:rPr>
              <a:t>6</a:t>
            </a:r>
          </a:p>
        </p:txBody>
      </p:sp>
      <p:sp>
        <p:nvSpPr>
          <p:cNvPr id="57" name="TextBox 56"/>
          <p:cNvSpPr txBox="1"/>
          <p:nvPr/>
        </p:nvSpPr>
        <p:spPr>
          <a:xfrm>
            <a:off x="9253728" y="5742432"/>
            <a:ext cx="2011680" cy="182880"/>
          </a:xfrm>
          <a:prstGeom prst="rect">
            <a:avLst/>
          </a:prstGeom>
          <a:noFill/>
        </p:spPr>
        <p:txBody>
          <a:bodyPr wrap="square" lIns="0" tIns="0" rIns="0" bIns="0" anchor="t">
            <a:spAutoFit/>
          </a:bodyPr>
          <a:lstStyle/>
          <a:p>
            <a:pPr algn="r">
              <a:spcAft>
                <a:spcPts val="600"/>
              </a:spcAft>
            </a:pPr>
            <a:r>
              <a:rPr sz="800" b="1" i="0">
                <a:solidFill>
                  <a:srgbClr val="FFAB40"/>
                </a:solidFill>
                <a:effectLst>
                  <a:glow rad="63500">
                    <a:srgbClr val="001633">
                      <a:alpha val="85000"/>
                    </a:srgbClr>
                  </a:glow>
                </a:effectLst>
                <a:latin typeface="Montserrat"/>
              </a:rPr>
              <a:t>● decisión que lo resuelve</a:t>
            </a:r>
          </a:p>
        </p:txBody>
      </p:sp>
      <p:sp>
        <p:nvSpPr>
          <p:cNvPr id="58"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Elaboración propia a partir de los desafíos del capítulo I (NASEM 2024)</a:t>
            </a:r>
          </a:p>
        </p:txBody>
      </p:sp>
      <p:sp>
        <p:nvSpPr>
          <p:cNvPr id="59"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0"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3"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66"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III actual"/>
          <p:cNvSpPr/>
          <p:nvPr/>
        </p:nvSpPr>
        <p:spPr>
          <a:xfrm>
            <a:off x="5001768" y="6510528"/>
            <a:ext cx="115037"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9"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2/31 </a:t>
            </a:r>
            <a:r>
              <a:rPr sz="1000" b="0" i="0">
                <a:solidFill>
                  <a:srgbClr val="A9B8C9"/>
                </a:solidFill>
                <a:effectLst>
                  <a:glow rad="63500">
                    <a:srgbClr val="001633">
                      <a:alpha val="85000"/>
                    </a:srgbClr>
                  </a:glow>
                </a:effectLst>
                <a:latin typeface="Montserrat"/>
              </a:rPr>
              <a:t>· Gemelos Digitales para Minería 4.0 · 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Todo modelo está en algún punto entre la física y los datos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1 · ENFOQUE DEL MODELO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En un extremo, el modelo se escribe con las leyes que ya conocemos; en el otro, se aprende de la historia. Entre ambos, el híbrido usa las dos fuentes.</a:t>
            </a:r>
          </a:p>
        </p:txBody>
      </p:sp>
      <p:cxnSp>
        <p:nvCxnSpPr>
          <p:cNvPr id="7" name="Espectro física-datos"/>
          <p:cNvCxnSpPr/>
          <p:nvPr/>
        </p:nvCxnSpPr>
        <p:spPr>
          <a:xfrm>
            <a:off x="1618488" y="3063240"/>
            <a:ext cx="9281160" cy="0"/>
          </a:xfrm>
          <a:prstGeom prst="line">
            <a:avLst/>
          </a:prstGeom>
          <a:ln w="38100">
            <a:solidFill>
              <a:srgbClr val="FFFFFF"/>
            </a:solidFill>
            <a:headEnd type="triangle"/>
            <a:tailEnd type="triangle" w="med" len="med"/>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344168" y="2496312"/>
            <a:ext cx="3200400" cy="274320"/>
          </a:xfrm>
          <a:prstGeom prst="rect">
            <a:avLst/>
          </a:prstGeom>
          <a:noFill/>
        </p:spPr>
        <p:txBody>
          <a:bodyPr wrap="square" lIns="0" tIns="0" rIns="0" bIns="0" anchor="t">
            <a:spAutoFit/>
          </a:bodyPr>
          <a:lstStyle/>
          <a:p>
            <a:pPr algn="l">
              <a:spcAft>
                <a:spcPts val="600"/>
              </a:spcAft>
            </a:pPr>
            <a:r>
              <a:rPr sz="900" b="1" i="0">
                <a:solidFill>
                  <a:srgbClr val="85D5E6"/>
                </a:solidFill>
                <a:effectLst>
                  <a:glow rad="63500">
                    <a:srgbClr val="001633">
                      <a:alpha val="85000"/>
                    </a:srgbClr>
                  </a:glow>
                </a:effectLst>
                <a:latin typeface="Montserrat"/>
              </a:rPr>
              <a:t>más conocimiento del proceso</a:t>
            </a:r>
          </a:p>
        </p:txBody>
      </p:sp>
      <p:sp>
        <p:nvSpPr>
          <p:cNvPr id="9" name="TextBox 8"/>
          <p:cNvSpPr txBox="1"/>
          <p:nvPr/>
        </p:nvSpPr>
        <p:spPr>
          <a:xfrm>
            <a:off x="7973568" y="2496312"/>
            <a:ext cx="3200400" cy="274320"/>
          </a:xfrm>
          <a:prstGeom prst="rect">
            <a:avLst/>
          </a:prstGeom>
          <a:noFill/>
        </p:spPr>
        <p:txBody>
          <a:bodyPr wrap="square" lIns="0" tIns="0" rIns="0" bIns="0" anchor="t">
            <a:spAutoFit/>
          </a:bodyPr>
          <a:lstStyle/>
          <a:p>
            <a:pPr algn="r">
              <a:spcAft>
                <a:spcPts val="600"/>
              </a:spcAft>
            </a:pPr>
            <a:r>
              <a:rPr sz="900" b="1" i="0">
                <a:solidFill>
                  <a:srgbClr val="B39DF0"/>
                </a:solidFill>
                <a:effectLst>
                  <a:glow rad="63500">
                    <a:srgbClr val="001633">
                      <a:alpha val="85000"/>
                    </a:srgbClr>
                  </a:glow>
                </a:effectLst>
                <a:latin typeface="Montserrat"/>
              </a:rPr>
              <a:t>más datos históricos</a:t>
            </a:r>
          </a:p>
        </p:txBody>
      </p:sp>
      <p:sp>
        <p:nvSpPr>
          <p:cNvPr id="10" name="Punto Física"/>
          <p:cNvSpPr/>
          <p:nvPr/>
        </p:nvSpPr>
        <p:spPr>
          <a:xfrm>
            <a:off x="1750618" y="2916936"/>
            <a:ext cx="292608" cy="292608"/>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11" name="Guía Física"/>
          <p:cNvCxnSpPr/>
          <p:nvPr/>
        </p:nvCxnSpPr>
        <p:spPr>
          <a:xfrm>
            <a:off x="1896922" y="3209544"/>
            <a:ext cx="933146" cy="219456"/>
          </a:xfrm>
          <a:prstGeom prst="line">
            <a:avLst/>
          </a:prstGeom>
          <a:ln w="12700">
            <a:solidFill>
              <a:srgbClr val="85D5E6"/>
            </a:solidFill>
          </a:ln>
        </p:spPr>
        <p:style>
          <a:lnRef idx="2">
            <a:schemeClr val="accent1"/>
          </a:lnRef>
          <a:fillRef idx="0">
            <a:schemeClr val="accent1"/>
          </a:fillRef>
          <a:effectRef idx="1">
            <a:schemeClr val="accent1"/>
          </a:effectRef>
          <a:fontRef idx="minor">
            <a:schemeClr val="tx1"/>
          </a:fontRef>
        </p:style>
      </p:cxnSp>
      <p:sp>
        <p:nvSpPr>
          <p:cNvPr id="12" name="Concepto Física"/>
          <p:cNvSpPr/>
          <p:nvPr/>
        </p:nvSpPr>
        <p:spPr>
          <a:xfrm>
            <a:off x="1252728" y="3429000"/>
            <a:ext cx="3154680" cy="1463040"/>
          </a:xfrm>
          <a:prstGeom prst="rect">
            <a:avLst/>
          </a:prstGeom>
          <a:solidFill>
            <a:srgbClr val="0B264A"/>
          </a:solid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Física"/>
          <p:cNvSpPr/>
          <p:nvPr/>
        </p:nvSpPr>
        <p:spPr>
          <a:xfrm>
            <a:off x="1389888" y="3547872"/>
            <a:ext cx="457200" cy="457200"/>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atom" descr="atom-white.png"/>
          <p:cNvPicPr>
            <a:picLocks noChangeAspect="1"/>
          </p:cNvPicPr>
          <p:nvPr/>
        </p:nvPicPr>
        <p:blipFill>
          <a:blip r:embed="rId3"/>
          <a:stretch>
            <a:fillRect/>
          </a:stretch>
        </p:blipFill>
        <p:spPr>
          <a:xfrm>
            <a:off x="1490472" y="3648456"/>
            <a:ext cx="256032" cy="256032"/>
          </a:xfrm>
          <a:prstGeom prst="rect">
            <a:avLst/>
          </a:prstGeom>
        </p:spPr>
      </p:pic>
      <p:sp>
        <p:nvSpPr>
          <p:cNvPr id="15" name="TextBox 14"/>
          <p:cNvSpPr txBox="1"/>
          <p:nvPr/>
        </p:nvSpPr>
        <p:spPr>
          <a:xfrm>
            <a:off x="1965960" y="3520440"/>
            <a:ext cx="2331720" cy="50292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Física</a:t>
            </a:r>
          </a:p>
          <a:p>
            <a:pPr algn="l">
              <a:spcAft>
                <a:spcPts val="0"/>
              </a:spcAft>
            </a:pPr>
            <a:r>
              <a:rPr sz="900" b="0" i="0">
                <a:solidFill>
                  <a:srgbClr val="A9B8C9"/>
                </a:solidFill>
                <a:effectLst>
                  <a:glow rad="63500">
                    <a:srgbClr val="001633">
                      <a:alpha val="85000"/>
                    </a:srgbClr>
                  </a:glow>
                </a:effectLst>
                <a:latin typeface="Montserrat"/>
              </a:rPr>
              <a:t>primeros principios</a:t>
            </a:r>
          </a:p>
        </p:txBody>
      </p:sp>
      <p:sp>
        <p:nvSpPr>
          <p:cNvPr id="16" name="TextBox 15"/>
          <p:cNvSpPr txBox="1"/>
          <p:nvPr/>
        </p:nvSpPr>
        <p:spPr>
          <a:xfrm>
            <a:off x="1417320" y="4087368"/>
            <a:ext cx="2880360" cy="411480"/>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Ecuaciones de balance y leyes conocidas. Sabe por qué pasan las cosas.</a:t>
            </a:r>
          </a:p>
        </p:txBody>
      </p:sp>
      <p:sp>
        <p:nvSpPr>
          <p:cNvPr id="17" name="TextBox 16"/>
          <p:cNvSpPr txBox="1"/>
          <p:nvPr/>
        </p:nvSpPr>
        <p:spPr>
          <a:xfrm>
            <a:off x="1417320" y="4498848"/>
            <a:ext cx="2880360" cy="384048"/>
          </a:xfrm>
          <a:prstGeom prst="rect">
            <a:avLst/>
          </a:prstGeom>
          <a:noFill/>
        </p:spPr>
        <p:txBody>
          <a:bodyPr wrap="square" lIns="0" tIns="0" rIns="0" bIns="0" anchor="t">
            <a:spAutoFit/>
          </a:bodyPr>
          <a:lstStyle/>
          <a:p>
            <a:pPr algn="l">
              <a:spcAft>
                <a:spcPts val="0"/>
              </a:spcAft>
            </a:pPr>
            <a:r>
              <a:rPr sz="950" b="1" i="0">
                <a:solidFill>
                  <a:srgbClr val="85D5E6"/>
                </a:solidFill>
                <a:effectLst>
                  <a:glow rad="63500">
                    <a:srgbClr val="001633">
                      <a:alpha val="85000"/>
                    </a:srgbClr>
                  </a:glow>
                </a:effectLst>
                <a:latin typeface="Montserrat"/>
              </a:rPr>
              <a:t>+ </a:t>
            </a:r>
            <a:r>
              <a:rPr sz="900" b="0" i="0">
                <a:solidFill>
                  <a:srgbClr val="A9B8C9"/>
                </a:solidFill>
                <a:effectLst>
                  <a:glow rad="63500">
                    <a:srgbClr val="001633">
                      <a:alpha val="85000"/>
                    </a:srgbClr>
                  </a:glow>
                </a:effectLst>
                <a:latin typeface="Montserrat"/>
              </a:rPr>
              <a:t>extrapola a condiciones nuevas</a:t>
            </a:r>
          </a:p>
          <a:p>
            <a:pPr algn="l">
              <a:spcAft>
                <a:spcPts val="0"/>
              </a:spcAft>
            </a:pPr>
            <a:r>
              <a:rPr sz="950" b="1" i="0">
                <a:solidFill>
                  <a:srgbClr val="FFAB40"/>
                </a:solidFill>
                <a:effectLst>
                  <a:glow rad="63500">
                    <a:srgbClr val="001633">
                      <a:alpha val="85000"/>
                    </a:srgbClr>
                  </a:glow>
                </a:effectLst>
                <a:latin typeface="Montserrat"/>
              </a:rPr>
              <a:t>– </a:t>
            </a:r>
            <a:r>
              <a:rPr sz="900" b="0" i="0">
                <a:solidFill>
                  <a:srgbClr val="A9B8C9"/>
                </a:solidFill>
                <a:effectLst>
                  <a:glow rad="63500">
                    <a:srgbClr val="001633">
                      <a:alpha val="85000"/>
                    </a:srgbClr>
                  </a:glow>
                </a:effectLst>
                <a:latin typeface="Montserrat"/>
              </a:rPr>
              <a:t>cuesta ingeniería y pide parámetros</a:t>
            </a:r>
          </a:p>
        </p:txBody>
      </p:sp>
      <p:cxnSp>
        <p:nvCxnSpPr>
          <p:cNvPr id="18" name="Raya ejemplo"/>
          <p:cNvCxnSpPr/>
          <p:nvPr/>
        </p:nvCxnSpPr>
        <p:spPr>
          <a:xfrm>
            <a:off x="1252728" y="5074920"/>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1252728" y="5138928"/>
            <a:ext cx="3154680" cy="54864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Ej. minero: </a:t>
            </a:r>
            <a:r>
              <a:rPr sz="950" b="0" i="0">
                <a:solidFill>
                  <a:srgbClr val="FFFFFF"/>
                </a:solidFill>
                <a:effectLst>
                  <a:glow rad="63500">
                    <a:srgbClr val="001633">
                      <a:alpha val="85000"/>
                    </a:srgbClr>
                  </a:glow>
                </a:effectLst>
                <a:latin typeface="Montserrat"/>
              </a:rPr>
              <a:t>Potencia de una correa overland a partir de la fricción, la pendiente y la carga.</a:t>
            </a:r>
          </a:p>
        </p:txBody>
      </p:sp>
      <p:sp>
        <p:nvSpPr>
          <p:cNvPr id="20" name="Punto Híbrido"/>
          <p:cNvSpPr/>
          <p:nvPr/>
        </p:nvSpPr>
        <p:spPr>
          <a:xfrm>
            <a:off x="6112764" y="2916936"/>
            <a:ext cx="292608" cy="29260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1" name="Guía Híbrido"/>
          <p:cNvCxnSpPr/>
          <p:nvPr/>
        </p:nvCxnSpPr>
        <p:spPr>
          <a:xfrm>
            <a:off x="6259068" y="3209544"/>
            <a:ext cx="0" cy="219456"/>
          </a:xfrm>
          <a:prstGeom prst="line">
            <a:avLst/>
          </a:prstGeom>
          <a:ln w="12700">
            <a:solidFill>
              <a:srgbClr val="FFAB40"/>
            </a:solidFill>
          </a:ln>
        </p:spPr>
        <p:style>
          <a:lnRef idx="2">
            <a:schemeClr val="accent1"/>
          </a:lnRef>
          <a:fillRef idx="0">
            <a:schemeClr val="accent1"/>
          </a:fillRef>
          <a:effectRef idx="1">
            <a:schemeClr val="accent1"/>
          </a:effectRef>
          <a:fontRef idx="minor">
            <a:schemeClr val="tx1"/>
          </a:fontRef>
        </p:style>
      </p:cxnSp>
      <p:sp>
        <p:nvSpPr>
          <p:cNvPr id="22" name="Concepto Híbrido"/>
          <p:cNvSpPr/>
          <p:nvPr/>
        </p:nvSpPr>
        <p:spPr>
          <a:xfrm>
            <a:off x="4681728" y="3429000"/>
            <a:ext cx="3154680" cy="146304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Híbrido"/>
          <p:cNvSpPr/>
          <p:nvPr/>
        </p:nvSpPr>
        <p:spPr>
          <a:xfrm>
            <a:off x="4818888" y="3547872"/>
            <a:ext cx="457200" cy="45720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Ícono git-merge" descr="git-merge-navy.png"/>
          <p:cNvPicPr>
            <a:picLocks noChangeAspect="1"/>
          </p:cNvPicPr>
          <p:nvPr/>
        </p:nvPicPr>
        <p:blipFill>
          <a:blip r:embed="rId4"/>
          <a:stretch>
            <a:fillRect/>
          </a:stretch>
        </p:blipFill>
        <p:spPr>
          <a:xfrm>
            <a:off x="4919472" y="3648456"/>
            <a:ext cx="256032" cy="256032"/>
          </a:xfrm>
          <a:prstGeom prst="rect">
            <a:avLst/>
          </a:prstGeom>
        </p:spPr>
      </p:pic>
      <p:sp>
        <p:nvSpPr>
          <p:cNvPr id="25" name="TextBox 24"/>
          <p:cNvSpPr txBox="1"/>
          <p:nvPr/>
        </p:nvSpPr>
        <p:spPr>
          <a:xfrm>
            <a:off x="5394960" y="3520440"/>
            <a:ext cx="2331720" cy="50292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Híbrido</a:t>
            </a:r>
          </a:p>
          <a:p>
            <a:pPr algn="l">
              <a:spcAft>
                <a:spcPts val="0"/>
              </a:spcAft>
            </a:pPr>
            <a:r>
              <a:rPr sz="900" b="0" i="0">
                <a:solidFill>
                  <a:srgbClr val="A9B8C9"/>
                </a:solidFill>
                <a:effectLst>
                  <a:glow rad="63500">
                    <a:srgbClr val="001633">
                      <a:alpha val="85000"/>
                    </a:srgbClr>
                  </a:glow>
                </a:effectLst>
                <a:latin typeface="Montserrat"/>
              </a:rPr>
              <a:t>grey-box</a:t>
            </a:r>
          </a:p>
        </p:txBody>
      </p:sp>
      <p:sp>
        <p:nvSpPr>
          <p:cNvPr id="26" name="TextBox 25"/>
          <p:cNvSpPr txBox="1"/>
          <p:nvPr/>
        </p:nvSpPr>
        <p:spPr>
          <a:xfrm>
            <a:off x="4846320" y="4087368"/>
            <a:ext cx="2880360" cy="411480"/>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La física da la estructura y los datos corrigen lo que la física no ve.</a:t>
            </a:r>
          </a:p>
        </p:txBody>
      </p:sp>
      <p:sp>
        <p:nvSpPr>
          <p:cNvPr id="27" name="TextBox 26"/>
          <p:cNvSpPr txBox="1"/>
          <p:nvPr/>
        </p:nvSpPr>
        <p:spPr>
          <a:xfrm>
            <a:off x="4846320" y="4498848"/>
            <a:ext cx="2880360" cy="384048"/>
          </a:xfrm>
          <a:prstGeom prst="rect">
            <a:avLst/>
          </a:prstGeom>
          <a:noFill/>
        </p:spPr>
        <p:txBody>
          <a:bodyPr wrap="square" lIns="0" tIns="0" rIns="0" bIns="0" anchor="t">
            <a:spAutoFit/>
          </a:bodyPr>
          <a:lstStyle/>
          <a:p>
            <a:pPr algn="l">
              <a:spcAft>
                <a:spcPts val="0"/>
              </a:spcAft>
            </a:pPr>
            <a:r>
              <a:rPr sz="950" b="1" i="0">
                <a:solidFill>
                  <a:srgbClr val="85D5E6"/>
                </a:solidFill>
                <a:effectLst>
                  <a:glow rad="63500">
                    <a:srgbClr val="001633">
                      <a:alpha val="85000"/>
                    </a:srgbClr>
                  </a:glow>
                </a:effectLst>
                <a:latin typeface="Montserrat"/>
              </a:rPr>
              <a:t>+ </a:t>
            </a:r>
            <a:r>
              <a:rPr sz="900" b="0" i="0">
                <a:solidFill>
                  <a:srgbClr val="A9B8C9"/>
                </a:solidFill>
                <a:effectLst>
                  <a:glow rad="63500">
                    <a:srgbClr val="001633">
                      <a:alpha val="85000"/>
                    </a:srgbClr>
                  </a:glow>
                </a:effectLst>
                <a:latin typeface="Montserrat"/>
              </a:rPr>
              <a:t>robusto y explicable</a:t>
            </a:r>
          </a:p>
          <a:p>
            <a:pPr algn="l">
              <a:spcAft>
                <a:spcPts val="0"/>
              </a:spcAft>
            </a:pPr>
            <a:r>
              <a:rPr sz="950" b="1" i="0">
                <a:solidFill>
                  <a:srgbClr val="FFAB40"/>
                </a:solidFill>
                <a:effectLst>
                  <a:glow rad="63500">
                    <a:srgbClr val="001633">
                      <a:alpha val="85000"/>
                    </a:srgbClr>
                  </a:glow>
                </a:effectLst>
                <a:latin typeface="Montserrat"/>
              </a:rPr>
              <a:t>– </a:t>
            </a:r>
            <a:r>
              <a:rPr sz="900" b="0" i="0">
                <a:solidFill>
                  <a:srgbClr val="A9B8C9"/>
                </a:solidFill>
                <a:effectLst>
                  <a:glow rad="63500">
                    <a:srgbClr val="001633">
                      <a:alpha val="85000"/>
                    </a:srgbClr>
                  </a:glow>
                </a:effectLst>
                <a:latin typeface="Montserrat"/>
              </a:rPr>
              <a:t>más complejo de construir y mantener</a:t>
            </a:r>
          </a:p>
        </p:txBody>
      </p:sp>
      <p:cxnSp>
        <p:nvCxnSpPr>
          <p:cNvPr id="28" name="Raya ejemplo"/>
          <p:cNvCxnSpPr/>
          <p:nvPr/>
        </p:nvCxnSpPr>
        <p:spPr>
          <a:xfrm>
            <a:off x="4681728" y="5074920"/>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681728" y="5138928"/>
            <a:ext cx="3154680" cy="54864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Ej. minero: </a:t>
            </a:r>
            <a:r>
              <a:rPr sz="950" b="0" i="0">
                <a:solidFill>
                  <a:srgbClr val="FFFFFF"/>
                </a:solidFill>
                <a:effectLst>
                  <a:glow rad="63500">
                    <a:srgbClr val="001633">
                      <a:alpha val="85000"/>
                    </a:srgbClr>
                  </a:glow>
                </a:effectLst>
                <a:latin typeface="Montserrat"/>
              </a:rPr>
              <a:t>Potencia del molino SAG: modelo físico más una corrección aprendida por la dureza del mineral.</a:t>
            </a:r>
          </a:p>
        </p:txBody>
      </p:sp>
      <p:sp>
        <p:nvSpPr>
          <p:cNvPr id="30" name="Punto Datos"/>
          <p:cNvSpPr/>
          <p:nvPr/>
        </p:nvSpPr>
        <p:spPr>
          <a:xfrm>
            <a:off x="10474909" y="2916936"/>
            <a:ext cx="292608" cy="292608"/>
          </a:xfrm>
          <a:prstGeom prst="ellipse">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1" name="Guía Datos"/>
          <p:cNvCxnSpPr/>
          <p:nvPr/>
        </p:nvCxnSpPr>
        <p:spPr>
          <a:xfrm flipH="1">
            <a:off x="9688068" y="3209544"/>
            <a:ext cx="933145" cy="219456"/>
          </a:xfrm>
          <a:prstGeom prst="line">
            <a:avLst/>
          </a:prstGeom>
          <a:ln w="12700">
            <a:solidFill>
              <a:srgbClr val="9B6BD6"/>
            </a:solidFill>
          </a:ln>
        </p:spPr>
        <p:style>
          <a:lnRef idx="2">
            <a:schemeClr val="accent1"/>
          </a:lnRef>
          <a:fillRef idx="0">
            <a:schemeClr val="accent1"/>
          </a:fillRef>
          <a:effectRef idx="1">
            <a:schemeClr val="accent1"/>
          </a:effectRef>
          <a:fontRef idx="minor">
            <a:schemeClr val="tx1"/>
          </a:fontRef>
        </p:style>
      </p:cxnSp>
      <p:sp>
        <p:nvSpPr>
          <p:cNvPr id="32" name="Concepto Datos"/>
          <p:cNvSpPr/>
          <p:nvPr/>
        </p:nvSpPr>
        <p:spPr>
          <a:xfrm>
            <a:off x="8110728" y="3429000"/>
            <a:ext cx="3154680" cy="1463040"/>
          </a:xfrm>
          <a:prstGeom prst="rect">
            <a:avLst/>
          </a:prstGeom>
          <a:solidFill>
            <a:srgbClr val="0B264A"/>
          </a:solidFill>
          <a:ln w="19050">
            <a:solidFill>
              <a:srgbClr val="9B6B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Datos"/>
          <p:cNvSpPr/>
          <p:nvPr/>
        </p:nvSpPr>
        <p:spPr>
          <a:xfrm>
            <a:off x="8247888" y="3547872"/>
            <a:ext cx="457200" cy="457200"/>
          </a:xfrm>
          <a:prstGeom prst="ellipse">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Ícono chart-no-axes-column" descr="chart-no-axes-column-white.png"/>
          <p:cNvPicPr>
            <a:picLocks noChangeAspect="1"/>
          </p:cNvPicPr>
          <p:nvPr/>
        </p:nvPicPr>
        <p:blipFill>
          <a:blip r:embed="rId5"/>
          <a:stretch>
            <a:fillRect/>
          </a:stretch>
        </p:blipFill>
        <p:spPr>
          <a:xfrm>
            <a:off x="8348472" y="3648456"/>
            <a:ext cx="256032" cy="256032"/>
          </a:xfrm>
          <a:prstGeom prst="rect">
            <a:avLst/>
          </a:prstGeom>
        </p:spPr>
      </p:pic>
      <p:sp>
        <p:nvSpPr>
          <p:cNvPr id="35" name="TextBox 34"/>
          <p:cNvSpPr txBox="1"/>
          <p:nvPr/>
        </p:nvSpPr>
        <p:spPr>
          <a:xfrm>
            <a:off x="8823960" y="3520440"/>
            <a:ext cx="2331720" cy="50292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Datos</a:t>
            </a:r>
          </a:p>
          <a:p>
            <a:pPr algn="l">
              <a:spcAft>
                <a:spcPts val="0"/>
              </a:spcAft>
            </a:pPr>
            <a:r>
              <a:rPr sz="900" b="0" i="0">
                <a:solidFill>
                  <a:srgbClr val="A9B8C9"/>
                </a:solidFill>
                <a:effectLst>
                  <a:glow rad="63500">
                    <a:srgbClr val="001633">
                      <a:alpha val="85000"/>
                    </a:srgbClr>
                  </a:glow>
                </a:effectLst>
                <a:latin typeface="Montserrat"/>
              </a:rPr>
              <a:t>aprendizaje automático</a:t>
            </a:r>
          </a:p>
        </p:txBody>
      </p:sp>
      <p:sp>
        <p:nvSpPr>
          <p:cNvPr id="36" name="TextBox 35"/>
          <p:cNvSpPr txBox="1"/>
          <p:nvPr/>
        </p:nvSpPr>
        <p:spPr>
          <a:xfrm>
            <a:off x="8275320" y="4087368"/>
            <a:ext cx="2880360" cy="411480"/>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Aprende el patrón de la historia sin conocer la física.</a:t>
            </a:r>
          </a:p>
        </p:txBody>
      </p:sp>
      <p:sp>
        <p:nvSpPr>
          <p:cNvPr id="37" name="TextBox 36"/>
          <p:cNvSpPr txBox="1"/>
          <p:nvPr/>
        </p:nvSpPr>
        <p:spPr>
          <a:xfrm>
            <a:off x="8275320" y="4498848"/>
            <a:ext cx="2880360" cy="384048"/>
          </a:xfrm>
          <a:prstGeom prst="rect">
            <a:avLst/>
          </a:prstGeom>
          <a:noFill/>
        </p:spPr>
        <p:txBody>
          <a:bodyPr wrap="square" lIns="0" tIns="0" rIns="0" bIns="0" anchor="t">
            <a:spAutoFit/>
          </a:bodyPr>
          <a:lstStyle/>
          <a:p>
            <a:pPr algn="l">
              <a:spcAft>
                <a:spcPts val="0"/>
              </a:spcAft>
            </a:pPr>
            <a:r>
              <a:rPr sz="950" b="1" i="0">
                <a:solidFill>
                  <a:srgbClr val="85D5E6"/>
                </a:solidFill>
                <a:effectLst>
                  <a:glow rad="63500">
                    <a:srgbClr val="001633">
                      <a:alpha val="85000"/>
                    </a:srgbClr>
                  </a:glow>
                </a:effectLst>
                <a:latin typeface="Montserrat"/>
              </a:rPr>
              <a:t>+ </a:t>
            </a:r>
            <a:r>
              <a:rPr sz="900" b="0" i="0">
                <a:solidFill>
                  <a:srgbClr val="A9B8C9"/>
                </a:solidFill>
                <a:effectLst>
                  <a:glow rad="63500">
                    <a:srgbClr val="001633">
                      <a:alpha val="85000"/>
                    </a:srgbClr>
                  </a:glow>
                </a:effectLst>
                <a:latin typeface="Montserrat"/>
              </a:rPr>
              <a:t>rápido si hay buena historia</a:t>
            </a:r>
          </a:p>
          <a:p>
            <a:pPr algn="l">
              <a:spcAft>
                <a:spcPts val="0"/>
              </a:spcAft>
            </a:pPr>
            <a:r>
              <a:rPr sz="950" b="1" i="0">
                <a:solidFill>
                  <a:srgbClr val="FFAB40"/>
                </a:solidFill>
                <a:effectLst>
                  <a:glow rad="63500">
                    <a:srgbClr val="001633">
                      <a:alpha val="85000"/>
                    </a:srgbClr>
                  </a:glow>
                </a:effectLst>
                <a:latin typeface="Montserrat"/>
              </a:rPr>
              <a:t>– </a:t>
            </a:r>
            <a:r>
              <a:rPr sz="900" b="0" i="0">
                <a:solidFill>
                  <a:srgbClr val="A9B8C9"/>
                </a:solidFill>
                <a:effectLst>
                  <a:glow rad="63500">
                    <a:srgbClr val="001633">
                      <a:alpha val="85000"/>
                    </a:srgbClr>
                  </a:glow>
                </a:effectLst>
                <a:latin typeface="Montserrat"/>
              </a:rPr>
              <a:t>no extrapola fuera de lo que vio</a:t>
            </a:r>
          </a:p>
        </p:txBody>
      </p:sp>
      <p:cxnSp>
        <p:nvCxnSpPr>
          <p:cNvPr id="38" name="Raya ejemplo"/>
          <p:cNvCxnSpPr/>
          <p:nvPr/>
        </p:nvCxnSpPr>
        <p:spPr>
          <a:xfrm>
            <a:off x="8110728" y="5074920"/>
            <a:ext cx="32004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110728" y="5138928"/>
            <a:ext cx="3154680" cy="54864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Ej. minero: </a:t>
            </a:r>
            <a:r>
              <a:rPr sz="950" b="0" i="0">
                <a:solidFill>
                  <a:srgbClr val="FFFFFF"/>
                </a:solidFill>
                <a:effectLst>
                  <a:glow rad="63500">
                    <a:srgbClr val="001633">
                      <a:alpha val="85000"/>
                    </a:srgbClr>
                  </a:glow>
                </a:effectLst>
                <a:latin typeface="Montserrat"/>
              </a:rPr>
              <a:t>Sensor virtual del P80 de molienda entrenado con datos del DCS y del laboratorio.</a:t>
            </a:r>
          </a:p>
        </p:txBody>
      </p:sp>
      <p:sp>
        <p:nvSpPr>
          <p:cNvPr id="4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Enfoques de modelamiento: elaboración propia · ejemplos ilustrativos</a:t>
            </a:r>
          </a:p>
        </p:txBody>
      </p:sp>
      <p:sp>
        <p:nvSpPr>
          <p:cNvPr id="4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4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I actual"/>
          <p:cNvSpPr/>
          <p:nvPr/>
        </p:nvSpPr>
        <p:spPr>
          <a:xfrm>
            <a:off x="5001768" y="6510528"/>
            <a:ext cx="172556"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3/31 </a:t>
            </a:r>
            <a:r>
              <a:rPr sz="1000" b="0" i="0">
                <a:solidFill>
                  <a:srgbClr val="A9B8C9"/>
                </a:solidFill>
                <a:effectLst>
                  <a:glow rad="63500">
                    <a:srgbClr val="001633">
                      <a:alpha val="85000"/>
                    </a:srgbClr>
                  </a:glow>
                </a:effectLst>
                <a:latin typeface="Montserrat"/>
              </a:rPr>
              <a:t>· Gemelos Digitales para Minería 4.0 · 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modelo físico escribe en ecuaciones lo que ya sabemos del equipo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1 · ENFOQUE DEL MODELO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Balances de masa, energía y fuerzas. Las ecuaciones son las mismas de los libros de ingeniería; el trabajo está en elegir cuáles y conseguir los parámetros.</a:t>
            </a:r>
          </a:p>
        </p:txBody>
      </p:sp>
      <p:sp>
        <p:nvSpPr>
          <p:cNvPr id="7" name="Ecuación"/>
          <p:cNvSpPr/>
          <p:nvPr/>
        </p:nvSpPr>
        <p:spPr>
          <a:xfrm>
            <a:off x="1252728" y="2560320"/>
            <a:ext cx="5120640" cy="1783080"/>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53896" y="2651760"/>
            <a:ext cx="4754880" cy="27432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EJEMPLO · CORREA OVERLAND: POTENCIA DE ACCIONAMIENTO</a:t>
            </a:r>
          </a:p>
        </p:txBody>
      </p:sp>
      <p:sp>
        <p:nvSpPr>
          <p:cNvPr id="9" name="TextBox 8"/>
          <p:cNvSpPr txBox="1"/>
          <p:nvPr/>
        </p:nvSpPr>
        <p:spPr>
          <a:xfrm>
            <a:off x="1453896" y="2944368"/>
            <a:ext cx="4754880" cy="777240"/>
          </a:xfrm>
          <a:prstGeom prst="rect">
            <a:avLst/>
          </a:prstGeom>
          <a:noFill/>
        </p:spPr>
        <p:txBody>
          <a:bodyPr wrap="square" lIns="0" tIns="0" rIns="0" bIns="0" anchor="t">
            <a:spAutoFit/>
          </a:bodyPr>
          <a:lstStyle/>
          <a:p>
            <a:pPr algn="l">
              <a:spcAft>
                <a:spcPts val="200"/>
              </a:spcAft>
            </a:pPr>
            <a:r>
              <a:rPr sz="1400" b="1" i="0">
                <a:solidFill>
                  <a:srgbClr val="FFFFFF"/>
                </a:solidFill>
                <a:effectLst>
                  <a:glow rad="63500">
                    <a:srgbClr val="001633">
                      <a:alpha val="85000"/>
                    </a:srgbClr>
                  </a:glow>
                </a:effectLst>
                <a:latin typeface="Montserrat"/>
              </a:rPr>
              <a:t>F = f · L · g · (m_correa + m_carga) + H · g · m_carga</a:t>
            </a:r>
          </a:p>
          <a:p>
            <a:pPr algn="l">
              <a:spcAft>
                <a:spcPts val="200"/>
              </a:spcAft>
            </a:pPr>
            <a:r>
              <a:rPr sz="1400" b="1" i="0">
                <a:solidFill>
                  <a:srgbClr val="FFFFFF"/>
                </a:solidFill>
                <a:effectLst>
                  <a:glow rad="63500">
                    <a:srgbClr val="001633">
                      <a:alpha val="85000"/>
                    </a:srgbClr>
                  </a:glow>
                </a:effectLst>
                <a:latin typeface="Montserrat"/>
              </a:rPr>
              <a:t>P = F · v / η</a:t>
            </a:r>
          </a:p>
        </p:txBody>
      </p:sp>
      <p:sp>
        <p:nvSpPr>
          <p:cNvPr id="10" name="TextBox 9"/>
          <p:cNvSpPr txBox="1"/>
          <p:nvPr/>
        </p:nvSpPr>
        <p:spPr>
          <a:xfrm>
            <a:off x="1453896" y="3749040"/>
            <a:ext cx="4754880" cy="548640"/>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La fuerza vence la fricción a lo largo de la correa y levanta la carga; la potencia es esa fuerza por la velocidad, dividida por la eficiencia.</a:t>
            </a:r>
          </a:p>
        </p:txBody>
      </p:sp>
      <p:sp>
        <p:nvSpPr>
          <p:cNvPr id="11" name="TextBox 10"/>
          <p:cNvSpPr txBox="1"/>
          <p:nvPr/>
        </p:nvSpPr>
        <p:spPr>
          <a:xfrm>
            <a:off x="1252728" y="4462272"/>
            <a:ext cx="512064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DE DÓNDE SALEN LOS PARÁMETROS</a:t>
            </a:r>
          </a:p>
        </p:txBody>
      </p:sp>
      <p:sp>
        <p:nvSpPr>
          <p:cNvPr id="12" name="TextBox 11"/>
          <p:cNvSpPr txBox="1"/>
          <p:nvPr/>
        </p:nvSpPr>
        <p:spPr>
          <a:xfrm>
            <a:off x="1252728" y="4681728"/>
            <a:ext cx="594360" cy="256032"/>
          </a:xfrm>
          <a:prstGeom prst="rect">
            <a:avLst/>
          </a:prstGeom>
          <a:noFill/>
        </p:spPr>
        <p:txBody>
          <a:bodyPr wrap="square" lIns="0" tIns="0" rIns="0" bIns="0" anchor="ctr">
            <a:spAutoFit/>
          </a:bodyPr>
          <a:lstStyle/>
          <a:p>
            <a:pPr algn="l">
              <a:spcAft>
                <a:spcPts val="600"/>
              </a:spcAft>
            </a:pPr>
            <a:r>
              <a:rPr sz="1000" b="1" i="0">
                <a:solidFill>
                  <a:srgbClr val="85D5E6"/>
                </a:solidFill>
                <a:effectLst>
                  <a:glow rad="63500">
                    <a:srgbClr val="001633">
                      <a:alpha val="85000"/>
                    </a:srgbClr>
                  </a:glow>
                </a:effectLst>
                <a:latin typeface="Montserrat"/>
              </a:rPr>
              <a:t>f</a:t>
            </a:r>
          </a:p>
        </p:txBody>
      </p:sp>
      <p:sp>
        <p:nvSpPr>
          <p:cNvPr id="13" name="TextBox 12"/>
          <p:cNvSpPr txBox="1"/>
          <p:nvPr/>
        </p:nvSpPr>
        <p:spPr>
          <a:xfrm>
            <a:off x="1892808" y="4681728"/>
            <a:ext cx="22860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fricción de polines</a:t>
            </a:r>
          </a:p>
        </p:txBody>
      </p:sp>
      <p:sp>
        <p:nvSpPr>
          <p:cNvPr id="14" name="TextBox 13"/>
          <p:cNvSpPr txBox="1"/>
          <p:nvPr/>
        </p:nvSpPr>
        <p:spPr>
          <a:xfrm>
            <a:off x="4178808" y="4681728"/>
            <a:ext cx="219456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se calibra con datos</a:t>
            </a:r>
          </a:p>
        </p:txBody>
      </p:sp>
      <p:sp>
        <p:nvSpPr>
          <p:cNvPr id="15" name="TextBox 14"/>
          <p:cNvSpPr txBox="1"/>
          <p:nvPr/>
        </p:nvSpPr>
        <p:spPr>
          <a:xfrm>
            <a:off x="1252728" y="4946904"/>
            <a:ext cx="594360" cy="256032"/>
          </a:xfrm>
          <a:prstGeom prst="rect">
            <a:avLst/>
          </a:prstGeom>
          <a:noFill/>
        </p:spPr>
        <p:txBody>
          <a:bodyPr wrap="square" lIns="0" tIns="0" rIns="0" bIns="0" anchor="ctr">
            <a:spAutoFit/>
          </a:bodyPr>
          <a:lstStyle/>
          <a:p>
            <a:pPr algn="l">
              <a:spcAft>
                <a:spcPts val="600"/>
              </a:spcAft>
            </a:pPr>
            <a:r>
              <a:rPr sz="1000" b="1" i="0">
                <a:solidFill>
                  <a:srgbClr val="85D5E6"/>
                </a:solidFill>
                <a:effectLst>
                  <a:glow rad="63500">
                    <a:srgbClr val="001633">
                      <a:alpha val="85000"/>
                    </a:srgbClr>
                  </a:glow>
                </a:effectLst>
                <a:latin typeface="Montserrat"/>
              </a:rPr>
              <a:t>L, H</a:t>
            </a:r>
          </a:p>
        </p:txBody>
      </p:sp>
      <p:sp>
        <p:nvSpPr>
          <p:cNvPr id="16" name="TextBox 15"/>
          <p:cNvSpPr txBox="1"/>
          <p:nvPr/>
        </p:nvSpPr>
        <p:spPr>
          <a:xfrm>
            <a:off x="1892808" y="4946904"/>
            <a:ext cx="22860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largo y desnivel</a:t>
            </a:r>
          </a:p>
        </p:txBody>
      </p:sp>
      <p:sp>
        <p:nvSpPr>
          <p:cNvPr id="17" name="TextBox 16"/>
          <p:cNvSpPr txBox="1"/>
          <p:nvPr/>
        </p:nvSpPr>
        <p:spPr>
          <a:xfrm>
            <a:off x="4178808" y="4946904"/>
            <a:ext cx="219456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del diseño</a:t>
            </a:r>
          </a:p>
        </p:txBody>
      </p:sp>
      <p:sp>
        <p:nvSpPr>
          <p:cNvPr id="18" name="TextBox 17"/>
          <p:cNvSpPr txBox="1"/>
          <p:nvPr/>
        </p:nvSpPr>
        <p:spPr>
          <a:xfrm>
            <a:off x="1252728" y="5212080"/>
            <a:ext cx="594360" cy="256032"/>
          </a:xfrm>
          <a:prstGeom prst="rect">
            <a:avLst/>
          </a:prstGeom>
          <a:noFill/>
        </p:spPr>
        <p:txBody>
          <a:bodyPr wrap="square" lIns="0" tIns="0" rIns="0" bIns="0" anchor="ctr">
            <a:spAutoFit/>
          </a:bodyPr>
          <a:lstStyle/>
          <a:p>
            <a:pPr algn="l">
              <a:spcAft>
                <a:spcPts val="600"/>
              </a:spcAft>
            </a:pPr>
            <a:r>
              <a:rPr sz="1000" b="1" i="0">
                <a:solidFill>
                  <a:srgbClr val="85D5E6"/>
                </a:solidFill>
                <a:effectLst>
                  <a:glow rad="63500">
                    <a:srgbClr val="001633">
                      <a:alpha val="85000"/>
                    </a:srgbClr>
                  </a:glow>
                </a:effectLst>
                <a:latin typeface="Montserrat"/>
              </a:rPr>
              <a:t>m</a:t>
            </a:r>
          </a:p>
        </p:txBody>
      </p:sp>
      <p:sp>
        <p:nvSpPr>
          <p:cNvPr id="19" name="TextBox 18"/>
          <p:cNvSpPr txBox="1"/>
          <p:nvPr/>
        </p:nvSpPr>
        <p:spPr>
          <a:xfrm>
            <a:off x="1892808" y="5212080"/>
            <a:ext cx="22860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masas por metro</a:t>
            </a:r>
          </a:p>
        </p:txBody>
      </p:sp>
      <p:sp>
        <p:nvSpPr>
          <p:cNvPr id="20" name="TextBox 19"/>
          <p:cNvSpPr txBox="1"/>
          <p:nvPr/>
        </p:nvSpPr>
        <p:spPr>
          <a:xfrm>
            <a:off x="4178808" y="5212080"/>
            <a:ext cx="219456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del diseño y de la carga</a:t>
            </a:r>
          </a:p>
        </p:txBody>
      </p:sp>
      <p:sp>
        <p:nvSpPr>
          <p:cNvPr id="21" name="TextBox 20"/>
          <p:cNvSpPr txBox="1"/>
          <p:nvPr/>
        </p:nvSpPr>
        <p:spPr>
          <a:xfrm>
            <a:off x="1252728" y="5477256"/>
            <a:ext cx="594360" cy="256032"/>
          </a:xfrm>
          <a:prstGeom prst="rect">
            <a:avLst/>
          </a:prstGeom>
          <a:noFill/>
        </p:spPr>
        <p:txBody>
          <a:bodyPr wrap="square" lIns="0" tIns="0" rIns="0" bIns="0" anchor="ctr">
            <a:spAutoFit/>
          </a:bodyPr>
          <a:lstStyle/>
          <a:p>
            <a:pPr algn="l">
              <a:spcAft>
                <a:spcPts val="600"/>
              </a:spcAft>
            </a:pPr>
            <a:r>
              <a:rPr sz="1000" b="1" i="0">
                <a:solidFill>
                  <a:srgbClr val="85D5E6"/>
                </a:solidFill>
                <a:effectLst>
                  <a:glow rad="63500">
                    <a:srgbClr val="001633">
                      <a:alpha val="85000"/>
                    </a:srgbClr>
                  </a:glow>
                </a:effectLst>
                <a:latin typeface="Montserrat"/>
              </a:rPr>
              <a:t>v, η</a:t>
            </a:r>
          </a:p>
        </p:txBody>
      </p:sp>
      <p:sp>
        <p:nvSpPr>
          <p:cNvPr id="22" name="TextBox 21"/>
          <p:cNvSpPr txBox="1"/>
          <p:nvPr/>
        </p:nvSpPr>
        <p:spPr>
          <a:xfrm>
            <a:off x="1892808" y="5477256"/>
            <a:ext cx="2286000" cy="25603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velocidad y eficiencia</a:t>
            </a:r>
          </a:p>
        </p:txBody>
      </p:sp>
      <p:sp>
        <p:nvSpPr>
          <p:cNvPr id="23" name="TextBox 22"/>
          <p:cNvSpPr txBox="1"/>
          <p:nvPr/>
        </p:nvSpPr>
        <p:spPr>
          <a:xfrm>
            <a:off x="4178808" y="5477256"/>
            <a:ext cx="2194560" cy="256032"/>
          </a:xfrm>
          <a:prstGeom prst="rect">
            <a:avLst/>
          </a:prstGeom>
          <a:noFill/>
        </p:spPr>
        <p:txBody>
          <a:bodyPr wrap="square" lIns="0" tIns="0" rIns="0" bIns="0" anchor="ctr">
            <a:spAutoFit/>
          </a:bodyPr>
          <a:lstStyle/>
          <a:p>
            <a:pPr algn="l">
              <a:spcAft>
                <a:spcPts val="600"/>
              </a:spcAft>
            </a:pPr>
            <a:r>
              <a:rPr sz="900" b="0" i="0">
                <a:solidFill>
                  <a:srgbClr val="A9B8C9"/>
                </a:solidFill>
                <a:effectLst>
                  <a:glow rad="63500">
                    <a:srgbClr val="001633">
                      <a:alpha val="85000"/>
                    </a:srgbClr>
                  </a:glow>
                </a:effectLst>
                <a:latin typeface="Montserrat"/>
              </a:rPr>
              <a:t>del fabricante</a:t>
            </a:r>
          </a:p>
        </p:txBody>
      </p:sp>
      <p:sp>
        <p:nvSpPr>
          <p:cNvPr id="24" name="TextBox 23"/>
          <p:cNvSpPr txBox="1"/>
          <p:nvPr/>
        </p:nvSpPr>
        <p:spPr>
          <a:xfrm>
            <a:off x="6739128" y="2560320"/>
            <a:ext cx="452628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TÉCNICAS Y DÓNDE SE USAN EN MINERÍA</a:t>
            </a:r>
          </a:p>
        </p:txBody>
      </p:sp>
      <p:sp>
        <p:nvSpPr>
          <p:cNvPr id="25" name="Técnica Balances dinámicos (EDO)"/>
          <p:cNvSpPr/>
          <p:nvPr/>
        </p:nvSpPr>
        <p:spPr>
          <a:xfrm>
            <a:off x="6739128" y="2816352"/>
            <a:ext cx="452628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Marca técnica"/>
          <p:cNvSpPr/>
          <p:nvPr/>
        </p:nvSpPr>
        <p:spPr>
          <a:xfrm>
            <a:off x="6739128" y="2816352"/>
            <a:ext cx="45720" cy="4754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876288" y="2834640"/>
            <a:ext cx="4343400" cy="45720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Balances dinámicos (EDO) · </a:t>
            </a:r>
            <a:r>
              <a:rPr sz="850" b="0" i="0">
                <a:solidFill>
                  <a:srgbClr val="A9B8C9"/>
                </a:solidFill>
                <a:effectLst>
                  <a:glow rad="63500">
                    <a:srgbClr val="001633">
                      <a:alpha val="85000"/>
                    </a:srgbClr>
                  </a:glow>
                </a:effectLst>
                <a:latin typeface="Montserrat"/>
              </a:rPr>
              <a:t>masa y energía en el tiempo</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nivel de un cajón de bomba, inventario de un stockpile</a:t>
            </a:r>
          </a:p>
        </p:txBody>
      </p:sp>
      <p:sp>
        <p:nvSpPr>
          <p:cNvPr id="28" name="Técnica Ecuaciones diferenciales-algebraicas"/>
          <p:cNvSpPr/>
          <p:nvPr/>
        </p:nvSpPr>
        <p:spPr>
          <a:xfrm>
            <a:off x="6739128" y="3346704"/>
            <a:ext cx="452628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Marca técnica"/>
          <p:cNvSpPr/>
          <p:nvPr/>
        </p:nvSpPr>
        <p:spPr>
          <a:xfrm>
            <a:off x="6739128" y="3346704"/>
            <a:ext cx="45720" cy="4754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6876288" y="3364992"/>
            <a:ext cx="4343400" cy="45720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Ecuaciones diferenciales-algebraicas · </a:t>
            </a:r>
            <a:r>
              <a:rPr sz="850" b="0" i="0">
                <a:solidFill>
                  <a:srgbClr val="A9B8C9"/>
                </a:solidFill>
                <a:effectLst>
                  <a:glow rad="63500">
                    <a:srgbClr val="001633">
                      <a:alpha val="85000"/>
                    </a:srgbClr>
                  </a:glow>
                </a:effectLst>
                <a:latin typeface="Montserrat"/>
              </a:rPr>
              <a:t>equipos multidominio conectados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accionamiento de correa: motor, reductor y polea</a:t>
            </a:r>
          </a:p>
        </p:txBody>
      </p:sp>
      <p:sp>
        <p:nvSpPr>
          <p:cNvPr id="31" name="Técnica Balance poblacional"/>
          <p:cNvSpPr/>
          <p:nvPr/>
        </p:nvSpPr>
        <p:spPr>
          <a:xfrm>
            <a:off x="6739128" y="3877056"/>
            <a:ext cx="452628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Marca técnica"/>
          <p:cNvSpPr/>
          <p:nvPr/>
        </p:nvSpPr>
        <p:spPr>
          <a:xfrm>
            <a:off x="6739128" y="3877056"/>
            <a:ext cx="45720" cy="4754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6876288" y="3895344"/>
            <a:ext cx="4343400" cy="45720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Balance poblacional · </a:t>
            </a:r>
            <a:r>
              <a:rPr sz="850" b="0" i="0">
                <a:solidFill>
                  <a:srgbClr val="A9B8C9"/>
                </a:solidFill>
                <a:effectLst>
                  <a:glow rad="63500">
                    <a:srgbClr val="001633">
                      <a:alpha val="85000"/>
                    </a:srgbClr>
                  </a:glow>
                </a:effectLst>
                <a:latin typeface="Montserrat"/>
              </a:rPr>
              <a:t>cómo cambia la distribución de tamaños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granulometría en chancado y molienda</a:t>
            </a:r>
          </a:p>
        </p:txBody>
      </p:sp>
      <p:sp>
        <p:nvSpPr>
          <p:cNvPr id="34" name="Técnica Elementos finitos (FEM)"/>
          <p:cNvSpPr/>
          <p:nvPr/>
        </p:nvSpPr>
        <p:spPr>
          <a:xfrm>
            <a:off x="6739128" y="4407408"/>
            <a:ext cx="452628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Marca técnica"/>
          <p:cNvSpPr/>
          <p:nvPr/>
        </p:nvSpPr>
        <p:spPr>
          <a:xfrm>
            <a:off x="6739128" y="4407408"/>
            <a:ext cx="45720" cy="4754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6876288" y="4425696"/>
            <a:ext cx="4343400" cy="45720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Elementos finitos (FEM) · </a:t>
            </a:r>
            <a:r>
              <a:rPr sz="850" b="0" i="0">
                <a:solidFill>
                  <a:srgbClr val="A9B8C9"/>
                </a:solidFill>
                <a:effectLst>
                  <a:glow rad="63500">
                    <a:srgbClr val="001633">
                      <a:alpha val="85000"/>
                    </a:srgbClr>
                  </a:glow>
                </a:effectLst>
                <a:latin typeface="Montserrat"/>
              </a:rPr>
              <a:t>esfuerzos y deformaciones en sólidos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estabilidad de taludes y de un tranque</a:t>
            </a:r>
          </a:p>
        </p:txBody>
      </p:sp>
      <p:sp>
        <p:nvSpPr>
          <p:cNvPr id="37" name="Técnica DEM y CFD"/>
          <p:cNvSpPr/>
          <p:nvPr/>
        </p:nvSpPr>
        <p:spPr>
          <a:xfrm>
            <a:off x="6739128" y="4937760"/>
            <a:ext cx="4526280" cy="4754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Marca técnica"/>
          <p:cNvSpPr/>
          <p:nvPr/>
        </p:nvSpPr>
        <p:spPr>
          <a:xfrm>
            <a:off x="6739128" y="4937760"/>
            <a:ext cx="45720" cy="4754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876288" y="4956048"/>
            <a:ext cx="4343400" cy="45720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DEM y CFD · </a:t>
            </a:r>
            <a:r>
              <a:rPr sz="850" b="0" i="0">
                <a:solidFill>
                  <a:srgbClr val="A9B8C9"/>
                </a:solidFill>
                <a:effectLst>
                  <a:glow rad="63500">
                    <a:srgbClr val="001633">
                      <a:alpha val="85000"/>
                    </a:srgbClr>
                  </a:glow>
                </a:effectLst>
                <a:latin typeface="Montserrat"/>
              </a:rPr>
              <a:t>partículas y fluidos en detalle</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carga del molino, flujo en ciclones</a:t>
            </a:r>
          </a:p>
        </p:txBody>
      </p:sp>
      <p:sp>
        <p:nvSpPr>
          <p:cNvPr id="40" name="TextBox 39"/>
          <p:cNvSpPr txBox="1"/>
          <p:nvPr/>
        </p:nvSpPr>
        <p:spPr>
          <a:xfrm>
            <a:off x="6739128" y="5486400"/>
            <a:ext cx="4526280" cy="365760"/>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extrapola y se explica   </a:t>
            </a:r>
            <a:r>
              <a:rPr sz="950" b="1" i="0">
                <a:solidFill>
                  <a:srgbClr val="FFAB40"/>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cuesta ingeniería y parámetros</a:t>
            </a:r>
          </a:p>
        </p:txBody>
      </p:sp>
      <p:sp>
        <p:nvSpPr>
          <p:cNvPr id="4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Ecuación simplificada de potencia de correas (forma general de las normas de diseño, p. ej. CEMA e ISO 5048), ilustrativa</a:t>
            </a:r>
          </a:p>
        </p:txBody>
      </p:sp>
      <p:sp>
        <p:nvSpPr>
          <p:cNvPr id="4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4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I actual"/>
          <p:cNvSpPr/>
          <p:nvPr/>
        </p:nvSpPr>
        <p:spPr>
          <a:xfrm>
            <a:off x="5001768" y="6510528"/>
            <a:ext cx="230074"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4/31 </a:t>
            </a:r>
            <a:r>
              <a:rPr sz="1000" b="0" i="0">
                <a:solidFill>
                  <a:srgbClr val="A9B8C9"/>
                </a:solidFill>
                <a:effectLst>
                  <a:glow rad="63500">
                    <a:srgbClr val="001633">
                      <a:alpha val="85000"/>
                    </a:srgbClr>
                  </a:glow>
                </a:effectLst>
                <a:latin typeface="Montserrat"/>
              </a:rPr>
              <a:t>· Gemelos Digitales para Minería 4.0 · 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modelo de datos aprende el patrón sin saber la física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1 · ENFOQUE DEL MODELO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Regresión, series de tiempo y aprendizaje automático. El caso típico en planta es el sensor virtual: estimar en línea lo que el laboratorio mide cada algunas horas.</a:t>
            </a:r>
          </a:p>
        </p:txBody>
      </p:sp>
      <p:sp>
        <p:nvSpPr>
          <p:cNvPr id="7" name="Etapa Historia"/>
          <p:cNvSpPr/>
          <p:nvPr/>
        </p:nvSpPr>
        <p:spPr>
          <a:xfrm>
            <a:off x="1252728" y="2560320"/>
            <a:ext cx="152400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database" descr="database-white.png"/>
          <p:cNvPicPr>
            <a:picLocks noChangeAspect="1"/>
          </p:cNvPicPr>
          <p:nvPr/>
        </p:nvPicPr>
        <p:blipFill>
          <a:blip r:embed="rId3"/>
          <a:stretch>
            <a:fillRect/>
          </a:stretch>
        </p:blipFill>
        <p:spPr>
          <a:xfrm>
            <a:off x="1380744" y="2670048"/>
            <a:ext cx="256032" cy="256032"/>
          </a:xfrm>
          <a:prstGeom prst="rect">
            <a:avLst/>
          </a:prstGeom>
        </p:spPr>
      </p:pic>
      <p:sp>
        <p:nvSpPr>
          <p:cNvPr id="9" name="TextBox 8"/>
          <p:cNvSpPr txBox="1"/>
          <p:nvPr/>
        </p:nvSpPr>
        <p:spPr>
          <a:xfrm>
            <a:off x="1709928" y="2633472"/>
            <a:ext cx="1021080" cy="32004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Historia</a:t>
            </a:r>
          </a:p>
        </p:txBody>
      </p:sp>
      <p:sp>
        <p:nvSpPr>
          <p:cNvPr id="10" name="TextBox 9"/>
          <p:cNvSpPr txBox="1"/>
          <p:nvPr/>
        </p:nvSpPr>
        <p:spPr>
          <a:xfrm>
            <a:off x="1380744" y="3017520"/>
            <a:ext cx="1304544" cy="7315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potencia, presión de ciclones, tonelaje, agua y el P80 del laboratorio</a:t>
            </a:r>
          </a:p>
        </p:txBody>
      </p:sp>
      <p:cxnSp>
        <p:nvCxnSpPr>
          <p:cNvPr id="11" name="Flujo"/>
          <p:cNvCxnSpPr/>
          <p:nvPr/>
        </p:nvCxnSpPr>
        <p:spPr>
          <a:xfrm>
            <a:off x="2804160" y="3154680"/>
            <a:ext cx="2194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Etapa Entrenar"/>
          <p:cNvSpPr/>
          <p:nvPr/>
        </p:nvSpPr>
        <p:spPr>
          <a:xfrm>
            <a:off x="3051048" y="2560320"/>
            <a:ext cx="152400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Ícono brain-circuit" descr="brain-circuit-white.png"/>
          <p:cNvPicPr>
            <a:picLocks noChangeAspect="1"/>
          </p:cNvPicPr>
          <p:nvPr/>
        </p:nvPicPr>
        <p:blipFill>
          <a:blip r:embed="rId4"/>
          <a:stretch>
            <a:fillRect/>
          </a:stretch>
        </p:blipFill>
        <p:spPr>
          <a:xfrm>
            <a:off x="3179064" y="2670048"/>
            <a:ext cx="256032" cy="256032"/>
          </a:xfrm>
          <a:prstGeom prst="rect">
            <a:avLst/>
          </a:prstGeom>
        </p:spPr>
      </p:pic>
      <p:sp>
        <p:nvSpPr>
          <p:cNvPr id="14" name="TextBox 13"/>
          <p:cNvSpPr txBox="1"/>
          <p:nvPr/>
        </p:nvSpPr>
        <p:spPr>
          <a:xfrm>
            <a:off x="3508248" y="2633472"/>
            <a:ext cx="1021080" cy="32004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Entrenar</a:t>
            </a:r>
          </a:p>
        </p:txBody>
      </p:sp>
      <p:sp>
        <p:nvSpPr>
          <p:cNvPr id="15" name="TextBox 14"/>
          <p:cNvSpPr txBox="1"/>
          <p:nvPr/>
        </p:nvSpPr>
        <p:spPr>
          <a:xfrm>
            <a:off x="3179064" y="3017520"/>
            <a:ext cx="1304544" cy="7315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el modelo aprende la relación entre esas variables y el P80</a:t>
            </a:r>
          </a:p>
        </p:txBody>
      </p:sp>
      <p:cxnSp>
        <p:nvCxnSpPr>
          <p:cNvPr id="16" name="Flujo"/>
          <p:cNvCxnSpPr/>
          <p:nvPr/>
        </p:nvCxnSpPr>
        <p:spPr>
          <a:xfrm>
            <a:off x="4602480" y="3154680"/>
            <a:ext cx="2194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Etapa Sensor virtual"/>
          <p:cNvSpPr/>
          <p:nvPr/>
        </p:nvSpPr>
        <p:spPr>
          <a:xfrm>
            <a:off x="4849368" y="2560320"/>
            <a:ext cx="1524000" cy="1234440"/>
          </a:xfrm>
          <a:prstGeom prst="rect">
            <a:avLst/>
          </a:prstGeom>
          <a:solidFill>
            <a:srgbClr val="12335E"/>
          </a:solidFill>
          <a:ln w="19050">
            <a:solidFill>
              <a:srgbClr val="9B6B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Ícono activity" descr="activity-white.png"/>
          <p:cNvPicPr>
            <a:picLocks noChangeAspect="1"/>
          </p:cNvPicPr>
          <p:nvPr/>
        </p:nvPicPr>
        <p:blipFill>
          <a:blip r:embed="rId5"/>
          <a:stretch>
            <a:fillRect/>
          </a:stretch>
        </p:blipFill>
        <p:spPr>
          <a:xfrm>
            <a:off x="4977384" y="2670048"/>
            <a:ext cx="256032" cy="256032"/>
          </a:xfrm>
          <a:prstGeom prst="rect">
            <a:avLst/>
          </a:prstGeom>
        </p:spPr>
      </p:pic>
      <p:sp>
        <p:nvSpPr>
          <p:cNvPr id="19" name="TextBox 18"/>
          <p:cNvSpPr txBox="1"/>
          <p:nvPr/>
        </p:nvSpPr>
        <p:spPr>
          <a:xfrm>
            <a:off x="5306568" y="2633472"/>
            <a:ext cx="1021080" cy="32004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Sensor virtual</a:t>
            </a:r>
          </a:p>
        </p:txBody>
      </p:sp>
      <p:sp>
        <p:nvSpPr>
          <p:cNvPr id="20" name="TextBox 19"/>
          <p:cNvSpPr txBox="1"/>
          <p:nvPr/>
        </p:nvSpPr>
        <p:spPr>
          <a:xfrm>
            <a:off x="4977384" y="3017520"/>
            <a:ext cx="1304544" cy="7315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estima el P80 cada minuto, entre muestras del laboratorio</a:t>
            </a:r>
          </a:p>
        </p:txBody>
      </p:sp>
      <p:sp>
        <p:nvSpPr>
          <p:cNvPr id="21" name="Área gráfico"/>
          <p:cNvSpPr/>
          <p:nvPr/>
        </p:nvSpPr>
        <p:spPr>
          <a:xfrm>
            <a:off x="1252728" y="3977639"/>
            <a:ext cx="5120640" cy="14173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1252728" y="5422391"/>
            <a:ext cx="5120640" cy="182880"/>
          </a:xfrm>
          <a:prstGeom prst="rect">
            <a:avLst/>
          </a:prstGeom>
          <a:noFill/>
        </p:spPr>
        <p:txBody>
          <a:bodyPr wrap="square" lIns="0" tIns="0" rIns="0" bIns="0" anchor="t">
            <a:spAutoFit/>
          </a:bodyPr>
          <a:lstStyle/>
          <a:p>
            <a:pPr algn="r">
              <a:spcAft>
                <a:spcPts val="600"/>
              </a:spcAft>
            </a:pPr>
            <a:r>
              <a:rPr sz="800" b="0" i="0">
                <a:solidFill>
                  <a:srgbClr val="A9B8C9"/>
                </a:solidFill>
                <a:effectLst>
                  <a:glow rad="63500">
                    <a:srgbClr val="001633">
                      <a:alpha val="85000"/>
                    </a:srgbClr>
                  </a:glow>
                </a:effectLst>
                <a:latin typeface="Montserrat"/>
              </a:rPr>
              <a:t>tiempo (horas)</a:t>
            </a:r>
          </a:p>
        </p:txBody>
      </p:sp>
      <p:sp>
        <p:nvSpPr>
          <p:cNvPr id="23" name="TextBox 22"/>
          <p:cNvSpPr txBox="1"/>
          <p:nvPr/>
        </p:nvSpPr>
        <p:spPr>
          <a:xfrm>
            <a:off x="1325880" y="4023359"/>
            <a:ext cx="5120640" cy="182880"/>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P80 de molienda</a:t>
            </a:r>
          </a:p>
        </p:txBody>
      </p:sp>
      <p:sp>
        <p:nvSpPr>
          <p:cNvPr id="24" name="Sensor virtual"/>
          <p:cNvSpPr/>
          <p:nvPr/>
        </p:nvSpPr>
        <p:spPr>
          <a:xfrm>
            <a:off x="1252728" y="4349994"/>
            <a:ext cx="5120640" cy="674724"/>
          </a:xfrm>
          <a:custGeom>
            <a:avLst/>
            <a:gdLst/>
            <a:ahLst/>
            <a:cxnLst/>
            <a:rect l="l" t="t" r="r" b="b"/>
            <a:pathLst>
              <a:path w="5120640" h="674724">
                <a:moveTo>
                  <a:pt x="0" y="336305"/>
                </a:moveTo>
                <a:lnTo>
                  <a:pt x="128016" y="203680"/>
                </a:lnTo>
                <a:lnTo>
                  <a:pt x="256032" y="193119"/>
                </a:lnTo>
                <a:lnTo>
                  <a:pt x="384048" y="250741"/>
                </a:lnTo>
                <a:lnTo>
                  <a:pt x="512064" y="228423"/>
                </a:lnTo>
                <a:lnTo>
                  <a:pt x="640080" y="103337"/>
                </a:lnTo>
                <a:lnTo>
                  <a:pt x="768096" y="13610"/>
                </a:lnTo>
                <a:lnTo>
                  <a:pt x="896112" y="57763"/>
                </a:lnTo>
                <a:lnTo>
                  <a:pt x="1024128" y="151693"/>
                </a:lnTo>
                <a:lnTo>
                  <a:pt x="1152144" y="152657"/>
                </a:lnTo>
                <a:lnTo>
                  <a:pt x="1280160" y="68596"/>
                </a:lnTo>
                <a:lnTo>
                  <a:pt x="1408176" y="46129"/>
                </a:lnTo>
                <a:lnTo>
                  <a:pt x="1536192" y="154819"/>
                </a:lnTo>
                <a:lnTo>
                  <a:pt x="1664208" y="283803"/>
                </a:lnTo>
                <a:lnTo>
                  <a:pt x="1792224" y="302278"/>
                </a:lnTo>
                <a:lnTo>
                  <a:pt x="1920240" y="248808"/>
                </a:lnTo>
                <a:lnTo>
                  <a:pt x="2048256" y="272213"/>
                </a:lnTo>
                <a:lnTo>
                  <a:pt x="2176272" y="410736"/>
                </a:lnTo>
                <a:lnTo>
                  <a:pt x="2304288" y="533126"/>
                </a:lnTo>
                <a:lnTo>
                  <a:pt x="2432304" y="528062"/>
                </a:lnTo>
                <a:lnTo>
                  <a:pt x="2560320" y="464531"/>
                </a:lnTo>
                <a:lnTo>
                  <a:pt x="2688336" y="488304"/>
                </a:lnTo>
                <a:lnTo>
                  <a:pt x="2816352" y="606282"/>
                </a:lnTo>
                <a:lnTo>
                  <a:pt x="2944368" y="674724"/>
                </a:lnTo>
                <a:lnTo>
                  <a:pt x="3072384" y="608663"/>
                </a:lnTo>
                <a:lnTo>
                  <a:pt x="3200400" y="505779"/>
                </a:lnTo>
                <a:lnTo>
                  <a:pt x="3328416" y="503257"/>
                </a:lnTo>
                <a:lnTo>
                  <a:pt x="3456432" y="577353"/>
                </a:lnTo>
                <a:lnTo>
                  <a:pt x="3584448" y="579272"/>
                </a:lnTo>
                <a:lnTo>
                  <a:pt x="3712464" y="454757"/>
                </a:lnTo>
                <a:lnTo>
                  <a:pt x="3840480" y="325628"/>
                </a:lnTo>
                <a:lnTo>
                  <a:pt x="3968496" y="313729"/>
                </a:lnTo>
                <a:lnTo>
                  <a:pt x="4096512" y="365113"/>
                </a:lnTo>
                <a:lnTo>
                  <a:pt x="4224528" y="331918"/>
                </a:lnTo>
                <a:lnTo>
                  <a:pt x="4352544" y="191880"/>
                </a:lnTo>
                <a:lnTo>
                  <a:pt x="4480560" y="83776"/>
                </a:lnTo>
                <a:lnTo>
                  <a:pt x="4608576" y="106762"/>
                </a:lnTo>
                <a:lnTo>
                  <a:pt x="4736592" y="177468"/>
                </a:lnTo>
                <a:lnTo>
                  <a:pt x="4864608" y="154121"/>
                </a:lnTo>
                <a:lnTo>
                  <a:pt x="4992624" y="45759"/>
                </a:lnTo>
                <a:lnTo>
                  <a:pt x="5120640" y="0"/>
                </a:lnTo>
              </a:path>
            </a:pathLst>
          </a:custGeom>
          <a:noFill/>
          <a:ln w="254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uestra laboratorio"/>
          <p:cNvSpPr/>
          <p:nvPr/>
        </p:nvSpPr>
        <p:spPr>
          <a:xfrm>
            <a:off x="1453896" y="4459903"/>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Muestra laboratorio"/>
          <p:cNvSpPr/>
          <p:nvPr/>
        </p:nvSpPr>
        <p:spPr>
          <a:xfrm>
            <a:off x="2734056" y="4421602"/>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Muestra laboratorio"/>
          <p:cNvSpPr/>
          <p:nvPr/>
        </p:nvSpPr>
        <p:spPr>
          <a:xfrm>
            <a:off x="4014216" y="487306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Muestra laboratorio"/>
          <p:cNvSpPr/>
          <p:nvPr/>
        </p:nvSpPr>
        <p:spPr>
          <a:xfrm>
            <a:off x="5294376" y="463189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344168" y="5138927"/>
            <a:ext cx="365760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 sensor virtual  </a:t>
            </a:r>
            <a:r>
              <a:rPr sz="850" b="1" i="0">
                <a:solidFill>
                  <a:srgbClr val="FFAB40"/>
                </a:solidFill>
                <a:effectLst>
                  <a:glow rad="63500">
                    <a:srgbClr val="001633">
                      <a:alpha val="85000"/>
                    </a:srgbClr>
                  </a:glow>
                </a:effectLst>
                <a:latin typeface="Montserrat"/>
              </a:rPr>
              <a:t>● laboratorio</a:t>
            </a:r>
          </a:p>
        </p:txBody>
      </p:sp>
      <p:sp>
        <p:nvSpPr>
          <p:cNvPr id="30" name="TextBox 29"/>
          <p:cNvSpPr txBox="1"/>
          <p:nvPr/>
        </p:nvSpPr>
        <p:spPr>
          <a:xfrm>
            <a:off x="1252728" y="5623560"/>
            <a:ext cx="5120640" cy="274320"/>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rápido si hay buena historia   </a:t>
            </a:r>
            <a:r>
              <a:rPr sz="950" b="1" i="0">
                <a:solidFill>
                  <a:srgbClr val="FFAB40"/>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no extrapola; depende de la calidad del dato</a:t>
            </a:r>
          </a:p>
        </p:txBody>
      </p:sp>
      <p:sp>
        <p:nvSpPr>
          <p:cNvPr id="31" name="TextBox 30"/>
          <p:cNvSpPr txBox="1"/>
          <p:nvPr/>
        </p:nvSpPr>
        <p:spPr>
          <a:xfrm>
            <a:off x="6693408" y="2560320"/>
            <a:ext cx="4572000" cy="228600"/>
          </a:xfrm>
          <a:prstGeom prst="rect">
            <a:avLst/>
          </a:prstGeom>
          <a:noFill/>
        </p:spPr>
        <p:txBody>
          <a:bodyPr wrap="square" lIns="0" tIns="0" rIns="0" bIns="0" anchor="t">
            <a:spAutoFit/>
          </a:bodyPr>
          <a:lstStyle/>
          <a:p>
            <a:pPr algn="l">
              <a:spcAft>
                <a:spcPts val="600"/>
              </a:spcAft>
            </a:pPr>
            <a:r>
              <a:rPr sz="850" b="1" i="0">
                <a:solidFill>
                  <a:srgbClr val="B39DF0"/>
                </a:solidFill>
                <a:effectLst>
                  <a:glow rad="63500">
                    <a:srgbClr val="001633">
                      <a:alpha val="85000"/>
                    </a:srgbClr>
                  </a:glow>
                </a:effectLst>
                <a:latin typeface="Montserrat"/>
              </a:rPr>
              <a:t>TÉCNICAS Y DÓNDE SE USAN EN MINERÍA</a:t>
            </a:r>
          </a:p>
        </p:txBody>
      </p:sp>
      <p:sp>
        <p:nvSpPr>
          <p:cNvPr id="32" name="Técnica Regresión lineal"/>
          <p:cNvSpPr/>
          <p:nvPr/>
        </p:nvSpPr>
        <p:spPr>
          <a:xfrm>
            <a:off x="6693408" y="2816352"/>
            <a:ext cx="4572000" cy="43891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Marca técnica"/>
          <p:cNvSpPr/>
          <p:nvPr/>
        </p:nvSpPr>
        <p:spPr>
          <a:xfrm>
            <a:off x="6693408" y="2816352"/>
            <a:ext cx="45720" cy="4389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6830568" y="2825496"/>
            <a:ext cx="4389120" cy="420624"/>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Regresión lineal · </a:t>
            </a:r>
            <a:r>
              <a:rPr sz="850" b="0" i="0">
                <a:solidFill>
                  <a:srgbClr val="A9B8C9"/>
                </a:solidFill>
                <a:effectLst>
                  <a:glow rad="63500">
                    <a:srgbClr val="001633">
                      <a:alpha val="85000"/>
                    </a:srgbClr>
                  </a:glow>
                </a:effectLst>
                <a:latin typeface="Montserrat"/>
              </a:rPr>
              <a:t>relaciones simples entre muchas variables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ley del concentrado a partir de flujos y reactivos en flotación</a:t>
            </a:r>
          </a:p>
        </p:txBody>
      </p:sp>
      <p:sp>
        <p:nvSpPr>
          <p:cNvPr id="35" name="Técnica Árboles y gradient boosting"/>
          <p:cNvSpPr/>
          <p:nvPr/>
        </p:nvSpPr>
        <p:spPr>
          <a:xfrm>
            <a:off x="6693408" y="3310128"/>
            <a:ext cx="4572000" cy="43891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Marca técnica"/>
          <p:cNvSpPr/>
          <p:nvPr/>
        </p:nvSpPr>
        <p:spPr>
          <a:xfrm>
            <a:off x="6693408" y="3310128"/>
            <a:ext cx="45720" cy="4389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6830568" y="3319272"/>
            <a:ext cx="4389120" cy="420624"/>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Árboles y gradient boosting · </a:t>
            </a:r>
            <a:r>
              <a:rPr sz="850" b="0" i="0">
                <a:solidFill>
                  <a:srgbClr val="A9B8C9"/>
                </a:solidFill>
                <a:effectLst>
                  <a:glow rad="63500">
                    <a:srgbClr val="001633">
                      <a:alpha val="85000"/>
                    </a:srgbClr>
                  </a:glow>
                </a:effectLst>
                <a:latin typeface="Montserrat"/>
              </a:rPr>
              <a:t>relaciones no lineales con datos tabulares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probabilidad de falla de una bomba de pulpa</a:t>
            </a:r>
          </a:p>
        </p:txBody>
      </p:sp>
      <p:sp>
        <p:nvSpPr>
          <p:cNvPr id="38" name="Técnica Redes neuronales"/>
          <p:cNvSpPr/>
          <p:nvPr/>
        </p:nvSpPr>
        <p:spPr>
          <a:xfrm>
            <a:off x="6693408" y="3803904"/>
            <a:ext cx="4572000" cy="43891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Marca técnica"/>
          <p:cNvSpPr/>
          <p:nvPr/>
        </p:nvSpPr>
        <p:spPr>
          <a:xfrm>
            <a:off x="6693408" y="3803904"/>
            <a:ext cx="45720" cy="4389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830568" y="3813048"/>
            <a:ext cx="4389120" cy="420624"/>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Redes neuronales · </a:t>
            </a:r>
            <a:r>
              <a:rPr sz="850" b="0" i="0">
                <a:solidFill>
                  <a:srgbClr val="A9B8C9"/>
                </a:solidFill>
                <a:effectLst>
                  <a:glow rad="63500">
                    <a:srgbClr val="001633">
                      <a:alpha val="85000"/>
                    </a:srgbClr>
                  </a:glow>
                </a:effectLst>
                <a:latin typeface="Montserrat"/>
              </a:rPr>
              <a:t>series de tiempo y patrones complejos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nivel del espesador en las próximas horas</a:t>
            </a:r>
          </a:p>
        </p:txBody>
      </p:sp>
      <p:sp>
        <p:nvSpPr>
          <p:cNvPr id="41" name="Técnica Detección de anomalías"/>
          <p:cNvSpPr/>
          <p:nvPr/>
        </p:nvSpPr>
        <p:spPr>
          <a:xfrm>
            <a:off x="6693408" y="4297680"/>
            <a:ext cx="4572000" cy="43891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Marca técnica"/>
          <p:cNvSpPr/>
          <p:nvPr/>
        </p:nvSpPr>
        <p:spPr>
          <a:xfrm>
            <a:off x="6693408" y="4297680"/>
            <a:ext cx="45720" cy="4389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6830568" y="4306824"/>
            <a:ext cx="4389120" cy="420624"/>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Detección de anomalías · </a:t>
            </a:r>
            <a:r>
              <a:rPr sz="850" b="0" i="0">
                <a:solidFill>
                  <a:srgbClr val="A9B8C9"/>
                </a:solidFill>
                <a:effectLst>
                  <a:glow rad="63500">
                    <a:srgbClr val="001633">
                      <a:alpha val="85000"/>
                    </a:srgbClr>
                  </a:glow>
                </a:effectLst>
                <a:latin typeface="Montserrat"/>
              </a:rPr>
              <a:t>aprende lo normal sin etiquetas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vibración anómala de polines en una correa</a:t>
            </a:r>
          </a:p>
        </p:txBody>
      </p:sp>
      <p:sp>
        <p:nvSpPr>
          <p:cNvPr id="44" name="Técnica Identificación de sistemas"/>
          <p:cNvSpPr/>
          <p:nvPr/>
        </p:nvSpPr>
        <p:spPr>
          <a:xfrm>
            <a:off x="6693408" y="4791456"/>
            <a:ext cx="4572000" cy="43891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Marca técnica"/>
          <p:cNvSpPr/>
          <p:nvPr/>
        </p:nvSpPr>
        <p:spPr>
          <a:xfrm>
            <a:off x="6693408" y="4791456"/>
            <a:ext cx="45720" cy="4389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830568" y="4800600"/>
            <a:ext cx="4389120" cy="420624"/>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Identificación de sistemas · </a:t>
            </a:r>
            <a:r>
              <a:rPr sz="850" b="0" i="0">
                <a:solidFill>
                  <a:srgbClr val="A9B8C9"/>
                </a:solidFill>
                <a:effectLst>
                  <a:glow rad="63500">
                    <a:srgbClr val="001633">
                      <a:alpha val="85000"/>
                    </a:srgbClr>
                  </a:glow>
                </a:effectLst>
                <a:latin typeface="Montserrat"/>
              </a:rPr>
              <a:t>modelos dinámicos simples desde pruebas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respuesta del molino a un cambio de alimentación, para el control</a:t>
            </a:r>
          </a:p>
        </p:txBody>
      </p:sp>
      <p:sp>
        <p:nvSpPr>
          <p:cNvPr id="47" name="Técnica Visión por computador"/>
          <p:cNvSpPr/>
          <p:nvPr/>
        </p:nvSpPr>
        <p:spPr>
          <a:xfrm>
            <a:off x="6693408" y="5285232"/>
            <a:ext cx="4572000" cy="43891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Marca técnica"/>
          <p:cNvSpPr/>
          <p:nvPr/>
        </p:nvSpPr>
        <p:spPr>
          <a:xfrm>
            <a:off x="6693408" y="5285232"/>
            <a:ext cx="45720" cy="43891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830568" y="5294376"/>
            <a:ext cx="4389120" cy="420624"/>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Visión por computador · </a:t>
            </a:r>
            <a:r>
              <a:rPr sz="850" b="0" i="0">
                <a:solidFill>
                  <a:srgbClr val="A9B8C9"/>
                </a:solidFill>
                <a:effectLst>
                  <a:glow rad="63500">
                    <a:srgbClr val="001633">
                      <a:alpha val="85000"/>
                    </a:srgbClr>
                  </a:glow>
                </a:effectLst>
                <a:latin typeface="Montserrat"/>
              </a:rPr>
              <a:t>aprende de imágenes y video</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tamaño de rocas en la correa, espuma de flotación</a:t>
            </a:r>
          </a:p>
        </p:txBody>
      </p:sp>
      <p:sp>
        <p:nvSpPr>
          <p:cNvPr id="5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Técnicas de modelamiento basado en datos: elaboración propia · ejemplos ilustrativos · gráfico esquemático, no datos reales</a:t>
            </a:r>
          </a:p>
        </p:txBody>
      </p:sp>
      <p:sp>
        <p:nvSpPr>
          <p:cNvPr id="5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actual"/>
          <p:cNvSpPr/>
          <p:nvPr/>
        </p:nvSpPr>
        <p:spPr>
          <a:xfrm>
            <a:off x="5001768" y="6510528"/>
            <a:ext cx="287593"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5/31 </a:t>
            </a:r>
            <a:r>
              <a:rPr sz="1000" b="0" i="0">
                <a:solidFill>
                  <a:srgbClr val="A9B8C9"/>
                </a:solidFill>
                <a:effectLst>
                  <a:glow rad="63500">
                    <a:srgbClr val="001633">
                      <a:alpha val="85000"/>
                    </a:srgbClr>
                  </a:glow>
                </a:effectLst>
                <a:latin typeface="Montserrat"/>
              </a:rPr>
              <a:t>· Gemelos Digitales para Minería 4.0 · 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modelo híbrido usa la física como esqueleto y los datos como corrección</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1 · ENFOQUE DEL MODELO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Es el enfoque más usado en gemelos industriales: la física asegura que el modelo tenga sentido y los datos lo ajustan a la faena real.</a:t>
            </a:r>
          </a:p>
        </p:txBody>
      </p:sp>
      <p:sp>
        <p:nvSpPr>
          <p:cNvPr id="7" name="Etiqueta Entradas: tonelaje, velocidad, agua"/>
          <p:cNvSpPr/>
          <p:nvPr/>
        </p:nvSpPr>
        <p:spPr>
          <a:xfrm>
            <a:off x="1252728" y="3017520"/>
            <a:ext cx="1645920" cy="54864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3017520"/>
            <a:ext cx="1645920" cy="54864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Entradas: tonelaje, velocidad, agua</a:t>
            </a:r>
          </a:p>
        </p:txBody>
      </p:sp>
      <p:sp>
        <p:nvSpPr>
          <p:cNvPr id="9" name="Física"/>
          <p:cNvSpPr/>
          <p:nvPr/>
        </p:nvSpPr>
        <p:spPr>
          <a:xfrm>
            <a:off x="3355848" y="2606040"/>
            <a:ext cx="2103120" cy="640080"/>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3355848" y="2606040"/>
            <a:ext cx="2103120" cy="640080"/>
          </a:xfrm>
          <a:prstGeom prst="rect">
            <a:avLst/>
          </a:prstGeom>
          <a:noFill/>
        </p:spPr>
        <p:txBody>
          <a:bodyPr wrap="square" lIns="0" tIns="0" rIns="0" bIns="0" anchor="ctr">
            <a:spAutoFit/>
          </a:bodyPr>
          <a:lstStyle/>
          <a:p>
            <a:pPr algn="ctr">
              <a:spcAft>
                <a:spcPts val="0"/>
              </a:spcAft>
            </a:pPr>
            <a:r>
              <a:rPr sz="1100" b="1" i="0">
                <a:solidFill>
                  <a:srgbClr val="85D5E6"/>
                </a:solidFill>
                <a:effectLst>
                  <a:glow rad="63500">
                    <a:srgbClr val="001633">
                      <a:alpha val="85000"/>
                    </a:srgbClr>
                  </a:glow>
                </a:effectLst>
                <a:latin typeface="Montserrat"/>
              </a:rPr>
              <a:t>Modelo físico</a:t>
            </a:r>
          </a:p>
          <a:p>
            <a:pPr algn="ctr">
              <a:spcAft>
                <a:spcPts val="0"/>
              </a:spcAft>
            </a:pPr>
            <a:r>
              <a:rPr sz="900" b="0" i="0">
                <a:solidFill>
                  <a:srgbClr val="A9B8C9"/>
                </a:solidFill>
                <a:effectLst>
                  <a:glow rad="63500">
                    <a:srgbClr val="001633">
                      <a:alpha val="85000"/>
                    </a:srgbClr>
                  </a:glow>
                </a:effectLst>
                <a:latin typeface="Montserrat"/>
              </a:rPr>
              <a:t>potencia del molino SAG</a:t>
            </a:r>
          </a:p>
        </p:txBody>
      </p:sp>
      <p:sp>
        <p:nvSpPr>
          <p:cNvPr id="11" name="Corrección"/>
          <p:cNvSpPr/>
          <p:nvPr/>
        </p:nvSpPr>
        <p:spPr>
          <a:xfrm>
            <a:off x="3355848" y="3383280"/>
            <a:ext cx="2103120" cy="640080"/>
          </a:xfrm>
          <a:prstGeom prst="rect">
            <a:avLst/>
          </a:prstGeom>
          <a:solidFill>
            <a:srgbClr val="12335E"/>
          </a:solidFill>
          <a:ln w="15875">
            <a:solidFill>
              <a:srgbClr val="9B6B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3355848" y="3383280"/>
            <a:ext cx="2103120" cy="640080"/>
          </a:xfrm>
          <a:prstGeom prst="rect">
            <a:avLst/>
          </a:prstGeom>
          <a:noFill/>
        </p:spPr>
        <p:txBody>
          <a:bodyPr wrap="square" lIns="0" tIns="0" rIns="0" bIns="0" anchor="ctr">
            <a:spAutoFit/>
          </a:bodyPr>
          <a:lstStyle/>
          <a:p>
            <a:pPr algn="ctr">
              <a:spcAft>
                <a:spcPts val="0"/>
              </a:spcAft>
            </a:pPr>
            <a:r>
              <a:rPr sz="1100" b="1" i="0">
                <a:solidFill>
                  <a:srgbClr val="B39DF0"/>
                </a:solidFill>
                <a:effectLst>
                  <a:glow rad="63500">
                    <a:srgbClr val="001633">
                      <a:alpha val="85000"/>
                    </a:srgbClr>
                  </a:glow>
                </a:effectLst>
                <a:latin typeface="Montserrat"/>
              </a:rPr>
              <a:t>Corrección con datos</a:t>
            </a:r>
          </a:p>
          <a:p>
            <a:pPr algn="ctr">
              <a:spcAft>
                <a:spcPts val="0"/>
              </a:spcAft>
            </a:pPr>
            <a:r>
              <a:rPr sz="900" b="0" i="0">
                <a:solidFill>
                  <a:srgbClr val="A9B8C9"/>
                </a:solidFill>
                <a:effectLst>
                  <a:glow rad="63500">
                    <a:srgbClr val="001633">
                      <a:alpha val="85000"/>
                    </a:srgbClr>
                  </a:glow>
                </a:effectLst>
                <a:latin typeface="Montserrat"/>
              </a:rPr>
              <a:t>efecto de la dureza del mineral</a:t>
            </a:r>
          </a:p>
        </p:txBody>
      </p:sp>
      <p:cxnSp>
        <p:nvCxnSpPr>
          <p:cNvPr id="13" name="Connector 12"/>
          <p:cNvCxnSpPr/>
          <p:nvPr/>
        </p:nvCxnSpPr>
        <p:spPr>
          <a:xfrm flipV="1">
            <a:off x="2944368" y="2926080"/>
            <a:ext cx="365760" cy="36576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944368" y="3291840"/>
            <a:ext cx="365760" cy="41148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Suma"/>
          <p:cNvSpPr/>
          <p:nvPr/>
        </p:nvSpPr>
        <p:spPr>
          <a:xfrm>
            <a:off x="5824728" y="3044952"/>
            <a:ext cx="502920" cy="50292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5824728" y="3044952"/>
            <a:ext cx="502920" cy="502920"/>
          </a:xfrm>
          <a:prstGeom prst="rect">
            <a:avLst/>
          </a:prstGeom>
          <a:noFill/>
        </p:spPr>
        <p:txBody>
          <a:bodyPr wrap="square" lIns="0" tIns="0" rIns="0" bIns="0" anchor="ctr">
            <a:spAutoFit/>
          </a:bodyPr>
          <a:lstStyle/>
          <a:p>
            <a:pPr algn="ctr">
              <a:spcAft>
                <a:spcPts val="600"/>
              </a:spcAft>
            </a:pPr>
            <a:r>
              <a:rPr sz="2000" b="1" i="0">
                <a:solidFill>
                  <a:srgbClr val="001633"/>
                </a:solidFill>
                <a:latin typeface="Montserrat"/>
              </a:rPr>
              <a:t>+</a:t>
            </a:r>
          </a:p>
        </p:txBody>
      </p:sp>
      <p:cxnSp>
        <p:nvCxnSpPr>
          <p:cNvPr id="17" name="Connector 16"/>
          <p:cNvCxnSpPr/>
          <p:nvPr/>
        </p:nvCxnSpPr>
        <p:spPr>
          <a:xfrm>
            <a:off x="5504688" y="2926080"/>
            <a:ext cx="365760" cy="22860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5504688" y="3447288"/>
            <a:ext cx="365760" cy="256032"/>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373368" y="3291840"/>
            <a:ext cx="365760"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Etiqueta Potencia estimada"/>
          <p:cNvSpPr/>
          <p:nvPr/>
        </p:nvSpPr>
        <p:spPr>
          <a:xfrm>
            <a:off x="6784848" y="3017520"/>
            <a:ext cx="1554480" cy="548640"/>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6784848" y="3017520"/>
            <a:ext cx="1554480" cy="548640"/>
          </a:xfrm>
          <a:prstGeom prst="rect">
            <a:avLst/>
          </a:prstGeom>
          <a:noFill/>
        </p:spPr>
        <p:txBody>
          <a:bodyPr wrap="square" lIns="0" tIns="0" rIns="0" bIns="0" anchor="ctr">
            <a:spAutoFit/>
          </a:bodyPr>
          <a:lstStyle/>
          <a:p>
            <a:pPr algn="ctr">
              <a:spcAft>
                <a:spcPts val="600"/>
              </a:spcAft>
            </a:pPr>
            <a:r>
              <a:rPr sz="1000" b="1" i="0">
                <a:solidFill>
                  <a:srgbClr val="FFAB40"/>
                </a:solidFill>
                <a:effectLst>
                  <a:glow rad="63500">
                    <a:srgbClr val="001633">
                      <a:alpha val="85000"/>
                    </a:srgbClr>
                  </a:glow>
                </a:effectLst>
                <a:latin typeface="Montserrat"/>
              </a:rPr>
              <a:t>Potencia estimada</a:t>
            </a:r>
          </a:p>
        </p:txBody>
      </p:sp>
      <p:sp>
        <p:nvSpPr>
          <p:cNvPr id="22" name="TextBox 21"/>
          <p:cNvSpPr txBox="1"/>
          <p:nvPr/>
        </p:nvSpPr>
        <p:spPr>
          <a:xfrm>
            <a:off x="8613648" y="2560320"/>
            <a:ext cx="2651760" cy="1508760"/>
          </a:xfrm>
          <a:prstGeom prst="rect">
            <a:avLst/>
          </a:prstGeom>
          <a:noFill/>
        </p:spPr>
        <p:txBody>
          <a:bodyPr wrap="square" lIns="0" tIns="0" rIns="0" bIns="0" anchor="t">
            <a:spAutoFit/>
          </a:bodyPr>
          <a:lstStyle/>
          <a:p>
            <a:pPr algn="l">
              <a:spcAft>
                <a:spcPts val="300"/>
              </a:spcAft>
            </a:pPr>
            <a:r>
              <a:rPr sz="1050" b="1" i="0">
                <a:solidFill>
                  <a:srgbClr val="FFAB40"/>
                </a:solidFill>
                <a:effectLst>
                  <a:glow rad="63500">
                    <a:srgbClr val="001633">
                      <a:alpha val="85000"/>
                    </a:srgbClr>
                  </a:glow>
                </a:effectLst>
                <a:latin typeface="Montserrat"/>
              </a:rPr>
              <a:t>Por qué funciona</a:t>
            </a:r>
          </a:p>
          <a:p>
            <a:pPr algn="l">
              <a:spcAft>
                <a:spcPts val="300"/>
              </a:spcAft>
            </a:pPr>
            <a:r>
              <a:rPr sz="900" b="0" i="0">
                <a:solidFill>
                  <a:srgbClr val="FFFFFF"/>
                </a:solidFill>
                <a:effectLst>
                  <a:glow rad="63500">
                    <a:srgbClr val="001633">
                      <a:alpha val="85000"/>
                    </a:srgbClr>
                  </a:glow>
                </a:effectLst>
                <a:latin typeface="Montserrat"/>
              </a:rPr>
              <a:t>La física respeta los balances y extrapola a tonelajes nuevos.</a:t>
            </a:r>
          </a:p>
          <a:p>
            <a:pPr algn="l">
              <a:spcAft>
                <a:spcPts val="300"/>
              </a:spcAft>
            </a:pPr>
            <a:r>
              <a:rPr sz="900" b="0" i="0">
                <a:solidFill>
                  <a:srgbClr val="A9B8C9"/>
                </a:solidFill>
                <a:effectLst>
                  <a:glow rad="63500">
                    <a:srgbClr val="001633">
                      <a:alpha val="85000"/>
                    </a:srgbClr>
                  </a:glow>
                </a:effectLst>
                <a:latin typeface="Montserrat"/>
              </a:rPr>
              <a:t>Los datos capturan lo que cambia y nadie modeló: dureza, desgaste de revestimientos, carga de bolas.</a:t>
            </a:r>
          </a:p>
        </p:txBody>
      </p:sp>
      <p:sp>
        <p:nvSpPr>
          <p:cNvPr id="23" name="Variante Parámetros ajustados"/>
          <p:cNvSpPr/>
          <p:nvPr/>
        </p:nvSpPr>
        <p:spPr>
          <a:xfrm>
            <a:off x="1252728" y="4160520"/>
            <a:ext cx="2379726" cy="1645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Borde"/>
          <p:cNvSpPr/>
          <p:nvPr/>
        </p:nvSpPr>
        <p:spPr>
          <a:xfrm>
            <a:off x="1252728" y="4160520"/>
            <a:ext cx="237972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1399032" y="4270248"/>
            <a:ext cx="2105406"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Parámetros ajustados</a:t>
            </a:r>
          </a:p>
        </p:txBody>
      </p:sp>
      <p:sp>
        <p:nvSpPr>
          <p:cNvPr id="26" name="TextBox 25"/>
          <p:cNvSpPr txBox="1"/>
          <p:nvPr/>
        </p:nvSpPr>
        <p:spPr>
          <a:xfrm>
            <a:off x="1399032" y="4572000"/>
            <a:ext cx="2105406"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la física con sus parámetros calibrados con datos de planta</a:t>
            </a:r>
          </a:p>
        </p:txBody>
      </p:sp>
      <p:sp>
        <p:nvSpPr>
          <p:cNvPr id="27" name="TextBox 26"/>
          <p:cNvSpPr txBox="1"/>
          <p:nvPr/>
        </p:nvSpPr>
        <p:spPr>
          <a:xfrm>
            <a:off x="1399032" y="5010912"/>
            <a:ext cx="2105406" cy="36576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Técnica: </a:t>
            </a:r>
            <a:r>
              <a:rPr sz="850" b="0" i="0">
                <a:solidFill>
                  <a:srgbClr val="FFFFFF"/>
                </a:solidFill>
                <a:effectLst>
                  <a:glow rad="63500">
                    <a:srgbClr val="001633">
                      <a:alpha val="85000"/>
                    </a:srgbClr>
                  </a:glow>
                </a:effectLst>
                <a:latin typeface="Montserrat"/>
              </a:rPr>
              <a:t>mínimos cuadrados, filtro de Kalman</a:t>
            </a:r>
          </a:p>
        </p:txBody>
      </p:sp>
      <p:cxnSp>
        <p:nvCxnSpPr>
          <p:cNvPr id="28" name="Raya"/>
          <p:cNvCxnSpPr/>
          <p:nvPr/>
        </p:nvCxnSpPr>
        <p:spPr>
          <a:xfrm>
            <a:off x="1399032" y="539496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1399032" y="5440680"/>
            <a:ext cx="2105406" cy="36576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fricción de polines de una correa</a:t>
            </a:r>
          </a:p>
        </p:txBody>
      </p:sp>
      <p:sp>
        <p:nvSpPr>
          <p:cNvPr id="30" name="Variante Física + corrección"/>
          <p:cNvSpPr/>
          <p:nvPr/>
        </p:nvSpPr>
        <p:spPr>
          <a:xfrm>
            <a:off x="3797046" y="4160520"/>
            <a:ext cx="2379726" cy="1645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Borde"/>
          <p:cNvSpPr/>
          <p:nvPr/>
        </p:nvSpPr>
        <p:spPr>
          <a:xfrm>
            <a:off x="3797046" y="4160520"/>
            <a:ext cx="237972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3943350" y="4270248"/>
            <a:ext cx="2105406"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Física + corrección</a:t>
            </a:r>
          </a:p>
        </p:txBody>
      </p:sp>
      <p:sp>
        <p:nvSpPr>
          <p:cNvPr id="33" name="TextBox 32"/>
          <p:cNvSpPr txBox="1"/>
          <p:nvPr/>
        </p:nvSpPr>
        <p:spPr>
          <a:xfrm>
            <a:off x="3943350" y="4572000"/>
            <a:ext cx="2105406"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un modelo de datos aprende el error de la física</a:t>
            </a:r>
          </a:p>
        </p:txBody>
      </p:sp>
      <p:sp>
        <p:nvSpPr>
          <p:cNvPr id="34" name="TextBox 33"/>
          <p:cNvSpPr txBox="1"/>
          <p:nvPr/>
        </p:nvSpPr>
        <p:spPr>
          <a:xfrm>
            <a:off x="3943350" y="5010912"/>
            <a:ext cx="2105406" cy="36576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Técnica: </a:t>
            </a:r>
            <a:r>
              <a:rPr sz="850" b="0" i="0">
                <a:solidFill>
                  <a:srgbClr val="FFFFFF"/>
                </a:solidFill>
                <a:effectLst>
                  <a:glow rad="63500">
                    <a:srgbClr val="001633">
                      <a:alpha val="85000"/>
                    </a:srgbClr>
                  </a:glow>
                </a:effectLst>
                <a:latin typeface="Montserrat"/>
              </a:rPr>
              <a:t>regresión o red sobre el residuo</a:t>
            </a:r>
          </a:p>
        </p:txBody>
      </p:sp>
      <p:cxnSp>
        <p:nvCxnSpPr>
          <p:cNvPr id="35" name="Raya"/>
          <p:cNvCxnSpPr/>
          <p:nvPr/>
        </p:nvCxnSpPr>
        <p:spPr>
          <a:xfrm>
            <a:off x="3943350" y="539496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3943350" y="5440680"/>
            <a:ext cx="2105406" cy="36576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dureza que la física no ve, en molienda</a:t>
            </a:r>
          </a:p>
        </p:txBody>
      </p:sp>
      <p:sp>
        <p:nvSpPr>
          <p:cNvPr id="37" name="Variante Redes con física (PINN)"/>
          <p:cNvSpPr/>
          <p:nvPr/>
        </p:nvSpPr>
        <p:spPr>
          <a:xfrm>
            <a:off x="6341364" y="4160520"/>
            <a:ext cx="2379726" cy="1645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Borde"/>
          <p:cNvSpPr/>
          <p:nvPr/>
        </p:nvSpPr>
        <p:spPr>
          <a:xfrm>
            <a:off x="6341364" y="4160520"/>
            <a:ext cx="237972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87668" y="4270248"/>
            <a:ext cx="2105406"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Redes con física (PINN)</a:t>
            </a:r>
          </a:p>
        </p:txBody>
      </p:sp>
      <p:sp>
        <p:nvSpPr>
          <p:cNvPr id="40" name="TextBox 39"/>
          <p:cNvSpPr txBox="1"/>
          <p:nvPr/>
        </p:nvSpPr>
        <p:spPr>
          <a:xfrm>
            <a:off x="6487668" y="4572000"/>
            <a:ext cx="2105406"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una red neuronal obligada a respetar las ecuaciones</a:t>
            </a:r>
          </a:p>
        </p:txBody>
      </p:sp>
      <p:sp>
        <p:nvSpPr>
          <p:cNvPr id="41" name="TextBox 40"/>
          <p:cNvSpPr txBox="1"/>
          <p:nvPr/>
        </p:nvSpPr>
        <p:spPr>
          <a:xfrm>
            <a:off x="6487668" y="5010912"/>
            <a:ext cx="2105406" cy="36576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Técnica: </a:t>
            </a:r>
            <a:r>
              <a:rPr sz="850" b="0" i="0">
                <a:solidFill>
                  <a:srgbClr val="FFFFFF"/>
                </a:solidFill>
                <a:effectLst>
                  <a:glow rad="63500">
                    <a:srgbClr val="001633">
                      <a:alpha val="85000"/>
                    </a:srgbClr>
                  </a:glow>
                </a:effectLst>
                <a:latin typeface="Montserrat"/>
              </a:rPr>
              <a:t>pérdida que penaliza violar el balance</a:t>
            </a:r>
          </a:p>
        </p:txBody>
      </p:sp>
      <p:cxnSp>
        <p:nvCxnSpPr>
          <p:cNvPr id="42" name="Raya"/>
          <p:cNvCxnSpPr/>
          <p:nvPr/>
        </p:nvCxnSpPr>
        <p:spPr>
          <a:xfrm>
            <a:off x="6487668" y="539496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87668" y="5440680"/>
            <a:ext cx="2105406" cy="36576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flujo de pulpa en tuberías de relaves</a:t>
            </a:r>
          </a:p>
        </p:txBody>
      </p:sp>
      <p:sp>
        <p:nvSpPr>
          <p:cNvPr id="44" name="Variante Orden reducido"/>
          <p:cNvSpPr/>
          <p:nvPr/>
        </p:nvSpPr>
        <p:spPr>
          <a:xfrm>
            <a:off x="8885682" y="4160520"/>
            <a:ext cx="2379726" cy="1645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Borde"/>
          <p:cNvSpPr/>
          <p:nvPr/>
        </p:nvSpPr>
        <p:spPr>
          <a:xfrm>
            <a:off x="8885682" y="4160520"/>
            <a:ext cx="2379726"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9031986" y="4270248"/>
            <a:ext cx="2105406"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Orden reducido</a:t>
            </a:r>
          </a:p>
        </p:txBody>
      </p:sp>
      <p:sp>
        <p:nvSpPr>
          <p:cNvPr id="47" name="TextBox 46"/>
          <p:cNvSpPr txBox="1"/>
          <p:nvPr/>
        </p:nvSpPr>
        <p:spPr>
          <a:xfrm>
            <a:off x="9031986" y="4572000"/>
            <a:ext cx="2105406"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un modelo detallado se simplifica para correr rápido</a:t>
            </a:r>
          </a:p>
        </p:txBody>
      </p:sp>
      <p:sp>
        <p:nvSpPr>
          <p:cNvPr id="48" name="TextBox 47"/>
          <p:cNvSpPr txBox="1"/>
          <p:nvPr/>
        </p:nvSpPr>
        <p:spPr>
          <a:xfrm>
            <a:off x="9031986" y="5010912"/>
            <a:ext cx="2105406" cy="36576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Técnica: </a:t>
            </a:r>
            <a:r>
              <a:rPr sz="850" b="0" i="0">
                <a:solidFill>
                  <a:srgbClr val="FFFFFF"/>
                </a:solidFill>
                <a:effectLst>
                  <a:glow rad="63500">
                    <a:srgbClr val="001633">
                      <a:alpha val="85000"/>
                    </a:srgbClr>
                  </a:glow>
                </a:effectLst>
                <a:latin typeface="Montserrat"/>
              </a:rPr>
              <a:t>POD o modelo sustituto entrenado con simulaciones</a:t>
            </a:r>
          </a:p>
        </p:txBody>
      </p:sp>
      <p:cxnSp>
        <p:nvCxnSpPr>
          <p:cNvPr id="49" name="Raya"/>
          <p:cNvCxnSpPr/>
          <p:nvPr/>
        </p:nvCxnSpPr>
        <p:spPr>
          <a:xfrm>
            <a:off x="9031986" y="539496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031986" y="5440680"/>
            <a:ext cx="2105406" cy="36576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un CFD de ciclón resumido a una curva</a:t>
            </a:r>
          </a:p>
        </p:txBody>
      </p:sp>
      <p:sp>
        <p:nvSpPr>
          <p:cNvPr id="5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Tipos de modelo híbrido: elaboración propia sobre la literatura de modelos grey-box · ejemplos ilustrativos</a:t>
            </a:r>
          </a:p>
        </p:txBody>
      </p:sp>
      <p:sp>
        <p:nvSpPr>
          <p:cNvPr id="5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I actual"/>
          <p:cNvSpPr/>
          <p:nvPr/>
        </p:nvSpPr>
        <p:spPr>
          <a:xfrm>
            <a:off x="5001768" y="6510528"/>
            <a:ext cx="345112"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6/31 </a:t>
            </a:r>
            <a:r>
              <a:rPr sz="1000" b="0" i="0">
                <a:solidFill>
                  <a:srgbClr val="A9B8C9"/>
                </a:solidFill>
                <a:effectLst>
                  <a:glow rad="63500">
                    <a:srgbClr val="001633">
                      <a:alpha val="85000"/>
                    </a:srgbClr>
                  </a:glow>
                </a:effectLst>
                <a:latin typeface="Montserrat"/>
              </a:rPr>
              <a:t>· Gemelos Digitales para Minería 4.0 · 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Seis preguntas ubican cada activo entre la física y los datos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1 · ENFOQUE DEL MODELO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Cada pregunta empuja hacia un extremo. Ningún activo cae en el mismo lado en todas: el promedio dice qué enfoque conviene.</a:t>
            </a:r>
          </a:p>
        </p:txBody>
      </p:sp>
      <p:sp>
        <p:nvSpPr>
          <p:cNvPr id="7" name="TextBox 6"/>
          <p:cNvSpPr txBox="1"/>
          <p:nvPr/>
        </p:nvSpPr>
        <p:spPr>
          <a:xfrm>
            <a:off x="4178808" y="2450592"/>
            <a:ext cx="1371600" cy="228600"/>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FÍSICA</a:t>
            </a:r>
          </a:p>
        </p:txBody>
      </p:sp>
      <p:sp>
        <p:nvSpPr>
          <p:cNvPr id="8" name="TextBox 7"/>
          <p:cNvSpPr txBox="1"/>
          <p:nvPr/>
        </p:nvSpPr>
        <p:spPr>
          <a:xfrm>
            <a:off x="6967728" y="2450592"/>
            <a:ext cx="1371600" cy="228600"/>
          </a:xfrm>
          <a:prstGeom prst="rect">
            <a:avLst/>
          </a:prstGeom>
          <a:noFill/>
        </p:spPr>
        <p:txBody>
          <a:bodyPr wrap="square" lIns="0" tIns="0" rIns="0" bIns="0" anchor="t">
            <a:spAutoFit/>
          </a:bodyPr>
          <a:lstStyle/>
          <a:p>
            <a:pPr algn="ctr">
              <a:spcAft>
                <a:spcPts val="600"/>
              </a:spcAft>
            </a:pPr>
            <a:r>
              <a:rPr sz="950" b="1" i="0">
                <a:solidFill>
                  <a:srgbClr val="FFAB40"/>
                </a:solidFill>
                <a:effectLst>
                  <a:glow rad="63500">
                    <a:srgbClr val="001633">
                      <a:alpha val="85000"/>
                    </a:srgbClr>
                  </a:glow>
                </a:effectLst>
                <a:latin typeface="Montserrat"/>
              </a:rPr>
              <a:t>HÍBRIDO</a:t>
            </a:r>
          </a:p>
        </p:txBody>
      </p:sp>
      <p:sp>
        <p:nvSpPr>
          <p:cNvPr id="9" name="TextBox 8"/>
          <p:cNvSpPr txBox="1"/>
          <p:nvPr/>
        </p:nvSpPr>
        <p:spPr>
          <a:xfrm>
            <a:off x="9756648" y="2450592"/>
            <a:ext cx="1371600" cy="228600"/>
          </a:xfrm>
          <a:prstGeom prst="rect">
            <a:avLst/>
          </a:prstGeom>
          <a:noFill/>
        </p:spPr>
        <p:txBody>
          <a:bodyPr wrap="square" lIns="0" tIns="0" rIns="0" bIns="0" anchor="t">
            <a:spAutoFit/>
          </a:bodyPr>
          <a:lstStyle/>
          <a:p>
            <a:pPr algn="r">
              <a:spcAft>
                <a:spcPts val="600"/>
              </a:spcAft>
            </a:pPr>
            <a:r>
              <a:rPr sz="950" b="1" i="0">
                <a:solidFill>
                  <a:srgbClr val="B39DF0"/>
                </a:solidFill>
                <a:effectLst>
                  <a:glow rad="63500">
                    <a:srgbClr val="001633">
                      <a:alpha val="85000"/>
                    </a:srgbClr>
                  </a:glow>
                </a:effectLst>
                <a:latin typeface="Montserrat"/>
              </a:rPr>
              <a:t>DATOS ▸</a:t>
            </a:r>
          </a:p>
        </p:txBody>
      </p:sp>
      <p:sp>
        <p:nvSpPr>
          <p:cNvPr id="10" name="Criterio Conocimiento del proceso"/>
          <p:cNvSpPr/>
          <p:nvPr/>
        </p:nvSpPr>
        <p:spPr>
          <a:xfrm>
            <a:off x="1252728" y="2724912"/>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89888" y="2724912"/>
            <a:ext cx="2560320" cy="384048"/>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Conocimiento del proceso</a:t>
            </a:r>
          </a:p>
          <a:p>
            <a:pPr algn="l">
              <a:spcAft>
                <a:spcPts val="0"/>
              </a:spcAft>
            </a:pPr>
            <a:r>
              <a:rPr sz="800" b="0" i="0">
                <a:solidFill>
                  <a:srgbClr val="A9B8C9"/>
                </a:solidFill>
                <a:effectLst>
                  <a:glow rad="63500">
                    <a:srgbClr val="001633">
                      <a:alpha val="85000"/>
                    </a:srgbClr>
                  </a:glow>
                </a:effectLst>
                <a:latin typeface="Montserrat"/>
              </a:rPr>
              <a:t>¿se conocen las leyes que lo gobiernan?</a:t>
            </a:r>
          </a:p>
        </p:txBody>
      </p:sp>
      <p:cxnSp>
        <p:nvCxnSpPr>
          <p:cNvPr id="12" name="Mitad física"/>
          <p:cNvCxnSpPr/>
          <p:nvPr/>
        </p:nvCxnSpPr>
        <p:spPr>
          <a:xfrm>
            <a:off x="4178808" y="2990088"/>
            <a:ext cx="3474720" cy="0"/>
          </a:xfrm>
          <a:prstGeom prst="line">
            <a:avLst/>
          </a:prstGeom>
          <a:ln w="3175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13" name="Mitad datos"/>
          <p:cNvCxnSpPr/>
          <p:nvPr/>
        </p:nvCxnSpPr>
        <p:spPr>
          <a:xfrm>
            <a:off x="7653528" y="2990088"/>
            <a:ext cx="3474720" cy="0"/>
          </a:xfrm>
          <a:prstGeom prst="line">
            <a:avLst/>
          </a:prstGeom>
          <a:ln w="31750">
            <a:solidFill>
              <a:srgbClr val="9B6BD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178808" y="2743200"/>
            <a:ext cx="3291840" cy="182880"/>
          </a:xfrm>
          <a:prstGeom prst="rect">
            <a:avLst/>
          </a:prstGeom>
          <a:noFill/>
        </p:spPr>
        <p:txBody>
          <a:bodyPr wrap="square" lIns="0" tIns="0" rIns="0" bIns="0" anchor="t">
            <a:spAutoFit/>
          </a:bodyPr>
          <a:lstStyle/>
          <a:p>
            <a:pPr algn="l">
              <a:spcAft>
                <a:spcPts val="600"/>
              </a:spcAft>
            </a:pPr>
            <a:r>
              <a:rPr sz="800" b="0" i="0">
                <a:solidFill>
                  <a:srgbClr val="85D5E6"/>
                </a:solidFill>
                <a:effectLst>
                  <a:glow rad="63500">
                    <a:srgbClr val="001633">
                      <a:alpha val="85000"/>
                    </a:srgbClr>
                  </a:glow>
                </a:effectLst>
                <a:latin typeface="Montserrat"/>
              </a:rPr>
              <a:t>leyes conocidas</a:t>
            </a:r>
          </a:p>
        </p:txBody>
      </p:sp>
      <p:sp>
        <p:nvSpPr>
          <p:cNvPr id="15" name="TextBox 14"/>
          <p:cNvSpPr txBox="1"/>
          <p:nvPr/>
        </p:nvSpPr>
        <p:spPr>
          <a:xfrm>
            <a:off x="7836408" y="2743200"/>
            <a:ext cx="3291840" cy="182880"/>
          </a:xfrm>
          <a:prstGeom prst="rect">
            <a:avLst/>
          </a:prstGeom>
          <a:noFill/>
        </p:spPr>
        <p:txBody>
          <a:bodyPr wrap="square" lIns="0" tIns="0" rIns="0" bIns="0" anchor="t">
            <a:spAutoFit/>
          </a:bodyPr>
          <a:lstStyle/>
          <a:p>
            <a:pPr algn="r">
              <a:spcAft>
                <a:spcPts val="600"/>
              </a:spcAft>
            </a:pPr>
            <a:r>
              <a:rPr sz="800" b="0" i="0">
                <a:solidFill>
                  <a:srgbClr val="B39DF0"/>
                </a:solidFill>
                <a:effectLst>
                  <a:glow rad="63500">
                    <a:srgbClr val="001633">
                      <a:alpha val="85000"/>
                    </a:srgbClr>
                  </a:glow>
                </a:effectLst>
                <a:latin typeface="Montserrat"/>
              </a:rPr>
              <a:t>nadie sabe bien por qué</a:t>
            </a:r>
          </a:p>
        </p:txBody>
      </p:sp>
      <p:sp>
        <p:nvSpPr>
          <p:cNvPr id="16" name="Tranque nuevo Conocimiento del proceso"/>
          <p:cNvSpPr/>
          <p:nvPr/>
        </p:nvSpPr>
        <p:spPr>
          <a:xfrm>
            <a:off x="5143500" y="2912364"/>
            <a:ext cx="155448" cy="155448"/>
          </a:xfrm>
          <a:prstGeom prst="ellipse">
            <a:avLst/>
          </a:prstGeom>
          <a:solidFill>
            <a:srgbClr val="FFFFFF"/>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olino SAG Conocimiento del proceso"/>
          <p:cNvSpPr/>
          <p:nvPr/>
        </p:nvSpPr>
        <p:spPr>
          <a:xfrm>
            <a:off x="6533388" y="2912364"/>
            <a:ext cx="155448" cy="155448"/>
          </a:xfrm>
          <a:prstGeom prst="ellipse">
            <a:avLst/>
          </a:prstGeom>
          <a:solidFill>
            <a:srgbClr val="FFAB40"/>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ensor de P80 Conocimiento del proceso"/>
          <p:cNvSpPr/>
          <p:nvPr/>
        </p:nvSpPr>
        <p:spPr>
          <a:xfrm>
            <a:off x="9313164" y="2912364"/>
            <a:ext cx="155448" cy="155448"/>
          </a:xfrm>
          <a:prstGeom prst="ellipse">
            <a:avLst/>
          </a:prstGeom>
          <a:solidFill>
            <a:srgbClr val="2BA88A"/>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Criterio Datos históricos"/>
          <p:cNvSpPr/>
          <p:nvPr/>
        </p:nvSpPr>
        <p:spPr>
          <a:xfrm>
            <a:off x="1252728" y="3163824"/>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1389888" y="3163824"/>
            <a:ext cx="2560320" cy="384048"/>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Datos históricos</a:t>
            </a:r>
          </a:p>
          <a:p>
            <a:pPr algn="l">
              <a:spcAft>
                <a:spcPts val="0"/>
              </a:spcAft>
            </a:pPr>
            <a:r>
              <a:rPr sz="800" b="0" i="0">
                <a:solidFill>
                  <a:srgbClr val="A9B8C9"/>
                </a:solidFill>
                <a:effectLst>
                  <a:glow rad="63500">
                    <a:srgbClr val="001633">
                      <a:alpha val="85000"/>
                    </a:srgbClr>
                  </a:glow>
                </a:effectLst>
                <a:latin typeface="Montserrat"/>
              </a:rPr>
              <a:t>¿hay historia suficiente y confiable?</a:t>
            </a:r>
          </a:p>
        </p:txBody>
      </p:sp>
      <p:cxnSp>
        <p:nvCxnSpPr>
          <p:cNvPr id="21" name="Mitad física"/>
          <p:cNvCxnSpPr/>
          <p:nvPr/>
        </p:nvCxnSpPr>
        <p:spPr>
          <a:xfrm>
            <a:off x="4178808" y="3429000"/>
            <a:ext cx="3474720" cy="0"/>
          </a:xfrm>
          <a:prstGeom prst="line">
            <a:avLst/>
          </a:prstGeom>
          <a:ln w="3175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22" name="Mitad datos"/>
          <p:cNvCxnSpPr/>
          <p:nvPr/>
        </p:nvCxnSpPr>
        <p:spPr>
          <a:xfrm>
            <a:off x="7653528" y="3429000"/>
            <a:ext cx="3474720" cy="0"/>
          </a:xfrm>
          <a:prstGeom prst="line">
            <a:avLst/>
          </a:prstGeom>
          <a:ln w="31750">
            <a:solidFill>
              <a:srgbClr val="9B6BD6"/>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178808" y="3182112"/>
            <a:ext cx="3291840" cy="182880"/>
          </a:xfrm>
          <a:prstGeom prst="rect">
            <a:avLst/>
          </a:prstGeom>
          <a:noFill/>
        </p:spPr>
        <p:txBody>
          <a:bodyPr wrap="square" lIns="0" tIns="0" rIns="0" bIns="0" anchor="t">
            <a:spAutoFit/>
          </a:bodyPr>
          <a:lstStyle/>
          <a:p>
            <a:pPr algn="l">
              <a:spcAft>
                <a:spcPts val="600"/>
              </a:spcAft>
            </a:pPr>
            <a:r>
              <a:rPr sz="800" b="0" i="0">
                <a:solidFill>
                  <a:srgbClr val="85D5E6"/>
                </a:solidFill>
                <a:effectLst>
                  <a:glow rad="63500">
                    <a:srgbClr val="001633">
                      <a:alpha val="85000"/>
                    </a:srgbClr>
                  </a:glow>
                </a:effectLst>
                <a:latin typeface="Montserrat"/>
              </a:rPr>
              <a:t>poca o ninguna historia</a:t>
            </a:r>
          </a:p>
        </p:txBody>
      </p:sp>
      <p:sp>
        <p:nvSpPr>
          <p:cNvPr id="24" name="TextBox 23"/>
          <p:cNvSpPr txBox="1"/>
          <p:nvPr/>
        </p:nvSpPr>
        <p:spPr>
          <a:xfrm>
            <a:off x="7836408" y="3182112"/>
            <a:ext cx="3291840" cy="182880"/>
          </a:xfrm>
          <a:prstGeom prst="rect">
            <a:avLst/>
          </a:prstGeom>
          <a:noFill/>
        </p:spPr>
        <p:txBody>
          <a:bodyPr wrap="square" lIns="0" tIns="0" rIns="0" bIns="0" anchor="t">
            <a:spAutoFit/>
          </a:bodyPr>
          <a:lstStyle/>
          <a:p>
            <a:pPr algn="r">
              <a:spcAft>
                <a:spcPts val="600"/>
              </a:spcAft>
            </a:pPr>
            <a:r>
              <a:rPr sz="800" b="0" i="0">
                <a:solidFill>
                  <a:srgbClr val="B39DF0"/>
                </a:solidFill>
                <a:effectLst>
                  <a:glow rad="63500">
                    <a:srgbClr val="001633">
                      <a:alpha val="85000"/>
                    </a:srgbClr>
                  </a:glow>
                </a:effectLst>
                <a:latin typeface="Montserrat"/>
              </a:rPr>
              <a:t>años de datos buenos</a:t>
            </a:r>
          </a:p>
        </p:txBody>
      </p:sp>
      <p:sp>
        <p:nvSpPr>
          <p:cNvPr id="25" name="Tranque nuevo Datos históricos"/>
          <p:cNvSpPr/>
          <p:nvPr/>
        </p:nvSpPr>
        <p:spPr>
          <a:xfrm>
            <a:off x="4657039" y="3351276"/>
            <a:ext cx="155448" cy="155448"/>
          </a:xfrm>
          <a:prstGeom prst="ellipse">
            <a:avLst/>
          </a:prstGeom>
          <a:solidFill>
            <a:srgbClr val="FFFFFF"/>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Molino SAG Datos históricos"/>
          <p:cNvSpPr/>
          <p:nvPr/>
        </p:nvSpPr>
        <p:spPr>
          <a:xfrm>
            <a:off x="9660636" y="3351276"/>
            <a:ext cx="155448" cy="155448"/>
          </a:xfrm>
          <a:prstGeom prst="ellipse">
            <a:avLst/>
          </a:prstGeom>
          <a:solidFill>
            <a:srgbClr val="FFAB40"/>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Sensor de P80 Datos históricos"/>
          <p:cNvSpPr/>
          <p:nvPr/>
        </p:nvSpPr>
        <p:spPr>
          <a:xfrm>
            <a:off x="10216591" y="3351276"/>
            <a:ext cx="155448" cy="155448"/>
          </a:xfrm>
          <a:prstGeom prst="ellipse">
            <a:avLst/>
          </a:prstGeom>
          <a:solidFill>
            <a:srgbClr val="2BA88A"/>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Criterio Rango de operación"/>
          <p:cNvSpPr/>
          <p:nvPr/>
        </p:nvSpPr>
        <p:spPr>
          <a:xfrm>
            <a:off x="1252728" y="3602736"/>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389888" y="3602736"/>
            <a:ext cx="2560320" cy="384048"/>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Rango de operación</a:t>
            </a:r>
          </a:p>
          <a:p>
            <a:pPr algn="l">
              <a:spcAft>
                <a:spcPts val="0"/>
              </a:spcAft>
            </a:pPr>
            <a:r>
              <a:rPr sz="800" b="0" i="0">
                <a:solidFill>
                  <a:srgbClr val="A9B8C9"/>
                </a:solidFill>
                <a:effectLst>
                  <a:glow rad="63500">
                    <a:srgbClr val="001633">
                      <a:alpha val="85000"/>
                    </a:srgbClr>
                  </a:glow>
                </a:effectLst>
                <a:latin typeface="Montserrat"/>
              </a:rPr>
              <a:t>¿se va a operar fuera de lo ya visto?</a:t>
            </a:r>
          </a:p>
        </p:txBody>
      </p:sp>
      <p:cxnSp>
        <p:nvCxnSpPr>
          <p:cNvPr id="30" name="Mitad física"/>
          <p:cNvCxnSpPr/>
          <p:nvPr/>
        </p:nvCxnSpPr>
        <p:spPr>
          <a:xfrm>
            <a:off x="4178808" y="3867912"/>
            <a:ext cx="3474720" cy="0"/>
          </a:xfrm>
          <a:prstGeom prst="line">
            <a:avLst/>
          </a:prstGeom>
          <a:ln w="3175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31" name="Mitad datos"/>
          <p:cNvCxnSpPr/>
          <p:nvPr/>
        </p:nvCxnSpPr>
        <p:spPr>
          <a:xfrm>
            <a:off x="7653528" y="3867912"/>
            <a:ext cx="3474720" cy="0"/>
          </a:xfrm>
          <a:prstGeom prst="line">
            <a:avLst/>
          </a:prstGeom>
          <a:ln w="31750">
            <a:solidFill>
              <a:srgbClr val="9B6BD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4178808" y="3621024"/>
            <a:ext cx="3291840" cy="182880"/>
          </a:xfrm>
          <a:prstGeom prst="rect">
            <a:avLst/>
          </a:prstGeom>
          <a:noFill/>
        </p:spPr>
        <p:txBody>
          <a:bodyPr wrap="square" lIns="0" tIns="0" rIns="0" bIns="0" anchor="t">
            <a:spAutoFit/>
          </a:bodyPr>
          <a:lstStyle/>
          <a:p>
            <a:pPr algn="l">
              <a:spcAft>
                <a:spcPts val="600"/>
              </a:spcAft>
            </a:pPr>
            <a:r>
              <a:rPr sz="800" b="0" i="0">
                <a:solidFill>
                  <a:srgbClr val="85D5E6"/>
                </a:solidFill>
                <a:effectLst>
                  <a:glow rad="63500">
                    <a:srgbClr val="001633">
                      <a:alpha val="85000"/>
                    </a:srgbClr>
                  </a:glow>
                </a:effectLst>
                <a:latin typeface="Montserrat"/>
              </a:rPr>
              <a:t>condiciones nuevas</a:t>
            </a:r>
          </a:p>
        </p:txBody>
      </p:sp>
      <p:sp>
        <p:nvSpPr>
          <p:cNvPr id="33" name="TextBox 32"/>
          <p:cNvSpPr txBox="1"/>
          <p:nvPr/>
        </p:nvSpPr>
        <p:spPr>
          <a:xfrm>
            <a:off x="7836408" y="3621024"/>
            <a:ext cx="3291840" cy="182880"/>
          </a:xfrm>
          <a:prstGeom prst="rect">
            <a:avLst/>
          </a:prstGeom>
          <a:noFill/>
        </p:spPr>
        <p:txBody>
          <a:bodyPr wrap="square" lIns="0" tIns="0" rIns="0" bIns="0" anchor="t">
            <a:spAutoFit/>
          </a:bodyPr>
          <a:lstStyle/>
          <a:p>
            <a:pPr algn="r">
              <a:spcAft>
                <a:spcPts val="600"/>
              </a:spcAft>
            </a:pPr>
            <a:r>
              <a:rPr sz="800" b="0" i="0">
                <a:solidFill>
                  <a:srgbClr val="B39DF0"/>
                </a:solidFill>
                <a:effectLst>
                  <a:glow rad="63500">
                    <a:srgbClr val="001633">
                      <a:alpha val="85000"/>
                    </a:srgbClr>
                  </a:glow>
                </a:effectLst>
                <a:latin typeface="Montserrat"/>
              </a:rPr>
              <a:t>siempre dentro de lo visto</a:t>
            </a:r>
          </a:p>
        </p:txBody>
      </p:sp>
      <p:sp>
        <p:nvSpPr>
          <p:cNvPr id="34" name="Tranque nuevo Rango de operación"/>
          <p:cNvSpPr/>
          <p:nvPr/>
        </p:nvSpPr>
        <p:spPr>
          <a:xfrm>
            <a:off x="4796028" y="3790188"/>
            <a:ext cx="155448" cy="155448"/>
          </a:xfrm>
          <a:prstGeom prst="ellipse">
            <a:avLst/>
          </a:prstGeom>
          <a:solidFill>
            <a:srgbClr val="FFFFFF"/>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Molino SAG Rango de operación"/>
          <p:cNvSpPr/>
          <p:nvPr/>
        </p:nvSpPr>
        <p:spPr>
          <a:xfrm>
            <a:off x="6880860" y="3790188"/>
            <a:ext cx="155448" cy="155448"/>
          </a:xfrm>
          <a:prstGeom prst="ellipse">
            <a:avLst/>
          </a:prstGeom>
          <a:solidFill>
            <a:srgbClr val="FFAB40"/>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Sensor de P80 Rango de operación"/>
          <p:cNvSpPr/>
          <p:nvPr/>
        </p:nvSpPr>
        <p:spPr>
          <a:xfrm>
            <a:off x="9521647" y="3790188"/>
            <a:ext cx="155448" cy="155448"/>
          </a:xfrm>
          <a:prstGeom prst="ellipse">
            <a:avLst/>
          </a:prstGeom>
          <a:solidFill>
            <a:srgbClr val="2BA88A"/>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Criterio Explicabilidad"/>
          <p:cNvSpPr/>
          <p:nvPr/>
        </p:nvSpPr>
        <p:spPr>
          <a:xfrm>
            <a:off x="1252728" y="4041648"/>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389888" y="4041648"/>
            <a:ext cx="2560320" cy="384048"/>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Explicabilidad</a:t>
            </a:r>
          </a:p>
          <a:p>
            <a:pPr algn="l">
              <a:spcAft>
                <a:spcPts val="0"/>
              </a:spcAft>
            </a:pPr>
            <a:r>
              <a:rPr sz="800" b="0" i="0">
                <a:solidFill>
                  <a:srgbClr val="A9B8C9"/>
                </a:solidFill>
                <a:effectLst>
                  <a:glow rad="63500">
                    <a:srgbClr val="001633">
                      <a:alpha val="85000"/>
                    </a:srgbClr>
                  </a:glow>
                </a:effectLst>
                <a:latin typeface="Montserrat"/>
              </a:rPr>
              <a:t>¿el operador necesita entender el porqué?</a:t>
            </a:r>
          </a:p>
        </p:txBody>
      </p:sp>
      <p:cxnSp>
        <p:nvCxnSpPr>
          <p:cNvPr id="39" name="Mitad física"/>
          <p:cNvCxnSpPr/>
          <p:nvPr/>
        </p:nvCxnSpPr>
        <p:spPr>
          <a:xfrm>
            <a:off x="4178808" y="4306824"/>
            <a:ext cx="3474720" cy="0"/>
          </a:xfrm>
          <a:prstGeom prst="line">
            <a:avLst/>
          </a:prstGeom>
          <a:ln w="3175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40" name="Mitad datos"/>
          <p:cNvCxnSpPr/>
          <p:nvPr/>
        </p:nvCxnSpPr>
        <p:spPr>
          <a:xfrm>
            <a:off x="7653528" y="4306824"/>
            <a:ext cx="3474720" cy="0"/>
          </a:xfrm>
          <a:prstGeom prst="line">
            <a:avLst/>
          </a:prstGeom>
          <a:ln w="31750">
            <a:solidFill>
              <a:srgbClr val="9B6BD6"/>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178808" y="4059936"/>
            <a:ext cx="3291840" cy="182880"/>
          </a:xfrm>
          <a:prstGeom prst="rect">
            <a:avLst/>
          </a:prstGeom>
          <a:noFill/>
        </p:spPr>
        <p:txBody>
          <a:bodyPr wrap="square" lIns="0" tIns="0" rIns="0" bIns="0" anchor="t">
            <a:spAutoFit/>
          </a:bodyPr>
          <a:lstStyle/>
          <a:p>
            <a:pPr algn="l">
              <a:spcAft>
                <a:spcPts val="600"/>
              </a:spcAft>
            </a:pPr>
            <a:r>
              <a:rPr sz="800" b="0" i="0">
                <a:solidFill>
                  <a:srgbClr val="85D5E6"/>
                </a:solidFill>
                <a:effectLst>
                  <a:glow rad="63500">
                    <a:srgbClr val="001633">
                      <a:alpha val="85000"/>
                    </a:srgbClr>
                  </a:glow>
                </a:effectLst>
                <a:latin typeface="Montserrat"/>
              </a:rPr>
              <a:t>debe explicarse</a:t>
            </a:r>
          </a:p>
        </p:txBody>
      </p:sp>
      <p:sp>
        <p:nvSpPr>
          <p:cNvPr id="42" name="TextBox 41"/>
          <p:cNvSpPr txBox="1"/>
          <p:nvPr/>
        </p:nvSpPr>
        <p:spPr>
          <a:xfrm>
            <a:off x="7836408" y="4059936"/>
            <a:ext cx="3291840" cy="182880"/>
          </a:xfrm>
          <a:prstGeom prst="rect">
            <a:avLst/>
          </a:prstGeom>
          <a:noFill/>
        </p:spPr>
        <p:txBody>
          <a:bodyPr wrap="square" lIns="0" tIns="0" rIns="0" bIns="0" anchor="t">
            <a:spAutoFit/>
          </a:bodyPr>
          <a:lstStyle/>
          <a:p>
            <a:pPr algn="r">
              <a:spcAft>
                <a:spcPts val="600"/>
              </a:spcAft>
            </a:pPr>
            <a:r>
              <a:rPr sz="800" b="0" i="0">
                <a:solidFill>
                  <a:srgbClr val="B39DF0"/>
                </a:solidFill>
                <a:effectLst>
                  <a:glow rad="63500">
                    <a:srgbClr val="001633">
                      <a:alpha val="85000"/>
                    </a:srgbClr>
                  </a:glow>
                </a:effectLst>
                <a:latin typeface="Montserrat"/>
              </a:rPr>
              <a:t>basta con acertar</a:t>
            </a:r>
          </a:p>
        </p:txBody>
      </p:sp>
      <p:sp>
        <p:nvSpPr>
          <p:cNvPr id="43" name="Tranque nuevo Explicabilidad"/>
          <p:cNvSpPr/>
          <p:nvPr/>
        </p:nvSpPr>
        <p:spPr>
          <a:xfrm>
            <a:off x="5143500" y="4229100"/>
            <a:ext cx="155448" cy="155448"/>
          </a:xfrm>
          <a:prstGeom prst="ellipse">
            <a:avLst/>
          </a:prstGeom>
          <a:solidFill>
            <a:srgbClr val="FFFFFF"/>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Molino SAG Explicabilidad"/>
          <p:cNvSpPr/>
          <p:nvPr/>
        </p:nvSpPr>
        <p:spPr>
          <a:xfrm>
            <a:off x="6533388" y="4229100"/>
            <a:ext cx="155448" cy="155448"/>
          </a:xfrm>
          <a:prstGeom prst="ellipse">
            <a:avLst/>
          </a:prstGeom>
          <a:solidFill>
            <a:srgbClr val="FFAB40"/>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Sensor de P80 Explicabilidad"/>
          <p:cNvSpPr/>
          <p:nvPr/>
        </p:nvSpPr>
        <p:spPr>
          <a:xfrm>
            <a:off x="9104680" y="4229100"/>
            <a:ext cx="155448" cy="155448"/>
          </a:xfrm>
          <a:prstGeom prst="ellipse">
            <a:avLst/>
          </a:prstGeom>
          <a:solidFill>
            <a:srgbClr val="2BA88A"/>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Criterio Tiempo de cálculo"/>
          <p:cNvSpPr/>
          <p:nvPr/>
        </p:nvSpPr>
        <p:spPr>
          <a:xfrm>
            <a:off x="1252728" y="4480560"/>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1389888" y="4480560"/>
            <a:ext cx="2560320" cy="384048"/>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Tiempo de cálculo</a:t>
            </a:r>
          </a:p>
          <a:p>
            <a:pPr algn="l">
              <a:spcAft>
                <a:spcPts val="0"/>
              </a:spcAft>
            </a:pPr>
            <a:r>
              <a:rPr sz="800" b="0" i="0">
                <a:solidFill>
                  <a:srgbClr val="A9B8C9"/>
                </a:solidFill>
                <a:effectLst>
                  <a:glow rad="63500">
                    <a:srgbClr val="001633">
                      <a:alpha val="85000"/>
                    </a:srgbClr>
                  </a:glow>
                </a:effectLst>
                <a:latin typeface="Montserrat"/>
              </a:rPr>
              <a:t>¿cuánto puede tardar cada respuesta?</a:t>
            </a:r>
          </a:p>
        </p:txBody>
      </p:sp>
      <p:cxnSp>
        <p:nvCxnSpPr>
          <p:cNvPr id="48" name="Mitad física"/>
          <p:cNvCxnSpPr/>
          <p:nvPr/>
        </p:nvCxnSpPr>
        <p:spPr>
          <a:xfrm>
            <a:off x="4178808" y="4745736"/>
            <a:ext cx="3474720" cy="0"/>
          </a:xfrm>
          <a:prstGeom prst="line">
            <a:avLst/>
          </a:prstGeom>
          <a:ln w="3175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49" name="Mitad datos"/>
          <p:cNvCxnSpPr/>
          <p:nvPr/>
        </p:nvCxnSpPr>
        <p:spPr>
          <a:xfrm>
            <a:off x="7653528" y="4745736"/>
            <a:ext cx="3474720" cy="0"/>
          </a:xfrm>
          <a:prstGeom prst="line">
            <a:avLst/>
          </a:prstGeom>
          <a:ln w="31750">
            <a:solidFill>
              <a:srgbClr val="9B6BD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4178808" y="4498848"/>
            <a:ext cx="3291840" cy="182880"/>
          </a:xfrm>
          <a:prstGeom prst="rect">
            <a:avLst/>
          </a:prstGeom>
          <a:noFill/>
        </p:spPr>
        <p:txBody>
          <a:bodyPr wrap="square" lIns="0" tIns="0" rIns="0" bIns="0" anchor="t">
            <a:spAutoFit/>
          </a:bodyPr>
          <a:lstStyle/>
          <a:p>
            <a:pPr algn="l">
              <a:spcAft>
                <a:spcPts val="600"/>
              </a:spcAft>
            </a:pPr>
            <a:r>
              <a:rPr sz="800" b="0" i="0">
                <a:solidFill>
                  <a:srgbClr val="85D5E6"/>
                </a:solidFill>
                <a:effectLst>
                  <a:glow rad="63500">
                    <a:srgbClr val="001633">
                      <a:alpha val="85000"/>
                    </a:srgbClr>
                  </a:glow>
                </a:effectLst>
                <a:latin typeface="Montserrat"/>
              </a:rPr>
              <a:t>minutos u horas</a:t>
            </a:r>
          </a:p>
        </p:txBody>
      </p:sp>
      <p:sp>
        <p:nvSpPr>
          <p:cNvPr id="51" name="TextBox 50"/>
          <p:cNvSpPr txBox="1"/>
          <p:nvPr/>
        </p:nvSpPr>
        <p:spPr>
          <a:xfrm>
            <a:off x="7836408" y="4498848"/>
            <a:ext cx="3291840" cy="182880"/>
          </a:xfrm>
          <a:prstGeom prst="rect">
            <a:avLst/>
          </a:prstGeom>
          <a:noFill/>
        </p:spPr>
        <p:txBody>
          <a:bodyPr wrap="square" lIns="0" tIns="0" rIns="0" bIns="0" anchor="t">
            <a:spAutoFit/>
          </a:bodyPr>
          <a:lstStyle/>
          <a:p>
            <a:pPr algn="r">
              <a:spcAft>
                <a:spcPts val="600"/>
              </a:spcAft>
            </a:pPr>
            <a:r>
              <a:rPr sz="800" b="0" i="0">
                <a:solidFill>
                  <a:srgbClr val="B39DF0"/>
                </a:solidFill>
                <a:effectLst>
                  <a:glow rad="63500">
                    <a:srgbClr val="001633">
                      <a:alpha val="85000"/>
                    </a:srgbClr>
                  </a:glow>
                </a:effectLst>
                <a:latin typeface="Montserrat"/>
              </a:rPr>
              <a:t>milisegundos, en el edge</a:t>
            </a:r>
          </a:p>
        </p:txBody>
      </p:sp>
      <p:sp>
        <p:nvSpPr>
          <p:cNvPr id="52" name="Tranque nuevo Tiempo de cálculo"/>
          <p:cNvSpPr/>
          <p:nvPr/>
        </p:nvSpPr>
        <p:spPr>
          <a:xfrm>
            <a:off x="6185916" y="4668012"/>
            <a:ext cx="155448" cy="155448"/>
          </a:xfrm>
          <a:prstGeom prst="ellipse">
            <a:avLst/>
          </a:prstGeom>
          <a:solidFill>
            <a:srgbClr val="FFFFFF"/>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Molino SAG Tiempo de cálculo"/>
          <p:cNvSpPr/>
          <p:nvPr/>
        </p:nvSpPr>
        <p:spPr>
          <a:xfrm>
            <a:off x="7923276" y="4668012"/>
            <a:ext cx="155448" cy="155448"/>
          </a:xfrm>
          <a:prstGeom prst="ellipse">
            <a:avLst/>
          </a:prstGeom>
          <a:solidFill>
            <a:srgbClr val="FFAB40"/>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Sensor de P80 Tiempo de cálculo"/>
          <p:cNvSpPr/>
          <p:nvPr/>
        </p:nvSpPr>
        <p:spPr>
          <a:xfrm>
            <a:off x="9660636" y="4668012"/>
            <a:ext cx="155448" cy="155448"/>
          </a:xfrm>
          <a:prstGeom prst="ellipse">
            <a:avLst/>
          </a:prstGeom>
          <a:solidFill>
            <a:srgbClr val="2BA88A"/>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Criterio Tiempo de desarrollo"/>
          <p:cNvSpPr/>
          <p:nvPr/>
        </p:nvSpPr>
        <p:spPr>
          <a:xfrm>
            <a:off x="1252728" y="4919472"/>
            <a:ext cx="10012680" cy="38404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389888" y="4919472"/>
            <a:ext cx="2560320" cy="384048"/>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Tiempo de desarrollo</a:t>
            </a:r>
          </a:p>
          <a:p>
            <a:pPr algn="l">
              <a:spcAft>
                <a:spcPts val="0"/>
              </a:spcAft>
            </a:pPr>
            <a:r>
              <a:rPr sz="800" b="0" i="0">
                <a:solidFill>
                  <a:srgbClr val="A9B8C9"/>
                </a:solidFill>
                <a:effectLst>
                  <a:glow rad="63500">
                    <a:srgbClr val="001633">
                      <a:alpha val="85000"/>
                    </a:srgbClr>
                  </a:glow>
                </a:effectLst>
                <a:latin typeface="Montserrat"/>
              </a:rPr>
              <a:t>¿cuánto plazo hay para tenerlo?</a:t>
            </a:r>
          </a:p>
        </p:txBody>
      </p:sp>
      <p:cxnSp>
        <p:nvCxnSpPr>
          <p:cNvPr id="57" name="Mitad física"/>
          <p:cNvCxnSpPr/>
          <p:nvPr/>
        </p:nvCxnSpPr>
        <p:spPr>
          <a:xfrm>
            <a:off x="4178808" y="5184648"/>
            <a:ext cx="3474720" cy="0"/>
          </a:xfrm>
          <a:prstGeom prst="line">
            <a:avLst/>
          </a:prstGeom>
          <a:ln w="3175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58" name="Mitad datos"/>
          <p:cNvCxnSpPr/>
          <p:nvPr/>
        </p:nvCxnSpPr>
        <p:spPr>
          <a:xfrm>
            <a:off x="7653528" y="5184648"/>
            <a:ext cx="3474720" cy="0"/>
          </a:xfrm>
          <a:prstGeom prst="line">
            <a:avLst/>
          </a:prstGeom>
          <a:ln w="31750">
            <a:solidFill>
              <a:srgbClr val="9B6BD6"/>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4178808" y="4937760"/>
            <a:ext cx="3291840" cy="182880"/>
          </a:xfrm>
          <a:prstGeom prst="rect">
            <a:avLst/>
          </a:prstGeom>
          <a:noFill/>
        </p:spPr>
        <p:txBody>
          <a:bodyPr wrap="square" lIns="0" tIns="0" rIns="0" bIns="0" anchor="t">
            <a:spAutoFit/>
          </a:bodyPr>
          <a:lstStyle/>
          <a:p>
            <a:pPr algn="l">
              <a:spcAft>
                <a:spcPts val="600"/>
              </a:spcAft>
            </a:pPr>
            <a:r>
              <a:rPr sz="800" b="0" i="0">
                <a:solidFill>
                  <a:srgbClr val="85D5E6"/>
                </a:solidFill>
                <a:effectLst>
                  <a:glow rad="63500">
                    <a:srgbClr val="001633">
                      <a:alpha val="85000"/>
                    </a:srgbClr>
                  </a:glow>
                </a:effectLst>
                <a:latin typeface="Montserrat"/>
              </a:rPr>
              <a:t>meses de ingeniería</a:t>
            </a:r>
          </a:p>
        </p:txBody>
      </p:sp>
      <p:sp>
        <p:nvSpPr>
          <p:cNvPr id="60" name="TextBox 59"/>
          <p:cNvSpPr txBox="1"/>
          <p:nvPr/>
        </p:nvSpPr>
        <p:spPr>
          <a:xfrm>
            <a:off x="7836408" y="4937760"/>
            <a:ext cx="3291840" cy="182880"/>
          </a:xfrm>
          <a:prstGeom prst="rect">
            <a:avLst/>
          </a:prstGeom>
          <a:noFill/>
        </p:spPr>
        <p:txBody>
          <a:bodyPr wrap="square" lIns="0" tIns="0" rIns="0" bIns="0" anchor="t">
            <a:spAutoFit/>
          </a:bodyPr>
          <a:lstStyle/>
          <a:p>
            <a:pPr algn="r">
              <a:spcAft>
                <a:spcPts val="600"/>
              </a:spcAft>
            </a:pPr>
            <a:r>
              <a:rPr sz="800" b="0" i="0">
                <a:solidFill>
                  <a:srgbClr val="B39DF0"/>
                </a:solidFill>
                <a:effectLst>
                  <a:glow rad="63500">
                    <a:srgbClr val="001633">
                      <a:alpha val="85000"/>
                    </a:srgbClr>
                  </a:glow>
                </a:effectLst>
                <a:latin typeface="Montserrat"/>
              </a:rPr>
              <a:t>hay que partir ya</a:t>
            </a:r>
          </a:p>
        </p:txBody>
      </p:sp>
      <p:sp>
        <p:nvSpPr>
          <p:cNvPr id="61" name="Tranque nuevo Tiempo de desarrollo"/>
          <p:cNvSpPr/>
          <p:nvPr/>
        </p:nvSpPr>
        <p:spPr>
          <a:xfrm>
            <a:off x="5838444" y="5106924"/>
            <a:ext cx="155448" cy="155448"/>
          </a:xfrm>
          <a:prstGeom prst="ellipse">
            <a:avLst/>
          </a:prstGeom>
          <a:solidFill>
            <a:srgbClr val="FFFFFF"/>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Molino SAG Tiempo de desarrollo"/>
          <p:cNvSpPr/>
          <p:nvPr/>
        </p:nvSpPr>
        <p:spPr>
          <a:xfrm>
            <a:off x="8270748" y="5106924"/>
            <a:ext cx="155448" cy="155448"/>
          </a:xfrm>
          <a:prstGeom prst="ellipse">
            <a:avLst/>
          </a:prstGeom>
          <a:solidFill>
            <a:srgbClr val="FFAB40"/>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Sensor de P80 Tiempo de desarrollo"/>
          <p:cNvSpPr/>
          <p:nvPr/>
        </p:nvSpPr>
        <p:spPr>
          <a:xfrm>
            <a:off x="10008108" y="5106924"/>
            <a:ext cx="155448" cy="155448"/>
          </a:xfrm>
          <a:prstGeom prst="ellipse">
            <a:avLst/>
          </a:prstGeom>
          <a:solidFill>
            <a:srgbClr val="2BA88A"/>
          </a:solidFill>
          <a:ln w="12700">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Resultado"/>
          <p:cNvSpPr/>
          <p:nvPr/>
        </p:nvSpPr>
        <p:spPr>
          <a:xfrm>
            <a:off x="1252728" y="5367528"/>
            <a:ext cx="10012680" cy="438912"/>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TextBox 64"/>
          <p:cNvSpPr txBox="1"/>
          <p:nvPr/>
        </p:nvSpPr>
        <p:spPr>
          <a:xfrm>
            <a:off x="1389888" y="5367528"/>
            <a:ext cx="2560320" cy="457200"/>
          </a:xfrm>
          <a:prstGeom prst="rect">
            <a:avLst/>
          </a:prstGeom>
          <a:noFill/>
        </p:spPr>
        <p:txBody>
          <a:bodyPr wrap="square" lIns="0" tIns="0" rIns="0" bIns="0" anchor="ctr">
            <a:spAutoFit/>
          </a:bodyPr>
          <a:lstStyle/>
          <a:p>
            <a:pPr algn="l">
              <a:spcAft>
                <a:spcPts val="0"/>
              </a:spcAft>
            </a:pPr>
            <a:r>
              <a:rPr sz="1100" b="1" i="0">
                <a:solidFill>
                  <a:srgbClr val="FFAB40"/>
                </a:solidFill>
                <a:effectLst>
                  <a:glow rad="63500">
                    <a:srgbClr val="001633">
                      <a:alpha val="85000"/>
                    </a:srgbClr>
                  </a:glow>
                </a:effectLst>
                <a:latin typeface="Montserrat"/>
              </a:rPr>
              <a:t>Resultado</a:t>
            </a:r>
          </a:p>
          <a:p>
            <a:pPr algn="l">
              <a:spcAft>
                <a:spcPts val="0"/>
              </a:spcAft>
            </a:pPr>
            <a:r>
              <a:rPr sz="800" b="0" i="0">
                <a:solidFill>
                  <a:srgbClr val="A9B8C9"/>
                </a:solidFill>
                <a:effectLst>
                  <a:glow rad="63500">
                    <a:srgbClr val="001633">
                      <a:alpha val="85000"/>
                    </a:srgbClr>
                  </a:glow>
                </a:effectLst>
                <a:latin typeface="Montserrat"/>
              </a:rPr>
              <a:t>promedio de las seis</a:t>
            </a:r>
          </a:p>
        </p:txBody>
      </p:sp>
      <p:sp>
        <p:nvSpPr>
          <p:cNvPr id="66" name="Zona 0"/>
          <p:cNvSpPr/>
          <p:nvPr/>
        </p:nvSpPr>
        <p:spPr>
          <a:xfrm>
            <a:off x="4178808" y="5477256"/>
            <a:ext cx="2316480" cy="237744"/>
          </a:xfrm>
          <a:prstGeom prst="rect">
            <a:avLst/>
          </a:prstGeom>
          <a:solidFill>
            <a:srgbClr val="85D5E6">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Zona 1"/>
          <p:cNvSpPr/>
          <p:nvPr/>
        </p:nvSpPr>
        <p:spPr>
          <a:xfrm>
            <a:off x="6495288" y="5477256"/>
            <a:ext cx="2316480" cy="237744"/>
          </a:xfrm>
          <a:prstGeom prst="rect">
            <a:avLst/>
          </a:prstGeom>
          <a:solidFill>
            <a:srgbClr val="FFAB40">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Zona 2"/>
          <p:cNvSpPr/>
          <p:nvPr/>
        </p:nvSpPr>
        <p:spPr>
          <a:xfrm>
            <a:off x="8811768" y="5477256"/>
            <a:ext cx="2316480" cy="237744"/>
          </a:xfrm>
          <a:prstGeom prst="rect">
            <a:avLst/>
          </a:prstGeom>
          <a:solidFill>
            <a:srgbClr val="9B6BD6">
              <a:alpha val="3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Resultado Tranque nuevo"/>
          <p:cNvSpPr/>
          <p:nvPr/>
        </p:nvSpPr>
        <p:spPr>
          <a:xfrm>
            <a:off x="5262067" y="5486400"/>
            <a:ext cx="219456" cy="219456"/>
          </a:xfrm>
          <a:prstGeom prst="ellipse">
            <a:avLst/>
          </a:prstGeom>
          <a:solidFill>
            <a:srgbClr val="FFFFFF"/>
          </a:solidFill>
          <a:ln w="15875">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p:cNvSpPr txBox="1"/>
          <p:nvPr/>
        </p:nvSpPr>
        <p:spPr>
          <a:xfrm>
            <a:off x="5518099" y="5477256"/>
            <a:ext cx="2011680" cy="23774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Tranque nuevo → física</a:t>
            </a:r>
          </a:p>
        </p:txBody>
      </p:sp>
      <p:sp>
        <p:nvSpPr>
          <p:cNvPr id="71" name="Resultado Molino SAG"/>
          <p:cNvSpPr/>
          <p:nvPr/>
        </p:nvSpPr>
        <p:spPr>
          <a:xfrm>
            <a:off x="7601712" y="5486400"/>
            <a:ext cx="219456" cy="219456"/>
          </a:xfrm>
          <a:prstGeom prst="ellipse">
            <a:avLst/>
          </a:prstGeom>
          <a:solidFill>
            <a:srgbClr val="FFAB40"/>
          </a:solidFill>
          <a:ln w="15875">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TextBox 71"/>
          <p:cNvSpPr txBox="1"/>
          <p:nvPr/>
        </p:nvSpPr>
        <p:spPr>
          <a:xfrm>
            <a:off x="7857744" y="5477256"/>
            <a:ext cx="2011680" cy="23774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Molino SAG → híbrido</a:t>
            </a:r>
          </a:p>
        </p:txBody>
      </p:sp>
      <p:sp>
        <p:nvSpPr>
          <p:cNvPr id="73" name="Resultado Sensor de P80"/>
          <p:cNvSpPr/>
          <p:nvPr/>
        </p:nvSpPr>
        <p:spPr>
          <a:xfrm>
            <a:off x="9605467" y="5486400"/>
            <a:ext cx="219456" cy="219456"/>
          </a:xfrm>
          <a:prstGeom prst="ellipse">
            <a:avLst/>
          </a:prstGeom>
          <a:solidFill>
            <a:srgbClr val="2BA88A"/>
          </a:solidFill>
          <a:ln w="15875">
            <a:solidFill>
              <a:srgbClr val="00163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TextBox 73"/>
          <p:cNvSpPr txBox="1"/>
          <p:nvPr/>
        </p:nvSpPr>
        <p:spPr>
          <a:xfrm>
            <a:off x="9861499" y="5477256"/>
            <a:ext cx="2011680" cy="23774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Sensor de P80 → datos</a:t>
            </a:r>
          </a:p>
        </p:txBody>
      </p:sp>
      <p:sp>
        <p:nvSpPr>
          <p:cNvPr id="75" name="Leyenda Tranque nuevo"/>
          <p:cNvSpPr/>
          <p:nvPr/>
        </p:nvSpPr>
        <p:spPr>
          <a:xfrm>
            <a:off x="1389888" y="2496312"/>
            <a:ext cx="128016" cy="1280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TextBox 75"/>
          <p:cNvSpPr txBox="1"/>
          <p:nvPr/>
        </p:nvSpPr>
        <p:spPr>
          <a:xfrm>
            <a:off x="1554480" y="2432304"/>
            <a:ext cx="868680" cy="274320"/>
          </a:xfrm>
          <a:prstGeom prst="rect">
            <a:avLst/>
          </a:prstGeom>
          <a:noFill/>
        </p:spPr>
        <p:txBody>
          <a:bodyPr wrap="square" lIns="0" tIns="0" rIns="0" bIns="0" anchor="ctr">
            <a:spAutoFit/>
          </a:bodyPr>
          <a:lstStyle/>
          <a:p>
            <a:pPr algn="l">
              <a:spcAft>
                <a:spcPts val="600"/>
              </a:spcAft>
            </a:pPr>
            <a:r>
              <a:rPr sz="750" b="1" i="0">
                <a:solidFill>
                  <a:srgbClr val="FFFFFF"/>
                </a:solidFill>
                <a:effectLst>
                  <a:glow rad="63500">
                    <a:srgbClr val="001633">
                      <a:alpha val="85000"/>
                    </a:srgbClr>
                  </a:glow>
                </a:effectLst>
                <a:latin typeface="Montserrat"/>
              </a:rPr>
              <a:t>Tranque nuevo</a:t>
            </a:r>
          </a:p>
        </p:txBody>
      </p:sp>
      <p:sp>
        <p:nvSpPr>
          <p:cNvPr id="77" name="Leyenda Molino SAG"/>
          <p:cNvSpPr/>
          <p:nvPr/>
        </p:nvSpPr>
        <p:spPr>
          <a:xfrm>
            <a:off x="2350008" y="2496312"/>
            <a:ext cx="128016" cy="128016"/>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TextBox 77"/>
          <p:cNvSpPr txBox="1"/>
          <p:nvPr/>
        </p:nvSpPr>
        <p:spPr>
          <a:xfrm>
            <a:off x="2514600" y="2432304"/>
            <a:ext cx="868680" cy="274320"/>
          </a:xfrm>
          <a:prstGeom prst="rect">
            <a:avLst/>
          </a:prstGeom>
          <a:noFill/>
        </p:spPr>
        <p:txBody>
          <a:bodyPr wrap="square" lIns="0" tIns="0" rIns="0" bIns="0" anchor="ctr">
            <a:spAutoFit/>
          </a:bodyPr>
          <a:lstStyle/>
          <a:p>
            <a:pPr algn="l">
              <a:spcAft>
                <a:spcPts val="600"/>
              </a:spcAft>
            </a:pPr>
            <a:r>
              <a:rPr sz="750" b="1" i="0">
                <a:solidFill>
                  <a:srgbClr val="FFFFFF"/>
                </a:solidFill>
                <a:effectLst>
                  <a:glow rad="63500">
                    <a:srgbClr val="001633">
                      <a:alpha val="85000"/>
                    </a:srgbClr>
                  </a:glow>
                </a:effectLst>
                <a:latin typeface="Montserrat"/>
              </a:rPr>
              <a:t>Molino SAG</a:t>
            </a:r>
          </a:p>
        </p:txBody>
      </p:sp>
      <p:sp>
        <p:nvSpPr>
          <p:cNvPr id="79" name="Leyenda Sensor de P80"/>
          <p:cNvSpPr/>
          <p:nvPr/>
        </p:nvSpPr>
        <p:spPr>
          <a:xfrm>
            <a:off x="3264408" y="2496312"/>
            <a:ext cx="128016" cy="128016"/>
          </a:xfrm>
          <a:prstGeom prst="ellipse">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TextBox 79"/>
          <p:cNvSpPr txBox="1"/>
          <p:nvPr/>
        </p:nvSpPr>
        <p:spPr>
          <a:xfrm>
            <a:off x="3429000" y="2432304"/>
            <a:ext cx="868680" cy="274320"/>
          </a:xfrm>
          <a:prstGeom prst="rect">
            <a:avLst/>
          </a:prstGeom>
          <a:noFill/>
        </p:spPr>
        <p:txBody>
          <a:bodyPr wrap="square" lIns="0" tIns="0" rIns="0" bIns="0" anchor="ctr">
            <a:spAutoFit/>
          </a:bodyPr>
          <a:lstStyle/>
          <a:p>
            <a:pPr algn="l">
              <a:spcAft>
                <a:spcPts val="600"/>
              </a:spcAft>
            </a:pPr>
            <a:r>
              <a:rPr sz="750" b="1" i="0">
                <a:solidFill>
                  <a:srgbClr val="FFFFFF"/>
                </a:solidFill>
                <a:effectLst>
                  <a:glow rad="63500">
                    <a:srgbClr val="001633">
                      <a:alpha val="85000"/>
                    </a:srgbClr>
                  </a:glow>
                </a:effectLst>
                <a:latin typeface="Montserrat"/>
              </a:rPr>
              <a:t>Sensor de P80</a:t>
            </a:r>
          </a:p>
        </p:txBody>
      </p:sp>
      <p:sp>
        <p:nvSpPr>
          <p:cNvPr id="8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Criterios: elaboración propia · ubicación de los activos: ilustrativa</a:t>
            </a:r>
          </a:p>
        </p:txBody>
      </p:sp>
      <p:sp>
        <p:nvSpPr>
          <p:cNvPr id="8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8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8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8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0" name="Avance III actual"/>
          <p:cNvSpPr/>
          <p:nvPr/>
        </p:nvSpPr>
        <p:spPr>
          <a:xfrm>
            <a:off x="5001768" y="6510528"/>
            <a:ext cx="40263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9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7/31 </a:t>
            </a:r>
            <a:r>
              <a:rPr sz="1000" b="0" i="0">
                <a:solidFill>
                  <a:srgbClr val="A9B8C9"/>
                </a:solidFill>
                <a:effectLst>
                  <a:glow rad="63500">
                    <a:srgbClr val="001633">
                      <a:alpha val="85000"/>
                    </a:srgbClr>
                  </a:glow>
                </a:effectLst>
                <a:latin typeface="Montserrat"/>
              </a:rPr>
              <a:t>· Gemelos Digitales para Minería 4.0 · 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Más detalle no siempre es mejor: la fidelidad se elige por la pregunta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1 · ENFOQUE DEL MODELO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mismo chancador se puede modelar en tres niveles. Cada nivel responde otra pregunta, pide otros datos y cuesta órdenes de magnitud más de cálculo.</a:t>
            </a:r>
          </a:p>
        </p:txBody>
      </p:sp>
      <p:sp>
        <p:nvSpPr>
          <p:cNvPr id="7" name="Fondo gráfico"/>
          <p:cNvSpPr/>
          <p:nvPr/>
        </p:nvSpPr>
        <p:spPr>
          <a:xfrm>
            <a:off x="1252728" y="2514600"/>
            <a:ext cx="3977639" cy="3291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8" name="Eje x"/>
          <p:cNvCxnSpPr/>
          <p:nvPr/>
        </p:nvCxnSpPr>
        <p:spPr>
          <a:xfrm>
            <a:off x="1572768" y="5212080"/>
            <a:ext cx="3474720" cy="0"/>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cxnSp>
        <p:nvCxnSpPr>
          <p:cNvPr id="9" name="Eje y"/>
          <p:cNvCxnSpPr/>
          <p:nvPr/>
        </p:nvCxnSpPr>
        <p:spPr>
          <a:xfrm>
            <a:off x="1572768" y="2697480"/>
            <a:ext cx="0" cy="2514600"/>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0" name="Valor"/>
          <p:cNvSpPr/>
          <p:nvPr/>
        </p:nvSpPr>
        <p:spPr>
          <a:xfrm>
            <a:off x="1572768" y="2933339"/>
            <a:ext cx="3474720" cy="2278741"/>
          </a:xfrm>
          <a:custGeom>
            <a:avLst/>
            <a:gdLst/>
            <a:ahLst/>
            <a:cxnLst/>
            <a:rect l="l" t="t" r="r" b="b"/>
            <a:pathLst>
              <a:path w="3474720" h="2278741">
                <a:moveTo>
                  <a:pt x="0" y="2278741"/>
                </a:moveTo>
                <a:lnTo>
                  <a:pt x="86868" y="2048148"/>
                </a:lnTo>
                <a:lnTo>
                  <a:pt x="173736" y="1840540"/>
                </a:lnTo>
                <a:lnTo>
                  <a:pt x="260604" y="1653625"/>
                </a:lnTo>
                <a:lnTo>
                  <a:pt x="347472" y="1485342"/>
                </a:lnTo>
                <a:lnTo>
                  <a:pt x="434340" y="1333832"/>
                </a:lnTo>
                <a:lnTo>
                  <a:pt x="521208" y="1197423"/>
                </a:lnTo>
                <a:lnTo>
                  <a:pt x="608076" y="1074612"/>
                </a:lnTo>
                <a:lnTo>
                  <a:pt x="694944" y="964041"/>
                </a:lnTo>
                <a:lnTo>
                  <a:pt x="781812" y="864492"/>
                </a:lnTo>
                <a:lnTo>
                  <a:pt x="868680" y="774866"/>
                </a:lnTo>
                <a:lnTo>
                  <a:pt x="955548" y="694173"/>
                </a:lnTo>
                <a:lnTo>
                  <a:pt x="1042416" y="621523"/>
                </a:lnTo>
                <a:lnTo>
                  <a:pt x="1129284" y="556114"/>
                </a:lnTo>
                <a:lnTo>
                  <a:pt x="1216152" y="497225"/>
                </a:lnTo>
                <a:lnTo>
                  <a:pt x="1303020" y="444206"/>
                </a:lnTo>
                <a:lnTo>
                  <a:pt x="1389888" y="396472"/>
                </a:lnTo>
                <a:lnTo>
                  <a:pt x="1476756" y="353496"/>
                </a:lnTo>
                <a:lnTo>
                  <a:pt x="1563624" y="314803"/>
                </a:lnTo>
                <a:lnTo>
                  <a:pt x="1650492" y="279967"/>
                </a:lnTo>
                <a:lnTo>
                  <a:pt x="1737360" y="248603"/>
                </a:lnTo>
                <a:lnTo>
                  <a:pt x="1824228" y="220366"/>
                </a:lnTo>
                <a:lnTo>
                  <a:pt x="1911096" y="194943"/>
                </a:lnTo>
                <a:lnTo>
                  <a:pt x="1997964" y="172054"/>
                </a:lnTo>
                <a:lnTo>
                  <a:pt x="2084832" y="151446"/>
                </a:lnTo>
                <a:lnTo>
                  <a:pt x="2171700" y="132893"/>
                </a:lnTo>
                <a:lnTo>
                  <a:pt x="2258568" y="116189"/>
                </a:lnTo>
                <a:lnTo>
                  <a:pt x="2345436" y="101150"/>
                </a:lnTo>
                <a:lnTo>
                  <a:pt x="2432304" y="87610"/>
                </a:lnTo>
                <a:lnTo>
                  <a:pt x="2519172" y="75419"/>
                </a:lnTo>
                <a:lnTo>
                  <a:pt x="2606040" y="64444"/>
                </a:lnTo>
                <a:lnTo>
                  <a:pt x="2692908" y="54563"/>
                </a:lnTo>
                <a:lnTo>
                  <a:pt x="2779776" y="45666"/>
                </a:lnTo>
                <a:lnTo>
                  <a:pt x="2866644" y="37656"/>
                </a:lnTo>
                <a:lnTo>
                  <a:pt x="2953512" y="30445"/>
                </a:lnTo>
                <a:lnTo>
                  <a:pt x="3040380" y="23953"/>
                </a:lnTo>
                <a:lnTo>
                  <a:pt x="3127248" y="18107"/>
                </a:lnTo>
                <a:lnTo>
                  <a:pt x="3214116" y="12845"/>
                </a:lnTo>
                <a:lnTo>
                  <a:pt x="3300984" y="8106"/>
                </a:lnTo>
                <a:lnTo>
                  <a:pt x="3387852" y="3840"/>
                </a:lnTo>
                <a:lnTo>
                  <a:pt x="3474720" y="0"/>
                </a:lnTo>
              </a:path>
            </a:pathLst>
          </a:custGeom>
          <a:noFill/>
          <a:ln w="317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osto"/>
          <p:cNvSpPr/>
          <p:nvPr/>
        </p:nvSpPr>
        <p:spPr>
          <a:xfrm>
            <a:off x="1572768" y="2823210"/>
            <a:ext cx="3474720" cy="2263140"/>
          </a:xfrm>
          <a:custGeom>
            <a:avLst/>
            <a:gdLst/>
            <a:ahLst/>
            <a:cxnLst/>
            <a:rect l="l" t="t" r="r" b="b"/>
            <a:pathLst>
              <a:path w="3474720" h="2263140">
                <a:moveTo>
                  <a:pt x="0" y="2263140"/>
                </a:moveTo>
                <a:lnTo>
                  <a:pt x="86868" y="2263104"/>
                </a:lnTo>
                <a:lnTo>
                  <a:pt x="173736" y="2262857"/>
                </a:lnTo>
                <a:lnTo>
                  <a:pt x="260604" y="2262185"/>
                </a:lnTo>
                <a:lnTo>
                  <a:pt x="347472" y="2260876"/>
                </a:lnTo>
                <a:lnTo>
                  <a:pt x="434340" y="2258719"/>
                </a:lnTo>
                <a:lnTo>
                  <a:pt x="521208" y="2255501"/>
                </a:lnTo>
                <a:lnTo>
                  <a:pt x="608076" y="2251010"/>
                </a:lnTo>
                <a:lnTo>
                  <a:pt x="694944" y="2245034"/>
                </a:lnTo>
                <a:lnTo>
                  <a:pt x="781812" y="2237361"/>
                </a:lnTo>
                <a:lnTo>
                  <a:pt x="868680" y="2227778"/>
                </a:lnTo>
                <a:lnTo>
                  <a:pt x="955548" y="2216073"/>
                </a:lnTo>
                <a:lnTo>
                  <a:pt x="1042416" y="2202035"/>
                </a:lnTo>
                <a:lnTo>
                  <a:pt x="1129284" y="2185450"/>
                </a:lnTo>
                <a:lnTo>
                  <a:pt x="1216152" y="2166107"/>
                </a:lnTo>
                <a:lnTo>
                  <a:pt x="1303020" y="2143794"/>
                </a:lnTo>
                <a:lnTo>
                  <a:pt x="1389888" y="2118299"/>
                </a:lnTo>
                <a:lnTo>
                  <a:pt x="1476756" y="2089408"/>
                </a:lnTo>
                <a:lnTo>
                  <a:pt x="1563624" y="2056911"/>
                </a:lnTo>
                <a:lnTo>
                  <a:pt x="1650492" y="2020595"/>
                </a:lnTo>
                <a:lnTo>
                  <a:pt x="1737360" y="1980247"/>
                </a:lnTo>
                <a:lnTo>
                  <a:pt x="1824228" y="1935656"/>
                </a:lnTo>
                <a:lnTo>
                  <a:pt x="1911096" y="1886610"/>
                </a:lnTo>
                <a:lnTo>
                  <a:pt x="1997964" y="1832895"/>
                </a:lnTo>
                <a:lnTo>
                  <a:pt x="2084832" y="1774301"/>
                </a:lnTo>
                <a:lnTo>
                  <a:pt x="2171700" y="1710615"/>
                </a:lnTo>
                <a:lnTo>
                  <a:pt x="2258568" y="1641625"/>
                </a:lnTo>
                <a:lnTo>
                  <a:pt x="2345436" y="1567118"/>
                </a:lnTo>
                <a:lnTo>
                  <a:pt x="2432304" y="1486882"/>
                </a:lnTo>
                <a:lnTo>
                  <a:pt x="2519172" y="1400706"/>
                </a:lnTo>
                <a:lnTo>
                  <a:pt x="2606040" y="1308377"/>
                </a:lnTo>
                <a:lnTo>
                  <a:pt x="2692908" y="1209683"/>
                </a:lnTo>
                <a:lnTo>
                  <a:pt x="2779776" y="1104412"/>
                </a:lnTo>
                <a:lnTo>
                  <a:pt x="2866644" y="992351"/>
                </a:lnTo>
                <a:lnTo>
                  <a:pt x="2953512" y="873289"/>
                </a:lnTo>
                <a:lnTo>
                  <a:pt x="3040380" y="747013"/>
                </a:lnTo>
                <a:lnTo>
                  <a:pt x="3127248" y="613310"/>
                </a:lnTo>
                <a:lnTo>
                  <a:pt x="3214116" y="471970"/>
                </a:lnTo>
                <a:lnTo>
                  <a:pt x="3300984" y="322780"/>
                </a:lnTo>
                <a:lnTo>
                  <a:pt x="3387852" y="165527"/>
                </a:lnTo>
                <a:lnTo>
                  <a:pt x="3474720" y="0"/>
                </a:lnTo>
              </a:path>
            </a:pathLst>
          </a:custGeom>
          <a:noFill/>
          <a:ln w="31750">
            <a:solidFill>
              <a:srgbClr val="9B6B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2" name="Punto justo"/>
          <p:cNvCxnSpPr/>
          <p:nvPr/>
        </p:nvCxnSpPr>
        <p:spPr>
          <a:xfrm>
            <a:off x="3310128" y="2697480"/>
            <a:ext cx="0" cy="2514600"/>
          </a:xfrm>
          <a:prstGeom prst="line">
            <a:avLst/>
          </a:prstGeom>
          <a:ln w="15875">
            <a:solidFill>
              <a:srgbClr val="85D5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364992" y="2679192"/>
            <a:ext cx="1463040" cy="365760"/>
          </a:xfrm>
          <a:prstGeom prst="rect">
            <a:avLst/>
          </a:prstGeom>
          <a:noFill/>
        </p:spPr>
        <p:txBody>
          <a:bodyPr wrap="square" lIns="0" tIns="0" rIns="0" bIns="0" anchor="t">
            <a:spAutoFit/>
          </a:bodyPr>
          <a:lstStyle/>
          <a:p>
            <a:pPr algn="l">
              <a:spcAft>
                <a:spcPts val="0"/>
              </a:spcAft>
            </a:pPr>
            <a:r>
              <a:rPr sz="900" b="1" i="0">
                <a:solidFill>
                  <a:srgbClr val="85D5E6"/>
                </a:solidFill>
                <a:effectLst>
                  <a:glow rad="63500">
                    <a:srgbClr val="001633">
                      <a:alpha val="85000"/>
                    </a:srgbClr>
                  </a:glow>
                </a:effectLst>
                <a:latin typeface="Montserrat"/>
              </a:rPr>
              <a:t>punto justo</a:t>
            </a:r>
          </a:p>
          <a:p>
            <a:pPr algn="l">
              <a:spcAft>
                <a:spcPts val="0"/>
              </a:spcAft>
            </a:pPr>
            <a:r>
              <a:rPr sz="800" b="0" i="0">
                <a:solidFill>
                  <a:srgbClr val="85D5E6"/>
                </a:solidFill>
                <a:effectLst>
                  <a:glow rad="63500">
                    <a:srgbClr val="001633">
                      <a:alpha val="85000"/>
                    </a:srgbClr>
                  </a:glow>
                </a:effectLst>
                <a:latin typeface="Montserrat"/>
              </a:rPr>
              <a:t>para operar</a:t>
            </a:r>
          </a:p>
        </p:txBody>
      </p:sp>
      <p:sp>
        <p:nvSpPr>
          <p:cNvPr id="14" name="TextBox 13"/>
          <p:cNvSpPr txBox="1"/>
          <p:nvPr/>
        </p:nvSpPr>
        <p:spPr>
          <a:xfrm>
            <a:off x="3858768" y="2944368"/>
            <a:ext cx="1188720" cy="228600"/>
          </a:xfrm>
          <a:prstGeom prst="rect">
            <a:avLst/>
          </a:prstGeom>
          <a:noFill/>
        </p:spPr>
        <p:txBody>
          <a:bodyPr wrap="square" lIns="0" tIns="0" rIns="0" bIns="0" anchor="t">
            <a:spAutoFit/>
          </a:bodyPr>
          <a:lstStyle/>
          <a:p>
            <a:pPr algn="r">
              <a:spcAft>
                <a:spcPts val="600"/>
              </a:spcAft>
            </a:pPr>
            <a:r>
              <a:rPr sz="900" b="1" i="0">
                <a:solidFill>
                  <a:srgbClr val="FFAB40"/>
                </a:solidFill>
                <a:effectLst>
                  <a:glow rad="63500">
                    <a:srgbClr val="001633">
                      <a:alpha val="85000"/>
                    </a:srgbClr>
                  </a:glow>
                </a:effectLst>
                <a:latin typeface="Montserrat"/>
              </a:rPr>
              <a:t>valor</a:t>
            </a:r>
          </a:p>
        </p:txBody>
      </p:sp>
      <p:sp>
        <p:nvSpPr>
          <p:cNvPr id="15" name="TextBox 14"/>
          <p:cNvSpPr txBox="1"/>
          <p:nvPr/>
        </p:nvSpPr>
        <p:spPr>
          <a:xfrm>
            <a:off x="3584448" y="2548890"/>
            <a:ext cx="1188720" cy="228600"/>
          </a:xfrm>
          <a:prstGeom prst="rect">
            <a:avLst/>
          </a:prstGeom>
          <a:noFill/>
        </p:spPr>
        <p:txBody>
          <a:bodyPr wrap="square" lIns="0" tIns="0" rIns="0" bIns="0" anchor="t">
            <a:spAutoFit/>
          </a:bodyPr>
          <a:lstStyle/>
          <a:p>
            <a:pPr algn="r">
              <a:spcAft>
                <a:spcPts val="600"/>
              </a:spcAft>
            </a:pPr>
            <a:r>
              <a:rPr sz="900" b="1" i="0">
                <a:solidFill>
                  <a:srgbClr val="9B6BD6"/>
                </a:solidFill>
                <a:effectLst>
                  <a:glow rad="63500">
                    <a:srgbClr val="001633">
                      <a:alpha val="85000"/>
                    </a:srgbClr>
                  </a:glow>
                </a:effectLst>
                <a:latin typeface="Montserrat"/>
              </a:rPr>
              <a:t>costo</a:t>
            </a:r>
          </a:p>
        </p:txBody>
      </p:sp>
      <p:sp>
        <p:nvSpPr>
          <p:cNvPr id="16" name="Nivel 1"/>
          <p:cNvSpPr/>
          <p:nvPr/>
        </p:nvSpPr>
        <p:spPr>
          <a:xfrm>
            <a:off x="1889150" y="5111496"/>
            <a:ext cx="201168" cy="201168"/>
          </a:xfrm>
          <a:prstGeom prst="ellipse">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889150" y="5111496"/>
            <a:ext cx="201168" cy="201168"/>
          </a:xfrm>
          <a:prstGeom prst="rect">
            <a:avLst/>
          </a:prstGeom>
          <a:noFill/>
        </p:spPr>
        <p:txBody>
          <a:bodyPr wrap="square" lIns="0" tIns="0" rIns="0" bIns="0" anchor="ctr">
            <a:spAutoFit/>
          </a:bodyPr>
          <a:lstStyle/>
          <a:p>
            <a:pPr algn="ctr">
              <a:spcAft>
                <a:spcPts val="600"/>
              </a:spcAft>
            </a:pPr>
            <a:r>
              <a:rPr sz="800" b="1" i="0">
                <a:solidFill>
                  <a:srgbClr val="FFAB40"/>
                </a:solidFill>
                <a:effectLst>
                  <a:glow rad="63500">
                    <a:srgbClr val="001633">
                      <a:alpha val="85000"/>
                    </a:srgbClr>
                  </a:glow>
                </a:effectLst>
                <a:latin typeface="Montserrat"/>
              </a:rPr>
              <a:t>1</a:t>
            </a:r>
          </a:p>
        </p:txBody>
      </p:sp>
      <p:sp>
        <p:nvSpPr>
          <p:cNvPr id="18" name="Nivel 2"/>
          <p:cNvSpPr/>
          <p:nvPr/>
        </p:nvSpPr>
        <p:spPr>
          <a:xfrm>
            <a:off x="3209544" y="5111496"/>
            <a:ext cx="201168" cy="201168"/>
          </a:xfrm>
          <a:prstGeom prst="ellipse">
            <a:avLst/>
          </a:prstGeom>
          <a:solidFill>
            <a:srgbClr val="FFAB40"/>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209544" y="5111496"/>
            <a:ext cx="201168" cy="201168"/>
          </a:xfrm>
          <a:prstGeom prst="rect">
            <a:avLst/>
          </a:prstGeom>
          <a:noFill/>
        </p:spPr>
        <p:txBody>
          <a:bodyPr wrap="square" lIns="0" tIns="0" rIns="0" bIns="0" anchor="ctr">
            <a:spAutoFit/>
          </a:bodyPr>
          <a:lstStyle/>
          <a:p>
            <a:pPr algn="ctr">
              <a:spcAft>
                <a:spcPts val="600"/>
              </a:spcAft>
            </a:pPr>
            <a:r>
              <a:rPr sz="800" b="1" i="0">
                <a:solidFill>
                  <a:srgbClr val="001633"/>
                </a:solidFill>
                <a:latin typeface="Montserrat"/>
              </a:rPr>
              <a:t>2</a:t>
            </a:r>
          </a:p>
        </p:txBody>
      </p:sp>
      <p:sp>
        <p:nvSpPr>
          <p:cNvPr id="20" name="Nivel 3"/>
          <p:cNvSpPr/>
          <p:nvPr/>
        </p:nvSpPr>
        <p:spPr>
          <a:xfrm>
            <a:off x="4599432" y="5111496"/>
            <a:ext cx="201168" cy="201168"/>
          </a:xfrm>
          <a:prstGeom prst="ellipse">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4599432" y="5111496"/>
            <a:ext cx="201168" cy="201168"/>
          </a:xfrm>
          <a:prstGeom prst="rect">
            <a:avLst/>
          </a:prstGeom>
          <a:noFill/>
        </p:spPr>
        <p:txBody>
          <a:bodyPr wrap="square" lIns="0" tIns="0" rIns="0" bIns="0" anchor="ctr">
            <a:spAutoFit/>
          </a:bodyPr>
          <a:lstStyle/>
          <a:p>
            <a:pPr algn="ctr">
              <a:spcAft>
                <a:spcPts val="600"/>
              </a:spcAft>
            </a:pPr>
            <a:r>
              <a:rPr sz="800" b="1" i="0">
                <a:solidFill>
                  <a:srgbClr val="FFAB40"/>
                </a:solidFill>
                <a:effectLst>
                  <a:glow rad="63500">
                    <a:srgbClr val="001633">
                      <a:alpha val="85000"/>
                    </a:srgbClr>
                  </a:glow>
                </a:effectLst>
                <a:latin typeface="Montserrat"/>
              </a:rPr>
              <a:t>3</a:t>
            </a:r>
          </a:p>
        </p:txBody>
      </p:sp>
      <p:sp>
        <p:nvSpPr>
          <p:cNvPr id="22" name="TextBox 21"/>
          <p:cNvSpPr txBox="1"/>
          <p:nvPr/>
        </p:nvSpPr>
        <p:spPr>
          <a:xfrm>
            <a:off x="1572768" y="5349240"/>
            <a:ext cx="3474720" cy="228600"/>
          </a:xfrm>
          <a:prstGeom prst="rect">
            <a:avLst/>
          </a:prstGeom>
          <a:noFill/>
        </p:spPr>
        <p:txBody>
          <a:bodyPr wrap="square" lIns="0" tIns="0" rIns="0" bIns="0" anchor="t">
            <a:spAutoFit/>
          </a:bodyPr>
          <a:lstStyle/>
          <a:p>
            <a:pPr algn="r">
              <a:spcAft>
                <a:spcPts val="600"/>
              </a:spcAft>
            </a:pPr>
            <a:r>
              <a:rPr sz="850" b="1" i="0">
                <a:solidFill>
                  <a:srgbClr val="A9B8C9"/>
                </a:solidFill>
                <a:effectLst>
                  <a:glow rad="63500">
                    <a:srgbClr val="001633">
                      <a:alpha val="85000"/>
                    </a:srgbClr>
                  </a:glow>
                </a:effectLst>
                <a:latin typeface="Montserrat"/>
              </a:rPr>
              <a:t>nivel de detalle →</a:t>
            </a:r>
          </a:p>
        </p:txBody>
      </p:sp>
      <p:sp>
        <p:nvSpPr>
          <p:cNvPr id="23" name="Nivel Balance de masa"/>
          <p:cNvSpPr/>
          <p:nvPr/>
        </p:nvSpPr>
        <p:spPr>
          <a:xfrm>
            <a:off x="6693408" y="2514600"/>
            <a:ext cx="1463040" cy="3291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Número"/>
          <p:cNvSpPr/>
          <p:nvPr/>
        </p:nvSpPr>
        <p:spPr>
          <a:xfrm>
            <a:off x="6803136" y="2606040"/>
            <a:ext cx="237744" cy="237744"/>
          </a:xfrm>
          <a:prstGeom prst="ellipse">
            <a:avLst/>
          </a:prstGeom>
          <a:solidFill>
            <a:srgbClr val="001633"/>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6803136" y="2606040"/>
            <a:ext cx="237744" cy="237744"/>
          </a:xfrm>
          <a:prstGeom prst="rect">
            <a:avLst/>
          </a:prstGeom>
          <a:noFill/>
        </p:spPr>
        <p:txBody>
          <a:bodyPr wrap="square" lIns="0" tIns="0" rIns="0" bIns="0" anchor="ctr">
            <a:spAutoFit/>
          </a:bodyPr>
          <a:lstStyle/>
          <a:p>
            <a:pPr algn="ctr">
              <a:spcAft>
                <a:spcPts val="600"/>
              </a:spcAft>
            </a:pPr>
            <a:r>
              <a:rPr sz="900" b="1" i="0">
                <a:solidFill>
                  <a:srgbClr val="FFAB40"/>
                </a:solidFill>
                <a:effectLst>
                  <a:glow rad="63500">
                    <a:srgbClr val="001633">
                      <a:alpha val="85000"/>
                    </a:srgbClr>
                  </a:glow>
                </a:effectLst>
                <a:latin typeface="Montserrat"/>
              </a:rPr>
              <a:t>1</a:t>
            </a:r>
          </a:p>
        </p:txBody>
      </p:sp>
      <p:sp>
        <p:nvSpPr>
          <p:cNvPr id="26" name="TextBox 25"/>
          <p:cNvSpPr txBox="1"/>
          <p:nvPr/>
        </p:nvSpPr>
        <p:spPr>
          <a:xfrm>
            <a:off x="7104888" y="2560320"/>
            <a:ext cx="1005840" cy="365760"/>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Balance de masa</a:t>
            </a:r>
          </a:p>
        </p:txBody>
      </p:sp>
      <p:sp>
        <p:nvSpPr>
          <p:cNvPr id="27" name="TextBox 26"/>
          <p:cNvSpPr txBox="1"/>
          <p:nvPr/>
        </p:nvSpPr>
        <p:spPr>
          <a:xfrm>
            <a:off x="6803136" y="3017520"/>
            <a:ext cx="1261872" cy="51206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¿cuántas t/h salen?</a:t>
            </a:r>
          </a:p>
        </p:txBody>
      </p:sp>
      <p:sp>
        <p:nvSpPr>
          <p:cNvPr id="28" name="TextBox 27"/>
          <p:cNvSpPr txBox="1"/>
          <p:nvPr/>
        </p:nvSpPr>
        <p:spPr>
          <a:xfrm>
            <a:off x="6803136" y="3566160"/>
            <a:ext cx="1261872" cy="51206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tonelaje y disponibilidad</a:t>
            </a:r>
          </a:p>
        </p:txBody>
      </p:sp>
      <p:sp>
        <p:nvSpPr>
          <p:cNvPr id="29" name="Pista"/>
          <p:cNvSpPr/>
          <p:nvPr/>
        </p:nvSpPr>
        <p:spPr>
          <a:xfrm>
            <a:off x="6803136" y="4187952"/>
            <a:ext cx="1243584" cy="118872"/>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Barra cálculo"/>
          <p:cNvSpPr/>
          <p:nvPr/>
        </p:nvSpPr>
        <p:spPr>
          <a:xfrm>
            <a:off x="6803136" y="4187952"/>
            <a:ext cx="149230" cy="11887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03136" y="4343400"/>
            <a:ext cx="1243584" cy="256032"/>
          </a:xfrm>
          <a:prstGeom prst="rect">
            <a:avLst/>
          </a:prstGeom>
          <a:noFill/>
        </p:spPr>
        <p:txBody>
          <a:bodyPr wrap="square" lIns="0" tIns="0" rIns="0" bIns="0" anchor="t">
            <a:spAutoFit/>
          </a:bodyPr>
          <a:lstStyle/>
          <a:p>
            <a:pPr algn="l">
              <a:spcAft>
                <a:spcPts val="600"/>
              </a:spcAft>
            </a:pPr>
            <a:r>
              <a:rPr sz="900" b="1" i="0">
                <a:solidFill>
                  <a:srgbClr val="FFFFFF"/>
                </a:solidFill>
                <a:effectLst>
                  <a:glow rad="63500">
                    <a:srgbClr val="001633">
                      <a:alpha val="85000"/>
                    </a:srgbClr>
                  </a:glow>
                </a:effectLst>
                <a:latin typeface="Montserrat"/>
              </a:rPr>
              <a:t>segundos</a:t>
            </a:r>
          </a:p>
        </p:txBody>
      </p:sp>
      <p:sp>
        <p:nvSpPr>
          <p:cNvPr id="32" name="TextBox 31"/>
          <p:cNvSpPr txBox="1"/>
          <p:nvPr/>
        </p:nvSpPr>
        <p:spPr>
          <a:xfrm>
            <a:off x="6803136" y="4663440"/>
            <a:ext cx="1261872" cy="51206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planilla o simulador de proceso</a:t>
            </a:r>
          </a:p>
        </p:txBody>
      </p:sp>
      <p:sp>
        <p:nvSpPr>
          <p:cNvPr id="33" name="TextBox 32"/>
          <p:cNvSpPr txBox="1"/>
          <p:nvPr/>
        </p:nvSpPr>
        <p:spPr>
          <a:xfrm>
            <a:off x="6803136" y="5212080"/>
            <a:ext cx="1261872" cy="51206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plan de producción</a:t>
            </a:r>
          </a:p>
        </p:txBody>
      </p:sp>
      <p:sp>
        <p:nvSpPr>
          <p:cNvPr id="34" name="Nivel Modelo del equipo"/>
          <p:cNvSpPr/>
          <p:nvPr/>
        </p:nvSpPr>
        <p:spPr>
          <a:xfrm>
            <a:off x="8247888" y="2514600"/>
            <a:ext cx="1463040" cy="329184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Número"/>
          <p:cNvSpPr/>
          <p:nvPr/>
        </p:nvSpPr>
        <p:spPr>
          <a:xfrm>
            <a:off x="8357616" y="2606040"/>
            <a:ext cx="237744" cy="237744"/>
          </a:xfrm>
          <a:prstGeom prst="ellipse">
            <a:avLst/>
          </a:prstGeom>
          <a:solidFill>
            <a:srgbClr val="FFAB40"/>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8357616" y="2606040"/>
            <a:ext cx="237744" cy="237744"/>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2</a:t>
            </a:r>
          </a:p>
        </p:txBody>
      </p:sp>
      <p:sp>
        <p:nvSpPr>
          <p:cNvPr id="37" name="TextBox 36"/>
          <p:cNvSpPr txBox="1"/>
          <p:nvPr/>
        </p:nvSpPr>
        <p:spPr>
          <a:xfrm>
            <a:off x="8659368" y="2560320"/>
            <a:ext cx="1005840" cy="365760"/>
          </a:xfrm>
          <a:prstGeom prst="rect">
            <a:avLst/>
          </a:prstGeom>
          <a:noFill/>
        </p:spPr>
        <p:txBody>
          <a:bodyPr wrap="square" lIns="0" tIns="0" rIns="0" bIns="0" anchor="ctr">
            <a:spAutoFit/>
          </a:bodyPr>
          <a:lstStyle/>
          <a:p>
            <a:pPr algn="l">
              <a:spcAft>
                <a:spcPts val="600"/>
              </a:spcAft>
            </a:pPr>
            <a:r>
              <a:rPr sz="1100" b="1" i="0">
                <a:solidFill>
                  <a:srgbClr val="FFAB40"/>
                </a:solidFill>
                <a:effectLst>
                  <a:glow rad="63500">
                    <a:srgbClr val="001633">
                      <a:alpha val="85000"/>
                    </a:srgbClr>
                  </a:glow>
                </a:effectLst>
                <a:latin typeface="Montserrat"/>
              </a:rPr>
              <a:t>Modelo del equipo</a:t>
            </a:r>
          </a:p>
        </p:txBody>
      </p:sp>
      <p:sp>
        <p:nvSpPr>
          <p:cNvPr id="38" name="TextBox 37"/>
          <p:cNvSpPr txBox="1"/>
          <p:nvPr/>
        </p:nvSpPr>
        <p:spPr>
          <a:xfrm>
            <a:off x="8357616" y="3017520"/>
            <a:ext cx="1261872" cy="51206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¿qué granulometría da con este ajuste?</a:t>
            </a:r>
          </a:p>
        </p:txBody>
      </p:sp>
      <p:sp>
        <p:nvSpPr>
          <p:cNvPr id="39" name="TextBox 38"/>
          <p:cNvSpPr txBox="1"/>
          <p:nvPr/>
        </p:nvSpPr>
        <p:spPr>
          <a:xfrm>
            <a:off x="8357616" y="3566160"/>
            <a:ext cx="1261872" cy="51206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curva de alimentación, abertura y dureza</a:t>
            </a:r>
          </a:p>
        </p:txBody>
      </p:sp>
      <p:sp>
        <p:nvSpPr>
          <p:cNvPr id="40" name="Pista"/>
          <p:cNvSpPr/>
          <p:nvPr/>
        </p:nvSpPr>
        <p:spPr>
          <a:xfrm>
            <a:off x="8357616" y="4187952"/>
            <a:ext cx="1243584" cy="118872"/>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Barra cálculo"/>
          <p:cNvSpPr/>
          <p:nvPr/>
        </p:nvSpPr>
        <p:spPr>
          <a:xfrm>
            <a:off x="8357616" y="4187952"/>
            <a:ext cx="497433" cy="11887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357616" y="4343400"/>
            <a:ext cx="1243584" cy="256032"/>
          </a:xfrm>
          <a:prstGeom prst="rect">
            <a:avLst/>
          </a:prstGeom>
          <a:noFill/>
        </p:spPr>
        <p:txBody>
          <a:bodyPr wrap="square" lIns="0" tIns="0" rIns="0" bIns="0" anchor="t">
            <a:spAutoFit/>
          </a:bodyPr>
          <a:lstStyle/>
          <a:p>
            <a:pPr algn="l">
              <a:spcAft>
                <a:spcPts val="600"/>
              </a:spcAft>
            </a:pPr>
            <a:r>
              <a:rPr sz="900" b="1" i="0">
                <a:solidFill>
                  <a:srgbClr val="FFFFFF"/>
                </a:solidFill>
                <a:effectLst>
                  <a:glow rad="63500">
                    <a:srgbClr val="001633">
                      <a:alpha val="85000"/>
                    </a:srgbClr>
                  </a:glow>
                </a:effectLst>
                <a:latin typeface="Montserrat"/>
              </a:rPr>
              <a:t>segundos a minutos</a:t>
            </a:r>
          </a:p>
        </p:txBody>
      </p:sp>
      <p:sp>
        <p:nvSpPr>
          <p:cNvPr id="43" name="TextBox 42"/>
          <p:cNvSpPr txBox="1"/>
          <p:nvPr/>
        </p:nvSpPr>
        <p:spPr>
          <a:xfrm>
            <a:off x="8357616" y="4663440"/>
            <a:ext cx="1261872" cy="51206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simulador de conminución, Modelica</a:t>
            </a:r>
          </a:p>
        </p:txBody>
      </p:sp>
      <p:sp>
        <p:nvSpPr>
          <p:cNvPr id="44" name="TextBox 43"/>
          <p:cNvSpPr txBox="1"/>
          <p:nvPr/>
        </p:nvSpPr>
        <p:spPr>
          <a:xfrm>
            <a:off x="8357616" y="5212080"/>
            <a:ext cx="1261872" cy="51206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ajustar el chancador en operación</a:t>
            </a:r>
          </a:p>
        </p:txBody>
      </p:sp>
      <p:sp>
        <p:nvSpPr>
          <p:cNvPr id="45" name="Nivel DEM de la cámara"/>
          <p:cNvSpPr/>
          <p:nvPr/>
        </p:nvSpPr>
        <p:spPr>
          <a:xfrm>
            <a:off x="9802368" y="2514600"/>
            <a:ext cx="1463040" cy="32918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Número"/>
          <p:cNvSpPr/>
          <p:nvPr/>
        </p:nvSpPr>
        <p:spPr>
          <a:xfrm>
            <a:off x="9912096" y="2606040"/>
            <a:ext cx="237744" cy="237744"/>
          </a:xfrm>
          <a:prstGeom prst="ellipse">
            <a:avLst/>
          </a:prstGeom>
          <a:solidFill>
            <a:srgbClr val="001633"/>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912096" y="2606040"/>
            <a:ext cx="237744" cy="237744"/>
          </a:xfrm>
          <a:prstGeom prst="rect">
            <a:avLst/>
          </a:prstGeom>
          <a:noFill/>
        </p:spPr>
        <p:txBody>
          <a:bodyPr wrap="square" lIns="0" tIns="0" rIns="0" bIns="0" anchor="ctr">
            <a:spAutoFit/>
          </a:bodyPr>
          <a:lstStyle/>
          <a:p>
            <a:pPr algn="ctr">
              <a:spcAft>
                <a:spcPts val="600"/>
              </a:spcAft>
            </a:pPr>
            <a:r>
              <a:rPr sz="900" b="1" i="0">
                <a:solidFill>
                  <a:srgbClr val="FFAB40"/>
                </a:solidFill>
                <a:effectLst>
                  <a:glow rad="63500">
                    <a:srgbClr val="001633">
                      <a:alpha val="85000"/>
                    </a:srgbClr>
                  </a:glow>
                </a:effectLst>
                <a:latin typeface="Montserrat"/>
              </a:rPr>
              <a:t>3</a:t>
            </a:r>
          </a:p>
        </p:txBody>
      </p:sp>
      <p:sp>
        <p:nvSpPr>
          <p:cNvPr id="48" name="TextBox 47"/>
          <p:cNvSpPr txBox="1"/>
          <p:nvPr/>
        </p:nvSpPr>
        <p:spPr>
          <a:xfrm>
            <a:off x="10213848" y="2560320"/>
            <a:ext cx="1005840" cy="365760"/>
          </a:xfrm>
          <a:prstGeom prst="rect">
            <a:avLst/>
          </a:prstGeom>
          <a:noFill/>
        </p:spPr>
        <p:txBody>
          <a:bodyPr wrap="square" lIns="0" tIns="0" rIns="0" bIns="0" anchor="ctr">
            <a:spAutoFit/>
          </a:bodyPr>
          <a:lstStyle/>
          <a:p>
            <a:pPr algn="l">
              <a:spcAft>
                <a:spcPts val="600"/>
              </a:spcAft>
            </a:pPr>
            <a:r>
              <a:rPr sz="1100" b="1" i="0">
                <a:solidFill>
                  <a:srgbClr val="FFFFFF"/>
                </a:solidFill>
                <a:effectLst>
                  <a:glow rad="63500">
                    <a:srgbClr val="001633">
                      <a:alpha val="85000"/>
                    </a:srgbClr>
                  </a:glow>
                </a:effectLst>
                <a:latin typeface="Montserrat"/>
              </a:rPr>
              <a:t>DEM de la cámara</a:t>
            </a:r>
          </a:p>
        </p:txBody>
      </p:sp>
      <p:sp>
        <p:nvSpPr>
          <p:cNvPr id="49" name="TextBox 48"/>
          <p:cNvSpPr txBox="1"/>
          <p:nvPr/>
        </p:nvSpPr>
        <p:spPr>
          <a:xfrm>
            <a:off x="9912096" y="3017520"/>
            <a:ext cx="1261872" cy="51206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¿cómo se mueve cada roca y dónde se gasta el revestimiento?</a:t>
            </a:r>
          </a:p>
        </p:txBody>
      </p:sp>
      <p:sp>
        <p:nvSpPr>
          <p:cNvPr id="50" name="TextBox 49"/>
          <p:cNvSpPr txBox="1"/>
          <p:nvPr/>
        </p:nvSpPr>
        <p:spPr>
          <a:xfrm>
            <a:off x="9912096" y="3566160"/>
            <a:ext cx="1261872" cy="51206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geometría 3D y propiedades de la roca</a:t>
            </a:r>
          </a:p>
        </p:txBody>
      </p:sp>
      <p:sp>
        <p:nvSpPr>
          <p:cNvPr id="51" name="Pista"/>
          <p:cNvSpPr/>
          <p:nvPr/>
        </p:nvSpPr>
        <p:spPr>
          <a:xfrm>
            <a:off x="9912096" y="4187952"/>
            <a:ext cx="1243584" cy="118872"/>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Barra cálculo"/>
          <p:cNvSpPr/>
          <p:nvPr/>
        </p:nvSpPr>
        <p:spPr>
          <a:xfrm>
            <a:off x="9912096" y="4187952"/>
            <a:ext cx="1243584" cy="11887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912096" y="4343400"/>
            <a:ext cx="1243584" cy="256032"/>
          </a:xfrm>
          <a:prstGeom prst="rect">
            <a:avLst/>
          </a:prstGeom>
          <a:noFill/>
        </p:spPr>
        <p:txBody>
          <a:bodyPr wrap="square" lIns="0" tIns="0" rIns="0" bIns="0" anchor="t">
            <a:spAutoFit/>
          </a:bodyPr>
          <a:lstStyle/>
          <a:p>
            <a:pPr algn="l">
              <a:spcAft>
                <a:spcPts val="600"/>
              </a:spcAft>
            </a:pPr>
            <a:r>
              <a:rPr sz="900" b="1" i="0">
                <a:solidFill>
                  <a:srgbClr val="FFFFFF"/>
                </a:solidFill>
                <a:effectLst>
                  <a:glow rad="63500">
                    <a:srgbClr val="001633">
                      <a:alpha val="85000"/>
                    </a:srgbClr>
                  </a:glow>
                </a:effectLst>
                <a:latin typeface="Montserrat"/>
              </a:rPr>
              <a:t>horas a días</a:t>
            </a:r>
          </a:p>
        </p:txBody>
      </p:sp>
      <p:sp>
        <p:nvSpPr>
          <p:cNvPr id="54" name="TextBox 53"/>
          <p:cNvSpPr txBox="1"/>
          <p:nvPr/>
        </p:nvSpPr>
        <p:spPr>
          <a:xfrm>
            <a:off x="9912096" y="4663440"/>
            <a:ext cx="1261872" cy="512064"/>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software de elementos discretos</a:t>
            </a:r>
          </a:p>
        </p:txBody>
      </p:sp>
      <p:sp>
        <p:nvSpPr>
          <p:cNvPr id="55" name="TextBox 54"/>
          <p:cNvSpPr txBox="1"/>
          <p:nvPr/>
        </p:nvSpPr>
        <p:spPr>
          <a:xfrm>
            <a:off x="9912096" y="5212080"/>
            <a:ext cx="1261872" cy="512064"/>
          </a:xfrm>
          <a:prstGeom prst="rect">
            <a:avLst/>
          </a:prstGeom>
          <a:noFill/>
        </p:spPr>
        <p:txBody>
          <a:bodyPr wrap="square" lIns="0" tIns="0" rIns="0" bIns="0" anchor="ctr">
            <a:spAutoFit/>
          </a:bodyPr>
          <a:lstStyle/>
          <a:p>
            <a:pPr algn="l">
              <a:spcAft>
                <a:spcPts val="600"/>
              </a:spcAft>
            </a:pPr>
            <a:r>
              <a:rPr sz="850" b="1" i="0">
                <a:solidFill>
                  <a:srgbClr val="FFFFFF"/>
                </a:solidFill>
                <a:effectLst>
                  <a:glow rad="63500">
                    <a:srgbClr val="001633">
                      <a:alpha val="85000"/>
                    </a:srgbClr>
                  </a:glow>
                </a:effectLst>
                <a:latin typeface="Montserrat"/>
              </a:rPr>
              <a:t>diseñar el revestimiento</a:t>
            </a:r>
          </a:p>
        </p:txBody>
      </p:sp>
      <p:sp>
        <p:nvSpPr>
          <p:cNvPr id="56" name="TextBox 55"/>
          <p:cNvSpPr txBox="1"/>
          <p:nvPr/>
        </p:nvSpPr>
        <p:spPr>
          <a:xfrm>
            <a:off x="5458968" y="3017520"/>
            <a:ext cx="1143000" cy="512064"/>
          </a:xfrm>
          <a:prstGeom prst="rect">
            <a:avLst/>
          </a:prstGeom>
          <a:noFill/>
        </p:spPr>
        <p:txBody>
          <a:bodyPr wrap="square" lIns="0" tIns="0" rIns="0" bIns="0" anchor="ctr">
            <a:spAutoFit/>
          </a:bodyPr>
          <a:lstStyle/>
          <a:p>
            <a:pPr algn="l">
              <a:spcAft>
                <a:spcPts val="600"/>
              </a:spcAft>
            </a:pPr>
            <a:r>
              <a:rPr sz="800" b="1" i="0">
                <a:solidFill>
                  <a:srgbClr val="85D5E6"/>
                </a:solidFill>
                <a:effectLst>
                  <a:glow rad="63500">
                    <a:srgbClr val="001633">
                      <a:alpha val="85000"/>
                    </a:srgbClr>
                  </a:glow>
                </a:effectLst>
                <a:latin typeface="Montserrat"/>
              </a:rPr>
              <a:t>RESPONDE</a:t>
            </a:r>
          </a:p>
        </p:txBody>
      </p:sp>
      <p:sp>
        <p:nvSpPr>
          <p:cNvPr id="57" name="TextBox 56"/>
          <p:cNvSpPr txBox="1"/>
          <p:nvPr/>
        </p:nvSpPr>
        <p:spPr>
          <a:xfrm>
            <a:off x="5458968" y="3566160"/>
            <a:ext cx="1143000" cy="512064"/>
          </a:xfrm>
          <a:prstGeom prst="rect">
            <a:avLst/>
          </a:prstGeom>
          <a:noFill/>
        </p:spPr>
        <p:txBody>
          <a:bodyPr wrap="square" lIns="0" tIns="0" rIns="0" bIns="0" anchor="ctr">
            <a:spAutoFit/>
          </a:bodyPr>
          <a:lstStyle/>
          <a:p>
            <a:pPr algn="l">
              <a:spcAft>
                <a:spcPts val="600"/>
              </a:spcAft>
            </a:pPr>
            <a:r>
              <a:rPr sz="800" b="1" i="0">
                <a:solidFill>
                  <a:srgbClr val="85D5E6"/>
                </a:solidFill>
                <a:effectLst>
                  <a:glow rad="63500">
                    <a:srgbClr val="001633">
                      <a:alpha val="85000"/>
                    </a:srgbClr>
                  </a:glow>
                </a:effectLst>
                <a:latin typeface="Montserrat"/>
              </a:rPr>
              <a:t>NECESITA</a:t>
            </a:r>
          </a:p>
        </p:txBody>
      </p:sp>
      <p:cxnSp>
        <p:nvCxnSpPr>
          <p:cNvPr id="58" name="Separador"/>
          <p:cNvCxnSpPr/>
          <p:nvPr/>
        </p:nvCxnSpPr>
        <p:spPr>
          <a:xfrm>
            <a:off x="5458968" y="3566160"/>
            <a:ext cx="580644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5458968" y="4114800"/>
            <a:ext cx="1143000" cy="512064"/>
          </a:xfrm>
          <a:prstGeom prst="rect">
            <a:avLst/>
          </a:prstGeom>
          <a:noFill/>
        </p:spPr>
        <p:txBody>
          <a:bodyPr wrap="square" lIns="0" tIns="0" rIns="0" bIns="0" anchor="ctr">
            <a:spAutoFit/>
          </a:bodyPr>
          <a:lstStyle/>
          <a:p>
            <a:pPr algn="l">
              <a:spcAft>
                <a:spcPts val="600"/>
              </a:spcAft>
            </a:pPr>
            <a:r>
              <a:rPr sz="800" b="1" i="0">
                <a:solidFill>
                  <a:srgbClr val="85D5E6"/>
                </a:solidFill>
                <a:effectLst>
                  <a:glow rad="63500">
                    <a:srgbClr val="001633">
                      <a:alpha val="85000"/>
                    </a:srgbClr>
                  </a:glow>
                </a:effectLst>
                <a:latin typeface="Montserrat"/>
              </a:rPr>
              <a:t>CÁLCULO</a:t>
            </a:r>
          </a:p>
        </p:txBody>
      </p:sp>
      <p:cxnSp>
        <p:nvCxnSpPr>
          <p:cNvPr id="60" name="Separador"/>
          <p:cNvCxnSpPr/>
          <p:nvPr/>
        </p:nvCxnSpPr>
        <p:spPr>
          <a:xfrm>
            <a:off x="5458968" y="4114800"/>
            <a:ext cx="580644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5458968" y="4663440"/>
            <a:ext cx="1143000" cy="512064"/>
          </a:xfrm>
          <a:prstGeom prst="rect">
            <a:avLst/>
          </a:prstGeom>
          <a:noFill/>
        </p:spPr>
        <p:txBody>
          <a:bodyPr wrap="square" lIns="0" tIns="0" rIns="0" bIns="0" anchor="ctr">
            <a:spAutoFit/>
          </a:bodyPr>
          <a:lstStyle/>
          <a:p>
            <a:pPr algn="l">
              <a:spcAft>
                <a:spcPts val="600"/>
              </a:spcAft>
            </a:pPr>
            <a:r>
              <a:rPr sz="800" b="1" i="0">
                <a:solidFill>
                  <a:srgbClr val="85D5E6"/>
                </a:solidFill>
                <a:effectLst>
                  <a:glow rad="63500">
                    <a:srgbClr val="001633">
                      <a:alpha val="85000"/>
                    </a:srgbClr>
                  </a:glow>
                </a:effectLst>
                <a:latin typeface="Montserrat"/>
              </a:rPr>
              <a:t>HERRAMIENTA</a:t>
            </a:r>
          </a:p>
        </p:txBody>
      </p:sp>
      <p:cxnSp>
        <p:nvCxnSpPr>
          <p:cNvPr id="62" name="Separador"/>
          <p:cNvCxnSpPr/>
          <p:nvPr/>
        </p:nvCxnSpPr>
        <p:spPr>
          <a:xfrm>
            <a:off x="5458968" y="4663440"/>
            <a:ext cx="580644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5458968" y="5212080"/>
            <a:ext cx="1143000" cy="512064"/>
          </a:xfrm>
          <a:prstGeom prst="rect">
            <a:avLst/>
          </a:prstGeom>
          <a:noFill/>
        </p:spPr>
        <p:txBody>
          <a:bodyPr wrap="square" lIns="0" tIns="0" rIns="0" bIns="0" anchor="ctr">
            <a:spAutoFit/>
          </a:bodyPr>
          <a:lstStyle/>
          <a:p>
            <a:pPr algn="l">
              <a:spcAft>
                <a:spcPts val="600"/>
              </a:spcAft>
            </a:pPr>
            <a:r>
              <a:rPr sz="800" b="1" i="0">
                <a:solidFill>
                  <a:srgbClr val="85D5E6"/>
                </a:solidFill>
                <a:effectLst>
                  <a:glow rad="63500">
                    <a:srgbClr val="001633">
                      <a:alpha val="85000"/>
                    </a:srgbClr>
                  </a:glow>
                </a:effectLst>
                <a:latin typeface="Montserrat"/>
              </a:rPr>
              <a:t>SIRVE PARA</a:t>
            </a:r>
          </a:p>
        </p:txBody>
      </p:sp>
      <p:cxnSp>
        <p:nvCxnSpPr>
          <p:cNvPr id="64" name="Separador"/>
          <p:cNvCxnSpPr/>
          <p:nvPr/>
        </p:nvCxnSpPr>
        <p:spPr>
          <a:xfrm>
            <a:off x="5458968" y="5212080"/>
            <a:ext cx="580644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65"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Niveles, tiempos y curvas: órdenes de magnitud ilustrativos</a:t>
            </a:r>
          </a:p>
        </p:txBody>
      </p:sp>
      <p:sp>
        <p:nvSpPr>
          <p:cNvPr id="6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7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Avance III actual"/>
          <p:cNvSpPr/>
          <p:nvPr/>
        </p:nvSpPr>
        <p:spPr>
          <a:xfrm>
            <a:off x="5001768" y="6510528"/>
            <a:ext cx="460149"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7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8/31 </a:t>
            </a:r>
            <a:r>
              <a:rPr sz="1000" b="0" i="0">
                <a:solidFill>
                  <a:srgbClr val="A9B8C9"/>
                </a:solidFill>
                <a:effectLst>
                  <a:glow rad="63500">
                    <a:srgbClr val="001633">
                      <a:alpha val="85000"/>
                    </a:srgbClr>
                  </a:glow>
                </a:effectLst>
                <a:latin typeface="Montserrat"/>
              </a:rPr>
              <a:t>· Gemelos Digitales para Minería 4.0 · 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Causal o acausal: lo que cambia es el significado del signo «=»</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2 · HERRAMIENTA Y LENGUAJE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Mismo ejemplo en ambos casos: la pérdida de presión en una tubería de pulpa, que depende del caudal.</a:t>
            </a:r>
          </a:p>
        </p:txBody>
      </p:sp>
      <p:sp>
        <p:nvSpPr>
          <p:cNvPr id="7" name="Banda causal"/>
          <p:cNvSpPr/>
          <p:nvPr/>
        </p:nvSpPr>
        <p:spPr>
          <a:xfrm>
            <a:off x="1252728" y="2514600"/>
            <a:ext cx="10012680" cy="1554480"/>
          </a:xfrm>
          <a:prstGeom prst="rect">
            <a:avLst/>
          </a:prstGeom>
          <a:solidFill>
            <a:srgbClr val="0B264A"/>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35608" y="2624328"/>
            <a:ext cx="3017520" cy="1371600"/>
          </a:xfrm>
          <a:prstGeom prst="rect">
            <a:avLst/>
          </a:prstGeom>
          <a:noFill/>
        </p:spPr>
        <p:txBody>
          <a:bodyPr wrap="square" lIns="0" tIns="0" rIns="0" bIns="0" anchor="t">
            <a:spAutoFit/>
          </a:bodyPr>
          <a:lstStyle/>
          <a:p>
            <a:pPr algn="l">
              <a:spcAft>
                <a:spcPts val="300"/>
              </a:spcAft>
            </a:pPr>
            <a:r>
              <a:rPr sz="1400" b="1" i="0">
                <a:solidFill>
                  <a:srgbClr val="FFAB40"/>
                </a:solidFill>
                <a:effectLst>
                  <a:glow rad="63500">
                    <a:srgbClr val="001633">
                      <a:alpha val="85000"/>
                    </a:srgbClr>
                  </a:glow>
                </a:effectLst>
                <a:latin typeface="Montserrat"/>
              </a:rPr>
              <a:t>Causal</a:t>
            </a:r>
          </a:p>
          <a:p>
            <a:pPr algn="l">
              <a:spcAft>
                <a:spcPts val="300"/>
              </a:spcAft>
            </a:pPr>
            <a:r>
              <a:rPr sz="1000" b="1" i="0">
                <a:solidFill>
                  <a:srgbClr val="FFFFFF"/>
                </a:solidFill>
                <a:effectLst>
                  <a:glow rad="63500">
                    <a:srgbClr val="001633">
                      <a:alpha val="85000"/>
                    </a:srgbClr>
                  </a:glow>
                </a:effectLst>
                <a:latin typeface="Montserrat"/>
              </a:rPr>
              <a:t>«=» es una asignación: </a:t>
            </a:r>
            <a:r>
              <a:rPr sz="1000" b="0" i="0">
                <a:solidFill>
                  <a:srgbClr val="FFFFFF"/>
                </a:solidFill>
                <a:effectLst>
                  <a:glow rad="63500">
                    <a:srgbClr val="001633">
                      <a:alpha val="85000"/>
                    </a:srgbClr>
                  </a:glow>
                </a:effectLst>
                <a:latin typeface="Montserrat"/>
              </a:rPr>
              <a:t>calcula lo de la izquierda con lo de la derecha, como una línea de código.</a:t>
            </a:r>
          </a:p>
        </p:txBody>
      </p:sp>
      <p:sp>
        <p:nvSpPr>
          <p:cNvPr id="9" name="Código Q = √(Δp / k)"/>
          <p:cNvSpPr/>
          <p:nvPr/>
        </p:nvSpPr>
        <p:spPr>
          <a:xfrm>
            <a:off x="4681728" y="2715768"/>
            <a:ext cx="361188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4818888" y="2715768"/>
            <a:ext cx="1737360" cy="384048"/>
          </a:xfrm>
          <a:prstGeom prst="rect">
            <a:avLst/>
          </a:prstGeom>
          <a:noFill/>
        </p:spPr>
        <p:txBody>
          <a:bodyPr wrap="square" lIns="0" tIns="0" rIns="0" bIns="0" anchor="ctr">
            <a:spAutoFit/>
          </a:bodyPr>
          <a:lstStyle/>
          <a:p>
            <a:pPr algn="l">
              <a:spcAft>
                <a:spcPts val="600"/>
              </a:spcAft>
            </a:pPr>
            <a:r>
              <a:rPr sz="1150" b="1" i="0">
                <a:solidFill>
                  <a:srgbClr val="FFAB40"/>
                </a:solidFill>
                <a:effectLst>
                  <a:glow rad="63500">
                    <a:srgbClr val="001633">
                      <a:alpha val="85000"/>
                    </a:srgbClr>
                  </a:glow>
                </a:effectLst>
                <a:latin typeface="Montserrat"/>
              </a:rPr>
              <a:t>Q = √(Δp / k)</a:t>
            </a:r>
          </a:p>
        </p:txBody>
      </p:sp>
      <p:sp>
        <p:nvSpPr>
          <p:cNvPr id="11" name="TextBox 10"/>
          <p:cNvSpPr txBox="1"/>
          <p:nvPr/>
        </p:nvSpPr>
        <p:spPr>
          <a:xfrm>
            <a:off x="6510528" y="2715768"/>
            <a:ext cx="1691640" cy="384048"/>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solo sirve para obtener Q</a:t>
            </a:r>
          </a:p>
        </p:txBody>
      </p:sp>
      <p:sp>
        <p:nvSpPr>
          <p:cNvPr id="12" name="Código Δp = k · Q²"/>
          <p:cNvSpPr/>
          <p:nvPr/>
        </p:nvSpPr>
        <p:spPr>
          <a:xfrm>
            <a:off x="4681728" y="3172968"/>
            <a:ext cx="3611880" cy="384048"/>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4818888" y="3172968"/>
            <a:ext cx="1737360" cy="384048"/>
          </a:xfrm>
          <a:prstGeom prst="rect">
            <a:avLst/>
          </a:prstGeom>
          <a:noFill/>
        </p:spPr>
        <p:txBody>
          <a:bodyPr wrap="square" lIns="0" tIns="0" rIns="0" bIns="0" anchor="ctr">
            <a:spAutoFit/>
          </a:bodyPr>
          <a:lstStyle/>
          <a:p>
            <a:pPr algn="l">
              <a:spcAft>
                <a:spcPts val="600"/>
              </a:spcAft>
            </a:pPr>
            <a:r>
              <a:rPr sz="1150" b="1" i="0">
                <a:solidFill>
                  <a:srgbClr val="FFAB40"/>
                </a:solidFill>
                <a:effectLst>
                  <a:glow rad="63500">
                    <a:srgbClr val="001633">
                      <a:alpha val="85000"/>
                    </a:srgbClr>
                  </a:glow>
                </a:effectLst>
                <a:latin typeface="Montserrat"/>
              </a:rPr>
              <a:t>Δp = k · Q²</a:t>
            </a:r>
          </a:p>
        </p:txBody>
      </p:sp>
      <p:sp>
        <p:nvSpPr>
          <p:cNvPr id="14" name="TextBox 13"/>
          <p:cNvSpPr txBox="1"/>
          <p:nvPr/>
        </p:nvSpPr>
        <p:spPr>
          <a:xfrm>
            <a:off x="6510528" y="3172968"/>
            <a:ext cx="1691640" cy="384048"/>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si necesitas Δp, otra línea u otro bloque</a:t>
            </a:r>
          </a:p>
        </p:txBody>
      </p:sp>
      <p:sp>
        <p:nvSpPr>
          <p:cNvPr id="15" name="TextBox 14"/>
          <p:cNvSpPr txBox="1"/>
          <p:nvPr/>
        </p:nvSpPr>
        <p:spPr>
          <a:xfrm>
            <a:off x="4681728" y="3630168"/>
            <a:ext cx="3611880" cy="36576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dos fórmulas para la misma tubería</a:t>
            </a:r>
          </a:p>
        </p:txBody>
      </p:sp>
      <p:sp>
        <p:nvSpPr>
          <p:cNvPr id="16" name="TextBox 15"/>
          <p:cNvSpPr txBox="1"/>
          <p:nvPr/>
        </p:nvSpPr>
        <p:spPr>
          <a:xfrm>
            <a:off x="8750808" y="2624328"/>
            <a:ext cx="411480" cy="457200"/>
          </a:xfrm>
          <a:prstGeom prst="rect">
            <a:avLst/>
          </a:prstGeom>
          <a:noFill/>
        </p:spPr>
        <p:txBody>
          <a:bodyPr wrap="square" lIns="0" tIns="0" rIns="0" bIns="0" anchor="ctr">
            <a:spAutoFit/>
          </a:bodyPr>
          <a:lstStyle/>
          <a:p>
            <a:pPr algn="r">
              <a:spcAft>
                <a:spcPts val="600"/>
              </a:spcAft>
            </a:pPr>
            <a:r>
              <a:rPr sz="1200" b="1" i="0">
                <a:solidFill>
                  <a:srgbClr val="FFFFFF"/>
                </a:solidFill>
                <a:effectLst>
                  <a:glow rad="63500">
                    <a:srgbClr val="001633">
                      <a:alpha val="85000"/>
                    </a:srgbClr>
                  </a:glow>
                </a:effectLst>
                <a:latin typeface="Montserrat"/>
              </a:rPr>
              <a:t>Δp</a:t>
            </a:r>
          </a:p>
        </p:txBody>
      </p:sp>
      <p:cxnSp>
        <p:nvCxnSpPr>
          <p:cNvPr id="17" name="Connector 16"/>
          <p:cNvCxnSpPr/>
          <p:nvPr/>
        </p:nvCxnSpPr>
        <p:spPr>
          <a:xfrm>
            <a:off x="9208008" y="2852928"/>
            <a:ext cx="228600"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Bloque √(·/k)"/>
          <p:cNvSpPr/>
          <p:nvPr/>
        </p:nvSpPr>
        <p:spPr>
          <a:xfrm>
            <a:off x="9454896" y="2624328"/>
            <a:ext cx="868680" cy="457200"/>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9454896" y="2624328"/>
            <a:ext cx="868680" cy="457200"/>
          </a:xfrm>
          <a:prstGeom prst="rect">
            <a:avLst/>
          </a:prstGeom>
          <a:noFill/>
        </p:spPr>
        <p:txBody>
          <a:bodyPr wrap="square" lIns="0" tIns="0" rIns="0" bIns="0" anchor="ctr">
            <a:spAutoFit/>
          </a:bodyPr>
          <a:lstStyle/>
          <a:p>
            <a:pPr algn="ctr">
              <a:spcAft>
                <a:spcPts val="600"/>
              </a:spcAft>
            </a:pPr>
            <a:r>
              <a:rPr sz="1100" b="1" i="0">
                <a:solidFill>
                  <a:srgbClr val="FFAB40"/>
                </a:solidFill>
                <a:effectLst>
                  <a:glow rad="63500">
                    <a:srgbClr val="001633">
                      <a:alpha val="85000"/>
                    </a:srgbClr>
                  </a:glow>
                </a:effectLst>
                <a:latin typeface="Montserrat"/>
              </a:rPr>
              <a:t>√(·/k)</a:t>
            </a:r>
          </a:p>
        </p:txBody>
      </p:sp>
      <p:cxnSp>
        <p:nvCxnSpPr>
          <p:cNvPr id="20" name="Connector 19"/>
          <p:cNvCxnSpPr/>
          <p:nvPr/>
        </p:nvCxnSpPr>
        <p:spPr>
          <a:xfrm>
            <a:off x="10341864" y="2852928"/>
            <a:ext cx="237744"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0625328" y="2624328"/>
            <a:ext cx="411480" cy="45720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Q</a:t>
            </a:r>
          </a:p>
        </p:txBody>
      </p:sp>
      <p:sp>
        <p:nvSpPr>
          <p:cNvPr id="22" name="TextBox 21"/>
          <p:cNvSpPr txBox="1"/>
          <p:nvPr/>
        </p:nvSpPr>
        <p:spPr>
          <a:xfrm>
            <a:off x="8750808" y="3172968"/>
            <a:ext cx="411480" cy="457200"/>
          </a:xfrm>
          <a:prstGeom prst="rect">
            <a:avLst/>
          </a:prstGeom>
          <a:noFill/>
        </p:spPr>
        <p:txBody>
          <a:bodyPr wrap="square" lIns="0" tIns="0" rIns="0" bIns="0" anchor="ctr">
            <a:spAutoFit/>
          </a:bodyPr>
          <a:lstStyle/>
          <a:p>
            <a:pPr algn="r">
              <a:spcAft>
                <a:spcPts val="600"/>
              </a:spcAft>
            </a:pPr>
            <a:r>
              <a:rPr sz="1200" b="1" i="0">
                <a:solidFill>
                  <a:srgbClr val="FFFFFF"/>
                </a:solidFill>
                <a:effectLst>
                  <a:glow rad="63500">
                    <a:srgbClr val="001633">
                      <a:alpha val="85000"/>
                    </a:srgbClr>
                  </a:glow>
                </a:effectLst>
                <a:latin typeface="Montserrat"/>
              </a:rPr>
              <a:t>Q</a:t>
            </a:r>
          </a:p>
        </p:txBody>
      </p:sp>
      <p:cxnSp>
        <p:nvCxnSpPr>
          <p:cNvPr id="23" name="Connector 22"/>
          <p:cNvCxnSpPr/>
          <p:nvPr/>
        </p:nvCxnSpPr>
        <p:spPr>
          <a:xfrm>
            <a:off x="9208008" y="3401568"/>
            <a:ext cx="228600"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Bloque k·(·)²"/>
          <p:cNvSpPr/>
          <p:nvPr/>
        </p:nvSpPr>
        <p:spPr>
          <a:xfrm>
            <a:off x="9454896" y="3172968"/>
            <a:ext cx="868680" cy="457200"/>
          </a:xfrm>
          <a:prstGeom prst="round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9454896" y="3172968"/>
            <a:ext cx="868680" cy="457200"/>
          </a:xfrm>
          <a:prstGeom prst="rect">
            <a:avLst/>
          </a:prstGeom>
          <a:noFill/>
        </p:spPr>
        <p:txBody>
          <a:bodyPr wrap="square" lIns="0" tIns="0" rIns="0" bIns="0" anchor="ctr">
            <a:spAutoFit/>
          </a:bodyPr>
          <a:lstStyle/>
          <a:p>
            <a:pPr algn="ctr">
              <a:spcAft>
                <a:spcPts val="600"/>
              </a:spcAft>
            </a:pPr>
            <a:r>
              <a:rPr sz="1100" b="1" i="0">
                <a:solidFill>
                  <a:srgbClr val="FFAB40"/>
                </a:solidFill>
                <a:effectLst>
                  <a:glow rad="63500">
                    <a:srgbClr val="001633">
                      <a:alpha val="85000"/>
                    </a:srgbClr>
                  </a:glow>
                </a:effectLst>
                <a:latin typeface="Montserrat"/>
              </a:rPr>
              <a:t>k·(·)²</a:t>
            </a:r>
          </a:p>
        </p:txBody>
      </p:sp>
      <p:cxnSp>
        <p:nvCxnSpPr>
          <p:cNvPr id="26" name="Connector 25"/>
          <p:cNvCxnSpPr/>
          <p:nvPr/>
        </p:nvCxnSpPr>
        <p:spPr>
          <a:xfrm>
            <a:off x="10341864" y="3401568"/>
            <a:ext cx="237744"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0625328" y="3172968"/>
            <a:ext cx="411480" cy="45720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Δp</a:t>
            </a:r>
          </a:p>
        </p:txBody>
      </p:sp>
      <p:sp>
        <p:nvSpPr>
          <p:cNvPr id="28" name="TextBox 27"/>
          <p:cNvSpPr txBox="1"/>
          <p:nvPr/>
        </p:nvSpPr>
        <p:spPr>
          <a:xfrm>
            <a:off x="8476488" y="3703320"/>
            <a:ext cx="2651760" cy="27432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un bloque por cada dirección del cálculo</a:t>
            </a:r>
          </a:p>
        </p:txBody>
      </p:sp>
      <p:sp>
        <p:nvSpPr>
          <p:cNvPr id="29" name="Banda acausal"/>
          <p:cNvSpPr/>
          <p:nvPr/>
        </p:nvSpPr>
        <p:spPr>
          <a:xfrm>
            <a:off x="1252728" y="4206240"/>
            <a:ext cx="10012680" cy="1463040"/>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1435608" y="4315968"/>
            <a:ext cx="3017520" cy="1325880"/>
          </a:xfrm>
          <a:prstGeom prst="rect">
            <a:avLst/>
          </a:prstGeom>
          <a:noFill/>
        </p:spPr>
        <p:txBody>
          <a:bodyPr wrap="square" lIns="0" tIns="0" rIns="0" bIns="0" anchor="t">
            <a:spAutoFit/>
          </a:bodyPr>
          <a:lstStyle/>
          <a:p>
            <a:pPr algn="l">
              <a:spcAft>
                <a:spcPts val="300"/>
              </a:spcAft>
            </a:pPr>
            <a:r>
              <a:rPr sz="1400" b="1" i="0">
                <a:solidFill>
                  <a:srgbClr val="85D5E6"/>
                </a:solidFill>
                <a:effectLst>
                  <a:glow rad="63500">
                    <a:srgbClr val="001633">
                      <a:alpha val="85000"/>
                    </a:srgbClr>
                  </a:glow>
                </a:effectLst>
                <a:latin typeface="Montserrat"/>
              </a:rPr>
              <a:t>Acausal</a:t>
            </a:r>
          </a:p>
          <a:p>
            <a:pPr algn="l">
              <a:spcAft>
                <a:spcPts val="300"/>
              </a:spcAft>
            </a:pPr>
            <a:r>
              <a:rPr sz="1000" b="1" i="0">
                <a:solidFill>
                  <a:srgbClr val="FFFFFF"/>
                </a:solidFill>
                <a:effectLst>
                  <a:glow rad="63500">
                    <a:srgbClr val="001633">
                      <a:alpha val="85000"/>
                    </a:srgbClr>
                  </a:glow>
                </a:effectLst>
                <a:latin typeface="Montserrat"/>
              </a:rPr>
              <a:t>«=» es una relación que siempre se cumple: </a:t>
            </a:r>
            <a:r>
              <a:rPr sz="1000" b="0" i="0">
                <a:solidFill>
                  <a:srgbClr val="FFFFFF"/>
                </a:solidFill>
                <a:effectLst>
                  <a:glow rad="63500">
                    <a:srgbClr val="001633">
                      <a:alpha val="85000"/>
                    </a:srgbClr>
                  </a:glow>
                </a:effectLst>
                <a:latin typeface="Montserrat"/>
              </a:rPr>
              <a:t>no dice qué se calcula. La herramienta mira el sistema completo, ve qué datos tiene y despeja lo que falta.</a:t>
            </a:r>
          </a:p>
        </p:txBody>
      </p:sp>
      <p:sp>
        <p:nvSpPr>
          <p:cNvPr id="31" name="Ecuación"/>
          <p:cNvSpPr/>
          <p:nvPr/>
        </p:nvSpPr>
        <p:spPr>
          <a:xfrm>
            <a:off x="4681728" y="4434840"/>
            <a:ext cx="3611880" cy="548640"/>
          </a:xfrm>
          <a:prstGeom prst="rect">
            <a:avLst/>
          </a:prstGeom>
          <a:solidFill>
            <a:srgbClr val="001633"/>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4681728" y="4434840"/>
            <a:ext cx="3611880" cy="548640"/>
          </a:xfrm>
          <a:prstGeom prst="rect">
            <a:avLst/>
          </a:prstGeom>
          <a:noFill/>
        </p:spPr>
        <p:txBody>
          <a:bodyPr wrap="square" lIns="0" tIns="0" rIns="0" bIns="0" anchor="ctr">
            <a:spAutoFit/>
          </a:bodyPr>
          <a:lstStyle/>
          <a:p>
            <a:pPr algn="ctr">
              <a:spcAft>
                <a:spcPts val="600"/>
              </a:spcAft>
            </a:pPr>
            <a:r>
              <a:rPr sz="1600" b="1" i="0">
                <a:solidFill>
                  <a:srgbClr val="85D5E6"/>
                </a:solidFill>
                <a:effectLst>
                  <a:glow rad="63500">
                    <a:srgbClr val="001633">
                      <a:alpha val="85000"/>
                    </a:srgbClr>
                  </a:glow>
                </a:effectLst>
                <a:latin typeface="Montserrat"/>
              </a:rPr>
              <a:t>Δp = k · Q²</a:t>
            </a:r>
          </a:p>
        </p:txBody>
      </p:sp>
      <p:sp>
        <p:nvSpPr>
          <p:cNvPr id="33" name="TextBox 32"/>
          <p:cNvSpPr txBox="1"/>
          <p:nvPr/>
        </p:nvSpPr>
        <p:spPr>
          <a:xfrm>
            <a:off x="4681728" y="5074920"/>
            <a:ext cx="3611880" cy="457200"/>
          </a:xfrm>
          <a:prstGeom prst="rect">
            <a:avLst/>
          </a:prstGeom>
          <a:noFill/>
        </p:spPr>
        <p:txBody>
          <a:bodyPr wrap="square" lIns="0" tIns="0" rIns="0" bIns="0" anchor="t">
            <a:spAutoFit/>
          </a:bodyPr>
          <a:lstStyle/>
          <a:p>
            <a:pPr algn="ctr">
              <a:spcAft>
                <a:spcPts val="600"/>
              </a:spcAft>
            </a:pPr>
            <a:r>
              <a:rPr sz="900" b="1" i="0">
                <a:solidFill>
                  <a:srgbClr val="85D5E6"/>
                </a:solidFill>
                <a:effectLst>
                  <a:glow rad="63500">
                    <a:srgbClr val="001633">
                      <a:alpha val="85000"/>
                    </a:srgbClr>
                  </a:glow>
                </a:effectLst>
                <a:latin typeface="Montserrat"/>
              </a:rPr>
              <a:t>¿se conoce Δp? despeja Q · ¿se conoce Q? despeja Δp</a:t>
            </a:r>
          </a:p>
        </p:txBody>
      </p:sp>
      <p:sp>
        <p:nvSpPr>
          <p:cNvPr id="34" name="Tubería"/>
          <p:cNvSpPr/>
          <p:nvPr/>
        </p:nvSpPr>
        <p:spPr>
          <a:xfrm>
            <a:off x="9070848" y="4645152"/>
            <a:ext cx="1463040" cy="256032"/>
          </a:xfrm>
          <a:prstGeom prst="rect">
            <a:avLst/>
          </a:prstGeom>
          <a:solidFill>
            <a:srgbClr val="001633"/>
          </a:solidFill>
          <a:ln w="254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Puerto"/>
          <p:cNvSpPr/>
          <p:nvPr/>
        </p:nvSpPr>
        <p:spPr>
          <a:xfrm>
            <a:off x="8979408" y="4727448"/>
            <a:ext cx="91440" cy="91440"/>
          </a:xfrm>
          <a:prstGeom prst="ellipse">
            <a:avLst/>
          </a:prstGeom>
          <a:solidFill>
            <a:srgbClr val="001633"/>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Puerto"/>
          <p:cNvSpPr/>
          <p:nvPr/>
        </p:nvSpPr>
        <p:spPr>
          <a:xfrm>
            <a:off x="10533888" y="4727448"/>
            <a:ext cx="91440" cy="91440"/>
          </a:xfrm>
          <a:prstGeom prst="ellipse">
            <a:avLst/>
          </a:prstGeom>
          <a:solidFill>
            <a:srgbClr val="001633"/>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8796528" y="4315968"/>
            <a:ext cx="2011680" cy="274320"/>
          </a:xfrm>
          <a:prstGeom prst="rect">
            <a:avLst/>
          </a:prstGeom>
          <a:noFill/>
        </p:spPr>
        <p:txBody>
          <a:bodyPr wrap="square" lIns="0" tIns="0" rIns="0" bIns="0" anchor="t">
            <a:spAutoFit/>
          </a:bodyPr>
          <a:lstStyle/>
          <a:p>
            <a:pPr algn="ctr">
              <a:spcAft>
                <a:spcPts val="600"/>
              </a:spcAft>
            </a:pPr>
            <a:r>
              <a:rPr sz="1100" b="1" i="0">
                <a:solidFill>
                  <a:srgbClr val="FFFFFF"/>
                </a:solidFill>
                <a:effectLst>
                  <a:glow rad="63500">
                    <a:srgbClr val="001633">
                      <a:alpha val="85000"/>
                    </a:srgbClr>
                  </a:glow>
                </a:effectLst>
                <a:latin typeface="Montserrat"/>
              </a:rPr>
              <a:t>p₁            </a:t>
            </a:r>
            <a:r>
              <a:rPr sz="1200" b="1" i="0">
                <a:solidFill>
                  <a:srgbClr val="FFFFFF"/>
                </a:solidFill>
                <a:effectLst>
                  <a:glow rad="63500">
                    <a:srgbClr val="001633">
                      <a:alpha val="85000"/>
                    </a:srgbClr>
                  </a:glow>
                </a:effectLst>
                <a:latin typeface="Montserrat"/>
              </a:rPr>
              <a:t>Δp</a:t>
            </a:r>
            <a:r>
              <a:rPr sz="1100" b="1" i="0">
                <a:solidFill>
                  <a:srgbClr val="FFFFFF"/>
                </a:solidFill>
                <a:effectLst>
                  <a:glow rad="63500">
                    <a:srgbClr val="001633">
                      <a:alpha val="85000"/>
                    </a:srgbClr>
                  </a:glow>
                </a:effectLst>
                <a:latin typeface="Montserrat"/>
              </a:rPr>
              <a:t>            p₂</a:t>
            </a:r>
          </a:p>
        </p:txBody>
      </p:sp>
      <p:cxnSp>
        <p:nvCxnSpPr>
          <p:cNvPr id="38" name="Connector 37"/>
          <p:cNvCxnSpPr/>
          <p:nvPr/>
        </p:nvCxnSpPr>
        <p:spPr>
          <a:xfrm>
            <a:off x="9573768" y="5093208"/>
            <a:ext cx="457200"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0076688" y="4974336"/>
            <a:ext cx="365760" cy="27432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Q</a:t>
            </a:r>
          </a:p>
        </p:txBody>
      </p:sp>
      <p:sp>
        <p:nvSpPr>
          <p:cNvPr id="40" name="TextBox 39"/>
          <p:cNvSpPr txBox="1"/>
          <p:nvPr/>
        </p:nvSpPr>
        <p:spPr>
          <a:xfrm>
            <a:off x="8476488" y="5257800"/>
            <a:ext cx="2651760" cy="32004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puertos sin dirección: ni entrada ni salida</a:t>
            </a:r>
          </a:p>
        </p:txBody>
      </p:sp>
      <p:sp>
        <p:nvSpPr>
          <p:cNvPr id="41" name="TextBox 40"/>
          <p:cNvSpPr txBox="1"/>
          <p:nvPr/>
        </p:nvSpPr>
        <p:spPr>
          <a:xfrm>
            <a:off x="1252728" y="5715000"/>
            <a:ext cx="10012680" cy="22860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Por eso: </a:t>
            </a:r>
            <a:r>
              <a:rPr sz="950" b="0" i="0">
                <a:solidFill>
                  <a:srgbClr val="FFFFFF"/>
                </a:solidFill>
                <a:effectLst>
                  <a:glow rad="63500">
                    <a:srgbClr val="001633">
                      <a:alpha val="85000"/>
                    </a:srgbClr>
                  </a:glow>
                </a:effectLst>
                <a:latin typeface="Montserrat"/>
              </a:rPr>
              <a:t>causal (Simulink, código) para control y señales; acausal (Modelica) para equipos que se conectan: bombas, correas, ventilación.</a:t>
            </a:r>
          </a:p>
        </p:txBody>
      </p:sp>
      <p:sp>
        <p:nvSpPr>
          <p:cNvPr id="4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Modelado causal y acausal · Modelica [18] · ejemplo ilustrativo</a:t>
            </a:r>
          </a:p>
        </p:txBody>
      </p:sp>
      <p:sp>
        <p:nvSpPr>
          <p:cNvPr id="4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II actual"/>
          <p:cNvSpPr/>
          <p:nvPr/>
        </p:nvSpPr>
        <p:spPr>
          <a:xfrm>
            <a:off x="5001768" y="6510528"/>
            <a:ext cx="517668"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9/31 </a:t>
            </a:r>
            <a:r>
              <a:rPr sz="1000" b="0" i="0">
                <a:solidFill>
                  <a:srgbClr val="A9B8C9"/>
                </a:solidFill>
                <a:effectLst>
                  <a:glow rad="63500">
                    <a:srgbClr val="001633">
                      <a:alpha val="85000"/>
                    </a:srgbClr>
                  </a:glow>
                </a:effectLst>
                <a:latin typeface="Montserrat"/>
              </a:rPr>
              <a:t>· Gemelos Digitales para Minería 4.0 · 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Modelica: cada componente se escribe una vez y después solo se conecta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2 · HERRAMIENTA Y LENGUAJE</a:t>
            </a:r>
          </a:p>
        </p:txBody>
      </p:sp>
      <p:sp>
        <p:nvSpPr>
          <p:cNvPr id="6" name="TextBox 5"/>
          <p:cNvSpPr txBox="1"/>
          <p:nvPr/>
        </p:nvSpPr>
        <p:spPr>
          <a:xfrm>
            <a:off x="1252728" y="1828800"/>
            <a:ext cx="786384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Seguimos con la tubería de pulpa de la lámina anterior. Primero se escribe el componente con sus ecuaciones; luego el circuito se arma conectando componentes.</a:t>
            </a:r>
          </a:p>
        </p:txBody>
      </p:sp>
      <p:sp>
        <p:nvSpPr>
          <p:cNvPr id="7" name="Placa modelica"/>
          <p:cNvSpPr/>
          <p:nvPr/>
        </p:nvSpPr>
        <p:spPr>
          <a:xfrm>
            <a:off x="9710928" y="1783080"/>
            <a:ext cx="1554480" cy="5669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modelica" descr="logo-modelica.png"/>
          <p:cNvPicPr>
            <a:picLocks noChangeAspect="1"/>
          </p:cNvPicPr>
          <p:nvPr/>
        </p:nvPicPr>
        <p:blipFill>
          <a:blip r:embed="rId3"/>
          <a:stretch>
            <a:fillRect/>
          </a:stretch>
        </p:blipFill>
        <p:spPr>
          <a:xfrm>
            <a:off x="10031551" y="1837944"/>
            <a:ext cx="913233" cy="457200"/>
          </a:xfrm>
          <a:prstGeom prst="rect">
            <a:avLst/>
          </a:prstGeom>
        </p:spPr>
      </p:pic>
      <p:sp>
        <p:nvSpPr>
          <p:cNvPr id="9" name="Código 1 · UN COMPONENTE: LA TUBERÍA"/>
          <p:cNvSpPr/>
          <p:nvPr/>
        </p:nvSpPr>
        <p:spPr>
          <a:xfrm>
            <a:off x="1252728" y="2487168"/>
            <a:ext cx="5120640" cy="1783080"/>
          </a:xfrm>
          <a:prstGeom prst="rect">
            <a:avLst/>
          </a:prstGeom>
          <a:solidFill>
            <a:srgbClr val="001633"/>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417320" y="2560320"/>
            <a:ext cx="484632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1 · UN COMPONENTE: LA TUBERÍA</a:t>
            </a:r>
          </a:p>
        </p:txBody>
      </p:sp>
      <p:sp>
        <p:nvSpPr>
          <p:cNvPr id="11" name="TextBox 10"/>
          <p:cNvSpPr txBox="1"/>
          <p:nvPr/>
        </p:nvSpPr>
        <p:spPr>
          <a:xfrm>
            <a:off x="1417320" y="2816352"/>
            <a:ext cx="4846320" cy="237744"/>
          </a:xfrm>
          <a:prstGeom prst="rect">
            <a:avLst/>
          </a:prstGeom>
          <a:noFill/>
        </p:spPr>
        <p:txBody>
          <a:bodyPr wrap="square" lIns="0" tIns="0" rIns="0" bIns="0" anchor="t">
            <a:spAutoFit/>
          </a:bodyPr>
          <a:lstStyle/>
          <a:p>
            <a:pPr algn="l">
              <a:spcAft>
                <a:spcPts val="600"/>
              </a:spcAft>
            </a:pPr>
            <a:r>
              <a:rPr sz="950" b="0" i="0">
                <a:solidFill>
                  <a:srgbClr val="FFAB40"/>
                </a:solidFill>
                <a:effectLst>
                  <a:glow rad="63500">
                    <a:srgbClr val="001633">
                      <a:alpha val="85000"/>
                    </a:srgbClr>
                  </a:glow>
                </a:effectLst>
                <a:latin typeface="Montserrat"/>
              </a:rPr>
              <a:t>model Tuberia</a:t>
            </a:r>
          </a:p>
        </p:txBody>
      </p:sp>
      <p:sp>
        <p:nvSpPr>
          <p:cNvPr id="12" name="TextBox 11"/>
          <p:cNvSpPr txBox="1"/>
          <p:nvPr/>
        </p:nvSpPr>
        <p:spPr>
          <a:xfrm>
            <a:off x="1417320" y="3054096"/>
            <a:ext cx="4846320" cy="237744"/>
          </a:xfrm>
          <a:prstGeom prst="rect">
            <a:avLst/>
          </a:prstGeom>
          <a:noFill/>
        </p:spPr>
        <p:txBody>
          <a:bodyPr wrap="square" lIns="0" tIns="0" rIns="0" bIns="0" anchor="t">
            <a:spAutoFit/>
          </a:bodyPr>
          <a:lstStyle/>
          <a:p>
            <a:pPr algn="l">
              <a:spcAft>
                <a:spcPts val="600"/>
              </a:spcAft>
            </a:pPr>
            <a:r>
              <a:rPr sz="950" b="0" i="0">
                <a:solidFill>
                  <a:srgbClr val="FFFFFF"/>
                </a:solidFill>
                <a:effectLst>
                  <a:glow rad="63500">
                    <a:srgbClr val="001633">
                      <a:alpha val="85000"/>
                    </a:srgbClr>
                  </a:glow>
                </a:effectLst>
                <a:latin typeface="Montserrat"/>
              </a:rPr>
              <a:t>  Puerto a, b;   parameter Real k = 2e5;</a:t>
            </a:r>
          </a:p>
        </p:txBody>
      </p:sp>
      <p:sp>
        <p:nvSpPr>
          <p:cNvPr id="13" name="TextBox 12"/>
          <p:cNvSpPr txBox="1"/>
          <p:nvPr/>
        </p:nvSpPr>
        <p:spPr>
          <a:xfrm>
            <a:off x="1417320" y="3291840"/>
            <a:ext cx="4846320" cy="237744"/>
          </a:xfrm>
          <a:prstGeom prst="rect">
            <a:avLst/>
          </a:prstGeom>
          <a:noFill/>
        </p:spPr>
        <p:txBody>
          <a:bodyPr wrap="square" lIns="0" tIns="0" rIns="0" bIns="0" anchor="t">
            <a:spAutoFit/>
          </a:bodyPr>
          <a:lstStyle/>
          <a:p>
            <a:pPr algn="l">
              <a:spcAft>
                <a:spcPts val="600"/>
              </a:spcAft>
            </a:pPr>
            <a:r>
              <a:rPr sz="950" b="0" i="0">
                <a:solidFill>
                  <a:srgbClr val="FFAB40"/>
                </a:solidFill>
                <a:effectLst>
                  <a:glow rad="63500">
                    <a:srgbClr val="001633">
                      <a:alpha val="85000"/>
                    </a:srgbClr>
                  </a:glow>
                </a:effectLst>
                <a:latin typeface="Montserrat"/>
              </a:rPr>
              <a:t>equation</a:t>
            </a:r>
          </a:p>
        </p:txBody>
      </p:sp>
      <p:sp>
        <p:nvSpPr>
          <p:cNvPr id="14" name="TextBox 13"/>
          <p:cNvSpPr txBox="1"/>
          <p:nvPr/>
        </p:nvSpPr>
        <p:spPr>
          <a:xfrm>
            <a:off x="1417320" y="3529584"/>
            <a:ext cx="4846320" cy="237744"/>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a.p - b.p = k * a.Q^2;   // la ley de la tubería</a:t>
            </a:r>
          </a:p>
        </p:txBody>
      </p:sp>
      <p:sp>
        <p:nvSpPr>
          <p:cNvPr id="15" name="TextBox 14"/>
          <p:cNvSpPr txBox="1"/>
          <p:nvPr/>
        </p:nvSpPr>
        <p:spPr>
          <a:xfrm>
            <a:off x="1417320" y="3767328"/>
            <a:ext cx="4846320" cy="237744"/>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a.Q + b.Q = 0;          // lo que entra, sale</a:t>
            </a:r>
          </a:p>
        </p:txBody>
      </p:sp>
      <p:sp>
        <p:nvSpPr>
          <p:cNvPr id="16" name="TextBox 15"/>
          <p:cNvSpPr txBox="1"/>
          <p:nvPr/>
        </p:nvSpPr>
        <p:spPr>
          <a:xfrm>
            <a:off x="1417320" y="4005072"/>
            <a:ext cx="4846320" cy="237744"/>
          </a:xfrm>
          <a:prstGeom prst="rect">
            <a:avLst/>
          </a:prstGeom>
          <a:noFill/>
        </p:spPr>
        <p:txBody>
          <a:bodyPr wrap="square" lIns="0" tIns="0" rIns="0" bIns="0" anchor="t">
            <a:spAutoFit/>
          </a:bodyPr>
          <a:lstStyle/>
          <a:p>
            <a:pPr algn="l">
              <a:spcAft>
                <a:spcPts val="600"/>
              </a:spcAft>
            </a:pPr>
            <a:r>
              <a:rPr sz="950" b="0" i="0">
                <a:solidFill>
                  <a:srgbClr val="FFAB40"/>
                </a:solidFill>
                <a:effectLst>
                  <a:glow rad="63500">
                    <a:srgbClr val="001633">
                      <a:alpha val="85000"/>
                    </a:srgbClr>
                  </a:glow>
                </a:effectLst>
                <a:latin typeface="Montserrat"/>
              </a:rPr>
              <a:t>end Tuberia;</a:t>
            </a:r>
          </a:p>
        </p:txBody>
      </p:sp>
      <p:sp>
        <p:nvSpPr>
          <p:cNvPr id="17" name="Código 2 · UN SISTEMA: EL CIRCUITO DE PULPA"/>
          <p:cNvSpPr/>
          <p:nvPr/>
        </p:nvSpPr>
        <p:spPr>
          <a:xfrm>
            <a:off x="1252728" y="4361688"/>
            <a:ext cx="5120640" cy="1508760"/>
          </a:xfrm>
          <a:prstGeom prst="rect">
            <a:avLst/>
          </a:prstGeom>
          <a:solidFill>
            <a:srgbClr val="001633"/>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17320" y="4434840"/>
            <a:ext cx="484632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2 · UN SISTEMA: EL CIRCUITO DE PULPA</a:t>
            </a:r>
          </a:p>
        </p:txBody>
      </p:sp>
      <p:sp>
        <p:nvSpPr>
          <p:cNvPr id="19" name="TextBox 18"/>
          <p:cNvSpPr txBox="1"/>
          <p:nvPr/>
        </p:nvSpPr>
        <p:spPr>
          <a:xfrm>
            <a:off x="1417320" y="4690872"/>
            <a:ext cx="4846320" cy="237744"/>
          </a:xfrm>
          <a:prstGeom prst="rect">
            <a:avLst/>
          </a:prstGeom>
          <a:noFill/>
        </p:spPr>
        <p:txBody>
          <a:bodyPr wrap="square" lIns="0" tIns="0" rIns="0" bIns="0" anchor="t">
            <a:spAutoFit/>
          </a:bodyPr>
          <a:lstStyle/>
          <a:p>
            <a:pPr algn="l">
              <a:spcAft>
                <a:spcPts val="600"/>
              </a:spcAft>
            </a:pPr>
            <a:r>
              <a:rPr sz="950" b="0" i="0">
                <a:solidFill>
                  <a:srgbClr val="FFAB40"/>
                </a:solidFill>
                <a:effectLst>
                  <a:glow rad="63500">
                    <a:srgbClr val="001633">
                      <a:alpha val="85000"/>
                    </a:srgbClr>
                  </a:glow>
                </a:effectLst>
                <a:latin typeface="Montserrat"/>
              </a:rPr>
              <a:t>model CircuitoPulpa  Bomba bomba; Tuberia tubo(k = 2e5); Estanque estanque;</a:t>
            </a:r>
          </a:p>
        </p:txBody>
      </p:sp>
      <p:sp>
        <p:nvSpPr>
          <p:cNvPr id="20" name="TextBox 19"/>
          <p:cNvSpPr txBox="1"/>
          <p:nvPr/>
        </p:nvSpPr>
        <p:spPr>
          <a:xfrm>
            <a:off x="1417320" y="4928616"/>
            <a:ext cx="4846320" cy="237744"/>
          </a:xfrm>
          <a:prstGeom prst="rect">
            <a:avLst/>
          </a:prstGeom>
          <a:noFill/>
        </p:spPr>
        <p:txBody>
          <a:bodyPr wrap="square" lIns="0" tIns="0" rIns="0" bIns="0" anchor="t">
            <a:spAutoFit/>
          </a:bodyPr>
          <a:lstStyle/>
          <a:p>
            <a:pPr algn="l">
              <a:spcAft>
                <a:spcPts val="600"/>
              </a:spcAft>
            </a:pPr>
            <a:r>
              <a:rPr sz="950" b="0" i="0">
                <a:solidFill>
                  <a:srgbClr val="FFAB40"/>
                </a:solidFill>
                <a:effectLst>
                  <a:glow rad="63500">
                    <a:srgbClr val="001633">
                      <a:alpha val="85000"/>
                    </a:srgbClr>
                  </a:glow>
                </a:effectLst>
                <a:latin typeface="Montserrat"/>
              </a:rPr>
              <a:t>equation</a:t>
            </a:r>
          </a:p>
        </p:txBody>
      </p:sp>
      <p:sp>
        <p:nvSpPr>
          <p:cNvPr id="21" name="TextBox 20"/>
          <p:cNvSpPr txBox="1"/>
          <p:nvPr/>
        </p:nvSpPr>
        <p:spPr>
          <a:xfrm>
            <a:off x="1417320" y="5166360"/>
            <a:ext cx="4846320" cy="237744"/>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connect(bomba.salida, tubo.a);</a:t>
            </a:r>
          </a:p>
        </p:txBody>
      </p:sp>
      <p:sp>
        <p:nvSpPr>
          <p:cNvPr id="22" name="TextBox 21"/>
          <p:cNvSpPr txBox="1"/>
          <p:nvPr/>
        </p:nvSpPr>
        <p:spPr>
          <a:xfrm>
            <a:off x="1417320" y="5404104"/>
            <a:ext cx="4846320" cy="237744"/>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  connect(tubo.b, estanque.entrada);</a:t>
            </a:r>
          </a:p>
        </p:txBody>
      </p:sp>
      <p:sp>
        <p:nvSpPr>
          <p:cNvPr id="23" name="TextBox 22"/>
          <p:cNvSpPr txBox="1"/>
          <p:nvPr/>
        </p:nvSpPr>
        <p:spPr>
          <a:xfrm>
            <a:off x="1417320" y="5641848"/>
            <a:ext cx="4846320" cy="237744"/>
          </a:xfrm>
          <a:prstGeom prst="rect">
            <a:avLst/>
          </a:prstGeom>
          <a:noFill/>
        </p:spPr>
        <p:txBody>
          <a:bodyPr wrap="square" lIns="0" tIns="0" rIns="0" bIns="0" anchor="t">
            <a:spAutoFit/>
          </a:bodyPr>
          <a:lstStyle/>
          <a:p>
            <a:pPr algn="l">
              <a:spcAft>
                <a:spcPts val="600"/>
              </a:spcAft>
            </a:pPr>
            <a:r>
              <a:rPr sz="950" b="0" i="0">
                <a:solidFill>
                  <a:srgbClr val="FFAB40"/>
                </a:solidFill>
                <a:effectLst>
                  <a:glow rad="63500">
                    <a:srgbClr val="001633">
                      <a:alpha val="85000"/>
                    </a:srgbClr>
                  </a:glow>
                </a:effectLst>
                <a:latin typeface="Montserrat"/>
              </a:rPr>
              <a:t>end CircuitoPulpa;</a:t>
            </a:r>
          </a:p>
        </p:txBody>
      </p:sp>
      <p:sp>
        <p:nvSpPr>
          <p:cNvPr id="24" name="TextBox 23"/>
          <p:cNvSpPr txBox="1"/>
          <p:nvPr/>
        </p:nvSpPr>
        <p:spPr>
          <a:xfrm>
            <a:off x="6739128" y="2560320"/>
            <a:ext cx="452628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QUÉ HACE «CONNECT» EN UNA UNIÓN</a:t>
            </a:r>
          </a:p>
        </p:txBody>
      </p:sp>
      <p:sp>
        <p:nvSpPr>
          <p:cNvPr id="25" name="Variable Potencial"/>
          <p:cNvSpPr/>
          <p:nvPr/>
        </p:nvSpPr>
        <p:spPr>
          <a:xfrm>
            <a:off x="6739128" y="2816352"/>
            <a:ext cx="2171700" cy="713232"/>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6876288" y="2862072"/>
            <a:ext cx="1943100" cy="822960"/>
          </a:xfrm>
          <a:prstGeom prst="rect">
            <a:avLst/>
          </a:prstGeom>
          <a:noFill/>
        </p:spPr>
        <p:txBody>
          <a:bodyPr wrap="square" lIns="0" tIns="0" rIns="0" bIns="0" anchor="t">
            <a:spAutoFit/>
          </a:bodyPr>
          <a:lstStyle/>
          <a:p>
            <a:pPr algn="l">
              <a:spcAft>
                <a:spcPts val="100"/>
              </a:spcAft>
            </a:pPr>
            <a:r>
              <a:rPr sz="1150" b="1" i="0">
                <a:solidFill>
                  <a:srgbClr val="85D5E6"/>
                </a:solidFill>
                <a:effectLst>
                  <a:glow rad="63500">
                    <a:srgbClr val="001633">
                      <a:alpha val="85000"/>
                    </a:srgbClr>
                  </a:glow>
                </a:effectLst>
                <a:latin typeface="Montserrat"/>
              </a:rPr>
              <a:t>Potencial</a:t>
            </a:r>
          </a:p>
          <a:p>
            <a:pPr algn="l">
              <a:spcAft>
                <a:spcPts val="100"/>
              </a:spcAft>
            </a:pPr>
            <a:r>
              <a:rPr sz="950" b="1" i="0">
                <a:solidFill>
                  <a:srgbClr val="FFFFFF"/>
                </a:solidFill>
                <a:effectLst>
                  <a:glow rad="63500">
                    <a:srgbClr val="001633">
                      <a:alpha val="85000"/>
                    </a:srgbClr>
                  </a:glow>
                </a:effectLst>
                <a:latin typeface="Montserrat"/>
              </a:rPr>
              <a:t>presión p</a:t>
            </a:r>
          </a:p>
          <a:p>
            <a:pPr algn="l">
              <a:spcAft>
                <a:spcPts val="100"/>
              </a:spcAft>
            </a:pPr>
            <a:r>
              <a:rPr sz="900" b="0" i="0">
                <a:solidFill>
                  <a:srgbClr val="A9B8C9"/>
                </a:solidFill>
                <a:effectLst>
                  <a:glow rad="63500">
                    <a:srgbClr val="001633">
                      <a:alpha val="85000"/>
                    </a:srgbClr>
                  </a:glow>
                </a:effectLst>
                <a:latin typeface="Montserrat"/>
              </a:rPr>
              <a:t>se iguala en la unión</a:t>
            </a:r>
          </a:p>
        </p:txBody>
      </p:sp>
      <p:sp>
        <p:nvSpPr>
          <p:cNvPr id="27" name="Variable Flujo"/>
          <p:cNvSpPr/>
          <p:nvPr/>
        </p:nvSpPr>
        <p:spPr>
          <a:xfrm>
            <a:off x="9093708" y="2816352"/>
            <a:ext cx="2171700" cy="713232"/>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230868" y="2862072"/>
            <a:ext cx="1943100" cy="822960"/>
          </a:xfrm>
          <a:prstGeom prst="rect">
            <a:avLst/>
          </a:prstGeom>
          <a:noFill/>
        </p:spPr>
        <p:txBody>
          <a:bodyPr wrap="square" lIns="0" tIns="0" rIns="0" bIns="0" anchor="t">
            <a:spAutoFit/>
          </a:bodyPr>
          <a:lstStyle/>
          <a:p>
            <a:pPr algn="l">
              <a:spcAft>
                <a:spcPts val="100"/>
              </a:spcAft>
            </a:pPr>
            <a:r>
              <a:rPr sz="1150" b="1" i="0">
                <a:solidFill>
                  <a:srgbClr val="85D5E6"/>
                </a:solidFill>
                <a:effectLst>
                  <a:glow rad="63500">
                    <a:srgbClr val="001633">
                      <a:alpha val="85000"/>
                    </a:srgbClr>
                  </a:glow>
                </a:effectLst>
                <a:latin typeface="Montserrat"/>
              </a:rPr>
              <a:t>Flujo</a:t>
            </a:r>
          </a:p>
          <a:p>
            <a:pPr algn="l">
              <a:spcAft>
                <a:spcPts val="100"/>
              </a:spcAft>
            </a:pPr>
            <a:r>
              <a:rPr sz="950" b="1" i="0">
                <a:solidFill>
                  <a:srgbClr val="FFFFFF"/>
                </a:solidFill>
                <a:effectLst>
                  <a:glow rad="63500">
                    <a:srgbClr val="001633">
                      <a:alpha val="85000"/>
                    </a:srgbClr>
                  </a:glow>
                </a:effectLst>
                <a:latin typeface="Montserrat"/>
              </a:rPr>
              <a:t>caudal Q</a:t>
            </a:r>
          </a:p>
          <a:p>
            <a:pPr algn="l">
              <a:spcAft>
                <a:spcPts val="100"/>
              </a:spcAft>
            </a:pPr>
            <a:r>
              <a:rPr sz="900" b="0" i="0">
                <a:solidFill>
                  <a:srgbClr val="A9B8C9"/>
                </a:solidFill>
                <a:effectLst>
                  <a:glow rad="63500">
                    <a:srgbClr val="001633">
                      <a:alpha val="85000"/>
                    </a:srgbClr>
                  </a:glow>
                </a:effectLst>
                <a:latin typeface="Montserrat"/>
              </a:rPr>
              <a:t>suma cero en la unión</a:t>
            </a:r>
          </a:p>
        </p:txBody>
      </p:sp>
      <p:sp>
        <p:nvSpPr>
          <p:cNvPr id="29" name="TextBox 28"/>
          <p:cNvSpPr txBox="1"/>
          <p:nvPr/>
        </p:nvSpPr>
        <p:spPr>
          <a:xfrm>
            <a:off x="6739128" y="3639312"/>
            <a:ext cx="4526280" cy="457200"/>
          </a:xfrm>
          <a:prstGeom prst="rect">
            <a:avLst/>
          </a:prstGeom>
          <a:noFill/>
        </p:spPr>
        <p:txBody>
          <a:bodyPr wrap="square" lIns="0" tIns="0" rIns="0" bIns="0" anchor="t">
            <a:spAutoFit/>
          </a:bodyPr>
          <a:lstStyle/>
          <a:p>
            <a:pPr algn="l">
              <a:spcAft>
                <a:spcPts val="600"/>
              </a:spcAft>
            </a:pPr>
            <a:r>
              <a:rPr sz="900" b="0" i="0">
                <a:solidFill>
                  <a:srgbClr val="FFFFFF"/>
                </a:solidFill>
                <a:effectLst>
                  <a:glow rad="63500">
                    <a:srgbClr val="001633">
                      <a:alpha val="85000"/>
                    </a:srgbClr>
                  </a:glow>
                </a:effectLst>
                <a:latin typeface="Montserrat"/>
              </a:rPr>
              <a:t>Por eso al conectar no se escriben ecuaciones nuevas: la herramienta las genera.</a:t>
            </a:r>
          </a:p>
        </p:txBody>
      </p:sp>
      <p:sp>
        <p:nvSpPr>
          <p:cNvPr id="30" name="TextBox 29"/>
          <p:cNvSpPr txBox="1"/>
          <p:nvPr/>
        </p:nvSpPr>
        <p:spPr>
          <a:xfrm>
            <a:off x="6739128" y="4315968"/>
            <a:ext cx="45262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LIBRERÍAS: COMPONENTES LISTOS PARA CONECTAR</a:t>
            </a:r>
          </a:p>
        </p:txBody>
      </p:sp>
      <p:sp>
        <p:nvSpPr>
          <p:cNvPr id="31" name="Dominio Eléctrica"/>
          <p:cNvSpPr/>
          <p:nvPr/>
        </p:nvSpPr>
        <p:spPr>
          <a:xfrm>
            <a:off x="6739128" y="4572000"/>
            <a:ext cx="832104"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Ícono zap" descr="zap-orange.png"/>
          <p:cNvPicPr>
            <a:picLocks noChangeAspect="1"/>
          </p:cNvPicPr>
          <p:nvPr/>
        </p:nvPicPr>
        <p:blipFill>
          <a:blip r:embed="rId4"/>
          <a:stretch>
            <a:fillRect/>
          </a:stretch>
        </p:blipFill>
        <p:spPr>
          <a:xfrm>
            <a:off x="7027164" y="4626864"/>
            <a:ext cx="256032" cy="256032"/>
          </a:xfrm>
          <a:prstGeom prst="rect">
            <a:avLst/>
          </a:prstGeom>
        </p:spPr>
      </p:pic>
      <p:sp>
        <p:nvSpPr>
          <p:cNvPr id="33" name="TextBox 32"/>
          <p:cNvSpPr txBox="1"/>
          <p:nvPr/>
        </p:nvSpPr>
        <p:spPr>
          <a:xfrm>
            <a:off x="6739128" y="4901184"/>
            <a:ext cx="832104"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Eléctrica</a:t>
            </a:r>
          </a:p>
          <a:p>
            <a:pPr algn="ctr">
              <a:spcAft>
                <a:spcPts val="0"/>
              </a:spcAft>
            </a:pPr>
            <a:r>
              <a:rPr sz="700" b="0" i="0">
                <a:solidFill>
                  <a:srgbClr val="A9B8C9"/>
                </a:solidFill>
                <a:effectLst>
                  <a:glow rad="63500">
                    <a:srgbClr val="001633">
                      <a:alpha val="85000"/>
                    </a:srgbClr>
                  </a:glow>
                </a:effectLst>
                <a:latin typeface="Montserrat"/>
              </a:rPr>
              <a:t>motores</a:t>
            </a:r>
          </a:p>
        </p:txBody>
      </p:sp>
      <p:sp>
        <p:nvSpPr>
          <p:cNvPr id="34" name="Dominio Mecánica"/>
          <p:cNvSpPr/>
          <p:nvPr/>
        </p:nvSpPr>
        <p:spPr>
          <a:xfrm>
            <a:off x="7662672" y="4572000"/>
            <a:ext cx="832104"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Ícono cog" descr="cog-orange.png"/>
          <p:cNvPicPr>
            <a:picLocks noChangeAspect="1"/>
          </p:cNvPicPr>
          <p:nvPr/>
        </p:nvPicPr>
        <p:blipFill>
          <a:blip r:embed="rId5"/>
          <a:stretch>
            <a:fillRect/>
          </a:stretch>
        </p:blipFill>
        <p:spPr>
          <a:xfrm>
            <a:off x="7950708" y="4626864"/>
            <a:ext cx="256032" cy="256032"/>
          </a:xfrm>
          <a:prstGeom prst="rect">
            <a:avLst/>
          </a:prstGeom>
        </p:spPr>
      </p:pic>
      <p:sp>
        <p:nvSpPr>
          <p:cNvPr id="36" name="TextBox 35"/>
          <p:cNvSpPr txBox="1"/>
          <p:nvPr/>
        </p:nvSpPr>
        <p:spPr>
          <a:xfrm>
            <a:off x="7662672" y="4901184"/>
            <a:ext cx="832104"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Mecánica</a:t>
            </a:r>
          </a:p>
          <a:p>
            <a:pPr algn="ctr">
              <a:spcAft>
                <a:spcPts val="0"/>
              </a:spcAft>
            </a:pPr>
            <a:r>
              <a:rPr sz="700" b="0" i="0">
                <a:solidFill>
                  <a:srgbClr val="A9B8C9"/>
                </a:solidFill>
                <a:effectLst>
                  <a:glow rad="63500">
                    <a:srgbClr val="001633">
                      <a:alpha val="85000"/>
                    </a:srgbClr>
                  </a:glow>
                </a:effectLst>
                <a:latin typeface="Montserrat"/>
              </a:rPr>
              <a:t>ejes, reductores</a:t>
            </a:r>
          </a:p>
        </p:txBody>
      </p:sp>
      <p:sp>
        <p:nvSpPr>
          <p:cNvPr id="37" name="Dominio Fluidos"/>
          <p:cNvSpPr/>
          <p:nvPr/>
        </p:nvSpPr>
        <p:spPr>
          <a:xfrm>
            <a:off x="8586216" y="4572000"/>
            <a:ext cx="832104"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8" name="Ícono waves" descr="waves-orange.png"/>
          <p:cNvPicPr>
            <a:picLocks noChangeAspect="1"/>
          </p:cNvPicPr>
          <p:nvPr/>
        </p:nvPicPr>
        <p:blipFill>
          <a:blip r:embed="rId6"/>
          <a:stretch>
            <a:fillRect/>
          </a:stretch>
        </p:blipFill>
        <p:spPr>
          <a:xfrm>
            <a:off x="8874252" y="4626864"/>
            <a:ext cx="256032" cy="256032"/>
          </a:xfrm>
          <a:prstGeom prst="rect">
            <a:avLst/>
          </a:prstGeom>
        </p:spPr>
      </p:pic>
      <p:sp>
        <p:nvSpPr>
          <p:cNvPr id="39" name="TextBox 38"/>
          <p:cNvSpPr txBox="1"/>
          <p:nvPr/>
        </p:nvSpPr>
        <p:spPr>
          <a:xfrm>
            <a:off x="8586216" y="4901184"/>
            <a:ext cx="832104"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Fluidos</a:t>
            </a:r>
          </a:p>
          <a:p>
            <a:pPr algn="ctr">
              <a:spcAft>
                <a:spcPts val="0"/>
              </a:spcAft>
            </a:pPr>
            <a:r>
              <a:rPr sz="700" b="0" i="0">
                <a:solidFill>
                  <a:srgbClr val="A9B8C9"/>
                </a:solidFill>
                <a:effectLst>
                  <a:glow rad="63500">
                    <a:srgbClr val="001633">
                      <a:alpha val="85000"/>
                    </a:srgbClr>
                  </a:glow>
                </a:effectLst>
                <a:latin typeface="Montserrat"/>
              </a:rPr>
              <a:t>bombas, tuberías</a:t>
            </a:r>
          </a:p>
        </p:txBody>
      </p:sp>
      <p:sp>
        <p:nvSpPr>
          <p:cNvPr id="40" name="Dominio Térmica"/>
          <p:cNvSpPr/>
          <p:nvPr/>
        </p:nvSpPr>
        <p:spPr>
          <a:xfrm>
            <a:off x="9509760" y="4572000"/>
            <a:ext cx="832104"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1" name="Ícono gauge" descr="gauge-orange.png"/>
          <p:cNvPicPr>
            <a:picLocks noChangeAspect="1"/>
          </p:cNvPicPr>
          <p:nvPr/>
        </p:nvPicPr>
        <p:blipFill>
          <a:blip r:embed="rId7"/>
          <a:stretch>
            <a:fillRect/>
          </a:stretch>
        </p:blipFill>
        <p:spPr>
          <a:xfrm>
            <a:off x="9797796" y="4626864"/>
            <a:ext cx="256032" cy="256032"/>
          </a:xfrm>
          <a:prstGeom prst="rect">
            <a:avLst/>
          </a:prstGeom>
        </p:spPr>
      </p:pic>
      <p:sp>
        <p:nvSpPr>
          <p:cNvPr id="42" name="TextBox 41"/>
          <p:cNvSpPr txBox="1"/>
          <p:nvPr/>
        </p:nvSpPr>
        <p:spPr>
          <a:xfrm>
            <a:off x="9509760" y="4901184"/>
            <a:ext cx="832104"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Térmica</a:t>
            </a:r>
          </a:p>
          <a:p>
            <a:pPr algn="ctr">
              <a:spcAft>
                <a:spcPts val="0"/>
              </a:spcAft>
            </a:pPr>
            <a:r>
              <a:rPr sz="700" b="0" i="0">
                <a:solidFill>
                  <a:srgbClr val="A9B8C9"/>
                </a:solidFill>
                <a:effectLst>
                  <a:glow rad="63500">
                    <a:srgbClr val="001633">
                      <a:alpha val="85000"/>
                    </a:srgbClr>
                  </a:glow>
                </a:effectLst>
                <a:latin typeface="Montserrat"/>
              </a:rPr>
              <a:t>calor</a:t>
            </a:r>
          </a:p>
        </p:txBody>
      </p:sp>
      <p:sp>
        <p:nvSpPr>
          <p:cNvPr id="43" name="Dominio Control"/>
          <p:cNvSpPr/>
          <p:nvPr/>
        </p:nvSpPr>
        <p:spPr>
          <a:xfrm>
            <a:off x="10433304" y="4572000"/>
            <a:ext cx="832104" cy="74980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Ícono sliders-horizontal" descr="sliders-horizontal-orange.png"/>
          <p:cNvPicPr>
            <a:picLocks noChangeAspect="1"/>
          </p:cNvPicPr>
          <p:nvPr/>
        </p:nvPicPr>
        <p:blipFill>
          <a:blip r:embed="rId8"/>
          <a:stretch>
            <a:fillRect/>
          </a:stretch>
        </p:blipFill>
        <p:spPr>
          <a:xfrm>
            <a:off x="10721340" y="4626864"/>
            <a:ext cx="256032" cy="256032"/>
          </a:xfrm>
          <a:prstGeom prst="rect">
            <a:avLst/>
          </a:prstGeom>
        </p:spPr>
      </p:pic>
      <p:sp>
        <p:nvSpPr>
          <p:cNvPr id="45" name="TextBox 44"/>
          <p:cNvSpPr txBox="1"/>
          <p:nvPr/>
        </p:nvSpPr>
        <p:spPr>
          <a:xfrm>
            <a:off x="10433304" y="4901184"/>
            <a:ext cx="832104"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Control</a:t>
            </a:r>
          </a:p>
          <a:p>
            <a:pPr algn="ctr">
              <a:spcAft>
                <a:spcPts val="0"/>
              </a:spcAft>
            </a:pPr>
            <a:r>
              <a:rPr sz="700" b="0" i="0">
                <a:solidFill>
                  <a:srgbClr val="A9B8C9"/>
                </a:solidFill>
                <a:effectLst>
                  <a:glow rad="63500">
                    <a:srgbClr val="001633">
                      <a:alpha val="85000"/>
                    </a:srgbClr>
                  </a:glow>
                </a:effectLst>
                <a:latin typeface="Montserrat"/>
              </a:rPr>
              <a:t>PID, lógica</a:t>
            </a:r>
          </a:p>
        </p:txBody>
      </p:sp>
      <p:sp>
        <p:nvSpPr>
          <p:cNvPr id="46" name="TextBox 45"/>
          <p:cNvSpPr txBox="1"/>
          <p:nvPr/>
        </p:nvSpPr>
        <p:spPr>
          <a:xfrm>
            <a:off x="6739128" y="5413248"/>
            <a:ext cx="4526280" cy="36576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Herramientas: </a:t>
            </a:r>
            <a:r>
              <a:rPr sz="950" b="0" i="0">
                <a:solidFill>
                  <a:srgbClr val="FFFFFF"/>
                </a:solidFill>
                <a:effectLst>
                  <a:glow rad="63500">
                    <a:srgbClr val="001633">
                      <a:alpha val="85000"/>
                    </a:srgbClr>
                  </a:glow>
                </a:effectLst>
                <a:latin typeface="Montserrat"/>
              </a:rPr>
              <a:t>OpenModelica (abierta), Dymola y otras. El modelo se exporta como FMU (decisión 4).</a:t>
            </a:r>
          </a:p>
        </p:txBody>
      </p:sp>
      <p:sp>
        <p:nvSpPr>
          <p:cNvPr id="4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Lenguaje Modelica [18] · código simplificado e ilustrativo</a:t>
            </a:r>
          </a:p>
        </p:txBody>
      </p:sp>
      <p:sp>
        <p:nvSpPr>
          <p:cNvPr id="48"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9"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2"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5"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I actual"/>
          <p:cNvSpPr/>
          <p:nvPr/>
        </p:nvSpPr>
        <p:spPr>
          <a:xfrm>
            <a:off x="5001768" y="6510528"/>
            <a:ext cx="575187"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8"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10/31 </a:t>
            </a:r>
            <a:r>
              <a:rPr sz="1000" b="0" i="0">
                <a:solidFill>
                  <a:srgbClr val="A9B8C9"/>
                </a:solidFill>
                <a:effectLst>
                  <a:glow rad="63500">
                    <a:srgbClr val="001633">
                      <a:alpha val="85000"/>
                    </a:srgbClr>
                  </a:glow>
                </a:effectLst>
                <a:latin typeface="Montserrat"/>
              </a:rPr>
              <a:t>· Gemelos Digitales para Minería 4.0 · 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Cada lenguaje tiene su lugar: no hay uno que sirva para todo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2 · HERRAMIENTA Y LENGUAJE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 gemelo minero real combina varios: el equipo en un lenguaje acausal, el control y los datos en uno causal. Se unen con estándares (decisión 4).</a:t>
            </a:r>
          </a:p>
        </p:txBody>
      </p:sp>
      <p:sp>
        <p:nvSpPr>
          <p:cNvPr id="7" name="TextBox 6"/>
          <p:cNvSpPr txBox="1"/>
          <p:nvPr/>
        </p:nvSpPr>
        <p:spPr>
          <a:xfrm>
            <a:off x="1344168" y="2468880"/>
            <a:ext cx="233172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LENGUAJE O HERRAMIENTA</a:t>
            </a:r>
          </a:p>
        </p:txBody>
      </p:sp>
      <p:sp>
        <p:nvSpPr>
          <p:cNvPr id="8" name="TextBox 7"/>
          <p:cNvSpPr txBox="1"/>
          <p:nvPr/>
        </p:nvSpPr>
        <p:spPr>
          <a:xfrm>
            <a:off x="3767328" y="2468880"/>
            <a:ext cx="86868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FORMA</a:t>
            </a:r>
          </a:p>
        </p:txBody>
      </p:sp>
      <p:sp>
        <p:nvSpPr>
          <p:cNvPr id="9" name="TextBox 8"/>
          <p:cNvSpPr txBox="1"/>
          <p:nvPr/>
        </p:nvSpPr>
        <p:spPr>
          <a:xfrm>
            <a:off x="4727448" y="2468880"/>
            <a:ext cx="27432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PARA QUÉ ES BUENO</a:t>
            </a:r>
          </a:p>
        </p:txBody>
      </p:sp>
      <p:sp>
        <p:nvSpPr>
          <p:cNvPr id="10" name="TextBox 9"/>
          <p:cNvSpPr txBox="1"/>
          <p:nvPr/>
        </p:nvSpPr>
        <p:spPr>
          <a:xfrm>
            <a:off x="7562088" y="2468880"/>
            <a:ext cx="29718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EN MINERÍA, POR EJEMPLO</a:t>
            </a:r>
          </a:p>
        </p:txBody>
      </p:sp>
      <p:sp>
        <p:nvSpPr>
          <p:cNvPr id="11" name="TextBox 10"/>
          <p:cNvSpPr txBox="1"/>
          <p:nvPr/>
        </p:nvSpPr>
        <p:spPr>
          <a:xfrm>
            <a:off x="10625328" y="2468880"/>
            <a:ext cx="73152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ABIERTO</a:t>
            </a:r>
          </a:p>
        </p:txBody>
      </p:sp>
      <p:sp>
        <p:nvSpPr>
          <p:cNvPr id="12" name="Lenguaje Modelica"/>
          <p:cNvSpPr/>
          <p:nvPr/>
        </p:nvSpPr>
        <p:spPr>
          <a:xfrm>
            <a:off x="1252728" y="2724912"/>
            <a:ext cx="10012680" cy="36576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Placa modelica"/>
          <p:cNvSpPr/>
          <p:nvPr/>
        </p:nvSpPr>
        <p:spPr>
          <a:xfrm>
            <a:off x="1325880" y="2770632"/>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Logo modelica" descr="logo-modelica.png"/>
          <p:cNvPicPr>
            <a:picLocks noChangeAspect="1"/>
          </p:cNvPicPr>
          <p:nvPr/>
        </p:nvPicPr>
        <p:blipFill>
          <a:blip r:embed="rId3"/>
          <a:stretch>
            <a:fillRect/>
          </a:stretch>
        </p:blipFill>
        <p:spPr>
          <a:xfrm>
            <a:off x="1518114" y="2825496"/>
            <a:ext cx="328764" cy="164592"/>
          </a:xfrm>
          <a:prstGeom prst="rect">
            <a:avLst/>
          </a:prstGeom>
        </p:spPr>
      </p:pic>
      <p:sp>
        <p:nvSpPr>
          <p:cNvPr id="15" name="TextBox 14"/>
          <p:cNvSpPr txBox="1"/>
          <p:nvPr/>
        </p:nvSpPr>
        <p:spPr>
          <a:xfrm>
            <a:off x="2148840" y="2724912"/>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Modelica</a:t>
            </a:r>
          </a:p>
        </p:txBody>
      </p:sp>
      <p:sp>
        <p:nvSpPr>
          <p:cNvPr id="16" name="Etiqueta acausal"/>
          <p:cNvSpPr/>
          <p:nvPr/>
        </p:nvSpPr>
        <p:spPr>
          <a:xfrm>
            <a:off x="3749040" y="2798064"/>
            <a:ext cx="777240" cy="219456"/>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3749040" y="2798064"/>
            <a:ext cx="777240" cy="219456"/>
          </a:xfrm>
          <a:prstGeom prst="rect">
            <a:avLst/>
          </a:prstGeom>
          <a:noFill/>
        </p:spPr>
        <p:txBody>
          <a:bodyPr wrap="square" lIns="0" tIns="0" rIns="0" bIns="0" anchor="ctr">
            <a:spAutoFit/>
          </a:bodyPr>
          <a:lstStyle/>
          <a:p>
            <a:pPr algn="ctr">
              <a:spcAft>
                <a:spcPts val="600"/>
              </a:spcAft>
            </a:pPr>
            <a:r>
              <a:rPr sz="800" b="1" i="0">
                <a:solidFill>
                  <a:srgbClr val="85D5E6"/>
                </a:solidFill>
                <a:effectLst>
                  <a:glow rad="63500">
                    <a:srgbClr val="001633">
                      <a:alpha val="85000"/>
                    </a:srgbClr>
                  </a:glow>
                </a:effectLst>
                <a:latin typeface="Montserrat"/>
              </a:rPr>
              <a:t>acausal</a:t>
            </a:r>
          </a:p>
        </p:txBody>
      </p:sp>
      <p:sp>
        <p:nvSpPr>
          <p:cNvPr id="18" name="TextBox 17"/>
          <p:cNvSpPr txBox="1"/>
          <p:nvPr/>
        </p:nvSpPr>
        <p:spPr>
          <a:xfrm>
            <a:off x="4727448" y="2724912"/>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equipos físicos multidominio</a:t>
            </a:r>
          </a:p>
        </p:txBody>
      </p:sp>
      <p:sp>
        <p:nvSpPr>
          <p:cNvPr id="19" name="TextBox 18"/>
          <p:cNvSpPr txBox="1"/>
          <p:nvPr/>
        </p:nvSpPr>
        <p:spPr>
          <a:xfrm>
            <a:off x="7562088" y="2724912"/>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accionamientos – maquinas - procesos</a:t>
            </a:r>
          </a:p>
        </p:txBody>
      </p:sp>
      <p:sp>
        <p:nvSpPr>
          <p:cNvPr id="20" name="TextBox 19"/>
          <p:cNvSpPr txBox="1"/>
          <p:nvPr/>
        </p:nvSpPr>
        <p:spPr>
          <a:xfrm>
            <a:off x="10625328" y="2724912"/>
            <a:ext cx="731520" cy="365760"/>
          </a:xfrm>
          <a:prstGeom prst="rect">
            <a:avLst/>
          </a:prstGeom>
          <a:noFill/>
        </p:spPr>
        <p:txBody>
          <a:bodyPr wrap="square" lIns="0" tIns="0" rIns="0" bIns="0" anchor="ctr">
            <a:spAutoFit/>
          </a:bodyPr>
          <a:lstStyle/>
          <a:p>
            <a:pPr algn="l">
              <a:spcAft>
                <a:spcPts val="600"/>
              </a:spcAft>
            </a:pPr>
            <a:r>
              <a:rPr sz="950" b="1" i="0">
                <a:solidFill>
                  <a:srgbClr val="85D5E6"/>
                </a:solidFill>
                <a:effectLst>
                  <a:glow rad="63500">
                    <a:srgbClr val="001633">
                      <a:alpha val="85000"/>
                    </a:srgbClr>
                  </a:glow>
                </a:effectLst>
                <a:latin typeface="Montserrat"/>
              </a:rPr>
              <a:t>sí</a:t>
            </a:r>
          </a:p>
        </p:txBody>
      </p:sp>
      <p:sp>
        <p:nvSpPr>
          <p:cNvPr id="21" name="Lenguaje Simscape"/>
          <p:cNvSpPr/>
          <p:nvPr/>
        </p:nvSpPr>
        <p:spPr>
          <a:xfrm>
            <a:off x="1252728" y="3145536"/>
            <a:ext cx="100126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laca matlab"/>
          <p:cNvSpPr/>
          <p:nvPr/>
        </p:nvSpPr>
        <p:spPr>
          <a:xfrm>
            <a:off x="1325880" y="3191256"/>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Logo matlab" descr="logo-matlab.png"/>
          <p:cNvPicPr>
            <a:picLocks noChangeAspect="1"/>
          </p:cNvPicPr>
          <p:nvPr/>
        </p:nvPicPr>
        <p:blipFill>
          <a:blip r:embed="rId4"/>
          <a:stretch>
            <a:fillRect/>
          </a:stretch>
        </p:blipFill>
        <p:spPr>
          <a:xfrm>
            <a:off x="1590577" y="3246120"/>
            <a:ext cx="183837" cy="164592"/>
          </a:xfrm>
          <a:prstGeom prst="rect">
            <a:avLst/>
          </a:prstGeom>
        </p:spPr>
      </p:pic>
      <p:sp>
        <p:nvSpPr>
          <p:cNvPr id="24" name="TextBox 23"/>
          <p:cNvSpPr txBox="1"/>
          <p:nvPr/>
        </p:nvSpPr>
        <p:spPr>
          <a:xfrm>
            <a:off x="2148840" y="3145536"/>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Simscape</a:t>
            </a:r>
          </a:p>
        </p:txBody>
      </p:sp>
      <p:sp>
        <p:nvSpPr>
          <p:cNvPr id="25" name="Etiqueta acausal"/>
          <p:cNvSpPr/>
          <p:nvPr/>
        </p:nvSpPr>
        <p:spPr>
          <a:xfrm>
            <a:off x="3749040" y="3218688"/>
            <a:ext cx="777240" cy="219456"/>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3749040" y="3218688"/>
            <a:ext cx="777240" cy="219456"/>
          </a:xfrm>
          <a:prstGeom prst="rect">
            <a:avLst/>
          </a:prstGeom>
          <a:noFill/>
        </p:spPr>
        <p:txBody>
          <a:bodyPr wrap="square" lIns="0" tIns="0" rIns="0" bIns="0" anchor="ctr">
            <a:spAutoFit/>
          </a:bodyPr>
          <a:lstStyle/>
          <a:p>
            <a:pPr algn="ctr">
              <a:spcAft>
                <a:spcPts val="600"/>
              </a:spcAft>
            </a:pPr>
            <a:r>
              <a:rPr sz="800" b="1" i="0">
                <a:solidFill>
                  <a:srgbClr val="85D5E6"/>
                </a:solidFill>
                <a:effectLst>
                  <a:glow rad="63500">
                    <a:srgbClr val="001633">
                      <a:alpha val="85000"/>
                    </a:srgbClr>
                  </a:glow>
                </a:effectLst>
                <a:latin typeface="Montserrat"/>
              </a:rPr>
              <a:t>acausal</a:t>
            </a:r>
          </a:p>
        </p:txBody>
      </p:sp>
      <p:sp>
        <p:nvSpPr>
          <p:cNvPr id="27" name="TextBox 26"/>
          <p:cNvSpPr txBox="1"/>
          <p:nvPr/>
        </p:nvSpPr>
        <p:spPr>
          <a:xfrm>
            <a:off x="4727448" y="3145536"/>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equipos físicos dentro de MATLAB</a:t>
            </a:r>
          </a:p>
        </p:txBody>
      </p:sp>
      <p:sp>
        <p:nvSpPr>
          <p:cNvPr id="28" name="TextBox 27"/>
          <p:cNvSpPr txBox="1"/>
          <p:nvPr/>
        </p:nvSpPr>
        <p:spPr>
          <a:xfrm>
            <a:off x="7562088" y="3145536"/>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accionamientos con su control en Simulink</a:t>
            </a:r>
          </a:p>
        </p:txBody>
      </p:sp>
      <p:sp>
        <p:nvSpPr>
          <p:cNvPr id="29" name="TextBox 28"/>
          <p:cNvSpPr txBox="1"/>
          <p:nvPr/>
        </p:nvSpPr>
        <p:spPr>
          <a:xfrm>
            <a:off x="10625328" y="3145536"/>
            <a:ext cx="731520" cy="365760"/>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no</a:t>
            </a:r>
          </a:p>
        </p:txBody>
      </p:sp>
      <p:sp>
        <p:nvSpPr>
          <p:cNvPr id="30" name="Lenguaje Simulink"/>
          <p:cNvSpPr/>
          <p:nvPr/>
        </p:nvSpPr>
        <p:spPr>
          <a:xfrm>
            <a:off x="1252728" y="3566160"/>
            <a:ext cx="100126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Placa simulink"/>
          <p:cNvSpPr/>
          <p:nvPr/>
        </p:nvSpPr>
        <p:spPr>
          <a:xfrm>
            <a:off x="1325880" y="3611880"/>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Logo simulink" descr="logo-simulink.png"/>
          <p:cNvPicPr>
            <a:picLocks noChangeAspect="1"/>
          </p:cNvPicPr>
          <p:nvPr/>
        </p:nvPicPr>
        <p:blipFill>
          <a:blip r:embed="rId5"/>
          <a:stretch>
            <a:fillRect/>
          </a:stretch>
        </p:blipFill>
        <p:spPr>
          <a:xfrm>
            <a:off x="1380744" y="3695156"/>
            <a:ext cx="603504" cy="107768"/>
          </a:xfrm>
          <a:prstGeom prst="rect">
            <a:avLst/>
          </a:prstGeom>
        </p:spPr>
      </p:pic>
      <p:sp>
        <p:nvSpPr>
          <p:cNvPr id="33" name="TextBox 32"/>
          <p:cNvSpPr txBox="1"/>
          <p:nvPr/>
        </p:nvSpPr>
        <p:spPr>
          <a:xfrm>
            <a:off x="2148840" y="3566160"/>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Simulink</a:t>
            </a:r>
          </a:p>
        </p:txBody>
      </p:sp>
      <p:sp>
        <p:nvSpPr>
          <p:cNvPr id="34" name="Etiqueta causal"/>
          <p:cNvSpPr/>
          <p:nvPr/>
        </p:nvSpPr>
        <p:spPr>
          <a:xfrm>
            <a:off x="3749040" y="3639312"/>
            <a:ext cx="777240" cy="219456"/>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3749040" y="3639312"/>
            <a:ext cx="777240" cy="219456"/>
          </a:xfrm>
          <a:prstGeom prst="rect">
            <a:avLst/>
          </a:prstGeom>
          <a:noFill/>
        </p:spPr>
        <p:txBody>
          <a:bodyPr wrap="square" lIns="0" tIns="0" rIns="0" bIns="0" anchor="ctr">
            <a:spAutoFit/>
          </a:bodyPr>
          <a:lstStyle/>
          <a:p>
            <a:pPr algn="ctr">
              <a:spcAft>
                <a:spcPts val="600"/>
              </a:spcAft>
            </a:pPr>
            <a:r>
              <a:rPr sz="800" b="1" i="0">
                <a:solidFill>
                  <a:srgbClr val="FFAB40"/>
                </a:solidFill>
                <a:effectLst>
                  <a:glow rad="63500">
                    <a:srgbClr val="001633">
                      <a:alpha val="85000"/>
                    </a:srgbClr>
                  </a:glow>
                </a:effectLst>
                <a:latin typeface="Montserrat"/>
              </a:rPr>
              <a:t>causal</a:t>
            </a:r>
          </a:p>
        </p:txBody>
      </p:sp>
      <p:sp>
        <p:nvSpPr>
          <p:cNvPr id="36" name="TextBox 35"/>
          <p:cNvSpPr txBox="1"/>
          <p:nvPr/>
        </p:nvSpPr>
        <p:spPr>
          <a:xfrm>
            <a:off x="4727448" y="3566160"/>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control y señales, diagrama de bloques</a:t>
            </a:r>
          </a:p>
        </p:txBody>
      </p:sp>
      <p:sp>
        <p:nvSpPr>
          <p:cNvPr id="37" name="TextBox 36"/>
          <p:cNvSpPr txBox="1"/>
          <p:nvPr/>
        </p:nvSpPr>
        <p:spPr>
          <a:xfrm>
            <a:off x="7562088" y="3566160"/>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lazos de control, prueba de lógica de PLC</a:t>
            </a:r>
          </a:p>
        </p:txBody>
      </p:sp>
      <p:sp>
        <p:nvSpPr>
          <p:cNvPr id="38" name="TextBox 37"/>
          <p:cNvSpPr txBox="1"/>
          <p:nvPr/>
        </p:nvSpPr>
        <p:spPr>
          <a:xfrm>
            <a:off x="10625328" y="3566160"/>
            <a:ext cx="731520" cy="365760"/>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no</a:t>
            </a:r>
          </a:p>
        </p:txBody>
      </p:sp>
      <p:sp>
        <p:nvSpPr>
          <p:cNvPr id="39" name="Lenguaje Python"/>
          <p:cNvSpPr/>
          <p:nvPr/>
        </p:nvSpPr>
        <p:spPr>
          <a:xfrm>
            <a:off x="1252728" y="3986784"/>
            <a:ext cx="10012680" cy="365760"/>
          </a:xfrm>
          <a:prstGeom prst="rect">
            <a:avLst/>
          </a:prstGeom>
          <a:solidFill>
            <a:srgbClr val="1233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Placa python"/>
          <p:cNvSpPr/>
          <p:nvPr/>
        </p:nvSpPr>
        <p:spPr>
          <a:xfrm>
            <a:off x="1325880" y="4032504"/>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1" name="Logo python" descr="logo-python.png"/>
          <p:cNvPicPr>
            <a:picLocks noChangeAspect="1"/>
          </p:cNvPicPr>
          <p:nvPr/>
        </p:nvPicPr>
        <p:blipFill>
          <a:blip r:embed="rId6"/>
          <a:stretch>
            <a:fillRect/>
          </a:stretch>
        </p:blipFill>
        <p:spPr>
          <a:xfrm>
            <a:off x="1600200" y="4087368"/>
            <a:ext cx="164592" cy="164592"/>
          </a:xfrm>
          <a:prstGeom prst="rect">
            <a:avLst/>
          </a:prstGeom>
        </p:spPr>
      </p:pic>
      <p:sp>
        <p:nvSpPr>
          <p:cNvPr id="42" name="TextBox 41"/>
          <p:cNvSpPr txBox="1"/>
          <p:nvPr/>
        </p:nvSpPr>
        <p:spPr>
          <a:xfrm>
            <a:off x="2148840" y="3986784"/>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Python</a:t>
            </a:r>
          </a:p>
        </p:txBody>
      </p:sp>
      <p:sp>
        <p:nvSpPr>
          <p:cNvPr id="43" name="Etiqueta causal"/>
          <p:cNvSpPr/>
          <p:nvPr/>
        </p:nvSpPr>
        <p:spPr>
          <a:xfrm>
            <a:off x="3749040" y="4059936"/>
            <a:ext cx="777240" cy="219456"/>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3749040" y="4059936"/>
            <a:ext cx="777240" cy="219456"/>
          </a:xfrm>
          <a:prstGeom prst="rect">
            <a:avLst/>
          </a:prstGeom>
          <a:noFill/>
        </p:spPr>
        <p:txBody>
          <a:bodyPr wrap="square" lIns="0" tIns="0" rIns="0" bIns="0" anchor="ctr">
            <a:spAutoFit/>
          </a:bodyPr>
          <a:lstStyle/>
          <a:p>
            <a:pPr algn="ctr">
              <a:spcAft>
                <a:spcPts val="600"/>
              </a:spcAft>
            </a:pPr>
            <a:r>
              <a:rPr sz="800" b="1" i="0">
                <a:solidFill>
                  <a:srgbClr val="FFAB40"/>
                </a:solidFill>
                <a:effectLst>
                  <a:glow rad="63500">
                    <a:srgbClr val="001633">
                      <a:alpha val="85000"/>
                    </a:srgbClr>
                  </a:glow>
                </a:effectLst>
                <a:latin typeface="Montserrat"/>
              </a:rPr>
              <a:t>causal</a:t>
            </a:r>
          </a:p>
        </p:txBody>
      </p:sp>
      <p:sp>
        <p:nvSpPr>
          <p:cNvPr id="45" name="TextBox 44"/>
          <p:cNvSpPr txBox="1"/>
          <p:nvPr/>
        </p:nvSpPr>
        <p:spPr>
          <a:xfrm>
            <a:off x="4727448" y="3986784"/>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datos, ML y orquestar la simulación</a:t>
            </a:r>
          </a:p>
        </p:txBody>
      </p:sp>
      <p:sp>
        <p:nvSpPr>
          <p:cNvPr id="46" name="TextBox 45"/>
          <p:cNvSpPr txBox="1"/>
          <p:nvPr/>
        </p:nvSpPr>
        <p:spPr>
          <a:xfrm>
            <a:off x="7562088" y="3986784"/>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sensores virtuales, correr FMU, conectar a datos</a:t>
            </a:r>
          </a:p>
        </p:txBody>
      </p:sp>
      <p:sp>
        <p:nvSpPr>
          <p:cNvPr id="47" name="TextBox 46"/>
          <p:cNvSpPr txBox="1"/>
          <p:nvPr/>
        </p:nvSpPr>
        <p:spPr>
          <a:xfrm>
            <a:off x="10625328" y="3986784"/>
            <a:ext cx="731520" cy="365760"/>
          </a:xfrm>
          <a:prstGeom prst="rect">
            <a:avLst/>
          </a:prstGeom>
          <a:noFill/>
        </p:spPr>
        <p:txBody>
          <a:bodyPr wrap="square" lIns="0" tIns="0" rIns="0" bIns="0" anchor="ctr">
            <a:spAutoFit/>
          </a:bodyPr>
          <a:lstStyle/>
          <a:p>
            <a:pPr algn="l">
              <a:spcAft>
                <a:spcPts val="600"/>
              </a:spcAft>
            </a:pPr>
            <a:r>
              <a:rPr sz="950" b="1" i="0">
                <a:solidFill>
                  <a:srgbClr val="85D5E6"/>
                </a:solidFill>
                <a:effectLst>
                  <a:glow rad="63500">
                    <a:srgbClr val="001633">
                      <a:alpha val="85000"/>
                    </a:srgbClr>
                  </a:glow>
                </a:effectLst>
                <a:latin typeface="Montserrat"/>
              </a:rPr>
              <a:t>sí</a:t>
            </a:r>
          </a:p>
        </p:txBody>
      </p:sp>
      <p:sp>
        <p:nvSpPr>
          <p:cNvPr id="48" name="Lenguaje Julia"/>
          <p:cNvSpPr/>
          <p:nvPr/>
        </p:nvSpPr>
        <p:spPr>
          <a:xfrm>
            <a:off x="1252728" y="4407408"/>
            <a:ext cx="100126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Placa julia"/>
          <p:cNvSpPr/>
          <p:nvPr/>
        </p:nvSpPr>
        <p:spPr>
          <a:xfrm>
            <a:off x="1325880" y="4453128"/>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0" name="Logo julia" descr="logo-julia.png"/>
          <p:cNvPicPr>
            <a:picLocks noChangeAspect="1"/>
          </p:cNvPicPr>
          <p:nvPr/>
        </p:nvPicPr>
        <p:blipFill>
          <a:blip r:embed="rId7"/>
          <a:stretch>
            <a:fillRect/>
          </a:stretch>
        </p:blipFill>
        <p:spPr>
          <a:xfrm>
            <a:off x="1554813" y="4507992"/>
            <a:ext cx="255366" cy="164592"/>
          </a:xfrm>
          <a:prstGeom prst="rect">
            <a:avLst/>
          </a:prstGeom>
        </p:spPr>
      </p:pic>
      <p:sp>
        <p:nvSpPr>
          <p:cNvPr id="51" name="TextBox 50"/>
          <p:cNvSpPr txBox="1"/>
          <p:nvPr/>
        </p:nvSpPr>
        <p:spPr>
          <a:xfrm>
            <a:off x="2148840" y="4407408"/>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Julia</a:t>
            </a:r>
          </a:p>
        </p:txBody>
      </p:sp>
      <p:sp>
        <p:nvSpPr>
          <p:cNvPr id="52" name="Etiqueta ambas"/>
          <p:cNvSpPr/>
          <p:nvPr/>
        </p:nvSpPr>
        <p:spPr>
          <a:xfrm>
            <a:off x="3749040" y="4480560"/>
            <a:ext cx="777240" cy="219456"/>
          </a:xfrm>
          <a:prstGeom prst="rect">
            <a:avLst/>
          </a:prstGeom>
          <a:solidFill>
            <a:srgbClr val="001633"/>
          </a:solidFill>
          <a:ln w="95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3749040" y="4480560"/>
            <a:ext cx="777240" cy="219456"/>
          </a:xfrm>
          <a:prstGeom prst="rect">
            <a:avLst/>
          </a:prstGeom>
          <a:noFill/>
        </p:spPr>
        <p:txBody>
          <a:bodyPr wrap="square" lIns="0" tIns="0" rIns="0" bIns="0" anchor="ctr">
            <a:spAutoFit/>
          </a:bodyPr>
          <a:lstStyle/>
          <a:p>
            <a:pPr algn="ctr">
              <a:spcAft>
                <a:spcPts val="600"/>
              </a:spcAft>
            </a:pPr>
            <a:r>
              <a:rPr sz="800" b="1" i="0">
                <a:solidFill>
                  <a:srgbClr val="A9B8C9"/>
                </a:solidFill>
                <a:effectLst>
                  <a:glow rad="63500">
                    <a:srgbClr val="001633">
                      <a:alpha val="85000"/>
                    </a:srgbClr>
                  </a:glow>
                </a:effectLst>
                <a:latin typeface="Montserrat"/>
              </a:rPr>
              <a:t>ambas</a:t>
            </a:r>
          </a:p>
        </p:txBody>
      </p:sp>
      <p:sp>
        <p:nvSpPr>
          <p:cNvPr id="54" name="TextBox 53"/>
          <p:cNvSpPr txBox="1"/>
          <p:nvPr/>
        </p:nvSpPr>
        <p:spPr>
          <a:xfrm>
            <a:off x="4727448" y="4407408"/>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cálculo científico rápido (ModelingToolkit es acausal)</a:t>
            </a:r>
          </a:p>
        </p:txBody>
      </p:sp>
      <p:sp>
        <p:nvSpPr>
          <p:cNvPr id="55" name="TextBox 54"/>
          <p:cNvSpPr txBox="1"/>
          <p:nvPr/>
        </p:nvSpPr>
        <p:spPr>
          <a:xfrm>
            <a:off x="7562088" y="4407408"/>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modelos grandes que deben correr rápido</a:t>
            </a:r>
          </a:p>
        </p:txBody>
      </p:sp>
      <p:sp>
        <p:nvSpPr>
          <p:cNvPr id="56" name="TextBox 55"/>
          <p:cNvSpPr txBox="1"/>
          <p:nvPr/>
        </p:nvSpPr>
        <p:spPr>
          <a:xfrm>
            <a:off x="10625328" y="4407408"/>
            <a:ext cx="731520" cy="365760"/>
          </a:xfrm>
          <a:prstGeom prst="rect">
            <a:avLst/>
          </a:prstGeom>
          <a:noFill/>
        </p:spPr>
        <p:txBody>
          <a:bodyPr wrap="square" lIns="0" tIns="0" rIns="0" bIns="0" anchor="ctr">
            <a:spAutoFit/>
          </a:bodyPr>
          <a:lstStyle/>
          <a:p>
            <a:pPr algn="l">
              <a:spcAft>
                <a:spcPts val="600"/>
              </a:spcAft>
            </a:pPr>
            <a:r>
              <a:rPr sz="950" b="1" i="0">
                <a:solidFill>
                  <a:srgbClr val="85D5E6"/>
                </a:solidFill>
                <a:effectLst>
                  <a:glow rad="63500">
                    <a:srgbClr val="001633">
                      <a:alpha val="85000"/>
                    </a:srgbClr>
                  </a:glow>
                </a:effectLst>
                <a:latin typeface="Montserrat"/>
              </a:rPr>
              <a:t>sí</a:t>
            </a:r>
          </a:p>
        </p:txBody>
      </p:sp>
      <p:sp>
        <p:nvSpPr>
          <p:cNvPr id="57" name="Lenguaje C / C++"/>
          <p:cNvSpPr/>
          <p:nvPr/>
        </p:nvSpPr>
        <p:spPr>
          <a:xfrm>
            <a:off x="1252728" y="4828032"/>
            <a:ext cx="100126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Placa cpp"/>
          <p:cNvSpPr/>
          <p:nvPr/>
        </p:nvSpPr>
        <p:spPr>
          <a:xfrm>
            <a:off x="1325880" y="4873752"/>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9" name="Logo cpp" descr="logo-cpp.png"/>
          <p:cNvPicPr>
            <a:picLocks noChangeAspect="1"/>
          </p:cNvPicPr>
          <p:nvPr/>
        </p:nvPicPr>
        <p:blipFill>
          <a:blip r:embed="rId8"/>
          <a:stretch>
            <a:fillRect/>
          </a:stretch>
        </p:blipFill>
        <p:spPr>
          <a:xfrm>
            <a:off x="1609395" y="4928616"/>
            <a:ext cx="146202" cy="164592"/>
          </a:xfrm>
          <a:prstGeom prst="rect">
            <a:avLst/>
          </a:prstGeom>
        </p:spPr>
      </p:pic>
      <p:sp>
        <p:nvSpPr>
          <p:cNvPr id="60" name="TextBox 59"/>
          <p:cNvSpPr txBox="1"/>
          <p:nvPr/>
        </p:nvSpPr>
        <p:spPr>
          <a:xfrm>
            <a:off x="2148840" y="4828032"/>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C / C++</a:t>
            </a:r>
          </a:p>
        </p:txBody>
      </p:sp>
      <p:sp>
        <p:nvSpPr>
          <p:cNvPr id="61" name="Etiqueta causal"/>
          <p:cNvSpPr/>
          <p:nvPr/>
        </p:nvSpPr>
        <p:spPr>
          <a:xfrm>
            <a:off x="3749040" y="4901184"/>
            <a:ext cx="777240" cy="219456"/>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3749040" y="4901184"/>
            <a:ext cx="777240" cy="219456"/>
          </a:xfrm>
          <a:prstGeom prst="rect">
            <a:avLst/>
          </a:prstGeom>
          <a:noFill/>
        </p:spPr>
        <p:txBody>
          <a:bodyPr wrap="square" lIns="0" tIns="0" rIns="0" bIns="0" anchor="ctr">
            <a:spAutoFit/>
          </a:bodyPr>
          <a:lstStyle/>
          <a:p>
            <a:pPr algn="ctr">
              <a:spcAft>
                <a:spcPts val="600"/>
              </a:spcAft>
            </a:pPr>
            <a:r>
              <a:rPr sz="800" b="1" i="0">
                <a:solidFill>
                  <a:srgbClr val="FFAB40"/>
                </a:solidFill>
                <a:effectLst>
                  <a:glow rad="63500">
                    <a:srgbClr val="001633">
                      <a:alpha val="85000"/>
                    </a:srgbClr>
                  </a:glow>
                </a:effectLst>
                <a:latin typeface="Montserrat"/>
              </a:rPr>
              <a:t>causal</a:t>
            </a:r>
          </a:p>
        </p:txBody>
      </p:sp>
      <p:sp>
        <p:nvSpPr>
          <p:cNvPr id="63" name="TextBox 62"/>
          <p:cNvSpPr txBox="1"/>
          <p:nvPr/>
        </p:nvSpPr>
        <p:spPr>
          <a:xfrm>
            <a:off x="4727448" y="4828032"/>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código embebido y eficiente</a:t>
            </a:r>
          </a:p>
        </p:txBody>
      </p:sp>
      <p:sp>
        <p:nvSpPr>
          <p:cNvPr id="64" name="TextBox 63"/>
          <p:cNvSpPr txBox="1"/>
          <p:nvPr/>
        </p:nvSpPr>
        <p:spPr>
          <a:xfrm>
            <a:off x="7562088" y="4828032"/>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modelos en el PC industrial o el PLC</a:t>
            </a:r>
          </a:p>
        </p:txBody>
      </p:sp>
      <p:sp>
        <p:nvSpPr>
          <p:cNvPr id="65" name="TextBox 64"/>
          <p:cNvSpPr txBox="1"/>
          <p:nvPr/>
        </p:nvSpPr>
        <p:spPr>
          <a:xfrm>
            <a:off x="10625328" y="4828032"/>
            <a:ext cx="731520" cy="365760"/>
          </a:xfrm>
          <a:prstGeom prst="rect">
            <a:avLst/>
          </a:prstGeom>
          <a:noFill/>
        </p:spPr>
        <p:txBody>
          <a:bodyPr wrap="square" lIns="0" tIns="0" rIns="0" bIns="0" anchor="ctr">
            <a:spAutoFit/>
          </a:bodyPr>
          <a:lstStyle/>
          <a:p>
            <a:pPr algn="l">
              <a:spcAft>
                <a:spcPts val="600"/>
              </a:spcAft>
            </a:pPr>
            <a:r>
              <a:rPr sz="950" b="1" i="0">
                <a:solidFill>
                  <a:srgbClr val="85D5E6"/>
                </a:solidFill>
                <a:effectLst>
                  <a:glow rad="63500">
                    <a:srgbClr val="001633">
                      <a:alpha val="85000"/>
                    </a:srgbClr>
                  </a:glow>
                </a:effectLst>
                <a:latin typeface="Montserrat"/>
              </a:rPr>
              <a:t>sí</a:t>
            </a:r>
          </a:p>
        </p:txBody>
      </p:sp>
      <p:sp>
        <p:nvSpPr>
          <p:cNvPr id="66" name="Lenguaje Simulador de proceso"/>
          <p:cNvSpPr/>
          <p:nvPr/>
        </p:nvSpPr>
        <p:spPr>
          <a:xfrm>
            <a:off x="1252728" y="5248656"/>
            <a:ext cx="10012680" cy="365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Placa proceso"/>
          <p:cNvSpPr/>
          <p:nvPr/>
        </p:nvSpPr>
        <p:spPr>
          <a:xfrm>
            <a:off x="1325880" y="5294376"/>
            <a:ext cx="713232" cy="2743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8" name="Logo proceso" descr="logo-proceso.png"/>
          <p:cNvPicPr>
            <a:picLocks noChangeAspect="1"/>
          </p:cNvPicPr>
          <p:nvPr/>
        </p:nvPicPr>
        <p:blipFill>
          <a:blip r:embed="rId9"/>
          <a:stretch>
            <a:fillRect/>
          </a:stretch>
        </p:blipFill>
        <p:spPr>
          <a:xfrm>
            <a:off x="1600200" y="5349240"/>
            <a:ext cx="164592" cy="164592"/>
          </a:xfrm>
          <a:prstGeom prst="rect">
            <a:avLst/>
          </a:prstGeom>
        </p:spPr>
      </p:pic>
      <p:sp>
        <p:nvSpPr>
          <p:cNvPr id="69" name="TextBox 68"/>
          <p:cNvSpPr txBox="1"/>
          <p:nvPr/>
        </p:nvSpPr>
        <p:spPr>
          <a:xfrm>
            <a:off x="2148840" y="5248656"/>
            <a:ext cx="1508760" cy="365760"/>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Simulador de proceso</a:t>
            </a:r>
          </a:p>
        </p:txBody>
      </p:sp>
      <p:sp>
        <p:nvSpPr>
          <p:cNvPr id="70" name="Etiqueta propia"/>
          <p:cNvSpPr/>
          <p:nvPr/>
        </p:nvSpPr>
        <p:spPr>
          <a:xfrm>
            <a:off x="3749040" y="5321808"/>
            <a:ext cx="777240" cy="219456"/>
          </a:xfrm>
          <a:prstGeom prst="rect">
            <a:avLst/>
          </a:prstGeom>
          <a:solidFill>
            <a:srgbClr val="001633"/>
          </a:solidFill>
          <a:ln w="9525">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TextBox 70"/>
          <p:cNvSpPr txBox="1"/>
          <p:nvPr/>
        </p:nvSpPr>
        <p:spPr>
          <a:xfrm>
            <a:off x="3749040" y="5321808"/>
            <a:ext cx="777240" cy="219456"/>
          </a:xfrm>
          <a:prstGeom prst="rect">
            <a:avLst/>
          </a:prstGeom>
          <a:noFill/>
        </p:spPr>
        <p:txBody>
          <a:bodyPr wrap="square" lIns="0" tIns="0" rIns="0" bIns="0" anchor="ctr">
            <a:spAutoFit/>
          </a:bodyPr>
          <a:lstStyle/>
          <a:p>
            <a:pPr algn="ctr">
              <a:spcAft>
                <a:spcPts val="600"/>
              </a:spcAft>
            </a:pPr>
            <a:r>
              <a:rPr sz="800" b="1" i="0">
                <a:solidFill>
                  <a:srgbClr val="A9B8C9"/>
                </a:solidFill>
                <a:effectLst>
                  <a:glow rad="63500">
                    <a:srgbClr val="001633">
                      <a:alpha val="85000"/>
                    </a:srgbClr>
                  </a:glow>
                </a:effectLst>
                <a:latin typeface="Montserrat"/>
              </a:rPr>
              <a:t>propia</a:t>
            </a:r>
          </a:p>
        </p:txBody>
      </p:sp>
      <p:sp>
        <p:nvSpPr>
          <p:cNvPr id="72" name="TextBox 71"/>
          <p:cNvSpPr txBox="1"/>
          <p:nvPr/>
        </p:nvSpPr>
        <p:spPr>
          <a:xfrm>
            <a:off x="4727448" y="5248656"/>
            <a:ext cx="27432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balances de planta en estado estacionario</a:t>
            </a:r>
          </a:p>
        </p:txBody>
      </p:sp>
      <p:sp>
        <p:nvSpPr>
          <p:cNvPr id="73" name="TextBox 72"/>
          <p:cNvSpPr txBox="1"/>
          <p:nvPr/>
        </p:nvSpPr>
        <p:spPr>
          <a:xfrm>
            <a:off x="7562088" y="5248656"/>
            <a:ext cx="2971800" cy="365760"/>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diseño y balance de la concentradora</a:t>
            </a:r>
          </a:p>
        </p:txBody>
      </p:sp>
      <p:sp>
        <p:nvSpPr>
          <p:cNvPr id="74" name="TextBox 73"/>
          <p:cNvSpPr txBox="1"/>
          <p:nvPr/>
        </p:nvSpPr>
        <p:spPr>
          <a:xfrm>
            <a:off x="10625328" y="5248656"/>
            <a:ext cx="731520" cy="365760"/>
          </a:xfrm>
          <a:prstGeom prst="rect">
            <a:avLst/>
          </a:prstGeom>
          <a:noFill/>
        </p:spPr>
        <p:txBody>
          <a:bodyPr wrap="square" lIns="0" tIns="0" rIns="0" bIns="0" anchor="ctr">
            <a:spAutoFit/>
          </a:bodyPr>
          <a:lstStyle/>
          <a:p>
            <a:pPr algn="l">
              <a:spcAft>
                <a:spcPts val="600"/>
              </a:spcAft>
            </a:pPr>
            <a:r>
              <a:rPr sz="950" b="0" i="0">
                <a:solidFill>
                  <a:srgbClr val="A9B8C9"/>
                </a:solidFill>
                <a:effectLst>
                  <a:glow rad="63500">
                    <a:srgbClr val="001633">
                      <a:alpha val="85000"/>
                    </a:srgbClr>
                  </a:glow>
                </a:effectLst>
                <a:latin typeface="Montserrat"/>
              </a:rPr>
              <a:t>no</a:t>
            </a:r>
          </a:p>
        </p:txBody>
      </p:sp>
      <p:sp>
        <p:nvSpPr>
          <p:cNvPr id="75"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76"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9"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82"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3" name="Avance III actual"/>
          <p:cNvSpPr/>
          <p:nvPr/>
        </p:nvSpPr>
        <p:spPr>
          <a:xfrm>
            <a:off x="5001768" y="6510528"/>
            <a:ext cx="632705"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4"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85"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6"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11/31 </a:t>
            </a:r>
            <a:r>
              <a:rPr sz="1000" b="0" i="0">
                <a:solidFill>
                  <a:srgbClr val="A9B8C9"/>
                </a:solidFill>
                <a:effectLst>
                  <a:glow rad="63500">
                    <a:srgbClr val="001633">
                      <a:alpha val="85000"/>
                    </a:srgbClr>
                  </a:glow>
                </a:effectLst>
                <a:latin typeface="Montserrat"/>
              </a:rPr>
              <a:t>· Gemelos Digitales para Minería 4.0 · 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Herramientas abiertas o comerciales: lo que importa es no quedar encerrado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2 · HERRAMIENTA Y LENGUAJE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No es una elección moral. Las comerciales traen soporte y librerías; las abiertas traen libertad. Lo crítico es que el modelo y los datos salgan en un estándar.</a:t>
            </a:r>
          </a:p>
        </p:txBody>
      </p:sp>
      <p:sp>
        <p:nvSpPr>
          <p:cNvPr id="7" name="Encabezado COMERCIAL"/>
          <p:cNvSpPr/>
          <p:nvPr/>
        </p:nvSpPr>
        <p:spPr>
          <a:xfrm>
            <a:off x="3081528" y="2487168"/>
            <a:ext cx="3954780" cy="86868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3218688" y="2523744"/>
            <a:ext cx="3954780" cy="228600"/>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COMERCIAL</a:t>
            </a:r>
          </a:p>
        </p:txBody>
      </p:sp>
      <p:sp>
        <p:nvSpPr>
          <p:cNvPr id="9" name="Placa matlab"/>
          <p:cNvSpPr/>
          <p:nvPr/>
        </p:nvSpPr>
        <p:spPr>
          <a:xfrm>
            <a:off x="3218688" y="2816352"/>
            <a:ext cx="851535" cy="4206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Logo matlab" descr="logo-matlab.png"/>
          <p:cNvPicPr>
            <a:picLocks noChangeAspect="1"/>
          </p:cNvPicPr>
          <p:nvPr/>
        </p:nvPicPr>
        <p:blipFill>
          <a:blip r:embed="rId3"/>
          <a:stretch>
            <a:fillRect/>
          </a:stretch>
        </p:blipFill>
        <p:spPr>
          <a:xfrm>
            <a:off x="3470831" y="2871216"/>
            <a:ext cx="347248" cy="310896"/>
          </a:xfrm>
          <a:prstGeom prst="rect">
            <a:avLst/>
          </a:prstGeom>
        </p:spPr>
      </p:pic>
      <p:sp>
        <p:nvSpPr>
          <p:cNvPr id="11" name="Placa simulink"/>
          <p:cNvSpPr/>
          <p:nvPr/>
        </p:nvSpPr>
        <p:spPr>
          <a:xfrm>
            <a:off x="4161663" y="2816352"/>
            <a:ext cx="851535" cy="4206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2" name="Logo simulink" descr="logo-simulink.png"/>
          <p:cNvPicPr>
            <a:picLocks noChangeAspect="1"/>
          </p:cNvPicPr>
          <p:nvPr/>
        </p:nvPicPr>
        <p:blipFill>
          <a:blip r:embed="rId4"/>
          <a:stretch>
            <a:fillRect/>
          </a:stretch>
        </p:blipFill>
        <p:spPr>
          <a:xfrm>
            <a:off x="4216527" y="2960431"/>
            <a:ext cx="741807" cy="132465"/>
          </a:xfrm>
          <a:prstGeom prst="rect">
            <a:avLst/>
          </a:prstGeom>
        </p:spPr>
      </p:pic>
      <p:sp>
        <p:nvSpPr>
          <p:cNvPr id="13" name="Etiqueta Dymola"/>
          <p:cNvSpPr/>
          <p:nvPr/>
        </p:nvSpPr>
        <p:spPr>
          <a:xfrm>
            <a:off x="5104638" y="2816352"/>
            <a:ext cx="851535" cy="420624"/>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104638" y="2816352"/>
            <a:ext cx="851535" cy="420624"/>
          </a:xfrm>
          <a:prstGeom prst="rect">
            <a:avLst/>
          </a:prstGeom>
          <a:noFill/>
        </p:spPr>
        <p:txBody>
          <a:bodyPr wrap="square" lIns="0" tIns="0" rIns="0" bIns="0" anchor="ctr">
            <a:spAutoFit/>
          </a:bodyPr>
          <a:lstStyle/>
          <a:p>
            <a:pPr algn="ctr">
              <a:spcAft>
                <a:spcPts val="600"/>
              </a:spcAft>
            </a:pPr>
            <a:r>
              <a:rPr sz="950" b="1" i="0">
                <a:solidFill>
                  <a:srgbClr val="FFFFFF"/>
                </a:solidFill>
                <a:effectLst>
                  <a:glow rad="63500">
                    <a:srgbClr val="001633">
                      <a:alpha val="85000"/>
                    </a:srgbClr>
                  </a:glow>
                </a:effectLst>
                <a:latin typeface="Montserrat"/>
              </a:rPr>
              <a:t>Dymola</a:t>
            </a:r>
          </a:p>
        </p:txBody>
      </p:sp>
      <p:sp>
        <p:nvSpPr>
          <p:cNvPr id="15" name="Etiqueta gPROMS"/>
          <p:cNvSpPr/>
          <p:nvPr/>
        </p:nvSpPr>
        <p:spPr>
          <a:xfrm>
            <a:off x="6047613" y="2816352"/>
            <a:ext cx="851535" cy="420624"/>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6047613" y="2816352"/>
            <a:ext cx="851535" cy="420624"/>
          </a:xfrm>
          <a:prstGeom prst="rect">
            <a:avLst/>
          </a:prstGeom>
          <a:noFill/>
        </p:spPr>
        <p:txBody>
          <a:bodyPr wrap="square" lIns="0" tIns="0" rIns="0" bIns="0" anchor="ctr">
            <a:spAutoFit/>
          </a:bodyPr>
          <a:lstStyle/>
          <a:p>
            <a:pPr algn="ctr">
              <a:spcAft>
                <a:spcPts val="600"/>
              </a:spcAft>
            </a:pPr>
            <a:r>
              <a:rPr sz="950" b="1" i="0">
                <a:solidFill>
                  <a:srgbClr val="FFFFFF"/>
                </a:solidFill>
                <a:effectLst>
                  <a:glow rad="63500">
                    <a:srgbClr val="001633">
                      <a:alpha val="85000"/>
                    </a:srgbClr>
                  </a:glow>
                </a:effectLst>
                <a:latin typeface="Montserrat"/>
              </a:rPr>
              <a:t>gPROMS</a:t>
            </a:r>
          </a:p>
        </p:txBody>
      </p:sp>
      <p:sp>
        <p:nvSpPr>
          <p:cNvPr id="17" name="Encabezado ABIERTA"/>
          <p:cNvSpPr/>
          <p:nvPr/>
        </p:nvSpPr>
        <p:spPr>
          <a:xfrm>
            <a:off x="7310628" y="2487168"/>
            <a:ext cx="3954780" cy="868680"/>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447788" y="2523744"/>
            <a:ext cx="3954780" cy="228600"/>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ABIERTA</a:t>
            </a:r>
          </a:p>
        </p:txBody>
      </p:sp>
      <p:sp>
        <p:nvSpPr>
          <p:cNvPr id="19" name="Etiqueta OpenModelica"/>
          <p:cNvSpPr/>
          <p:nvPr/>
        </p:nvSpPr>
        <p:spPr>
          <a:xfrm>
            <a:off x="7447788" y="2816352"/>
            <a:ext cx="851535" cy="420624"/>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7447788" y="2816352"/>
            <a:ext cx="851535" cy="420624"/>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OpenModelica</a:t>
            </a:r>
          </a:p>
        </p:txBody>
      </p:sp>
      <p:sp>
        <p:nvSpPr>
          <p:cNvPr id="21" name="Placa python"/>
          <p:cNvSpPr/>
          <p:nvPr/>
        </p:nvSpPr>
        <p:spPr>
          <a:xfrm>
            <a:off x="8390763" y="2816352"/>
            <a:ext cx="851535" cy="4206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2" name="Logo python" descr="logo-python.png"/>
          <p:cNvPicPr>
            <a:picLocks noChangeAspect="1"/>
          </p:cNvPicPr>
          <p:nvPr/>
        </p:nvPicPr>
        <p:blipFill>
          <a:blip r:embed="rId5"/>
          <a:stretch>
            <a:fillRect/>
          </a:stretch>
        </p:blipFill>
        <p:spPr>
          <a:xfrm>
            <a:off x="8661082" y="2871216"/>
            <a:ext cx="310896" cy="310896"/>
          </a:xfrm>
          <a:prstGeom prst="rect">
            <a:avLst/>
          </a:prstGeom>
        </p:spPr>
      </p:pic>
      <p:sp>
        <p:nvSpPr>
          <p:cNvPr id="23" name="Placa julia"/>
          <p:cNvSpPr/>
          <p:nvPr/>
        </p:nvSpPr>
        <p:spPr>
          <a:xfrm>
            <a:off x="9333738" y="2816352"/>
            <a:ext cx="851535" cy="420624"/>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4" name="Logo julia" descr="logo-julia.png"/>
          <p:cNvPicPr>
            <a:picLocks noChangeAspect="1"/>
          </p:cNvPicPr>
          <p:nvPr/>
        </p:nvPicPr>
        <p:blipFill>
          <a:blip r:embed="rId6"/>
          <a:stretch>
            <a:fillRect/>
          </a:stretch>
        </p:blipFill>
        <p:spPr>
          <a:xfrm>
            <a:off x="9518326" y="2871216"/>
            <a:ext cx="482359" cy="310896"/>
          </a:xfrm>
          <a:prstGeom prst="rect">
            <a:avLst/>
          </a:prstGeom>
        </p:spPr>
      </p:pic>
      <p:sp>
        <p:nvSpPr>
          <p:cNvPr id="25" name="Etiqueta FMPy"/>
          <p:cNvSpPr/>
          <p:nvPr/>
        </p:nvSpPr>
        <p:spPr>
          <a:xfrm>
            <a:off x="10276713" y="2816352"/>
            <a:ext cx="851535" cy="420624"/>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10276713" y="2816352"/>
            <a:ext cx="851535" cy="420624"/>
          </a:xfrm>
          <a:prstGeom prst="rect">
            <a:avLst/>
          </a:prstGeom>
          <a:noFill/>
        </p:spPr>
        <p:txBody>
          <a:bodyPr wrap="square" lIns="0" tIns="0" rIns="0" bIns="0" anchor="ctr">
            <a:spAutoFit/>
          </a:bodyPr>
          <a:lstStyle/>
          <a:p>
            <a:pPr algn="ctr">
              <a:spcAft>
                <a:spcPts val="600"/>
              </a:spcAft>
            </a:pPr>
            <a:r>
              <a:rPr sz="950" b="1" i="0">
                <a:solidFill>
                  <a:srgbClr val="FFFFFF"/>
                </a:solidFill>
                <a:effectLst>
                  <a:glow rad="63500">
                    <a:srgbClr val="001633">
                      <a:alpha val="85000"/>
                    </a:srgbClr>
                  </a:glow>
                </a:effectLst>
                <a:latin typeface="Montserrat"/>
              </a:rPr>
              <a:t>FMPy</a:t>
            </a:r>
          </a:p>
        </p:txBody>
      </p:sp>
      <p:sp>
        <p:nvSpPr>
          <p:cNvPr id="27" name="Dimensión Licencia"/>
          <p:cNvSpPr/>
          <p:nvPr/>
        </p:nvSpPr>
        <p:spPr>
          <a:xfrm>
            <a:off x="1252728" y="3456432"/>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1389888" y="3456432"/>
            <a:ext cx="1645920" cy="347472"/>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Licencia</a:t>
            </a:r>
          </a:p>
        </p:txBody>
      </p:sp>
      <p:sp>
        <p:nvSpPr>
          <p:cNvPr id="29" name="TextBox 28"/>
          <p:cNvSpPr txBox="1"/>
          <p:nvPr/>
        </p:nvSpPr>
        <p:spPr>
          <a:xfrm>
            <a:off x="3218688" y="3456432"/>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pago anual por usuario o por equipo</a:t>
            </a:r>
          </a:p>
        </p:txBody>
      </p:sp>
      <p:sp>
        <p:nvSpPr>
          <p:cNvPr id="30" name="TextBox 29"/>
          <p:cNvSpPr txBox="1"/>
          <p:nvPr/>
        </p:nvSpPr>
        <p:spPr>
          <a:xfrm>
            <a:off x="7447788" y="3456432"/>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gratuita</a:t>
            </a:r>
          </a:p>
        </p:txBody>
      </p:sp>
      <p:sp>
        <p:nvSpPr>
          <p:cNvPr id="31" name="Dimensión Soporte"/>
          <p:cNvSpPr/>
          <p:nvPr/>
        </p:nvSpPr>
        <p:spPr>
          <a:xfrm>
            <a:off x="1252728" y="3858768"/>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p:cNvSpPr txBox="1"/>
          <p:nvPr/>
        </p:nvSpPr>
        <p:spPr>
          <a:xfrm>
            <a:off x="1389888" y="3858768"/>
            <a:ext cx="1645920" cy="347472"/>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Soporte</a:t>
            </a:r>
          </a:p>
        </p:txBody>
      </p:sp>
      <p:sp>
        <p:nvSpPr>
          <p:cNvPr id="33" name="TextBox 32"/>
          <p:cNvSpPr txBox="1"/>
          <p:nvPr/>
        </p:nvSpPr>
        <p:spPr>
          <a:xfrm>
            <a:off x="3218688" y="3858768"/>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del proveedor, con contrato</a:t>
            </a:r>
          </a:p>
        </p:txBody>
      </p:sp>
      <p:sp>
        <p:nvSpPr>
          <p:cNvPr id="34" name="TextBox 33"/>
          <p:cNvSpPr txBox="1"/>
          <p:nvPr/>
        </p:nvSpPr>
        <p:spPr>
          <a:xfrm>
            <a:off x="7447788" y="3858768"/>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comunidad y consultores</a:t>
            </a:r>
          </a:p>
        </p:txBody>
      </p:sp>
      <p:sp>
        <p:nvSpPr>
          <p:cNvPr id="35" name="Dimensión Librerías"/>
          <p:cNvSpPr/>
          <p:nvPr/>
        </p:nvSpPr>
        <p:spPr>
          <a:xfrm>
            <a:off x="1252728" y="4261104"/>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389888" y="4261104"/>
            <a:ext cx="1645920" cy="347472"/>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Librerías</a:t>
            </a:r>
          </a:p>
        </p:txBody>
      </p:sp>
      <p:sp>
        <p:nvSpPr>
          <p:cNvPr id="37" name="TextBox 36"/>
          <p:cNvSpPr txBox="1"/>
          <p:nvPr/>
        </p:nvSpPr>
        <p:spPr>
          <a:xfrm>
            <a:off x="3218688" y="4261104"/>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amplias y validadas por el proveedor</a:t>
            </a:r>
          </a:p>
        </p:txBody>
      </p:sp>
      <p:sp>
        <p:nvSpPr>
          <p:cNvPr id="38" name="TextBox 37"/>
          <p:cNvSpPr txBox="1"/>
          <p:nvPr/>
        </p:nvSpPr>
        <p:spPr>
          <a:xfrm>
            <a:off x="7447788" y="4261104"/>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la base estándar; el resto se construye o se comparte</a:t>
            </a:r>
          </a:p>
        </p:txBody>
      </p:sp>
      <p:sp>
        <p:nvSpPr>
          <p:cNvPr id="39" name="Dimensión Portabilidad"/>
          <p:cNvSpPr/>
          <p:nvPr/>
        </p:nvSpPr>
        <p:spPr>
          <a:xfrm>
            <a:off x="1252728" y="4663440"/>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389888" y="4663440"/>
            <a:ext cx="1645920" cy="347472"/>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Portabilidad</a:t>
            </a:r>
          </a:p>
        </p:txBody>
      </p:sp>
      <p:sp>
        <p:nvSpPr>
          <p:cNvPr id="41" name="TextBox 40"/>
          <p:cNvSpPr txBox="1"/>
          <p:nvPr/>
        </p:nvSpPr>
        <p:spPr>
          <a:xfrm>
            <a:off x="3218688" y="4663440"/>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depende de que exporte estándares</a:t>
            </a:r>
          </a:p>
        </p:txBody>
      </p:sp>
      <p:sp>
        <p:nvSpPr>
          <p:cNvPr id="42" name="TextBox 41"/>
          <p:cNvSpPr txBox="1"/>
          <p:nvPr/>
        </p:nvSpPr>
        <p:spPr>
          <a:xfrm>
            <a:off x="7447788" y="4663440"/>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código abierto y estándares por defecto</a:t>
            </a:r>
          </a:p>
        </p:txBody>
      </p:sp>
      <p:sp>
        <p:nvSpPr>
          <p:cNvPr id="43" name="Dimensión Riesgo"/>
          <p:cNvSpPr/>
          <p:nvPr/>
        </p:nvSpPr>
        <p:spPr>
          <a:xfrm>
            <a:off x="1252728" y="5065776"/>
            <a:ext cx="10012680" cy="3474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389888" y="5065776"/>
            <a:ext cx="1645920" cy="347472"/>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Riesgo</a:t>
            </a:r>
          </a:p>
        </p:txBody>
      </p:sp>
      <p:sp>
        <p:nvSpPr>
          <p:cNvPr id="45" name="TextBox 44"/>
          <p:cNvSpPr txBox="1"/>
          <p:nvPr/>
        </p:nvSpPr>
        <p:spPr>
          <a:xfrm>
            <a:off x="3218688" y="5065776"/>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quedar atado a un producto</a:t>
            </a:r>
          </a:p>
        </p:txBody>
      </p:sp>
      <p:sp>
        <p:nvSpPr>
          <p:cNvPr id="46" name="TextBox 45"/>
          <p:cNvSpPr txBox="1"/>
          <p:nvPr/>
        </p:nvSpPr>
        <p:spPr>
          <a:xfrm>
            <a:off x="7447788" y="5065776"/>
            <a:ext cx="3771900" cy="347472"/>
          </a:xfrm>
          <a:prstGeom prst="rect">
            <a:avLst/>
          </a:prstGeom>
          <a:noFill/>
        </p:spPr>
        <p:txBody>
          <a:bodyPr wrap="square" lIns="0" tIns="0" rIns="0" bIns="0" anchor="ctr">
            <a:spAutoFit/>
          </a:bodyPr>
          <a:lstStyle/>
          <a:p>
            <a:pPr algn="l">
              <a:spcAft>
                <a:spcPts val="600"/>
              </a:spcAft>
            </a:pPr>
            <a:r>
              <a:rPr sz="950" b="0" i="0">
                <a:solidFill>
                  <a:srgbClr val="FFFFFF"/>
                </a:solidFill>
                <a:effectLst>
                  <a:glow rad="63500">
                    <a:srgbClr val="001633">
                      <a:alpha val="85000"/>
                    </a:srgbClr>
                  </a:glow>
                </a:effectLst>
                <a:latin typeface="Montserrat"/>
              </a:rPr>
              <a:t>depender de pocas personas que lo saben usar</a:t>
            </a:r>
          </a:p>
        </p:txBody>
      </p:sp>
      <p:sp>
        <p:nvSpPr>
          <p:cNvPr id="47" name="Clave"/>
          <p:cNvSpPr/>
          <p:nvPr/>
        </p:nvSpPr>
        <p:spPr>
          <a:xfrm>
            <a:off x="1252728" y="5532120"/>
            <a:ext cx="10012680" cy="438912"/>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1435608" y="5532120"/>
            <a:ext cx="9646920" cy="438912"/>
          </a:xfrm>
          <a:prstGeom prst="rect">
            <a:avLst/>
          </a:prstGeom>
          <a:noFill/>
        </p:spPr>
        <p:txBody>
          <a:bodyPr wrap="square" lIns="0" tIns="0" rIns="0" bIns="0" anchor="ctr">
            <a:spAutoFit/>
          </a:bodyPr>
          <a:lstStyle/>
          <a:p>
            <a:pPr algn="l">
              <a:spcAft>
                <a:spcPts val="600"/>
              </a:spcAft>
            </a:pPr>
            <a:r>
              <a:rPr sz="1050" b="1" i="0">
                <a:solidFill>
                  <a:srgbClr val="FFAB40"/>
                </a:solidFill>
                <a:effectLst>
                  <a:glow rad="63500">
                    <a:srgbClr val="001633">
                      <a:alpha val="85000"/>
                    </a:srgbClr>
                  </a:glow>
                </a:effectLst>
                <a:latin typeface="Montserrat"/>
              </a:rPr>
              <a:t>La pregunta que importa: </a:t>
            </a:r>
            <a:r>
              <a:rPr sz="1050" b="0" i="0">
                <a:solidFill>
                  <a:srgbClr val="FFFFFF"/>
                </a:solidFill>
                <a:effectLst>
                  <a:glow rad="63500">
                    <a:srgbClr val="001633">
                      <a:alpha val="85000"/>
                    </a:srgbClr>
                  </a:glow>
                </a:effectLst>
                <a:latin typeface="Montserrat"/>
              </a:rPr>
              <a:t>¿puedo sacar mi modelo (FMU) y mis datos (OPC UA) si mañana cambio de herramienta?</a:t>
            </a:r>
          </a:p>
        </p:txBody>
      </p:sp>
      <p:sp>
        <p:nvSpPr>
          <p:cNvPr id="49"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0"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3"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6"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actual"/>
          <p:cNvSpPr/>
          <p:nvPr/>
        </p:nvSpPr>
        <p:spPr>
          <a:xfrm>
            <a:off x="5001768" y="6510528"/>
            <a:ext cx="690224"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9"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12/31 </a:t>
            </a:r>
            <a:r>
              <a:rPr sz="1000" b="0" i="0">
                <a:solidFill>
                  <a:srgbClr val="A9B8C9"/>
                </a:solidFill>
                <a:effectLst>
                  <a:glow rad="63500">
                    <a:srgbClr val="001633">
                      <a:alpha val="85000"/>
                    </a:srgbClr>
                  </a:glow>
                </a:effectLst>
                <a:latin typeface="Montserrat"/>
              </a:rPr>
              <a:t>· Gemelos Digitales para Minería 4.0 · 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solver es el motor: convierte las ecuaciones en una trayectoria, paso a paso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3 · SOLVER Y PASO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modelo solo dice cuánto cambia algo en cada instante. El solver parte del estado actual y avanza en pequeños pasos de tiempo para calcular cómo evoluciona.</a:t>
            </a:r>
          </a:p>
        </p:txBody>
      </p:sp>
      <p:sp>
        <p:nvSpPr>
          <p:cNvPr id="7" name="Ecuaciones"/>
          <p:cNvSpPr/>
          <p:nvPr/>
        </p:nvSpPr>
        <p:spPr>
          <a:xfrm>
            <a:off x="1252728" y="2487168"/>
            <a:ext cx="5394960" cy="1143000"/>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35608" y="2542032"/>
            <a:ext cx="512064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EJEMPLO · NIVEL DE UN CAJÓN DE BOMBA</a:t>
            </a:r>
          </a:p>
        </p:txBody>
      </p:sp>
      <p:sp>
        <p:nvSpPr>
          <p:cNvPr id="9" name="TextBox 8"/>
          <p:cNvSpPr txBox="1"/>
          <p:nvPr/>
        </p:nvSpPr>
        <p:spPr>
          <a:xfrm>
            <a:off x="1435608" y="2788920"/>
            <a:ext cx="914400" cy="320040"/>
          </a:xfrm>
          <a:prstGeom prst="rect">
            <a:avLst/>
          </a:prstGeom>
          <a:noFill/>
        </p:spPr>
        <p:txBody>
          <a:bodyPr wrap="square" lIns="0" tIns="0" rIns="0" bIns="0" anchor="ctr">
            <a:spAutoFit/>
          </a:bodyPr>
          <a:lstStyle/>
          <a:p>
            <a:pPr algn="l">
              <a:spcAft>
                <a:spcPts val="600"/>
              </a:spcAft>
            </a:pPr>
            <a:r>
              <a:rPr sz="950" b="1" i="0">
                <a:solidFill>
                  <a:srgbClr val="A9B8C9"/>
                </a:solidFill>
                <a:effectLst>
                  <a:glow rad="63500">
                    <a:srgbClr val="001633">
                      <a:alpha val="85000"/>
                    </a:srgbClr>
                  </a:glow>
                </a:effectLst>
                <a:latin typeface="Montserrat"/>
              </a:rPr>
              <a:t>Modelo</a:t>
            </a:r>
          </a:p>
        </p:txBody>
      </p:sp>
      <p:sp>
        <p:nvSpPr>
          <p:cNvPr id="10" name="TextBox 9"/>
          <p:cNvSpPr txBox="1"/>
          <p:nvPr/>
        </p:nvSpPr>
        <p:spPr>
          <a:xfrm>
            <a:off x="2350008" y="2788920"/>
            <a:ext cx="4206240" cy="32004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dh/dt = (Q_entra − Q_sale) / A</a:t>
            </a:r>
          </a:p>
        </p:txBody>
      </p:sp>
      <p:sp>
        <p:nvSpPr>
          <p:cNvPr id="11" name="TextBox 10"/>
          <p:cNvSpPr txBox="1"/>
          <p:nvPr/>
        </p:nvSpPr>
        <p:spPr>
          <a:xfrm>
            <a:off x="1435608" y="3154680"/>
            <a:ext cx="914400" cy="320040"/>
          </a:xfrm>
          <a:prstGeom prst="rect">
            <a:avLst/>
          </a:prstGeom>
          <a:noFill/>
        </p:spPr>
        <p:txBody>
          <a:bodyPr wrap="square" lIns="0" tIns="0" rIns="0" bIns="0" anchor="ctr">
            <a:spAutoFit/>
          </a:bodyPr>
          <a:lstStyle/>
          <a:p>
            <a:pPr algn="l">
              <a:spcAft>
                <a:spcPts val="600"/>
              </a:spcAft>
            </a:pPr>
            <a:r>
              <a:rPr sz="950" b="1" i="0">
                <a:solidFill>
                  <a:srgbClr val="A9B8C9"/>
                </a:solidFill>
                <a:effectLst>
                  <a:glow rad="63500">
                    <a:srgbClr val="001633">
                      <a:alpha val="85000"/>
                    </a:srgbClr>
                  </a:glow>
                </a:effectLst>
                <a:latin typeface="Montserrat"/>
              </a:rPr>
              <a:t>Solver</a:t>
            </a:r>
          </a:p>
        </p:txBody>
      </p:sp>
      <p:sp>
        <p:nvSpPr>
          <p:cNvPr id="12" name="TextBox 11"/>
          <p:cNvSpPr txBox="1"/>
          <p:nvPr/>
        </p:nvSpPr>
        <p:spPr>
          <a:xfrm>
            <a:off x="2350008" y="3154680"/>
            <a:ext cx="4206240" cy="320040"/>
          </a:xfrm>
          <a:prstGeom prst="rect">
            <a:avLst/>
          </a:prstGeom>
          <a:noFill/>
        </p:spPr>
        <p:txBody>
          <a:bodyPr wrap="square" lIns="0" tIns="0" rIns="0" bIns="0" anchor="ctr">
            <a:spAutoFit/>
          </a:bodyPr>
          <a:lstStyle/>
          <a:p>
            <a:pPr algn="l">
              <a:spcAft>
                <a:spcPts val="600"/>
              </a:spcAft>
            </a:pPr>
            <a:r>
              <a:rPr sz="1300" b="1" i="0">
                <a:solidFill>
                  <a:srgbClr val="FFAB40"/>
                </a:solidFill>
                <a:effectLst>
                  <a:glow rad="63500">
                    <a:srgbClr val="001633">
                      <a:alpha val="85000"/>
                    </a:srgbClr>
                  </a:glow>
                </a:effectLst>
                <a:latin typeface="Montserrat"/>
              </a:rPr>
              <a:t>h(t + Δt) = h(t) + Δt · dh/dt</a:t>
            </a:r>
          </a:p>
        </p:txBody>
      </p:sp>
      <p:sp>
        <p:nvSpPr>
          <p:cNvPr id="13" name="Área gráfico"/>
          <p:cNvSpPr/>
          <p:nvPr/>
        </p:nvSpPr>
        <p:spPr>
          <a:xfrm>
            <a:off x="1252728" y="3767328"/>
            <a:ext cx="5394960" cy="20116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5806440"/>
            <a:ext cx="5394960" cy="182880"/>
          </a:xfrm>
          <a:prstGeom prst="rect">
            <a:avLst/>
          </a:prstGeom>
          <a:noFill/>
        </p:spPr>
        <p:txBody>
          <a:bodyPr wrap="square" lIns="0" tIns="0" rIns="0" bIns="0" anchor="t">
            <a:spAutoFit/>
          </a:bodyPr>
          <a:lstStyle/>
          <a:p>
            <a:pPr algn="r">
              <a:spcAft>
                <a:spcPts val="600"/>
              </a:spcAft>
            </a:pPr>
            <a:r>
              <a:rPr sz="800" b="0" i="0">
                <a:solidFill>
                  <a:srgbClr val="A9B8C9"/>
                </a:solidFill>
                <a:effectLst>
                  <a:glow rad="63500">
                    <a:srgbClr val="001633">
                      <a:alpha val="85000"/>
                    </a:srgbClr>
                  </a:glow>
                </a:effectLst>
                <a:latin typeface="Montserrat"/>
              </a:rPr>
              <a:t>tiempo</a:t>
            </a:r>
          </a:p>
        </p:txBody>
      </p:sp>
      <p:sp>
        <p:nvSpPr>
          <p:cNvPr id="15" name="TextBox 14"/>
          <p:cNvSpPr txBox="1"/>
          <p:nvPr/>
        </p:nvSpPr>
        <p:spPr>
          <a:xfrm>
            <a:off x="1325880" y="3813048"/>
            <a:ext cx="5394960" cy="182880"/>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nivel h</a:t>
            </a:r>
          </a:p>
        </p:txBody>
      </p:sp>
      <p:sp>
        <p:nvSpPr>
          <p:cNvPr id="16" name="Solución real"/>
          <p:cNvSpPr/>
          <p:nvPr/>
        </p:nvSpPr>
        <p:spPr>
          <a:xfrm>
            <a:off x="1389888" y="4126480"/>
            <a:ext cx="5120640" cy="1350776"/>
          </a:xfrm>
          <a:custGeom>
            <a:avLst/>
            <a:gdLst/>
            <a:ahLst/>
            <a:cxnLst/>
            <a:rect l="l" t="t" r="r" b="b"/>
            <a:pathLst>
              <a:path w="5120640" h="1350776">
                <a:moveTo>
                  <a:pt x="0" y="1350776"/>
                </a:moveTo>
                <a:lnTo>
                  <a:pt x="128016" y="1242510"/>
                </a:lnTo>
                <a:lnTo>
                  <a:pt x="256032" y="1142568"/>
                </a:lnTo>
                <a:lnTo>
                  <a:pt x="384048" y="1050310"/>
                </a:lnTo>
                <a:lnTo>
                  <a:pt x="512064" y="965145"/>
                </a:lnTo>
                <a:lnTo>
                  <a:pt x="640080" y="886528"/>
                </a:lnTo>
                <a:lnTo>
                  <a:pt x="768096" y="813955"/>
                </a:lnTo>
                <a:lnTo>
                  <a:pt x="896112" y="746962"/>
                </a:lnTo>
                <a:lnTo>
                  <a:pt x="1024128" y="685120"/>
                </a:lnTo>
                <a:lnTo>
                  <a:pt x="1152144" y="628032"/>
                </a:lnTo>
                <a:lnTo>
                  <a:pt x="1280160" y="575334"/>
                </a:lnTo>
                <a:lnTo>
                  <a:pt x="1408176" y="526687"/>
                </a:lnTo>
                <a:lnTo>
                  <a:pt x="1536192" y="481780"/>
                </a:lnTo>
                <a:lnTo>
                  <a:pt x="1664208" y="440326"/>
                </a:lnTo>
                <a:lnTo>
                  <a:pt x="1792224" y="402059"/>
                </a:lnTo>
                <a:lnTo>
                  <a:pt x="1920240" y="366734"/>
                </a:lnTo>
                <a:lnTo>
                  <a:pt x="2048256" y="334125"/>
                </a:lnTo>
                <a:lnTo>
                  <a:pt x="2176272" y="304023"/>
                </a:lnTo>
                <a:lnTo>
                  <a:pt x="2304288" y="276235"/>
                </a:lnTo>
                <a:lnTo>
                  <a:pt x="2432304" y="250584"/>
                </a:lnTo>
                <a:lnTo>
                  <a:pt x="2560320" y="226905"/>
                </a:lnTo>
                <a:lnTo>
                  <a:pt x="2688336" y="205047"/>
                </a:lnTo>
                <a:lnTo>
                  <a:pt x="2816352" y="184869"/>
                </a:lnTo>
                <a:lnTo>
                  <a:pt x="2944368" y="166242"/>
                </a:lnTo>
                <a:lnTo>
                  <a:pt x="3072384" y="149048"/>
                </a:lnTo>
                <a:lnTo>
                  <a:pt x="3200400" y="133175"/>
                </a:lnTo>
                <a:lnTo>
                  <a:pt x="3328416" y="118523"/>
                </a:lnTo>
                <a:lnTo>
                  <a:pt x="3456432" y="104998"/>
                </a:lnTo>
                <a:lnTo>
                  <a:pt x="3584448" y="92512"/>
                </a:lnTo>
                <a:lnTo>
                  <a:pt x="3712464" y="80986"/>
                </a:lnTo>
                <a:lnTo>
                  <a:pt x="3840480" y="70346"/>
                </a:lnTo>
                <a:lnTo>
                  <a:pt x="3968496" y="60525"/>
                </a:lnTo>
                <a:lnTo>
                  <a:pt x="4096512" y="51458"/>
                </a:lnTo>
                <a:lnTo>
                  <a:pt x="4224528" y="43089"/>
                </a:lnTo>
                <a:lnTo>
                  <a:pt x="4352544" y="35363"/>
                </a:lnTo>
                <a:lnTo>
                  <a:pt x="4480560" y="28231"/>
                </a:lnTo>
                <a:lnTo>
                  <a:pt x="4608576" y="21647"/>
                </a:lnTo>
                <a:lnTo>
                  <a:pt x="4736592" y="15570"/>
                </a:lnTo>
                <a:lnTo>
                  <a:pt x="4864608" y="9959"/>
                </a:lnTo>
                <a:lnTo>
                  <a:pt x="4992624" y="4781"/>
                </a:lnTo>
                <a:lnTo>
                  <a:pt x="5120640" y="0"/>
                </a:lnTo>
              </a:path>
            </a:pathLst>
          </a:cu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Paso grande"/>
          <p:cNvSpPr/>
          <p:nvPr/>
        </p:nvSpPr>
        <p:spPr>
          <a:xfrm>
            <a:off x="1389888" y="4071333"/>
            <a:ext cx="5120640" cy="1405923"/>
          </a:xfrm>
          <a:custGeom>
            <a:avLst/>
            <a:gdLst/>
            <a:ahLst/>
            <a:cxnLst/>
            <a:rect l="l" t="t" r="r" b="b"/>
            <a:pathLst>
              <a:path w="5120640" h="1405923">
                <a:moveTo>
                  <a:pt x="0" y="1405923"/>
                </a:moveTo>
                <a:lnTo>
                  <a:pt x="1280160" y="279382"/>
                </a:lnTo>
                <a:lnTo>
                  <a:pt x="2560320" y="54074"/>
                </a:lnTo>
                <a:lnTo>
                  <a:pt x="3840480" y="9012"/>
                </a:lnTo>
                <a:lnTo>
                  <a:pt x="5120640" y="0"/>
                </a:lnTo>
              </a:path>
            </a:pathLst>
          </a:custGeom>
          <a:noFill/>
          <a:ln w="15875">
            <a:solidFill>
              <a:srgbClr val="FFAB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Paso Paso grande"/>
          <p:cNvSpPr/>
          <p:nvPr/>
        </p:nvSpPr>
        <p:spPr>
          <a:xfrm>
            <a:off x="1348740" y="5436108"/>
            <a:ext cx="82296" cy="82296"/>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Paso Paso grande"/>
          <p:cNvSpPr/>
          <p:nvPr/>
        </p:nvSpPr>
        <p:spPr>
          <a:xfrm>
            <a:off x="2628900" y="4309567"/>
            <a:ext cx="82296" cy="82296"/>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Paso Paso grande"/>
          <p:cNvSpPr/>
          <p:nvPr/>
        </p:nvSpPr>
        <p:spPr>
          <a:xfrm>
            <a:off x="3909060" y="4084259"/>
            <a:ext cx="82296" cy="82296"/>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Paso Paso grande"/>
          <p:cNvSpPr/>
          <p:nvPr/>
        </p:nvSpPr>
        <p:spPr>
          <a:xfrm>
            <a:off x="5189220" y="4039197"/>
            <a:ext cx="82296" cy="82296"/>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aso Paso grande"/>
          <p:cNvSpPr/>
          <p:nvPr/>
        </p:nvSpPr>
        <p:spPr>
          <a:xfrm>
            <a:off x="6469380" y="4030185"/>
            <a:ext cx="82296" cy="82296"/>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Paso chico"/>
          <p:cNvSpPr/>
          <p:nvPr/>
        </p:nvSpPr>
        <p:spPr>
          <a:xfrm>
            <a:off x="1389888" y="4109511"/>
            <a:ext cx="5018227" cy="1367745"/>
          </a:xfrm>
          <a:custGeom>
            <a:avLst/>
            <a:gdLst/>
            <a:ahLst/>
            <a:cxnLst/>
            <a:rect l="l" t="t" r="r" b="b"/>
            <a:pathLst>
              <a:path w="5018227" h="1367745">
                <a:moveTo>
                  <a:pt x="0" y="1367745"/>
                </a:moveTo>
                <a:lnTo>
                  <a:pt x="358444" y="1052313"/>
                </a:lnTo>
                <a:lnTo>
                  <a:pt x="716889" y="807538"/>
                </a:lnTo>
                <a:lnTo>
                  <a:pt x="1075334" y="617593"/>
                </a:lnTo>
                <a:lnTo>
                  <a:pt x="1433779" y="470196"/>
                </a:lnTo>
                <a:lnTo>
                  <a:pt x="1792224" y="355815"/>
                </a:lnTo>
                <a:lnTo>
                  <a:pt x="2150668" y="267056"/>
                </a:lnTo>
                <a:lnTo>
                  <a:pt x="2509113" y="198179"/>
                </a:lnTo>
                <a:lnTo>
                  <a:pt x="2867558" y="144730"/>
                </a:lnTo>
                <a:lnTo>
                  <a:pt x="3226003" y="103254"/>
                </a:lnTo>
                <a:lnTo>
                  <a:pt x="3584448" y="71068"/>
                </a:lnTo>
                <a:lnTo>
                  <a:pt x="3942892" y="46092"/>
                </a:lnTo>
                <a:lnTo>
                  <a:pt x="4301337" y="26711"/>
                </a:lnTo>
                <a:lnTo>
                  <a:pt x="4659782" y="11671"/>
                </a:lnTo>
                <a:lnTo>
                  <a:pt x="5018227" y="0"/>
                </a:lnTo>
              </a:path>
            </a:pathLst>
          </a:custGeom>
          <a:noFill/>
          <a:ln w="15875">
            <a:solidFill>
              <a:srgbClr val="85D5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Paso Paso chico"/>
          <p:cNvSpPr/>
          <p:nvPr/>
        </p:nvSpPr>
        <p:spPr>
          <a:xfrm>
            <a:off x="1348740" y="5436108"/>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Paso Paso chico"/>
          <p:cNvSpPr/>
          <p:nvPr/>
        </p:nvSpPr>
        <p:spPr>
          <a:xfrm>
            <a:off x="1707184" y="5120676"/>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Paso Paso chico"/>
          <p:cNvSpPr/>
          <p:nvPr/>
        </p:nvSpPr>
        <p:spPr>
          <a:xfrm>
            <a:off x="2065629" y="4875901"/>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Paso Paso chico"/>
          <p:cNvSpPr/>
          <p:nvPr/>
        </p:nvSpPr>
        <p:spPr>
          <a:xfrm>
            <a:off x="2424074" y="4685956"/>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Paso Paso chico"/>
          <p:cNvSpPr/>
          <p:nvPr/>
        </p:nvSpPr>
        <p:spPr>
          <a:xfrm>
            <a:off x="2782519" y="4538559"/>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Paso Paso chico"/>
          <p:cNvSpPr/>
          <p:nvPr/>
        </p:nvSpPr>
        <p:spPr>
          <a:xfrm>
            <a:off x="3140964" y="4424178"/>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Paso Paso chico"/>
          <p:cNvSpPr/>
          <p:nvPr/>
        </p:nvSpPr>
        <p:spPr>
          <a:xfrm>
            <a:off x="3499408" y="4335419"/>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Paso Paso chico"/>
          <p:cNvSpPr/>
          <p:nvPr/>
        </p:nvSpPr>
        <p:spPr>
          <a:xfrm>
            <a:off x="3857853" y="4266542"/>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Paso Paso chico"/>
          <p:cNvSpPr/>
          <p:nvPr/>
        </p:nvSpPr>
        <p:spPr>
          <a:xfrm>
            <a:off x="4216298" y="4213093"/>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Paso Paso chico"/>
          <p:cNvSpPr/>
          <p:nvPr/>
        </p:nvSpPr>
        <p:spPr>
          <a:xfrm>
            <a:off x="4574743" y="4171617"/>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Paso Paso chico"/>
          <p:cNvSpPr/>
          <p:nvPr/>
        </p:nvSpPr>
        <p:spPr>
          <a:xfrm>
            <a:off x="4933188" y="4139431"/>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Paso Paso chico"/>
          <p:cNvSpPr/>
          <p:nvPr/>
        </p:nvSpPr>
        <p:spPr>
          <a:xfrm>
            <a:off x="5291632" y="4114455"/>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Paso Paso chico"/>
          <p:cNvSpPr/>
          <p:nvPr/>
        </p:nvSpPr>
        <p:spPr>
          <a:xfrm>
            <a:off x="5650077" y="4095074"/>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Paso Paso chico"/>
          <p:cNvSpPr/>
          <p:nvPr/>
        </p:nvSpPr>
        <p:spPr>
          <a:xfrm>
            <a:off x="6008522" y="4080034"/>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Paso Paso chico"/>
          <p:cNvSpPr/>
          <p:nvPr/>
        </p:nvSpPr>
        <p:spPr>
          <a:xfrm>
            <a:off x="6366967" y="4068363"/>
            <a:ext cx="82296" cy="82296"/>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3081528" y="5458968"/>
            <a:ext cx="3474720" cy="228600"/>
          </a:xfrm>
          <a:prstGeom prst="rect">
            <a:avLst/>
          </a:prstGeom>
          <a:noFill/>
        </p:spPr>
        <p:txBody>
          <a:bodyPr wrap="square" lIns="0" tIns="0" rIns="0" bIns="0" anchor="t">
            <a:spAutoFit/>
          </a:bodyPr>
          <a:lstStyle/>
          <a:p>
            <a:pPr algn="l">
              <a:spcAft>
                <a:spcPts val="600"/>
              </a:spcAft>
            </a:pPr>
            <a:r>
              <a:rPr sz="850" b="1" i="0">
                <a:solidFill>
                  <a:srgbClr val="FFFFFF"/>
                </a:solidFill>
                <a:effectLst>
                  <a:glow rad="63500">
                    <a:srgbClr val="001633">
                      <a:alpha val="85000"/>
                    </a:srgbClr>
                  </a:glow>
                </a:effectLst>
                <a:latin typeface="Montserrat"/>
              </a:rPr>
              <a:t>— real   </a:t>
            </a:r>
            <a:r>
              <a:rPr sz="850" b="1" i="0">
                <a:solidFill>
                  <a:srgbClr val="FFAB40"/>
                </a:solidFill>
                <a:effectLst>
                  <a:glow rad="63500">
                    <a:srgbClr val="001633">
                      <a:alpha val="85000"/>
                    </a:srgbClr>
                  </a:glow>
                </a:effectLst>
                <a:latin typeface="Montserrat"/>
              </a:rPr>
              <a:t>● paso grande: se pasa   </a:t>
            </a:r>
            <a:r>
              <a:rPr sz="850" b="1" i="0">
                <a:solidFill>
                  <a:srgbClr val="85D5E6"/>
                </a:solidFill>
                <a:effectLst>
                  <a:glow rad="63500">
                    <a:srgbClr val="001633">
                      <a:alpha val="85000"/>
                    </a:srgbClr>
                  </a:glow>
                </a:effectLst>
                <a:latin typeface="Montserrat"/>
              </a:rPr>
              <a:t>● paso chico: preciso</a:t>
            </a:r>
          </a:p>
        </p:txBody>
      </p:sp>
      <p:sp>
        <p:nvSpPr>
          <p:cNvPr id="40" name="Tarjeta Tamaño del paso"/>
          <p:cNvSpPr/>
          <p:nvPr/>
        </p:nvSpPr>
        <p:spPr>
          <a:xfrm>
            <a:off x="6967728" y="2487168"/>
            <a:ext cx="4297680" cy="9144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Marca"/>
          <p:cNvSpPr/>
          <p:nvPr/>
        </p:nvSpPr>
        <p:spPr>
          <a:xfrm>
            <a:off x="6967728" y="2487168"/>
            <a:ext cx="45720" cy="91440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2" name="Ícono ruler" descr="ruler-orange.png"/>
          <p:cNvPicPr>
            <a:picLocks noChangeAspect="1"/>
          </p:cNvPicPr>
          <p:nvPr/>
        </p:nvPicPr>
        <p:blipFill>
          <a:blip r:embed="rId3"/>
          <a:stretch>
            <a:fillRect/>
          </a:stretch>
        </p:blipFill>
        <p:spPr>
          <a:xfrm>
            <a:off x="7104888" y="2578608"/>
            <a:ext cx="237744" cy="237744"/>
          </a:xfrm>
          <a:prstGeom prst="rect">
            <a:avLst/>
          </a:prstGeom>
        </p:spPr>
      </p:pic>
      <p:sp>
        <p:nvSpPr>
          <p:cNvPr id="43" name="TextBox 42"/>
          <p:cNvSpPr txBox="1"/>
          <p:nvPr/>
        </p:nvSpPr>
        <p:spPr>
          <a:xfrm>
            <a:off x="7424928" y="2532888"/>
            <a:ext cx="3749040" cy="292608"/>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Tamaño del paso</a:t>
            </a:r>
          </a:p>
        </p:txBody>
      </p:sp>
      <p:sp>
        <p:nvSpPr>
          <p:cNvPr id="44" name="TextBox 43"/>
          <p:cNvSpPr txBox="1"/>
          <p:nvPr/>
        </p:nvSpPr>
        <p:spPr>
          <a:xfrm>
            <a:off x="7104888" y="2834640"/>
            <a:ext cx="4069080" cy="566928"/>
          </a:xfrm>
          <a:prstGeom prst="rect">
            <a:avLst/>
          </a:prstGeom>
          <a:noFill/>
        </p:spPr>
        <p:txBody>
          <a:bodyPr wrap="square" lIns="0" tIns="0" rIns="0" bIns="0" anchor="t">
            <a:spAutoFit/>
          </a:bodyPr>
          <a:lstStyle/>
          <a:p>
            <a:pPr algn="l">
              <a:spcAft>
                <a:spcPts val="100"/>
              </a:spcAft>
            </a:pPr>
            <a:r>
              <a:rPr sz="850" b="0" i="0">
                <a:solidFill>
                  <a:srgbClr val="A9B8C9"/>
                </a:solidFill>
                <a:effectLst>
                  <a:glow rad="63500">
                    <a:srgbClr val="001633">
                      <a:alpha val="85000"/>
                    </a:srgbClr>
                  </a:glow>
                </a:effectLst>
                <a:latin typeface="Montserrat"/>
              </a:rPr>
              <a:t>Paso grande: rápido, pero se equivoca o se vuelve inestable. Paso chico: preciso, pero lento.</a:t>
            </a:r>
          </a:p>
          <a:p>
            <a:pPr algn="l">
              <a:spcAft>
                <a:spcPts val="1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nivel de un cajón: Δt de 1 s basta</a:t>
            </a:r>
          </a:p>
        </p:txBody>
      </p:sp>
      <p:sp>
        <p:nvSpPr>
          <p:cNvPr id="45" name="Tarjeta Paso fijo o variable"/>
          <p:cNvSpPr/>
          <p:nvPr/>
        </p:nvSpPr>
        <p:spPr>
          <a:xfrm>
            <a:off x="6967728" y="3474720"/>
            <a:ext cx="4297680" cy="9144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Marca"/>
          <p:cNvSpPr/>
          <p:nvPr/>
        </p:nvSpPr>
        <p:spPr>
          <a:xfrm>
            <a:off x="6967728" y="3474720"/>
            <a:ext cx="45720" cy="91440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7" name="Ícono settings" descr="settings-orange.png"/>
          <p:cNvPicPr>
            <a:picLocks noChangeAspect="1"/>
          </p:cNvPicPr>
          <p:nvPr/>
        </p:nvPicPr>
        <p:blipFill>
          <a:blip r:embed="rId4"/>
          <a:stretch>
            <a:fillRect/>
          </a:stretch>
        </p:blipFill>
        <p:spPr>
          <a:xfrm>
            <a:off x="7104888" y="3566160"/>
            <a:ext cx="237744" cy="237744"/>
          </a:xfrm>
          <a:prstGeom prst="rect">
            <a:avLst/>
          </a:prstGeom>
        </p:spPr>
      </p:pic>
      <p:sp>
        <p:nvSpPr>
          <p:cNvPr id="48" name="TextBox 47"/>
          <p:cNvSpPr txBox="1"/>
          <p:nvPr/>
        </p:nvSpPr>
        <p:spPr>
          <a:xfrm>
            <a:off x="7424928" y="3520440"/>
            <a:ext cx="3749040" cy="292608"/>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Paso fijo o variable</a:t>
            </a:r>
          </a:p>
        </p:txBody>
      </p:sp>
      <p:sp>
        <p:nvSpPr>
          <p:cNvPr id="49" name="TextBox 48"/>
          <p:cNvSpPr txBox="1"/>
          <p:nvPr/>
        </p:nvSpPr>
        <p:spPr>
          <a:xfrm>
            <a:off x="7104888" y="3822192"/>
            <a:ext cx="4069080" cy="566928"/>
          </a:xfrm>
          <a:prstGeom prst="rect">
            <a:avLst/>
          </a:prstGeom>
          <a:noFill/>
        </p:spPr>
        <p:txBody>
          <a:bodyPr wrap="square" lIns="0" tIns="0" rIns="0" bIns="0" anchor="t">
            <a:spAutoFit/>
          </a:bodyPr>
          <a:lstStyle/>
          <a:p>
            <a:pPr algn="l">
              <a:spcAft>
                <a:spcPts val="100"/>
              </a:spcAft>
            </a:pPr>
            <a:r>
              <a:rPr sz="850" b="0" i="0">
                <a:solidFill>
                  <a:srgbClr val="A9B8C9"/>
                </a:solidFill>
                <a:effectLst>
                  <a:glow rad="63500">
                    <a:srgbClr val="001633">
                      <a:alpha val="85000"/>
                    </a:srgbClr>
                  </a:glow>
                </a:effectLst>
                <a:latin typeface="Montserrat"/>
              </a:rPr>
              <a:t>Fijo: siempre igual, necesario en tiempo real. Variable: el solver acorta el paso cuando todo cambia rápido.</a:t>
            </a:r>
          </a:p>
          <a:p>
            <a:pPr algn="l">
              <a:spcAft>
                <a:spcPts val="1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arranque de una correa: pasos cortos solo al partir</a:t>
            </a:r>
          </a:p>
        </p:txBody>
      </p:sp>
      <p:sp>
        <p:nvSpPr>
          <p:cNvPr id="50" name="Tarjeta Sistemas rígidos"/>
          <p:cNvSpPr/>
          <p:nvPr/>
        </p:nvSpPr>
        <p:spPr>
          <a:xfrm>
            <a:off x="6967728" y="4462272"/>
            <a:ext cx="4297680" cy="9144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Marca"/>
          <p:cNvSpPr/>
          <p:nvPr/>
        </p:nvSpPr>
        <p:spPr>
          <a:xfrm>
            <a:off x="6967728" y="4462272"/>
            <a:ext cx="45720" cy="91440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52" name="Ícono triangle-alert" descr="triangle-alert-orange.png"/>
          <p:cNvPicPr>
            <a:picLocks noChangeAspect="1"/>
          </p:cNvPicPr>
          <p:nvPr/>
        </p:nvPicPr>
        <p:blipFill>
          <a:blip r:embed="rId5"/>
          <a:stretch>
            <a:fillRect/>
          </a:stretch>
        </p:blipFill>
        <p:spPr>
          <a:xfrm>
            <a:off x="7104888" y="4553712"/>
            <a:ext cx="237744" cy="237744"/>
          </a:xfrm>
          <a:prstGeom prst="rect">
            <a:avLst/>
          </a:prstGeom>
        </p:spPr>
      </p:pic>
      <p:sp>
        <p:nvSpPr>
          <p:cNvPr id="53" name="TextBox 52"/>
          <p:cNvSpPr txBox="1"/>
          <p:nvPr/>
        </p:nvSpPr>
        <p:spPr>
          <a:xfrm>
            <a:off x="7424928" y="4507992"/>
            <a:ext cx="3749040" cy="292608"/>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Sistemas rígidos</a:t>
            </a:r>
          </a:p>
        </p:txBody>
      </p:sp>
      <p:sp>
        <p:nvSpPr>
          <p:cNvPr id="54" name="TextBox 53"/>
          <p:cNvSpPr txBox="1"/>
          <p:nvPr/>
        </p:nvSpPr>
        <p:spPr>
          <a:xfrm>
            <a:off x="7104888" y="4809744"/>
            <a:ext cx="4069080" cy="566928"/>
          </a:xfrm>
          <a:prstGeom prst="rect">
            <a:avLst/>
          </a:prstGeom>
          <a:noFill/>
        </p:spPr>
        <p:txBody>
          <a:bodyPr wrap="square" lIns="0" tIns="0" rIns="0" bIns="0" anchor="t">
            <a:spAutoFit/>
          </a:bodyPr>
          <a:lstStyle/>
          <a:p>
            <a:pPr algn="l">
              <a:spcAft>
                <a:spcPts val="100"/>
              </a:spcAft>
            </a:pPr>
            <a:r>
              <a:rPr sz="850" b="0" i="0">
                <a:solidFill>
                  <a:srgbClr val="A9B8C9"/>
                </a:solidFill>
                <a:effectLst>
                  <a:glow rad="63500">
                    <a:srgbClr val="001633">
                      <a:alpha val="85000"/>
                    </a:srgbClr>
                  </a:glow>
                </a:effectLst>
                <a:latin typeface="Montserrat"/>
              </a:rPr>
              <a:t>Cosas muy rápidas y muy lentas juntas obligan a un solver especial (implícito).</a:t>
            </a:r>
          </a:p>
          <a:p>
            <a:pPr algn="l">
              <a:spcAft>
                <a:spcPts val="1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molino SAG: accionamiento en ms, carga en minutos</a:t>
            </a:r>
          </a:p>
        </p:txBody>
      </p:sp>
      <p:sp>
        <p:nvSpPr>
          <p:cNvPr id="55" name="TextBox 54"/>
          <p:cNvSpPr txBox="1"/>
          <p:nvPr/>
        </p:nvSpPr>
        <p:spPr>
          <a:xfrm>
            <a:off x="6967728" y="5486400"/>
            <a:ext cx="4297680" cy="274320"/>
          </a:xfrm>
          <a:prstGeom prst="rect">
            <a:avLst/>
          </a:prstGeom>
          <a:noFill/>
        </p:spPr>
        <p:txBody>
          <a:bodyPr wrap="square" lIns="0" tIns="0" rIns="0" bIns="0" anchor="t">
            <a:spAutoFit/>
          </a:bodyPr>
          <a:lstStyle/>
          <a:p>
            <a:pPr algn="l">
              <a:spcAft>
                <a:spcPts val="600"/>
              </a:spcAft>
            </a:pPr>
            <a:r>
              <a:rPr sz="900" b="1" i="0">
                <a:solidFill>
                  <a:srgbClr val="85D5E6"/>
                </a:solidFill>
                <a:effectLst>
                  <a:glow rad="63500">
                    <a:srgbClr val="001633">
                      <a:alpha val="85000"/>
                    </a:srgbClr>
                  </a:glow>
                </a:effectLst>
                <a:latin typeface="Montserrat"/>
              </a:rPr>
              <a:t>Solvers comunes: </a:t>
            </a:r>
            <a:r>
              <a:rPr sz="900" b="0" i="0">
                <a:solidFill>
                  <a:srgbClr val="FFFFFF"/>
                </a:solidFill>
                <a:effectLst>
                  <a:glow rad="63500">
                    <a:srgbClr val="001633">
                      <a:alpha val="85000"/>
                    </a:srgbClr>
                  </a:glow>
                </a:effectLst>
                <a:latin typeface="Montserrat"/>
              </a:rPr>
              <a:t>Euler, Runge-Kutta, DASSL, CVODE</a:t>
            </a:r>
          </a:p>
        </p:txBody>
      </p:sp>
      <p:sp>
        <p:nvSpPr>
          <p:cNvPr id="5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Elaboración propia · curvas ilustrativas</a:t>
            </a:r>
          </a:p>
        </p:txBody>
      </p:sp>
      <p:sp>
        <p:nvSpPr>
          <p:cNvPr id="5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6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III actual"/>
          <p:cNvSpPr/>
          <p:nvPr/>
        </p:nvSpPr>
        <p:spPr>
          <a:xfrm>
            <a:off x="5001768" y="6510528"/>
            <a:ext cx="747743"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7"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13/31 </a:t>
            </a:r>
            <a:r>
              <a:rPr sz="1000" b="0" i="0">
                <a:solidFill>
                  <a:srgbClr val="A9B8C9"/>
                </a:solidFill>
                <a:effectLst>
                  <a:glow rad="63500">
                    <a:srgbClr val="001633">
                      <a:alpha val="85000"/>
                    </a:srgbClr>
                  </a:glow>
                </a:effectLst>
                <a:latin typeface="Montserrat"/>
              </a:rPr>
              <a:t>· Gemelos Digitales para Minería 4.0 · 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paso de simulación depende de qué tan rápido cambia lo que importa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3 · SOLVER Y PASO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En una faena conviven fenómenos de milisegundos y de meses. El gemelo modela solo la escala de la decisión que apoya, y de ahí sale su paso.</a:t>
            </a:r>
          </a:p>
        </p:txBody>
      </p:sp>
      <p:cxnSp>
        <p:nvCxnSpPr>
          <p:cNvPr id="7" name="Marca"/>
          <p:cNvCxnSpPr/>
          <p:nvPr/>
        </p:nvCxnSpPr>
        <p:spPr>
          <a:xfrm>
            <a:off x="1252728" y="3081528"/>
            <a:ext cx="0" cy="146304"/>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886968" y="3246120"/>
            <a:ext cx="731520" cy="22860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ms</a:t>
            </a:r>
          </a:p>
        </p:txBody>
      </p:sp>
      <p:cxnSp>
        <p:nvCxnSpPr>
          <p:cNvPr id="9" name="Marca"/>
          <p:cNvCxnSpPr/>
          <p:nvPr/>
        </p:nvCxnSpPr>
        <p:spPr>
          <a:xfrm>
            <a:off x="3255264" y="3081528"/>
            <a:ext cx="0" cy="146304"/>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889504" y="3246120"/>
            <a:ext cx="731520" cy="22860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s</a:t>
            </a:r>
          </a:p>
        </p:txBody>
      </p:sp>
      <p:cxnSp>
        <p:nvCxnSpPr>
          <p:cNvPr id="11" name="Marca"/>
          <p:cNvCxnSpPr/>
          <p:nvPr/>
        </p:nvCxnSpPr>
        <p:spPr>
          <a:xfrm>
            <a:off x="5257800" y="3081528"/>
            <a:ext cx="0" cy="146304"/>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892040" y="3246120"/>
            <a:ext cx="731520" cy="22860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min</a:t>
            </a:r>
          </a:p>
        </p:txBody>
      </p:sp>
      <p:cxnSp>
        <p:nvCxnSpPr>
          <p:cNvPr id="13" name="Marca"/>
          <p:cNvCxnSpPr/>
          <p:nvPr/>
        </p:nvCxnSpPr>
        <p:spPr>
          <a:xfrm>
            <a:off x="7260336" y="3081528"/>
            <a:ext cx="0" cy="146304"/>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94576" y="3246120"/>
            <a:ext cx="731520" cy="22860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h</a:t>
            </a:r>
          </a:p>
        </p:txBody>
      </p:sp>
      <p:cxnSp>
        <p:nvCxnSpPr>
          <p:cNvPr id="15" name="Marca"/>
          <p:cNvCxnSpPr/>
          <p:nvPr/>
        </p:nvCxnSpPr>
        <p:spPr>
          <a:xfrm>
            <a:off x="9262872" y="3081528"/>
            <a:ext cx="0" cy="146304"/>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897112" y="3246120"/>
            <a:ext cx="731520" cy="22860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días</a:t>
            </a:r>
          </a:p>
        </p:txBody>
      </p:sp>
      <p:cxnSp>
        <p:nvCxnSpPr>
          <p:cNvPr id="17" name="Marca"/>
          <p:cNvCxnSpPr/>
          <p:nvPr/>
        </p:nvCxnSpPr>
        <p:spPr>
          <a:xfrm>
            <a:off x="11265408" y="3081528"/>
            <a:ext cx="0" cy="146304"/>
          </a:xfrm>
          <a:prstGeom prst="line">
            <a:avLst/>
          </a:prstGeom>
          <a:ln w="12700">
            <a:solidFill>
              <a:srgbClr val="A9B8C9"/>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0899648" y="3246120"/>
            <a:ext cx="731520" cy="228600"/>
          </a:xfrm>
          <a:prstGeom prst="rect">
            <a:avLst/>
          </a:prstGeom>
          <a:noFill/>
        </p:spPr>
        <p:txBody>
          <a:bodyPr wrap="square" lIns="0" tIns="0" rIns="0" bIns="0" anchor="t">
            <a:spAutoFit/>
          </a:bodyPr>
          <a:lstStyle/>
          <a:p>
            <a:pPr algn="ctr">
              <a:spcAft>
                <a:spcPts val="600"/>
              </a:spcAft>
            </a:pPr>
            <a:r>
              <a:rPr sz="950" b="1" i="0">
                <a:solidFill>
                  <a:srgbClr val="A9B8C9"/>
                </a:solidFill>
                <a:effectLst>
                  <a:glow rad="63500">
                    <a:srgbClr val="001633">
                      <a:alpha val="85000"/>
                    </a:srgbClr>
                  </a:glow>
                </a:effectLst>
                <a:latin typeface="Montserrat"/>
              </a:rPr>
              <a:t>meses</a:t>
            </a:r>
          </a:p>
        </p:txBody>
      </p:sp>
      <p:cxnSp>
        <p:nvCxnSpPr>
          <p:cNvPr id="19" name="Escala de tiempo"/>
          <p:cNvCxnSpPr/>
          <p:nvPr/>
        </p:nvCxnSpPr>
        <p:spPr>
          <a:xfrm>
            <a:off x="1252728" y="3154680"/>
            <a:ext cx="10012680" cy="0"/>
          </a:xfrm>
          <a:prstGeom prst="line">
            <a:avLst/>
          </a:prstGeom>
          <a:ln w="19050">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Fenómeno Accionamiento eléctrico"/>
          <p:cNvSpPr/>
          <p:nvPr/>
        </p:nvSpPr>
        <p:spPr>
          <a:xfrm>
            <a:off x="1498244"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1" name="Guía"/>
          <p:cNvCxnSpPr/>
          <p:nvPr/>
        </p:nvCxnSpPr>
        <p:spPr>
          <a:xfrm>
            <a:off x="1553108" y="2724912"/>
            <a:ext cx="0" cy="374904"/>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30148" y="2496312"/>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Accionamiento eléctrico</a:t>
            </a:r>
          </a:p>
        </p:txBody>
      </p:sp>
      <p:sp>
        <p:nvSpPr>
          <p:cNvPr id="23" name="Fenómeno Vibración de polines"/>
          <p:cNvSpPr/>
          <p:nvPr/>
        </p:nvSpPr>
        <p:spPr>
          <a:xfrm>
            <a:off x="2199132"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4" name="Guía"/>
          <p:cNvCxnSpPr/>
          <p:nvPr/>
        </p:nvCxnSpPr>
        <p:spPr>
          <a:xfrm>
            <a:off x="2253996" y="3017520"/>
            <a:ext cx="0" cy="82296"/>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1431036" y="2788920"/>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Vibración de polines</a:t>
            </a:r>
          </a:p>
        </p:txBody>
      </p:sp>
      <p:sp>
        <p:nvSpPr>
          <p:cNvPr id="26" name="Fenómeno Lazo de control"/>
          <p:cNvSpPr/>
          <p:nvPr/>
        </p:nvSpPr>
        <p:spPr>
          <a:xfrm>
            <a:off x="3600907"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27" name="Guía"/>
          <p:cNvCxnSpPr/>
          <p:nvPr/>
        </p:nvCxnSpPr>
        <p:spPr>
          <a:xfrm>
            <a:off x="3655771" y="2724912"/>
            <a:ext cx="0" cy="374904"/>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2832811" y="2496312"/>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Lazo de control</a:t>
            </a:r>
          </a:p>
        </p:txBody>
      </p:sp>
      <p:sp>
        <p:nvSpPr>
          <p:cNvPr id="29" name="Fenómeno Arranque de correa"/>
          <p:cNvSpPr/>
          <p:nvPr/>
        </p:nvSpPr>
        <p:spPr>
          <a:xfrm>
            <a:off x="4502048"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0" name="Guía"/>
          <p:cNvCxnSpPr/>
          <p:nvPr/>
        </p:nvCxnSpPr>
        <p:spPr>
          <a:xfrm>
            <a:off x="4556912" y="3017520"/>
            <a:ext cx="0" cy="82296"/>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3733952" y="2788920"/>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Arranque de correa</a:t>
            </a:r>
          </a:p>
        </p:txBody>
      </p:sp>
      <p:sp>
        <p:nvSpPr>
          <p:cNvPr id="32" name="Fenómeno Carga del molino"/>
          <p:cNvSpPr/>
          <p:nvPr/>
        </p:nvSpPr>
        <p:spPr>
          <a:xfrm>
            <a:off x="5603443"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3" name="Guía"/>
          <p:cNvCxnSpPr/>
          <p:nvPr/>
        </p:nvCxnSpPr>
        <p:spPr>
          <a:xfrm>
            <a:off x="5658307" y="2724912"/>
            <a:ext cx="0" cy="374904"/>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835347" y="2496312"/>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Carga del molino</a:t>
            </a:r>
          </a:p>
        </p:txBody>
      </p:sp>
      <p:sp>
        <p:nvSpPr>
          <p:cNvPr id="35" name="Fenómeno Nivel del espesador"/>
          <p:cNvSpPr/>
          <p:nvPr/>
        </p:nvSpPr>
        <p:spPr>
          <a:xfrm>
            <a:off x="7405725"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6" name="Guía"/>
          <p:cNvCxnSpPr/>
          <p:nvPr/>
        </p:nvCxnSpPr>
        <p:spPr>
          <a:xfrm>
            <a:off x="7460589" y="3017520"/>
            <a:ext cx="0" cy="82296"/>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637629" y="2788920"/>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Nivel del espesador</a:t>
            </a:r>
          </a:p>
        </p:txBody>
      </p:sp>
      <p:sp>
        <p:nvSpPr>
          <p:cNvPr id="38" name="Fenómeno Turno y despacho"/>
          <p:cNvSpPr/>
          <p:nvPr/>
        </p:nvSpPr>
        <p:spPr>
          <a:xfrm>
            <a:off x="8206740"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39" name="Guía"/>
          <p:cNvCxnSpPr/>
          <p:nvPr/>
        </p:nvCxnSpPr>
        <p:spPr>
          <a:xfrm>
            <a:off x="8261604" y="2724912"/>
            <a:ext cx="0" cy="374904"/>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7438644" y="2496312"/>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Turno y despacho</a:t>
            </a:r>
          </a:p>
        </p:txBody>
      </p:sp>
      <p:sp>
        <p:nvSpPr>
          <p:cNvPr id="41" name="Fenómeno Desgaste de revestimientos"/>
          <p:cNvSpPr/>
          <p:nvPr/>
        </p:nvSpPr>
        <p:spPr>
          <a:xfrm>
            <a:off x="10409529" y="3099816"/>
            <a:ext cx="109728" cy="109728"/>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42" name="Guía"/>
          <p:cNvCxnSpPr/>
          <p:nvPr/>
        </p:nvCxnSpPr>
        <p:spPr>
          <a:xfrm>
            <a:off x="10464393" y="3017520"/>
            <a:ext cx="0" cy="82296"/>
          </a:xfrm>
          <a:prstGeom prst="line">
            <a:avLst/>
          </a:prstGeom>
          <a:ln w="9525">
            <a:solidFill>
              <a:srgbClr val="2A456B"/>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9641433" y="2788920"/>
            <a:ext cx="1645920" cy="228600"/>
          </a:xfrm>
          <a:prstGeom prst="rect">
            <a:avLst/>
          </a:prstGeom>
          <a:noFill/>
        </p:spPr>
        <p:txBody>
          <a:bodyPr wrap="square" lIns="0" tIns="0" rIns="0" bIns="0" anchor="t">
            <a:spAutoFit/>
          </a:bodyPr>
          <a:lstStyle/>
          <a:p>
            <a:pPr algn="ctr">
              <a:spcAft>
                <a:spcPts val="600"/>
              </a:spcAft>
            </a:pPr>
            <a:r>
              <a:rPr sz="850" b="1" i="0">
                <a:solidFill>
                  <a:srgbClr val="FFFFFF"/>
                </a:solidFill>
                <a:effectLst>
                  <a:glow rad="63500">
                    <a:srgbClr val="001633">
                      <a:alpha val="85000"/>
                    </a:srgbClr>
                  </a:glow>
                </a:effectLst>
                <a:latin typeface="Montserrat"/>
              </a:rPr>
              <a:t>Desgaste de revestimientos</a:t>
            </a:r>
          </a:p>
        </p:txBody>
      </p:sp>
      <p:cxnSp>
        <p:nvCxnSpPr>
          <p:cNvPr id="44" name="Rango Gemelo del accionamiento"/>
          <p:cNvCxnSpPr/>
          <p:nvPr/>
        </p:nvCxnSpPr>
        <p:spPr>
          <a:xfrm>
            <a:off x="1252728" y="3566160"/>
            <a:ext cx="2002536" cy="0"/>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252728" y="3511296"/>
            <a:ext cx="0" cy="109728"/>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3255264" y="3511296"/>
            <a:ext cx="0" cy="109728"/>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252728" y="3621024"/>
            <a:ext cx="2002536"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Gemelo del accionamiento</a:t>
            </a:r>
          </a:p>
          <a:p>
            <a:pPr algn="ctr">
              <a:spcAft>
                <a:spcPts val="0"/>
              </a:spcAft>
            </a:pPr>
            <a:r>
              <a:rPr sz="900" b="1" i="0">
                <a:solidFill>
                  <a:srgbClr val="85D5E6"/>
                </a:solidFill>
                <a:effectLst>
                  <a:glow rad="63500">
                    <a:srgbClr val="001633">
                      <a:alpha val="85000"/>
                    </a:srgbClr>
                  </a:glow>
                </a:effectLst>
                <a:latin typeface="Montserrat"/>
              </a:rPr>
              <a:t>paso ~1 ms</a:t>
            </a:r>
          </a:p>
        </p:txBody>
      </p:sp>
      <p:cxnSp>
        <p:nvCxnSpPr>
          <p:cNvPr id="48" name="Rango Gemelo del circuito de molienda"/>
          <p:cNvCxnSpPr/>
          <p:nvPr/>
        </p:nvCxnSpPr>
        <p:spPr>
          <a:xfrm>
            <a:off x="3455517" y="3566160"/>
            <a:ext cx="2803551" cy="0"/>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3455517" y="3511296"/>
            <a:ext cx="0" cy="109728"/>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259068" y="3511296"/>
            <a:ext cx="0" cy="109728"/>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3455517" y="3621024"/>
            <a:ext cx="2803550"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Gemelo del circuito de molienda</a:t>
            </a:r>
          </a:p>
          <a:p>
            <a:pPr algn="ctr">
              <a:spcAft>
                <a:spcPts val="0"/>
              </a:spcAft>
            </a:pPr>
            <a:r>
              <a:rPr sz="900" b="1" i="0">
                <a:solidFill>
                  <a:srgbClr val="85D5E6"/>
                </a:solidFill>
                <a:effectLst>
                  <a:glow rad="63500">
                    <a:srgbClr val="001633">
                      <a:alpha val="85000"/>
                    </a:srgbClr>
                  </a:glow>
                </a:effectLst>
                <a:latin typeface="Montserrat"/>
              </a:rPr>
              <a:t>paso ~1 s</a:t>
            </a:r>
          </a:p>
        </p:txBody>
      </p:sp>
      <p:cxnSp>
        <p:nvCxnSpPr>
          <p:cNvPr id="52" name="Rango Gemelo del plan semanal mina–planta"/>
          <p:cNvCxnSpPr/>
          <p:nvPr/>
        </p:nvCxnSpPr>
        <p:spPr>
          <a:xfrm>
            <a:off x="7460589" y="3566160"/>
            <a:ext cx="2403043" cy="0"/>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7460589" y="3511296"/>
            <a:ext cx="0" cy="109728"/>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9863632" y="3511296"/>
            <a:ext cx="0" cy="109728"/>
          </a:xfrm>
          <a:prstGeom prst="line">
            <a:avLst/>
          </a:prstGeom>
          <a:ln w="25400">
            <a:solidFill>
              <a:srgbClr val="85D5E6"/>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7460589" y="3621024"/>
            <a:ext cx="2403043" cy="411480"/>
          </a:xfrm>
          <a:prstGeom prst="rect">
            <a:avLst/>
          </a:prstGeom>
          <a:noFill/>
        </p:spPr>
        <p:txBody>
          <a:bodyPr wrap="square" lIns="0" tIns="0" rIns="0" bIns="0" anchor="t">
            <a:spAutoFit/>
          </a:bodyPr>
          <a:lstStyle/>
          <a:p>
            <a:pPr algn="ctr">
              <a:spcAft>
                <a:spcPts val="0"/>
              </a:spcAft>
            </a:pPr>
            <a:r>
              <a:rPr sz="850" b="1" i="0">
                <a:solidFill>
                  <a:srgbClr val="FFFFFF"/>
                </a:solidFill>
                <a:effectLst>
                  <a:glow rad="63500">
                    <a:srgbClr val="001633">
                      <a:alpha val="85000"/>
                    </a:srgbClr>
                  </a:glow>
                </a:effectLst>
                <a:latin typeface="Montserrat"/>
              </a:rPr>
              <a:t>Gemelo del plan semanal mina–planta</a:t>
            </a:r>
          </a:p>
          <a:p>
            <a:pPr algn="ctr">
              <a:spcAft>
                <a:spcPts val="0"/>
              </a:spcAft>
            </a:pPr>
            <a:r>
              <a:rPr sz="900" b="1" i="0">
                <a:solidFill>
                  <a:srgbClr val="85D5E6"/>
                </a:solidFill>
                <a:effectLst>
                  <a:glow rad="63500">
                    <a:srgbClr val="001633">
                      <a:alpha val="85000"/>
                    </a:srgbClr>
                  </a:glow>
                </a:effectLst>
                <a:latin typeface="Montserrat"/>
              </a:rPr>
              <a:t>paso ~1 h</a:t>
            </a:r>
          </a:p>
        </p:txBody>
      </p:sp>
      <p:sp>
        <p:nvSpPr>
          <p:cNvPr id="56" name="Regla"/>
          <p:cNvSpPr/>
          <p:nvPr/>
        </p:nvSpPr>
        <p:spPr>
          <a:xfrm>
            <a:off x="1252728" y="4133087"/>
            <a:ext cx="10012680" cy="41148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1435608" y="4133087"/>
            <a:ext cx="9646920" cy="411480"/>
          </a:xfrm>
          <a:prstGeom prst="rect">
            <a:avLst/>
          </a:prstGeom>
          <a:noFill/>
        </p:spPr>
        <p:txBody>
          <a:bodyPr wrap="square" lIns="0" tIns="0" rIns="0" bIns="0" anchor="ctr">
            <a:spAutoFit/>
          </a:bodyPr>
          <a:lstStyle/>
          <a:p>
            <a:pPr algn="l">
              <a:spcAft>
                <a:spcPts val="600"/>
              </a:spcAft>
            </a:pPr>
            <a:r>
              <a:rPr sz="1050" b="1" i="0">
                <a:solidFill>
                  <a:srgbClr val="FFAB40"/>
                </a:solidFill>
                <a:effectLst>
                  <a:glow rad="63500">
                    <a:srgbClr val="001633">
                      <a:alpha val="85000"/>
                    </a:srgbClr>
                  </a:glow>
                </a:effectLst>
                <a:latin typeface="Montserrat"/>
              </a:rPr>
              <a:t>Regla práctica: </a:t>
            </a:r>
            <a:r>
              <a:rPr sz="1000" b="0" i="0">
                <a:solidFill>
                  <a:srgbClr val="FFFFFF"/>
                </a:solidFill>
                <a:effectLst>
                  <a:glow rad="63500">
                    <a:srgbClr val="001633">
                      <a:alpha val="85000"/>
                    </a:srgbClr>
                  </a:glow>
                </a:effectLst>
                <a:latin typeface="Montserrat"/>
              </a:rPr>
              <a:t>si lo que importa cambia en 10 min, el paso es de ~1 min, y nunca más largo que el intervalo de los datos.</a:t>
            </a:r>
          </a:p>
        </p:txBody>
      </p:sp>
      <p:sp>
        <p:nvSpPr>
          <p:cNvPr id="58" name="Modo Tiempo real"/>
          <p:cNvSpPr/>
          <p:nvPr/>
        </p:nvSpPr>
        <p:spPr>
          <a:xfrm>
            <a:off x="1252728" y="4636008"/>
            <a:ext cx="4869180" cy="12618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Marca"/>
          <p:cNvSpPr/>
          <p:nvPr/>
        </p:nvSpPr>
        <p:spPr>
          <a:xfrm>
            <a:off x="1252728" y="4636008"/>
            <a:ext cx="54864" cy="126187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0" name="Ícono clock" descr="clock-orange.png"/>
          <p:cNvPicPr>
            <a:picLocks noChangeAspect="1"/>
          </p:cNvPicPr>
          <p:nvPr/>
        </p:nvPicPr>
        <p:blipFill>
          <a:blip r:embed="rId3"/>
          <a:stretch>
            <a:fillRect/>
          </a:stretch>
        </p:blipFill>
        <p:spPr>
          <a:xfrm>
            <a:off x="1417320" y="4727448"/>
            <a:ext cx="256032" cy="256032"/>
          </a:xfrm>
          <a:prstGeom prst="rect">
            <a:avLst/>
          </a:prstGeom>
        </p:spPr>
      </p:pic>
      <p:sp>
        <p:nvSpPr>
          <p:cNvPr id="61" name="TextBox 60"/>
          <p:cNvSpPr txBox="1"/>
          <p:nvPr/>
        </p:nvSpPr>
        <p:spPr>
          <a:xfrm>
            <a:off x="1755648" y="4690872"/>
            <a:ext cx="4274820" cy="320040"/>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Tiempo real</a:t>
            </a:r>
          </a:p>
        </p:txBody>
      </p:sp>
      <p:sp>
        <p:nvSpPr>
          <p:cNvPr id="62" name="TextBox 61"/>
          <p:cNvSpPr txBox="1"/>
          <p:nvPr/>
        </p:nvSpPr>
        <p:spPr>
          <a:xfrm>
            <a:off x="1417320" y="5020056"/>
            <a:ext cx="4594860" cy="41148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Cada segundo de faena es un segundo de simulación: el gemelo avanza junto a la planta y en cada paso recibe datos nuevos.</a:t>
            </a:r>
          </a:p>
        </p:txBody>
      </p:sp>
      <p:sp>
        <p:nvSpPr>
          <p:cNvPr id="63" name="TextBox 62"/>
          <p:cNvSpPr txBox="1"/>
          <p:nvPr/>
        </p:nvSpPr>
        <p:spPr>
          <a:xfrm>
            <a:off x="1417320" y="5422392"/>
            <a:ext cx="4594860" cy="457200"/>
          </a:xfrm>
          <a:prstGeom prst="rect">
            <a:avLst/>
          </a:prstGeom>
          <a:noFill/>
        </p:spPr>
        <p:txBody>
          <a:bodyPr wrap="square" lIns="0" tIns="0" rIns="0" bIns="0" anchor="t">
            <a:spAutoFit/>
          </a:bodyPr>
          <a:lstStyle/>
          <a:p>
            <a:pPr algn="l">
              <a:spcAft>
                <a:spcPts val="100"/>
              </a:spcAft>
            </a:pPr>
            <a:r>
              <a:rPr sz="900" b="1" i="0">
                <a:solidFill>
                  <a:srgbClr val="FFAB40"/>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Ventilación: cada 10 s lee los sensores de CO y ajusta los ventiladores</a:t>
            </a:r>
          </a:p>
          <a:p>
            <a:pPr algn="l">
              <a:spcAft>
                <a:spcPts val="100"/>
              </a:spcAft>
            </a:pPr>
            <a:r>
              <a:rPr sz="900" b="1" i="0">
                <a:solidFill>
                  <a:srgbClr val="FFAB40"/>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Espesador: cada minuto estima la altura de la cama, que nadie mide</a:t>
            </a:r>
          </a:p>
        </p:txBody>
      </p:sp>
      <p:sp>
        <p:nvSpPr>
          <p:cNvPr id="64" name="Modo Más rápido que el tiempo real"/>
          <p:cNvSpPr/>
          <p:nvPr/>
        </p:nvSpPr>
        <p:spPr>
          <a:xfrm>
            <a:off x="6396228" y="4636008"/>
            <a:ext cx="4869180" cy="126187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Marca"/>
          <p:cNvSpPr/>
          <p:nvPr/>
        </p:nvSpPr>
        <p:spPr>
          <a:xfrm>
            <a:off x="6396228" y="4636008"/>
            <a:ext cx="54864" cy="126187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66" name="Ícono rocket" descr="rocket-cyan.png"/>
          <p:cNvPicPr>
            <a:picLocks noChangeAspect="1"/>
          </p:cNvPicPr>
          <p:nvPr/>
        </p:nvPicPr>
        <p:blipFill>
          <a:blip r:embed="rId4"/>
          <a:stretch>
            <a:fillRect/>
          </a:stretch>
        </p:blipFill>
        <p:spPr>
          <a:xfrm>
            <a:off x="6560820" y="4727448"/>
            <a:ext cx="256032" cy="256032"/>
          </a:xfrm>
          <a:prstGeom prst="rect">
            <a:avLst/>
          </a:prstGeom>
        </p:spPr>
      </p:pic>
      <p:sp>
        <p:nvSpPr>
          <p:cNvPr id="67" name="TextBox 66"/>
          <p:cNvSpPr txBox="1"/>
          <p:nvPr/>
        </p:nvSpPr>
        <p:spPr>
          <a:xfrm>
            <a:off x="6899148" y="4690872"/>
            <a:ext cx="4274820" cy="320040"/>
          </a:xfrm>
          <a:prstGeom prst="rect">
            <a:avLst/>
          </a:prstGeom>
          <a:noFill/>
        </p:spPr>
        <p:txBody>
          <a:bodyPr wrap="square" lIns="0" tIns="0" rIns="0" bIns="0" anchor="ctr">
            <a:spAutoFit/>
          </a:bodyPr>
          <a:lstStyle/>
          <a:p>
            <a:pPr algn="l">
              <a:spcAft>
                <a:spcPts val="600"/>
              </a:spcAft>
            </a:pPr>
            <a:r>
              <a:rPr sz="1150" b="1" i="0">
                <a:solidFill>
                  <a:srgbClr val="FFFFFF"/>
                </a:solidFill>
                <a:effectLst>
                  <a:glow rad="63500">
                    <a:srgbClr val="001633">
                      <a:alpha val="85000"/>
                    </a:srgbClr>
                  </a:glow>
                </a:effectLst>
                <a:latin typeface="Montserrat"/>
              </a:rPr>
              <a:t>Más rápido que el tiempo real</a:t>
            </a:r>
          </a:p>
        </p:txBody>
      </p:sp>
      <p:sp>
        <p:nvSpPr>
          <p:cNvPr id="68" name="TextBox 67"/>
          <p:cNvSpPr txBox="1"/>
          <p:nvPr/>
        </p:nvSpPr>
        <p:spPr>
          <a:xfrm>
            <a:off x="6560820" y="5020056"/>
            <a:ext cx="4594860" cy="41148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Simula el futuro sin esperarlo: horas de operación en segundos de cálculo, para comparar decisiones antes de tomarlas.</a:t>
            </a:r>
          </a:p>
        </p:txBody>
      </p:sp>
      <p:sp>
        <p:nvSpPr>
          <p:cNvPr id="69" name="TextBox 68"/>
          <p:cNvSpPr txBox="1"/>
          <p:nvPr/>
        </p:nvSpPr>
        <p:spPr>
          <a:xfrm>
            <a:off x="6560820" y="5422392"/>
            <a:ext cx="4594860" cy="457200"/>
          </a:xfrm>
          <a:prstGeom prst="rect">
            <a:avLst/>
          </a:prstGeom>
          <a:noFill/>
        </p:spPr>
        <p:txBody>
          <a:bodyPr wrap="square" lIns="0" tIns="0" rIns="0" bIns="0" anchor="t">
            <a:spAutoFit/>
          </a:bodyPr>
          <a:lstStyle/>
          <a:p>
            <a:pPr algn="l">
              <a:spcAft>
                <a:spcPts val="100"/>
              </a:spcAft>
            </a:pPr>
            <a:r>
              <a:rPr sz="900" b="1" i="0">
                <a:solidFill>
                  <a:srgbClr val="85D5E6"/>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Despacho: si falla una pala, simular el resto del turno (8 h) en 30 s</a:t>
            </a:r>
          </a:p>
          <a:p>
            <a:pPr algn="l">
              <a:spcAft>
                <a:spcPts val="100"/>
              </a:spcAft>
            </a:pPr>
            <a:r>
              <a:rPr sz="900" b="1" i="0">
                <a:solidFill>
                  <a:srgbClr val="85D5E6"/>
                </a:solidFill>
                <a:effectLst>
                  <a:glow rad="63500">
                    <a:srgbClr val="001633">
                      <a:alpha val="85000"/>
                    </a:srgbClr>
                  </a:glow>
                </a:effectLst>
                <a:latin typeface="Montserrat"/>
              </a:rPr>
              <a:t>▸ </a:t>
            </a:r>
            <a:r>
              <a:rPr sz="900" b="0" i="0">
                <a:solidFill>
                  <a:srgbClr val="FFFFFF"/>
                </a:solidFill>
                <a:effectLst>
                  <a:glow rad="63500">
                    <a:srgbClr val="001633">
                      <a:alpha val="85000"/>
                    </a:srgbClr>
                  </a:glow>
                </a:effectLst>
                <a:latin typeface="Montserrat"/>
              </a:rPr>
              <a:t>Plan semanal: probar 50 mezclas de alimentación durante la noche</a:t>
            </a:r>
          </a:p>
        </p:txBody>
      </p:sp>
      <p:sp>
        <p:nvSpPr>
          <p:cNvPr id="7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Escalas de tiempo y pasos: órdenes de magnitud ilustrativos · regla práctica, no norma</a:t>
            </a:r>
          </a:p>
        </p:txBody>
      </p:sp>
      <p:sp>
        <p:nvSpPr>
          <p:cNvPr id="7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7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7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Avance III actual"/>
          <p:cNvSpPr/>
          <p:nvPr/>
        </p:nvSpPr>
        <p:spPr>
          <a:xfrm>
            <a:off x="5001768" y="6510528"/>
            <a:ext cx="805261"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8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14/31 </a:t>
            </a:r>
            <a:r>
              <a:rPr sz="1000" b="0" i="0">
                <a:solidFill>
                  <a:srgbClr val="A9B8C9"/>
                </a:solidFill>
                <a:effectLst>
                  <a:glow rad="63500">
                    <a:srgbClr val="001633">
                      <a:alpha val="85000"/>
                    </a:srgbClr>
                  </a:glow>
                </a:effectLst>
                <a:latin typeface="Montserrat"/>
              </a:rPr>
              <a:t>· Gemelos Digitales para Minería 4.0 · 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modelo que simula no es un modelo correcto: verificar, calibrar y validar</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3 · SOLVER Y PASO</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Tres preguntas distintas que se confunden a menudo. Van en este orden y se repiten durante toda la vida del gemelo, no solo al construirlo.</a:t>
            </a:r>
          </a:p>
        </p:txBody>
      </p:sp>
      <p:sp>
        <p:nvSpPr>
          <p:cNvPr id="7" name="V 1 · Verificar"/>
          <p:cNvSpPr/>
          <p:nvPr/>
        </p:nvSpPr>
        <p:spPr>
          <a:xfrm>
            <a:off x="1252728" y="2514600"/>
            <a:ext cx="3093720"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Borde"/>
          <p:cNvSpPr/>
          <p:nvPr/>
        </p:nvSpPr>
        <p:spPr>
          <a:xfrm>
            <a:off x="1252728" y="2514600"/>
            <a:ext cx="3093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1 · Verificar"/>
          <p:cNvSpPr/>
          <p:nvPr/>
        </p:nvSpPr>
        <p:spPr>
          <a:xfrm>
            <a:off x="1417320" y="2670048"/>
            <a:ext cx="457200" cy="45720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Ícono search-check" descr="search-check-orange.png"/>
          <p:cNvPicPr>
            <a:picLocks noChangeAspect="1"/>
          </p:cNvPicPr>
          <p:nvPr/>
        </p:nvPicPr>
        <p:blipFill>
          <a:blip r:embed="rId3"/>
          <a:stretch>
            <a:fillRect/>
          </a:stretch>
        </p:blipFill>
        <p:spPr>
          <a:xfrm>
            <a:off x="1517904" y="2770632"/>
            <a:ext cx="256032" cy="256032"/>
          </a:xfrm>
          <a:prstGeom prst="rect">
            <a:avLst/>
          </a:prstGeom>
        </p:spPr>
      </p:pic>
      <p:sp>
        <p:nvSpPr>
          <p:cNvPr id="11" name="TextBox 10"/>
          <p:cNvSpPr txBox="1"/>
          <p:nvPr/>
        </p:nvSpPr>
        <p:spPr>
          <a:xfrm>
            <a:off x="1984248" y="2670048"/>
            <a:ext cx="2270760" cy="45720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1 · Verificar</a:t>
            </a:r>
          </a:p>
        </p:txBody>
      </p:sp>
      <p:sp>
        <p:nvSpPr>
          <p:cNvPr id="12" name="TextBox 11"/>
          <p:cNvSpPr txBox="1"/>
          <p:nvPr/>
        </p:nvSpPr>
        <p:spPr>
          <a:xfrm>
            <a:off x="1417320" y="3218688"/>
            <a:ext cx="2819400" cy="457200"/>
          </a:xfrm>
          <a:prstGeom prst="rect">
            <a:avLst/>
          </a:prstGeom>
          <a:noFill/>
        </p:spPr>
        <p:txBody>
          <a:bodyPr wrap="square" lIns="0" tIns="0" rIns="0" bIns="0" anchor="t">
            <a:spAutoFit/>
          </a:bodyPr>
          <a:lstStyle/>
          <a:p>
            <a:pPr algn="l">
              <a:spcAft>
                <a:spcPts val="600"/>
              </a:spcAft>
            </a:pPr>
            <a:r>
              <a:rPr sz="1050" b="1" i="0">
                <a:solidFill>
                  <a:srgbClr val="FFAB40"/>
                </a:solidFill>
                <a:effectLst>
                  <a:glow rad="63500">
                    <a:srgbClr val="001633">
                      <a:alpha val="85000"/>
                    </a:srgbClr>
                  </a:glow>
                </a:effectLst>
                <a:latin typeface="Montserrat"/>
              </a:rPr>
              <a:t>¿Resuelvo bien las ecuaciones?</a:t>
            </a:r>
          </a:p>
        </p:txBody>
      </p:sp>
      <p:sp>
        <p:nvSpPr>
          <p:cNvPr id="13" name="TextBox 12"/>
          <p:cNvSpPr txBox="1"/>
          <p:nvPr/>
        </p:nvSpPr>
        <p:spPr>
          <a:xfrm>
            <a:off x="1417320" y="3675887"/>
            <a:ext cx="2819400" cy="5029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unidades consistentes, balances que cierran, resultado estable al achicar el paso</a:t>
            </a:r>
          </a:p>
        </p:txBody>
      </p:sp>
      <p:cxnSp>
        <p:nvCxnSpPr>
          <p:cNvPr id="14" name="Raya"/>
          <p:cNvCxnSpPr/>
          <p:nvPr/>
        </p:nvCxnSpPr>
        <p:spPr>
          <a:xfrm>
            <a:off x="1417320" y="4224528"/>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417320" y="4279392"/>
            <a:ext cx="2819400" cy="4572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Bomba de pulpa: </a:t>
            </a:r>
            <a:r>
              <a:rPr sz="900" b="0" i="0">
                <a:solidFill>
                  <a:srgbClr val="FFFFFF"/>
                </a:solidFill>
                <a:effectLst>
                  <a:glow rad="63500">
                    <a:srgbClr val="001633">
                      <a:alpha val="85000"/>
                    </a:srgbClr>
                  </a:glow>
                </a:effectLst>
                <a:latin typeface="Montserrat"/>
              </a:rPr>
              <a:t>la pulpa que entra a la bomba es la que sale</a:t>
            </a:r>
          </a:p>
        </p:txBody>
      </p:sp>
      <p:cxnSp>
        <p:nvCxnSpPr>
          <p:cNvPr id="16" name="Orden"/>
          <p:cNvCxnSpPr/>
          <p:nvPr/>
        </p:nvCxnSpPr>
        <p:spPr>
          <a:xfrm>
            <a:off x="4401312" y="3630168"/>
            <a:ext cx="256032"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V 2 · Calibrar"/>
          <p:cNvSpPr/>
          <p:nvPr/>
        </p:nvSpPr>
        <p:spPr>
          <a:xfrm>
            <a:off x="4712208" y="2514600"/>
            <a:ext cx="3093720"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Borde"/>
          <p:cNvSpPr/>
          <p:nvPr/>
        </p:nvSpPr>
        <p:spPr>
          <a:xfrm>
            <a:off x="4712208" y="2514600"/>
            <a:ext cx="3093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2 · Calibrar"/>
          <p:cNvSpPr/>
          <p:nvPr/>
        </p:nvSpPr>
        <p:spPr>
          <a:xfrm>
            <a:off x="4876800" y="2670048"/>
            <a:ext cx="457200" cy="45720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Ícono sliders-horizontal" descr="sliders-horizontal-orange.png"/>
          <p:cNvPicPr>
            <a:picLocks noChangeAspect="1"/>
          </p:cNvPicPr>
          <p:nvPr/>
        </p:nvPicPr>
        <p:blipFill>
          <a:blip r:embed="rId4"/>
          <a:stretch>
            <a:fillRect/>
          </a:stretch>
        </p:blipFill>
        <p:spPr>
          <a:xfrm>
            <a:off x="4977384" y="2770632"/>
            <a:ext cx="256032" cy="256032"/>
          </a:xfrm>
          <a:prstGeom prst="rect">
            <a:avLst/>
          </a:prstGeom>
        </p:spPr>
      </p:pic>
      <p:sp>
        <p:nvSpPr>
          <p:cNvPr id="21" name="TextBox 20"/>
          <p:cNvSpPr txBox="1"/>
          <p:nvPr/>
        </p:nvSpPr>
        <p:spPr>
          <a:xfrm>
            <a:off x="5443728" y="2670048"/>
            <a:ext cx="2270760" cy="45720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2 · Calibrar</a:t>
            </a:r>
          </a:p>
        </p:txBody>
      </p:sp>
      <p:sp>
        <p:nvSpPr>
          <p:cNvPr id="22" name="TextBox 21"/>
          <p:cNvSpPr txBox="1"/>
          <p:nvPr/>
        </p:nvSpPr>
        <p:spPr>
          <a:xfrm>
            <a:off x="4876800" y="3218688"/>
            <a:ext cx="2819400" cy="457200"/>
          </a:xfrm>
          <a:prstGeom prst="rect">
            <a:avLst/>
          </a:prstGeom>
          <a:noFill/>
        </p:spPr>
        <p:txBody>
          <a:bodyPr wrap="square" lIns="0" tIns="0" rIns="0" bIns="0" anchor="t">
            <a:spAutoFit/>
          </a:bodyPr>
          <a:lstStyle/>
          <a:p>
            <a:pPr algn="l">
              <a:spcAft>
                <a:spcPts val="600"/>
              </a:spcAft>
            </a:pPr>
            <a:r>
              <a:rPr sz="1050" b="1" i="0">
                <a:solidFill>
                  <a:srgbClr val="FFAB40"/>
                </a:solidFill>
                <a:effectLst>
                  <a:glow rad="63500">
                    <a:srgbClr val="001633">
                      <a:alpha val="85000"/>
                    </a:srgbClr>
                  </a:glow>
                </a:effectLst>
                <a:latin typeface="Montserrat"/>
              </a:rPr>
              <a:t>¿Qué valores de los parámetros reproducen la planta?</a:t>
            </a:r>
          </a:p>
        </p:txBody>
      </p:sp>
      <p:sp>
        <p:nvSpPr>
          <p:cNvPr id="23" name="TextBox 22"/>
          <p:cNvSpPr txBox="1"/>
          <p:nvPr/>
        </p:nvSpPr>
        <p:spPr>
          <a:xfrm>
            <a:off x="4876800" y="3675887"/>
            <a:ext cx="2819400" cy="5029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ajustar los parámetros desconocidos con una parte de los datos reales</a:t>
            </a:r>
          </a:p>
        </p:txBody>
      </p:sp>
      <p:cxnSp>
        <p:nvCxnSpPr>
          <p:cNvPr id="24" name="Raya"/>
          <p:cNvCxnSpPr/>
          <p:nvPr/>
        </p:nvCxnSpPr>
        <p:spPr>
          <a:xfrm>
            <a:off x="4876800" y="4224528"/>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876800" y="4279392"/>
            <a:ext cx="2819400" cy="4572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Bomba de pulpa: </a:t>
            </a:r>
            <a:r>
              <a:rPr sz="900" b="0" i="0">
                <a:solidFill>
                  <a:srgbClr val="FFFFFF"/>
                </a:solidFill>
                <a:effectLst>
                  <a:glow rad="63500">
                    <a:srgbClr val="001633">
                      <a:alpha val="85000"/>
                    </a:srgbClr>
                  </a:glow>
                </a:effectLst>
                <a:latin typeface="Montserrat"/>
              </a:rPr>
              <a:t>estimar el desgaste del impulsor con la presión de descarga</a:t>
            </a:r>
          </a:p>
        </p:txBody>
      </p:sp>
      <p:cxnSp>
        <p:nvCxnSpPr>
          <p:cNvPr id="26" name="Orden"/>
          <p:cNvCxnSpPr/>
          <p:nvPr/>
        </p:nvCxnSpPr>
        <p:spPr>
          <a:xfrm>
            <a:off x="7860792" y="3630168"/>
            <a:ext cx="256032"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V 3 · Validar"/>
          <p:cNvSpPr/>
          <p:nvPr/>
        </p:nvSpPr>
        <p:spPr>
          <a:xfrm>
            <a:off x="8171688" y="2514600"/>
            <a:ext cx="3093720"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Borde"/>
          <p:cNvSpPr/>
          <p:nvPr/>
        </p:nvSpPr>
        <p:spPr>
          <a:xfrm>
            <a:off x="8171688" y="2514600"/>
            <a:ext cx="309372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3 · Validar"/>
          <p:cNvSpPr/>
          <p:nvPr/>
        </p:nvSpPr>
        <p:spPr>
          <a:xfrm>
            <a:off x="8336280" y="2670048"/>
            <a:ext cx="457200" cy="45720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0" name="Ícono circle-check" descr="circle-check-orange.png"/>
          <p:cNvPicPr>
            <a:picLocks noChangeAspect="1"/>
          </p:cNvPicPr>
          <p:nvPr/>
        </p:nvPicPr>
        <p:blipFill>
          <a:blip r:embed="rId5"/>
          <a:stretch>
            <a:fillRect/>
          </a:stretch>
        </p:blipFill>
        <p:spPr>
          <a:xfrm>
            <a:off x="8436864" y="2770632"/>
            <a:ext cx="256032" cy="256032"/>
          </a:xfrm>
          <a:prstGeom prst="rect">
            <a:avLst/>
          </a:prstGeom>
        </p:spPr>
      </p:pic>
      <p:sp>
        <p:nvSpPr>
          <p:cNvPr id="31" name="TextBox 30"/>
          <p:cNvSpPr txBox="1"/>
          <p:nvPr/>
        </p:nvSpPr>
        <p:spPr>
          <a:xfrm>
            <a:off x="8903208" y="2670048"/>
            <a:ext cx="2270760" cy="45720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3 · Validar</a:t>
            </a:r>
          </a:p>
        </p:txBody>
      </p:sp>
      <p:sp>
        <p:nvSpPr>
          <p:cNvPr id="32" name="TextBox 31"/>
          <p:cNvSpPr txBox="1"/>
          <p:nvPr/>
        </p:nvSpPr>
        <p:spPr>
          <a:xfrm>
            <a:off x="8336280" y="3218688"/>
            <a:ext cx="2819400" cy="457200"/>
          </a:xfrm>
          <a:prstGeom prst="rect">
            <a:avLst/>
          </a:prstGeom>
          <a:noFill/>
        </p:spPr>
        <p:txBody>
          <a:bodyPr wrap="square" lIns="0" tIns="0" rIns="0" bIns="0" anchor="t">
            <a:spAutoFit/>
          </a:bodyPr>
          <a:lstStyle/>
          <a:p>
            <a:pPr algn="l">
              <a:spcAft>
                <a:spcPts val="600"/>
              </a:spcAft>
            </a:pPr>
            <a:r>
              <a:rPr sz="1050" b="1" i="0">
                <a:solidFill>
                  <a:srgbClr val="FFAB40"/>
                </a:solidFill>
                <a:effectLst>
                  <a:glow rad="63500">
                    <a:srgbClr val="001633">
                      <a:alpha val="85000"/>
                    </a:srgbClr>
                  </a:glow>
                </a:effectLst>
                <a:latin typeface="Montserrat"/>
              </a:rPr>
              <a:t>¿Acierta con datos que nunca vio?</a:t>
            </a:r>
          </a:p>
        </p:txBody>
      </p:sp>
      <p:sp>
        <p:nvSpPr>
          <p:cNvPr id="33" name="TextBox 32"/>
          <p:cNvSpPr txBox="1"/>
          <p:nvPr/>
        </p:nvSpPr>
        <p:spPr>
          <a:xfrm>
            <a:off x="8336280" y="3675887"/>
            <a:ext cx="2819400" cy="502920"/>
          </a:xfrm>
          <a:prstGeom prst="rect">
            <a:avLst/>
          </a:prstGeom>
          <a:noFill/>
        </p:spPr>
        <p:txBody>
          <a:bodyPr wrap="square" lIns="0" tIns="0" rIns="0" bIns="0" anchor="t">
            <a:spAutoFit/>
          </a:bodyPr>
          <a:lstStyle/>
          <a:p>
            <a:pPr algn="l">
              <a:spcAft>
                <a:spcPts val="600"/>
              </a:spcAft>
            </a:pPr>
            <a:r>
              <a:rPr sz="900" b="0" i="0">
                <a:solidFill>
                  <a:srgbClr val="A9B8C9"/>
                </a:solidFill>
                <a:effectLst>
                  <a:glow rad="63500">
                    <a:srgbClr val="001633">
                      <a:alpha val="85000"/>
                    </a:srgbClr>
                  </a:glow>
                </a:effectLst>
                <a:latin typeface="Montserrat"/>
              </a:rPr>
              <a:t>comparar con otra parte de los datos, que no se usó para calibrar</a:t>
            </a:r>
          </a:p>
        </p:txBody>
      </p:sp>
      <p:cxnSp>
        <p:nvCxnSpPr>
          <p:cNvPr id="34" name="Raya"/>
          <p:cNvCxnSpPr/>
          <p:nvPr/>
        </p:nvCxnSpPr>
        <p:spPr>
          <a:xfrm>
            <a:off x="8336280" y="4224528"/>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8336280" y="4279392"/>
            <a:ext cx="2819400" cy="4572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Bomba de pulpa: </a:t>
            </a:r>
            <a:r>
              <a:rPr sz="900" b="0" i="0">
                <a:solidFill>
                  <a:srgbClr val="FFFFFF"/>
                </a:solidFill>
                <a:effectLst>
                  <a:glow rad="63500">
                    <a:srgbClr val="001633">
                      <a:alpha val="85000"/>
                    </a:srgbClr>
                  </a:glow>
                </a:effectLst>
                <a:latin typeface="Montserrat"/>
              </a:rPr>
              <a:t>predecir la presión de la semana siguiente y comparar</a:t>
            </a:r>
          </a:p>
        </p:txBody>
      </p:sp>
      <p:sp>
        <p:nvSpPr>
          <p:cNvPr id="36" name="TextBox 35"/>
          <p:cNvSpPr txBox="1"/>
          <p:nvPr/>
        </p:nvSpPr>
        <p:spPr>
          <a:xfrm>
            <a:off x="1252728" y="4919472"/>
            <a:ext cx="2194560" cy="365760"/>
          </a:xfrm>
          <a:prstGeom prst="rect">
            <a:avLst/>
          </a:prstGeom>
          <a:noFill/>
        </p:spPr>
        <p:txBody>
          <a:bodyPr wrap="square" lIns="0" tIns="0" rIns="0" bIns="0" anchor="t">
            <a:spAutoFit/>
          </a:bodyPr>
          <a:lstStyle/>
          <a:p>
            <a:pPr algn="l">
              <a:spcAft>
                <a:spcPts val="0"/>
              </a:spcAft>
            </a:pPr>
            <a:r>
              <a:rPr sz="1000" b="1" i="0">
                <a:solidFill>
                  <a:srgbClr val="FFFFFF"/>
                </a:solidFill>
                <a:effectLst>
                  <a:glow rad="63500">
                    <a:srgbClr val="001633">
                      <a:alpha val="85000"/>
                    </a:srgbClr>
                  </a:glow>
                </a:effectLst>
                <a:latin typeface="Montserrat"/>
              </a:rPr>
              <a:t>Los datos se dividen</a:t>
            </a:r>
          </a:p>
          <a:p>
            <a:pPr algn="l">
              <a:spcAft>
                <a:spcPts val="0"/>
              </a:spcAft>
            </a:pPr>
            <a:r>
              <a:rPr sz="800" b="0" i="0">
                <a:solidFill>
                  <a:srgbClr val="A9B8C9"/>
                </a:solidFill>
                <a:effectLst>
                  <a:glow rad="63500">
                    <a:srgbClr val="001633">
                      <a:alpha val="85000"/>
                    </a:srgbClr>
                  </a:glow>
                </a:effectLst>
                <a:latin typeface="Montserrat"/>
              </a:rPr>
              <a:t>nunca se valida con lo mismo que se calibró</a:t>
            </a:r>
          </a:p>
        </p:txBody>
      </p:sp>
      <p:sp>
        <p:nvSpPr>
          <p:cNvPr id="37" name="Datos calibrar"/>
          <p:cNvSpPr/>
          <p:nvPr/>
        </p:nvSpPr>
        <p:spPr>
          <a:xfrm>
            <a:off x="3538728" y="4965192"/>
            <a:ext cx="3200400" cy="2926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3538728" y="4965192"/>
            <a:ext cx="3200400" cy="292608"/>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70 % · calibrar (enero a septiembre)</a:t>
            </a:r>
          </a:p>
        </p:txBody>
      </p:sp>
      <p:sp>
        <p:nvSpPr>
          <p:cNvPr id="39" name="Datos validar"/>
          <p:cNvSpPr/>
          <p:nvPr/>
        </p:nvSpPr>
        <p:spPr>
          <a:xfrm>
            <a:off x="6739128" y="4965192"/>
            <a:ext cx="1371600" cy="29260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739128" y="4965192"/>
            <a:ext cx="1371600" cy="292608"/>
          </a:xfrm>
          <a:prstGeom prst="rect">
            <a:avLst/>
          </a:prstGeom>
          <a:noFill/>
        </p:spPr>
        <p:txBody>
          <a:bodyPr wrap="square" lIns="0" tIns="0" rIns="0" bIns="0" anchor="ctr">
            <a:spAutoFit/>
          </a:bodyPr>
          <a:lstStyle/>
          <a:p>
            <a:pPr algn="ctr">
              <a:spcAft>
                <a:spcPts val="600"/>
              </a:spcAft>
            </a:pPr>
            <a:r>
              <a:rPr sz="900" b="1" i="0">
                <a:solidFill>
                  <a:srgbClr val="001633"/>
                </a:solidFill>
                <a:latin typeface="Montserrat"/>
              </a:rPr>
              <a:t>30 % · validar</a:t>
            </a:r>
          </a:p>
        </p:txBody>
      </p:sp>
      <p:sp>
        <p:nvSpPr>
          <p:cNvPr id="41" name="Error frecuente"/>
          <p:cNvSpPr/>
          <p:nvPr/>
        </p:nvSpPr>
        <p:spPr>
          <a:xfrm>
            <a:off x="8385048" y="4901184"/>
            <a:ext cx="2880360" cy="804672"/>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2" name="Ícono triangle-alert" descr="triangle-alert-orange.png"/>
          <p:cNvPicPr>
            <a:picLocks noChangeAspect="1"/>
          </p:cNvPicPr>
          <p:nvPr/>
        </p:nvPicPr>
        <p:blipFill>
          <a:blip r:embed="rId6"/>
          <a:stretch>
            <a:fillRect/>
          </a:stretch>
        </p:blipFill>
        <p:spPr>
          <a:xfrm>
            <a:off x="8494776" y="4992624"/>
            <a:ext cx="237744" cy="237744"/>
          </a:xfrm>
          <a:prstGeom prst="rect">
            <a:avLst/>
          </a:prstGeom>
        </p:spPr>
      </p:pic>
      <p:sp>
        <p:nvSpPr>
          <p:cNvPr id="43" name="TextBox 42"/>
          <p:cNvSpPr txBox="1"/>
          <p:nvPr/>
        </p:nvSpPr>
        <p:spPr>
          <a:xfrm>
            <a:off x="8823960" y="4937760"/>
            <a:ext cx="2377440" cy="749808"/>
          </a:xfrm>
          <a:prstGeom prst="rect">
            <a:avLst/>
          </a:prstGeom>
          <a:noFill/>
        </p:spPr>
        <p:txBody>
          <a:bodyPr wrap="square" lIns="0" tIns="0" rIns="0" bIns="0" anchor="t">
            <a:spAutoFit/>
          </a:bodyPr>
          <a:lstStyle/>
          <a:p>
            <a:pPr algn="l">
              <a:spcAft>
                <a:spcPts val="0"/>
              </a:spcAft>
            </a:pPr>
            <a:r>
              <a:rPr sz="1000" b="1" i="0">
                <a:solidFill>
                  <a:srgbClr val="FFAB40"/>
                </a:solidFill>
                <a:effectLst>
                  <a:glow rad="63500">
                    <a:srgbClr val="001633">
                      <a:alpha val="85000"/>
                    </a:srgbClr>
                  </a:glow>
                </a:effectLst>
                <a:latin typeface="Montserrat"/>
              </a:rPr>
              <a:t>Error frecuente</a:t>
            </a:r>
          </a:p>
          <a:p>
            <a:pPr algn="l">
              <a:spcAft>
                <a:spcPts val="0"/>
              </a:spcAft>
            </a:pPr>
            <a:r>
              <a:rPr sz="850" b="0" i="0">
                <a:solidFill>
                  <a:srgbClr val="FFFFFF"/>
                </a:solidFill>
                <a:effectLst>
                  <a:glow rad="63500">
                    <a:srgbClr val="001633">
                      <a:alpha val="85000"/>
                    </a:srgbClr>
                  </a:glow>
                </a:effectLst>
                <a:latin typeface="Montserrat"/>
              </a:rPr>
              <a:t>calibrar sin validar: los parámetros se compensan entre sí y el modelo «acierta» por las razones equivocadas.</a:t>
            </a:r>
          </a:p>
        </p:txBody>
      </p:sp>
      <p:sp>
        <p:nvSpPr>
          <p:cNvPr id="44" name="TextBox 43"/>
          <p:cNvSpPr txBox="1"/>
          <p:nvPr/>
        </p:nvSpPr>
        <p:spPr>
          <a:xfrm>
            <a:off x="1252728" y="5358384"/>
            <a:ext cx="6858000" cy="365760"/>
          </a:xfrm>
          <a:prstGeom prst="rect">
            <a:avLst/>
          </a:prstGeom>
          <a:noFill/>
        </p:spPr>
        <p:txBody>
          <a:bodyPr wrap="square" lIns="0" tIns="0" rIns="0" bIns="0" anchor="t">
            <a:spAutoFit/>
          </a:bodyPr>
          <a:lstStyle/>
          <a:p>
            <a:pPr algn="l">
              <a:spcAft>
                <a:spcPts val="600"/>
              </a:spcAft>
            </a:pPr>
            <a:r>
              <a:rPr sz="900" b="1" i="0">
                <a:solidFill>
                  <a:srgbClr val="85D5E6"/>
                </a:solidFill>
                <a:effectLst>
                  <a:glow rad="63500">
                    <a:srgbClr val="001633">
                      <a:alpha val="85000"/>
                    </a:srgbClr>
                  </a:glow>
                </a:effectLst>
                <a:latin typeface="Montserrat"/>
              </a:rPr>
              <a:t>Y cuando la faena cambia, </a:t>
            </a:r>
            <a:r>
              <a:rPr sz="900" b="0" i="0">
                <a:solidFill>
                  <a:srgbClr val="FFFFFF"/>
                </a:solidFill>
                <a:effectLst>
                  <a:glow rad="63500">
                    <a:srgbClr val="001633">
                      <a:alpha val="85000"/>
                    </a:srgbClr>
                  </a:glow>
                </a:effectLst>
                <a:latin typeface="Montserrat"/>
              </a:rPr>
              <a:t>se vuelve a calibrar y validar: eso es mantener el gemelo (decisión 6).</a:t>
            </a:r>
          </a:p>
        </p:txBody>
      </p:sp>
      <p:sp>
        <p:nvSpPr>
          <p:cNvPr id="45"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Verificación, validación y cuantificación de incertidumbre (VVUQ): National Academies (2024), capítulo I · ejemplos ilustrativos</a:t>
            </a:r>
          </a:p>
        </p:txBody>
      </p:sp>
      <p:sp>
        <p:nvSpPr>
          <p:cNvPr id="4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I actual"/>
          <p:cNvSpPr/>
          <p:nvPr/>
        </p:nvSpPr>
        <p:spPr>
          <a:xfrm>
            <a:off x="5001768" y="6510528"/>
            <a:ext cx="8627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15/31 </a:t>
            </a:r>
            <a:r>
              <a:rPr sz="1000" b="0" i="0">
                <a:solidFill>
                  <a:srgbClr val="A9B8C9"/>
                </a:solidFill>
                <a:effectLst>
                  <a:glow rad="63500">
                    <a:srgbClr val="001633">
                      <a:alpha val="85000"/>
                    </a:srgbClr>
                  </a:glow>
                </a:effectLst>
                <a:latin typeface="Montserrat"/>
              </a:rPr>
              <a:t>· Gemelos Digitales para Minería 4.0 · 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Cada equipo trae su propio modelo: el gemelo necesita integrarlos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En cualquier proceso, cada equipo llega con el modelo de su proveedor, en su herramienta. Cada modelo es correcto por separado, pero el proceso solo se entiende si se hablan. Ejemplo: un circuito de molienda SAG.</a:t>
            </a:r>
          </a:p>
        </p:txBody>
      </p:sp>
      <p:sp>
        <p:nvSpPr>
          <p:cNvPr id="7" name="TextBox 6"/>
          <p:cNvSpPr txBox="1"/>
          <p:nvPr/>
        </p:nvSpPr>
        <p:spPr>
          <a:xfrm>
            <a:off x="1252728" y="2432304"/>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EJEMPLO · CIRCUITO DE MOLIENDA SAG (el mismo patrón se repite en chancado y correas, flotación, relaves o ventilación)</a:t>
            </a:r>
          </a:p>
        </p:txBody>
      </p:sp>
      <p:sp>
        <p:nvSpPr>
          <p:cNvPr id="8" name="Equipo Molino SAG"/>
          <p:cNvSpPr/>
          <p:nvPr/>
        </p:nvSpPr>
        <p:spPr>
          <a:xfrm>
            <a:off x="1252728" y="2697480"/>
            <a:ext cx="2297430" cy="1874519"/>
          </a:xfrm>
          <a:prstGeom prst="rect">
            <a:avLst/>
          </a:prstGeom>
          <a:solidFill>
            <a:srgbClr val="0B264A"/>
          </a:solidFill>
          <a:ln w="19050">
            <a:solidFill>
              <a:srgbClr val="3D8B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Molino SAG"/>
          <p:cNvSpPr/>
          <p:nvPr/>
        </p:nvSpPr>
        <p:spPr>
          <a:xfrm>
            <a:off x="1389888" y="2788920"/>
            <a:ext cx="502920" cy="502920"/>
          </a:xfrm>
          <a:prstGeom prst="ellipse">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0" name="Ícono cog" descr="cog-white.png"/>
          <p:cNvPicPr>
            <a:picLocks noChangeAspect="1"/>
          </p:cNvPicPr>
          <p:nvPr/>
        </p:nvPicPr>
        <p:blipFill>
          <a:blip r:embed="rId3"/>
          <a:stretch>
            <a:fillRect/>
          </a:stretch>
        </p:blipFill>
        <p:spPr>
          <a:xfrm>
            <a:off x="1500530" y="2899562"/>
            <a:ext cx="281635" cy="281635"/>
          </a:xfrm>
          <a:prstGeom prst="rect">
            <a:avLst/>
          </a:prstGeom>
        </p:spPr>
      </p:pic>
      <p:sp>
        <p:nvSpPr>
          <p:cNvPr id="11" name="TextBox 10"/>
          <p:cNvSpPr txBox="1"/>
          <p:nvPr/>
        </p:nvSpPr>
        <p:spPr>
          <a:xfrm>
            <a:off x="1984248" y="2761488"/>
            <a:ext cx="147447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Molino SAG</a:t>
            </a:r>
          </a:p>
          <a:p>
            <a:pPr algn="l">
              <a:spcAft>
                <a:spcPts val="0"/>
              </a:spcAft>
            </a:pPr>
            <a:r>
              <a:rPr sz="850" b="1" i="0">
                <a:solidFill>
                  <a:srgbClr val="FFAB40"/>
                </a:solidFill>
                <a:effectLst>
                  <a:glow rad="63500">
                    <a:srgbClr val="001633">
                      <a:alpha val="85000"/>
                    </a:srgbClr>
                  </a:glow>
                </a:effectLst>
                <a:latin typeface="Montserrat"/>
              </a:rPr>
              <a:t>fabricante del molino</a:t>
            </a:r>
          </a:p>
        </p:txBody>
      </p:sp>
      <p:sp>
        <p:nvSpPr>
          <p:cNvPr id="12" name="TextBox 11"/>
          <p:cNvSpPr txBox="1"/>
          <p:nvPr/>
        </p:nvSpPr>
        <p:spPr>
          <a:xfrm>
            <a:off x="1389888" y="3364992"/>
            <a:ext cx="206883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Herramienta: </a:t>
            </a:r>
            <a:r>
              <a:rPr sz="850" b="0" i="0">
                <a:solidFill>
                  <a:srgbClr val="FFFFFF"/>
                </a:solidFill>
                <a:effectLst>
                  <a:glow rad="63500">
                    <a:srgbClr val="001633">
                      <a:alpha val="85000"/>
                    </a:srgbClr>
                  </a:glow>
                </a:effectLst>
                <a:latin typeface="Montserrat"/>
              </a:rPr>
              <a:t>su software de carga y potencia</a:t>
            </a:r>
          </a:p>
        </p:txBody>
      </p:sp>
      <p:cxnSp>
        <p:nvCxnSpPr>
          <p:cNvPr id="13" name="Separador"/>
          <p:cNvCxnSpPr/>
          <p:nvPr/>
        </p:nvCxnSpPr>
        <p:spPr>
          <a:xfrm>
            <a:off x="1389888" y="3767328"/>
            <a:ext cx="202311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389888" y="3840480"/>
            <a:ext cx="2068830" cy="777240"/>
          </a:xfrm>
          <a:prstGeom prst="rect">
            <a:avLst/>
          </a:prstGeom>
          <a:noFill/>
        </p:spPr>
        <p:txBody>
          <a:bodyPr wrap="square" lIns="0" tIns="0" rIns="0" bIns="0" anchor="t">
            <a:spAutoFit/>
          </a:bodyPr>
          <a:lstStyle/>
          <a:p>
            <a:pPr algn="l">
              <a:spcAft>
                <a:spcPts val="300"/>
              </a:spcAft>
            </a:pPr>
            <a:r>
              <a:rPr sz="850" b="1" i="0">
                <a:solidFill>
                  <a:srgbClr val="85D5E6"/>
                </a:solidFill>
                <a:effectLst>
                  <a:glow rad="63500">
                    <a:srgbClr val="001633">
                      <a:alpha val="85000"/>
                    </a:srgbClr>
                  </a:glow>
                </a:effectLst>
                <a:latin typeface="Montserrat"/>
              </a:rPr>
              <a:t>Entrega ▸ </a:t>
            </a:r>
            <a:r>
              <a:rPr sz="850" b="0" i="0">
                <a:solidFill>
                  <a:srgbClr val="FFFFFF"/>
                </a:solidFill>
                <a:effectLst>
                  <a:glow rad="63500">
                    <a:srgbClr val="001633">
                      <a:alpha val="85000"/>
                    </a:srgbClr>
                  </a:glow>
                </a:effectLst>
                <a:latin typeface="Montserrat"/>
              </a:rPr>
              <a:t>potencia, nivel de carga</a:t>
            </a:r>
          </a:p>
          <a:p>
            <a:pPr algn="l">
              <a:spcAft>
                <a:spcPts val="300"/>
              </a:spcAft>
            </a:pPr>
            <a:r>
              <a:rPr sz="850" b="1" i="0">
                <a:solidFill>
                  <a:srgbClr val="FFAB40"/>
                </a:solidFill>
                <a:effectLst>
                  <a:glow rad="63500">
                    <a:srgbClr val="001633">
                      <a:alpha val="85000"/>
                    </a:srgbClr>
                  </a:glow>
                </a:effectLst>
                <a:latin typeface="Montserrat"/>
              </a:rPr>
              <a:t>Necesita ◂ </a:t>
            </a:r>
            <a:r>
              <a:rPr sz="850" b="0" i="0">
                <a:solidFill>
                  <a:srgbClr val="FFFFFF"/>
                </a:solidFill>
                <a:effectLst>
                  <a:glow rad="63500">
                    <a:srgbClr val="001633">
                      <a:alpha val="85000"/>
                    </a:srgbClr>
                  </a:glow>
                </a:effectLst>
                <a:latin typeface="Montserrat"/>
              </a:rPr>
              <a:t>tonelaje, dureza</a:t>
            </a:r>
          </a:p>
        </p:txBody>
      </p:sp>
      <p:sp>
        <p:nvSpPr>
          <p:cNvPr id="15" name="TextBox 14"/>
          <p:cNvSpPr txBox="1"/>
          <p:nvPr/>
        </p:nvSpPr>
        <p:spPr>
          <a:xfrm>
            <a:off x="3550158" y="3429000"/>
            <a:ext cx="274320" cy="365760"/>
          </a:xfrm>
          <a:prstGeom prst="rect">
            <a:avLst/>
          </a:prstGeom>
          <a:noFill/>
        </p:spPr>
        <p:txBody>
          <a:bodyPr wrap="square" lIns="0" tIns="0" rIns="0" bIns="0" anchor="ctr">
            <a:spAutoFit/>
          </a:bodyPr>
          <a:lstStyle/>
          <a:p>
            <a:pPr algn="ctr">
              <a:spcAft>
                <a:spcPts val="600"/>
              </a:spcAft>
            </a:pPr>
            <a:r>
              <a:rPr sz="1400" b="1" i="0">
                <a:solidFill>
                  <a:srgbClr val="FFAB40"/>
                </a:solidFill>
                <a:effectLst>
                  <a:glow rad="63500">
                    <a:srgbClr val="001633">
                      <a:alpha val="85000"/>
                    </a:srgbClr>
                  </a:glow>
                </a:effectLst>
                <a:latin typeface="Montserrat"/>
              </a:rPr>
              <a:t>✕</a:t>
            </a:r>
          </a:p>
        </p:txBody>
      </p:sp>
      <p:sp>
        <p:nvSpPr>
          <p:cNvPr id="16" name="Equipo Accionamiento"/>
          <p:cNvSpPr/>
          <p:nvPr/>
        </p:nvSpPr>
        <p:spPr>
          <a:xfrm>
            <a:off x="3824478" y="2697480"/>
            <a:ext cx="2297430" cy="1874519"/>
          </a:xfrm>
          <a:prstGeom prst="rect">
            <a:avLst/>
          </a:prstGeom>
          <a:solidFill>
            <a:srgbClr val="0B264A"/>
          </a:solidFill>
          <a:ln w="19050">
            <a:solidFill>
              <a:srgbClr val="2BA8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Accionamiento"/>
          <p:cNvSpPr/>
          <p:nvPr/>
        </p:nvSpPr>
        <p:spPr>
          <a:xfrm>
            <a:off x="3961638" y="2788920"/>
            <a:ext cx="502920" cy="502920"/>
          </a:xfrm>
          <a:prstGeom prst="ellipse">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8" name="Ícono zap" descr="zap-white.png"/>
          <p:cNvPicPr>
            <a:picLocks noChangeAspect="1"/>
          </p:cNvPicPr>
          <p:nvPr/>
        </p:nvPicPr>
        <p:blipFill>
          <a:blip r:embed="rId4"/>
          <a:stretch>
            <a:fillRect/>
          </a:stretch>
        </p:blipFill>
        <p:spPr>
          <a:xfrm>
            <a:off x="4072280" y="2899562"/>
            <a:ext cx="281635" cy="281635"/>
          </a:xfrm>
          <a:prstGeom prst="rect">
            <a:avLst/>
          </a:prstGeom>
        </p:spPr>
      </p:pic>
      <p:sp>
        <p:nvSpPr>
          <p:cNvPr id="19" name="TextBox 18"/>
          <p:cNvSpPr txBox="1"/>
          <p:nvPr/>
        </p:nvSpPr>
        <p:spPr>
          <a:xfrm>
            <a:off x="4555998" y="2761488"/>
            <a:ext cx="147447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Accionamiento</a:t>
            </a:r>
          </a:p>
          <a:p>
            <a:pPr algn="l">
              <a:spcAft>
                <a:spcPts val="0"/>
              </a:spcAft>
            </a:pPr>
            <a:r>
              <a:rPr sz="850" b="1" i="0">
                <a:solidFill>
                  <a:srgbClr val="FFAB40"/>
                </a:solidFill>
                <a:effectLst>
                  <a:glow rad="63500">
                    <a:srgbClr val="001633">
                      <a:alpha val="85000"/>
                    </a:srgbClr>
                  </a:glow>
                </a:effectLst>
                <a:latin typeface="Montserrat"/>
              </a:rPr>
              <a:t>fabricante eléctrico</a:t>
            </a:r>
          </a:p>
        </p:txBody>
      </p:sp>
      <p:sp>
        <p:nvSpPr>
          <p:cNvPr id="20" name="TextBox 19"/>
          <p:cNvSpPr txBox="1"/>
          <p:nvPr/>
        </p:nvSpPr>
        <p:spPr>
          <a:xfrm>
            <a:off x="3961638" y="3364992"/>
            <a:ext cx="206883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Herramienta: </a:t>
            </a:r>
            <a:r>
              <a:rPr sz="850" b="0" i="0">
                <a:solidFill>
                  <a:srgbClr val="FFFFFF"/>
                </a:solidFill>
                <a:effectLst>
                  <a:glow rad="63500">
                    <a:srgbClr val="001633">
                      <a:alpha val="85000"/>
                    </a:srgbClr>
                  </a:glow>
                </a:effectLst>
                <a:latin typeface="Montserrat"/>
              </a:rPr>
              <a:t>Modelica o Simulink</a:t>
            </a:r>
          </a:p>
        </p:txBody>
      </p:sp>
      <p:cxnSp>
        <p:nvCxnSpPr>
          <p:cNvPr id="21" name="Separador"/>
          <p:cNvCxnSpPr/>
          <p:nvPr/>
        </p:nvCxnSpPr>
        <p:spPr>
          <a:xfrm>
            <a:off x="3961638" y="3767328"/>
            <a:ext cx="202311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3961638" y="3840480"/>
            <a:ext cx="2068830" cy="777240"/>
          </a:xfrm>
          <a:prstGeom prst="rect">
            <a:avLst/>
          </a:prstGeom>
          <a:noFill/>
        </p:spPr>
        <p:txBody>
          <a:bodyPr wrap="square" lIns="0" tIns="0" rIns="0" bIns="0" anchor="t">
            <a:spAutoFit/>
          </a:bodyPr>
          <a:lstStyle/>
          <a:p>
            <a:pPr algn="l">
              <a:spcAft>
                <a:spcPts val="300"/>
              </a:spcAft>
            </a:pPr>
            <a:r>
              <a:rPr sz="850" b="1" i="0">
                <a:solidFill>
                  <a:srgbClr val="85D5E6"/>
                </a:solidFill>
                <a:effectLst>
                  <a:glow rad="63500">
                    <a:srgbClr val="001633">
                      <a:alpha val="85000"/>
                    </a:srgbClr>
                  </a:glow>
                </a:effectLst>
                <a:latin typeface="Montserrat"/>
              </a:rPr>
              <a:t>Entrega ▸ </a:t>
            </a:r>
            <a:r>
              <a:rPr sz="850" b="0" i="0">
                <a:solidFill>
                  <a:srgbClr val="FFFFFF"/>
                </a:solidFill>
                <a:effectLst>
                  <a:glow rad="63500">
                    <a:srgbClr val="001633">
                      <a:alpha val="85000"/>
                    </a:srgbClr>
                  </a:glow>
                </a:effectLst>
                <a:latin typeface="Montserrat"/>
              </a:rPr>
              <a:t>torque, velocidad</a:t>
            </a:r>
          </a:p>
          <a:p>
            <a:pPr algn="l">
              <a:spcAft>
                <a:spcPts val="300"/>
              </a:spcAft>
            </a:pPr>
            <a:r>
              <a:rPr sz="850" b="1" i="0">
                <a:solidFill>
                  <a:srgbClr val="FFAB40"/>
                </a:solidFill>
                <a:effectLst>
                  <a:glow rad="63500">
                    <a:srgbClr val="001633">
                      <a:alpha val="85000"/>
                    </a:srgbClr>
                  </a:glow>
                </a:effectLst>
                <a:latin typeface="Montserrat"/>
              </a:rPr>
              <a:t>Necesita ◂ </a:t>
            </a:r>
            <a:r>
              <a:rPr sz="850" b="0" i="0">
                <a:solidFill>
                  <a:srgbClr val="FFFFFF"/>
                </a:solidFill>
                <a:effectLst>
                  <a:glow rad="63500">
                    <a:srgbClr val="001633">
                      <a:alpha val="85000"/>
                    </a:srgbClr>
                  </a:glow>
                </a:effectLst>
                <a:latin typeface="Montserrat"/>
              </a:rPr>
              <a:t>potencia pedida</a:t>
            </a:r>
          </a:p>
        </p:txBody>
      </p:sp>
      <p:sp>
        <p:nvSpPr>
          <p:cNvPr id="23" name="TextBox 22"/>
          <p:cNvSpPr txBox="1"/>
          <p:nvPr/>
        </p:nvSpPr>
        <p:spPr>
          <a:xfrm>
            <a:off x="6121908" y="3429000"/>
            <a:ext cx="274320" cy="365760"/>
          </a:xfrm>
          <a:prstGeom prst="rect">
            <a:avLst/>
          </a:prstGeom>
          <a:noFill/>
        </p:spPr>
        <p:txBody>
          <a:bodyPr wrap="square" lIns="0" tIns="0" rIns="0" bIns="0" anchor="ctr">
            <a:spAutoFit/>
          </a:bodyPr>
          <a:lstStyle/>
          <a:p>
            <a:pPr algn="ctr">
              <a:spcAft>
                <a:spcPts val="600"/>
              </a:spcAft>
            </a:pPr>
            <a:r>
              <a:rPr sz="1400" b="1" i="0">
                <a:solidFill>
                  <a:srgbClr val="FFAB40"/>
                </a:solidFill>
                <a:effectLst>
                  <a:glow rad="63500">
                    <a:srgbClr val="001633">
                      <a:alpha val="85000"/>
                    </a:srgbClr>
                  </a:glow>
                </a:effectLst>
                <a:latin typeface="Montserrat"/>
              </a:rPr>
              <a:t>✕</a:t>
            </a:r>
          </a:p>
        </p:txBody>
      </p:sp>
      <p:sp>
        <p:nvSpPr>
          <p:cNvPr id="24" name="Equipo Ciclones y bombas"/>
          <p:cNvSpPr/>
          <p:nvPr/>
        </p:nvSpPr>
        <p:spPr>
          <a:xfrm>
            <a:off x="6396228" y="2697480"/>
            <a:ext cx="2297430" cy="1874519"/>
          </a:xfrm>
          <a:prstGeom prst="rect">
            <a:avLst/>
          </a:prstGeom>
          <a:solidFill>
            <a:srgbClr val="0B264A"/>
          </a:solidFill>
          <a:ln w="19050">
            <a:solidFill>
              <a:srgbClr val="9B6BD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iclones y bombas"/>
          <p:cNvSpPr/>
          <p:nvPr/>
        </p:nvSpPr>
        <p:spPr>
          <a:xfrm>
            <a:off x="6533388" y="2788920"/>
            <a:ext cx="502920" cy="502920"/>
          </a:xfrm>
          <a:prstGeom prst="ellipse">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waves" descr="waves-white.png"/>
          <p:cNvPicPr>
            <a:picLocks noChangeAspect="1"/>
          </p:cNvPicPr>
          <p:nvPr/>
        </p:nvPicPr>
        <p:blipFill>
          <a:blip r:embed="rId5"/>
          <a:stretch>
            <a:fillRect/>
          </a:stretch>
        </p:blipFill>
        <p:spPr>
          <a:xfrm>
            <a:off x="6644030" y="2899562"/>
            <a:ext cx="281635" cy="281635"/>
          </a:xfrm>
          <a:prstGeom prst="rect">
            <a:avLst/>
          </a:prstGeom>
        </p:spPr>
      </p:pic>
      <p:sp>
        <p:nvSpPr>
          <p:cNvPr id="27" name="TextBox 26"/>
          <p:cNvSpPr txBox="1"/>
          <p:nvPr/>
        </p:nvSpPr>
        <p:spPr>
          <a:xfrm>
            <a:off x="7127748" y="2761488"/>
            <a:ext cx="147447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Ciclones y bombas</a:t>
            </a:r>
          </a:p>
          <a:p>
            <a:pPr algn="l">
              <a:spcAft>
                <a:spcPts val="0"/>
              </a:spcAft>
            </a:pPr>
            <a:r>
              <a:rPr sz="850" b="1" i="0">
                <a:solidFill>
                  <a:srgbClr val="FFAB40"/>
                </a:solidFill>
                <a:effectLst>
                  <a:glow rad="63500">
                    <a:srgbClr val="001633">
                      <a:alpha val="85000"/>
                    </a:srgbClr>
                  </a:glow>
                </a:effectLst>
                <a:latin typeface="Montserrat"/>
              </a:rPr>
              <a:t>ingeniería de proceso</a:t>
            </a:r>
          </a:p>
        </p:txBody>
      </p:sp>
      <p:sp>
        <p:nvSpPr>
          <p:cNvPr id="28" name="TextBox 27"/>
          <p:cNvSpPr txBox="1"/>
          <p:nvPr/>
        </p:nvSpPr>
        <p:spPr>
          <a:xfrm>
            <a:off x="6533388" y="3364992"/>
            <a:ext cx="206883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Herramienta: </a:t>
            </a:r>
            <a:r>
              <a:rPr sz="850" b="0" i="0">
                <a:solidFill>
                  <a:srgbClr val="FFFFFF"/>
                </a:solidFill>
                <a:effectLst>
                  <a:glow rad="63500">
                    <a:srgbClr val="001633">
                      <a:alpha val="85000"/>
                    </a:srgbClr>
                  </a:glow>
                </a:effectLst>
                <a:latin typeface="Montserrat"/>
              </a:rPr>
              <a:t>simulador de proceso</a:t>
            </a:r>
          </a:p>
        </p:txBody>
      </p:sp>
      <p:cxnSp>
        <p:nvCxnSpPr>
          <p:cNvPr id="29" name="Separador"/>
          <p:cNvCxnSpPr/>
          <p:nvPr/>
        </p:nvCxnSpPr>
        <p:spPr>
          <a:xfrm>
            <a:off x="6533388" y="3767328"/>
            <a:ext cx="202311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533388" y="3840480"/>
            <a:ext cx="2068830" cy="777240"/>
          </a:xfrm>
          <a:prstGeom prst="rect">
            <a:avLst/>
          </a:prstGeom>
          <a:noFill/>
        </p:spPr>
        <p:txBody>
          <a:bodyPr wrap="square" lIns="0" tIns="0" rIns="0" bIns="0" anchor="t">
            <a:spAutoFit/>
          </a:bodyPr>
          <a:lstStyle/>
          <a:p>
            <a:pPr algn="l">
              <a:spcAft>
                <a:spcPts val="300"/>
              </a:spcAft>
            </a:pPr>
            <a:r>
              <a:rPr sz="850" b="1" i="0">
                <a:solidFill>
                  <a:srgbClr val="85D5E6"/>
                </a:solidFill>
                <a:effectLst>
                  <a:glow rad="63500">
                    <a:srgbClr val="001633">
                      <a:alpha val="85000"/>
                    </a:srgbClr>
                  </a:glow>
                </a:effectLst>
                <a:latin typeface="Montserrat"/>
              </a:rPr>
              <a:t>Entrega ▸ </a:t>
            </a:r>
            <a:r>
              <a:rPr sz="850" b="0" i="0">
                <a:solidFill>
                  <a:srgbClr val="FFFFFF"/>
                </a:solidFill>
                <a:effectLst>
                  <a:glow rad="63500">
                    <a:srgbClr val="001633">
                      <a:alpha val="85000"/>
                    </a:srgbClr>
                  </a:glow>
                </a:effectLst>
                <a:latin typeface="Montserrat"/>
              </a:rPr>
              <a:t>carga circulante, P80</a:t>
            </a:r>
          </a:p>
          <a:p>
            <a:pPr algn="l">
              <a:spcAft>
                <a:spcPts val="300"/>
              </a:spcAft>
            </a:pPr>
            <a:r>
              <a:rPr sz="850" b="1" i="0">
                <a:solidFill>
                  <a:srgbClr val="FFAB40"/>
                </a:solidFill>
                <a:effectLst>
                  <a:glow rad="63500">
                    <a:srgbClr val="001633">
                      <a:alpha val="85000"/>
                    </a:srgbClr>
                  </a:glow>
                </a:effectLst>
                <a:latin typeface="Montserrat"/>
              </a:rPr>
              <a:t>Necesita ◂ </a:t>
            </a:r>
            <a:r>
              <a:rPr sz="850" b="0" i="0">
                <a:solidFill>
                  <a:srgbClr val="FFFFFF"/>
                </a:solidFill>
                <a:effectLst>
                  <a:glow rad="63500">
                    <a:srgbClr val="001633">
                      <a:alpha val="85000"/>
                    </a:srgbClr>
                  </a:glow>
                </a:effectLst>
                <a:latin typeface="Montserrat"/>
              </a:rPr>
              <a:t>descarga del molino</a:t>
            </a:r>
          </a:p>
        </p:txBody>
      </p:sp>
      <p:sp>
        <p:nvSpPr>
          <p:cNvPr id="31" name="TextBox 30"/>
          <p:cNvSpPr txBox="1"/>
          <p:nvPr/>
        </p:nvSpPr>
        <p:spPr>
          <a:xfrm>
            <a:off x="8693658" y="3429000"/>
            <a:ext cx="274320" cy="365760"/>
          </a:xfrm>
          <a:prstGeom prst="rect">
            <a:avLst/>
          </a:prstGeom>
          <a:noFill/>
        </p:spPr>
        <p:txBody>
          <a:bodyPr wrap="square" lIns="0" tIns="0" rIns="0" bIns="0" anchor="ctr">
            <a:spAutoFit/>
          </a:bodyPr>
          <a:lstStyle/>
          <a:p>
            <a:pPr algn="ctr">
              <a:spcAft>
                <a:spcPts val="600"/>
              </a:spcAft>
            </a:pPr>
            <a:r>
              <a:rPr sz="1400" b="1" i="0">
                <a:solidFill>
                  <a:srgbClr val="FFAB40"/>
                </a:solidFill>
                <a:effectLst>
                  <a:glow rad="63500">
                    <a:srgbClr val="001633">
                      <a:alpha val="85000"/>
                    </a:srgbClr>
                  </a:glow>
                </a:effectLst>
                <a:latin typeface="Montserrat"/>
              </a:rPr>
              <a:t>✕</a:t>
            </a:r>
          </a:p>
        </p:txBody>
      </p:sp>
      <p:sp>
        <p:nvSpPr>
          <p:cNvPr id="32" name="Equipo Control avanzado"/>
          <p:cNvSpPr/>
          <p:nvPr/>
        </p:nvSpPr>
        <p:spPr>
          <a:xfrm>
            <a:off x="8967978" y="2697480"/>
            <a:ext cx="2297430" cy="1874519"/>
          </a:xfrm>
          <a:prstGeom prst="rect">
            <a:avLst/>
          </a:prstGeom>
          <a:solidFill>
            <a:srgbClr val="0B264A"/>
          </a:solidFill>
          <a:ln w="19050">
            <a:solidFill>
              <a:srgbClr val="E0565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Control avanzado"/>
          <p:cNvSpPr/>
          <p:nvPr/>
        </p:nvSpPr>
        <p:spPr>
          <a:xfrm>
            <a:off x="9105138" y="2788920"/>
            <a:ext cx="502920" cy="502920"/>
          </a:xfrm>
          <a:prstGeom prst="ellipse">
            <a:avLst/>
          </a:prstGeom>
          <a:solidFill>
            <a:srgbClr val="E0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Ícono sliders-horizontal" descr="sliders-horizontal-white.png"/>
          <p:cNvPicPr>
            <a:picLocks noChangeAspect="1"/>
          </p:cNvPicPr>
          <p:nvPr/>
        </p:nvPicPr>
        <p:blipFill>
          <a:blip r:embed="rId6"/>
          <a:stretch>
            <a:fillRect/>
          </a:stretch>
        </p:blipFill>
        <p:spPr>
          <a:xfrm>
            <a:off x="9215780" y="2899562"/>
            <a:ext cx="281635" cy="281635"/>
          </a:xfrm>
          <a:prstGeom prst="rect">
            <a:avLst/>
          </a:prstGeom>
        </p:spPr>
      </p:pic>
      <p:sp>
        <p:nvSpPr>
          <p:cNvPr id="35" name="TextBox 34"/>
          <p:cNvSpPr txBox="1"/>
          <p:nvPr/>
        </p:nvSpPr>
        <p:spPr>
          <a:xfrm>
            <a:off x="9699498" y="2761488"/>
            <a:ext cx="1474470" cy="548640"/>
          </a:xfrm>
          <a:prstGeom prst="rect">
            <a:avLst/>
          </a:prstGeom>
          <a:noFill/>
        </p:spPr>
        <p:txBody>
          <a:bodyPr wrap="square" lIns="0" tIns="0" rIns="0" bIns="0" anchor="ctr">
            <a:spAutoFit/>
          </a:bodyPr>
          <a:lstStyle/>
          <a:p>
            <a:pPr algn="l">
              <a:spcAft>
                <a:spcPts val="0"/>
              </a:spcAft>
            </a:pPr>
            <a:r>
              <a:rPr sz="1200" b="1" i="0">
                <a:solidFill>
                  <a:srgbClr val="FFFFFF"/>
                </a:solidFill>
                <a:effectLst>
                  <a:glow rad="63500">
                    <a:srgbClr val="001633">
                      <a:alpha val="85000"/>
                    </a:srgbClr>
                  </a:glow>
                </a:effectLst>
                <a:latin typeface="Montserrat"/>
              </a:rPr>
              <a:t>Control avanzado</a:t>
            </a:r>
          </a:p>
          <a:p>
            <a:pPr algn="l">
              <a:spcAft>
                <a:spcPts val="0"/>
              </a:spcAft>
            </a:pPr>
            <a:r>
              <a:rPr sz="850" b="1" i="0">
                <a:solidFill>
                  <a:srgbClr val="FFAB40"/>
                </a:solidFill>
                <a:effectLst>
                  <a:glow rad="63500">
                    <a:srgbClr val="001633">
                      <a:alpha val="85000"/>
                    </a:srgbClr>
                  </a:glow>
                </a:effectLst>
                <a:latin typeface="Montserrat"/>
              </a:rPr>
              <a:t>proveedor del control</a:t>
            </a:r>
          </a:p>
        </p:txBody>
      </p:sp>
      <p:sp>
        <p:nvSpPr>
          <p:cNvPr id="36" name="TextBox 35"/>
          <p:cNvSpPr txBox="1"/>
          <p:nvPr/>
        </p:nvSpPr>
        <p:spPr>
          <a:xfrm>
            <a:off x="9105138" y="3364992"/>
            <a:ext cx="2068830" cy="27432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Herramienta: </a:t>
            </a:r>
            <a:r>
              <a:rPr sz="850" b="0" i="0">
                <a:solidFill>
                  <a:srgbClr val="FFFFFF"/>
                </a:solidFill>
                <a:effectLst>
                  <a:glow rad="63500">
                    <a:srgbClr val="001633">
                      <a:alpha val="85000"/>
                    </a:srgbClr>
                  </a:glow>
                </a:effectLst>
                <a:latin typeface="Montserrat"/>
              </a:rPr>
              <a:t>modelo interno del MPC, cerrado</a:t>
            </a:r>
          </a:p>
        </p:txBody>
      </p:sp>
      <p:cxnSp>
        <p:nvCxnSpPr>
          <p:cNvPr id="37" name="Separador"/>
          <p:cNvCxnSpPr/>
          <p:nvPr/>
        </p:nvCxnSpPr>
        <p:spPr>
          <a:xfrm>
            <a:off x="9105138" y="3767328"/>
            <a:ext cx="2023110"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105138" y="3840480"/>
            <a:ext cx="2068830" cy="777240"/>
          </a:xfrm>
          <a:prstGeom prst="rect">
            <a:avLst/>
          </a:prstGeom>
          <a:noFill/>
        </p:spPr>
        <p:txBody>
          <a:bodyPr wrap="square" lIns="0" tIns="0" rIns="0" bIns="0" anchor="t">
            <a:spAutoFit/>
          </a:bodyPr>
          <a:lstStyle/>
          <a:p>
            <a:pPr algn="l">
              <a:spcAft>
                <a:spcPts val="300"/>
              </a:spcAft>
            </a:pPr>
            <a:r>
              <a:rPr sz="850" b="1" i="0">
                <a:solidFill>
                  <a:srgbClr val="85D5E6"/>
                </a:solidFill>
                <a:effectLst>
                  <a:glow rad="63500">
                    <a:srgbClr val="001633">
                      <a:alpha val="85000"/>
                    </a:srgbClr>
                  </a:glow>
                </a:effectLst>
                <a:latin typeface="Montserrat"/>
              </a:rPr>
              <a:t>Entrega ▸ </a:t>
            </a:r>
            <a:r>
              <a:rPr sz="850" b="0" i="0">
                <a:solidFill>
                  <a:srgbClr val="FFFFFF"/>
                </a:solidFill>
                <a:effectLst>
                  <a:glow rad="63500">
                    <a:srgbClr val="001633">
                      <a:alpha val="85000"/>
                    </a:srgbClr>
                  </a:glow>
                </a:effectLst>
                <a:latin typeface="Montserrat"/>
              </a:rPr>
              <a:t>consignas de alimentación</a:t>
            </a:r>
          </a:p>
          <a:p>
            <a:pPr algn="l">
              <a:spcAft>
                <a:spcPts val="300"/>
              </a:spcAft>
            </a:pPr>
            <a:r>
              <a:rPr sz="850" b="1" i="0">
                <a:solidFill>
                  <a:srgbClr val="FFAB40"/>
                </a:solidFill>
                <a:effectLst>
                  <a:glow rad="63500">
                    <a:srgbClr val="001633">
                      <a:alpha val="85000"/>
                    </a:srgbClr>
                  </a:glow>
                </a:effectLst>
                <a:latin typeface="Montserrat"/>
              </a:rPr>
              <a:t>Necesita ◂ </a:t>
            </a:r>
            <a:r>
              <a:rPr sz="850" b="0" i="0">
                <a:solidFill>
                  <a:srgbClr val="FFFFFF"/>
                </a:solidFill>
                <a:effectLst>
                  <a:glow rad="63500">
                    <a:srgbClr val="001633">
                      <a:alpha val="85000"/>
                    </a:srgbClr>
                  </a:glow>
                </a:effectLst>
                <a:latin typeface="Montserrat"/>
              </a:rPr>
              <a:t>potencia, P80</a:t>
            </a:r>
          </a:p>
        </p:txBody>
      </p:sp>
      <p:sp>
        <p:nvSpPr>
          <p:cNvPr id="39" name="TextBox 38"/>
          <p:cNvSpPr txBox="1"/>
          <p:nvPr/>
        </p:nvSpPr>
        <p:spPr>
          <a:xfrm>
            <a:off x="1252728" y="4663440"/>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POR QUÉ HAY QUE UNIRLOS: UN CAMBIO RECORRE TODO EL PROCESO</a:t>
            </a:r>
          </a:p>
        </p:txBody>
      </p:sp>
      <p:sp>
        <p:nvSpPr>
          <p:cNvPr id="40" name="Efecto 0"/>
          <p:cNvSpPr/>
          <p:nvPr/>
        </p:nvSpPr>
        <p:spPr>
          <a:xfrm>
            <a:off x="1252728" y="4919472"/>
            <a:ext cx="1783080" cy="438912"/>
          </a:xfrm>
          <a:prstGeom prst="rect">
            <a:avLst/>
          </a:prstGeom>
          <a:solidFill>
            <a:srgbClr val="12335E"/>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1298448" y="4919472"/>
            <a:ext cx="1691640" cy="438912"/>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sube la dureza</a:t>
            </a:r>
          </a:p>
        </p:txBody>
      </p:sp>
      <p:cxnSp>
        <p:nvCxnSpPr>
          <p:cNvPr id="42" name="Connector 41"/>
          <p:cNvCxnSpPr/>
          <p:nvPr/>
        </p:nvCxnSpPr>
        <p:spPr>
          <a:xfrm>
            <a:off x="3063240" y="5138928"/>
            <a:ext cx="2194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Efecto 1"/>
          <p:cNvSpPr/>
          <p:nvPr/>
        </p:nvSpPr>
        <p:spPr>
          <a:xfrm>
            <a:off x="3310128" y="4919472"/>
            <a:ext cx="1783080" cy="438912"/>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3355848" y="4919472"/>
            <a:ext cx="1691640" cy="438912"/>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el molino pide más potencia</a:t>
            </a:r>
          </a:p>
        </p:txBody>
      </p:sp>
      <p:cxnSp>
        <p:nvCxnSpPr>
          <p:cNvPr id="45" name="Connector 44"/>
          <p:cNvCxnSpPr/>
          <p:nvPr/>
        </p:nvCxnSpPr>
        <p:spPr>
          <a:xfrm>
            <a:off x="5120640" y="5138928"/>
            <a:ext cx="2194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Efecto 2"/>
          <p:cNvSpPr/>
          <p:nvPr/>
        </p:nvSpPr>
        <p:spPr>
          <a:xfrm>
            <a:off x="5367528" y="4919472"/>
            <a:ext cx="1783080" cy="438912"/>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5413248" y="4919472"/>
            <a:ext cx="1691640" cy="438912"/>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el accionamiento llega a su límite</a:t>
            </a:r>
          </a:p>
        </p:txBody>
      </p:sp>
      <p:cxnSp>
        <p:nvCxnSpPr>
          <p:cNvPr id="48" name="Connector 47"/>
          <p:cNvCxnSpPr/>
          <p:nvPr/>
        </p:nvCxnSpPr>
        <p:spPr>
          <a:xfrm>
            <a:off x="7178040" y="5138928"/>
            <a:ext cx="2194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Efecto 3"/>
          <p:cNvSpPr/>
          <p:nvPr/>
        </p:nvSpPr>
        <p:spPr>
          <a:xfrm>
            <a:off x="7424928" y="4919472"/>
            <a:ext cx="1783080" cy="438912"/>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7470648" y="4919472"/>
            <a:ext cx="1691640" cy="438912"/>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el control baja la alimentación</a:t>
            </a:r>
          </a:p>
        </p:txBody>
      </p:sp>
      <p:cxnSp>
        <p:nvCxnSpPr>
          <p:cNvPr id="51" name="Connector 50"/>
          <p:cNvCxnSpPr/>
          <p:nvPr/>
        </p:nvCxnSpPr>
        <p:spPr>
          <a:xfrm>
            <a:off x="9235440" y="5138928"/>
            <a:ext cx="219456" cy="0"/>
          </a:xfrm>
          <a:prstGeom prst="line">
            <a:avLst/>
          </a:prstGeom>
          <a:ln w="190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Efecto 4"/>
          <p:cNvSpPr/>
          <p:nvPr/>
        </p:nvSpPr>
        <p:spPr>
          <a:xfrm>
            <a:off x="9482328" y="4919472"/>
            <a:ext cx="1783080" cy="438912"/>
          </a:xfrm>
          <a:prstGeom prst="rect">
            <a:avLst/>
          </a:prstGeom>
          <a:solidFill>
            <a:srgbClr val="12335E"/>
          </a:solidFill>
          <a:ln w="1270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528048" y="4919472"/>
            <a:ext cx="1691640" cy="438912"/>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cambia el P80 a flotación</a:t>
            </a:r>
          </a:p>
        </p:txBody>
      </p:sp>
      <p:sp>
        <p:nvSpPr>
          <p:cNvPr id="54" name="TextBox 53"/>
          <p:cNvSpPr txBox="1"/>
          <p:nvPr/>
        </p:nvSpPr>
        <p:spPr>
          <a:xfrm>
            <a:off x="1252728" y="5486400"/>
            <a:ext cx="10012680" cy="27432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La pregunta de esta decisión: </a:t>
            </a:r>
            <a:r>
              <a:rPr sz="1000" b="0" i="0">
                <a:solidFill>
                  <a:srgbClr val="FFFFFF"/>
                </a:solidFill>
                <a:effectLst>
                  <a:glow rad="63500">
                    <a:srgbClr val="001633">
                      <a:alpha val="85000"/>
                    </a:srgbClr>
                  </a:glow>
                </a:effectLst>
                <a:latin typeface="Montserrat"/>
              </a:rPr>
              <a:t>¿cómo se simula el proceso completo si cada pieza está en una herramienta distinta y algunas son cerradas?</a:t>
            </a:r>
          </a:p>
        </p:txBody>
      </p:sp>
      <p:sp>
        <p:nvSpPr>
          <p:cNvPr id="55"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Caso ilustrativo con roles genéricos, sin proveedores reales</a:t>
            </a:r>
          </a:p>
        </p:txBody>
      </p:sp>
      <p:sp>
        <p:nvSpPr>
          <p:cNvPr id="56"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7"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0"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63"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III actual"/>
          <p:cNvSpPr/>
          <p:nvPr/>
        </p:nvSpPr>
        <p:spPr>
          <a:xfrm>
            <a:off x="5001768" y="6510528"/>
            <a:ext cx="920299"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5"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6"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16/31 </a:t>
            </a:r>
            <a:r>
              <a:rPr sz="1000" b="0" i="0">
                <a:solidFill>
                  <a:srgbClr val="A9B8C9"/>
                </a:solidFill>
                <a:effectLst>
                  <a:glow rad="63500">
                    <a:srgbClr val="001633">
                      <a:alpha val="85000"/>
                    </a:srgbClr>
                  </a:glow>
                </a:effectLst>
                <a:latin typeface="Montserrat"/>
              </a:rPr>
              <a:t>· Gemelos Digitales para Minería 4.0 · 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 FMU: un modelo empaquetado que cualquier herramienta puede abrir</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786384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FMI (Functional Mock-up Interface) define cómo empaquetar un modelo. El proveedor exporta su modelo como FMU y cualquier otra herramienta lo importa, sin ver el código.</a:t>
            </a:r>
          </a:p>
        </p:txBody>
      </p:sp>
      <p:sp>
        <p:nvSpPr>
          <p:cNvPr id="7" name="Placa fmi"/>
          <p:cNvSpPr/>
          <p:nvPr/>
        </p:nvSpPr>
        <p:spPr>
          <a:xfrm>
            <a:off x="9619488" y="1783080"/>
            <a:ext cx="1645920" cy="5943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Logo fmi" descr="logo-fmi.png"/>
          <p:cNvPicPr>
            <a:picLocks noChangeAspect="1"/>
          </p:cNvPicPr>
          <p:nvPr/>
        </p:nvPicPr>
        <p:blipFill>
          <a:blip r:embed="rId3"/>
          <a:stretch>
            <a:fillRect/>
          </a:stretch>
        </p:blipFill>
        <p:spPr>
          <a:xfrm>
            <a:off x="9764312" y="1837944"/>
            <a:ext cx="1356272" cy="484632"/>
          </a:xfrm>
          <a:prstGeom prst="rect">
            <a:avLst/>
          </a:prstGeom>
        </p:spPr>
      </p:pic>
      <p:sp>
        <p:nvSpPr>
          <p:cNvPr id="9" name="TextBox 8"/>
          <p:cNvSpPr txBox="1"/>
          <p:nvPr/>
        </p:nvSpPr>
        <p:spPr>
          <a:xfrm>
            <a:off x="1252728" y="2587752"/>
            <a:ext cx="27432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SE CONSTRUYE EN…</a:t>
            </a:r>
          </a:p>
        </p:txBody>
      </p:sp>
      <p:sp>
        <p:nvSpPr>
          <p:cNvPr id="10" name="Placa modelica"/>
          <p:cNvSpPr/>
          <p:nvPr/>
        </p:nvSpPr>
        <p:spPr>
          <a:xfrm>
            <a:off x="1252728" y="2834640"/>
            <a:ext cx="822960" cy="411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Logo modelica" descr="logo-modelica.png"/>
          <p:cNvPicPr>
            <a:picLocks noChangeAspect="1"/>
          </p:cNvPicPr>
          <p:nvPr/>
        </p:nvPicPr>
        <p:blipFill>
          <a:blip r:embed="rId4"/>
          <a:stretch>
            <a:fillRect/>
          </a:stretch>
        </p:blipFill>
        <p:spPr>
          <a:xfrm>
            <a:off x="1362841" y="2889504"/>
            <a:ext cx="602734" cy="301752"/>
          </a:xfrm>
          <a:prstGeom prst="rect">
            <a:avLst/>
          </a:prstGeom>
        </p:spPr>
      </p:pic>
      <p:sp>
        <p:nvSpPr>
          <p:cNvPr id="12" name="Placa simulink"/>
          <p:cNvSpPr/>
          <p:nvPr/>
        </p:nvSpPr>
        <p:spPr>
          <a:xfrm>
            <a:off x="2167128" y="2834640"/>
            <a:ext cx="822960" cy="411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3" name="Logo simulink" descr="logo-simulink.png"/>
          <p:cNvPicPr>
            <a:picLocks noChangeAspect="1"/>
          </p:cNvPicPr>
          <p:nvPr/>
        </p:nvPicPr>
        <p:blipFill>
          <a:blip r:embed="rId5"/>
          <a:stretch>
            <a:fillRect/>
          </a:stretch>
        </p:blipFill>
        <p:spPr>
          <a:xfrm>
            <a:off x="2221992" y="2976699"/>
            <a:ext cx="713232" cy="127362"/>
          </a:xfrm>
          <a:prstGeom prst="rect">
            <a:avLst/>
          </a:prstGeom>
        </p:spPr>
      </p:pic>
      <p:sp>
        <p:nvSpPr>
          <p:cNvPr id="14" name="Placa matlab"/>
          <p:cNvSpPr/>
          <p:nvPr/>
        </p:nvSpPr>
        <p:spPr>
          <a:xfrm>
            <a:off x="3081528" y="2834640"/>
            <a:ext cx="822960" cy="411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5" name="Logo matlab" descr="logo-matlab.png"/>
          <p:cNvPicPr>
            <a:picLocks noChangeAspect="1"/>
          </p:cNvPicPr>
          <p:nvPr/>
        </p:nvPicPr>
        <p:blipFill>
          <a:blip r:embed="rId6"/>
          <a:stretch>
            <a:fillRect/>
          </a:stretch>
        </p:blipFill>
        <p:spPr>
          <a:xfrm>
            <a:off x="3324490" y="2889504"/>
            <a:ext cx="337035" cy="301752"/>
          </a:xfrm>
          <a:prstGeom prst="rect">
            <a:avLst/>
          </a:prstGeom>
        </p:spPr>
      </p:pic>
      <p:sp>
        <p:nvSpPr>
          <p:cNvPr id="16" name="TextBox 15"/>
          <p:cNvSpPr txBox="1"/>
          <p:nvPr/>
        </p:nvSpPr>
        <p:spPr>
          <a:xfrm>
            <a:off x="1252728" y="3291840"/>
            <a:ext cx="274320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o el software del fabricante</a:t>
            </a:r>
          </a:p>
        </p:txBody>
      </p:sp>
      <p:cxnSp>
        <p:nvCxnSpPr>
          <p:cNvPr id="17" name="Exportar"/>
          <p:cNvCxnSpPr/>
          <p:nvPr/>
        </p:nvCxnSpPr>
        <p:spPr>
          <a:xfrm>
            <a:off x="4041648" y="3044952"/>
            <a:ext cx="640080" cy="0"/>
          </a:xfrm>
          <a:prstGeom prst="line">
            <a:avLst/>
          </a:prstGeom>
          <a:ln w="3175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995928" y="3108960"/>
            <a:ext cx="731520" cy="228600"/>
          </a:xfrm>
          <a:prstGeom prst="rect">
            <a:avLst/>
          </a:prstGeom>
          <a:noFill/>
        </p:spPr>
        <p:txBody>
          <a:bodyPr wrap="square" lIns="0" tIns="0" rIns="0" bIns="0" anchor="t">
            <a:spAutoFit/>
          </a:bodyPr>
          <a:lstStyle/>
          <a:p>
            <a:pPr algn="ctr">
              <a:spcAft>
                <a:spcPts val="600"/>
              </a:spcAft>
            </a:pPr>
            <a:r>
              <a:rPr sz="850" b="1" i="0">
                <a:solidFill>
                  <a:srgbClr val="FFAB40"/>
                </a:solidFill>
                <a:effectLst>
                  <a:glow rad="63500">
                    <a:srgbClr val="001633">
                      <a:alpha val="85000"/>
                    </a:srgbClr>
                  </a:glow>
                </a:effectLst>
                <a:latin typeface="Montserrat"/>
              </a:rPr>
              <a:t>exporta</a:t>
            </a:r>
          </a:p>
        </p:txBody>
      </p:sp>
      <p:sp>
        <p:nvSpPr>
          <p:cNvPr id="19" name="FMU"/>
          <p:cNvSpPr/>
          <p:nvPr/>
        </p:nvSpPr>
        <p:spPr>
          <a:xfrm>
            <a:off x="4727448" y="2651760"/>
            <a:ext cx="2286000" cy="822960"/>
          </a:xfrm>
          <a:prstGeom prst="round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Ícono box" descr="box-navy.png"/>
          <p:cNvPicPr>
            <a:picLocks noChangeAspect="1"/>
          </p:cNvPicPr>
          <p:nvPr/>
        </p:nvPicPr>
        <p:blipFill>
          <a:blip r:embed="rId7"/>
          <a:stretch>
            <a:fillRect/>
          </a:stretch>
        </p:blipFill>
        <p:spPr>
          <a:xfrm>
            <a:off x="4864608" y="2862072"/>
            <a:ext cx="384048" cy="384048"/>
          </a:xfrm>
          <a:prstGeom prst="rect">
            <a:avLst/>
          </a:prstGeom>
        </p:spPr>
      </p:pic>
      <p:sp>
        <p:nvSpPr>
          <p:cNvPr id="21" name="TextBox 20"/>
          <p:cNvSpPr txBox="1"/>
          <p:nvPr/>
        </p:nvSpPr>
        <p:spPr>
          <a:xfrm>
            <a:off x="5321808" y="2651760"/>
            <a:ext cx="1645920" cy="822960"/>
          </a:xfrm>
          <a:prstGeom prst="rect">
            <a:avLst/>
          </a:prstGeom>
          <a:noFill/>
        </p:spPr>
        <p:txBody>
          <a:bodyPr wrap="square" lIns="0" tIns="0" rIns="0" bIns="0" anchor="ctr">
            <a:spAutoFit/>
          </a:bodyPr>
          <a:lstStyle/>
          <a:p>
            <a:pPr algn="l">
              <a:spcAft>
                <a:spcPts val="0"/>
              </a:spcAft>
            </a:pPr>
            <a:r>
              <a:rPr sz="1400" b="1" i="0">
                <a:solidFill>
                  <a:srgbClr val="001633"/>
                </a:solidFill>
                <a:latin typeface="Montserrat"/>
              </a:rPr>
              <a:t>modelo.fmu</a:t>
            </a:r>
          </a:p>
          <a:p>
            <a:pPr algn="l">
              <a:spcAft>
                <a:spcPts val="0"/>
              </a:spcAft>
            </a:pPr>
            <a:r>
              <a:rPr sz="900" b="0" i="0">
                <a:solidFill>
                  <a:srgbClr val="001633"/>
                </a:solidFill>
                <a:latin typeface="Montserrat"/>
              </a:rPr>
              <a:t>un solo archivo</a:t>
            </a:r>
          </a:p>
        </p:txBody>
      </p:sp>
      <p:cxnSp>
        <p:nvCxnSpPr>
          <p:cNvPr id="22" name="Importar"/>
          <p:cNvCxnSpPr/>
          <p:nvPr/>
        </p:nvCxnSpPr>
        <p:spPr>
          <a:xfrm>
            <a:off x="7059168" y="3044952"/>
            <a:ext cx="640080" cy="0"/>
          </a:xfrm>
          <a:prstGeom prst="line">
            <a:avLst/>
          </a:prstGeom>
          <a:ln w="317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013448" y="3108960"/>
            <a:ext cx="731520" cy="228600"/>
          </a:xfrm>
          <a:prstGeom prst="rect">
            <a:avLst/>
          </a:prstGeom>
          <a:noFill/>
        </p:spPr>
        <p:txBody>
          <a:bodyPr wrap="square" lIns="0" tIns="0" rIns="0" bIns="0" anchor="t">
            <a:spAutoFit/>
          </a:bodyPr>
          <a:lstStyle/>
          <a:p>
            <a:pPr algn="ctr">
              <a:spcAft>
                <a:spcPts val="600"/>
              </a:spcAft>
            </a:pPr>
            <a:r>
              <a:rPr sz="850" b="1" i="0">
                <a:solidFill>
                  <a:srgbClr val="85D5E6"/>
                </a:solidFill>
                <a:effectLst>
                  <a:glow rad="63500">
                    <a:srgbClr val="001633">
                      <a:alpha val="85000"/>
                    </a:srgbClr>
                  </a:glow>
                </a:effectLst>
                <a:latin typeface="Montserrat"/>
              </a:rPr>
              <a:t>importa</a:t>
            </a:r>
          </a:p>
        </p:txBody>
      </p:sp>
      <p:sp>
        <p:nvSpPr>
          <p:cNvPr id="24" name="TextBox 23"/>
          <p:cNvSpPr txBox="1"/>
          <p:nvPr/>
        </p:nvSpPr>
        <p:spPr>
          <a:xfrm>
            <a:off x="7744968" y="2587752"/>
            <a:ext cx="32004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…Y CORRE EN</a:t>
            </a:r>
          </a:p>
        </p:txBody>
      </p:sp>
      <p:sp>
        <p:nvSpPr>
          <p:cNvPr id="25" name="Placa python"/>
          <p:cNvSpPr/>
          <p:nvPr/>
        </p:nvSpPr>
        <p:spPr>
          <a:xfrm>
            <a:off x="7744968" y="2834640"/>
            <a:ext cx="822960" cy="4114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Logo python" descr="logo-python.png"/>
          <p:cNvPicPr>
            <a:picLocks noChangeAspect="1"/>
          </p:cNvPicPr>
          <p:nvPr/>
        </p:nvPicPr>
        <p:blipFill>
          <a:blip r:embed="rId8"/>
          <a:stretch>
            <a:fillRect/>
          </a:stretch>
        </p:blipFill>
        <p:spPr>
          <a:xfrm>
            <a:off x="8005572" y="2889504"/>
            <a:ext cx="301752" cy="301752"/>
          </a:xfrm>
          <a:prstGeom prst="rect">
            <a:avLst/>
          </a:prstGeom>
        </p:spPr>
      </p:pic>
      <p:sp>
        <p:nvSpPr>
          <p:cNvPr id="27" name="Etiqueta plataforma del gemelo"/>
          <p:cNvSpPr/>
          <p:nvPr/>
        </p:nvSpPr>
        <p:spPr>
          <a:xfrm>
            <a:off x="8659368" y="2834640"/>
            <a:ext cx="1188720" cy="41148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8659368" y="2834640"/>
            <a:ext cx="1188720" cy="411480"/>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plataforma del gemelo</a:t>
            </a:r>
          </a:p>
        </p:txBody>
      </p:sp>
      <p:sp>
        <p:nvSpPr>
          <p:cNvPr id="29" name="Etiqueta otra herramienta"/>
          <p:cNvSpPr/>
          <p:nvPr/>
        </p:nvSpPr>
        <p:spPr>
          <a:xfrm>
            <a:off x="9939528" y="2834640"/>
            <a:ext cx="1188720" cy="41148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939528" y="2834640"/>
            <a:ext cx="1188720" cy="411480"/>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otra herramienta</a:t>
            </a:r>
          </a:p>
        </p:txBody>
      </p:sp>
      <p:sp>
        <p:nvSpPr>
          <p:cNvPr id="31" name="TextBox 30"/>
          <p:cNvSpPr txBox="1"/>
          <p:nvPr/>
        </p:nvSpPr>
        <p:spPr>
          <a:xfrm>
            <a:off x="7744968" y="3291840"/>
            <a:ext cx="3474720" cy="27432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291 herramientas declaran soporte FMI</a:t>
            </a:r>
          </a:p>
        </p:txBody>
      </p:sp>
      <p:sp>
        <p:nvSpPr>
          <p:cNvPr id="32" name="TextBox 31"/>
          <p:cNvSpPr txBox="1"/>
          <p:nvPr/>
        </p:nvSpPr>
        <p:spPr>
          <a:xfrm>
            <a:off x="1252728" y="3794760"/>
            <a:ext cx="4846320" cy="22860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QUÉ HAY DENTRO DEL ARCHIVO</a:t>
            </a:r>
          </a:p>
        </p:txBody>
      </p:sp>
      <p:sp>
        <p:nvSpPr>
          <p:cNvPr id="33" name="Parte modelDescription.xml"/>
          <p:cNvSpPr/>
          <p:nvPr/>
        </p:nvSpPr>
        <p:spPr>
          <a:xfrm>
            <a:off x="1252728" y="4069080"/>
            <a:ext cx="4846320" cy="457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Ícono file-text" descr="file-text-orange.png"/>
          <p:cNvPicPr>
            <a:picLocks noChangeAspect="1"/>
          </p:cNvPicPr>
          <p:nvPr/>
        </p:nvPicPr>
        <p:blipFill>
          <a:blip r:embed="rId9"/>
          <a:stretch>
            <a:fillRect/>
          </a:stretch>
        </p:blipFill>
        <p:spPr>
          <a:xfrm>
            <a:off x="1389888" y="4169664"/>
            <a:ext cx="256032" cy="256032"/>
          </a:xfrm>
          <a:prstGeom prst="rect">
            <a:avLst/>
          </a:prstGeom>
        </p:spPr>
      </p:pic>
      <p:sp>
        <p:nvSpPr>
          <p:cNvPr id="35" name="TextBox 34"/>
          <p:cNvSpPr txBox="1"/>
          <p:nvPr/>
        </p:nvSpPr>
        <p:spPr>
          <a:xfrm>
            <a:off x="1801368" y="4069080"/>
            <a:ext cx="4206240" cy="457200"/>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modelDescription.xml</a:t>
            </a:r>
          </a:p>
          <a:p>
            <a:pPr algn="l">
              <a:spcAft>
                <a:spcPts val="0"/>
              </a:spcAft>
            </a:pPr>
            <a:r>
              <a:rPr sz="850" b="0" i="0">
                <a:solidFill>
                  <a:srgbClr val="A9B8C9"/>
                </a:solidFill>
                <a:effectLst>
                  <a:glow rad="63500">
                    <a:srgbClr val="001633">
                      <a:alpha val="85000"/>
                    </a:srgbClr>
                  </a:glow>
                </a:effectLst>
                <a:latin typeface="Montserrat"/>
              </a:rPr>
              <a:t>la interfaz: entradas, salidas, parámetros y unidades</a:t>
            </a:r>
          </a:p>
        </p:txBody>
      </p:sp>
      <p:sp>
        <p:nvSpPr>
          <p:cNvPr id="36" name="Parte binarios"/>
          <p:cNvSpPr/>
          <p:nvPr/>
        </p:nvSpPr>
        <p:spPr>
          <a:xfrm>
            <a:off x="1252728" y="4590287"/>
            <a:ext cx="4846320" cy="457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7" name="Ícono cpu" descr="cpu-orange.png"/>
          <p:cNvPicPr>
            <a:picLocks noChangeAspect="1"/>
          </p:cNvPicPr>
          <p:nvPr/>
        </p:nvPicPr>
        <p:blipFill>
          <a:blip r:embed="rId10"/>
          <a:stretch>
            <a:fillRect/>
          </a:stretch>
        </p:blipFill>
        <p:spPr>
          <a:xfrm>
            <a:off x="1389888" y="4690871"/>
            <a:ext cx="256032" cy="256032"/>
          </a:xfrm>
          <a:prstGeom prst="rect">
            <a:avLst/>
          </a:prstGeom>
        </p:spPr>
      </p:pic>
      <p:sp>
        <p:nvSpPr>
          <p:cNvPr id="38" name="TextBox 37"/>
          <p:cNvSpPr txBox="1"/>
          <p:nvPr/>
        </p:nvSpPr>
        <p:spPr>
          <a:xfrm>
            <a:off x="1801368" y="4590287"/>
            <a:ext cx="4206240" cy="457200"/>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binarios</a:t>
            </a:r>
          </a:p>
          <a:p>
            <a:pPr algn="l">
              <a:spcAft>
                <a:spcPts val="0"/>
              </a:spcAft>
            </a:pPr>
            <a:r>
              <a:rPr sz="850" b="0" i="0">
                <a:solidFill>
                  <a:srgbClr val="A9B8C9"/>
                </a:solidFill>
                <a:effectLst>
                  <a:glow rad="63500">
                    <a:srgbClr val="001633">
                      <a:alpha val="85000"/>
                    </a:srgbClr>
                  </a:glow>
                </a:effectLst>
                <a:latin typeface="Montserrat"/>
              </a:rPr>
              <a:t>el modelo compilado para Windows o Linux</a:t>
            </a:r>
          </a:p>
        </p:txBody>
      </p:sp>
      <p:sp>
        <p:nvSpPr>
          <p:cNvPr id="39" name="Parte recursos"/>
          <p:cNvSpPr/>
          <p:nvPr/>
        </p:nvSpPr>
        <p:spPr>
          <a:xfrm>
            <a:off x="1252728" y="5111494"/>
            <a:ext cx="4846320" cy="4572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Ícono boxes" descr="boxes-orange.png"/>
          <p:cNvPicPr>
            <a:picLocks noChangeAspect="1"/>
          </p:cNvPicPr>
          <p:nvPr/>
        </p:nvPicPr>
        <p:blipFill>
          <a:blip r:embed="rId11"/>
          <a:stretch>
            <a:fillRect/>
          </a:stretch>
        </p:blipFill>
        <p:spPr>
          <a:xfrm>
            <a:off x="1389888" y="5212078"/>
            <a:ext cx="256032" cy="256032"/>
          </a:xfrm>
          <a:prstGeom prst="rect">
            <a:avLst/>
          </a:prstGeom>
        </p:spPr>
      </p:pic>
      <p:sp>
        <p:nvSpPr>
          <p:cNvPr id="41" name="TextBox 40"/>
          <p:cNvSpPr txBox="1"/>
          <p:nvPr/>
        </p:nvSpPr>
        <p:spPr>
          <a:xfrm>
            <a:off x="1801368" y="5111494"/>
            <a:ext cx="4206240" cy="457200"/>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recursos</a:t>
            </a:r>
          </a:p>
          <a:p>
            <a:pPr algn="l">
              <a:spcAft>
                <a:spcPts val="0"/>
              </a:spcAft>
            </a:pPr>
            <a:r>
              <a:rPr sz="850" b="0" i="0">
                <a:solidFill>
                  <a:srgbClr val="A9B8C9"/>
                </a:solidFill>
                <a:effectLst>
                  <a:glow rad="63500">
                    <a:srgbClr val="001633">
                      <a:alpha val="85000"/>
                    </a:srgbClr>
                  </a:glow>
                </a:effectLst>
                <a:latin typeface="Montserrat"/>
              </a:rPr>
              <a:t>tablas y datos que el modelo necesita</a:t>
            </a:r>
          </a:p>
        </p:txBody>
      </p:sp>
      <p:sp>
        <p:nvSpPr>
          <p:cNvPr id="42" name="TextBox 41"/>
          <p:cNvSpPr txBox="1"/>
          <p:nvPr/>
        </p:nvSpPr>
        <p:spPr>
          <a:xfrm>
            <a:off x="6419088" y="3794760"/>
            <a:ext cx="484632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DOS FORMAS DE USARLA</a:t>
            </a:r>
          </a:p>
        </p:txBody>
      </p:sp>
      <p:sp>
        <p:nvSpPr>
          <p:cNvPr id="43" name="Modo Model Exchange"/>
          <p:cNvSpPr/>
          <p:nvPr/>
        </p:nvSpPr>
        <p:spPr>
          <a:xfrm>
            <a:off x="6419088" y="4069080"/>
            <a:ext cx="2331720" cy="1517904"/>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556248" y="4142232"/>
            <a:ext cx="2103120" cy="274320"/>
          </a:xfrm>
          <a:prstGeom prst="rect">
            <a:avLst/>
          </a:prstGeom>
          <a:noFill/>
        </p:spPr>
        <p:txBody>
          <a:bodyPr wrap="square" lIns="0" tIns="0" rIns="0" bIns="0" anchor="t">
            <a:spAutoFit/>
          </a:bodyPr>
          <a:lstStyle/>
          <a:p>
            <a:pPr algn="l">
              <a:spcAft>
                <a:spcPts val="600"/>
              </a:spcAft>
            </a:pPr>
            <a:r>
              <a:rPr sz="1100" b="1" i="0">
                <a:solidFill>
                  <a:srgbClr val="FFFFFF"/>
                </a:solidFill>
                <a:effectLst>
                  <a:glow rad="63500">
                    <a:srgbClr val="001633">
                      <a:alpha val="85000"/>
                    </a:srgbClr>
                  </a:glow>
                </a:effectLst>
                <a:latin typeface="Montserrat"/>
              </a:rPr>
              <a:t>Model Exchange</a:t>
            </a:r>
          </a:p>
        </p:txBody>
      </p:sp>
      <p:sp>
        <p:nvSpPr>
          <p:cNvPr id="45" name="TextBox 44"/>
          <p:cNvSpPr txBox="1"/>
          <p:nvPr/>
        </p:nvSpPr>
        <p:spPr>
          <a:xfrm>
            <a:off x="6556248" y="4453128"/>
            <a:ext cx="2103120" cy="6400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entrega sus ecuaciones; la herramienta que la recibe pone el solver</a:t>
            </a:r>
          </a:p>
        </p:txBody>
      </p:sp>
      <p:sp>
        <p:nvSpPr>
          <p:cNvPr id="46" name="TextBox 45"/>
          <p:cNvSpPr txBox="1"/>
          <p:nvPr/>
        </p:nvSpPr>
        <p:spPr>
          <a:xfrm>
            <a:off x="6556248" y="5029200"/>
            <a:ext cx="210312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sumar un motor a un modelo mayor</a:t>
            </a:r>
          </a:p>
        </p:txBody>
      </p:sp>
      <p:sp>
        <p:nvSpPr>
          <p:cNvPr id="47" name="Modo Co-Simulation"/>
          <p:cNvSpPr/>
          <p:nvPr/>
        </p:nvSpPr>
        <p:spPr>
          <a:xfrm>
            <a:off x="8933688" y="4069080"/>
            <a:ext cx="2331720" cy="1517904"/>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9070848" y="4142232"/>
            <a:ext cx="2103120" cy="274320"/>
          </a:xfrm>
          <a:prstGeom prst="rect">
            <a:avLst/>
          </a:prstGeom>
          <a:noFill/>
        </p:spPr>
        <p:txBody>
          <a:bodyPr wrap="square" lIns="0" tIns="0" rIns="0" bIns="0" anchor="t">
            <a:spAutoFit/>
          </a:bodyPr>
          <a:lstStyle/>
          <a:p>
            <a:pPr algn="l">
              <a:spcAft>
                <a:spcPts val="600"/>
              </a:spcAft>
            </a:pPr>
            <a:r>
              <a:rPr sz="1100" b="1" i="0">
                <a:solidFill>
                  <a:srgbClr val="85D5E6"/>
                </a:solidFill>
                <a:effectLst>
                  <a:glow rad="63500">
                    <a:srgbClr val="001633">
                      <a:alpha val="85000"/>
                    </a:srgbClr>
                  </a:glow>
                </a:effectLst>
                <a:latin typeface="Montserrat"/>
              </a:rPr>
              <a:t>Co-Simulation</a:t>
            </a:r>
          </a:p>
        </p:txBody>
      </p:sp>
      <p:sp>
        <p:nvSpPr>
          <p:cNvPr id="49" name="TextBox 48"/>
          <p:cNvSpPr txBox="1"/>
          <p:nvPr/>
        </p:nvSpPr>
        <p:spPr>
          <a:xfrm>
            <a:off x="9070848" y="4453128"/>
            <a:ext cx="2103120" cy="6400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trae su propio solver; solo intercambia valores cada cierto paso</a:t>
            </a:r>
          </a:p>
        </p:txBody>
      </p:sp>
      <p:sp>
        <p:nvSpPr>
          <p:cNvPr id="50" name="TextBox 49"/>
          <p:cNvSpPr txBox="1"/>
          <p:nvPr/>
        </p:nvSpPr>
        <p:spPr>
          <a:xfrm>
            <a:off x="9070848" y="5029200"/>
            <a:ext cx="210312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el modelo cerrado de un fabricante</a:t>
            </a:r>
          </a:p>
        </p:txBody>
      </p:sp>
      <p:sp>
        <p:nvSpPr>
          <p:cNvPr id="51" name="TextBox 50"/>
          <p:cNvSpPr txBox="1"/>
          <p:nvPr/>
        </p:nvSpPr>
        <p:spPr>
          <a:xfrm>
            <a:off x="1252728" y="5650992"/>
            <a:ext cx="10012680" cy="2286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FMI 2.0 </a:t>
            </a:r>
            <a:r>
              <a:rPr sz="900" b="0" i="0">
                <a:solidFill>
                  <a:srgbClr val="FFFFFF"/>
                </a:solidFill>
                <a:effectLst>
                  <a:glow rad="63500">
                    <a:srgbClr val="001633">
                      <a:alpha val="85000"/>
                    </a:srgbClr>
                  </a:glow>
                </a:effectLst>
                <a:latin typeface="Montserrat"/>
              </a:rPr>
              <a:t>es el más soportado hoy; </a:t>
            </a:r>
            <a:r>
              <a:rPr sz="900" b="1" i="0">
                <a:solidFill>
                  <a:srgbClr val="FFAB40"/>
                </a:solidFill>
                <a:effectLst>
                  <a:glow rad="63500">
                    <a:srgbClr val="001633">
                      <a:alpha val="85000"/>
                    </a:srgbClr>
                  </a:glow>
                </a:effectLst>
                <a:latin typeface="Montserrat"/>
              </a:rPr>
              <a:t>FMI 3.0 </a:t>
            </a:r>
            <a:r>
              <a:rPr sz="900" b="0" i="0">
                <a:solidFill>
                  <a:srgbClr val="FFFFFF"/>
                </a:solidFill>
                <a:effectLst>
                  <a:glow rad="63500">
                    <a:srgbClr val="001633">
                      <a:alpha val="85000"/>
                    </a:srgbClr>
                  </a:glow>
                </a:effectLst>
                <a:latin typeface="Montserrat"/>
              </a:rPr>
              <a:t>agrega arreglos, relojes y más tipos de datos: revisar que todas las herramientas lo soporten.</a:t>
            </a:r>
          </a:p>
        </p:txBody>
      </p:sp>
      <p:sp>
        <p:nvSpPr>
          <p:cNvPr id="5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Functional Mock-up Interface, Modelica Association [19] · conteo de herramientas: fmi-standard.org/tools, consultado el 13 de octubre de 2026</a:t>
            </a:r>
          </a:p>
        </p:txBody>
      </p:sp>
      <p:sp>
        <p:nvSpPr>
          <p:cNvPr id="5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6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I actual"/>
          <p:cNvSpPr/>
          <p:nvPr/>
        </p:nvSpPr>
        <p:spPr>
          <a:xfrm>
            <a:off x="5001768" y="6510528"/>
            <a:ext cx="977818"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17/31 </a:t>
            </a:r>
            <a:r>
              <a:rPr sz="1000" b="0" i="0">
                <a:solidFill>
                  <a:srgbClr val="A9B8C9"/>
                </a:solidFill>
                <a:effectLst>
                  <a:glow rad="63500">
                    <a:srgbClr val="001633">
                      <a:alpha val="85000"/>
                    </a:srgbClr>
                  </a:glow>
                </a:effectLst>
                <a:latin typeface="Montserrat"/>
              </a:rPr>
              <a:t>· Gemelos Digitales para Minería 4.0 · 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La interfaz de la FMU es un contrato: declara todo lo que el otro necesita saber</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Quien recibe la FMU no ve las ecuaciones: solo ve su interfaz. Cada variable declara seis campos; lo que no está declarado no existe para el otro proveedor.</a:t>
            </a:r>
          </a:p>
        </p:txBody>
      </p:sp>
      <p:sp>
        <p:nvSpPr>
          <p:cNvPr id="7" name="TextBox 6"/>
          <p:cNvSpPr txBox="1"/>
          <p:nvPr/>
        </p:nvSpPr>
        <p:spPr>
          <a:xfrm>
            <a:off x="1362456" y="2450592"/>
            <a:ext cx="16002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CAMPO</a:t>
            </a:r>
          </a:p>
        </p:txBody>
      </p:sp>
      <p:sp>
        <p:nvSpPr>
          <p:cNvPr id="8" name="TextBox 7"/>
          <p:cNvSpPr txBox="1"/>
          <p:nvPr/>
        </p:nvSpPr>
        <p:spPr>
          <a:xfrm>
            <a:off x="3054096" y="2450592"/>
            <a:ext cx="283464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QUÉ DEFINE</a:t>
            </a:r>
          </a:p>
        </p:txBody>
      </p:sp>
      <p:sp>
        <p:nvSpPr>
          <p:cNvPr id="9" name="TextBox 8"/>
          <p:cNvSpPr txBox="1"/>
          <p:nvPr/>
        </p:nvSpPr>
        <p:spPr>
          <a:xfrm>
            <a:off x="5980176" y="2450592"/>
            <a:ext cx="2331720" cy="228600"/>
          </a:xfrm>
          <a:prstGeom prst="rect">
            <a:avLst/>
          </a:prstGeom>
          <a:noFill/>
        </p:spPr>
        <p:txBody>
          <a:bodyPr wrap="square" lIns="0" tIns="0" rIns="0" bIns="0" anchor="t">
            <a:spAutoFit/>
          </a:bodyPr>
          <a:lstStyle/>
          <a:p>
            <a:pPr algn="l">
              <a:spcAft>
                <a:spcPts val="600"/>
              </a:spcAft>
            </a:pPr>
            <a:r>
              <a:rPr sz="800" b="1" i="0">
                <a:solidFill>
                  <a:srgbClr val="FFAB40"/>
                </a:solidFill>
                <a:effectLst>
                  <a:glow rad="63500">
                    <a:srgbClr val="001633">
                      <a:alpha val="85000"/>
                    </a:srgbClr>
                  </a:glow>
                </a:effectLst>
                <a:latin typeface="Montserrat"/>
              </a:rPr>
              <a:t>EJEMPLO · potencia_eje</a:t>
            </a:r>
          </a:p>
        </p:txBody>
      </p:sp>
      <p:sp>
        <p:nvSpPr>
          <p:cNvPr id="10" name="Campo Nombre"/>
          <p:cNvSpPr/>
          <p:nvPr/>
        </p:nvSpPr>
        <p:spPr>
          <a:xfrm>
            <a:off x="1252728" y="2697480"/>
            <a:ext cx="6949440" cy="40233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1362456" y="2697480"/>
            <a:ext cx="1600200" cy="40233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Nombre</a:t>
            </a:r>
          </a:p>
        </p:txBody>
      </p:sp>
      <p:sp>
        <p:nvSpPr>
          <p:cNvPr id="12" name="TextBox 11"/>
          <p:cNvSpPr txBox="1"/>
          <p:nvPr/>
        </p:nvSpPr>
        <p:spPr>
          <a:xfrm>
            <a:off x="2990088" y="2697480"/>
            <a:ext cx="2834640" cy="40233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cómo se llama la variable, única dentro de la FMU</a:t>
            </a:r>
          </a:p>
        </p:txBody>
      </p:sp>
      <p:sp>
        <p:nvSpPr>
          <p:cNvPr id="13" name="TextBox 12"/>
          <p:cNvSpPr txBox="1"/>
          <p:nvPr/>
        </p:nvSpPr>
        <p:spPr>
          <a:xfrm>
            <a:off x="5916168" y="2697480"/>
            <a:ext cx="2331720" cy="402336"/>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potencia_eje</a:t>
            </a:r>
          </a:p>
        </p:txBody>
      </p:sp>
      <p:sp>
        <p:nvSpPr>
          <p:cNvPr id="14" name="Campo Sentido"/>
          <p:cNvSpPr/>
          <p:nvPr/>
        </p:nvSpPr>
        <p:spPr>
          <a:xfrm>
            <a:off x="1252728" y="3154680"/>
            <a:ext cx="6949440" cy="40233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362456" y="3154680"/>
            <a:ext cx="1600200" cy="40233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Sentido</a:t>
            </a:r>
          </a:p>
        </p:txBody>
      </p:sp>
      <p:sp>
        <p:nvSpPr>
          <p:cNvPr id="16" name="TextBox 15"/>
          <p:cNvSpPr txBox="1"/>
          <p:nvPr/>
        </p:nvSpPr>
        <p:spPr>
          <a:xfrm>
            <a:off x="2990088" y="3154680"/>
            <a:ext cx="2834640" cy="40233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entrada (la recibe), salida (la entrega) o parámetro (se fija antes)</a:t>
            </a:r>
          </a:p>
        </p:txBody>
      </p:sp>
      <p:sp>
        <p:nvSpPr>
          <p:cNvPr id="17" name="TextBox 16"/>
          <p:cNvSpPr txBox="1"/>
          <p:nvPr/>
        </p:nvSpPr>
        <p:spPr>
          <a:xfrm>
            <a:off x="5916168" y="3154680"/>
            <a:ext cx="2331720" cy="402336"/>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salida</a:t>
            </a:r>
          </a:p>
        </p:txBody>
      </p:sp>
      <p:sp>
        <p:nvSpPr>
          <p:cNvPr id="18" name="Campo Tipo"/>
          <p:cNvSpPr/>
          <p:nvPr/>
        </p:nvSpPr>
        <p:spPr>
          <a:xfrm>
            <a:off x="1252728" y="3611880"/>
            <a:ext cx="6949440" cy="40233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362456" y="3611880"/>
            <a:ext cx="1600200" cy="40233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Tipo</a:t>
            </a:r>
          </a:p>
        </p:txBody>
      </p:sp>
      <p:sp>
        <p:nvSpPr>
          <p:cNvPr id="20" name="TextBox 19"/>
          <p:cNvSpPr txBox="1"/>
          <p:nvPr/>
        </p:nvSpPr>
        <p:spPr>
          <a:xfrm>
            <a:off x="2990088" y="3611880"/>
            <a:ext cx="2834640" cy="40233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número real, entero, sí/no o texto; continua o discreta</a:t>
            </a:r>
          </a:p>
        </p:txBody>
      </p:sp>
      <p:sp>
        <p:nvSpPr>
          <p:cNvPr id="21" name="TextBox 20"/>
          <p:cNvSpPr txBox="1"/>
          <p:nvPr/>
        </p:nvSpPr>
        <p:spPr>
          <a:xfrm>
            <a:off x="5916168" y="3611880"/>
            <a:ext cx="2331720" cy="402336"/>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real, continua</a:t>
            </a:r>
          </a:p>
        </p:txBody>
      </p:sp>
      <p:sp>
        <p:nvSpPr>
          <p:cNvPr id="22" name="Campo Unidad"/>
          <p:cNvSpPr/>
          <p:nvPr/>
        </p:nvSpPr>
        <p:spPr>
          <a:xfrm>
            <a:off x="1252728" y="4069080"/>
            <a:ext cx="6949440" cy="402336"/>
          </a:xfrm>
          <a:prstGeom prst="rect">
            <a:avLst/>
          </a:prstGeom>
          <a:solidFill>
            <a:srgbClr val="12335E"/>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62456" y="4069080"/>
            <a:ext cx="1600200" cy="40233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Unidad</a:t>
            </a:r>
          </a:p>
        </p:txBody>
      </p:sp>
      <p:sp>
        <p:nvSpPr>
          <p:cNvPr id="24" name="TextBox 23"/>
          <p:cNvSpPr txBox="1"/>
          <p:nvPr/>
        </p:nvSpPr>
        <p:spPr>
          <a:xfrm>
            <a:off x="2990088" y="4069080"/>
            <a:ext cx="2834640" cy="40233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en qué se mide; la herramienta convierte o avisa</a:t>
            </a:r>
          </a:p>
        </p:txBody>
      </p:sp>
      <p:sp>
        <p:nvSpPr>
          <p:cNvPr id="25" name="TextBox 24"/>
          <p:cNvSpPr txBox="1"/>
          <p:nvPr/>
        </p:nvSpPr>
        <p:spPr>
          <a:xfrm>
            <a:off x="5916168" y="4069080"/>
            <a:ext cx="2331720" cy="402336"/>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kW</a:t>
            </a:r>
          </a:p>
        </p:txBody>
      </p:sp>
      <p:sp>
        <p:nvSpPr>
          <p:cNvPr id="26" name="Campo Inicio y rango"/>
          <p:cNvSpPr/>
          <p:nvPr/>
        </p:nvSpPr>
        <p:spPr>
          <a:xfrm>
            <a:off x="1252728" y="4526280"/>
            <a:ext cx="6949440" cy="40233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1362456" y="4526280"/>
            <a:ext cx="1600200" cy="40233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Inicio y rango</a:t>
            </a:r>
          </a:p>
        </p:txBody>
      </p:sp>
      <p:sp>
        <p:nvSpPr>
          <p:cNvPr id="28" name="TextBox 27"/>
          <p:cNvSpPr txBox="1"/>
          <p:nvPr/>
        </p:nvSpPr>
        <p:spPr>
          <a:xfrm>
            <a:off x="2990088" y="4526280"/>
            <a:ext cx="2834640" cy="40233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valor al partir y límites válidos</a:t>
            </a:r>
          </a:p>
        </p:txBody>
      </p:sp>
      <p:sp>
        <p:nvSpPr>
          <p:cNvPr id="29" name="TextBox 28"/>
          <p:cNvSpPr txBox="1"/>
          <p:nvPr/>
        </p:nvSpPr>
        <p:spPr>
          <a:xfrm>
            <a:off x="5916168" y="4526280"/>
            <a:ext cx="2331720" cy="402336"/>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inicio 0 · entre 0 y 20 000</a:t>
            </a:r>
          </a:p>
        </p:txBody>
      </p:sp>
      <p:sp>
        <p:nvSpPr>
          <p:cNvPr id="30" name="Campo Descripción"/>
          <p:cNvSpPr/>
          <p:nvPr/>
        </p:nvSpPr>
        <p:spPr>
          <a:xfrm>
            <a:off x="1252728" y="4983480"/>
            <a:ext cx="6949440" cy="40233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1362456" y="4983480"/>
            <a:ext cx="1600200" cy="40233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Descripción</a:t>
            </a:r>
          </a:p>
        </p:txBody>
      </p:sp>
      <p:sp>
        <p:nvSpPr>
          <p:cNvPr id="32" name="TextBox 31"/>
          <p:cNvSpPr txBox="1"/>
          <p:nvPr/>
        </p:nvSpPr>
        <p:spPr>
          <a:xfrm>
            <a:off x="2990088" y="4983480"/>
            <a:ext cx="2834640" cy="40233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qué significa, en palabras</a:t>
            </a:r>
          </a:p>
        </p:txBody>
      </p:sp>
      <p:sp>
        <p:nvSpPr>
          <p:cNvPr id="33" name="TextBox 32"/>
          <p:cNvSpPr txBox="1"/>
          <p:nvPr/>
        </p:nvSpPr>
        <p:spPr>
          <a:xfrm>
            <a:off x="5916168" y="4983480"/>
            <a:ext cx="2331720" cy="402336"/>
          </a:xfrm>
          <a:prstGeom prst="rect">
            <a:avLst/>
          </a:prstGeom>
          <a:noFill/>
        </p:spPr>
        <p:txBody>
          <a:bodyPr wrap="square" lIns="0" tIns="0" rIns="0" bIns="0" anchor="ctr">
            <a:spAutoFit/>
          </a:bodyPr>
          <a:lstStyle/>
          <a:p>
            <a:pPr algn="l">
              <a:spcAft>
                <a:spcPts val="600"/>
              </a:spcAft>
            </a:pPr>
            <a:r>
              <a:rPr sz="950" b="1" i="0">
                <a:solidFill>
                  <a:srgbClr val="FFAB40"/>
                </a:solidFill>
                <a:effectLst>
                  <a:glow rad="63500">
                    <a:srgbClr val="001633">
                      <a:alpha val="85000"/>
                    </a:srgbClr>
                  </a:glow>
                </a:effectLst>
                <a:latin typeface="Montserrat"/>
              </a:rPr>
              <a:t>potencia en el eje del molino</a:t>
            </a:r>
          </a:p>
        </p:txBody>
      </p:sp>
      <p:sp>
        <p:nvSpPr>
          <p:cNvPr id="34" name="TextBox 33"/>
          <p:cNvSpPr txBox="1"/>
          <p:nvPr/>
        </p:nvSpPr>
        <p:spPr>
          <a:xfrm>
            <a:off x="1252728" y="5486400"/>
            <a:ext cx="6949440" cy="36576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En el archivo: </a:t>
            </a:r>
            <a:r>
              <a:rPr sz="850" b="0" i="0">
                <a:solidFill>
                  <a:srgbClr val="FFFFFF"/>
                </a:solidFill>
                <a:effectLst>
                  <a:glow rad="63500">
                    <a:srgbClr val="001633">
                      <a:alpha val="85000"/>
                    </a:srgbClr>
                  </a:glow>
                </a:effectLst>
                <a:latin typeface="Montserrat"/>
              </a:rPr>
              <a:t>&lt;ScalarVariable name="potencia_eje" causality="output"&gt; &lt;Real unit="kW" min="0"/&gt;</a:t>
            </a:r>
          </a:p>
        </p:txBody>
      </p:sp>
      <p:sp>
        <p:nvSpPr>
          <p:cNvPr id="35" name="TextBox 34"/>
          <p:cNvSpPr txBox="1"/>
          <p:nvPr/>
        </p:nvSpPr>
        <p:spPr>
          <a:xfrm>
            <a:off x="8522208" y="2450592"/>
            <a:ext cx="274320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LA FMU VISTA DESDE AFUERA</a:t>
            </a:r>
          </a:p>
        </p:txBody>
      </p:sp>
      <p:sp>
        <p:nvSpPr>
          <p:cNvPr id="36" name="FMU"/>
          <p:cNvSpPr/>
          <p:nvPr/>
        </p:nvSpPr>
        <p:spPr>
          <a:xfrm>
            <a:off x="9390888" y="3154680"/>
            <a:ext cx="1005840" cy="1097280"/>
          </a:xfrm>
          <a:prstGeom prst="round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390888" y="3154680"/>
            <a:ext cx="1005840" cy="1097280"/>
          </a:xfrm>
          <a:prstGeom prst="rect">
            <a:avLst/>
          </a:prstGeom>
          <a:noFill/>
        </p:spPr>
        <p:txBody>
          <a:bodyPr wrap="square" lIns="0" tIns="0" rIns="0" bIns="0" anchor="ctr">
            <a:spAutoFit/>
          </a:bodyPr>
          <a:lstStyle/>
          <a:p>
            <a:pPr algn="ctr">
              <a:spcAft>
                <a:spcPts val="0"/>
              </a:spcAft>
            </a:pPr>
            <a:r>
              <a:rPr sz="1100" b="1" i="0">
                <a:solidFill>
                  <a:srgbClr val="001633"/>
                </a:solidFill>
                <a:latin typeface="Montserrat"/>
              </a:rPr>
              <a:t>molino.fmu</a:t>
            </a:r>
          </a:p>
          <a:p>
            <a:pPr algn="ctr">
              <a:spcAft>
                <a:spcPts val="0"/>
              </a:spcAft>
            </a:pPr>
            <a:r>
              <a:rPr sz="800" b="0" i="0">
                <a:solidFill>
                  <a:srgbClr val="001633"/>
                </a:solidFill>
                <a:latin typeface="Montserrat"/>
              </a:rPr>
              <a:t>caja cerrada</a:t>
            </a:r>
          </a:p>
        </p:txBody>
      </p:sp>
      <p:cxnSp>
        <p:nvCxnSpPr>
          <p:cNvPr id="38" name="Connector 37"/>
          <p:cNvCxnSpPr/>
          <p:nvPr/>
        </p:nvCxnSpPr>
        <p:spPr>
          <a:xfrm>
            <a:off x="9116568" y="3474720"/>
            <a:ext cx="256032" cy="0"/>
          </a:xfrm>
          <a:prstGeom prst="line">
            <a:avLst/>
          </a:prstGeom>
          <a:ln w="2222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8430768" y="3291840"/>
            <a:ext cx="731520" cy="365760"/>
          </a:xfrm>
          <a:prstGeom prst="rect">
            <a:avLst/>
          </a:prstGeom>
          <a:noFill/>
        </p:spPr>
        <p:txBody>
          <a:bodyPr wrap="square" lIns="0" tIns="0" rIns="0" bIns="0" anchor="t">
            <a:spAutoFit/>
          </a:bodyPr>
          <a:lstStyle/>
          <a:p>
            <a:pPr algn="r">
              <a:spcAft>
                <a:spcPts val="0"/>
              </a:spcAft>
            </a:pPr>
            <a:r>
              <a:rPr sz="800" b="1" i="0">
                <a:solidFill>
                  <a:srgbClr val="FFFFFF"/>
                </a:solidFill>
                <a:effectLst>
                  <a:glow rad="63500">
                    <a:srgbClr val="001633">
                      <a:alpha val="85000"/>
                    </a:srgbClr>
                  </a:glow>
                </a:effectLst>
                <a:latin typeface="Montserrat"/>
              </a:rPr>
              <a:t>tonelaje</a:t>
            </a:r>
          </a:p>
          <a:p>
            <a:pPr algn="r">
              <a:spcAft>
                <a:spcPts val="0"/>
              </a:spcAft>
            </a:pPr>
            <a:r>
              <a:rPr sz="800" b="1" i="0">
                <a:solidFill>
                  <a:srgbClr val="85D5E6"/>
                </a:solidFill>
                <a:effectLst>
                  <a:glow rad="63500">
                    <a:srgbClr val="001633">
                      <a:alpha val="85000"/>
                    </a:srgbClr>
                  </a:glow>
                </a:effectLst>
                <a:latin typeface="Montserrat"/>
              </a:rPr>
              <a:t>t/h</a:t>
            </a:r>
          </a:p>
        </p:txBody>
      </p:sp>
      <p:cxnSp>
        <p:nvCxnSpPr>
          <p:cNvPr id="40" name="Connector 39"/>
          <p:cNvCxnSpPr/>
          <p:nvPr/>
        </p:nvCxnSpPr>
        <p:spPr>
          <a:xfrm>
            <a:off x="9116568" y="4023360"/>
            <a:ext cx="256032" cy="0"/>
          </a:xfrm>
          <a:prstGeom prst="line">
            <a:avLst/>
          </a:prstGeom>
          <a:ln w="2222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8430768" y="3840480"/>
            <a:ext cx="731520" cy="365760"/>
          </a:xfrm>
          <a:prstGeom prst="rect">
            <a:avLst/>
          </a:prstGeom>
          <a:noFill/>
        </p:spPr>
        <p:txBody>
          <a:bodyPr wrap="square" lIns="0" tIns="0" rIns="0" bIns="0" anchor="t">
            <a:spAutoFit/>
          </a:bodyPr>
          <a:lstStyle/>
          <a:p>
            <a:pPr algn="r">
              <a:spcAft>
                <a:spcPts val="0"/>
              </a:spcAft>
            </a:pPr>
            <a:r>
              <a:rPr sz="800" b="1" i="0">
                <a:solidFill>
                  <a:srgbClr val="FFFFFF"/>
                </a:solidFill>
                <a:effectLst>
                  <a:glow rad="63500">
                    <a:srgbClr val="001633">
                      <a:alpha val="85000"/>
                    </a:srgbClr>
                  </a:glow>
                </a:effectLst>
                <a:latin typeface="Montserrat"/>
              </a:rPr>
              <a:t>velocidad</a:t>
            </a:r>
          </a:p>
          <a:p>
            <a:pPr algn="r">
              <a:spcAft>
                <a:spcPts val="0"/>
              </a:spcAft>
            </a:pPr>
            <a:r>
              <a:rPr sz="800" b="1" i="0">
                <a:solidFill>
                  <a:srgbClr val="85D5E6"/>
                </a:solidFill>
                <a:effectLst>
                  <a:glow rad="63500">
                    <a:srgbClr val="001633">
                      <a:alpha val="85000"/>
                    </a:srgbClr>
                  </a:glow>
                </a:effectLst>
                <a:latin typeface="Montserrat"/>
              </a:rPr>
              <a:t>rpm</a:t>
            </a:r>
          </a:p>
        </p:txBody>
      </p:sp>
      <p:cxnSp>
        <p:nvCxnSpPr>
          <p:cNvPr id="42" name="Connector 41"/>
          <p:cNvCxnSpPr/>
          <p:nvPr/>
        </p:nvCxnSpPr>
        <p:spPr>
          <a:xfrm>
            <a:off x="10415016" y="3474720"/>
            <a:ext cx="256032"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10698480" y="3291840"/>
            <a:ext cx="640080" cy="365760"/>
          </a:xfrm>
          <a:prstGeom prst="rect">
            <a:avLst/>
          </a:prstGeom>
          <a:noFill/>
        </p:spPr>
        <p:txBody>
          <a:bodyPr wrap="square" lIns="0" tIns="0" rIns="0" bIns="0" anchor="t">
            <a:spAutoFit/>
          </a:bodyPr>
          <a:lstStyle/>
          <a:p>
            <a:pPr algn="l">
              <a:spcAft>
                <a:spcPts val="0"/>
              </a:spcAft>
            </a:pPr>
            <a:r>
              <a:rPr sz="800" b="1" i="0">
                <a:solidFill>
                  <a:srgbClr val="FFFFFF"/>
                </a:solidFill>
                <a:effectLst>
                  <a:glow rad="63500">
                    <a:srgbClr val="001633">
                      <a:alpha val="85000"/>
                    </a:srgbClr>
                  </a:glow>
                </a:effectLst>
                <a:latin typeface="Montserrat"/>
              </a:rPr>
              <a:t>potencia</a:t>
            </a:r>
          </a:p>
          <a:p>
            <a:pPr algn="l">
              <a:spcAft>
                <a:spcPts val="0"/>
              </a:spcAft>
            </a:pPr>
            <a:r>
              <a:rPr sz="800" b="1" i="0">
                <a:solidFill>
                  <a:srgbClr val="FFAB40"/>
                </a:solidFill>
                <a:effectLst>
                  <a:glow rad="63500">
                    <a:srgbClr val="001633">
                      <a:alpha val="85000"/>
                    </a:srgbClr>
                  </a:glow>
                </a:effectLst>
                <a:latin typeface="Montserrat"/>
              </a:rPr>
              <a:t>kW</a:t>
            </a:r>
          </a:p>
        </p:txBody>
      </p:sp>
      <p:cxnSp>
        <p:nvCxnSpPr>
          <p:cNvPr id="44" name="Connector 43"/>
          <p:cNvCxnSpPr/>
          <p:nvPr/>
        </p:nvCxnSpPr>
        <p:spPr>
          <a:xfrm>
            <a:off x="10415016" y="4023360"/>
            <a:ext cx="256032" cy="0"/>
          </a:xfrm>
          <a:prstGeom prst="line">
            <a:avLst/>
          </a:prstGeom>
          <a:ln w="22225">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10698480" y="3840480"/>
            <a:ext cx="640080" cy="365760"/>
          </a:xfrm>
          <a:prstGeom prst="rect">
            <a:avLst/>
          </a:prstGeom>
          <a:noFill/>
        </p:spPr>
        <p:txBody>
          <a:bodyPr wrap="square" lIns="0" tIns="0" rIns="0" bIns="0" anchor="t">
            <a:spAutoFit/>
          </a:bodyPr>
          <a:lstStyle/>
          <a:p>
            <a:pPr algn="l">
              <a:spcAft>
                <a:spcPts val="0"/>
              </a:spcAft>
            </a:pPr>
            <a:r>
              <a:rPr sz="800" b="1" i="0">
                <a:solidFill>
                  <a:srgbClr val="FFFFFF"/>
                </a:solidFill>
                <a:effectLst>
                  <a:glow rad="63500">
                    <a:srgbClr val="001633">
                      <a:alpha val="85000"/>
                    </a:srgbClr>
                  </a:glow>
                </a:effectLst>
                <a:latin typeface="Montserrat"/>
              </a:rPr>
              <a:t>P80</a:t>
            </a:r>
          </a:p>
          <a:p>
            <a:pPr algn="l">
              <a:spcAft>
                <a:spcPts val="0"/>
              </a:spcAft>
            </a:pPr>
            <a:r>
              <a:rPr sz="800" b="1" i="0">
                <a:solidFill>
                  <a:srgbClr val="FFAB40"/>
                </a:solidFill>
                <a:effectLst>
                  <a:glow rad="63500">
                    <a:srgbClr val="001633">
                      <a:alpha val="85000"/>
                    </a:srgbClr>
                  </a:glow>
                </a:effectLst>
                <a:latin typeface="Montserrat"/>
              </a:rPr>
              <a:t>µm</a:t>
            </a:r>
          </a:p>
        </p:txBody>
      </p:sp>
      <p:cxnSp>
        <p:nvCxnSpPr>
          <p:cNvPr id="46" name="Connector 45"/>
          <p:cNvCxnSpPr/>
          <p:nvPr/>
        </p:nvCxnSpPr>
        <p:spPr>
          <a:xfrm>
            <a:off x="9893808" y="2926080"/>
            <a:ext cx="0" cy="210312"/>
          </a:xfrm>
          <a:prstGeom prst="line">
            <a:avLst/>
          </a:prstGeom>
          <a:ln w="15875">
            <a:solidFill>
              <a:srgbClr val="A9B8C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116568" y="2715768"/>
            <a:ext cx="1554480" cy="201168"/>
          </a:xfrm>
          <a:prstGeom prst="rect">
            <a:avLst/>
          </a:prstGeom>
          <a:noFill/>
        </p:spPr>
        <p:txBody>
          <a:bodyPr wrap="square" lIns="0" tIns="0" rIns="0" bIns="0" anchor="t">
            <a:spAutoFit/>
          </a:bodyPr>
          <a:lstStyle/>
          <a:p>
            <a:pPr algn="ctr">
              <a:spcAft>
                <a:spcPts val="600"/>
              </a:spcAft>
            </a:pPr>
            <a:r>
              <a:rPr sz="800" b="1" i="0">
                <a:solidFill>
                  <a:srgbClr val="A9B8C9"/>
                </a:solidFill>
                <a:effectLst>
                  <a:glow rad="63500">
                    <a:srgbClr val="001633">
                      <a:alpha val="85000"/>
                    </a:srgbClr>
                  </a:glow>
                </a:effectLst>
                <a:latin typeface="Montserrat"/>
              </a:rPr>
              <a:t>dureza · kWh/t · parámetro</a:t>
            </a:r>
          </a:p>
        </p:txBody>
      </p:sp>
      <p:sp>
        <p:nvSpPr>
          <p:cNvPr id="48" name="Error clásico"/>
          <p:cNvSpPr/>
          <p:nvPr/>
        </p:nvSpPr>
        <p:spPr>
          <a:xfrm>
            <a:off x="8522208" y="4434840"/>
            <a:ext cx="2743200" cy="14173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9" name="Ícono triangle-alert" descr="triangle-alert-orange.png"/>
          <p:cNvPicPr>
            <a:picLocks noChangeAspect="1"/>
          </p:cNvPicPr>
          <p:nvPr/>
        </p:nvPicPr>
        <p:blipFill>
          <a:blip r:embed="rId3"/>
          <a:stretch>
            <a:fillRect/>
          </a:stretch>
        </p:blipFill>
        <p:spPr>
          <a:xfrm>
            <a:off x="8659368" y="4526280"/>
            <a:ext cx="256032" cy="256032"/>
          </a:xfrm>
          <a:prstGeom prst="rect">
            <a:avLst/>
          </a:prstGeom>
        </p:spPr>
      </p:pic>
      <p:sp>
        <p:nvSpPr>
          <p:cNvPr id="50" name="TextBox 49"/>
          <p:cNvSpPr txBox="1"/>
          <p:nvPr/>
        </p:nvSpPr>
        <p:spPr>
          <a:xfrm>
            <a:off x="8997696" y="4507992"/>
            <a:ext cx="2194560" cy="292608"/>
          </a:xfrm>
          <a:prstGeom prst="rect">
            <a:avLst/>
          </a:prstGeom>
          <a:noFill/>
        </p:spPr>
        <p:txBody>
          <a:bodyPr wrap="square" lIns="0" tIns="0" rIns="0" bIns="0" anchor="ctr">
            <a:spAutoFit/>
          </a:bodyPr>
          <a:lstStyle/>
          <a:p>
            <a:pPr algn="l">
              <a:spcAft>
                <a:spcPts val="600"/>
              </a:spcAft>
            </a:pPr>
            <a:r>
              <a:rPr sz="1050" b="1" i="0">
                <a:solidFill>
                  <a:srgbClr val="FFAB40"/>
                </a:solidFill>
                <a:effectLst>
                  <a:glow rad="63500">
                    <a:srgbClr val="001633">
                      <a:alpha val="85000"/>
                    </a:srgbClr>
                  </a:glow>
                </a:effectLst>
                <a:latin typeface="Montserrat"/>
              </a:rPr>
              <a:t>Por qué importa</a:t>
            </a:r>
          </a:p>
        </p:txBody>
      </p:sp>
      <p:sp>
        <p:nvSpPr>
          <p:cNvPr id="51" name="TextBox 50"/>
          <p:cNvSpPr txBox="1"/>
          <p:nvPr/>
        </p:nvSpPr>
        <p:spPr>
          <a:xfrm>
            <a:off x="8659368" y="4846320"/>
            <a:ext cx="2514600" cy="1005840"/>
          </a:xfrm>
          <a:prstGeom prst="rect">
            <a:avLst/>
          </a:prstGeom>
          <a:noFill/>
        </p:spPr>
        <p:txBody>
          <a:bodyPr wrap="square" lIns="0" tIns="0" rIns="0" bIns="0" anchor="t">
            <a:spAutoFit/>
          </a:bodyPr>
          <a:lstStyle/>
          <a:p>
            <a:pPr algn="l">
              <a:spcAft>
                <a:spcPts val="300"/>
              </a:spcAft>
            </a:pPr>
            <a:r>
              <a:rPr sz="850" b="0" i="0">
                <a:solidFill>
                  <a:srgbClr val="FFFFFF"/>
                </a:solidFill>
                <a:effectLst>
                  <a:glow rad="63500">
                    <a:srgbClr val="001633">
                      <a:alpha val="85000"/>
                    </a:srgbClr>
                  </a:glow>
                </a:effectLst>
                <a:latin typeface="Montserrat"/>
              </a:rPr>
              <a:t>Un modelo entrega la presión en bar y el otro la espera en kPa: llega 100 veces más chica y el control abre las válvulas al máximo.</a:t>
            </a:r>
          </a:p>
          <a:p>
            <a:pPr algn="l">
              <a:spcAft>
                <a:spcPts val="300"/>
              </a:spcAft>
            </a:pPr>
            <a:r>
              <a:rPr sz="850" b="1" i="0">
                <a:solidFill>
                  <a:srgbClr val="85D5E6"/>
                </a:solidFill>
                <a:effectLst>
                  <a:glow rad="63500">
                    <a:srgbClr val="001633">
                      <a:alpha val="85000"/>
                    </a:srgbClr>
                  </a:glow>
                </a:effectLst>
                <a:latin typeface="Montserrat"/>
              </a:rPr>
              <a:t>Con la unidad declarada, se detecta antes de simular.</a:t>
            </a:r>
          </a:p>
        </p:txBody>
      </p:sp>
      <p:sp>
        <p:nvSpPr>
          <p:cNvPr id="52"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Variables de la interfaz FMI [19] · ejemplo ilustrativo; el mismo contrato aplica a cualquier FMU</a:t>
            </a:r>
          </a:p>
        </p:txBody>
      </p:sp>
      <p:sp>
        <p:nvSpPr>
          <p:cNvPr id="53"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4"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7"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60"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II actual"/>
          <p:cNvSpPr/>
          <p:nvPr/>
        </p:nvSpPr>
        <p:spPr>
          <a:xfrm>
            <a:off x="5001768" y="6510528"/>
            <a:ext cx="1035336"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3"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18/31 </a:t>
            </a:r>
            <a:r>
              <a:rPr sz="1000" b="0" i="0">
                <a:solidFill>
                  <a:srgbClr val="A9B8C9"/>
                </a:solidFill>
                <a:effectLst>
                  <a:glow rad="63500">
                    <a:srgbClr val="001633">
                      <a:alpha val="85000"/>
                    </a:srgbClr>
                  </a:glow>
                </a:effectLst>
                <a:latin typeface="Montserrat"/>
              </a:rPr>
              <a:t>· Gemelos Digitales para Minería 4.0 · 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Co-Simulation: la FMU trae su solver y quien la usa solo le pide avanzar</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En modo Co-Simulation, la FMU integra sus propias ecuaciones. El programa que la usa (el importador) no resuelve nada: le entrega entradas, le pide avanzar un paso y lee las salidas.</a:t>
            </a:r>
          </a:p>
        </p:txBody>
      </p:sp>
      <p:sp>
        <p:nvSpPr>
          <p:cNvPr id="7" name="Caso una FMU"/>
          <p:cNvSpPr/>
          <p:nvPr/>
        </p:nvSpPr>
        <p:spPr>
          <a:xfrm>
            <a:off x="1252728" y="2514600"/>
            <a:ext cx="4846320" cy="2377440"/>
          </a:xfrm>
          <a:prstGeom prst="rect">
            <a:avLst/>
          </a:prstGeom>
          <a:solidFill>
            <a:srgbClr val="0B264A"/>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17320" y="2578608"/>
            <a:ext cx="4572000" cy="457200"/>
          </a:xfrm>
          <a:prstGeom prst="rect">
            <a:avLst/>
          </a:prstGeom>
          <a:noFill/>
        </p:spPr>
        <p:txBody>
          <a:bodyPr wrap="square" lIns="0" tIns="0" rIns="0" bIns="0" anchor="t">
            <a:spAutoFit/>
          </a:bodyPr>
          <a:lstStyle/>
          <a:p>
            <a:pPr algn="l">
              <a:spcAft>
                <a:spcPts val="0"/>
              </a:spcAft>
            </a:pPr>
            <a:r>
              <a:rPr sz="1200" b="1" i="0">
                <a:solidFill>
                  <a:srgbClr val="85D5E6"/>
                </a:solidFill>
                <a:effectLst>
                  <a:glow rad="63500">
                    <a:srgbClr val="001633">
                      <a:alpha val="85000"/>
                    </a:srgbClr>
                  </a:glow>
                </a:effectLst>
                <a:latin typeface="Montserrat"/>
              </a:rPr>
              <a:t>Con una sola FMU</a:t>
            </a:r>
          </a:p>
          <a:p>
            <a:pPr algn="l">
              <a:spcAft>
                <a:spcPts val="0"/>
              </a:spcAft>
            </a:pPr>
            <a:r>
              <a:rPr sz="850" b="0" i="0">
                <a:solidFill>
                  <a:srgbClr val="A9B8C9"/>
                </a:solidFill>
                <a:effectLst>
                  <a:glow rad="63500">
                    <a:srgbClr val="001633">
                      <a:alpha val="85000"/>
                    </a:srgbClr>
                  </a:glow>
                </a:effectLst>
                <a:latin typeface="Montserrat"/>
              </a:rPr>
              <a:t>el caso típico de un gemelo: el modelo sigue a la planta</a:t>
            </a:r>
          </a:p>
        </p:txBody>
      </p:sp>
      <p:sp>
        <p:nvSpPr>
          <p:cNvPr id="9" name="Etiqueta datos de planta"/>
          <p:cNvSpPr/>
          <p:nvPr/>
        </p:nvSpPr>
        <p:spPr>
          <a:xfrm>
            <a:off x="1435608" y="3246120"/>
            <a:ext cx="1325880" cy="5029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TextBox 9"/>
          <p:cNvSpPr txBox="1"/>
          <p:nvPr/>
        </p:nvSpPr>
        <p:spPr>
          <a:xfrm>
            <a:off x="1435608" y="3246120"/>
            <a:ext cx="1325880" cy="5029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datos de planta</a:t>
            </a:r>
          </a:p>
        </p:txBody>
      </p:sp>
      <p:cxnSp>
        <p:nvCxnSpPr>
          <p:cNvPr id="11" name="Connector 10"/>
          <p:cNvCxnSpPr/>
          <p:nvPr/>
        </p:nvCxnSpPr>
        <p:spPr>
          <a:xfrm>
            <a:off x="2788920" y="3493008"/>
            <a:ext cx="338327" cy="0"/>
          </a:xfrm>
          <a:prstGeom prst="line">
            <a:avLst/>
          </a:prstGeom>
          <a:ln w="2540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FMU"/>
          <p:cNvSpPr/>
          <p:nvPr/>
        </p:nvSpPr>
        <p:spPr>
          <a:xfrm>
            <a:off x="3154680" y="3108960"/>
            <a:ext cx="1417320" cy="777240"/>
          </a:xfrm>
          <a:prstGeom prst="round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3154680" y="3108960"/>
            <a:ext cx="1417320" cy="777240"/>
          </a:xfrm>
          <a:prstGeom prst="rect">
            <a:avLst/>
          </a:prstGeom>
          <a:noFill/>
        </p:spPr>
        <p:txBody>
          <a:bodyPr wrap="square" lIns="0" tIns="0" rIns="0" bIns="0" anchor="ctr">
            <a:spAutoFit/>
          </a:bodyPr>
          <a:lstStyle/>
          <a:p>
            <a:pPr algn="ctr">
              <a:spcAft>
                <a:spcPts val="0"/>
              </a:spcAft>
            </a:pPr>
            <a:r>
              <a:rPr sz="1050" b="1" i="0">
                <a:solidFill>
                  <a:srgbClr val="001633"/>
                </a:solidFill>
                <a:latin typeface="Montserrat"/>
              </a:rPr>
              <a:t>molino.fmu</a:t>
            </a:r>
          </a:p>
          <a:p>
            <a:pPr algn="ctr">
              <a:spcAft>
                <a:spcPts val="0"/>
              </a:spcAft>
            </a:pPr>
            <a:r>
              <a:rPr sz="800" b="0" i="0">
                <a:solidFill>
                  <a:srgbClr val="001633"/>
                </a:solidFill>
                <a:latin typeface="Montserrat"/>
              </a:rPr>
              <a:t>con su solver</a:t>
            </a:r>
          </a:p>
        </p:txBody>
      </p:sp>
      <p:cxnSp>
        <p:nvCxnSpPr>
          <p:cNvPr id="14" name="Connector 13"/>
          <p:cNvCxnSpPr/>
          <p:nvPr/>
        </p:nvCxnSpPr>
        <p:spPr>
          <a:xfrm>
            <a:off x="4599432" y="3493008"/>
            <a:ext cx="338328"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Etiqueta estimaciones"/>
          <p:cNvSpPr/>
          <p:nvPr/>
        </p:nvSpPr>
        <p:spPr>
          <a:xfrm>
            <a:off x="4965191" y="3246120"/>
            <a:ext cx="960120" cy="5029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4965191" y="3246120"/>
            <a:ext cx="960120" cy="502920"/>
          </a:xfrm>
          <a:prstGeom prst="rect">
            <a:avLst/>
          </a:prstGeom>
          <a:noFill/>
        </p:spPr>
        <p:txBody>
          <a:bodyPr wrap="square" lIns="0" tIns="0" rIns="0" bIns="0" anchor="ctr">
            <a:spAutoFit/>
          </a:bodyPr>
          <a:lstStyle/>
          <a:p>
            <a:pPr algn="ctr">
              <a:spcAft>
                <a:spcPts val="600"/>
              </a:spcAft>
            </a:pPr>
            <a:r>
              <a:rPr sz="900" b="0" i="0">
                <a:solidFill>
                  <a:srgbClr val="FFFFFF"/>
                </a:solidFill>
                <a:effectLst>
                  <a:glow rad="63500">
                    <a:srgbClr val="001633">
                      <a:alpha val="85000"/>
                    </a:srgbClr>
                  </a:glow>
                </a:effectLst>
                <a:latin typeface="Montserrat"/>
              </a:rPr>
              <a:t>estimaciones</a:t>
            </a:r>
          </a:p>
        </p:txBody>
      </p:sp>
      <p:sp>
        <p:nvSpPr>
          <p:cNvPr id="17" name="Etiqueta 1 · entregar entradas"/>
          <p:cNvSpPr/>
          <p:nvPr/>
        </p:nvSpPr>
        <p:spPr>
          <a:xfrm>
            <a:off x="1435608" y="4069080"/>
            <a:ext cx="1402080" cy="36576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435608" y="4069080"/>
            <a:ext cx="1402080" cy="36576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1 · entregar entradas</a:t>
            </a:r>
          </a:p>
        </p:txBody>
      </p:sp>
      <p:cxnSp>
        <p:nvCxnSpPr>
          <p:cNvPr id="19" name="Connector 18"/>
          <p:cNvCxnSpPr/>
          <p:nvPr/>
        </p:nvCxnSpPr>
        <p:spPr>
          <a:xfrm>
            <a:off x="2846832" y="4251960"/>
            <a:ext cx="118872"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Etiqueta 2 · pedir avanzar Δt"/>
          <p:cNvSpPr/>
          <p:nvPr/>
        </p:nvSpPr>
        <p:spPr>
          <a:xfrm>
            <a:off x="2974848" y="4069080"/>
            <a:ext cx="1402080" cy="36576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2974848" y="4069080"/>
            <a:ext cx="1402080" cy="36576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2 · pedir avanzar Δt</a:t>
            </a:r>
          </a:p>
        </p:txBody>
      </p:sp>
      <p:cxnSp>
        <p:nvCxnSpPr>
          <p:cNvPr id="22" name="Connector 21"/>
          <p:cNvCxnSpPr/>
          <p:nvPr/>
        </p:nvCxnSpPr>
        <p:spPr>
          <a:xfrm>
            <a:off x="4386072" y="4251960"/>
            <a:ext cx="118872" cy="0"/>
          </a:xfrm>
          <a:prstGeom prst="line">
            <a:avLst/>
          </a:prstGeom>
          <a:ln w="15875">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Etiqueta 3 · leer salidas"/>
          <p:cNvSpPr/>
          <p:nvPr/>
        </p:nvSpPr>
        <p:spPr>
          <a:xfrm>
            <a:off x="4514088" y="4069080"/>
            <a:ext cx="1402080" cy="36576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4514088" y="4069080"/>
            <a:ext cx="1402080" cy="36576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3 · leer salidas</a:t>
            </a:r>
          </a:p>
        </p:txBody>
      </p:sp>
      <p:sp>
        <p:nvSpPr>
          <p:cNvPr id="25" name="TextBox 24"/>
          <p:cNvSpPr txBox="1"/>
          <p:nvPr/>
        </p:nvSpPr>
        <p:spPr>
          <a:xfrm>
            <a:off x="1435608" y="4498848"/>
            <a:ext cx="4480560" cy="36576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 cada segundo: </a:t>
            </a:r>
            <a:r>
              <a:rPr sz="850" b="0" i="0">
                <a:solidFill>
                  <a:srgbClr val="FFFFFF"/>
                </a:solidFill>
                <a:effectLst>
                  <a:glow rad="63500">
                    <a:srgbClr val="001633">
                      <a:alpha val="85000"/>
                    </a:srgbClr>
                  </a:glow>
                </a:effectLst>
                <a:latin typeface="Montserrat"/>
              </a:rPr>
              <a:t>el script en Python del capítulo IV hace justo esto.</a:t>
            </a:r>
          </a:p>
        </p:txBody>
      </p:sp>
      <p:sp>
        <p:nvSpPr>
          <p:cNvPr id="26" name="Caso varias FMU"/>
          <p:cNvSpPr/>
          <p:nvPr/>
        </p:nvSpPr>
        <p:spPr>
          <a:xfrm>
            <a:off x="6419088" y="2514600"/>
            <a:ext cx="4846320" cy="2377440"/>
          </a:xfrm>
          <a:prstGeom prst="rect">
            <a:avLst/>
          </a:prstGeom>
          <a:solidFill>
            <a:srgbClr val="0B264A"/>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583680" y="2578608"/>
            <a:ext cx="4572000" cy="457200"/>
          </a:xfrm>
          <a:prstGeom prst="rect">
            <a:avLst/>
          </a:prstGeom>
          <a:noFill/>
        </p:spPr>
        <p:txBody>
          <a:bodyPr wrap="square" lIns="0" tIns="0" rIns="0" bIns="0" anchor="t">
            <a:spAutoFit/>
          </a:bodyPr>
          <a:lstStyle/>
          <a:p>
            <a:pPr algn="l">
              <a:spcAft>
                <a:spcPts val="0"/>
              </a:spcAft>
            </a:pPr>
            <a:r>
              <a:rPr sz="1200" b="1" i="0">
                <a:solidFill>
                  <a:srgbClr val="FFAB40"/>
                </a:solidFill>
                <a:effectLst>
                  <a:glow rad="63500">
                    <a:srgbClr val="001633">
                      <a:alpha val="85000"/>
                    </a:srgbClr>
                  </a:glow>
                </a:effectLst>
                <a:latin typeface="Montserrat"/>
              </a:rPr>
              <a:t>Con varias FMU</a:t>
            </a:r>
          </a:p>
          <a:p>
            <a:pPr algn="l">
              <a:spcAft>
                <a:spcPts val="0"/>
              </a:spcAft>
            </a:pPr>
            <a:r>
              <a:rPr sz="850" b="0" i="0">
                <a:solidFill>
                  <a:srgbClr val="A9B8C9"/>
                </a:solidFill>
                <a:effectLst>
                  <a:glow rad="63500">
                    <a:srgbClr val="001633">
                      <a:alpha val="85000"/>
                    </a:srgbClr>
                  </a:glow>
                </a:effectLst>
                <a:latin typeface="Montserrat"/>
              </a:rPr>
              <a:t>el mismo ciclo, pero además pasa valores entre ellas</a:t>
            </a:r>
          </a:p>
        </p:txBody>
      </p:sp>
      <p:sp>
        <p:nvSpPr>
          <p:cNvPr id="28" name="FMU molino"/>
          <p:cNvSpPr/>
          <p:nvPr/>
        </p:nvSpPr>
        <p:spPr>
          <a:xfrm>
            <a:off x="6693408" y="3154680"/>
            <a:ext cx="1188720" cy="548640"/>
          </a:xfrm>
          <a:prstGeom prst="round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6693408" y="3154680"/>
            <a:ext cx="1188720" cy="54864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molino.fmu</a:t>
            </a:r>
          </a:p>
        </p:txBody>
      </p:sp>
      <p:cxnSp>
        <p:nvCxnSpPr>
          <p:cNvPr id="30" name="Connector 29"/>
          <p:cNvCxnSpPr/>
          <p:nvPr/>
        </p:nvCxnSpPr>
        <p:spPr>
          <a:xfrm>
            <a:off x="7900416" y="3364992"/>
            <a:ext cx="192024"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7900416" y="3520440"/>
            <a:ext cx="192024"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FMU accionamiento"/>
          <p:cNvSpPr/>
          <p:nvPr/>
        </p:nvSpPr>
        <p:spPr>
          <a:xfrm>
            <a:off x="8110728" y="3154680"/>
            <a:ext cx="1188720" cy="548640"/>
          </a:xfrm>
          <a:prstGeom prst="round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8110728" y="3154680"/>
            <a:ext cx="1188720" cy="54864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accionamiento.fmu</a:t>
            </a:r>
          </a:p>
        </p:txBody>
      </p:sp>
      <p:cxnSp>
        <p:nvCxnSpPr>
          <p:cNvPr id="34" name="Connector 33"/>
          <p:cNvCxnSpPr/>
          <p:nvPr/>
        </p:nvCxnSpPr>
        <p:spPr>
          <a:xfrm>
            <a:off x="9317736" y="3364992"/>
            <a:ext cx="192024"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9317736" y="3520440"/>
            <a:ext cx="192024" cy="0"/>
          </a:xfrm>
          <a:prstGeom prst="line">
            <a:avLst/>
          </a:prstGeom>
          <a:ln w="19050">
            <a:solidFill>
              <a:srgbClr val="FFFFF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FMU ciclones"/>
          <p:cNvSpPr/>
          <p:nvPr/>
        </p:nvSpPr>
        <p:spPr>
          <a:xfrm>
            <a:off x="9528048" y="3154680"/>
            <a:ext cx="1188720" cy="548640"/>
          </a:xfrm>
          <a:prstGeom prst="round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9528048" y="3154680"/>
            <a:ext cx="1188720" cy="54864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ciclones.fmu</a:t>
            </a:r>
          </a:p>
        </p:txBody>
      </p:sp>
      <p:sp>
        <p:nvSpPr>
          <p:cNvPr id="38" name="Maestro"/>
          <p:cNvSpPr/>
          <p:nvPr/>
        </p:nvSpPr>
        <p:spPr>
          <a:xfrm>
            <a:off x="6693408" y="3931920"/>
            <a:ext cx="4023360" cy="411480"/>
          </a:xfrm>
          <a:prstGeom prst="rect">
            <a:avLst/>
          </a:prstGeom>
          <a:solidFill>
            <a:srgbClr val="001633"/>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693408" y="3931920"/>
            <a:ext cx="4023360" cy="411480"/>
          </a:xfrm>
          <a:prstGeom prst="rect">
            <a:avLst/>
          </a:prstGeom>
          <a:noFill/>
        </p:spPr>
        <p:txBody>
          <a:bodyPr wrap="square" lIns="0" tIns="0" rIns="0" bIns="0" anchor="ctr">
            <a:spAutoFit/>
          </a:bodyPr>
          <a:lstStyle/>
          <a:p>
            <a:pPr algn="ctr">
              <a:spcAft>
                <a:spcPts val="600"/>
              </a:spcAft>
            </a:pPr>
            <a:r>
              <a:rPr sz="900" b="1" i="0">
                <a:solidFill>
                  <a:srgbClr val="FFAB40"/>
                </a:solidFill>
                <a:effectLst>
                  <a:glow rad="63500">
                    <a:srgbClr val="001633">
                      <a:alpha val="85000"/>
                    </a:srgbClr>
                  </a:glow>
                </a:effectLst>
                <a:latin typeface="Montserrat"/>
              </a:rPr>
              <a:t>maestro: </a:t>
            </a:r>
            <a:r>
              <a:rPr sz="900" b="0" i="0">
                <a:solidFill>
                  <a:srgbClr val="FFFFFF"/>
                </a:solidFill>
                <a:effectLst>
                  <a:glow rad="63500">
                    <a:srgbClr val="001633">
                      <a:alpha val="85000"/>
                    </a:srgbClr>
                  </a:glow>
                </a:effectLst>
                <a:latin typeface="Montserrat"/>
              </a:rPr>
              <a:t>lee salidas · pasa valores · todas avanzan Δt</a:t>
            </a:r>
          </a:p>
        </p:txBody>
      </p:sp>
      <p:sp>
        <p:nvSpPr>
          <p:cNvPr id="40" name="TextBox 39"/>
          <p:cNvSpPr txBox="1"/>
          <p:nvPr/>
        </p:nvSpPr>
        <p:spPr>
          <a:xfrm>
            <a:off x="6601968" y="4498848"/>
            <a:ext cx="4480560" cy="365760"/>
          </a:xfrm>
          <a:prstGeom prst="rect">
            <a:avLst/>
          </a:prstGeom>
          <a:noFill/>
        </p:spPr>
        <p:txBody>
          <a:bodyPr wrap="square" lIns="0" tIns="0" rIns="0" bIns="0" anchor="t">
            <a:spAutoFit/>
          </a:bodyPr>
          <a:lstStyle/>
          <a:p>
            <a:pPr algn="l">
              <a:spcAft>
                <a:spcPts val="600"/>
              </a:spcAft>
            </a:pPr>
            <a:r>
              <a:rPr sz="850" b="0" i="0">
                <a:solidFill>
                  <a:srgbClr val="FFFFFF"/>
                </a:solidFill>
                <a:effectLst>
                  <a:glow rad="63500">
                    <a:srgbClr val="001633">
                      <a:alpha val="85000"/>
                    </a:srgbClr>
                  </a:glow>
                </a:effectLst>
                <a:latin typeface="Montserrat"/>
              </a:rPr>
              <a:t>A esto se le llama </a:t>
            </a:r>
            <a:r>
              <a:rPr sz="850" b="1" i="0">
                <a:solidFill>
                  <a:srgbClr val="FFAB40"/>
                </a:solidFill>
                <a:effectLst>
                  <a:glow rad="63500">
                    <a:srgbClr val="001633">
                      <a:alpha val="85000"/>
                    </a:srgbClr>
                  </a:glow>
                </a:effectLst>
                <a:latin typeface="Montserrat"/>
              </a:rPr>
              <a:t>algoritmo maestro</a:t>
            </a:r>
            <a:r>
              <a:rPr sz="850" b="0" i="0">
                <a:solidFill>
                  <a:srgbClr val="FFFFFF"/>
                </a:solidFill>
                <a:effectLst>
                  <a:glow rad="63500">
                    <a:srgbClr val="001633">
                      <a:alpha val="85000"/>
                    </a:srgbClr>
                  </a:glow>
                </a:effectLst>
                <a:latin typeface="Montserrat"/>
              </a:rPr>
              <a:t>: coordina relojes independientes.</a:t>
            </a:r>
          </a:p>
        </p:txBody>
      </p:sp>
      <p:sp>
        <p:nvSpPr>
          <p:cNvPr id="41" name="TextBox 40"/>
          <p:cNvSpPr txBox="1"/>
          <p:nvPr/>
        </p:nvSpPr>
        <p:spPr>
          <a:xfrm>
            <a:off x="1252728" y="5029200"/>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LO QUE HAY QUE CUIDAR</a:t>
            </a:r>
          </a:p>
        </p:txBody>
      </p:sp>
      <p:sp>
        <p:nvSpPr>
          <p:cNvPr id="42" name="Cuidado Paso de comunicación"/>
          <p:cNvSpPr/>
          <p:nvPr/>
        </p:nvSpPr>
        <p:spPr>
          <a:xfrm>
            <a:off x="1252728" y="5257800"/>
            <a:ext cx="3215640" cy="6217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Marca"/>
          <p:cNvSpPr/>
          <p:nvPr/>
        </p:nvSpPr>
        <p:spPr>
          <a:xfrm>
            <a:off x="1252728" y="5257800"/>
            <a:ext cx="45720" cy="6217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1371600" y="5276088"/>
            <a:ext cx="3032760" cy="603504"/>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Paso de comunicación </a:t>
            </a:r>
            <a:r>
              <a:rPr sz="750" b="1" i="0">
                <a:solidFill>
                  <a:srgbClr val="85D5E6"/>
                </a:solidFill>
                <a:effectLst>
                  <a:glow rad="63500">
                    <a:srgbClr val="001633">
                      <a:alpha val="85000"/>
                    </a:srgbClr>
                  </a:glow>
                </a:effectLst>
                <a:latin typeface="Montserrat"/>
              </a:rPr>
              <a:t>siempre</a:t>
            </a:r>
          </a:p>
          <a:p>
            <a:pPr algn="l">
              <a:spcAft>
                <a:spcPts val="0"/>
              </a:spcAft>
            </a:pPr>
            <a:r>
              <a:rPr sz="800" b="0" i="0">
                <a:solidFill>
                  <a:srgbClr val="A9B8C9"/>
                </a:solidFill>
                <a:effectLst>
                  <a:glow rad="63500">
                    <a:srgbClr val="001633">
                      <a:alpha val="85000"/>
                    </a:srgbClr>
                  </a:glow>
                </a:effectLst>
                <a:latin typeface="Montserrat"/>
              </a:rPr>
              <a:t>cada cuánto se entregan entradas y se avanza</a:t>
            </a:r>
          </a:p>
          <a:p>
            <a:pPr algn="l">
              <a:spcAft>
                <a:spcPts val="0"/>
              </a:spcAft>
            </a:pPr>
            <a:r>
              <a:rPr sz="800" b="1" i="0">
                <a:solidFill>
                  <a:srgbClr val="FFAB40"/>
                </a:solidFill>
                <a:effectLst>
                  <a:glow rad="63500">
                    <a:srgbClr val="001633">
                      <a:alpha val="85000"/>
                    </a:srgbClr>
                  </a:glow>
                </a:effectLst>
                <a:latin typeface="Montserrat"/>
              </a:rPr>
              <a:t>Ej.: </a:t>
            </a:r>
            <a:r>
              <a:rPr sz="800" b="0" i="0">
                <a:solidFill>
                  <a:srgbClr val="FFFFFF"/>
                </a:solidFill>
                <a:effectLst>
                  <a:glow rad="63500">
                    <a:srgbClr val="001633">
                      <a:alpha val="85000"/>
                    </a:srgbClr>
                  </a:glow>
                </a:effectLst>
                <a:latin typeface="Montserrat"/>
              </a:rPr>
              <a:t>1 s sirve en molienda; 60 s ya es tarde</a:t>
            </a:r>
          </a:p>
        </p:txBody>
      </p:sp>
      <p:sp>
        <p:nvSpPr>
          <p:cNvPr id="45" name="Cuidado Extrapolación"/>
          <p:cNvSpPr/>
          <p:nvPr/>
        </p:nvSpPr>
        <p:spPr>
          <a:xfrm>
            <a:off x="4651248" y="5257800"/>
            <a:ext cx="3215640" cy="6217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Marca"/>
          <p:cNvSpPr/>
          <p:nvPr/>
        </p:nvSpPr>
        <p:spPr>
          <a:xfrm>
            <a:off x="4651248" y="5257800"/>
            <a:ext cx="45720" cy="621792"/>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4770120" y="5276088"/>
            <a:ext cx="3032760" cy="603504"/>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Extrapolación </a:t>
            </a:r>
            <a:r>
              <a:rPr sz="750" b="1" i="0">
                <a:solidFill>
                  <a:srgbClr val="85D5E6"/>
                </a:solidFill>
                <a:effectLst>
                  <a:glow rad="63500">
                    <a:srgbClr val="001633">
                      <a:alpha val="85000"/>
                    </a:srgbClr>
                  </a:glow>
                </a:effectLst>
                <a:latin typeface="Montserrat"/>
              </a:rPr>
              <a:t>siempre</a:t>
            </a:r>
          </a:p>
          <a:p>
            <a:pPr algn="l">
              <a:spcAft>
                <a:spcPts val="0"/>
              </a:spcAft>
            </a:pPr>
            <a:r>
              <a:rPr sz="800" b="0" i="0">
                <a:solidFill>
                  <a:srgbClr val="A9B8C9"/>
                </a:solidFill>
                <a:effectLst>
                  <a:glow rad="63500">
                    <a:srgbClr val="001633">
                      <a:alpha val="85000"/>
                    </a:srgbClr>
                  </a:glow>
                </a:effectLst>
                <a:latin typeface="Montserrat"/>
              </a:rPr>
              <a:t>entre pasos, la FMU supone entradas constantes</a:t>
            </a:r>
          </a:p>
          <a:p>
            <a:pPr algn="l">
              <a:spcAft>
                <a:spcPts val="0"/>
              </a:spcAft>
            </a:pPr>
            <a:r>
              <a:rPr sz="800" b="1" i="0">
                <a:solidFill>
                  <a:srgbClr val="FFAB40"/>
                </a:solidFill>
                <a:effectLst>
                  <a:glow rad="63500">
                    <a:srgbClr val="001633">
                      <a:alpha val="85000"/>
                    </a:srgbClr>
                  </a:glow>
                </a:effectLst>
                <a:latin typeface="Montserrat"/>
              </a:rPr>
              <a:t>Ej.: </a:t>
            </a:r>
            <a:r>
              <a:rPr sz="800" b="0" i="0">
                <a:solidFill>
                  <a:srgbClr val="FFFFFF"/>
                </a:solidFill>
                <a:effectLst>
                  <a:glow rad="63500">
                    <a:srgbClr val="001633">
                      <a:alpha val="85000"/>
                    </a:srgbClr>
                  </a:glow>
                </a:effectLst>
                <a:latin typeface="Montserrat"/>
              </a:rPr>
              <a:t>la dureza sube y el modelo lo nota un paso después</a:t>
            </a:r>
          </a:p>
        </p:txBody>
      </p:sp>
      <p:sp>
        <p:nvSpPr>
          <p:cNvPr id="48" name="Cuidado Lazos algebraicos"/>
          <p:cNvSpPr/>
          <p:nvPr/>
        </p:nvSpPr>
        <p:spPr>
          <a:xfrm>
            <a:off x="8049768" y="5257800"/>
            <a:ext cx="3215640" cy="62179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Marca"/>
          <p:cNvSpPr/>
          <p:nvPr/>
        </p:nvSpPr>
        <p:spPr>
          <a:xfrm>
            <a:off x="8049768" y="5257800"/>
            <a:ext cx="45720" cy="621792"/>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TextBox 49"/>
          <p:cNvSpPr txBox="1"/>
          <p:nvPr/>
        </p:nvSpPr>
        <p:spPr>
          <a:xfrm>
            <a:off x="8168640" y="5276088"/>
            <a:ext cx="3032760" cy="603504"/>
          </a:xfrm>
          <a:prstGeom prst="rect">
            <a:avLst/>
          </a:prstGeom>
          <a:noFill/>
        </p:spPr>
        <p:txBody>
          <a:bodyPr wrap="square" lIns="0" tIns="0" rIns="0" bIns="0" anchor="t">
            <a:spAutoFit/>
          </a:bodyPr>
          <a:lstStyle/>
          <a:p>
            <a:pPr algn="l">
              <a:spcAft>
                <a:spcPts val="0"/>
              </a:spcAft>
            </a:pPr>
            <a:r>
              <a:rPr sz="950" b="1" i="0">
                <a:solidFill>
                  <a:srgbClr val="FFFFFF"/>
                </a:solidFill>
                <a:effectLst>
                  <a:glow rad="63500">
                    <a:srgbClr val="001633">
                      <a:alpha val="85000"/>
                    </a:srgbClr>
                  </a:glow>
                </a:effectLst>
                <a:latin typeface="Montserrat"/>
              </a:rPr>
              <a:t>Lazos algebraicos </a:t>
            </a:r>
            <a:r>
              <a:rPr sz="750" b="1" i="0">
                <a:solidFill>
                  <a:srgbClr val="FFAB40"/>
                </a:solidFill>
                <a:effectLst>
                  <a:glow rad="63500">
                    <a:srgbClr val="001633">
                      <a:alpha val="85000"/>
                    </a:srgbClr>
                  </a:glow>
                </a:effectLst>
                <a:latin typeface="Montserrat"/>
              </a:rPr>
              <a:t>solo con varias FMU</a:t>
            </a:r>
          </a:p>
          <a:p>
            <a:pPr algn="l">
              <a:spcAft>
                <a:spcPts val="0"/>
              </a:spcAft>
            </a:pPr>
            <a:r>
              <a:rPr sz="800" b="0" i="0">
                <a:solidFill>
                  <a:srgbClr val="A9B8C9"/>
                </a:solidFill>
                <a:effectLst>
                  <a:glow rad="63500">
                    <a:srgbClr val="001633">
                      <a:alpha val="85000"/>
                    </a:srgbClr>
                  </a:glow>
                </a:effectLst>
                <a:latin typeface="Montserrat"/>
              </a:rPr>
              <a:t>dos FMU necesitan a la vez la salida de la otra</a:t>
            </a:r>
          </a:p>
          <a:p>
            <a:pPr algn="l">
              <a:spcAft>
                <a:spcPts val="0"/>
              </a:spcAft>
            </a:pPr>
            <a:r>
              <a:rPr sz="800" b="1" i="0">
                <a:solidFill>
                  <a:srgbClr val="FFAB40"/>
                </a:solidFill>
                <a:effectLst>
                  <a:glow rad="63500">
                    <a:srgbClr val="001633">
                      <a:alpha val="85000"/>
                    </a:srgbClr>
                  </a:glow>
                </a:effectLst>
                <a:latin typeface="Montserrat"/>
              </a:rPr>
              <a:t>Ej.: </a:t>
            </a:r>
            <a:r>
              <a:rPr sz="800" b="0" i="0">
                <a:solidFill>
                  <a:srgbClr val="FFFFFF"/>
                </a:solidFill>
                <a:effectLst>
                  <a:glow rad="63500">
                    <a:srgbClr val="001633">
                      <a:alpha val="85000"/>
                    </a:srgbClr>
                  </a:glow>
                </a:effectLst>
                <a:latin typeface="Montserrat"/>
              </a:rPr>
              <a:t>potencia y torque entre molino y accionamiento</a:t>
            </a:r>
          </a:p>
        </p:txBody>
      </p:sp>
      <p:sp>
        <p:nvSpPr>
          <p:cNvPr id="5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Functional Mock-up Interface: modo Co-Simulation [19] · ejemplo ilustrativo</a:t>
            </a:r>
          </a:p>
        </p:txBody>
      </p:sp>
      <p:sp>
        <p:nvSpPr>
          <p:cNvPr id="5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I actual"/>
          <p:cNvSpPr/>
          <p:nvPr/>
        </p:nvSpPr>
        <p:spPr>
          <a:xfrm>
            <a:off x="5001768" y="6510528"/>
            <a:ext cx="1092855"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19/31 </a:t>
            </a:r>
            <a:r>
              <a:rPr sz="1000" b="0" i="0">
                <a:solidFill>
                  <a:srgbClr val="A9B8C9"/>
                </a:solidFill>
                <a:effectLst>
                  <a:glow rad="63500">
                    <a:srgbClr val="001633">
                      <a:alpha val="85000"/>
                    </a:srgbClr>
                  </a:glow>
                </a:effectLst>
                <a:latin typeface="Montserrat"/>
              </a:rPr>
              <a:t>· Gemelos Digitales para Minería 4.0 · 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Así se arma un gemelo multiproveedor: cada pieza en su capa, unidas por estándares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Cada proveedor entrega su pieza en un formato estándar; el integrador las une y conecta el conjunto a los datos de planta. Ejemplo: el circuito de molienda.</a:t>
            </a:r>
          </a:p>
        </p:txBody>
      </p:sp>
      <p:sp>
        <p:nvSpPr>
          <p:cNvPr id="7" name="TextBox 6"/>
          <p:cNvSpPr txBox="1"/>
          <p:nvPr/>
        </p:nvSpPr>
        <p:spPr>
          <a:xfrm>
            <a:off x="8842248" y="2240280"/>
            <a:ext cx="242316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UN DATO SUBE POR LAS CAPAS ↑</a:t>
            </a:r>
          </a:p>
        </p:txBody>
      </p:sp>
      <p:sp>
        <p:nvSpPr>
          <p:cNvPr id="8" name="Capa 5"/>
          <p:cNvSpPr/>
          <p:nvPr/>
        </p:nvSpPr>
        <p:spPr>
          <a:xfrm>
            <a:off x="1252728" y="2487168"/>
            <a:ext cx="6903720" cy="5303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362456" y="2487168"/>
            <a:ext cx="1783080" cy="53035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5 </a:t>
            </a:r>
            <a:r>
              <a:rPr sz="1000" b="1" i="0">
                <a:solidFill>
                  <a:srgbClr val="FFFFFF"/>
                </a:solidFill>
                <a:effectLst>
                  <a:glow rad="63500">
                    <a:srgbClr val="001633">
                      <a:alpha val="85000"/>
                    </a:srgbClr>
                  </a:glow>
                </a:effectLst>
                <a:latin typeface="Montserrat"/>
              </a:rPr>
              <a:t>Aplicaciones</a:t>
            </a:r>
          </a:p>
        </p:txBody>
      </p:sp>
      <p:sp>
        <p:nvSpPr>
          <p:cNvPr id="10" name="Pieza tablero"/>
          <p:cNvSpPr/>
          <p:nvPr/>
        </p:nvSpPr>
        <p:spPr>
          <a:xfrm>
            <a:off x="3108960" y="2578608"/>
            <a:ext cx="2432304" cy="347472"/>
          </a:xfrm>
          <a:prstGeom prst="rect">
            <a:avLst/>
          </a:prstGeom>
          <a:solidFill>
            <a:srgbClr val="001633"/>
          </a:solidFill>
          <a:ln w="285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108960" y="2578608"/>
            <a:ext cx="2432304"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tablero</a:t>
            </a:r>
          </a:p>
        </p:txBody>
      </p:sp>
      <p:sp>
        <p:nvSpPr>
          <p:cNvPr id="12" name="Pieza escenarios what-if"/>
          <p:cNvSpPr/>
          <p:nvPr/>
        </p:nvSpPr>
        <p:spPr>
          <a:xfrm>
            <a:off x="5614416" y="2578608"/>
            <a:ext cx="2432304" cy="347472"/>
          </a:xfrm>
          <a:prstGeom prst="rect">
            <a:avLst/>
          </a:prstGeom>
          <a:solidFill>
            <a:srgbClr val="001633"/>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5614416" y="2578608"/>
            <a:ext cx="2432304" cy="347472"/>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escenarios what-if</a:t>
            </a:r>
          </a:p>
        </p:txBody>
      </p:sp>
      <p:sp>
        <p:nvSpPr>
          <p:cNvPr id="14" name="TextBox 13"/>
          <p:cNvSpPr txBox="1"/>
          <p:nvPr/>
        </p:nvSpPr>
        <p:spPr>
          <a:xfrm>
            <a:off x="8842248" y="2487168"/>
            <a:ext cx="2423160" cy="53035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el tablero muestra el P80 estimado, que nadie mide en línea</a:t>
            </a:r>
          </a:p>
        </p:txBody>
      </p:sp>
      <p:sp>
        <p:nvSpPr>
          <p:cNvPr id="15" name="Punto viaje 5"/>
          <p:cNvSpPr/>
          <p:nvPr/>
        </p:nvSpPr>
        <p:spPr>
          <a:xfrm>
            <a:off x="8586216" y="2670048"/>
            <a:ext cx="164592" cy="164592"/>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apa 4"/>
          <p:cNvSpPr/>
          <p:nvPr/>
        </p:nvSpPr>
        <p:spPr>
          <a:xfrm>
            <a:off x="1252728" y="3090672"/>
            <a:ext cx="6903720" cy="5303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TextBox 16"/>
          <p:cNvSpPr txBox="1"/>
          <p:nvPr/>
        </p:nvSpPr>
        <p:spPr>
          <a:xfrm>
            <a:off x="1362456" y="3090672"/>
            <a:ext cx="1783080" cy="53035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4 </a:t>
            </a:r>
            <a:r>
              <a:rPr sz="1000" b="1" i="0">
                <a:solidFill>
                  <a:srgbClr val="FFFFFF"/>
                </a:solidFill>
                <a:effectLst>
                  <a:glow rad="63500">
                    <a:srgbClr val="001633">
                      <a:alpha val="85000"/>
                    </a:srgbClr>
                  </a:glow>
                </a:effectLst>
                <a:latin typeface="Montserrat"/>
              </a:rPr>
              <a:t>Infraestructura</a:t>
            </a:r>
          </a:p>
        </p:txBody>
      </p:sp>
      <p:sp>
        <p:nvSpPr>
          <p:cNvPr id="18" name="Pieza servidor en faena: maestro (Python + FMPy)"/>
          <p:cNvSpPr/>
          <p:nvPr/>
        </p:nvSpPr>
        <p:spPr>
          <a:xfrm>
            <a:off x="3108960" y="3182112"/>
            <a:ext cx="4937760" cy="347472"/>
          </a:xfrm>
          <a:prstGeom prst="rect">
            <a:avLst/>
          </a:prstGeom>
          <a:solidFill>
            <a:srgbClr val="001633"/>
          </a:solidFill>
          <a:ln w="285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108960" y="3182112"/>
            <a:ext cx="4937760"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servidor en faena: maestro (Python + FMPy)</a:t>
            </a:r>
          </a:p>
        </p:txBody>
      </p:sp>
      <p:sp>
        <p:nvSpPr>
          <p:cNvPr id="20" name="TextBox 19"/>
          <p:cNvSpPr txBox="1"/>
          <p:nvPr/>
        </p:nvSpPr>
        <p:spPr>
          <a:xfrm>
            <a:off x="8842248" y="3090672"/>
            <a:ext cx="2423160" cy="53035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el maestro avanza las FMU cada 1 s</a:t>
            </a:r>
          </a:p>
        </p:txBody>
      </p:sp>
      <p:sp>
        <p:nvSpPr>
          <p:cNvPr id="21" name="Punto viaje 4"/>
          <p:cNvSpPr/>
          <p:nvPr/>
        </p:nvSpPr>
        <p:spPr>
          <a:xfrm>
            <a:off x="8586216" y="3273552"/>
            <a:ext cx="164592" cy="164592"/>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Capa 3"/>
          <p:cNvSpPr/>
          <p:nvPr/>
        </p:nvSpPr>
        <p:spPr>
          <a:xfrm>
            <a:off x="1252728" y="3694176"/>
            <a:ext cx="6903720" cy="530352"/>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1362456" y="3694176"/>
            <a:ext cx="1783080" cy="53035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3 </a:t>
            </a:r>
            <a:r>
              <a:rPr sz="1000" b="1" i="0">
                <a:solidFill>
                  <a:srgbClr val="FFFFFF"/>
                </a:solidFill>
                <a:effectLst>
                  <a:glow rad="63500">
                    <a:srgbClr val="001633">
                      <a:alpha val="85000"/>
                    </a:srgbClr>
                  </a:glow>
                </a:effectLst>
                <a:latin typeface="Montserrat"/>
              </a:rPr>
              <a:t>Modelamiento</a:t>
            </a:r>
          </a:p>
        </p:txBody>
      </p:sp>
      <p:sp>
        <p:nvSpPr>
          <p:cNvPr id="24" name="Pieza FMU molino"/>
          <p:cNvSpPr/>
          <p:nvPr/>
        </p:nvSpPr>
        <p:spPr>
          <a:xfrm>
            <a:off x="3108960" y="3785616"/>
            <a:ext cx="1179576" cy="347472"/>
          </a:xfrm>
          <a:prstGeom prst="rect">
            <a:avLst/>
          </a:prstGeom>
          <a:solidFill>
            <a:srgbClr val="3D8BD8"/>
          </a:solidFill>
          <a:ln w="12700">
            <a:solidFill>
              <a:srgbClr val="3D8BD8"/>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3108960" y="3785616"/>
            <a:ext cx="1179576"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FMU molino</a:t>
            </a:r>
          </a:p>
        </p:txBody>
      </p:sp>
      <p:sp>
        <p:nvSpPr>
          <p:cNvPr id="26" name="Pieza FMU accionam."/>
          <p:cNvSpPr/>
          <p:nvPr/>
        </p:nvSpPr>
        <p:spPr>
          <a:xfrm>
            <a:off x="4361688" y="3785616"/>
            <a:ext cx="1179576" cy="347472"/>
          </a:xfrm>
          <a:prstGeom prst="rect">
            <a:avLst/>
          </a:prstGeom>
          <a:solidFill>
            <a:srgbClr val="2BA88A"/>
          </a:solidFill>
          <a:ln w="12700">
            <a:solidFill>
              <a:srgbClr val="2BA8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361688" y="3785616"/>
            <a:ext cx="1179576"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FMU accionam.</a:t>
            </a:r>
          </a:p>
        </p:txBody>
      </p:sp>
      <p:sp>
        <p:nvSpPr>
          <p:cNvPr id="28" name="Pieza FMU ciclones"/>
          <p:cNvSpPr/>
          <p:nvPr/>
        </p:nvSpPr>
        <p:spPr>
          <a:xfrm>
            <a:off x="5614416" y="3785616"/>
            <a:ext cx="1179576" cy="347472"/>
          </a:xfrm>
          <a:prstGeom prst="rect">
            <a:avLst/>
          </a:prstGeom>
          <a:solidFill>
            <a:srgbClr val="9B6BD6"/>
          </a:solidFill>
          <a:ln w="285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5614416" y="3785616"/>
            <a:ext cx="1179576"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FMU ciclones</a:t>
            </a:r>
          </a:p>
        </p:txBody>
      </p:sp>
      <p:sp>
        <p:nvSpPr>
          <p:cNvPr id="30" name="Pieza MPC control"/>
          <p:cNvSpPr/>
          <p:nvPr/>
        </p:nvSpPr>
        <p:spPr>
          <a:xfrm>
            <a:off x="6867144" y="3785616"/>
            <a:ext cx="1179576" cy="347472"/>
          </a:xfrm>
          <a:prstGeom prst="rect">
            <a:avLst/>
          </a:prstGeom>
          <a:solidFill>
            <a:srgbClr val="E0565B"/>
          </a:solidFill>
          <a:ln w="12700">
            <a:solidFill>
              <a:srgbClr val="E0565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67144" y="3785616"/>
            <a:ext cx="1179576"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MPC control</a:t>
            </a:r>
          </a:p>
        </p:txBody>
      </p:sp>
      <p:sp>
        <p:nvSpPr>
          <p:cNvPr id="32" name="TextBox 31"/>
          <p:cNvSpPr txBox="1"/>
          <p:nvPr/>
        </p:nvSpPr>
        <p:spPr>
          <a:xfrm>
            <a:off x="8842248" y="3694176"/>
            <a:ext cx="2423160" cy="53035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es entrada de la FMU de ciclones</a:t>
            </a:r>
          </a:p>
        </p:txBody>
      </p:sp>
      <p:sp>
        <p:nvSpPr>
          <p:cNvPr id="33" name="Punto viaje 3"/>
          <p:cNvSpPr/>
          <p:nvPr/>
        </p:nvSpPr>
        <p:spPr>
          <a:xfrm>
            <a:off x="8586216" y="3877056"/>
            <a:ext cx="164592" cy="164592"/>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Capa 2"/>
          <p:cNvSpPr/>
          <p:nvPr/>
        </p:nvSpPr>
        <p:spPr>
          <a:xfrm>
            <a:off x="1252728" y="4297680"/>
            <a:ext cx="6903720" cy="5303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TextBox 34"/>
          <p:cNvSpPr txBox="1"/>
          <p:nvPr/>
        </p:nvSpPr>
        <p:spPr>
          <a:xfrm>
            <a:off x="1362456" y="4297680"/>
            <a:ext cx="1783080" cy="53035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2 </a:t>
            </a:r>
            <a:r>
              <a:rPr sz="1000" b="1" i="0">
                <a:solidFill>
                  <a:srgbClr val="FFFFFF"/>
                </a:solidFill>
                <a:effectLst>
                  <a:glow rad="63500">
                    <a:srgbClr val="001633">
                      <a:alpha val="85000"/>
                    </a:srgbClr>
                  </a:glow>
                </a:effectLst>
                <a:latin typeface="Montserrat"/>
              </a:rPr>
              <a:t>Integración</a:t>
            </a:r>
          </a:p>
        </p:txBody>
      </p:sp>
      <p:sp>
        <p:nvSpPr>
          <p:cNvPr id="36" name="Pieza OPC UA"/>
          <p:cNvSpPr/>
          <p:nvPr/>
        </p:nvSpPr>
        <p:spPr>
          <a:xfrm>
            <a:off x="3108960" y="4389120"/>
            <a:ext cx="1597152" cy="347472"/>
          </a:xfrm>
          <a:prstGeom prst="rect">
            <a:avLst/>
          </a:prstGeom>
          <a:solidFill>
            <a:srgbClr val="001633"/>
          </a:solidFill>
          <a:ln w="285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3108960" y="4389120"/>
            <a:ext cx="1597152"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OPC UA</a:t>
            </a:r>
          </a:p>
        </p:txBody>
      </p:sp>
      <p:sp>
        <p:nvSpPr>
          <p:cNvPr id="38" name="Pieza historian"/>
          <p:cNvSpPr/>
          <p:nvPr/>
        </p:nvSpPr>
        <p:spPr>
          <a:xfrm>
            <a:off x="4779264" y="4389120"/>
            <a:ext cx="1597152" cy="347472"/>
          </a:xfrm>
          <a:prstGeom prst="rect">
            <a:avLst/>
          </a:prstGeom>
          <a:solidFill>
            <a:srgbClr val="001633"/>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4779264" y="4389120"/>
            <a:ext cx="1597152" cy="347472"/>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historian</a:t>
            </a:r>
          </a:p>
        </p:txBody>
      </p:sp>
      <p:sp>
        <p:nvSpPr>
          <p:cNvPr id="40" name="Pieza SSP"/>
          <p:cNvSpPr/>
          <p:nvPr/>
        </p:nvSpPr>
        <p:spPr>
          <a:xfrm>
            <a:off x="6449568" y="4389120"/>
            <a:ext cx="1597152" cy="347472"/>
          </a:xfrm>
          <a:prstGeom prst="rect">
            <a:avLst/>
          </a:prstGeom>
          <a:solidFill>
            <a:srgbClr val="001633"/>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TextBox 40"/>
          <p:cNvSpPr txBox="1"/>
          <p:nvPr/>
        </p:nvSpPr>
        <p:spPr>
          <a:xfrm>
            <a:off x="6449568" y="4389120"/>
            <a:ext cx="1597152" cy="347472"/>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SSP</a:t>
            </a:r>
          </a:p>
        </p:txBody>
      </p:sp>
      <p:sp>
        <p:nvSpPr>
          <p:cNvPr id="42" name="TextBox 41"/>
          <p:cNvSpPr txBox="1"/>
          <p:nvPr/>
        </p:nvSpPr>
        <p:spPr>
          <a:xfrm>
            <a:off x="8842248" y="4297680"/>
            <a:ext cx="2423160" cy="53035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llega por OPC UA, con su unidad</a:t>
            </a:r>
          </a:p>
        </p:txBody>
      </p:sp>
      <p:sp>
        <p:nvSpPr>
          <p:cNvPr id="43" name="Punto viaje 2"/>
          <p:cNvSpPr/>
          <p:nvPr/>
        </p:nvSpPr>
        <p:spPr>
          <a:xfrm>
            <a:off x="8586216" y="4480560"/>
            <a:ext cx="164592" cy="164592"/>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Capa 1"/>
          <p:cNvSpPr/>
          <p:nvPr/>
        </p:nvSpPr>
        <p:spPr>
          <a:xfrm>
            <a:off x="1252728" y="4901184"/>
            <a:ext cx="6903720" cy="530352"/>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p:cNvSpPr txBox="1"/>
          <p:nvPr/>
        </p:nvSpPr>
        <p:spPr>
          <a:xfrm>
            <a:off x="1362456" y="4901184"/>
            <a:ext cx="1783080" cy="530352"/>
          </a:xfrm>
          <a:prstGeom prst="rect">
            <a:avLst/>
          </a:prstGeom>
          <a:noFill/>
        </p:spPr>
        <p:txBody>
          <a:bodyPr wrap="square" lIns="0" tIns="0" rIns="0" bIns="0" anchor="ctr">
            <a:spAutoFit/>
          </a:bodyPr>
          <a:lstStyle/>
          <a:p>
            <a:pPr algn="l">
              <a:spcAft>
                <a:spcPts val="600"/>
              </a:spcAft>
            </a:pPr>
            <a:r>
              <a:rPr sz="1200" b="1" i="0">
                <a:solidFill>
                  <a:srgbClr val="FFAB40"/>
                </a:solidFill>
                <a:effectLst>
                  <a:glow rad="63500">
                    <a:srgbClr val="001633">
                      <a:alpha val="85000"/>
                    </a:srgbClr>
                  </a:glow>
                </a:effectLst>
                <a:latin typeface="Montserrat"/>
              </a:rPr>
              <a:t>1 </a:t>
            </a:r>
            <a:r>
              <a:rPr sz="1000" b="1" i="0">
                <a:solidFill>
                  <a:srgbClr val="FFFFFF"/>
                </a:solidFill>
                <a:effectLst>
                  <a:glow rad="63500">
                    <a:srgbClr val="001633">
                      <a:alpha val="85000"/>
                    </a:srgbClr>
                  </a:glow>
                </a:effectLst>
                <a:latin typeface="Montserrat"/>
              </a:rPr>
              <a:t>Fuentes de datos</a:t>
            </a:r>
          </a:p>
        </p:txBody>
      </p:sp>
      <p:sp>
        <p:nvSpPr>
          <p:cNvPr id="46" name="Pieza DCS"/>
          <p:cNvSpPr/>
          <p:nvPr/>
        </p:nvSpPr>
        <p:spPr>
          <a:xfrm>
            <a:off x="3108960" y="4992624"/>
            <a:ext cx="1597152" cy="347472"/>
          </a:xfrm>
          <a:prstGeom prst="rect">
            <a:avLst/>
          </a:prstGeom>
          <a:solidFill>
            <a:srgbClr val="001633"/>
          </a:solidFill>
          <a:ln w="285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3108960" y="4992624"/>
            <a:ext cx="1597152" cy="347472"/>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DCS</a:t>
            </a:r>
          </a:p>
        </p:txBody>
      </p:sp>
      <p:sp>
        <p:nvSpPr>
          <p:cNvPr id="48" name="Pieza analizador de tamaño"/>
          <p:cNvSpPr/>
          <p:nvPr/>
        </p:nvSpPr>
        <p:spPr>
          <a:xfrm>
            <a:off x="4779264" y="4992624"/>
            <a:ext cx="1597152" cy="347472"/>
          </a:xfrm>
          <a:prstGeom prst="rect">
            <a:avLst/>
          </a:prstGeom>
          <a:solidFill>
            <a:srgbClr val="001633"/>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4779264" y="4992624"/>
            <a:ext cx="1597152" cy="347472"/>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analizador de tamaño</a:t>
            </a:r>
          </a:p>
        </p:txBody>
      </p:sp>
      <p:sp>
        <p:nvSpPr>
          <p:cNvPr id="50" name="Pieza laboratorio"/>
          <p:cNvSpPr/>
          <p:nvPr/>
        </p:nvSpPr>
        <p:spPr>
          <a:xfrm>
            <a:off x="6449568" y="4992624"/>
            <a:ext cx="1597152" cy="347472"/>
          </a:xfrm>
          <a:prstGeom prst="rect">
            <a:avLst/>
          </a:prstGeom>
          <a:solidFill>
            <a:srgbClr val="001633"/>
          </a:solidFill>
          <a:ln w="12700">
            <a:solidFill>
              <a:srgbClr val="8A99AD"/>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449568" y="4992624"/>
            <a:ext cx="1597152" cy="347472"/>
          </a:xfrm>
          <a:prstGeom prst="rect">
            <a:avLst/>
          </a:prstGeom>
          <a:noFill/>
        </p:spPr>
        <p:txBody>
          <a:bodyPr wrap="square" lIns="0" tIns="0" rIns="0" bIns="0" anchor="ctr">
            <a:spAutoFit/>
          </a:bodyPr>
          <a:lstStyle/>
          <a:p>
            <a:pPr algn="ctr">
              <a:spcAft>
                <a:spcPts val="600"/>
              </a:spcAft>
            </a:pPr>
            <a:r>
              <a:rPr sz="850" b="0" i="0">
                <a:solidFill>
                  <a:srgbClr val="FFFFFF"/>
                </a:solidFill>
                <a:effectLst>
                  <a:glow rad="63500">
                    <a:srgbClr val="001633">
                      <a:alpha val="85000"/>
                    </a:srgbClr>
                  </a:glow>
                </a:effectLst>
                <a:latin typeface="Montserrat"/>
              </a:rPr>
              <a:t>laboratorio</a:t>
            </a:r>
          </a:p>
        </p:txBody>
      </p:sp>
      <p:sp>
        <p:nvSpPr>
          <p:cNvPr id="52" name="TextBox 51"/>
          <p:cNvSpPr txBox="1"/>
          <p:nvPr/>
        </p:nvSpPr>
        <p:spPr>
          <a:xfrm>
            <a:off x="8842248" y="4901184"/>
            <a:ext cx="2423160" cy="530352"/>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el DCS mide la presión de los ciclones</a:t>
            </a:r>
          </a:p>
        </p:txBody>
      </p:sp>
      <p:sp>
        <p:nvSpPr>
          <p:cNvPr id="53" name="Punto viaje 1"/>
          <p:cNvSpPr/>
          <p:nvPr/>
        </p:nvSpPr>
        <p:spPr>
          <a:xfrm>
            <a:off x="8586216" y="5084064"/>
            <a:ext cx="164592" cy="164592"/>
          </a:xfrm>
          <a:prstGeom prst="ellipse">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54" name="Viaje del dato"/>
          <p:cNvCxnSpPr/>
          <p:nvPr/>
        </p:nvCxnSpPr>
        <p:spPr>
          <a:xfrm flipV="1">
            <a:off x="8668512" y="2752344"/>
            <a:ext cx="0" cy="2414016"/>
          </a:xfrm>
          <a:prstGeom prst="line">
            <a:avLst/>
          </a:prstGeom>
          <a:ln w="2540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55" name="Leyenda fabricante del molino"/>
          <p:cNvSpPr/>
          <p:nvPr/>
        </p:nvSpPr>
        <p:spPr>
          <a:xfrm>
            <a:off x="1252728" y="5577840"/>
            <a:ext cx="118872" cy="118872"/>
          </a:xfrm>
          <a:prstGeom prst="rect">
            <a:avLst/>
          </a:prstGeom>
          <a:solidFill>
            <a:srgbClr val="3D8B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TextBox 55"/>
          <p:cNvSpPr txBox="1"/>
          <p:nvPr/>
        </p:nvSpPr>
        <p:spPr>
          <a:xfrm>
            <a:off x="1426464" y="5541264"/>
            <a:ext cx="2103120" cy="201168"/>
          </a:xfrm>
          <a:prstGeom prst="rect">
            <a:avLst/>
          </a:prstGeom>
          <a:noFill/>
        </p:spPr>
        <p:txBody>
          <a:bodyPr wrap="square" lIns="0" tIns="0" rIns="0" bIns="0" anchor="ctr">
            <a:spAutoFit/>
          </a:bodyPr>
          <a:lstStyle/>
          <a:p>
            <a:pPr algn="l">
              <a:spcAft>
                <a:spcPts val="600"/>
              </a:spcAft>
            </a:pPr>
            <a:r>
              <a:rPr sz="800" b="0" i="0">
                <a:solidFill>
                  <a:srgbClr val="FFFFFF"/>
                </a:solidFill>
                <a:effectLst>
                  <a:glow rad="63500">
                    <a:srgbClr val="001633">
                      <a:alpha val="85000"/>
                    </a:srgbClr>
                  </a:glow>
                </a:effectLst>
                <a:latin typeface="Montserrat"/>
              </a:rPr>
              <a:t>fabricante del molino</a:t>
            </a:r>
          </a:p>
        </p:txBody>
      </p:sp>
      <p:sp>
        <p:nvSpPr>
          <p:cNvPr id="57" name="Leyenda fabricante eléctrico"/>
          <p:cNvSpPr/>
          <p:nvPr/>
        </p:nvSpPr>
        <p:spPr>
          <a:xfrm>
            <a:off x="3584448" y="5577840"/>
            <a:ext cx="118872" cy="118872"/>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TextBox 57"/>
          <p:cNvSpPr txBox="1"/>
          <p:nvPr/>
        </p:nvSpPr>
        <p:spPr>
          <a:xfrm>
            <a:off x="3758184" y="5541264"/>
            <a:ext cx="2103120" cy="201168"/>
          </a:xfrm>
          <a:prstGeom prst="rect">
            <a:avLst/>
          </a:prstGeom>
          <a:noFill/>
        </p:spPr>
        <p:txBody>
          <a:bodyPr wrap="square" lIns="0" tIns="0" rIns="0" bIns="0" anchor="ctr">
            <a:spAutoFit/>
          </a:bodyPr>
          <a:lstStyle/>
          <a:p>
            <a:pPr algn="l">
              <a:spcAft>
                <a:spcPts val="600"/>
              </a:spcAft>
            </a:pPr>
            <a:r>
              <a:rPr sz="800" b="0" i="0">
                <a:solidFill>
                  <a:srgbClr val="FFFFFF"/>
                </a:solidFill>
                <a:effectLst>
                  <a:glow rad="63500">
                    <a:srgbClr val="001633">
                      <a:alpha val="85000"/>
                    </a:srgbClr>
                  </a:glow>
                </a:effectLst>
                <a:latin typeface="Montserrat"/>
              </a:rPr>
              <a:t>fabricante eléctrico</a:t>
            </a:r>
          </a:p>
        </p:txBody>
      </p:sp>
      <p:sp>
        <p:nvSpPr>
          <p:cNvPr id="59" name="Leyenda ingeniería de proceso"/>
          <p:cNvSpPr/>
          <p:nvPr/>
        </p:nvSpPr>
        <p:spPr>
          <a:xfrm>
            <a:off x="5916168" y="5577840"/>
            <a:ext cx="118872" cy="118872"/>
          </a:xfrm>
          <a:prstGeom prst="rect">
            <a:avLst/>
          </a:prstGeom>
          <a:solidFill>
            <a:srgbClr val="9B6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6089904" y="5541264"/>
            <a:ext cx="2103120" cy="201168"/>
          </a:xfrm>
          <a:prstGeom prst="rect">
            <a:avLst/>
          </a:prstGeom>
          <a:noFill/>
        </p:spPr>
        <p:txBody>
          <a:bodyPr wrap="square" lIns="0" tIns="0" rIns="0" bIns="0" anchor="ctr">
            <a:spAutoFit/>
          </a:bodyPr>
          <a:lstStyle/>
          <a:p>
            <a:pPr algn="l">
              <a:spcAft>
                <a:spcPts val="600"/>
              </a:spcAft>
            </a:pPr>
            <a:r>
              <a:rPr sz="800" b="0" i="0">
                <a:solidFill>
                  <a:srgbClr val="FFFFFF"/>
                </a:solidFill>
                <a:effectLst>
                  <a:glow rad="63500">
                    <a:srgbClr val="001633">
                      <a:alpha val="85000"/>
                    </a:srgbClr>
                  </a:glow>
                </a:effectLst>
                <a:latin typeface="Montserrat"/>
              </a:rPr>
              <a:t>ingeniería de proceso</a:t>
            </a:r>
          </a:p>
        </p:txBody>
      </p:sp>
      <p:sp>
        <p:nvSpPr>
          <p:cNvPr id="61" name="Leyenda proveedor del control"/>
          <p:cNvSpPr/>
          <p:nvPr/>
        </p:nvSpPr>
        <p:spPr>
          <a:xfrm>
            <a:off x="1252728" y="5779008"/>
            <a:ext cx="118872" cy="118872"/>
          </a:xfrm>
          <a:prstGeom prst="rect">
            <a:avLst/>
          </a:prstGeom>
          <a:solidFill>
            <a:srgbClr val="E056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TextBox 61"/>
          <p:cNvSpPr txBox="1"/>
          <p:nvPr/>
        </p:nvSpPr>
        <p:spPr>
          <a:xfrm>
            <a:off x="1426464" y="5742432"/>
            <a:ext cx="2103120" cy="201168"/>
          </a:xfrm>
          <a:prstGeom prst="rect">
            <a:avLst/>
          </a:prstGeom>
          <a:noFill/>
        </p:spPr>
        <p:txBody>
          <a:bodyPr wrap="square" lIns="0" tIns="0" rIns="0" bIns="0" anchor="ctr">
            <a:spAutoFit/>
          </a:bodyPr>
          <a:lstStyle/>
          <a:p>
            <a:pPr algn="l">
              <a:spcAft>
                <a:spcPts val="600"/>
              </a:spcAft>
            </a:pPr>
            <a:r>
              <a:rPr sz="800" b="0" i="0">
                <a:solidFill>
                  <a:srgbClr val="FFFFFF"/>
                </a:solidFill>
                <a:effectLst>
                  <a:glow rad="63500">
                    <a:srgbClr val="001633">
                      <a:alpha val="85000"/>
                    </a:srgbClr>
                  </a:glow>
                </a:effectLst>
                <a:latin typeface="Montserrat"/>
              </a:rPr>
              <a:t>proveedor del control</a:t>
            </a:r>
          </a:p>
        </p:txBody>
      </p:sp>
      <p:sp>
        <p:nvSpPr>
          <p:cNvPr id="63" name="Leyenda integrador"/>
          <p:cNvSpPr/>
          <p:nvPr/>
        </p:nvSpPr>
        <p:spPr>
          <a:xfrm>
            <a:off x="3584448" y="5779008"/>
            <a:ext cx="118872" cy="118872"/>
          </a:xfrm>
          <a:prstGeom prst="rect">
            <a:avLst/>
          </a:prstGeom>
          <a:solidFill>
            <a:srgbClr val="8A99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3758184" y="5742432"/>
            <a:ext cx="2103120" cy="201168"/>
          </a:xfrm>
          <a:prstGeom prst="rect">
            <a:avLst/>
          </a:prstGeom>
          <a:noFill/>
        </p:spPr>
        <p:txBody>
          <a:bodyPr wrap="square" lIns="0" tIns="0" rIns="0" bIns="0" anchor="ctr">
            <a:spAutoFit/>
          </a:bodyPr>
          <a:lstStyle/>
          <a:p>
            <a:pPr algn="l">
              <a:spcAft>
                <a:spcPts val="600"/>
              </a:spcAft>
            </a:pPr>
            <a:r>
              <a:rPr sz="800" b="0" i="0">
                <a:solidFill>
                  <a:srgbClr val="FFFFFF"/>
                </a:solidFill>
                <a:effectLst>
                  <a:glow rad="63500">
                    <a:srgbClr val="001633">
                      <a:alpha val="85000"/>
                    </a:srgbClr>
                  </a:glow>
                </a:effectLst>
                <a:latin typeface="Montserrat"/>
              </a:rPr>
              <a:t>integrador</a:t>
            </a:r>
          </a:p>
        </p:txBody>
      </p:sp>
      <p:sp>
        <p:nvSpPr>
          <p:cNvPr id="65" name="TextBox 64"/>
          <p:cNvSpPr txBox="1"/>
          <p:nvPr/>
        </p:nvSpPr>
        <p:spPr>
          <a:xfrm>
            <a:off x="8476488" y="5541264"/>
            <a:ext cx="2788920" cy="365760"/>
          </a:xfrm>
          <a:prstGeom prst="rect">
            <a:avLst/>
          </a:prstGeom>
          <a:noFill/>
        </p:spPr>
        <p:txBody>
          <a:bodyPr wrap="square" lIns="0" tIns="0" rIns="0" bIns="0" anchor="t">
            <a:spAutoFit/>
          </a:bodyPr>
          <a:lstStyle/>
          <a:p>
            <a:pPr algn="l">
              <a:spcAft>
                <a:spcPts val="600"/>
              </a:spcAft>
            </a:pPr>
            <a:r>
              <a:rPr sz="800" b="1" i="0">
                <a:solidFill>
                  <a:srgbClr val="85D5E6"/>
                </a:solidFill>
                <a:effectLst>
                  <a:glow rad="63500">
                    <a:srgbClr val="001633">
                      <a:alpha val="85000"/>
                    </a:srgbClr>
                  </a:glow>
                </a:effectLst>
                <a:latin typeface="Montserrat"/>
              </a:rPr>
              <a:t>▢ </a:t>
            </a:r>
            <a:r>
              <a:rPr sz="800" b="0" i="0">
                <a:solidFill>
                  <a:srgbClr val="A9B8C9"/>
                </a:solidFill>
                <a:effectLst>
                  <a:glow rad="63500">
                    <a:srgbClr val="001633">
                      <a:alpha val="85000"/>
                    </a:srgbClr>
                  </a:glow>
                </a:effectLst>
                <a:latin typeface="Montserrat"/>
              </a:rPr>
              <a:t>borde cian: piezas por las que pasa el dato</a:t>
            </a:r>
          </a:p>
        </p:txBody>
      </p:sp>
      <p:sp>
        <p:nvSpPr>
          <p:cNvPr id="6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Arquitectura ilustrativa con roles genéricos · FMI [19], SSP [20], OPC UA [21]</a:t>
            </a:r>
          </a:p>
        </p:txBody>
      </p:sp>
      <p:sp>
        <p:nvSpPr>
          <p:cNvPr id="6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7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Avance III actual"/>
          <p:cNvSpPr/>
          <p:nvPr/>
        </p:nvSpPr>
        <p:spPr>
          <a:xfrm>
            <a:off x="5001768" y="6510528"/>
            <a:ext cx="1150374"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77"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20/31 </a:t>
            </a:r>
            <a:r>
              <a:rPr sz="1000" b="0" i="0">
                <a:solidFill>
                  <a:srgbClr val="A9B8C9"/>
                </a:solidFill>
                <a:effectLst>
                  <a:glow rad="63500">
                    <a:srgbClr val="001633">
                      <a:alpha val="85000"/>
                    </a:srgbClr>
                  </a:glow>
                </a:effectLst>
                <a:latin typeface="Montserrat"/>
              </a:rPr>
              <a:t>· Gemelos Digitales para Minería 4.0 · 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Seis estándares para tres problemas: unir modelos, mover datos y describir equipos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Cada estándar responde una pregunta distinta. Ninguno reemplaza a otro: un gemelo multiproveedor suele usar varios a la vez.</a:t>
            </a:r>
          </a:p>
        </p:txBody>
      </p:sp>
      <p:sp>
        <p:nvSpPr>
          <p:cNvPr id="7" name="Grupo Unir modelos"/>
          <p:cNvSpPr/>
          <p:nvPr/>
        </p:nvSpPr>
        <p:spPr>
          <a:xfrm>
            <a:off x="1252728" y="2487168"/>
            <a:ext cx="3154680" cy="86868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git-merge" descr="git-merge-orange.png"/>
          <p:cNvPicPr>
            <a:picLocks noChangeAspect="1"/>
          </p:cNvPicPr>
          <p:nvPr/>
        </p:nvPicPr>
        <p:blipFill>
          <a:blip r:embed="rId3"/>
          <a:stretch>
            <a:fillRect/>
          </a:stretch>
        </p:blipFill>
        <p:spPr>
          <a:xfrm>
            <a:off x="1389888" y="2606040"/>
            <a:ext cx="310896" cy="310896"/>
          </a:xfrm>
          <a:prstGeom prst="rect">
            <a:avLst/>
          </a:prstGeom>
        </p:spPr>
      </p:pic>
      <p:sp>
        <p:nvSpPr>
          <p:cNvPr id="9" name="TextBox 8"/>
          <p:cNvSpPr txBox="1"/>
          <p:nvPr/>
        </p:nvSpPr>
        <p:spPr>
          <a:xfrm>
            <a:off x="1801368" y="2542032"/>
            <a:ext cx="1691640" cy="36576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Unir modelos</a:t>
            </a:r>
          </a:p>
        </p:txBody>
      </p:sp>
      <p:sp>
        <p:nvSpPr>
          <p:cNvPr id="10" name="Etiqueta capa 3"/>
          <p:cNvSpPr/>
          <p:nvPr/>
        </p:nvSpPr>
        <p:spPr>
          <a:xfrm>
            <a:off x="3493008" y="2606040"/>
            <a:ext cx="804672" cy="237744"/>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493008" y="2606040"/>
            <a:ext cx="804672" cy="237744"/>
          </a:xfrm>
          <a:prstGeom prst="rect">
            <a:avLst/>
          </a:prstGeom>
          <a:noFill/>
        </p:spPr>
        <p:txBody>
          <a:bodyPr wrap="square" lIns="0" tIns="0" rIns="0" bIns="0" anchor="ctr">
            <a:spAutoFit/>
          </a:bodyPr>
          <a:lstStyle/>
          <a:p>
            <a:pPr algn="ctr">
              <a:spcAft>
                <a:spcPts val="600"/>
              </a:spcAft>
            </a:pPr>
            <a:r>
              <a:rPr sz="750" b="1" i="0">
                <a:solidFill>
                  <a:srgbClr val="FFAB40"/>
                </a:solidFill>
                <a:effectLst>
                  <a:glow rad="63500">
                    <a:srgbClr val="001633">
                      <a:alpha val="85000"/>
                    </a:srgbClr>
                  </a:glow>
                </a:effectLst>
                <a:latin typeface="Montserrat"/>
              </a:rPr>
              <a:t>capa 3</a:t>
            </a:r>
          </a:p>
        </p:txBody>
      </p:sp>
      <p:sp>
        <p:nvSpPr>
          <p:cNvPr id="12" name="TextBox 11"/>
          <p:cNvSpPr txBox="1"/>
          <p:nvPr/>
        </p:nvSpPr>
        <p:spPr>
          <a:xfrm>
            <a:off x="1389888" y="2944368"/>
            <a:ext cx="2926080" cy="384048"/>
          </a:xfrm>
          <a:prstGeom prst="rect">
            <a:avLst/>
          </a:prstGeom>
          <a:noFill/>
        </p:spPr>
        <p:txBody>
          <a:bodyPr wrap="square" lIns="0" tIns="0" rIns="0" bIns="0" anchor="t">
            <a:spAutoFit/>
          </a:bodyPr>
          <a:lstStyle/>
          <a:p>
            <a:pPr algn="l">
              <a:spcAft>
                <a:spcPts val="600"/>
              </a:spcAft>
            </a:pPr>
            <a:r>
              <a:rPr sz="950" b="1" i="0">
                <a:solidFill>
                  <a:srgbClr val="FFAB40"/>
                </a:solidFill>
                <a:effectLst>
                  <a:glow rad="63500">
                    <a:srgbClr val="001633">
                      <a:alpha val="85000"/>
                    </a:srgbClr>
                  </a:glow>
                </a:effectLst>
                <a:latin typeface="Montserrat"/>
              </a:rPr>
              <a:t>¿cómo uso el modelo de otro proveedor?</a:t>
            </a:r>
          </a:p>
        </p:txBody>
      </p:sp>
      <p:sp>
        <p:nvSpPr>
          <p:cNvPr id="13" name="Estándar FMI / FMU"/>
          <p:cNvSpPr/>
          <p:nvPr/>
        </p:nvSpPr>
        <p:spPr>
          <a:xfrm>
            <a:off x="1252728" y="3474720"/>
            <a:ext cx="3154680" cy="7040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arca"/>
          <p:cNvSpPr/>
          <p:nvPr/>
        </p:nvSpPr>
        <p:spPr>
          <a:xfrm>
            <a:off x="1252728" y="3474720"/>
            <a:ext cx="45720" cy="70408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1389888" y="3511296"/>
            <a:ext cx="2926080" cy="658368"/>
          </a:xfrm>
          <a:prstGeom prst="rect">
            <a:avLst/>
          </a:prstGeom>
          <a:noFill/>
        </p:spPr>
        <p:txBody>
          <a:bodyPr wrap="square" lIns="0" tIns="0" rIns="0" bIns="0" anchor="t">
            <a:spAutoFit/>
          </a:bodyPr>
          <a:lstStyle/>
          <a:p>
            <a:pPr algn="l">
              <a:spcAft>
                <a:spcPts val="0"/>
              </a:spcAft>
            </a:pPr>
            <a:r>
              <a:rPr sz="1100" b="1" i="0">
                <a:solidFill>
                  <a:srgbClr val="FFFFFF"/>
                </a:solidFill>
                <a:effectLst>
                  <a:glow rad="63500">
                    <a:srgbClr val="001633">
                      <a:alpha val="85000"/>
                    </a:srgbClr>
                  </a:glow>
                </a:effectLst>
                <a:latin typeface="Montserrat"/>
              </a:rPr>
              <a:t>FMI / FMU </a:t>
            </a:r>
            <a:r>
              <a:rPr sz="750" b="0" i="0">
                <a:solidFill>
                  <a:srgbClr val="A9B8C9"/>
                </a:solidFill>
                <a:effectLst>
                  <a:glow rad="63500">
                    <a:srgbClr val="001633">
                      <a:alpha val="85000"/>
                    </a:srgbClr>
                  </a:glow>
                </a:effectLst>
                <a:latin typeface="Montserrat"/>
              </a:rPr>
              <a:t>[19]</a:t>
            </a:r>
          </a:p>
          <a:p>
            <a:pPr algn="l">
              <a:spcAft>
                <a:spcPts val="0"/>
              </a:spcAft>
            </a:pPr>
            <a:r>
              <a:rPr sz="850" b="0" i="0">
                <a:solidFill>
                  <a:srgbClr val="A9B8C9"/>
                </a:solidFill>
                <a:effectLst>
                  <a:glow rad="63500">
                    <a:srgbClr val="001633">
                      <a:alpha val="85000"/>
                    </a:srgbClr>
                  </a:glow>
                </a:effectLst>
                <a:latin typeface="Montserrat"/>
              </a:rPr>
              <a:t>empaqueta un modelo para que corra en otra herramienta</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la FMU del molino, dentro del gemelo</a:t>
            </a:r>
          </a:p>
        </p:txBody>
      </p:sp>
      <p:sp>
        <p:nvSpPr>
          <p:cNvPr id="16" name="Estándar SSP"/>
          <p:cNvSpPr/>
          <p:nvPr/>
        </p:nvSpPr>
        <p:spPr>
          <a:xfrm>
            <a:off x="1252728" y="4251960"/>
            <a:ext cx="3154680" cy="7040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cNvSpPr/>
          <p:nvPr/>
        </p:nvSpPr>
        <p:spPr>
          <a:xfrm>
            <a:off x="1252728" y="4251960"/>
            <a:ext cx="45720" cy="70408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1389888" y="4288536"/>
            <a:ext cx="2926080" cy="658368"/>
          </a:xfrm>
          <a:prstGeom prst="rect">
            <a:avLst/>
          </a:prstGeom>
          <a:noFill/>
        </p:spPr>
        <p:txBody>
          <a:bodyPr wrap="square" lIns="0" tIns="0" rIns="0" bIns="0" anchor="t">
            <a:spAutoFit/>
          </a:bodyPr>
          <a:lstStyle/>
          <a:p>
            <a:pPr algn="l">
              <a:spcAft>
                <a:spcPts val="0"/>
              </a:spcAft>
            </a:pPr>
            <a:r>
              <a:rPr sz="1100" b="1" i="0">
                <a:solidFill>
                  <a:srgbClr val="FFFFFF"/>
                </a:solidFill>
                <a:effectLst>
                  <a:glow rad="63500">
                    <a:srgbClr val="001633">
                      <a:alpha val="85000"/>
                    </a:srgbClr>
                  </a:glow>
                </a:effectLst>
                <a:latin typeface="Montserrat"/>
              </a:rPr>
              <a:t>SSP </a:t>
            </a:r>
            <a:r>
              <a:rPr sz="750" b="0" i="0">
                <a:solidFill>
                  <a:srgbClr val="A9B8C9"/>
                </a:solidFill>
                <a:effectLst>
                  <a:glow rad="63500">
                    <a:srgbClr val="001633">
                      <a:alpha val="85000"/>
                    </a:srgbClr>
                  </a:glow>
                </a:effectLst>
                <a:latin typeface="Montserrat"/>
              </a:rPr>
              <a:t>[20]</a:t>
            </a:r>
          </a:p>
          <a:p>
            <a:pPr algn="l">
              <a:spcAft>
                <a:spcPts val="0"/>
              </a:spcAft>
            </a:pPr>
            <a:r>
              <a:rPr sz="850" b="0" i="0">
                <a:solidFill>
                  <a:srgbClr val="A9B8C9"/>
                </a:solidFill>
                <a:effectLst>
                  <a:glow rad="63500">
                    <a:srgbClr val="001633">
                      <a:alpha val="85000"/>
                    </a:srgbClr>
                  </a:glow>
                </a:effectLst>
                <a:latin typeface="Montserrat"/>
              </a:rPr>
              <a:t>describe cómo se conectan varias FMU y con qué parámetros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el circuito completo como un solo sistema</a:t>
            </a:r>
          </a:p>
        </p:txBody>
      </p:sp>
      <p:sp>
        <p:nvSpPr>
          <p:cNvPr id="19" name="Grupo Mover datos"/>
          <p:cNvSpPr/>
          <p:nvPr/>
        </p:nvSpPr>
        <p:spPr>
          <a:xfrm>
            <a:off x="4681728" y="2487168"/>
            <a:ext cx="3154680" cy="868680"/>
          </a:xfrm>
          <a:prstGeom prst="rect">
            <a:avLst/>
          </a:prstGeom>
          <a:solidFill>
            <a:srgbClr val="12335E"/>
          </a:solid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Ícono radio-tower" descr="radio-tower-cyan.png"/>
          <p:cNvPicPr>
            <a:picLocks noChangeAspect="1"/>
          </p:cNvPicPr>
          <p:nvPr/>
        </p:nvPicPr>
        <p:blipFill>
          <a:blip r:embed="rId4"/>
          <a:stretch>
            <a:fillRect/>
          </a:stretch>
        </p:blipFill>
        <p:spPr>
          <a:xfrm>
            <a:off x="4818888" y="2606040"/>
            <a:ext cx="310896" cy="310896"/>
          </a:xfrm>
          <a:prstGeom prst="rect">
            <a:avLst/>
          </a:prstGeom>
        </p:spPr>
      </p:pic>
      <p:sp>
        <p:nvSpPr>
          <p:cNvPr id="21" name="TextBox 20"/>
          <p:cNvSpPr txBox="1"/>
          <p:nvPr/>
        </p:nvSpPr>
        <p:spPr>
          <a:xfrm>
            <a:off x="5230368" y="2542032"/>
            <a:ext cx="1691640" cy="36576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Mover datos</a:t>
            </a:r>
          </a:p>
        </p:txBody>
      </p:sp>
      <p:sp>
        <p:nvSpPr>
          <p:cNvPr id="22" name="Etiqueta capas 1 y 2"/>
          <p:cNvSpPr/>
          <p:nvPr/>
        </p:nvSpPr>
        <p:spPr>
          <a:xfrm>
            <a:off x="6922008" y="2606040"/>
            <a:ext cx="804672" cy="237744"/>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922008" y="2606040"/>
            <a:ext cx="804672" cy="237744"/>
          </a:xfrm>
          <a:prstGeom prst="rect">
            <a:avLst/>
          </a:prstGeom>
          <a:noFill/>
        </p:spPr>
        <p:txBody>
          <a:bodyPr wrap="square" lIns="0" tIns="0" rIns="0" bIns="0" anchor="ctr">
            <a:spAutoFit/>
          </a:bodyPr>
          <a:lstStyle/>
          <a:p>
            <a:pPr algn="ctr">
              <a:spcAft>
                <a:spcPts val="600"/>
              </a:spcAft>
            </a:pPr>
            <a:r>
              <a:rPr sz="750" b="1" i="0">
                <a:solidFill>
                  <a:srgbClr val="85D5E6"/>
                </a:solidFill>
                <a:effectLst>
                  <a:glow rad="63500">
                    <a:srgbClr val="001633">
                      <a:alpha val="85000"/>
                    </a:srgbClr>
                  </a:glow>
                </a:effectLst>
                <a:latin typeface="Montserrat"/>
              </a:rPr>
              <a:t>capas 1 y 2</a:t>
            </a:r>
          </a:p>
        </p:txBody>
      </p:sp>
      <p:sp>
        <p:nvSpPr>
          <p:cNvPr id="24" name="TextBox 23"/>
          <p:cNvSpPr txBox="1"/>
          <p:nvPr/>
        </p:nvSpPr>
        <p:spPr>
          <a:xfrm>
            <a:off x="4818888" y="2944368"/>
            <a:ext cx="2926080" cy="384048"/>
          </a:xfrm>
          <a:prstGeom prst="rect">
            <a:avLst/>
          </a:prstGeom>
          <a:noFill/>
        </p:spPr>
        <p:txBody>
          <a:bodyPr wrap="square" lIns="0" tIns="0" rIns="0" bIns="0" anchor="t">
            <a:spAutoFit/>
          </a:bodyPr>
          <a:lstStyle/>
          <a:p>
            <a:pPr algn="l">
              <a:spcAft>
                <a:spcPts val="600"/>
              </a:spcAft>
            </a:pPr>
            <a:r>
              <a:rPr sz="950" b="1" i="0">
                <a:solidFill>
                  <a:srgbClr val="85D5E6"/>
                </a:solidFill>
                <a:effectLst>
                  <a:glow rad="63500">
                    <a:srgbClr val="001633">
                      <a:alpha val="85000"/>
                    </a:srgbClr>
                  </a:glow>
                </a:effectLst>
                <a:latin typeface="Montserrat"/>
              </a:rPr>
              <a:t>¿cómo llegan los datos de planta al gemelo?</a:t>
            </a:r>
          </a:p>
        </p:txBody>
      </p:sp>
      <p:sp>
        <p:nvSpPr>
          <p:cNvPr id="25" name="Estándar OPC UA"/>
          <p:cNvSpPr/>
          <p:nvPr/>
        </p:nvSpPr>
        <p:spPr>
          <a:xfrm>
            <a:off x="4681728" y="3474720"/>
            <a:ext cx="3154680" cy="7040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Marca"/>
          <p:cNvSpPr/>
          <p:nvPr/>
        </p:nvSpPr>
        <p:spPr>
          <a:xfrm>
            <a:off x="4681728" y="3474720"/>
            <a:ext cx="45720" cy="7040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4818888" y="3511296"/>
            <a:ext cx="2926080" cy="658368"/>
          </a:xfrm>
          <a:prstGeom prst="rect">
            <a:avLst/>
          </a:prstGeom>
          <a:noFill/>
        </p:spPr>
        <p:txBody>
          <a:bodyPr wrap="square" lIns="0" tIns="0" rIns="0" bIns="0" anchor="t">
            <a:spAutoFit/>
          </a:bodyPr>
          <a:lstStyle/>
          <a:p>
            <a:pPr algn="l">
              <a:spcAft>
                <a:spcPts val="0"/>
              </a:spcAft>
            </a:pPr>
            <a:r>
              <a:rPr sz="1100" b="1" i="0">
                <a:solidFill>
                  <a:srgbClr val="FFFFFF"/>
                </a:solidFill>
                <a:effectLst>
                  <a:glow rad="63500">
                    <a:srgbClr val="001633">
                      <a:alpha val="85000"/>
                    </a:srgbClr>
                  </a:glow>
                </a:effectLst>
                <a:latin typeface="Montserrat"/>
              </a:rPr>
              <a:t>OPC UA </a:t>
            </a:r>
            <a:r>
              <a:rPr sz="750" b="0" i="0">
                <a:solidFill>
                  <a:srgbClr val="A9B8C9"/>
                </a:solidFill>
                <a:effectLst>
                  <a:glow rad="63500">
                    <a:srgbClr val="001633">
                      <a:alpha val="85000"/>
                    </a:srgbClr>
                  </a:glow>
                </a:effectLst>
                <a:latin typeface="Montserrat"/>
              </a:rPr>
              <a:t>[21]</a:t>
            </a:r>
          </a:p>
          <a:p>
            <a:pPr algn="l">
              <a:spcAft>
                <a:spcPts val="0"/>
              </a:spcAft>
            </a:pPr>
            <a:r>
              <a:rPr sz="850" b="0" i="0">
                <a:solidFill>
                  <a:srgbClr val="A9B8C9"/>
                </a:solidFill>
                <a:effectLst>
                  <a:glow rad="63500">
                    <a:srgbClr val="001633">
                      <a:alpha val="85000"/>
                    </a:srgbClr>
                  </a:glow>
                </a:effectLst>
                <a:latin typeface="Montserrat"/>
              </a:rPr>
              <a:t>lee datos del control con su nombre, unidad y equipo</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presión de ciclones desde el DCS</a:t>
            </a:r>
          </a:p>
        </p:txBody>
      </p:sp>
      <p:sp>
        <p:nvSpPr>
          <p:cNvPr id="28" name="Estándar MQTT"/>
          <p:cNvSpPr/>
          <p:nvPr/>
        </p:nvSpPr>
        <p:spPr>
          <a:xfrm>
            <a:off x="4681728" y="4251960"/>
            <a:ext cx="3154680" cy="7040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Marca"/>
          <p:cNvSpPr/>
          <p:nvPr/>
        </p:nvSpPr>
        <p:spPr>
          <a:xfrm>
            <a:off x="4681728" y="4251960"/>
            <a:ext cx="45720" cy="7040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4818888" y="4288536"/>
            <a:ext cx="2926080" cy="658368"/>
          </a:xfrm>
          <a:prstGeom prst="rect">
            <a:avLst/>
          </a:prstGeom>
          <a:noFill/>
        </p:spPr>
        <p:txBody>
          <a:bodyPr wrap="square" lIns="0" tIns="0" rIns="0" bIns="0" anchor="t">
            <a:spAutoFit/>
          </a:bodyPr>
          <a:lstStyle/>
          <a:p>
            <a:pPr algn="l">
              <a:spcAft>
                <a:spcPts val="0"/>
              </a:spcAft>
            </a:pPr>
            <a:r>
              <a:rPr sz="1100" b="1" i="0">
                <a:solidFill>
                  <a:srgbClr val="FFFFFF"/>
                </a:solidFill>
                <a:effectLst>
                  <a:glow rad="63500">
                    <a:srgbClr val="001633">
                      <a:alpha val="85000"/>
                    </a:srgbClr>
                  </a:glow>
                </a:effectLst>
                <a:latin typeface="Montserrat"/>
              </a:rPr>
              <a:t>MQTT </a:t>
            </a:r>
            <a:r>
              <a:rPr sz="750" b="0" i="0">
                <a:solidFill>
                  <a:srgbClr val="A9B8C9"/>
                </a:solidFill>
                <a:effectLst>
                  <a:glow rad="63500">
                    <a:srgbClr val="001633">
                      <a:alpha val="85000"/>
                    </a:srgbClr>
                  </a:glow>
                </a:effectLst>
                <a:latin typeface="Montserrat"/>
              </a:rPr>
              <a:t>[22]</a:t>
            </a:r>
          </a:p>
          <a:p>
            <a:pPr algn="l">
              <a:spcAft>
                <a:spcPts val="0"/>
              </a:spcAft>
            </a:pPr>
            <a:r>
              <a:rPr sz="850" b="0" i="0">
                <a:solidFill>
                  <a:srgbClr val="A9B8C9"/>
                </a:solidFill>
                <a:effectLst>
                  <a:glow rad="63500">
                    <a:srgbClr val="001633">
                      <a:alpha val="85000"/>
                    </a:srgbClr>
                  </a:glow>
                </a:effectLst>
                <a:latin typeface="Montserrat"/>
              </a:rPr>
              <a:t>mensajería liviana: los sensores publican y el gemelo se suscribe</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vibración inalámbrica de polines</a:t>
            </a:r>
          </a:p>
        </p:txBody>
      </p:sp>
      <p:sp>
        <p:nvSpPr>
          <p:cNvPr id="31" name="Estándar ISA-95"/>
          <p:cNvSpPr/>
          <p:nvPr/>
        </p:nvSpPr>
        <p:spPr>
          <a:xfrm>
            <a:off x="4681728" y="5029200"/>
            <a:ext cx="3154680" cy="7040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Marca"/>
          <p:cNvSpPr/>
          <p:nvPr/>
        </p:nvSpPr>
        <p:spPr>
          <a:xfrm>
            <a:off x="4681728" y="5029200"/>
            <a:ext cx="45720" cy="704088"/>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4818888" y="5065776"/>
            <a:ext cx="2926080" cy="658368"/>
          </a:xfrm>
          <a:prstGeom prst="rect">
            <a:avLst/>
          </a:prstGeom>
          <a:noFill/>
        </p:spPr>
        <p:txBody>
          <a:bodyPr wrap="square" lIns="0" tIns="0" rIns="0" bIns="0" anchor="t">
            <a:spAutoFit/>
          </a:bodyPr>
          <a:lstStyle/>
          <a:p>
            <a:pPr algn="l">
              <a:spcAft>
                <a:spcPts val="0"/>
              </a:spcAft>
            </a:pPr>
            <a:r>
              <a:rPr sz="1100" b="1" i="0">
                <a:solidFill>
                  <a:srgbClr val="FFFFFF"/>
                </a:solidFill>
                <a:effectLst>
                  <a:glow rad="63500">
                    <a:srgbClr val="001633">
                      <a:alpha val="85000"/>
                    </a:srgbClr>
                  </a:glow>
                </a:effectLst>
                <a:latin typeface="Montserrat"/>
              </a:rPr>
              <a:t>ISA-95 </a:t>
            </a:r>
            <a:r>
              <a:rPr sz="750" b="0" i="0">
                <a:solidFill>
                  <a:srgbClr val="A9B8C9"/>
                </a:solidFill>
                <a:effectLst>
                  <a:glow rad="63500">
                    <a:srgbClr val="001633">
                      <a:alpha val="85000"/>
                    </a:srgbClr>
                  </a:glow>
                </a:effectLst>
                <a:latin typeface="Montserrat"/>
              </a:rPr>
              <a:t>[23]</a:t>
            </a:r>
          </a:p>
          <a:p>
            <a:pPr algn="l">
              <a:spcAft>
                <a:spcPts val="0"/>
              </a:spcAft>
            </a:pPr>
            <a:r>
              <a:rPr sz="850" b="0" i="0">
                <a:solidFill>
                  <a:srgbClr val="A9B8C9"/>
                </a:solidFill>
                <a:effectLst>
                  <a:glow rad="63500">
                    <a:srgbClr val="001633">
                      <a:alpha val="85000"/>
                    </a:srgbClr>
                  </a:glow>
                </a:effectLst>
                <a:latin typeface="Montserrat"/>
              </a:rPr>
              <a:t>ordena los niveles planta–empresa y qué información pasa entre ellos</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del control a mantención y ERP</a:t>
            </a:r>
          </a:p>
        </p:txBody>
      </p:sp>
      <p:sp>
        <p:nvSpPr>
          <p:cNvPr id="34" name="Grupo Describir el equipo"/>
          <p:cNvSpPr/>
          <p:nvPr/>
        </p:nvSpPr>
        <p:spPr>
          <a:xfrm>
            <a:off x="8110728" y="2487168"/>
            <a:ext cx="3154680" cy="868680"/>
          </a:xfrm>
          <a:prstGeom prst="rect">
            <a:avLst/>
          </a:prstGeom>
          <a:solidFill>
            <a:srgbClr val="12335E"/>
          </a:solidFill>
          <a:ln w="19050">
            <a:solidFill>
              <a:srgbClr val="2BA8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5" name="Ícono file-text" descr="file-text-white.png"/>
          <p:cNvPicPr>
            <a:picLocks noChangeAspect="1"/>
          </p:cNvPicPr>
          <p:nvPr/>
        </p:nvPicPr>
        <p:blipFill>
          <a:blip r:embed="rId5"/>
          <a:stretch>
            <a:fillRect/>
          </a:stretch>
        </p:blipFill>
        <p:spPr>
          <a:xfrm>
            <a:off x="8247888" y="2606040"/>
            <a:ext cx="310896" cy="310896"/>
          </a:xfrm>
          <a:prstGeom prst="rect">
            <a:avLst/>
          </a:prstGeom>
        </p:spPr>
      </p:pic>
      <p:sp>
        <p:nvSpPr>
          <p:cNvPr id="36" name="TextBox 35"/>
          <p:cNvSpPr txBox="1"/>
          <p:nvPr/>
        </p:nvSpPr>
        <p:spPr>
          <a:xfrm>
            <a:off x="8659368" y="2542032"/>
            <a:ext cx="1691640" cy="365760"/>
          </a:xfrm>
          <a:prstGeom prst="rect">
            <a:avLst/>
          </a:prstGeom>
          <a:noFill/>
        </p:spPr>
        <p:txBody>
          <a:bodyPr wrap="square" lIns="0" tIns="0" rIns="0" bIns="0" anchor="ctr">
            <a:spAutoFit/>
          </a:bodyPr>
          <a:lstStyle/>
          <a:p>
            <a:pPr algn="l">
              <a:spcAft>
                <a:spcPts val="600"/>
              </a:spcAft>
            </a:pPr>
            <a:r>
              <a:rPr sz="1300" b="1" i="0">
                <a:solidFill>
                  <a:srgbClr val="FFFFFF"/>
                </a:solidFill>
                <a:effectLst>
                  <a:glow rad="63500">
                    <a:srgbClr val="001633">
                      <a:alpha val="85000"/>
                    </a:srgbClr>
                  </a:glow>
                </a:effectLst>
                <a:latin typeface="Montserrat"/>
              </a:rPr>
              <a:t>Describir el equipo</a:t>
            </a:r>
          </a:p>
        </p:txBody>
      </p:sp>
      <p:sp>
        <p:nvSpPr>
          <p:cNvPr id="37" name="Etiqueta capas 2 y 3"/>
          <p:cNvSpPr/>
          <p:nvPr/>
        </p:nvSpPr>
        <p:spPr>
          <a:xfrm>
            <a:off x="10351008" y="2606040"/>
            <a:ext cx="804672" cy="237744"/>
          </a:xfrm>
          <a:prstGeom prst="rect">
            <a:avLst/>
          </a:prstGeom>
          <a:solidFill>
            <a:srgbClr val="001633"/>
          </a:solidFill>
          <a:ln w="9525">
            <a:solidFill>
              <a:srgbClr val="2BA88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10351008" y="2606040"/>
            <a:ext cx="804672" cy="237744"/>
          </a:xfrm>
          <a:prstGeom prst="rect">
            <a:avLst/>
          </a:prstGeom>
          <a:noFill/>
        </p:spPr>
        <p:txBody>
          <a:bodyPr wrap="square" lIns="0" tIns="0" rIns="0" bIns="0" anchor="ctr">
            <a:spAutoFit/>
          </a:bodyPr>
          <a:lstStyle/>
          <a:p>
            <a:pPr algn="ctr">
              <a:spcAft>
                <a:spcPts val="600"/>
              </a:spcAft>
            </a:pPr>
            <a:r>
              <a:rPr sz="750" b="1" i="0">
                <a:solidFill>
                  <a:srgbClr val="2BA88A"/>
                </a:solidFill>
                <a:effectLst>
                  <a:glow rad="63500">
                    <a:srgbClr val="001633">
                      <a:alpha val="85000"/>
                    </a:srgbClr>
                  </a:glow>
                </a:effectLst>
                <a:latin typeface="Montserrat"/>
              </a:rPr>
              <a:t>capas 2 y 3</a:t>
            </a:r>
          </a:p>
        </p:txBody>
      </p:sp>
      <p:sp>
        <p:nvSpPr>
          <p:cNvPr id="39" name="TextBox 38"/>
          <p:cNvSpPr txBox="1"/>
          <p:nvPr/>
        </p:nvSpPr>
        <p:spPr>
          <a:xfrm>
            <a:off x="8247888" y="2944368"/>
            <a:ext cx="2926080" cy="384048"/>
          </a:xfrm>
          <a:prstGeom prst="rect">
            <a:avLst/>
          </a:prstGeom>
          <a:noFill/>
        </p:spPr>
        <p:txBody>
          <a:bodyPr wrap="square" lIns="0" tIns="0" rIns="0" bIns="0" anchor="t">
            <a:spAutoFit/>
          </a:bodyPr>
          <a:lstStyle/>
          <a:p>
            <a:pPr algn="l">
              <a:spcAft>
                <a:spcPts val="600"/>
              </a:spcAft>
            </a:pPr>
            <a:r>
              <a:rPr sz="950" b="1" i="0">
                <a:solidFill>
                  <a:srgbClr val="2BA88A"/>
                </a:solidFill>
                <a:effectLst>
                  <a:glow rad="63500">
                    <a:srgbClr val="001633">
                      <a:alpha val="85000"/>
                    </a:srgbClr>
                  </a:glow>
                </a:effectLst>
                <a:latin typeface="Montserrat"/>
              </a:rPr>
              <a:t>¿cómo sabe el gemelo qué es cada equipo?</a:t>
            </a:r>
          </a:p>
        </p:txBody>
      </p:sp>
      <p:sp>
        <p:nvSpPr>
          <p:cNvPr id="40" name="Estándar AAS"/>
          <p:cNvSpPr/>
          <p:nvPr/>
        </p:nvSpPr>
        <p:spPr>
          <a:xfrm>
            <a:off x="8110728" y="3474720"/>
            <a:ext cx="3154680" cy="70408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Marca"/>
          <p:cNvSpPr/>
          <p:nvPr/>
        </p:nvSpPr>
        <p:spPr>
          <a:xfrm>
            <a:off x="8110728" y="3474720"/>
            <a:ext cx="45720" cy="704088"/>
          </a:xfrm>
          <a:prstGeom prst="rect">
            <a:avLst/>
          </a:prstGeom>
          <a:solidFill>
            <a:srgbClr val="2BA8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247888" y="3511296"/>
            <a:ext cx="2926080" cy="658368"/>
          </a:xfrm>
          <a:prstGeom prst="rect">
            <a:avLst/>
          </a:prstGeom>
          <a:noFill/>
        </p:spPr>
        <p:txBody>
          <a:bodyPr wrap="square" lIns="0" tIns="0" rIns="0" bIns="0" anchor="t">
            <a:spAutoFit/>
          </a:bodyPr>
          <a:lstStyle/>
          <a:p>
            <a:pPr algn="l">
              <a:spcAft>
                <a:spcPts val="0"/>
              </a:spcAft>
            </a:pPr>
            <a:r>
              <a:rPr sz="1100" b="1" i="0">
                <a:solidFill>
                  <a:srgbClr val="FFFFFF"/>
                </a:solidFill>
                <a:effectLst>
                  <a:glow rad="63500">
                    <a:srgbClr val="001633">
                      <a:alpha val="85000"/>
                    </a:srgbClr>
                  </a:glow>
                </a:effectLst>
                <a:latin typeface="Montserrat"/>
              </a:rPr>
              <a:t>AAS </a:t>
            </a:r>
            <a:r>
              <a:rPr sz="750" b="0" i="0">
                <a:solidFill>
                  <a:srgbClr val="A9B8C9"/>
                </a:solidFill>
                <a:effectLst>
                  <a:glow rad="63500">
                    <a:srgbClr val="001633">
                      <a:alpha val="85000"/>
                    </a:srgbClr>
                  </a:glow>
                </a:effectLst>
                <a:latin typeface="Montserrat"/>
              </a:rPr>
              <a:t>[24]</a:t>
            </a:r>
          </a:p>
          <a:p>
            <a:pPr algn="l">
              <a:spcAft>
                <a:spcPts val="0"/>
              </a:spcAft>
            </a:pPr>
            <a:r>
              <a:rPr sz="850" b="0" i="0">
                <a:solidFill>
                  <a:srgbClr val="A9B8C9"/>
                </a:solidFill>
                <a:effectLst>
                  <a:glow rad="63500">
                    <a:srgbClr val="001633">
                      <a:alpha val="85000"/>
                    </a:srgbClr>
                  </a:glow>
                </a:effectLst>
                <a:latin typeface="Montserrat"/>
              </a:rPr>
              <a:t>la ficha digital estándar del activo: datos, documentos, estado</a:t>
            </a:r>
          </a:p>
          <a:p>
            <a:pPr algn="l">
              <a:spcAft>
                <a:spcPts val="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la ficha técnica del molino</a:t>
            </a:r>
          </a:p>
        </p:txBody>
      </p:sp>
      <p:sp>
        <p:nvSpPr>
          <p:cNvPr id="4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Estándares: ver referencias del curso · ejemplos ilustrativos</a:t>
            </a:r>
          </a:p>
        </p:txBody>
      </p:sp>
      <p:sp>
        <p:nvSpPr>
          <p:cNvPr id="4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I actual"/>
          <p:cNvSpPr/>
          <p:nvPr/>
        </p:nvSpPr>
        <p:spPr>
          <a:xfrm>
            <a:off x="5001768" y="6510528"/>
            <a:ext cx="1207892"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4"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21/31 </a:t>
            </a:r>
            <a:r>
              <a:rPr sz="1000" b="0" i="0">
                <a:solidFill>
                  <a:srgbClr val="A9B8C9"/>
                </a:solidFill>
                <a:effectLst>
                  <a:glow rad="63500">
                    <a:srgbClr val="001633">
                      <a:alpha val="85000"/>
                    </a:srgbClr>
                  </a:glow>
                </a:effectLst>
                <a:latin typeface="Montserrat"/>
              </a:rPr>
              <a:t>· Gemelos Digitales para Minería 4.0 · 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Una señal recorre cinco escalones antes de llegar al gemelo</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Ejemplo: la presión de un nido de ciclones. Cada escalón agrega un retardo, una transformación y un lugar donde el dato se puede romper.</a:t>
            </a:r>
          </a:p>
        </p:txBody>
      </p:sp>
      <p:sp>
        <p:nvSpPr>
          <p:cNvPr id="7" name="Escalón Sensor"/>
          <p:cNvSpPr/>
          <p:nvPr/>
        </p:nvSpPr>
        <p:spPr>
          <a:xfrm>
            <a:off x="1252728" y="2514600"/>
            <a:ext cx="1673352"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Sensor"/>
          <p:cNvSpPr/>
          <p:nvPr/>
        </p:nvSpPr>
        <p:spPr>
          <a:xfrm>
            <a:off x="1815084" y="2633472"/>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gauge" descr="gauge-orange.png"/>
          <p:cNvPicPr>
            <a:picLocks noChangeAspect="1"/>
          </p:cNvPicPr>
          <p:nvPr/>
        </p:nvPicPr>
        <p:blipFill>
          <a:blip r:embed="rId3"/>
          <a:stretch>
            <a:fillRect/>
          </a:stretch>
        </p:blipFill>
        <p:spPr>
          <a:xfrm>
            <a:off x="1935785" y="2754173"/>
            <a:ext cx="307238" cy="307238"/>
          </a:xfrm>
          <a:prstGeom prst="rect">
            <a:avLst/>
          </a:prstGeom>
        </p:spPr>
      </p:pic>
      <p:sp>
        <p:nvSpPr>
          <p:cNvPr id="10" name="TextBox 9"/>
          <p:cNvSpPr txBox="1"/>
          <p:nvPr/>
        </p:nvSpPr>
        <p:spPr>
          <a:xfrm>
            <a:off x="1252728" y="3246120"/>
            <a:ext cx="1673352" cy="27432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Sensor</a:t>
            </a:r>
          </a:p>
        </p:txBody>
      </p:sp>
      <p:sp>
        <p:nvSpPr>
          <p:cNvPr id="11" name="TextBox 10"/>
          <p:cNvSpPr txBox="1"/>
          <p:nvPr/>
        </p:nvSpPr>
        <p:spPr>
          <a:xfrm>
            <a:off x="1325880" y="3520440"/>
            <a:ext cx="1527048" cy="27432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transmisor de presión</a:t>
            </a:r>
          </a:p>
        </p:txBody>
      </p:sp>
      <p:sp>
        <p:nvSpPr>
          <p:cNvPr id="12" name="Etiqueta 4–20 mA"/>
          <p:cNvSpPr/>
          <p:nvPr/>
        </p:nvSpPr>
        <p:spPr>
          <a:xfrm>
            <a:off x="1389888" y="3840480"/>
            <a:ext cx="1399032" cy="27432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389888" y="3840480"/>
            <a:ext cx="1399032" cy="274320"/>
          </a:xfrm>
          <a:prstGeom prst="rect">
            <a:avLst/>
          </a:prstGeom>
          <a:noFill/>
        </p:spPr>
        <p:txBody>
          <a:bodyPr wrap="square" lIns="0" tIns="0" rIns="0" bIns="0" anchor="ctr">
            <a:spAutoFit/>
          </a:bodyPr>
          <a:lstStyle/>
          <a:p>
            <a:pPr algn="ctr">
              <a:spcAft>
                <a:spcPts val="600"/>
              </a:spcAft>
            </a:pPr>
            <a:r>
              <a:rPr sz="850" b="1" i="0">
                <a:solidFill>
                  <a:srgbClr val="85D5E6"/>
                </a:solidFill>
                <a:effectLst>
                  <a:glow rad="63500">
                    <a:srgbClr val="001633">
                      <a:alpha val="85000"/>
                    </a:srgbClr>
                  </a:glow>
                </a:effectLst>
                <a:latin typeface="Montserrat"/>
              </a:rPr>
              <a:t>4–20 mA</a:t>
            </a:r>
          </a:p>
        </p:txBody>
      </p:sp>
      <p:cxnSp>
        <p:nvCxnSpPr>
          <p:cNvPr id="14" name="Separador"/>
          <p:cNvCxnSpPr/>
          <p:nvPr/>
        </p:nvCxnSpPr>
        <p:spPr>
          <a:xfrm>
            <a:off x="1389888" y="4224528"/>
            <a:ext cx="1399032"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344168" y="4261104"/>
            <a:ext cx="1490472" cy="457200"/>
          </a:xfrm>
          <a:prstGeom prst="rect">
            <a:avLst/>
          </a:prstGeom>
          <a:noFill/>
        </p:spPr>
        <p:txBody>
          <a:bodyPr wrap="square" lIns="0" tIns="0" rIns="0" bIns="0" anchor="t">
            <a:spAutoFit/>
          </a:bodyPr>
          <a:lstStyle/>
          <a:p>
            <a:pPr algn="ctr">
              <a:spcAft>
                <a:spcPts val="0"/>
              </a:spcAft>
            </a:pPr>
            <a:r>
              <a:rPr sz="750" b="1" i="0">
                <a:solidFill>
                  <a:srgbClr val="FFAB40"/>
                </a:solidFill>
                <a:effectLst>
                  <a:glow rad="63500">
                    <a:srgbClr val="001633">
                      <a:alpha val="85000"/>
                    </a:srgbClr>
                  </a:glow>
                </a:effectLst>
                <a:latin typeface="Montserrat"/>
              </a:rPr>
              <a:t>puede fallar:</a:t>
            </a:r>
          </a:p>
          <a:p>
            <a:pPr algn="ctr">
              <a:spcAft>
                <a:spcPts val="0"/>
              </a:spcAft>
            </a:pPr>
            <a:r>
              <a:rPr sz="800" b="0" i="0">
                <a:solidFill>
                  <a:srgbClr val="FFFFFF"/>
                </a:solidFill>
                <a:effectLst>
                  <a:glow rad="63500">
                    <a:srgbClr val="001633">
                      <a:alpha val="85000"/>
                    </a:srgbClr>
                  </a:glow>
                </a:effectLst>
                <a:latin typeface="Montserrat"/>
              </a:rPr>
              <a:t>se ensucia o se descalibra</a:t>
            </a:r>
          </a:p>
        </p:txBody>
      </p:sp>
      <p:cxnSp>
        <p:nvCxnSpPr>
          <p:cNvPr id="16" name="Señal"/>
          <p:cNvCxnSpPr/>
          <p:nvPr/>
        </p:nvCxnSpPr>
        <p:spPr>
          <a:xfrm>
            <a:off x="2962656" y="2926080"/>
            <a:ext cx="338328"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Escalón PLC / DCS"/>
          <p:cNvSpPr/>
          <p:nvPr/>
        </p:nvSpPr>
        <p:spPr>
          <a:xfrm>
            <a:off x="3337560" y="2514600"/>
            <a:ext cx="1673352"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PLC / DCS"/>
          <p:cNvSpPr/>
          <p:nvPr/>
        </p:nvSpPr>
        <p:spPr>
          <a:xfrm>
            <a:off x="3899916" y="2633472"/>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9" name="Ícono cpu" descr="cpu-orange.png"/>
          <p:cNvPicPr>
            <a:picLocks noChangeAspect="1"/>
          </p:cNvPicPr>
          <p:nvPr/>
        </p:nvPicPr>
        <p:blipFill>
          <a:blip r:embed="rId4"/>
          <a:stretch>
            <a:fillRect/>
          </a:stretch>
        </p:blipFill>
        <p:spPr>
          <a:xfrm>
            <a:off x="4020617" y="2754173"/>
            <a:ext cx="307238" cy="307238"/>
          </a:xfrm>
          <a:prstGeom prst="rect">
            <a:avLst/>
          </a:prstGeom>
        </p:spPr>
      </p:pic>
      <p:sp>
        <p:nvSpPr>
          <p:cNvPr id="20" name="TextBox 19"/>
          <p:cNvSpPr txBox="1"/>
          <p:nvPr/>
        </p:nvSpPr>
        <p:spPr>
          <a:xfrm>
            <a:off x="3337560" y="3246120"/>
            <a:ext cx="1673352" cy="27432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PLC / DCS</a:t>
            </a:r>
          </a:p>
        </p:txBody>
      </p:sp>
      <p:sp>
        <p:nvSpPr>
          <p:cNvPr id="21" name="TextBox 20"/>
          <p:cNvSpPr txBox="1"/>
          <p:nvPr/>
        </p:nvSpPr>
        <p:spPr>
          <a:xfrm>
            <a:off x="3410712" y="3520440"/>
            <a:ext cx="1527048" cy="27432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controla el circuito</a:t>
            </a:r>
          </a:p>
        </p:txBody>
      </p:sp>
      <p:sp>
        <p:nvSpPr>
          <p:cNvPr id="22" name="Etiqueta cada 100 ms"/>
          <p:cNvSpPr/>
          <p:nvPr/>
        </p:nvSpPr>
        <p:spPr>
          <a:xfrm>
            <a:off x="3474720" y="3840480"/>
            <a:ext cx="1399032" cy="27432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3474720" y="3840480"/>
            <a:ext cx="1399032" cy="274320"/>
          </a:xfrm>
          <a:prstGeom prst="rect">
            <a:avLst/>
          </a:prstGeom>
          <a:noFill/>
        </p:spPr>
        <p:txBody>
          <a:bodyPr wrap="square" lIns="0" tIns="0" rIns="0" bIns="0" anchor="ctr">
            <a:spAutoFit/>
          </a:bodyPr>
          <a:lstStyle/>
          <a:p>
            <a:pPr algn="ctr">
              <a:spcAft>
                <a:spcPts val="600"/>
              </a:spcAft>
            </a:pPr>
            <a:r>
              <a:rPr sz="850" b="1" i="0">
                <a:solidFill>
                  <a:srgbClr val="85D5E6"/>
                </a:solidFill>
                <a:effectLst>
                  <a:glow rad="63500">
                    <a:srgbClr val="001633">
                      <a:alpha val="85000"/>
                    </a:srgbClr>
                  </a:glow>
                </a:effectLst>
                <a:latin typeface="Montserrat"/>
              </a:rPr>
              <a:t>cada 100 ms</a:t>
            </a:r>
          </a:p>
        </p:txBody>
      </p:sp>
      <p:cxnSp>
        <p:nvCxnSpPr>
          <p:cNvPr id="24" name="Separador"/>
          <p:cNvCxnSpPr/>
          <p:nvPr/>
        </p:nvCxnSpPr>
        <p:spPr>
          <a:xfrm>
            <a:off x="3474720" y="4224528"/>
            <a:ext cx="1399032"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429000" y="4261104"/>
            <a:ext cx="1490472" cy="457200"/>
          </a:xfrm>
          <a:prstGeom prst="rect">
            <a:avLst/>
          </a:prstGeom>
          <a:noFill/>
        </p:spPr>
        <p:txBody>
          <a:bodyPr wrap="square" lIns="0" tIns="0" rIns="0" bIns="0" anchor="t">
            <a:spAutoFit/>
          </a:bodyPr>
          <a:lstStyle/>
          <a:p>
            <a:pPr algn="ctr">
              <a:spcAft>
                <a:spcPts val="0"/>
              </a:spcAft>
            </a:pPr>
            <a:r>
              <a:rPr sz="750" b="1" i="0">
                <a:solidFill>
                  <a:srgbClr val="FFAB40"/>
                </a:solidFill>
                <a:effectLst>
                  <a:glow rad="63500">
                    <a:srgbClr val="001633">
                      <a:alpha val="85000"/>
                    </a:srgbClr>
                  </a:glow>
                </a:effectLst>
                <a:latin typeface="Montserrat"/>
              </a:rPr>
              <a:t>puede fallar:</a:t>
            </a:r>
          </a:p>
          <a:p>
            <a:pPr algn="ctr">
              <a:spcAft>
                <a:spcPts val="0"/>
              </a:spcAft>
            </a:pPr>
            <a:r>
              <a:rPr sz="800" b="0" i="0">
                <a:solidFill>
                  <a:srgbClr val="FFFFFF"/>
                </a:solidFill>
                <a:effectLst>
                  <a:glow rad="63500">
                    <a:srgbClr val="001633">
                      <a:alpha val="85000"/>
                    </a:srgbClr>
                  </a:glow>
                </a:effectLst>
                <a:latin typeface="Montserrat"/>
              </a:rPr>
              <a:t>redondea o filtra la señal</a:t>
            </a:r>
          </a:p>
        </p:txBody>
      </p:sp>
      <p:cxnSp>
        <p:nvCxnSpPr>
          <p:cNvPr id="26" name="Señal"/>
          <p:cNvCxnSpPr/>
          <p:nvPr/>
        </p:nvCxnSpPr>
        <p:spPr>
          <a:xfrm>
            <a:off x="5047488" y="2926080"/>
            <a:ext cx="338328"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Escalón SCADA"/>
          <p:cNvSpPr/>
          <p:nvPr/>
        </p:nvSpPr>
        <p:spPr>
          <a:xfrm>
            <a:off x="5422392" y="2514600"/>
            <a:ext cx="1673352"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CADA"/>
          <p:cNvSpPr/>
          <p:nvPr/>
        </p:nvSpPr>
        <p:spPr>
          <a:xfrm>
            <a:off x="5984748" y="2633472"/>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Ícono monitor" descr="monitor-orange.png"/>
          <p:cNvPicPr>
            <a:picLocks noChangeAspect="1"/>
          </p:cNvPicPr>
          <p:nvPr/>
        </p:nvPicPr>
        <p:blipFill>
          <a:blip r:embed="rId5"/>
          <a:stretch>
            <a:fillRect/>
          </a:stretch>
        </p:blipFill>
        <p:spPr>
          <a:xfrm>
            <a:off x="6105449" y="2754173"/>
            <a:ext cx="307238" cy="307238"/>
          </a:xfrm>
          <a:prstGeom prst="rect">
            <a:avLst/>
          </a:prstGeom>
        </p:spPr>
      </p:pic>
      <p:sp>
        <p:nvSpPr>
          <p:cNvPr id="30" name="TextBox 29"/>
          <p:cNvSpPr txBox="1"/>
          <p:nvPr/>
        </p:nvSpPr>
        <p:spPr>
          <a:xfrm>
            <a:off x="5422392" y="3246120"/>
            <a:ext cx="1673352" cy="27432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SCADA</a:t>
            </a:r>
          </a:p>
        </p:txBody>
      </p:sp>
      <p:sp>
        <p:nvSpPr>
          <p:cNvPr id="31" name="TextBox 30"/>
          <p:cNvSpPr txBox="1"/>
          <p:nvPr/>
        </p:nvSpPr>
        <p:spPr>
          <a:xfrm>
            <a:off x="5495544" y="3520440"/>
            <a:ext cx="1527048" cy="27432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pantallas del operador</a:t>
            </a:r>
          </a:p>
        </p:txBody>
      </p:sp>
      <p:sp>
        <p:nvSpPr>
          <p:cNvPr id="32" name="Etiqueta cada 1 s"/>
          <p:cNvSpPr/>
          <p:nvPr/>
        </p:nvSpPr>
        <p:spPr>
          <a:xfrm>
            <a:off x="5559552" y="3840480"/>
            <a:ext cx="1399032" cy="27432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5559552" y="3840480"/>
            <a:ext cx="1399032" cy="274320"/>
          </a:xfrm>
          <a:prstGeom prst="rect">
            <a:avLst/>
          </a:prstGeom>
          <a:noFill/>
        </p:spPr>
        <p:txBody>
          <a:bodyPr wrap="square" lIns="0" tIns="0" rIns="0" bIns="0" anchor="ctr">
            <a:spAutoFit/>
          </a:bodyPr>
          <a:lstStyle/>
          <a:p>
            <a:pPr algn="ctr">
              <a:spcAft>
                <a:spcPts val="600"/>
              </a:spcAft>
            </a:pPr>
            <a:r>
              <a:rPr sz="850" b="1" i="0">
                <a:solidFill>
                  <a:srgbClr val="85D5E6"/>
                </a:solidFill>
                <a:effectLst>
                  <a:glow rad="63500">
                    <a:srgbClr val="001633">
                      <a:alpha val="85000"/>
                    </a:srgbClr>
                  </a:glow>
                </a:effectLst>
                <a:latin typeface="Montserrat"/>
              </a:rPr>
              <a:t>cada 1 s</a:t>
            </a:r>
          </a:p>
        </p:txBody>
      </p:sp>
      <p:cxnSp>
        <p:nvCxnSpPr>
          <p:cNvPr id="34" name="Separador"/>
          <p:cNvCxnSpPr/>
          <p:nvPr/>
        </p:nvCxnSpPr>
        <p:spPr>
          <a:xfrm>
            <a:off x="5559552" y="4224528"/>
            <a:ext cx="1399032"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513832" y="4261104"/>
            <a:ext cx="1490472" cy="457200"/>
          </a:xfrm>
          <a:prstGeom prst="rect">
            <a:avLst/>
          </a:prstGeom>
          <a:noFill/>
        </p:spPr>
        <p:txBody>
          <a:bodyPr wrap="square" lIns="0" tIns="0" rIns="0" bIns="0" anchor="t">
            <a:spAutoFit/>
          </a:bodyPr>
          <a:lstStyle/>
          <a:p>
            <a:pPr algn="ctr">
              <a:spcAft>
                <a:spcPts val="0"/>
              </a:spcAft>
            </a:pPr>
            <a:r>
              <a:rPr sz="750" b="1" i="0">
                <a:solidFill>
                  <a:srgbClr val="FFAB40"/>
                </a:solidFill>
                <a:effectLst>
                  <a:glow rad="63500">
                    <a:srgbClr val="001633">
                      <a:alpha val="85000"/>
                    </a:srgbClr>
                  </a:glow>
                </a:effectLst>
                <a:latin typeface="Montserrat"/>
              </a:rPr>
              <a:t>puede fallar:</a:t>
            </a:r>
          </a:p>
          <a:p>
            <a:pPr algn="ctr">
              <a:spcAft>
                <a:spcPts val="0"/>
              </a:spcAft>
            </a:pPr>
            <a:r>
              <a:rPr sz="800" b="0" i="0">
                <a:solidFill>
                  <a:srgbClr val="FFFFFF"/>
                </a:solidFill>
                <a:effectLst>
                  <a:glow rad="63500">
                    <a:srgbClr val="001633">
                      <a:alpha val="85000"/>
                    </a:srgbClr>
                  </a:glow>
                </a:effectLst>
                <a:latin typeface="Montserrat"/>
              </a:rPr>
              <a:t>muestra, pero no siempre guarda</a:t>
            </a:r>
          </a:p>
        </p:txBody>
      </p:sp>
      <p:cxnSp>
        <p:nvCxnSpPr>
          <p:cNvPr id="36" name="Señal"/>
          <p:cNvCxnSpPr/>
          <p:nvPr/>
        </p:nvCxnSpPr>
        <p:spPr>
          <a:xfrm>
            <a:off x="7132320" y="2926080"/>
            <a:ext cx="338328"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Escalón Historian"/>
          <p:cNvSpPr/>
          <p:nvPr/>
        </p:nvSpPr>
        <p:spPr>
          <a:xfrm>
            <a:off x="7507224" y="2514600"/>
            <a:ext cx="1673352"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Historian"/>
          <p:cNvSpPr/>
          <p:nvPr/>
        </p:nvSpPr>
        <p:spPr>
          <a:xfrm>
            <a:off x="8069580" y="2633472"/>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9" name="Ícono database" descr="database-orange.png"/>
          <p:cNvPicPr>
            <a:picLocks noChangeAspect="1"/>
          </p:cNvPicPr>
          <p:nvPr/>
        </p:nvPicPr>
        <p:blipFill>
          <a:blip r:embed="rId6"/>
          <a:stretch>
            <a:fillRect/>
          </a:stretch>
        </p:blipFill>
        <p:spPr>
          <a:xfrm>
            <a:off x="8190281" y="2754173"/>
            <a:ext cx="307238" cy="307238"/>
          </a:xfrm>
          <a:prstGeom prst="rect">
            <a:avLst/>
          </a:prstGeom>
        </p:spPr>
      </p:pic>
      <p:sp>
        <p:nvSpPr>
          <p:cNvPr id="40" name="TextBox 39"/>
          <p:cNvSpPr txBox="1"/>
          <p:nvPr/>
        </p:nvSpPr>
        <p:spPr>
          <a:xfrm>
            <a:off x="7507224" y="3246120"/>
            <a:ext cx="1673352" cy="27432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Historian</a:t>
            </a:r>
          </a:p>
        </p:txBody>
      </p:sp>
      <p:sp>
        <p:nvSpPr>
          <p:cNvPr id="41" name="TextBox 40"/>
          <p:cNvSpPr txBox="1"/>
          <p:nvPr/>
        </p:nvSpPr>
        <p:spPr>
          <a:xfrm>
            <a:off x="7580376" y="3520440"/>
            <a:ext cx="1527048" cy="27432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guarda la serie de tiempo</a:t>
            </a:r>
          </a:p>
        </p:txBody>
      </p:sp>
      <p:sp>
        <p:nvSpPr>
          <p:cNvPr id="42" name="Etiqueta cada 5 s, comprimido"/>
          <p:cNvSpPr/>
          <p:nvPr/>
        </p:nvSpPr>
        <p:spPr>
          <a:xfrm>
            <a:off x="7644384" y="3840480"/>
            <a:ext cx="1399032" cy="27432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7644384" y="3840480"/>
            <a:ext cx="1399032" cy="274320"/>
          </a:xfrm>
          <a:prstGeom prst="rect">
            <a:avLst/>
          </a:prstGeom>
          <a:noFill/>
        </p:spPr>
        <p:txBody>
          <a:bodyPr wrap="square" lIns="0" tIns="0" rIns="0" bIns="0" anchor="ctr">
            <a:spAutoFit/>
          </a:bodyPr>
          <a:lstStyle/>
          <a:p>
            <a:pPr algn="ctr">
              <a:spcAft>
                <a:spcPts val="600"/>
              </a:spcAft>
            </a:pPr>
            <a:r>
              <a:rPr sz="850" b="1" i="0">
                <a:solidFill>
                  <a:srgbClr val="85D5E6"/>
                </a:solidFill>
                <a:effectLst>
                  <a:glow rad="63500">
                    <a:srgbClr val="001633">
                      <a:alpha val="85000"/>
                    </a:srgbClr>
                  </a:glow>
                </a:effectLst>
                <a:latin typeface="Montserrat"/>
              </a:rPr>
              <a:t>cada 5 s, comprimido</a:t>
            </a:r>
          </a:p>
        </p:txBody>
      </p:sp>
      <p:cxnSp>
        <p:nvCxnSpPr>
          <p:cNvPr id="44" name="Separador"/>
          <p:cNvCxnSpPr/>
          <p:nvPr/>
        </p:nvCxnSpPr>
        <p:spPr>
          <a:xfrm>
            <a:off x="7644384" y="4224528"/>
            <a:ext cx="1399032"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7598664" y="4261104"/>
            <a:ext cx="1490472" cy="457200"/>
          </a:xfrm>
          <a:prstGeom prst="rect">
            <a:avLst/>
          </a:prstGeom>
          <a:noFill/>
        </p:spPr>
        <p:txBody>
          <a:bodyPr wrap="square" lIns="0" tIns="0" rIns="0" bIns="0" anchor="t">
            <a:spAutoFit/>
          </a:bodyPr>
          <a:lstStyle/>
          <a:p>
            <a:pPr algn="ctr">
              <a:spcAft>
                <a:spcPts val="0"/>
              </a:spcAft>
            </a:pPr>
            <a:r>
              <a:rPr sz="750" b="1" i="0">
                <a:solidFill>
                  <a:srgbClr val="FFAB40"/>
                </a:solidFill>
                <a:effectLst>
                  <a:glow rad="63500">
                    <a:srgbClr val="001633">
                      <a:alpha val="85000"/>
                    </a:srgbClr>
                  </a:glow>
                </a:effectLst>
                <a:latin typeface="Montserrat"/>
              </a:rPr>
              <a:t>puede fallar:</a:t>
            </a:r>
          </a:p>
          <a:p>
            <a:pPr algn="ctr">
              <a:spcAft>
                <a:spcPts val="0"/>
              </a:spcAft>
            </a:pPr>
            <a:r>
              <a:rPr sz="800" b="0" i="0">
                <a:solidFill>
                  <a:srgbClr val="FFFFFF"/>
                </a:solidFill>
                <a:effectLst>
                  <a:glow rad="63500">
                    <a:srgbClr val="001633">
                      <a:alpha val="85000"/>
                    </a:srgbClr>
                  </a:glow>
                </a:effectLst>
                <a:latin typeface="Montserrat"/>
              </a:rPr>
              <a:t>la compresión borra detalles</a:t>
            </a:r>
          </a:p>
        </p:txBody>
      </p:sp>
      <p:cxnSp>
        <p:nvCxnSpPr>
          <p:cNvPr id="46" name="Señal"/>
          <p:cNvCxnSpPr/>
          <p:nvPr/>
        </p:nvCxnSpPr>
        <p:spPr>
          <a:xfrm>
            <a:off x="9217152" y="2926080"/>
            <a:ext cx="338328" cy="0"/>
          </a:xfrm>
          <a:prstGeom prst="line">
            <a:avLst/>
          </a:prstGeom>
          <a:ln w="25400">
            <a:solidFill>
              <a:srgbClr val="FFAB4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Escalón Gemelo"/>
          <p:cNvSpPr/>
          <p:nvPr/>
        </p:nvSpPr>
        <p:spPr>
          <a:xfrm>
            <a:off x="9592056" y="2514600"/>
            <a:ext cx="1673352" cy="224028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Gemelo"/>
          <p:cNvSpPr/>
          <p:nvPr/>
        </p:nvSpPr>
        <p:spPr>
          <a:xfrm>
            <a:off x="10154412" y="2633472"/>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9" name="Ícono brain-circuit" descr="brain-circuit-navy.png"/>
          <p:cNvPicPr>
            <a:picLocks noChangeAspect="1"/>
          </p:cNvPicPr>
          <p:nvPr/>
        </p:nvPicPr>
        <p:blipFill>
          <a:blip r:embed="rId7"/>
          <a:stretch>
            <a:fillRect/>
          </a:stretch>
        </p:blipFill>
        <p:spPr>
          <a:xfrm>
            <a:off x="10275113" y="2754173"/>
            <a:ext cx="307238" cy="307238"/>
          </a:xfrm>
          <a:prstGeom prst="rect">
            <a:avLst/>
          </a:prstGeom>
        </p:spPr>
      </p:pic>
      <p:sp>
        <p:nvSpPr>
          <p:cNvPr id="50" name="TextBox 49"/>
          <p:cNvSpPr txBox="1"/>
          <p:nvPr/>
        </p:nvSpPr>
        <p:spPr>
          <a:xfrm>
            <a:off x="9592056" y="3246120"/>
            <a:ext cx="1673352" cy="274320"/>
          </a:xfrm>
          <a:prstGeom prst="rect">
            <a:avLst/>
          </a:prstGeom>
          <a:noFill/>
        </p:spPr>
        <p:txBody>
          <a:bodyPr wrap="square" lIns="0" tIns="0" rIns="0" bIns="0" anchor="t">
            <a:spAutoFit/>
          </a:bodyPr>
          <a:lstStyle/>
          <a:p>
            <a:pPr algn="ctr">
              <a:spcAft>
                <a:spcPts val="600"/>
              </a:spcAft>
            </a:pPr>
            <a:r>
              <a:rPr sz="1200" b="1" i="0">
                <a:solidFill>
                  <a:srgbClr val="FFFFFF"/>
                </a:solidFill>
                <a:effectLst>
                  <a:glow rad="63500">
                    <a:srgbClr val="001633">
                      <a:alpha val="85000"/>
                    </a:srgbClr>
                  </a:glow>
                </a:effectLst>
                <a:latin typeface="Montserrat"/>
              </a:rPr>
              <a:t>Gemelo</a:t>
            </a:r>
          </a:p>
        </p:txBody>
      </p:sp>
      <p:sp>
        <p:nvSpPr>
          <p:cNvPr id="51" name="TextBox 50"/>
          <p:cNvSpPr txBox="1"/>
          <p:nvPr/>
        </p:nvSpPr>
        <p:spPr>
          <a:xfrm>
            <a:off x="9665208" y="3520440"/>
            <a:ext cx="1527048" cy="274320"/>
          </a:xfrm>
          <a:prstGeom prst="rect">
            <a:avLst/>
          </a:prstGeom>
          <a:noFill/>
        </p:spPr>
        <p:txBody>
          <a:bodyPr wrap="square" lIns="0" tIns="0" rIns="0" bIns="0" anchor="t">
            <a:spAutoFit/>
          </a:bodyPr>
          <a:lstStyle/>
          <a:p>
            <a:pPr algn="ctr">
              <a:spcAft>
                <a:spcPts val="600"/>
              </a:spcAft>
            </a:pPr>
            <a:r>
              <a:rPr sz="850" b="0" i="0">
                <a:solidFill>
                  <a:srgbClr val="A9B8C9"/>
                </a:solidFill>
                <a:effectLst>
                  <a:glow rad="63500">
                    <a:srgbClr val="001633">
                      <a:alpha val="85000"/>
                    </a:srgbClr>
                  </a:glow>
                </a:effectLst>
                <a:latin typeface="Montserrat"/>
              </a:rPr>
              <a:t>lee y alinea las señales</a:t>
            </a:r>
          </a:p>
        </p:txBody>
      </p:sp>
      <p:sp>
        <p:nvSpPr>
          <p:cNvPr id="52" name="Etiqueta cada 1 s"/>
          <p:cNvSpPr/>
          <p:nvPr/>
        </p:nvSpPr>
        <p:spPr>
          <a:xfrm>
            <a:off x="9729216" y="3840480"/>
            <a:ext cx="1399032" cy="274320"/>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TextBox 52"/>
          <p:cNvSpPr txBox="1"/>
          <p:nvPr/>
        </p:nvSpPr>
        <p:spPr>
          <a:xfrm>
            <a:off x="9729216" y="3840480"/>
            <a:ext cx="1399032" cy="274320"/>
          </a:xfrm>
          <a:prstGeom prst="rect">
            <a:avLst/>
          </a:prstGeom>
          <a:noFill/>
        </p:spPr>
        <p:txBody>
          <a:bodyPr wrap="square" lIns="0" tIns="0" rIns="0" bIns="0" anchor="ctr">
            <a:spAutoFit/>
          </a:bodyPr>
          <a:lstStyle/>
          <a:p>
            <a:pPr algn="ctr">
              <a:spcAft>
                <a:spcPts val="600"/>
              </a:spcAft>
            </a:pPr>
            <a:r>
              <a:rPr sz="850" b="1" i="0">
                <a:solidFill>
                  <a:srgbClr val="85D5E6"/>
                </a:solidFill>
                <a:effectLst>
                  <a:glow rad="63500">
                    <a:srgbClr val="001633">
                      <a:alpha val="85000"/>
                    </a:srgbClr>
                  </a:glow>
                </a:effectLst>
                <a:latin typeface="Montserrat"/>
              </a:rPr>
              <a:t>cada 1 s</a:t>
            </a:r>
          </a:p>
        </p:txBody>
      </p:sp>
      <p:cxnSp>
        <p:nvCxnSpPr>
          <p:cNvPr id="54" name="Separador"/>
          <p:cNvCxnSpPr/>
          <p:nvPr/>
        </p:nvCxnSpPr>
        <p:spPr>
          <a:xfrm>
            <a:off x="9729216" y="4224528"/>
            <a:ext cx="1399032" cy="0"/>
          </a:xfrm>
          <a:prstGeom prst="line">
            <a:avLst/>
          </a:prstGeom>
          <a:ln w="6350">
            <a:solidFill>
              <a:srgbClr val="2A456B"/>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9683496" y="4261104"/>
            <a:ext cx="1490472" cy="457200"/>
          </a:xfrm>
          <a:prstGeom prst="rect">
            <a:avLst/>
          </a:prstGeom>
          <a:noFill/>
        </p:spPr>
        <p:txBody>
          <a:bodyPr wrap="square" lIns="0" tIns="0" rIns="0" bIns="0" anchor="t">
            <a:spAutoFit/>
          </a:bodyPr>
          <a:lstStyle/>
          <a:p>
            <a:pPr algn="ctr">
              <a:spcAft>
                <a:spcPts val="0"/>
              </a:spcAft>
            </a:pPr>
            <a:r>
              <a:rPr sz="750" b="1" i="0">
                <a:solidFill>
                  <a:srgbClr val="FFAB40"/>
                </a:solidFill>
                <a:effectLst>
                  <a:glow rad="63500">
                    <a:srgbClr val="001633">
                      <a:alpha val="85000"/>
                    </a:srgbClr>
                  </a:glow>
                </a:effectLst>
                <a:latin typeface="Montserrat"/>
              </a:rPr>
              <a:t>puede fallar:</a:t>
            </a:r>
          </a:p>
          <a:p>
            <a:pPr algn="ctr">
              <a:spcAft>
                <a:spcPts val="0"/>
              </a:spcAft>
            </a:pPr>
            <a:r>
              <a:rPr sz="800" b="0" i="0">
                <a:solidFill>
                  <a:srgbClr val="FFFFFF"/>
                </a:solidFill>
                <a:effectLst>
                  <a:glow rad="63500">
                    <a:srgbClr val="001633">
                      <a:alpha val="85000"/>
                    </a:srgbClr>
                  </a:glow>
                </a:effectLst>
                <a:latin typeface="Montserrat"/>
              </a:rPr>
              <a:t>recibe datos tarde o con huecos</a:t>
            </a:r>
          </a:p>
        </p:txBody>
      </p:sp>
      <p:sp>
        <p:nvSpPr>
          <p:cNvPr id="56" name="TextBox 55"/>
          <p:cNvSpPr txBox="1"/>
          <p:nvPr/>
        </p:nvSpPr>
        <p:spPr>
          <a:xfrm>
            <a:off x="2926080" y="3017520"/>
            <a:ext cx="411480" cy="365760"/>
          </a:xfrm>
          <a:prstGeom prst="rect">
            <a:avLst/>
          </a:prstGeom>
          <a:noFill/>
        </p:spPr>
        <p:txBody>
          <a:bodyPr wrap="square" lIns="0" tIns="0" rIns="0" bIns="0" anchor="t">
            <a:spAutoFit/>
          </a:bodyPr>
          <a:lstStyle/>
          <a:p>
            <a:pPr algn="ctr">
              <a:spcAft>
                <a:spcPts val="0"/>
              </a:spcAft>
            </a:pPr>
            <a:r>
              <a:rPr sz="700" b="1" i="0">
                <a:solidFill>
                  <a:srgbClr val="85D5E6"/>
                </a:solidFill>
                <a:effectLst>
                  <a:glow rad="63500">
                    <a:srgbClr val="001633">
                      <a:alpha val="85000"/>
                    </a:srgbClr>
                  </a:glow>
                </a:effectLst>
                <a:latin typeface="Montserrat"/>
              </a:rPr>
              <a:t>cable</a:t>
            </a:r>
          </a:p>
        </p:txBody>
      </p:sp>
      <p:sp>
        <p:nvSpPr>
          <p:cNvPr id="57" name="TextBox 56"/>
          <p:cNvSpPr txBox="1"/>
          <p:nvPr/>
        </p:nvSpPr>
        <p:spPr>
          <a:xfrm>
            <a:off x="5010912" y="3017520"/>
            <a:ext cx="411480" cy="365760"/>
          </a:xfrm>
          <a:prstGeom prst="rect">
            <a:avLst/>
          </a:prstGeom>
          <a:noFill/>
        </p:spPr>
        <p:txBody>
          <a:bodyPr wrap="square" lIns="0" tIns="0" rIns="0" bIns="0" anchor="t">
            <a:spAutoFit/>
          </a:bodyPr>
          <a:lstStyle/>
          <a:p>
            <a:pPr algn="ctr">
              <a:spcAft>
                <a:spcPts val="0"/>
              </a:spcAft>
            </a:pPr>
            <a:r>
              <a:rPr sz="700" b="1" i="0">
                <a:solidFill>
                  <a:srgbClr val="85D5E6"/>
                </a:solidFill>
                <a:effectLst>
                  <a:glow rad="63500">
                    <a:srgbClr val="001633">
                      <a:alpha val="85000"/>
                    </a:srgbClr>
                  </a:glow>
                </a:effectLst>
                <a:latin typeface="Montserrat"/>
              </a:rPr>
              <a:t>red</a:t>
            </a:r>
          </a:p>
        </p:txBody>
      </p:sp>
      <p:sp>
        <p:nvSpPr>
          <p:cNvPr id="58" name="TextBox 57"/>
          <p:cNvSpPr txBox="1"/>
          <p:nvPr/>
        </p:nvSpPr>
        <p:spPr>
          <a:xfrm>
            <a:off x="7095744" y="3017520"/>
            <a:ext cx="411480" cy="365760"/>
          </a:xfrm>
          <a:prstGeom prst="rect">
            <a:avLst/>
          </a:prstGeom>
          <a:noFill/>
        </p:spPr>
        <p:txBody>
          <a:bodyPr wrap="square" lIns="0" tIns="0" rIns="0" bIns="0" anchor="t">
            <a:spAutoFit/>
          </a:bodyPr>
          <a:lstStyle/>
          <a:p>
            <a:pPr algn="ctr">
              <a:spcAft>
                <a:spcPts val="0"/>
              </a:spcAft>
            </a:pPr>
            <a:r>
              <a:rPr sz="700" b="1" i="0">
                <a:solidFill>
                  <a:srgbClr val="85D5E6"/>
                </a:solidFill>
                <a:effectLst>
                  <a:glow rad="63500">
                    <a:srgbClr val="001633">
                      <a:alpha val="85000"/>
                    </a:srgbClr>
                  </a:glow>
                </a:effectLst>
                <a:latin typeface="Montserrat"/>
              </a:rPr>
              <a:t>OPC</a:t>
            </a:r>
          </a:p>
          <a:p>
            <a:pPr algn="ctr">
              <a:spcAft>
                <a:spcPts val="0"/>
              </a:spcAft>
            </a:pPr>
            <a:r>
              <a:rPr sz="700" b="1" i="0">
                <a:solidFill>
                  <a:srgbClr val="85D5E6"/>
                </a:solidFill>
                <a:effectLst>
                  <a:glow rad="63500">
                    <a:srgbClr val="001633">
                      <a:alpha val="85000"/>
                    </a:srgbClr>
                  </a:glow>
                </a:effectLst>
                <a:latin typeface="Montserrat"/>
              </a:rPr>
              <a:t>UA</a:t>
            </a:r>
          </a:p>
        </p:txBody>
      </p:sp>
      <p:sp>
        <p:nvSpPr>
          <p:cNvPr id="59" name="TextBox 58"/>
          <p:cNvSpPr txBox="1"/>
          <p:nvPr/>
        </p:nvSpPr>
        <p:spPr>
          <a:xfrm>
            <a:off x="9180576" y="3017520"/>
            <a:ext cx="411480" cy="365760"/>
          </a:xfrm>
          <a:prstGeom prst="rect">
            <a:avLst/>
          </a:prstGeom>
          <a:noFill/>
        </p:spPr>
        <p:txBody>
          <a:bodyPr wrap="square" lIns="0" tIns="0" rIns="0" bIns="0" anchor="t">
            <a:spAutoFit/>
          </a:bodyPr>
          <a:lstStyle/>
          <a:p>
            <a:pPr algn="ctr">
              <a:spcAft>
                <a:spcPts val="0"/>
              </a:spcAft>
            </a:pPr>
            <a:r>
              <a:rPr sz="700" b="1" i="0">
                <a:solidFill>
                  <a:srgbClr val="85D5E6"/>
                </a:solidFill>
                <a:effectLst>
                  <a:glow rad="63500">
                    <a:srgbClr val="001633">
                      <a:alpha val="85000"/>
                    </a:srgbClr>
                  </a:glow>
                </a:effectLst>
                <a:latin typeface="Montserrat"/>
              </a:rPr>
              <a:t>OPC</a:t>
            </a:r>
          </a:p>
          <a:p>
            <a:pPr algn="ctr">
              <a:spcAft>
                <a:spcPts val="0"/>
              </a:spcAft>
            </a:pPr>
            <a:r>
              <a:rPr sz="700" b="1" i="0">
                <a:solidFill>
                  <a:srgbClr val="85D5E6"/>
                </a:solidFill>
                <a:effectLst>
                  <a:glow rad="63500">
                    <a:srgbClr val="001633">
                      <a:alpha val="85000"/>
                    </a:srgbClr>
                  </a:glow>
                </a:effectLst>
                <a:latin typeface="Montserrat"/>
              </a:rPr>
              <a:t>UA</a:t>
            </a:r>
          </a:p>
        </p:txBody>
      </p:sp>
      <p:cxnSp>
        <p:nvCxnSpPr>
          <p:cNvPr id="60" name="MQTT bajada"/>
          <p:cNvCxnSpPr/>
          <p:nvPr/>
        </p:nvCxnSpPr>
        <p:spPr>
          <a:xfrm>
            <a:off x="2089404" y="4754880"/>
            <a:ext cx="0" cy="228600"/>
          </a:xfrm>
          <a:prstGeom prst="line">
            <a:avLst/>
          </a:prstGeom>
          <a:ln w="19050">
            <a:solidFill>
              <a:srgbClr val="85D5E6"/>
            </a:solidFill>
            <a:prstDash val="dash"/>
          </a:ln>
        </p:spPr>
        <p:style>
          <a:lnRef idx="2">
            <a:schemeClr val="accent1"/>
          </a:lnRef>
          <a:fillRef idx="0">
            <a:schemeClr val="accent1"/>
          </a:fillRef>
          <a:effectRef idx="1">
            <a:schemeClr val="accent1"/>
          </a:effectRef>
          <a:fontRef idx="minor">
            <a:schemeClr val="tx1"/>
          </a:fontRef>
        </p:style>
      </p:cxnSp>
      <p:cxnSp>
        <p:nvCxnSpPr>
          <p:cNvPr id="61" name="MQTT"/>
          <p:cNvCxnSpPr/>
          <p:nvPr/>
        </p:nvCxnSpPr>
        <p:spPr>
          <a:xfrm>
            <a:off x="2089404" y="4983480"/>
            <a:ext cx="8339328" cy="0"/>
          </a:xfrm>
          <a:prstGeom prst="line">
            <a:avLst/>
          </a:prstGeom>
          <a:ln w="19050">
            <a:solidFill>
              <a:srgbClr val="85D5E6"/>
            </a:solidFill>
            <a:prstDash val="dash"/>
          </a:ln>
        </p:spPr>
        <p:style>
          <a:lnRef idx="2">
            <a:schemeClr val="accent1"/>
          </a:lnRef>
          <a:fillRef idx="0">
            <a:schemeClr val="accent1"/>
          </a:fillRef>
          <a:effectRef idx="1">
            <a:schemeClr val="accent1"/>
          </a:effectRef>
          <a:fontRef idx="minor">
            <a:schemeClr val="tx1"/>
          </a:fontRef>
        </p:style>
      </p:cxnSp>
      <p:cxnSp>
        <p:nvCxnSpPr>
          <p:cNvPr id="62" name="MQTT subida"/>
          <p:cNvCxnSpPr/>
          <p:nvPr/>
        </p:nvCxnSpPr>
        <p:spPr>
          <a:xfrm flipV="1">
            <a:off x="10428732" y="4773168"/>
            <a:ext cx="0" cy="210312"/>
          </a:xfrm>
          <a:prstGeom prst="line">
            <a:avLst/>
          </a:prstGeom>
          <a:ln w="19050">
            <a:solidFill>
              <a:srgbClr val="85D5E6"/>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63" name="Fondo MQTT"/>
          <p:cNvSpPr/>
          <p:nvPr/>
        </p:nvSpPr>
        <p:spPr>
          <a:xfrm>
            <a:off x="3241548" y="4828032"/>
            <a:ext cx="6035040" cy="310896"/>
          </a:xfrm>
          <a:prstGeom prst="rect">
            <a:avLst/>
          </a:prstGeom>
          <a:solidFill>
            <a:srgbClr val="0016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3241548" y="4828032"/>
            <a:ext cx="6035040" cy="310896"/>
          </a:xfrm>
          <a:prstGeom prst="rect">
            <a:avLst/>
          </a:prstGeom>
          <a:noFill/>
        </p:spPr>
        <p:txBody>
          <a:bodyPr wrap="square" lIns="0" tIns="0" rIns="0" bIns="0" anchor="ctr">
            <a:spAutoFit/>
          </a:bodyPr>
          <a:lstStyle/>
          <a:p>
            <a:pPr algn="ctr">
              <a:spcAft>
                <a:spcPts val="600"/>
              </a:spcAft>
            </a:pPr>
            <a:r>
              <a:rPr sz="900" b="1" i="0">
                <a:solidFill>
                  <a:srgbClr val="85D5E6"/>
                </a:solidFill>
                <a:effectLst>
                  <a:glow rad="63500">
                    <a:srgbClr val="001633">
                      <a:alpha val="85000"/>
                    </a:srgbClr>
                  </a:glow>
                </a:effectLst>
                <a:latin typeface="Montserrat"/>
              </a:rPr>
              <a:t>Vía corta MQTT: </a:t>
            </a:r>
            <a:r>
              <a:rPr sz="900" b="0" i="0">
                <a:solidFill>
                  <a:srgbClr val="FFFFFF"/>
                </a:solidFill>
                <a:effectLst>
                  <a:glow rad="63500">
                    <a:srgbClr val="001633">
                      <a:alpha val="85000"/>
                    </a:srgbClr>
                  </a:glow>
                </a:effectLst>
                <a:latin typeface="Montserrat"/>
              </a:rPr>
              <a:t>sensores IoT nuevos que van directo al gemelo, sin pasar por el PLC</a:t>
            </a:r>
          </a:p>
        </p:txBody>
      </p:sp>
      <p:sp>
        <p:nvSpPr>
          <p:cNvPr id="65" name="TextBox 64"/>
          <p:cNvSpPr txBox="1"/>
          <p:nvPr/>
        </p:nvSpPr>
        <p:spPr>
          <a:xfrm>
            <a:off x="1252728" y="5303520"/>
            <a:ext cx="10012680" cy="41148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MQTT: </a:t>
            </a:r>
            <a:r>
              <a:rPr sz="900" b="0" i="0">
                <a:solidFill>
                  <a:srgbClr val="FFFFFF"/>
                </a:solidFill>
                <a:effectLst>
                  <a:glow rad="63500">
                    <a:srgbClr val="001633">
                      <a:alpha val="85000"/>
                    </a:srgbClr>
                  </a:glow>
                </a:effectLst>
                <a:latin typeface="Montserrat"/>
              </a:rPr>
              <a:t>sensores inalámbricos de vibración en los polines de una correa larga, donde no hay cableado al PLC.</a:t>
            </a:r>
          </a:p>
        </p:txBody>
      </p:sp>
      <p:sp>
        <p:nvSpPr>
          <p:cNvPr id="66"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Frecuencias ilustrativas · OPC UA [21] · MQTT [22]</a:t>
            </a:r>
          </a:p>
        </p:txBody>
      </p:sp>
      <p:sp>
        <p:nvSpPr>
          <p:cNvPr id="67"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8"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71"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74"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Avance III actual"/>
          <p:cNvSpPr/>
          <p:nvPr/>
        </p:nvSpPr>
        <p:spPr>
          <a:xfrm>
            <a:off x="5001768" y="6510528"/>
            <a:ext cx="1265411"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77"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22/31 </a:t>
            </a:r>
            <a:r>
              <a:rPr sz="1000" b="0" i="0">
                <a:solidFill>
                  <a:srgbClr val="A9B8C9"/>
                </a:solidFill>
                <a:effectLst>
                  <a:glow rad="63500">
                    <a:srgbClr val="001633">
                      <a:alpha val="85000"/>
                    </a:srgbClr>
                  </a:glow>
                </a:effectLst>
                <a:latin typeface="Montserrat"/>
              </a:rPr>
              <a:t>· Gemelos Digitales para Minería 4.0 · 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Los datos reales llegan con huecos, ruido y desfases, y el gemelo debe tolerarlos</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Cuatro problemas que aparecen en cualquier faena. Si el gemelo no los detecta, los convierte en resultados equivocados sin que nadie lo note.</a:t>
            </a:r>
          </a:p>
        </p:txBody>
      </p:sp>
      <p:sp>
        <p:nvSpPr>
          <p:cNvPr id="7" name="Problema Huecos"/>
          <p:cNvSpPr/>
          <p:nvPr/>
        </p:nvSpPr>
        <p:spPr>
          <a:xfrm>
            <a:off x="1252728" y="2487168"/>
            <a:ext cx="2331720" cy="248716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17320" y="2560320"/>
            <a:ext cx="2057400" cy="27432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Huecos</a:t>
            </a:r>
          </a:p>
        </p:txBody>
      </p:sp>
      <p:sp>
        <p:nvSpPr>
          <p:cNvPr id="9" name="Mini gráfico"/>
          <p:cNvSpPr/>
          <p:nvPr/>
        </p:nvSpPr>
        <p:spPr>
          <a:xfrm>
            <a:off x="1417320" y="2880360"/>
            <a:ext cx="2002536" cy="914400"/>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0" name="Curva"/>
          <p:cNvSpPr/>
          <p:nvPr/>
        </p:nvSpPr>
        <p:spPr>
          <a:xfrm>
            <a:off x="1463040" y="3155138"/>
            <a:ext cx="668883" cy="182422"/>
          </a:xfrm>
          <a:custGeom>
            <a:avLst/>
            <a:gdLst/>
            <a:ahLst/>
            <a:cxnLst/>
            <a:rect l="l" t="t" r="r" b="b"/>
            <a:pathLst>
              <a:path w="668883" h="182422">
                <a:moveTo>
                  <a:pt x="0" y="182422"/>
                </a:moveTo>
                <a:lnTo>
                  <a:pt x="95554" y="128377"/>
                </a:lnTo>
                <a:lnTo>
                  <a:pt x="191109" y="79160"/>
                </a:lnTo>
                <a:lnTo>
                  <a:pt x="286664" y="39167"/>
                </a:lnTo>
                <a:lnTo>
                  <a:pt x="382219" y="11970"/>
                </a:lnTo>
                <a:lnTo>
                  <a:pt x="477774" y="0"/>
                </a:lnTo>
                <a:lnTo>
                  <a:pt x="573328" y="4324"/>
                </a:lnTo>
                <a:lnTo>
                  <a:pt x="668883" y="24558"/>
                </a:lnTo>
              </a:path>
            </a:pathLst>
          </a:custGeom>
          <a:no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Curva"/>
          <p:cNvSpPr/>
          <p:nvPr/>
        </p:nvSpPr>
        <p:spPr>
          <a:xfrm>
            <a:off x="2705252" y="3388659"/>
            <a:ext cx="668884" cy="131079"/>
          </a:xfrm>
          <a:custGeom>
            <a:avLst/>
            <a:gdLst/>
            <a:ahLst/>
            <a:cxnLst/>
            <a:rect l="l" t="t" r="r" b="b"/>
            <a:pathLst>
              <a:path w="668884" h="131079">
                <a:moveTo>
                  <a:pt x="0" y="74679"/>
                </a:moveTo>
                <a:lnTo>
                  <a:pt x="95555" y="108294"/>
                </a:lnTo>
                <a:lnTo>
                  <a:pt x="191110" y="127671"/>
                </a:lnTo>
                <a:lnTo>
                  <a:pt x="286664" y="131079"/>
                </a:lnTo>
                <a:lnTo>
                  <a:pt x="382219" y="118213"/>
                </a:lnTo>
                <a:lnTo>
                  <a:pt x="477774" y="90224"/>
                </a:lnTo>
                <a:lnTo>
                  <a:pt x="573329" y="49610"/>
                </a:lnTo>
                <a:lnTo>
                  <a:pt x="668884" y="0"/>
                </a:lnTo>
              </a:path>
            </a:pathLst>
          </a:custGeom>
          <a:no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Hueco"/>
          <p:cNvSpPr/>
          <p:nvPr/>
        </p:nvSpPr>
        <p:spPr>
          <a:xfrm>
            <a:off x="2189256" y="2926080"/>
            <a:ext cx="458663" cy="822960"/>
          </a:xfrm>
          <a:prstGeom prst="rect">
            <a:avLst/>
          </a:prstGeom>
          <a:solidFill>
            <a:srgbClr val="FFAB40">
              <a:alpha val="2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TextBox 12"/>
          <p:cNvSpPr txBox="1"/>
          <p:nvPr/>
        </p:nvSpPr>
        <p:spPr>
          <a:xfrm>
            <a:off x="1417320" y="3858768"/>
            <a:ext cx="20574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la red se cae en la mina subterránea y faltan 20 minutos de datos</a:t>
            </a:r>
          </a:p>
        </p:txBody>
      </p:sp>
      <p:sp>
        <p:nvSpPr>
          <p:cNvPr id="14" name="TextBox 13"/>
          <p:cNvSpPr txBox="1"/>
          <p:nvPr/>
        </p:nvSpPr>
        <p:spPr>
          <a:xfrm>
            <a:off x="1417320" y="4407408"/>
            <a:ext cx="2057400" cy="50292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 </a:t>
            </a:r>
            <a:r>
              <a:rPr sz="850" b="0" i="0">
                <a:solidFill>
                  <a:srgbClr val="85D5E6"/>
                </a:solidFill>
                <a:effectLst>
                  <a:glow rad="63500">
                    <a:srgbClr val="001633">
                      <a:alpha val="85000"/>
                    </a:srgbClr>
                  </a:glow>
                </a:effectLst>
                <a:latin typeface="Montserrat"/>
              </a:rPr>
              <a:t>marcarlo como faltante y estimarlo con el modelo</a:t>
            </a:r>
          </a:p>
        </p:txBody>
      </p:sp>
      <p:sp>
        <p:nvSpPr>
          <p:cNvPr id="15" name="Problema Valor congelado"/>
          <p:cNvSpPr/>
          <p:nvPr/>
        </p:nvSpPr>
        <p:spPr>
          <a:xfrm>
            <a:off x="3813048" y="2487168"/>
            <a:ext cx="2331720" cy="248716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TextBox 15"/>
          <p:cNvSpPr txBox="1"/>
          <p:nvPr/>
        </p:nvSpPr>
        <p:spPr>
          <a:xfrm>
            <a:off x="3977640" y="2560320"/>
            <a:ext cx="2057400" cy="27432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Valor congelado</a:t>
            </a:r>
          </a:p>
        </p:txBody>
      </p:sp>
      <p:sp>
        <p:nvSpPr>
          <p:cNvPr id="17" name="Mini gráfico"/>
          <p:cNvSpPr/>
          <p:nvPr/>
        </p:nvSpPr>
        <p:spPr>
          <a:xfrm>
            <a:off x="3977640" y="2880360"/>
            <a:ext cx="2002536" cy="914400"/>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Curva"/>
          <p:cNvSpPr/>
          <p:nvPr/>
        </p:nvSpPr>
        <p:spPr>
          <a:xfrm>
            <a:off x="4023360" y="3155138"/>
            <a:ext cx="1911096" cy="182422"/>
          </a:xfrm>
          <a:custGeom>
            <a:avLst/>
            <a:gdLst/>
            <a:ahLst/>
            <a:cxnLst/>
            <a:rect l="l" t="t" r="r" b="b"/>
            <a:pathLst>
              <a:path w="1911096" h="182422">
                <a:moveTo>
                  <a:pt x="0" y="182422"/>
                </a:moveTo>
                <a:lnTo>
                  <a:pt x="95554" y="128377"/>
                </a:lnTo>
                <a:lnTo>
                  <a:pt x="191109" y="79160"/>
                </a:lnTo>
                <a:lnTo>
                  <a:pt x="286664" y="39167"/>
                </a:lnTo>
                <a:lnTo>
                  <a:pt x="382219" y="11970"/>
                </a:lnTo>
                <a:lnTo>
                  <a:pt x="477774" y="0"/>
                </a:lnTo>
                <a:lnTo>
                  <a:pt x="573328" y="4324"/>
                </a:lnTo>
                <a:lnTo>
                  <a:pt x="668883" y="24558"/>
                </a:lnTo>
                <a:lnTo>
                  <a:pt x="764438" y="58893"/>
                </a:lnTo>
                <a:lnTo>
                  <a:pt x="859993" y="58893"/>
                </a:lnTo>
                <a:lnTo>
                  <a:pt x="955548" y="58893"/>
                </a:lnTo>
                <a:lnTo>
                  <a:pt x="1051102" y="58893"/>
                </a:lnTo>
                <a:lnTo>
                  <a:pt x="1146657" y="58893"/>
                </a:lnTo>
                <a:lnTo>
                  <a:pt x="1242212" y="58893"/>
                </a:lnTo>
                <a:lnTo>
                  <a:pt x="1337767" y="58893"/>
                </a:lnTo>
                <a:lnTo>
                  <a:pt x="1433322" y="58893"/>
                </a:lnTo>
                <a:lnTo>
                  <a:pt x="1528876" y="58893"/>
                </a:lnTo>
                <a:lnTo>
                  <a:pt x="1624431" y="58893"/>
                </a:lnTo>
                <a:lnTo>
                  <a:pt x="1719986" y="58893"/>
                </a:lnTo>
                <a:lnTo>
                  <a:pt x="1815541" y="58893"/>
                </a:lnTo>
                <a:lnTo>
                  <a:pt x="1911096" y="58893"/>
                </a:lnTo>
              </a:path>
            </a:pathLst>
          </a:custGeom>
          <a:no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977640" y="3858768"/>
            <a:ext cx="20574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el sensor de nivel falla y repite el último valor por horas</a:t>
            </a:r>
          </a:p>
        </p:txBody>
      </p:sp>
      <p:sp>
        <p:nvSpPr>
          <p:cNvPr id="20" name="TextBox 19"/>
          <p:cNvSpPr txBox="1"/>
          <p:nvPr/>
        </p:nvSpPr>
        <p:spPr>
          <a:xfrm>
            <a:off x="3977640" y="4407408"/>
            <a:ext cx="2057400" cy="50292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 </a:t>
            </a:r>
            <a:r>
              <a:rPr sz="850" b="0" i="0">
                <a:solidFill>
                  <a:srgbClr val="85D5E6"/>
                </a:solidFill>
                <a:effectLst>
                  <a:glow rad="63500">
                    <a:srgbClr val="001633">
                      <a:alpha val="85000"/>
                    </a:srgbClr>
                  </a:glow>
                </a:effectLst>
                <a:latin typeface="Montserrat"/>
              </a:rPr>
              <a:t>detectar que no varía y descartar el sensor</a:t>
            </a:r>
          </a:p>
        </p:txBody>
      </p:sp>
      <p:sp>
        <p:nvSpPr>
          <p:cNvPr id="21" name="Problema Ruido"/>
          <p:cNvSpPr/>
          <p:nvPr/>
        </p:nvSpPr>
        <p:spPr>
          <a:xfrm>
            <a:off x="6373368" y="2487168"/>
            <a:ext cx="2331720" cy="248716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6537960" y="2560320"/>
            <a:ext cx="2057400" cy="27432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Ruido</a:t>
            </a:r>
          </a:p>
        </p:txBody>
      </p:sp>
      <p:sp>
        <p:nvSpPr>
          <p:cNvPr id="23" name="Mini gráfico"/>
          <p:cNvSpPr/>
          <p:nvPr/>
        </p:nvSpPr>
        <p:spPr>
          <a:xfrm>
            <a:off x="6537960" y="2880360"/>
            <a:ext cx="2002536" cy="914400"/>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Curva"/>
          <p:cNvSpPr/>
          <p:nvPr/>
        </p:nvSpPr>
        <p:spPr>
          <a:xfrm>
            <a:off x="6583680" y="3059909"/>
            <a:ext cx="1911096" cy="544974"/>
          </a:xfrm>
          <a:custGeom>
            <a:avLst/>
            <a:gdLst/>
            <a:ahLst/>
            <a:cxnLst/>
            <a:rect l="l" t="t" r="r" b="b"/>
            <a:pathLst>
              <a:path w="1911096" h="544974">
                <a:moveTo>
                  <a:pt x="0" y="277651"/>
                </a:moveTo>
                <a:lnTo>
                  <a:pt x="47777" y="237777"/>
                </a:lnTo>
                <a:lnTo>
                  <a:pt x="95554" y="150947"/>
                </a:lnTo>
                <a:lnTo>
                  <a:pt x="143332" y="275361"/>
                </a:lnTo>
                <a:lnTo>
                  <a:pt x="191109" y="224818"/>
                </a:lnTo>
                <a:lnTo>
                  <a:pt x="238887" y="66860"/>
                </a:lnTo>
                <a:lnTo>
                  <a:pt x="286664" y="137193"/>
                </a:lnTo>
                <a:lnTo>
                  <a:pt x="334441" y="124260"/>
                </a:lnTo>
                <a:lnTo>
                  <a:pt x="382219" y="130667"/>
                </a:lnTo>
                <a:lnTo>
                  <a:pt x="429996" y="151778"/>
                </a:lnTo>
                <a:lnTo>
                  <a:pt x="477774" y="0"/>
                </a:lnTo>
                <a:lnTo>
                  <a:pt x="525551" y="77742"/>
                </a:lnTo>
                <a:lnTo>
                  <a:pt x="573328" y="190398"/>
                </a:lnTo>
                <a:lnTo>
                  <a:pt x="621106" y="86816"/>
                </a:lnTo>
                <a:lnTo>
                  <a:pt x="668883" y="110986"/>
                </a:lnTo>
                <a:lnTo>
                  <a:pt x="716661" y="106177"/>
                </a:lnTo>
                <a:lnTo>
                  <a:pt x="764438" y="125457"/>
                </a:lnTo>
                <a:lnTo>
                  <a:pt x="812215" y="278242"/>
                </a:lnTo>
                <a:lnTo>
                  <a:pt x="859993" y="181878"/>
                </a:lnTo>
                <a:lnTo>
                  <a:pt x="907770" y="139447"/>
                </a:lnTo>
                <a:lnTo>
                  <a:pt x="955548" y="291508"/>
                </a:lnTo>
                <a:lnTo>
                  <a:pt x="1003325" y="288480"/>
                </a:lnTo>
                <a:lnTo>
                  <a:pt x="1051102" y="336253"/>
                </a:lnTo>
                <a:lnTo>
                  <a:pt x="1098880" y="337184"/>
                </a:lnTo>
                <a:lnTo>
                  <a:pt x="1146657" y="259749"/>
                </a:lnTo>
                <a:lnTo>
                  <a:pt x="1194435" y="433451"/>
                </a:lnTo>
                <a:lnTo>
                  <a:pt x="1242212" y="473926"/>
                </a:lnTo>
                <a:lnTo>
                  <a:pt x="1289989" y="365481"/>
                </a:lnTo>
                <a:lnTo>
                  <a:pt x="1337767" y="431143"/>
                </a:lnTo>
                <a:lnTo>
                  <a:pt x="1385544" y="422590"/>
                </a:lnTo>
                <a:lnTo>
                  <a:pt x="1433322" y="474851"/>
                </a:lnTo>
                <a:lnTo>
                  <a:pt x="1481099" y="544974"/>
                </a:lnTo>
                <a:lnTo>
                  <a:pt x="1528876" y="380243"/>
                </a:lnTo>
                <a:lnTo>
                  <a:pt x="1576654" y="408701"/>
                </a:lnTo>
                <a:lnTo>
                  <a:pt x="1624431" y="515475"/>
                </a:lnTo>
                <a:lnTo>
                  <a:pt x="1672209" y="433279"/>
                </a:lnTo>
                <a:lnTo>
                  <a:pt x="1719986" y="438555"/>
                </a:lnTo>
                <a:lnTo>
                  <a:pt x="1767763" y="363776"/>
                </a:lnTo>
                <a:lnTo>
                  <a:pt x="1815541" y="315874"/>
                </a:lnTo>
                <a:lnTo>
                  <a:pt x="1863318" y="453789"/>
                </a:lnTo>
                <a:lnTo>
                  <a:pt x="1911096" y="345326"/>
                </a:lnTo>
              </a:path>
            </a:pathLst>
          </a:custGeom>
          <a:no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37960" y="3858768"/>
            <a:ext cx="20574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la presión de ciclones oscila por la pulpa y la vibración</a:t>
            </a:r>
          </a:p>
        </p:txBody>
      </p:sp>
      <p:sp>
        <p:nvSpPr>
          <p:cNvPr id="26" name="TextBox 25"/>
          <p:cNvSpPr txBox="1"/>
          <p:nvPr/>
        </p:nvSpPr>
        <p:spPr>
          <a:xfrm>
            <a:off x="6537960" y="4407408"/>
            <a:ext cx="2057400" cy="50292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 </a:t>
            </a:r>
            <a:r>
              <a:rPr sz="850" b="0" i="0">
                <a:solidFill>
                  <a:srgbClr val="85D5E6"/>
                </a:solidFill>
                <a:effectLst>
                  <a:glow rad="63500">
                    <a:srgbClr val="001633">
                      <a:alpha val="85000"/>
                    </a:srgbClr>
                  </a:glow>
                </a:effectLst>
                <a:latin typeface="Montserrat"/>
              </a:rPr>
              <a:t>filtrar sin retrasar demasiado la señal</a:t>
            </a:r>
          </a:p>
        </p:txBody>
      </p:sp>
      <p:sp>
        <p:nvSpPr>
          <p:cNvPr id="27" name="Problema Desfase"/>
          <p:cNvSpPr/>
          <p:nvPr/>
        </p:nvSpPr>
        <p:spPr>
          <a:xfrm>
            <a:off x="8933688" y="2487168"/>
            <a:ext cx="2331720" cy="2487168"/>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9098280" y="2560320"/>
            <a:ext cx="2057400" cy="274320"/>
          </a:xfrm>
          <a:prstGeom prst="rect">
            <a:avLst/>
          </a:prstGeom>
          <a:noFill/>
        </p:spPr>
        <p:txBody>
          <a:bodyPr wrap="square" lIns="0" tIns="0" rIns="0" bIns="0" anchor="t">
            <a:spAutoFit/>
          </a:bodyPr>
          <a:lstStyle/>
          <a:p>
            <a:pPr algn="l">
              <a:spcAft>
                <a:spcPts val="600"/>
              </a:spcAft>
            </a:pPr>
            <a:r>
              <a:rPr sz="1200" b="1" i="0">
                <a:solidFill>
                  <a:srgbClr val="FFFFFF"/>
                </a:solidFill>
                <a:effectLst>
                  <a:glow rad="63500">
                    <a:srgbClr val="001633">
                      <a:alpha val="85000"/>
                    </a:srgbClr>
                  </a:glow>
                </a:effectLst>
                <a:latin typeface="Montserrat"/>
              </a:rPr>
              <a:t>Desfase</a:t>
            </a:r>
          </a:p>
        </p:txBody>
      </p:sp>
      <p:sp>
        <p:nvSpPr>
          <p:cNvPr id="29" name="Mini gráfico"/>
          <p:cNvSpPr/>
          <p:nvPr/>
        </p:nvSpPr>
        <p:spPr>
          <a:xfrm>
            <a:off x="9098280" y="2880360"/>
            <a:ext cx="2002536" cy="914400"/>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Curva"/>
          <p:cNvSpPr/>
          <p:nvPr/>
        </p:nvSpPr>
        <p:spPr>
          <a:xfrm>
            <a:off x="9144000" y="3155138"/>
            <a:ext cx="1911096" cy="364600"/>
          </a:xfrm>
          <a:custGeom>
            <a:avLst/>
            <a:gdLst/>
            <a:ahLst/>
            <a:cxnLst/>
            <a:rect l="l" t="t" r="r" b="b"/>
            <a:pathLst>
              <a:path w="1911096" h="364600">
                <a:moveTo>
                  <a:pt x="0" y="182422"/>
                </a:moveTo>
                <a:lnTo>
                  <a:pt x="95554" y="128377"/>
                </a:lnTo>
                <a:lnTo>
                  <a:pt x="191109" y="79160"/>
                </a:lnTo>
                <a:lnTo>
                  <a:pt x="286664" y="39167"/>
                </a:lnTo>
                <a:lnTo>
                  <a:pt x="382219" y="11970"/>
                </a:lnTo>
                <a:lnTo>
                  <a:pt x="477774" y="0"/>
                </a:lnTo>
                <a:lnTo>
                  <a:pt x="573328" y="4324"/>
                </a:lnTo>
                <a:lnTo>
                  <a:pt x="668883" y="24558"/>
                </a:lnTo>
                <a:lnTo>
                  <a:pt x="764438" y="58893"/>
                </a:lnTo>
                <a:lnTo>
                  <a:pt x="859993" y="104262"/>
                </a:lnTo>
                <a:lnTo>
                  <a:pt x="955548" y="156613"/>
                </a:lnTo>
                <a:lnTo>
                  <a:pt x="1051102" y="211270"/>
                </a:lnTo>
                <a:lnTo>
                  <a:pt x="1146657" y="263350"/>
                </a:lnTo>
                <a:lnTo>
                  <a:pt x="1242212" y="308200"/>
                </a:lnTo>
                <a:lnTo>
                  <a:pt x="1337767" y="341815"/>
                </a:lnTo>
                <a:lnTo>
                  <a:pt x="1433322" y="361192"/>
                </a:lnTo>
                <a:lnTo>
                  <a:pt x="1528876" y="364600"/>
                </a:lnTo>
                <a:lnTo>
                  <a:pt x="1624431" y="351734"/>
                </a:lnTo>
                <a:lnTo>
                  <a:pt x="1719986" y="323745"/>
                </a:lnTo>
                <a:lnTo>
                  <a:pt x="1815541" y="283131"/>
                </a:lnTo>
                <a:lnTo>
                  <a:pt x="1911096" y="233521"/>
                </a:lnTo>
              </a:path>
            </a:pathLst>
          </a:custGeom>
          <a:noFill/>
          <a:ln w="190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Curva"/>
          <p:cNvSpPr/>
          <p:nvPr/>
        </p:nvSpPr>
        <p:spPr>
          <a:xfrm>
            <a:off x="9373331" y="3200858"/>
            <a:ext cx="1624432" cy="364600"/>
          </a:xfrm>
          <a:custGeom>
            <a:avLst/>
            <a:gdLst/>
            <a:ahLst/>
            <a:cxnLst/>
            <a:rect l="l" t="t" r="r" b="b"/>
            <a:pathLst>
              <a:path w="1624432" h="364600">
                <a:moveTo>
                  <a:pt x="0" y="182422"/>
                </a:moveTo>
                <a:lnTo>
                  <a:pt x="95555" y="128377"/>
                </a:lnTo>
                <a:lnTo>
                  <a:pt x="191110" y="79160"/>
                </a:lnTo>
                <a:lnTo>
                  <a:pt x="286664" y="39167"/>
                </a:lnTo>
                <a:lnTo>
                  <a:pt x="382219" y="11970"/>
                </a:lnTo>
                <a:lnTo>
                  <a:pt x="477774" y="0"/>
                </a:lnTo>
                <a:lnTo>
                  <a:pt x="573329" y="4324"/>
                </a:lnTo>
                <a:lnTo>
                  <a:pt x="668884" y="24558"/>
                </a:lnTo>
                <a:lnTo>
                  <a:pt x="764438" y="58893"/>
                </a:lnTo>
                <a:lnTo>
                  <a:pt x="859993" y="104262"/>
                </a:lnTo>
                <a:lnTo>
                  <a:pt x="955548" y="156613"/>
                </a:lnTo>
                <a:lnTo>
                  <a:pt x="1051103" y="211270"/>
                </a:lnTo>
                <a:lnTo>
                  <a:pt x="1146658" y="263350"/>
                </a:lnTo>
                <a:lnTo>
                  <a:pt x="1242212" y="308200"/>
                </a:lnTo>
                <a:lnTo>
                  <a:pt x="1337767" y="341815"/>
                </a:lnTo>
                <a:lnTo>
                  <a:pt x="1433322" y="361192"/>
                </a:lnTo>
                <a:lnTo>
                  <a:pt x="1528877" y="364600"/>
                </a:lnTo>
                <a:lnTo>
                  <a:pt x="1624432" y="351734"/>
                </a:lnTo>
              </a:path>
            </a:pathLst>
          </a:custGeom>
          <a:noFill/>
          <a:ln w="19050">
            <a:solidFill>
              <a:srgbClr val="FFAB4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9098280" y="3858768"/>
            <a:ext cx="20574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Ej.: </a:t>
            </a:r>
            <a:r>
              <a:rPr sz="850" b="0" i="0">
                <a:solidFill>
                  <a:srgbClr val="FFFFFF"/>
                </a:solidFill>
                <a:effectLst>
                  <a:glow rad="63500">
                    <a:srgbClr val="001633">
                      <a:alpha val="85000"/>
                    </a:srgbClr>
                  </a:glow>
                </a:effectLst>
                <a:latin typeface="Montserrat"/>
              </a:rPr>
              <a:t>el tonelaje de la correa llega 30 s después que la potencia del molino</a:t>
            </a:r>
          </a:p>
        </p:txBody>
      </p:sp>
      <p:sp>
        <p:nvSpPr>
          <p:cNvPr id="33" name="TextBox 32"/>
          <p:cNvSpPr txBox="1"/>
          <p:nvPr/>
        </p:nvSpPr>
        <p:spPr>
          <a:xfrm>
            <a:off x="9098280" y="4407408"/>
            <a:ext cx="2057400" cy="50292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 </a:t>
            </a:r>
            <a:r>
              <a:rPr sz="850" b="0" i="0">
                <a:solidFill>
                  <a:srgbClr val="85D5E6"/>
                </a:solidFill>
                <a:effectLst>
                  <a:glow rad="63500">
                    <a:srgbClr val="001633">
                      <a:alpha val="85000"/>
                    </a:srgbClr>
                  </a:glow>
                </a:effectLst>
                <a:latin typeface="Montserrat"/>
              </a:rPr>
              <a:t>alinear por marca de tiempo antes de usar</a:t>
            </a:r>
          </a:p>
        </p:txBody>
      </p:sp>
      <p:sp>
        <p:nvSpPr>
          <p:cNvPr id="34" name="TextBox 33"/>
          <p:cNvSpPr txBox="1"/>
          <p:nvPr/>
        </p:nvSpPr>
        <p:spPr>
          <a:xfrm>
            <a:off x="1252728" y="5102352"/>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ANTES DEL MODELO: CUATRO CHEQUEOS AUTOMÁTICOS DE CALIDAD DEL DATO</a:t>
            </a:r>
          </a:p>
        </p:txBody>
      </p:sp>
      <p:sp>
        <p:nvSpPr>
          <p:cNvPr id="35" name="Chequeo ¿Está en rango?"/>
          <p:cNvSpPr/>
          <p:nvPr/>
        </p:nvSpPr>
        <p:spPr>
          <a:xfrm>
            <a:off x="1252728" y="5349240"/>
            <a:ext cx="2331720" cy="502920"/>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1362456" y="5349240"/>
            <a:ext cx="2148840" cy="502920"/>
          </a:xfrm>
          <a:prstGeom prst="rect">
            <a:avLst/>
          </a:prstGeom>
          <a:noFill/>
        </p:spPr>
        <p:txBody>
          <a:bodyPr wrap="square" lIns="0" tIns="0" rIns="0" bIns="0" anchor="ctr">
            <a:spAutoFit/>
          </a:bodyPr>
          <a:lstStyle/>
          <a:p>
            <a:pPr algn="l">
              <a:spcAft>
                <a:spcPts val="0"/>
              </a:spcAft>
            </a:pPr>
            <a:r>
              <a:rPr sz="950" b="1" i="0">
                <a:solidFill>
                  <a:srgbClr val="85D5E6"/>
                </a:solidFill>
                <a:effectLst>
                  <a:glow rad="63500">
                    <a:srgbClr val="001633">
                      <a:alpha val="85000"/>
                    </a:srgbClr>
                  </a:glow>
                </a:effectLst>
                <a:latin typeface="Montserrat"/>
              </a:rPr>
              <a:t>¿Está en rango?</a:t>
            </a:r>
          </a:p>
          <a:p>
            <a:pPr algn="l">
              <a:spcAft>
                <a:spcPts val="0"/>
              </a:spcAft>
            </a:pPr>
            <a:r>
              <a:rPr sz="800" b="0" i="0">
                <a:solidFill>
                  <a:srgbClr val="FFFFFF"/>
                </a:solidFill>
                <a:effectLst>
                  <a:glow rad="63500">
                    <a:srgbClr val="001633">
                      <a:alpha val="85000"/>
                    </a:srgbClr>
                  </a:glow>
                </a:effectLst>
                <a:latin typeface="Montserrat"/>
              </a:rPr>
              <a:t>presión entre 0 y 3 bar</a:t>
            </a:r>
          </a:p>
        </p:txBody>
      </p:sp>
      <p:sp>
        <p:nvSpPr>
          <p:cNvPr id="37" name="Chequeo ¿Es reciente?"/>
          <p:cNvSpPr/>
          <p:nvPr/>
        </p:nvSpPr>
        <p:spPr>
          <a:xfrm>
            <a:off x="3813048" y="5349240"/>
            <a:ext cx="2331720" cy="502920"/>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3922776" y="5349240"/>
            <a:ext cx="2148840" cy="502920"/>
          </a:xfrm>
          <a:prstGeom prst="rect">
            <a:avLst/>
          </a:prstGeom>
          <a:noFill/>
        </p:spPr>
        <p:txBody>
          <a:bodyPr wrap="square" lIns="0" tIns="0" rIns="0" bIns="0" anchor="ctr">
            <a:spAutoFit/>
          </a:bodyPr>
          <a:lstStyle/>
          <a:p>
            <a:pPr algn="l">
              <a:spcAft>
                <a:spcPts val="0"/>
              </a:spcAft>
            </a:pPr>
            <a:r>
              <a:rPr sz="950" b="1" i="0">
                <a:solidFill>
                  <a:srgbClr val="85D5E6"/>
                </a:solidFill>
                <a:effectLst>
                  <a:glow rad="63500">
                    <a:srgbClr val="001633">
                      <a:alpha val="85000"/>
                    </a:srgbClr>
                  </a:glow>
                </a:effectLst>
                <a:latin typeface="Montserrat"/>
              </a:rPr>
              <a:t>¿Es reciente?</a:t>
            </a:r>
          </a:p>
          <a:p>
            <a:pPr algn="l">
              <a:spcAft>
                <a:spcPts val="0"/>
              </a:spcAft>
            </a:pPr>
            <a:r>
              <a:rPr sz="800" b="0" i="0">
                <a:solidFill>
                  <a:srgbClr val="FFFFFF"/>
                </a:solidFill>
                <a:effectLst>
                  <a:glow rad="63500">
                    <a:srgbClr val="001633">
                      <a:alpha val="85000"/>
                    </a:srgbClr>
                  </a:glow>
                </a:effectLst>
                <a:latin typeface="Montserrat"/>
              </a:rPr>
              <a:t>el último dato tiene menos de 10 s</a:t>
            </a:r>
          </a:p>
        </p:txBody>
      </p:sp>
      <p:sp>
        <p:nvSpPr>
          <p:cNvPr id="39" name="Chequeo ¿Se mueve?"/>
          <p:cNvSpPr/>
          <p:nvPr/>
        </p:nvSpPr>
        <p:spPr>
          <a:xfrm>
            <a:off x="6373368" y="5349240"/>
            <a:ext cx="2331720" cy="502920"/>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6483096" y="5349240"/>
            <a:ext cx="2148840" cy="502920"/>
          </a:xfrm>
          <a:prstGeom prst="rect">
            <a:avLst/>
          </a:prstGeom>
          <a:noFill/>
        </p:spPr>
        <p:txBody>
          <a:bodyPr wrap="square" lIns="0" tIns="0" rIns="0" bIns="0" anchor="ctr">
            <a:spAutoFit/>
          </a:bodyPr>
          <a:lstStyle/>
          <a:p>
            <a:pPr algn="l">
              <a:spcAft>
                <a:spcPts val="0"/>
              </a:spcAft>
            </a:pPr>
            <a:r>
              <a:rPr sz="950" b="1" i="0">
                <a:solidFill>
                  <a:srgbClr val="85D5E6"/>
                </a:solidFill>
                <a:effectLst>
                  <a:glow rad="63500">
                    <a:srgbClr val="001633">
                      <a:alpha val="85000"/>
                    </a:srgbClr>
                  </a:glow>
                </a:effectLst>
                <a:latin typeface="Montserrat"/>
              </a:rPr>
              <a:t>¿Se mueve?</a:t>
            </a:r>
          </a:p>
          <a:p>
            <a:pPr algn="l">
              <a:spcAft>
                <a:spcPts val="0"/>
              </a:spcAft>
            </a:pPr>
            <a:r>
              <a:rPr sz="800" b="0" i="0">
                <a:solidFill>
                  <a:srgbClr val="FFFFFF"/>
                </a:solidFill>
                <a:effectLst>
                  <a:glow rad="63500">
                    <a:srgbClr val="001633">
                      <a:alpha val="85000"/>
                    </a:srgbClr>
                  </a:glow>
                </a:effectLst>
                <a:latin typeface="Montserrat"/>
              </a:rPr>
              <a:t>no lleva una hora idéntico</a:t>
            </a:r>
          </a:p>
        </p:txBody>
      </p:sp>
      <p:sp>
        <p:nvSpPr>
          <p:cNvPr id="41" name="Chequeo ¿Es coherente?"/>
          <p:cNvSpPr/>
          <p:nvPr/>
        </p:nvSpPr>
        <p:spPr>
          <a:xfrm>
            <a:off x="8933688" y="5349240"/>
            <a:ext cx="2331720" cy="502920"/>
          </a:xfrm>
          <a:prstGeom prst="rect">
            <a:avLst/>
          </a:prstGeom>
          <a:solidFill>
            <a:srgbClr val="12335E"/>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9043416" y="5349240"/>
            <a:ext cx="2148840" cy="502920"/>
          </a:xfrm>
          <a:prstGeom prst="rect">
            <a:avLst/>
          </a:prstGeom>
          <a:noFill/>
        </p:spPr>
        <p:txBody>
          <a:bodyPr wrap="square" lIns="0" tIns="0" rIns="0" bIns="0" anchor="ctr">
            <a:spAutoFit/>
          </a:bodyPr>
          <a:lstStyle/>
          <a:p>
            <a:pPr algn="l">
              <a:spcAft>
                <a:spcPts val="0"/>
              </a:spcAft>
            </a:pPr>
            <a:r>
              <a:rPr sz="950" b="1" i="0">
                <a:solidFill>
                  <a:srgbClr val="85D5E6"/>
                </a:solidFill>
                <a:effectLst>
                  <a:glow rad="63500">
                    <a:srgbClr val="001633">
                      <a:alpha val="85000"/>
                    </a:srgbClr>
                  </a:glow>
                </a:effectLst>
                <a:latin typeface="Montserrat"/>
              </a:rPr>
              <a:t>¿Es coherente?</a:t>
            </a:r>
          </a:p>
          <a:p>
            <a:pPr algn="l">
              <a:spcAft>
                <a:spcPts val="0"/>
              </a:spcAft>
            </a:pPr>
            <a:r>
              <a:rPr sz="800" b="0" i="0">
                <a:solidFill>
                  <a:srgbClr val="FFFFFF"/>
                </a:solidFill>
                <a:effectLst>
                  <a:glow rad="63500">
                    <a:srgbClr val="001633">
                      <a:alpha val="85000"/>
                    </a:srgbClr>
                  </a:glow>
                </a:effectLst>
                <a:latin typeface="Montserrat"/>
              </a:rPr>
              <a:t>lo que entra al cajón ≈ lo que sale</a:t>
            </a:r>
          </a:p>
        </p:txBody>
      </p:sp>
      <p:sp>
        <p:nvSpPr>
          <p:cNvPr id="4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Elaboración propia · gráficos esquemáticos · ejemplos ilustrativos</a:t>
            </a:r>
          </a:p>
        </p:txBody>
      </p:sp>
      <p:sp>
        <p:nvSpPr>
          <p:cNvPr id="4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I actual"/>
          <p:cNvSpPr/>
          <p:nvPr/>
        </p:nvSpPr>
        <p:spPr>
          <a:xfrm>
            <a:off x="5001768" y="6510528"/>
            <a:ext cx="132293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4"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23/31 </a:t>
            </a:r>
            <a:r>
              <a:rPr sz="1000" b="0" i="0">
                <a:solidFill>
                  <a:srgbClr val="A9B8C9"/>
                </a:solidFill>
                <a:effectLst>
                  <a:glow rad="63500">
                    <a:srgbClr val="001633">
                      <a:alpha val="85000"/>
                    </a:srgbClr>
                  </a:glow>
                </a:effectLst>
                <a:latin typeface="Montserrat"/>
              </a:rPr>
              <a:t>· Gemelos Digitales para Minería 4.0 · 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Para seguir a la planta, el gemelo combina lo que predice con lo que mide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4 · INTEGRACIÓN Y DATOS</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Ni el modelo ni el sensor tienen toda la verdad: el modelo se desvía y el sensor tiene ruido. Un observador, como el filtro de Kalman, mezcla ambos según cuánto confía en cada uno.</a:t>
            </a:r>
          </a:p>
        </p:txBody>
      </p:sp>
      <p:sp>
        <p:nvSpPr>
          <p:cNvPr id="7" name="Área gráfico"/>
          <p:cNvSpPr/>
          <p:nvPr/>
        </p:nvSpPr>
        <p:spPr>
          <a:xfrm>
            <a:off x="1252728" y="2514600"/>
            <a:ext cx="5486400" cy="224028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4782312"/>
            <a:ext cx="5486400" cy="182880"/>
          </a:xfrm>
          <a:prstGeom prst="rect">
            <a:avLst/>
          </a:prstGeom>
          <a:noFill/>
        </p:spPr>
        <p:txBody>
          <a:bodyPr wrap="square" lIns="0" tIns="0" rIns="0" bIns="0" anchor="t">
            <a:spAutoFit/>
          </a:bodyPr>
          <a:lstStyle/>
          <a:p>
            <a:pPr algn="r">
              <a:spcAft>
                <a:spcPts val="600"/>
              </a:spcAft>
            </a:pPr>
            <a:r>
              <a:rPr sz="800" b="0" i="0">
                <a:solidFill>
                  <a:srgbClr val="A9B8C9"/>
                </a:solidFill>
                <a:effectLst>
                  <a:glow rad="63500">
                    <a:srgbClr val="001633">
                      <a:alpha val="85000"/>
                    </a:srgbClr>
                  </a:glow>
                </a:effectLst>
                <a:latin typeface="Montserrat"/>
              </a:rPr>
              <a:t>tiempo</a:t>
            </a:r>
          </a:p>
        </p:txBody>
      </p:sp>
      <p:sp>
        <p:nvSpPr>
          <p:cNvPr id="9" name="TextBox 8"/>
          <p:cNvSpPr txBox="1"/>
          <p:nvPr/>
        </p:nvSpPr>
        <p:spPr>
          <a:xfrm>
            <a:off x="1325880" y="2560320"/>
            <a:ext cx="5486400" cy="182880"/>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altura de la cama del espesador</a:t>
            </a:r>
          </a:p>
        </p:txBody>
      </p:sp>
      <p:sp>
        <p:nvSpPr>
          <p:cNvPr id="10" name="Real"/>
          <p:cNvSpPr/>
          <p:nvPr/>
        </p:nvSpPr>
        <p:spPr>
          <a:xfrm>
            <a:off x="1344168" y="3225329"/>
            <a:ext cx="5303520" cy="537227"/>
          </a:xfrm>
          <a:custGeom>
            <a:avLst/>
            <a:gdLst/>
            <a:ahLst/>
            <a:cxnLst/>
            <a:rect l="l" t="t" r="r" b="b"/>
            <a:pathLst>
              <a:path w="5303520" h="537227">
                <a:moveTo>
                  <a:pt x="0" y="409411"/>
                </a:moveTo>
                <a:lnTo>
                  <a:pt x="106070" y="371382"/>
                </a:lnTo>
                <a:lnTo>
                  <a:pt x="212140" y="333688"/>
                </a:lnTo>
                <a:lnTo>
                  <a:pt x="318211" y="296662"/>
                </a:lnTo>
                <a:lnTo>
                  <a:pt x="424281" y="260627"/>
                </a:lnTo>
                <a:lnTo>
                  <a:pt x="530352" y="225901"/>
                </a:lnTo>
                <a:lnTo>
                  <a:pt x="636422" y="192784"/>
                </a:lnTo>
                <a:lnTo>
                  <a:pt x="742492" y="161562"/>
                </a:lnTo>
                <a:lnTo>
                  <a:pt x="848563" y="132504"/>
                </a:lnTo>
                <a:lnTo>
                  <a:pt x="954633" y="105855"/>
                </a:lnTo>
                <a:lnTo>
                  <a:pt x="1060704" y="81835"/>
                </a:lnTo>
                <a:lnTo>
                  <a:pt x="1166774" y="60641"/>
                </a:lnTo>
                <a:lnTo>
                  <a:pt x="1272844" y="42440"/>
                </a:lnTo>
                <a:lnTo>
                  <a:pt x="1378915" y="27367"/>
                </a:lnTo>
                <a:lnTo>
                  <a:pt x="1484985" y="15530"/>
                </a:lnTo>
                <a:lnTo>
                  <a:pt x="1591056" y="7002"/>
                </a:lnTo>
                <a:lnTo>
                  <a:pt x="1697126" y="1823"/>
                </a:lnTo>
                <a:lnTo>
                  <a:pt x="1803196" y="0"/>
                </a:lnTo>
                <a:lnTo>
                  <a:pt x="1909267" y="1507"/>
                </a:lnTo>
                <a:lnTo>
                  <a:pt x="2015337" y="6283"/>
                </a:lnTo>
                <a:lnTo>
                  <a:pt x="2121408" y="14237"/>
                </a:lnTo>
                <a:lnTo>
                  <a:pt x="2227478" y="25244"/>
                </a:lnTo>
                <a:lnTo>
                  <a:pt x="2333548" y="39149"/>
                </a:lnTo>
                <a:lnTo>
                  <a:pt x="2439619" y="55769"/>
                </a:lnTo>
                <a:lnTo>
                  <a:pt x="2545689" y="74893"/>
                </a:lnTo>
                <a:lnTo>
                  <a:pt x="2651760" y="96285"/>
                </a:lnTo>
                <a:lnTo>
                  <a:pt x="2757830" y="119686"/>
                </a:lnTo>
                <a:lnTo>
                  <a:pt x="2863900" y="144818"/>
                </a:lnTo>
                <a:lnTo>
                  <a:pt x="2969971" y="171385"/>
                </a:lnTo>
                <a:lnTo>
                  <a:pt x="3076041" y="199076"/>
                </a:lnTo>
                <a:lnTo>
                  <a:pt x="3182112" y="227571"/>
                </a:lnTo>
                <a:lnTo>
                  <a:pt x="3288182" y="256540"/>
                </a:lnTo>
                <a:lnTo>
                  <a:pt x="3394252" y="285649"/>
                </a:lnTo>
                <a:lnTo>
                  <a:pt x="3500323" y="314561"/>
                </a:lnTo>
                <a:lnTo>
                  <a:pt x="3606393" y="342944"/>
                </a:lnTo>
                <a:lnTo>
                  <a:pt x="3712464" y="370469"/>
                </a:lnTo>
                <a:lnTo>
                  <a:pt x="3818534" y="396816"/>
                </a:lnTo>
                <a:lnTo>
                  <a:pt x="3924604" y="421677"/>
                </a:lnTo>
                <a:lnTo>
                  <a:pt x="4030675" y="444759"/>
                </a:lnTo>
                <a:lnTo>
                  <a:pt x="4136745" y="465787"/>
                </a:lnTo>
                <a:lnTo>
                  <a:pt x="4242816" y="484506"/>
                </a:lnTo>
                <a:lnTo>
                  <a:pt x="4348886" y="500683"/>
                </a:lnTo>
                <a:lnTo>
                  <a:pt x="4454956" y="514113"/>
                </a:lnTo>
                <a:lnTo>
                  <a:pt x="4561027" y="524617"/>
                </a:lnTo>
                <a:lnTo>
                  <a:pt x="4667097" y="532044"/>
                </a:lnTo>
                <a:lnTo>
                  <a:pt x="4773168" y="536276"/>
                </a:lnTo>
                <a:lnTo>
                  <a:pt x="4879238" y="537227"/>
                </a:lnTo>
                <a:lnTo>
                  <a:pt x="4985308" y="534840"/>
                </a:lnTo>
                <a:lnTo>
                  <a:pt x="5091379" y="529097"/>
                </a:lnTo>
                <a:lnTo>
                  <a:pt x="5197449" y="520008"/>
                </a:lnTo>
                <a:lnTo>
                  <a:pt x="5303520" y="507621"/>
                </a:lnTo>
              </a:path>
            </a:pathLst>
          </a:custGeom>
          <a:no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Medición"/>
          <p:cNvSpPr/>
          <p:nvPr/>
        </p:nvSpPr>
        <p:spPr>
          <a:xfrm>
            <a:off x="1307592" y="3598164"/>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Medición"/>
          <p:cNvSpPr/>
          <p:nvPr/>
        </p:nvSpPr>
        <p:spPr>
          <a:xfrm>
            <a:off x="1528572" y="3538698"/>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Medición"/>
          <p:cNvSpPr/>
          <p:nvPr/>
        </p:nvSpPr>
        <p:spPr>
          <a:xfrm>
            <a:off x="1749552" y="3249792"/>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Medición"/>
          <p:cNvSpPr/>
          <p:nvPr/>
        </p:nvSpPr>
        <p:spPr>
          <a:xfrm>
            <a:off x="1970532" y="3329460"/>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Medición"/>
          <p:cNvSpPr/>
          <p:nvPr/>
        </p:nvSpPr>
        <p:spPr>
          <a:xfrm>
            <a:off x="2191512" y="3273024"/>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Medición"/>
          <p:cNvSpPr/>
          <p:nvPr/>
        </p:nvSpPr>
        <p:spPr>
          <a:xfrm>
            <a:off x="2412492" y="3155141"/>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edición"/>
          <p:cNvSpPr/>
          <p:nvPr/>
        </p:nvSpPr>
        <p:spPr>
          <a:xfrm>
            <a:off x="2633472" y="3359163"/>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Medición"/>
          <p:cNvSpPr/>
          <p:nvPr/>
        </p:nvSpPr>
        <p:spPr>
          <a:xfrm>
            <a:off x="2854452" y="3259458"/>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Medición"/>
          <p:cNvSpPr/>
          <p:nvPr/>
        </p:nvSpPr>
        <p:spPr>
          <a:xfrm>
            <a:off x="3075432" y="3233824"/>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Medición"/>
          <p:cNvSpPr/>
          <p:nvPr/>
        </p:nvSpPr>
        <p:spPr>
          <a:xfrm>
            <a:off x="3296412" y="3371428"/>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Medición"/>
          <p:cNvSpPr/>
          <p:nvPr/>
        </p:nvSpPr>
        <p:spPr>
          <a:xfrm>
            <a:off x="3517392" y="3165009"/>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Medición"/>
          <p:cNvSpPr/>
          <p:nvPr/>
        </p:nvSpPr>
        <p:spPr>
          <a:xfrm>
            <a:off x="3738372" y="3209847"/>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Medición"/>
          <p:cNvSpPr/>
          <p:nvPr/>
        </p:nvSpPr>
        <p:spPr>
          <a:xfrm>
            <a:off x="3959352" y="3282476"/>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Medición"/>
          <p:cNvSpPr/>
          <p:nvPr/>
        </p:nvSpPr>
        <p:spPr>
          <a:xfrm>
            <a:off x="4180332" y="3135604"/>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Medición"/>
          <p:cNvSpPr/>
          <p:nvPr/>
        </p:nvSpPr>
        <p:spPr>
          <a:xfrm>
            <a:off x="4401312" y="3358956"/>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Medición"/>
          <p:cNvSpPr/>
          <p:nvPr/>
        </p:nvSpPr>
        <p:spPr>
          <a:xfrm>
            <a:off x="4622292" y="3441752"/>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Medición"/>
          <p:cNvSpPr/>
          <p:nvPr/>
        </p:nvSpPr>
        <p:spPr>
          <a:xfrm>
            <a:off x="4843272" y="3437674"/>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Medición"/>
          <p:cNvSpPr/>
          <p:nvPr/>
        </p:nvSpPr>
        <p:spPr>
          <a:xfrm>
            <a:off x="5064252" y="3731439"/>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Medición"/>
          <p:cNvSpPr/>
          <p:nvPr/>
        </p:nvSpPr>
        <p:spPr>
          <a:xfrm>
            <a:off x="5285232" y="3695513"/>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Medición"/>
          <p:cNvSpPr/>
          <p:nvPr/>
        </p:nvSpPr>
        <p:spPr>
          <a:xfrm>
            <a:off x="5506212" y="3701364"/>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Medición"/>
          <p:cNvSpPr/>
          <p:nvPr/>
        </p:nvSpPr>
        <p:spPr>
          <a:xfrm>
            <a:off x="5727192" y="3852996"/>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Medición"/>
          <p:cNvSpPr/>
          <p:nvPr/>
        </p:nvSpPr>
        <p:spPr>
          <a:xfrm>
            <a:off x="5948172" y="3641931"/>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Medición"/>
          <p:cNvSpPr/>
          <p:nvPr/>
        </p:nvSpPr>
        <p:spPr>
          <a:xfrm>
            <a:off x="6169152" y="3662795"/>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Medición"/>
          <p:cNvSpPr/>
          <p:nvPr/>
        </p:nvSpPr>
        <p:spPr>
          <a:xfrm>
            <a:off x="6390132" y="3701900"/>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Medición"/>
          <p:cNvSpPr/>
          <p:nvPr/>
        </p:nvSpPr>
        <p:spPr>
          <a:xfrm>
            <a:off x="6611112" y="3499866"/>
            <a:ext cx="73152" cy="73152"/>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Estimado"/>
          <p:cNvSpPr/>
          <p:nvPr/>
        </p:nvSpPr>
        <p:spPr>
          <a:xfrm>
            <a:off x="1344168" y="3196474"/>
            <a:ext cx="5303520" cy="592374"/>
          </a:xfrm>
          <a:custGeom>
            <a:avLst/>
            <a:gdLst/>
            <a:ahLst/>
            <a:cxnLst/>
            <a:rect l="l" t="t" r="r" b="b"/>
            <a:pathLst>
              <a:path w="5303520" h="592374">
                <a:moveTo>
                  <a:pt x="0" y="438266"/>
                </a:moveTo>
                <a:lnTo>
                  <a:pt x="106070" y="362534"/>
                </a:lnTo>
                <a:lnTo>
                  <a:pt x="212140" y="321802"/>
                </a:lnTo>
                <a:lnTo>
                  <a:pt x="318211" y="319194"/>
                </a:lnTo>
                <a:lnTo>
                  <a:pt x="424281" y="323391"/>
                </a:lnTo>
                <a:lnTo>
                  <a:pt x="530352" y="297721"/>
                </a:lnTo>
                <a:lnTo>
                  <a:pt x="636422" y="234158"/>
                </a:lnTo>
                <a:lnTo>
                  <a:pt x="742492" y="160981"/>
                </a:lnTo>
                <a:lnTo>
                  <a:pt x="848563" y="117030"/>
                </a:lnTo>
                <a:lnTo>
                  <a:pt x="954633" y="116245"/>
                </a:lnTo>
                <a:lnTo>
                  <a:pt x="1060704" y="135065"/>
                </a:lnTo>
                <a:lnTo>
                  <a:pt x="1166774" y="134301"/>
                </a:lnTo>
                <a:lnTo>
                  <a:pt x="1272844" y="95336"/>
                </a:lnTo>
                <a:lnTo>
                  <a:pt x="1378915" y="37396"/>
                </a:lnTo>
                <a:lnTo>
                  <a:pt x="1484985" y="0"/>
                </a:lnTo>
                <a:lnTo>
                  <a:pt x="1591056" y="6720"/>
                </a:lnTo>
                <a:lnTo>
                  <a:pt x="1697126" y="43578"/>
                </a:lnTo>
                <a:lnTo>
                  <a:pt x="1803196" y="71931"/>
                </a:lnTo>
                <a:lnTo>
                  <a:pt x="1909267" y="64010"/>
                </a:lnTo>
                <a:lnTo>
                  <a:pt x="2015337" y="28423"/>
                </a:lnTo>
                <a:lnTo>
                  <a:pt x="2121408" y="2187"/>
                </a:lnTo>
                <a:lnTo>
                  <a:pt x="2227478" y="16612"/>
                </a:lnTo>
                <a:lnTo>
                  <a:pt x="2333548" y="68401"/>
                </a:lnTo>
                <a:lnTo>
                  <a:pt x="2439619" y="122540"/>
                </a:lnTo>
                <a:lnTo>
                  <a:pt x="2545689" y="144323"/>
                </a:lnTo>
                <a:lnTo>
                  <a:pt x="2651760" y="131070"/>
                </a:lnTo>
                <a:lnTo>
                  <a:pt x="2757830" y="114374"/>
                </a:lnTo>
                <a:lnTo>
                  <a:pt x="2863900" y="130822"/>
                </a:lnTo>
                <a:lnTo>
                  <a:pt x="2969971" y="188102"/>
                </a:lnTo>
                <a:lnTo>
                  <a:pt x="3076041" y="257666"/>
                </a:lnTo>
                <a:lnTo>
                  <a:pt x="3182112" y="300696"/>
                </a:lnTo>
                <a:lnTo>
                  <a:pt x="3288182" y="303498"/>
                </a:lnTo>
                <a:lnTo>
                  <a:pt x="3394252" y="289797"/>
                </a:lnTo>
                <a:lnTo>
                  <a:pt x="3500323" y="298615"/>
                </a:lnTo>
                <a:lnTo>
                  <a:pt x="3606393" y="348093"/>
                </a:lnTo>
                <a:lnTo>
                  <a:pt x="3712464" y="418509"/>
                </a:lnTo>
                <a:lnTo>
                  <a:pt x="3818534" y="470108"/>
                </a:lnTo>
                <a:lnTo>
                  <a:pt x="3924604" y="479366"/>
                </a:lnTo>
                <a:lnTo>
                  <a:pt x="4030675" y="460335"/>
                </a:lnTo>
                <a:lnTo>
                  <a:pt x="4136745" y="451459"/>
                </a:lnTo>
                <a:lnTo>
                  <a:pt x="4242816" y="479975"/>
                </a:lnTo>
                <a:lnTo>
                  <a:pt x="4348886" y="536645"/>
                </a:lnTo>
                <a:lnTo>
                  <a:pt x="4454956" y="584033"/>
                </a:lnTo>
                <a:lnTo>
                  <a:pt x="4561027" y="590740"/>
                </a:lnTo>
                <a:lnTo>
                  <a:pt x="4667097" y="560106"/>
                </a:lnTo>
                <a:lnTo>
                  <a:pt x="4773168" y="527006"/>
                </a:lnTo>
                <a:lnTo>
                  <a:pt x="4879238" y="525676"/>
                </a:lnTo>
                <a:lnTo>
                  <a:pt x="4985308" y="558159"/>
                </a:lnTo>
                <a:lnTo>
                  <a:pt x="5091379" y="592374"/>
                </a:lnTo>
                <a:lnTo>
                  <a:pt x="5197449" y="591597"/>
                </a:lnTo>
                <a:lnTo>
                  <a:pt x="5303520" y="548232"/>
                </a:lnTo>
              </a:path>
            </a:pathLst>
          </a:custGeom>
          <a:noFill/>
          <a:ln w="25400">
            <a:solidFill>
              <a:srgbClr val="85D5E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Modelo solo"/>
          <p:cNvSpPr/>
          <p:nvPr/>
        </p:nvSpPr>
        <p:spPr>
          <a:xfrm>
            <a:off x="1344168" y="3567531"/>
            <a:ext cx="5303520" cy="67209"/>
          </a:xfrm>
          <a:custGeom>
            <a:avLst/>
            <a:gdLst/>
            <a:ahLst/>
            <a:cxnLst/>
            <a:rect l="l" t="t" r="r" b="b"/>
            <a:pathLst>
              <a:path w="5303520" h="67209">
                <a:moveTo>
                  <a:pt x="0" y="67209"/>
                </a:moveTo>
                <a:lnTo>
                  <a:pt x="106070" y="65864"/>
                </a:lnTo>
                <a:lnTo>
                  <a:pt x="212140" y="64520"/>
                </a:lnTo>
                <a:lnTo>
                  <a:pt x="318211" y="63176"/>
                </a:lnTo>
                <a:lnTo>
                  <a:pt x="424281" y="61832"/>
                </a:lnTo>
                <a:lnTo>
                  <a:pt x="530352" y="60488"/>
                </a:lnTo>
                <a:lnTo>
                  <a:pt x="636422" y="59143"/>
                </a:lnTo>
                <a:lnTo>
                  <a:pt x="742492" y="57799"/>
                </a:lnTo>
                <a:lnTo>
                  <a:pt x="848563" y="56455"/>
                </a:lnTo>
                <a:lnTo>
                  <a:pt x="954633" y="55111"/>
                </a:lnTo>
                <a:lnTo>
                  <a:pt x="1060704" y="53767"/>
                </a:lnTo>
                <a:lnTo>
                  <a:pt x="1166774" y="52423"/>
                </a:lnTo>
                <a:lnTo>
                  <a:pt x="1272844" y="51078"/>
                </a:lnTo>
                <a:lnTo>
                  <a:pt x="1378915" y="49734"/>
                </a:lnTo>
                <a:lnTo>
                  <a:pt x="1484985" y="48390"/>
                </a:lnTo>
                <a:lnTo>
                  <a:pt x="1591056" y="47046"/>
                </a:lnTo>
                <a:lnTo>
                  <a:pt x="1697126" y="45702"/>
                </a:lnTo>
                <a:lnTo>
                  <a:pt x="1803196" y="44358"/>
                </a:lnTo>
                <a:lnTo>
                  <a:pt x="1909267" y="43013"/>
                </a:lnTo>
                <a:lnTo>
                  <a:pt x="2015337" y="41669"/>
                </a:lnTo>
                <a:lnTo>
                  <a:pt x="2121408" y="40325"/>
                </a:lnTo>
                <a:lnTo>
                  <a:pt x="2227478" y="38981"/>
                </a:lnTo>
                <a:lnTo>
                  <a:pt x="2333548" y="37637"/>
                </a:lnTo>
                <a:lnTo>
                  <a:pt x="2439619" y="36293"/>
                </a:lnTo>
                <a:lnTo>
                  <a:pt x="2545689" y="34948"/>
                </a:lnTo>
                <a:lnTo>
                  <a:pt x="2651760" y="33604"/>
                </a:lnTo>
                <a:lnTo>
                  <a:pt x="2757830" y="32260"/>
                </a:lnTo>
                <a:lnTo>
                  <a:pt x="2863900" y="30916"/>
                </a:lnTo>
                <a:lnTo>
                  <a:pt x="2969971" y="29572"/>
                </a:lnTo>
                <a:lnTo>
                  <a:pt x="3076041" y="28228"/>
                </a:lnTo>
                <a:lnTo>
                  <a:pt x="3182112" y="26883"/>
                </a:lnTo>
                <a:lnTo>
                  <a:pt x="3288182" y="25539"/>
                </a:lnTo>
                <a:lnTo>
                  <a:pt x="3394252" y="24195"/>
                </a:lnTo>
                <a:lnTo>
                  <a:pt x="3500323" y="22851"/>
                </a:lnTo>
                <a:lnTo>
                  <a:pt x="3606393" y="21507"/>
                </a:lnTo>
                <a:lnTo>
                  <a:pt x="3712464" y="20163"/>
                </a:lnTo>
                <a:lnTo>
                  <a:pt x="3818534" y="18818"/>
                </a:lnTo>
                <a:lnTo>
                  <a:pt x="3924604" y="17474"/>
                </a:lnTo>
                <a:lnTo>
                  <a:pt x="4030675" y="16130"/>
                </a:lnTo>
                <a:lnTo>
                  <a:pt x="4136745" y="14786"/>
                </a:lnTo>
                <a:lnTo>
                  <a:pt x="4242816" y="13442"/>
                </a:lnTo>
                <a:lnTo>
                  <a:pt x="4348886" y="12098"/>
                </a:lnTo>
                <a:lnTo>
                  <a:pt x="4454956" y="10753"/>
                </a:lnTo>
                <a:lnTo>
                  <a:pt x="4561027" y="9409"/>
                </a:lnTo>
                <a:lnTo>
                  <a:pt x="4667097" y="8065"/>
                </a:lnTo>
                <a:lnTo>
                  <a:pt x="4773168" y="6721"/>
                </a:lnTo>
                <a:lnTo>
                  <a:pt x="4879238" y="5377"/>
                </a:lnTo>
                <a:lnTo>
                  <a:pt x="4985308" y="4033"/>
                </a:lnTo>
                <a:lnTo>
                  <a:pt x="5091379" y="2688"/>
                </a:lnTo>
                <a:lnTo>
                  <a:pt x="5197449" y="1344"/>
                </a:lnTo>
                <a:lnTo>
                  <a:pt x="5303520" y="0"/>
                </a:lnTo>
              </a:path>
            </a:pathLst>
          </a:custGeom>
          <a:noFill/>
          <a:ln w="15875">
            <a:solidFill>
              <a:srgbClr val="A9B8C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389888" y="2743200"/>
            <a:ext cx="5120640" cy="274320"/>
          </a:xfrm>
          <a:prstGeom prst="rect">
            <a:avLst/>
          </a:prstGeom>
          <a:noFill/>
        </p:spPr>
        <p:txBody>
          <a:bodyPr wrap="square" lIns="0" tIns="0" rIns="0" bIns="0" anchor="t">
            <a:spAutoFit/>
          </a:bodyPr>
          <a:lstStyle/>
          <a:p>
            <a:pPr algn="l">
              <a:spcAft>
                <a:spcPts val="600"/>
              </a:spcAft>
            </a:pPr>
            <a:r>
              <a:rPr sz="850" b="1" i="0">
                <a:solidFill>
                  <a:srgbClr val="FFFFFF"/>
                </a:solidFill>
                <a:effectLst>
                  <a:glow rad="63500">
                    <a:srgbClr val="001633">
                      <a:alpha val="85000"/>
                    </a:srgbClr>
                  </a:glow>
                </a:effectLst>
                <a:latin typeface="Montserrat"/>
              </a:rPr>
              <a:t>— real   </a:t>
            </a:r>
            <a:r>
              <a:rPr sz="850" b="1" i="0">
                <a:solidFill>
                  <a:srgbClr val="FFAB40"/>
                </a:solidFill>
                <a:effectLst>
                  <a:glow rad="63500">
                    <a:srgbClr val="001633">
                      <a:alpha val="85000"/>
                    </a:srgbClr>
                  </a:glow>
                </a:effectLst>
                <a:latin typeface="Montserrat"/>
              </a:rPr>
              <a:t>● sensor   </a:t>
            </a:r>
            <a:r>
              <a:rPr sz="850" b="1" i="0">
                <a:solidFill>
                  <a:srgbClr val="85D5E6"/>
                </a:solidFill>
                <a:effectLst>
                  <a:glow rad="63500">
                    <a:srgbClr val="001633">
                      <a:alpha val="85000"/>
                    </a:srgbClr>
                  </a:glow>
                </a:effectLst>
                <a:latin typeface="Montserrat"/>
              </a:rPr>
              <a:t>┅ estimado   </a:t>
            </a:r>
            <a:r>
              <a:rPr sz="850" b="1" i="0">
                <a:solidFill>
                  <a:srgbClr val="A9B8C9"/>
                </a:solidFill>
                <a:effectLst>
                  <a:glow rad="63500">
                    <a:srgbClr val="001633">
                      <a:alpha val="85000"/>
                    </a:srgbClr>
                  </a:glow>
                </a:effectLst>
                <a:latin typeface="Montserrat"/>
              </a:rPr>
              <a:t>┅ modelo sin corregir</a:t>
            </a:r>
          </a:p>
        </p:txBody>
      </p:sp>
      <p:sp>
        <p:nvSpPr>
          <p:cNvPr id="39" name="Ciclo 1 · Predecir"/>
          <p:cNvSpPr/>
          <p:nvPr/>
        </p:nvSpPr>
        <p:spPr>
          <a:xfrm>
            <a:off x="1252728" y="5010912"/>
            <a:ext cx="1706880" cy="841248"/>
          </a:xfrm>
          <a:prstGeom prst="rect">
            <a:avLst/>
          </a:prstGeom>
          <a:solidFill>
            <a:srgbClr val="0B264A"/>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0" name="Ícono trending-up" descr="trending-up-cyan.png"/>
          <p:cNvPicPr>
            <a:picLocks noChangeAspect="1"/>
          </p:cNvPicPr>
          <p:nvPr/>
        </p:nvPicPr>
        <p:blipFill>
          <a:blip r:embed="rId3"/>
          <a:stretch>
            <a:fillRect/>
          </a:stretch>
        </p:blipFill>
        <p:spPr>
          <a:xfrm>
            <a:off x="1344168" y="5084064"/>
            <a:ext cx="237744" cy="237744"/>
          </a:xfrm>
          <a:prstGeom prst="rect">
            <a:avLst/>
          </a:prstGeom>
        </p:spPr>
      </p:pic>
      <p:sp>
        <p:nvSpPr>
          <p:cNvPr id="41" name="TextBox 40"/>
          <p:cNvSpPr txBox="1"/>
          <p:nvPr/>
        </p:nvSpPr>
        <p:spPr>
          <a:xfrm>
            <a:off x="1636776" y="5047488"/>
            <a:ext cx="1249680" cy="292608"/>
          </a:xfrm>
          <a:prstGeom prst="rect">
            <a:avLst/>
          </a:prstGeom>
          <a:noFill/>
        </p:spPr>
        <p:txBody>
          <a:bodyPr wrap="square" lIns="0" tIns="0" rIns="0" bIns="0" anchor="ctr">
            <a:spAutoFit/>
          </a:bodyPr>
          <a:lstStyle/>
          <a:p>
            <a:pPr algn="l">
              <a:spcAft>
                <a:spcPts val="600"/>
              </a:spcAft>
            </a:pPr>
            <a:r>
              <a:rPr sz="1000" b="1" i="0">
                <a:solidFill>
                  <a:srgbClr val="FFFFFF"/>
                </a:solidFill>
                <a:effectLst>
                  <a:glow rad="63500">
                    <a:srgbClr val="001633">
                      <a:alpha val="85000"/>
                    </a:srgbClr>
                  </a:glow>
                </a:effectLst>
                <a:latin typeface="Montserrat"/>
              </a:rPr>
              <a:t>1 · Predecir</a:t>
            </a:r>
          </a:p>
        </p:txBody>
      </p:sp>
      <p:sp>
        <p:nvSpPr>
          <p:cNvPr id="42" name="TextBox 41"/>
          <p:cNvSpPr txBox="1"/>
          <p:nvPr/>
        </p:nvSpPr>
        <p:spPr>
          <a:xfrm>
            <a:off x="1344168" y="5358384"/>
            <a:ext cx="1542288" cy="47548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 modelo calcula dónde debería estar la cama</a:t>
            </a:r>
          </a:p>
        </p:txBody>
      </p:sp>
      <p:sp>
        <p:nvSpPr>
          <p:cNvPr id="43" name="Ciclo 2 · Medir"/>
          <p:cNvSpPr/>
          <p:nvPr/>
        </p:nvSpPr>
        <p:spPr>
          <a:xfrm>
            <a:off x="3142488" y="5010912"/>
            <a:ext cx="1706880" cy="841248"/>
          </a:xfrm>
          <a:prstGeom prst="rect">
            <a:avLst/>
          </a:prstGeom>
          <a:solidFill>
            <a:srgbClr val="0B264A"/>
          </a:solidFill>
          <a:ln w="1270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4" name="Ícono gauge" descr="gauge-orange.png"/>
          <p:cNvPicPr>
            <a:picLocks noChangeAspect="1"/>
          </p:cNvPicPr>
          <p:nvPr/>
        </p:nvPicPr>
        <p:blipFill>
          <a:blip r:embed="rId4"/>
          <a:stretch>
            <a:fillRect/>
          </a:stretch>
        </p:blipFill>
        <p:spPr>
          <a:xfrm>
            <a:off x="3233928" y="5084064"/>
            <a:ext cx="237744" cy="237744"/>
          </a:xfrm>
          <a:prstGeom prst="rect">
            <a:avLst/>
          </a:prstGeom>
        </p:spPr>
      </p:pic>
      <p:sp>
        <p:nvSpPr>
          <p:cNvPr id="45" name="TextBox 44"/>
          <p:cNvSpPr txBox="1"/>
          <p:nvPr/>
        </p:nvSpPr>
        <p:spPr>
          <a:xfrm>
            <a:off x="3526536" y="5047488"/>
            <a:ext cx="1249680" cy="292608"/>
          </a:xfrm>
          <a:prstGeom prst="rect">
            <a:avLst/>
          </a:prstGeom>
          <a:noFill/>
        </p:spPr>
        <p:txBody>
          <a:bodyPr wrap="square" lIns="0" tIns="0" rIns="0" bIns="0" anchor="ctr">
            <a:spAutoFit/>
          </a:bodyPr>
          <a:lstStyle/>
          <a:p>
            <a:pPr algn="l">
              <a:spcAft>
                <a:spcPts val="600"/>
              </a:spcAft>
            </a:pPr>
            <a:r>
              <a:rPr sz="1000" b="1" i="0">
                <a:solidFill>
                  <a:srgbClr val="FFFFFF"/>
                </a:solidFill>
                <a:effectLst>
                  <a:glow rad="63500">
                    <a:srgbClr val="001633">
                      <a:alpha val="85000"/>
                    </a:srgbClr>
                  </a:glow>
                </a:effectLst>
                <a:latin typeface="Montserrat"/>
              </a:rPr>
              <a:t>2 · Medir</a:t>
            </a:r>
          </a:p>
        </p:txBody>
      </p:sp>
      <p:sp>
        <p:nvSpPr>
          <p:cNvPr id="46" name="TextBox 45"/>
          <p:cNvSpPr txBox="1"/>
          <p:nvPr/>
        </p:nvSpPr>
        <p:spPr>
          <a:xfrm>
            <a:off x="3233928" y="5358384"/>
            <a:ext cx="1542288" cy="47548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llega el dato del sensor, con su ruido</a:t>
            </a:r>
          </a:p>
        </p:txBody>
      </p:sp>
      <p:sp>
        <p:nvSpPr>
          <p:cNvPr id="47" name="Ciclo 3 · Corregir"/>
          <p:cNvSpPr/>
          <p:nvPr/>
        </p:nvSpPr>
        <p:spPr>
          <a:xfrm>
            <a:off x="5032248" y="5010912"/>
            <a:ext cx="1706880" cy="841248"/>
          </a:xfrm>
          <a:prstGeom prst="rect">
            <a:avLst/>
          </a:prstGeom>
          <a:solidFill>
            <a:srgbClr val="0B264A"/>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8" name="Ícono refresh-cw" descr="refresh-cw-white.png"/>
          <p:cNvPicPr>
            <a:picLocks noChangeAspect="1"/>
          </p:cNvPicPr>
          <p:nvPr/>
        </p:nvPicPr>
        <p:blipFill>
          <a:blip r:embed="rId5"/>
          <a:stretch>
            <a:fillRect/>
          </a:stretch>
        </p:blipFill>
        <p:spPr>
          <a:xfrm>
            <a:off x="5123688" y="5084064"/>
            <a:ext cx="237744" cy="237744"/>
          </a:xfrm>
          <a:prstGeom prst="rect">
            <a:avLst/>
          </a:prstGeom>
        </p:spPr>
      </p:pic>
      <p:sp>
        <p:nvSpPr>
          <p:cNvPr id="49" name="TextBox 48"/>
          <p:cNvSpPr txBox="1"/>
          <p:nvPr/>
        </p:nvSpPr>
        <p:spPr>
          <a:xfrm>
            <a:off x="5416296" y="5047488"/>
            <a:ext cx="1249680" cy="292608"/>
          </a:xfrm>
          <a:prstGeom prst="rect">
            <a:avLst/>
          </a:prstGeom>
          <a:noFill/>
        </p:spPr>
        <p:txBody>
          <a:bodyPr wrap="square" lIns="0" tIns="0" rIns="0" bIns="0" anchor="ctr">
            <a:spAutoFit/>
          </a:bodyPr>
          <a:lstStyle/>
          <a:p>
            <a:pPr algn="l">
              <a:spcAft>
                <a:spcPts val="600"/>
              </a:spcAft>
            </a:pPr>
            <a:r>
              <a:rPr sz="1000" b="1" i="0">
                <a:solidFill>
                  <a:srgbClr val="FFFFFF"/>
                </a:solidFill>
                <a:effectLst>
                  <a:glow rad="63500">
                    <a:srgbClr val="001633">
                      <a:alpha val="85000"/>
                    </a:srgbClr>
                  </a:glow>
                </a:effectLst>
                <a:latin typeface="Montserrat"/>
              </a:rPr>
              <a:t>3 · Corregir</a:t>
            </a:r>
          </a:p>
        </p:txBody>
      </p:sp>
      <p:sp>
        <p:nvSpPr>
          <p:cNvPr id="50" name="TextBox 49"/>
          <p:cNvSpPr txBox="1"/>
          <p:nvPr/>
        </p:nvSpPr>
        <p:spPr>
          <a:xfrm>
            <a:off x="5123688" y="5358384"/>
            <a:ext cx="1542288" cy="47548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la estimación se mueve hacia el dato, según cuánto se confía en él</a:t>
            </a:r>
          </a:p>
        </p:txBody>
      </p:sp>
      <p:sp>
        <p:nvSpPr>
          <p:cNvPr id="51" name="TextBox 50"/>
          <p:cNvSpPr txBox="1"/>
          <p:nvPr/>
        </p:nvSpPr>
        <p:spPr>
          <a:xfrm>
            <a:off x="7104888" y="2514600"/>
            <a:ext cx="4160520" cy="22860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QUÉ SE GANA</a:t>
            </a:r>
          </a:p>
        </p:txBody>
      </p:sp>
      <p:sp>
        <p:nvSpPr>
          <p:cNvPr id="52" name="Ganancia Filtra el ruido"/>
          <p:cNvSpPr/>
          <p:nvPr/>
        </p:nvSpPr>
        <p:spPr>
          <a:xfrm>
            <a:off x="7104888" y="2761488"/>
            <a:ext cx="416052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Marca"/>
          <p:cNvSpPr/>
          <p:nvPr/>
        </p:nvSpPr>
        <p:spPr>
          <a:xfrm>
            <a:off x="7104888" y="2761488"/>
            <a:ext cx="45720" cy="50292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7242048" y="2761488"/>
            <a:ext cx="397764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Filtra el ruido</a:t>
            </a:r>
          </a:p>
          <a:p>
            <a:pPr algn="l">
              <a:spcAft>
                <a:spcPts val="0"/>
              </a:spcAft>
            </a:pPr>
            <a:r>
              <a:rPr sz="800" b="0" i="0">
                <a:solidFill>
                  <a:srgbClr val="A9B8C9"/>
                </a:solidFill>
                <a:effectLst>
                  <a:glow rad="63500">
                    <a:srgbClr val="001633">
                      <a:alpha val="85000"/>
                    </a:srgbClr>
                  </a:glow>
                </a:effectLst>
                <a:latin typeface="Montserrat"/>
              </a:rPr>
              <a:t>sin el retardo de un filtro simple</a:t>
            </a:r>
          </a:p>
        </p:txBody>
      </p:sp>
      <p:sp>
        <p:nvSpPr>
          <p:cNvPr id="55" name="Ganancia Tapa los huecos"/>
          <p:cNvSpPr/>
          <p:nvPr/>
        </p:nvSpPr>
        <p:spPr>
          <a:xfrm>
            <a:off x="7104888" y="3328416"/>
            <a:ext cx="416052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Marca"/>
          <p:cNvSpPr/>
          <p:nvPr/>
        </p:nvSpPr>
        <p:spPr>
          <a:xfrm>
            <a:off x="7104888" y="3328416"/>
            <a:ext cx="45720" cy="50292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TextBox 56"/>
          <p:cNvSpPr txBox="1"/>
          <p:nvPr/>
        </p:nvSpPr>
        <p:spPr>
          <a:xfrm>
            <a:off x="7242048" y="3328416"/>
            <a:ext cx="397764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Tapa los huecos</a:t>
            </a:r>
          </a:p>
          <a:p>
            <a:pPr algn="l">
              <a:spcAft>
                <a:spcPts val="0"/>
              </a:spcAft>
            </a:pPr>
            <a:r>
              <a:rPr sz="800" b="0" i="0">
                <a:solidFill>
                  <a:srgbClr val="A9B8C9"/>
                </a:solidFill>
                <a:effectLst>
                  <a:glow rad="63500">
                    <a:srgbClr val="001633">
                      <a:alpha val="85000"/>
                    </a:srgbClr>
                  </a:glow>
                </a:effectLst>
                <a:latin typeface="Montserrat"/>
              </a:rPr>
              <a:t>si se cae la red, el modelo sigue estimando</a:t>
            </a:r>
          </a:p>
        </p:txBody>
      </p:sp>
      <p:sp>
        <p:nvSpPr>
          <p:cNvPr id="58" name="Ganancia Estima lo que no se mide"/>
          <p:cNvSpPr/>
          <p:nvPr/>
        </p:nvSpPr>
        <p:spPr>
          <a:xfrm>
            <a:off x="7104888" y="3895344"/>
            <a:ext cx="416052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Marca"/>
          <p:cNvSpPr/>
          <p:nvPr/>
        </p:nvSpPr>
        <p:spPr>
          <a:xfrm>
            <a:off x="7104888" y="3895344"/>
            <a:ext cx="45720" cy="502920"/>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p:cNvSpPr txBox="1"/>
          <p:nvPr/>
        </p:nvSpPr>
        <p:spPr>
          <a:xfrm>
            <a:off x="7242048" y="3895344"/>
            <a:ext cx="397764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Estima lo que no se mide</a:t>
            </a:r>
          </a:p>
          <a:p>
            <a:pPr algn="l">
              <a:spcAft>
                <a:spcPts val="0"/>
              </a:spcAft>
            </a:pPr>
            <a:r>
              <a:rPr sz="800" b="0" i="0">
                <a:solidFill>
                  <a:srgbClr val="A9B8C9"/>
                </a:solidFill>
                <a:effectLst>
                  <a:glow rad="63500">
                    <a:srgbClr val="001633">
                      <a:alpha val="85000"/>
                    </a:srgbClr>
                  </a:glow>
                </a:effectLst>
                <a:latin typeface="Montserrat"/>
              </a:rPr>
              <a:t>las variables ocultas del proceso</a:t>
            </a:r>
          </a:p>
        </p:txBody>
      </p:sp>
      <p:sp>
        <p:nvSpPr>
          <p:cNvPr id="61" name="TextBox 60"/>
          <p:cNvSpPr txBox="1"/>
          <p:nvPr/>
        </p:nvSpPr>
        <p:spPr>
          <a:xfrm>
            <a:off x="7104888" y="4526280"/>
            <a:ext cx="4160520" cy="22860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LO QUE NO SE MIDE, ESTIMADO</a:t>
            </a:r>
          </a:p>
        </p:txBody>
      </p:sp>
      <p:sp>
        <p:nvSpPr>
          <p:cNvPr id="62" name="TextBox 61"/>
          <p:cNvSpPr txBox="1"/>
          <p:nvPr/>
        </p:nvSpPr>
        <p:spPr>
          <a:xfrm>
            <a:off x="7104888" y="4754880"/>
            <a:ext cx="4160520" cy="1097280"/>
          </a:xfrm>
          <a:prstGeom prst="rect">
            <a:avLst/>
          </a:prstGeom>
          <a:noFill/>
        </p:spPr>
        <p:txBody>
          <a:bodyPr wrap="square" lIns="0" tIns="0" rIns="0" bIns="0" anchor="t">
            <a:spAutoFit/>
          </a:bodyPr>
          <a:lstStyle/>
          <a:p>
            <a:pPr algn="l">
              <a:spcAft>
                <a:spcPts val="100"/>
              </a:spcAft>
            </a:pPr>
            <a:r>
              <a:rPr sz="850" b="1" i="0">
                <a:solidFill>
                  <a:srgbClr val="FFAB40"/>
                </a:solidFill>
                <a:effectLst>
                  <a:glow rad="63500">
                    <a:srgbClr val="001633">
                      <a:alpha val="85000"/>
                    </a:srgbClr>
                  </a:glow>
                </a:effectLst>
                <a:latin typeface="Montserrat"/>
              </a:rPr>
              <a:t>▸ </a:t>
            </a:r>
            <a:r>
              <a:rPr sz="850" b="0" i="0">
                <a:solidFill>
                  <a:srgbClr val="FFFFFF"/>
                </a:solidFill>
                <a:effectLst>
                  <a:glow rad="63500">
                    <a:srgbClr val="001633">
                      <a:alpha val="85000"/>
                    </a:srgbClr>
                  </a:glow>
                </a:effectLst>
                <a:latin typeface="Montserrat"/>
              </a:rPr>
              <a:t>Espesador: densidad de la cama</a:t>
            </a:r>
          </a:p>
          <a:p>
            <a:pPr algn="l">
              <a:spcAft>
                <a:spcPts val="100"/>
              </a:spcAft>
            </a:pPr>
            <a:r>
              <a:rPr sz="850" b="1" i="0">
                <a:solidFill>
                  <a:srgbClr val="FFAB40"/>
                </a:solidFill>
                <a:effectLst>
                  <a:glow rad="63500">
                    <a:srgbClr val="001633">
                      <a:alpha val="85000"/>
                    </a:srgbClr>
                  </a:glow>
                </a:effectLst>
                <a:latin typeface="Montserrat"/>
              </a:rPr>
              <a:t>▸ </a:t>
            </a:r>
            <a:r>
              <a:rPr sz="850" b="0" i="0">
                <a:solidFill>
                  <a:srgbClr val="FFFFFF"/>
                </a:solidFill>
                <a:effectLst>
                  <a:glow rad="63500">
                    <a:srgbClr val="001633">
                      <a:alpha val="85000"/>
                    </a:srgbClr>
                  </a:glow>
                </a:effectLst>
                <a:latin typeface="Montserrat"/>
              </a:rPr>
              <a:t>Molino SAG: carga de bolas</a:t>
            </a:r>
          </a:p>
          <a:p>
            <a:pPr algn="l">
              <a:spcAft>
                <a:spcPts val="100"/>
              </a:spcAft>
            </a:pPr>
            <a:r>
              <a:rPr sz="850" b="1" i="0">
                <a:solidFill>
                  <a:srgbClr val="FFAB40"/>
                </a:solidFill>
                <a:effectLst>
                  <a:glow rad="63500">
                    <a:srgbClr val="001633">
                      <a:alpha val="85000"/>
                    </a:srgbClr>
                  </a:glow>
                </a:effectLst>
                <a:latin typeface="Montserrat"/>
              </a:rPr>
              <a:t>▸ </a:t>
            </a:r>
            <a:r>
              <a:rPr sz="850" b="0" i="0">
                <a:solidFill>
                  <a:srgbClr val="FFFFFF"/>
                </a:solidFill>
                <a:effectLst>
                  <a:glow rad="63500">
                    <a:srgbClr val="001633">
                      <a:alpha val="85000"/>
                    </a:srgbClr>
                  </a:glow>
                </a:effectLst>
                <a:latin typeface="Montserrat"/>
              </a:rPr>
              <a:t>Stockpile: inventario vivo</a:t>
            </a:r>
          </a:p>
          <a:p>
            <a:pPr algn="l">
              <a:spcAft>
                <a:spcPts val="100"/>
              </a:spcAft>
            </a:pPr>
            <a:r>
              <a:rPr sz="850" b="1" i="0">
                <a:solidFill>
                  <a:srgbClr val="FFAB40"/>
                </a:solidFill>
                <a:effectLst>
                  <a:glow rad="63500">
                    <a:srgbClr val="001633">
                      <a:alpha val="85000"/>
                    </a:srgbClr>
                  </a:glow>
                </a:effectLst>
                <a:latin typeface="Montserrat"/>
              </a:rPr>
              <a:t>▸ </a:t>
            </a:r>
            <a:r>
              <a:rPr sz="850" b="0" i="0">
                <a:solidFill>
                  <a:srgbClr val="FFFFFF"/>
                </a:solidFill>
                <a:effectLst>
                  <a:glow rad="63500">
                    <a:srgbClr val="001633">
                      <a:alpha val="85000"/>
                    </a:srgbClr>
                  </a:glow>
                </a:effectLst>
                <a:latin typeface="Montserrat"/>
              </a:rPr>
              <a:t>Correa: tonelaje por tramo</a:t>
            </a:r>
          </a:p>
        </p:txBody>
      </p:sp>
      <p:sp>
        <p:nvSpPr>
          <p:cNvPr id="6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Filtro de Kalman: Kalman (1960) [25] · gráfico esquemático · ejemplos ilustrativos</a:t>
            </a:r>
          </a:p>
        </p:txBody>
      </p:sp>
      <p:sp>
        <p:nvSpPr>
          <p:cNvPr id="6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6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6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7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Avance III actual"/>
          <p:cNvSpPr/>
          <p:nvPr/>
        </p:nvSpPr>
        <p:spPr>
          <a:xfrm>
            <a:off x="5001768" y="6510528"/>
            <a:ext cx="1380449"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74"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24/31 </a:t>
            </a:r>
            <a:r>
              <a:rPr sz="1000" b="0" i="0">
                <a:solidFill>
                  <a:srgbClr val="A9B8C9"/>
                </a:solidFill>
                <a:effectLst>
                  <a:glow rad="63500">
                    <a:srgbClr val="001633">
                      <a:alpha val="85000"/>
                    </a:srgbClr>
                  </a:glow>
                </a:effectLst>
                <a:latin typeface="Montserrat"/>
              </a:rPr>
              <a:t>· Gemelos Digitales para Minería 4.0 · 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Edge, faena o nube: el gemelo corre donde su decisión lo necesita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5 · DÓNDE CORRE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La regla: cuanto más rápida y crítica la decisión, más cerca del equipo. Cuanto más datos y más cálculo, más lejos.</a:t>
            </a:r>
          </a:p>
        </p:txBody>
      </p:sp>
      <p:sp>
        <p:nvSpPr>
          <p:cNvPr id="7" name="Nivel Edge"/>
          <p:cNvSpPr/>
          <p:nvPr/>
        </p:nvSpPr>
        <p:spPr>
          <a:xfrm>
            <a:off x="1252728" y="2487168"/>
            <a:ext cx="3154680" cy="23317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Edge"/>
          <p:cNvSpPr/>
          <p:nvPr/>
        </p:nvSpPr>
        <p:spPr>
          <a:xfrm>
            <a:off x="1435608" y="2606040"/>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9" name="Ícono cpu" descr="cpu-orange.png"/>
          <p:cNvPicPr>
            <a:picLocks noChangeAspect="1"/>
          </p:cNvPicPr>
          <p:nvPr/>
        </p:nvPicPr>
        <p:blipFill>
          <a:blip r:embed="rId3"/>
          <a:stretch>
            <a:fillRect/>
          </a:stretch>
        </p:blipFill>
        <p:spPr>
          <a:xfrm>
            <a:off x="1556309" y="2726741"/>
            <a:ext cx="307238" cy="307238"/>
          </a:xfrm>
          <a:prstGeom prst="rect">
            <a:avLst/>
          </a:prstGeom>
        </p:spPr>
      </p:pic>
      <p:sp>
        <p:nvSpPr>
          <p:cNvPr id="10" name="TextBox 9"/>
          <p:cNvSpPr txBox="1"/>
          <p:nvPr/>
        </p:nvSpPr>
        <p:spPr>
          <a:xfrm>
            <a:off x="2121408" y="2606040"/>
            <a:ext cx="2194560" cy="54864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Edge</a:t>
            </a:r>
          </a:p>
          <a:p>
            <a:pPr algn="l">
              <a:spcAft>
                <a:spcPts val="0"/>
              </a:spcAft>
            </a:pPr>
            <a:r>
              <a:rPr sz="900" b="0" i="0">
                <a:solidFill>
                  <a:srgbClr val="A9B8C9"/>
                </a:solidFill>
                <a:effectLst>
                  <a:glow rad="63500">
                    <a:srgbClr val="001633">
                      <a:alpha val="85000"/>
                    </a:srgbClr>
                  </a:glow>
                </a:effectLst>
                <a:latin typeface="Montserrat"/>
              </a:rPr>
              <a:t>en el equipo o el nivel</a:t>
            </a:r>
          </a:p>
        </p:txBody>
      </p:sp>
      <p:sp>
        <p:nvSpPr>
          <p:cNvPr id="11" name="TextBox 10"/>
          <p:cNvSpPr txBox="1"/>
          <p:nvPr/>
        </p:nvSpPr>
        <p:spPr>
          <a:xfrm>
            <a:off x="1435608" y="3291840"/>
            <a:ext cx="2880360" cy="457200"/>
          </a:xfrm>
          <a:prstGeom prst="rect">
            <a:avLst/>
          </a:prstGeom>
          <a:noFill/>
        </p:spPr>
        <p:txBody>
          <a:bodyPr wrap="square" lIns="0" tIns="0" rIns="0" bIns="0" anchor="t">
            <a:spAutoFit/>
          </a:bodyPr>
          <a:lstStyle/>
          <a:p>
            <a:pPr algn="l">
              <a:spcAft>
                <a:spcPts val="0"/>
              </a:spcAft>
            </a:pPr>
            <a:r>
              <a:rPr sz="750" b="1" i="0">
                <a:solidFill>
                  <a:srgbClr val="85D5E6"/>
                </a:solidFill>
                <a:effectLst>
                  <a:glow rad="63500">
                    <a:srgbClr val="001633">
                      <a:alpha val="85000"/>
                    </a:srgbClr>
                  </a:glow>
                </a:effectLst>
                <a:latin typeface="Montserrat"/>
              </a:rPr>
              <a:t>LATENCIA</a:t>
            </a:r>
          </a:p>
          <a:p>
            <a:pPr algn="l">
              <a:spcAft>
                <a:spcPts val="0"/>
              </a:spcAft>
            </a:pPr>
            <a:r>
              <a:rPr sz="1000" b="0" i="0">
                <a:solidFill>
                  <a:srgbClr val="FFFFFF"/>
                </a:solidFill>
                <a:effectLst>
                  <a:glow rad="63500">
                    <a:srgbClr val="001633">
                      <a:alpha val="85000"/>
                    </a:srgbClr>
                  </a:glow>
                </a:effectLst>
                <a:latin typeface="Montserrat"/>
              </a:rPr>
              <a:t>milisegundos a segundos</a:t>
            </a:r>
          </a:p>
        </p:txBody>
      </p:sp>
      <p:sp>
        <p:nvSpPr>
          <p:cNvPr id="12" name="TextBox 11"/>
          <p:cNvSpPr txBox="1"/>
          <p:nvPr/>
        </p:nvSpPr>
        <p:spPr>
          <a:xfrm>
            <a:off x="1435608" y="3767328"/>
            <a:ext cx="2880360" cy="457200"/>
          </a:xfrm>
          <a:prstGeom prst="rect">
            <a:avLst/>
          </a:prstGeom>
          <a:noFill/>
        </p:spPr>
        <p:txBody>
          <a:bodyPr wrap="square" lIns="0" tIns="0" rIns="0" bIns="0" anchor="t">
            <a:spAutoFit/>
          </a:bodyPr>
          <a:lstStyle/>
          <a:p>
            <a:pPr algn="l">
              <a:spcAft>
                <a:spcPts val="0"/>
              </a:spcAft>
            </a:pPr>
            <a:r>
              <a:rPr sz="750" b="1" i="0">
                <a:solidFill>
                  <a:srgbClr val="85D5E6"/>
                </a:solidFill>
                <a:effectLst>
                  <a:glow rad="63500">
                    <a:srgbClr val="001633">
                      <a:alpha val="85000"/>
                    </a:srgbClr>
                  </a:glow>
                </a:effectLst>
                <a:latin typeface="Montserrat"/>
              </a:rPr>
              <a:t>SI SE CAE LA RED</a:t>
            </a:r>
          </a:p>
          <a:p>
            <a:pPr algn="l">
              <a:spcAft>
                <a:spcPts val="0"/>
              </a:spcAft>
            </a:pPr>
            <a:r>
              <a:rPr sz="1000" b="0" i="0">
                <a:solidFill>
                  <a:srgbClr val="FFFFFF"/>
                </a:solidFill>
                <a:effectLst>
                  <a:glow rad="63500">
                    <a:srgbClr val="001633">
                      <a:alpha val="85000"/>
                    </a:srgbClr>
                  </a:glow>
                </a:effectLst>
                <a:latin typeface="Montserrat"/>
              </a:rPr>
              <a:t>sigue funcionando</a:t>
            </a:r>
          </a:p>
        </p:txBody>
      </p:sp>
      <p:cxnSp>
        <p:nvCxnSpPr>
          <p:cNvPr id="13" name="Raya"/>
          <p:cNvCxnSpPr/>
          <p:nvPr/>
        </p:nvCxnSpPr>
        <p:spPr>
          <a:xfrm>
            <a:off x="1435608" y="429768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35608" y="4352544"/>
            <a:ext cx="2880360" cy="4572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ventilación de un nivel subterráneo; fallas en un camión</a:t>
            </a:r>
          </a:p>
        </p:txBody>
      </p:sp>
      <p:sp>
        <p:nvSpPr>
          <p:cNvPr id="15" name="Nivel Servidor en faena"/>
          <p:cNvSpPr/>
          <p:nvPr/>
        </p:nvSpPr>
        <p:spPr>
          <a:xfrm>
            <a:off x="4681728" y="2487168"/>
            <a:ext cx="3154680" cy="23317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ervidor en faena"/>
          <p:cNvSpPr/>
          <p:nvPr/>
        </p:nvSpPr>
        <p:spPr>
          <a:xfrm>
            <a:off x="4864608" y="2606040"/>
            <a:ext cx="548640" cy="54864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server" descr="server-navy.png"/>
          <p:cNvPicPr>
            <a:picLocks noChangeAspect="1"/>
          </p:cNvPicPr>
          <p:nvPr/>
        </p:nvPicPr>
        <p:blipFill>
          <a:blip r:embed="rId4"/>
          <a:stretch>
            <a:fillRect/>
          </a:stretch>
        </p:blipFill>
        <p:spPr>
          <a:xfrm>
            <a:off x="4985309" y="2726741"/>
            <a:ext cx="307238" cy="307238"/>
          </a:xfrm>
          <a:prstGeom prst="rect">
            <a:avLst/>
          </a:prstGeom>
        </p:spPr>
      </p:pic>
      <p:sp>
        <p:nvSpPr>
          <p:cNvPr id="18" name="TextBox 17"/>
          <p:cNvSpPr txBox="1"/>
          <p:nvPr/>
        </p:nvSpPr>
        <p:spPr>
          <a:xfrm>
            <a:off x="5550408" y="2606040"/>
            <a:ext cx="2194560" cy="54864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Servidor en faena</a:t>
            </a:r>
          </a:p>
          <a:p>
            <a:pPr algn="l">
              <a:spcAft>
                <a:spcPts val="0"/>
              </a:spcAft>
            </a:pPr>
            <a:r>
              <a:rPr sz="900" b="0" i="0">
                <a:solidFill>
                  <a:srgbClr val="A9B8C9"/>
                </a:solidFill>
                <a:effectLst>
                  <a:glow rad="63500">
                    <a:srgbClr val="001633">
                      <a:alpha val="85000"/>
                    </a:srgbClr>
                  </a:glow>
                </a:effectLst>
                <a:latin typeface="Montserrat"/>
              </a:rPr>
              <a:t>en la sala de servidores de la mina</a:t>
            </a:r>
          </a:p>
        </p:txBody>
      </p:sp>
      <p:sp>
        <p:nvSpPr>
          <p:cNvPr id="19" name="TextBox 18"/>
          <p:cNvSpPr txBox="1"/>
          <p:nvPr/>
        </p:nvSpPr>
        <p:spPr>
          <a:xfrm>
            <a:off x="4864608" y="3291840"/>
            <a:ext cx="2880360" cy="457200"/>
          </a:xfrm>
          <a:prstGeom prst="rect">
            <a:avLst/>
          </a:prstGeom>
          <a:noFill/>
        </p:spPr>
        <p:txBody>
          <a:bodyPr wrap="square" lIns="0" tIns="0" rIns="0" bIns="0" anchor="t">
            <a:spAutoFit/>
          </a:bodyPr>
          <a:lstStyle/>
          <a:p>
            <a:pPr algn="l">
              <a:spcAft>
                <a:spcPts val="0"/>
              </a:spcAft>
            </a:pPr>
            <a:r>
              <a:rPr sz="750" b="1" i="0">
                <a:solidFill>
                  <a:srgbClr val="85D5E6"/>
                </a:solidFill>
                <a:effectLst>
                  <a:glow rad="63500">
                    <a:srgbClr val="001633">
                      <a:alpha val="85000"/>
                    </a:srgbClr>
                  </a:glow>
                </a:effectLst>
                <a:latin typeface="Montserrat"/>
              </a:rPr>
              <a:t>LATENCIA</a:t>
            </a:r>
          </a:p>
          <a:p>
            <a:pPr algn="l">
              <a:spcAft>
                <a:spcPts val="0"/>
              </a:spcAft>
            </a:pPr>
            <a:r>
              <a:rPr sz="1000" b="0" i="0">
                <a:solidFill>
                  <a:srgbClr val="FFFFFF"/>
                </a:solidFill>
                <a:effectLst>
                  <a:glow rad="63500">
                    <a:srgbClr val="001633">
                      <a:alpha val="85000"/>
                    </a:srgbClr>
                  </a:glow>
                </a:effectLst>
                <a:latin typeface="Montserrat"/>
              </a:rPr>
              <a:t>segundos</a:t>
            </a:r>
          </a:p>
        </p:txBody>
      </p:sp>
      <p:sp>
        <p:nvSpPr>
          <p:cNvPr id="20" name="TextBox 19"/>
          <p:cNvSpPr txBox="1"/>
          <p:nvPr/>
        </p:nvSpPr>
        <p:spPr>
          <a:xfrm>
            <a:off x="4864608" y="3767328"/>
            <a:ext cx="2880360" cy="457200"/>
          </a:xfrm>
          <a:prstGeom prst="rect">
            <a:avLst/>
          </a:prstGeom>
          <a:noFill/>
        </p:spPr>
        <p:txBody>
          <a:bodyPr wrap="square" lIns="0" tIns="0" rIns="0" bIns="0" anchor="t">
            <a:spAutoFit/>
          </a:bodyPr>
          <a:lstStyle/>
          <a:p>
            <a:pPr algn="l">
              <a:spcAft>
                <a:spcPts val="0"/>
              </a:spcAft>
            </a:pPr>
            <a:r>
              <a:rPr sz="750" b="1" i="0">
                <a:solidFill>
                  <a:srgbClr val="85D5E6"/>
                </a:solidFill>
                <a:effectLst>
                  <a:glow rad="63500">
                    <a:srgbClr val="001633">
                      <a:alpha val="85000"/>
                    </a:srgbClr>
                  </a:glow>
                </a:effectLst>
                <a:latin typeface="Montserrat"/>
              </a:rPr>
              <a:t>SI SE CAE LA RED</a:t>
            </a:r>
          </a:p>
          <a:p>
            <a:pPr algn="l">
              <a:spcAft>
                <a:spcPts val="0"/>
              </a:spcAft>
            </a:pPr>
            <a:r>
              <a:rPr sz="1000" b="0" i="0">
                <a:solidFill>
                  <a:srgbClr val="FFFFFF"/>
                </a:solidFill>
                <a:effectLst>
                  <a:glow rad="63500">
                    <a:srgbClr val="001633">
                      <a:alpha val="85000"/>
                    </a:srgbClr>
                  </a:glow>
                </a:effectLst>
                <a:latin typeface="Montserrat"/>
              </a:rPr>
              <a:t>depende de la red de la faena</a:t>
            </a:r>
          </a:p>
        </p:txBody>
      </p:sp>
      <p:cxnSp>
        <p:nvCxnSpPr>
          <p:cNvPr id="21" name="Raya"/>
          <p:cNvCxnSpPr/>
          <p:nvPr/>
        </p:nvCxnSpPr>
        <p:spPr>
          <a:xfrm>
            <a:off x="4864608" y="429768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864608" y="4352544"/>
            <a:ext cx="2880360" cy="4572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gemelo del circuito de molienda; despacho</a:t>
            </a:r>
          </a:p>
        </p:txBody>
      </p:sp>
      <p:sp>
        <p:nvSpPr>
          <p:cNvPr id="23" name="Nivel Nube"/>
          <p:cNvSpPr/>
          <p:nvPr/>
        </p:nvSpPr>
        <p:spPr>
          <a:xfrm>
            <a:off x="8110728" y="2487168"/>
            <a:ext cx="3154680" cy="23317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Nube"/>
          <p:cNvSpPr/>
          <p:nvPr/>
        </p:nvSpPr>
        <p:spPr>
          <a:xfrm>
            <a:off x="8293608" y="2606040"/>
            <a:ext cx="548640" cy="548640"/>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5" name="Ícono globe" descr="globe-orange.png"/>
          <p:cNvPicPr>
            <a:picLocks noChangeAspect="1"/>
          </p:cNvPicPr>
          <p:nvPr/>
        </p:nvPicPr>
        <p:blipFill>
          <a:blip r:embed="rId5"/>
          <a:stretch>
            <a:fillRect/>
          </a:stretch>
        </p:blipFill>
        <p:spPr>
          <a:xfrm>
            <a:off x="8414309" y="2726741"/>
            <a:ext cx="307238" cy="307238"/>
          </a:xfrm>
          <a:prstGeom prst="rect">
            <a:avLst/>
          </a:prstGeom>
        </p:spPr>
      </p:pic>
      <p:sp>
        <p:nvSpPr>
          <p:cNvPr id="26" name="TextBox 25"/>
          <p:cNvSpPr txBox="1"/>
          <p:nvPr/>
        </p:nvSpPr>
        <p:spPr>
          <a:xfrm>
            <a:off x="8979408" y="2606040"/>
            <a:ext cx="2194560" cy="548640"/>
          </a:xfrm>
          <a:prstGeom prst="rect">
            <a:avLst/>
          </a:prstGeom>
          <a:noFill/>
        </p:spPr>
        <p:txBody>
          <a:bodyPr wrap="square" lIns="0" tIns="0" rIns="0" bIns="0" anchor="ctr">
            <a:spAutoFit/>
          </a:bodyPr>
          <a:lstStyle/>
          <a:p>
            <a:pPr algn="l">
              <a:spcAft>
                <a:spcPts val="0"/>
              </a:spcAft>
            </a:pPr>
            <a:r>
              <a:rPr sz="1400" b="1" i="0">
                <a:solidFill>
                  <a:srgbClr val="FFFFFF"/>
                </a:solidFill>
                <a:effectLst>
                  <a:glow rad="63500">
                    <a:srgbClr val="001633">
                      <a:alpha val="85000"/>
                    </a:srgbClr>
                  </a:glow>
                </a:effectLst>
                <a:latin typeface="Montserrat"/>
              </a:rPr>
              <a:t>Nube</a:t>
            </a:r>
          </a:p>
          <a:p>
            <a:pPr algn="l">
              <a:spcAft>
                <a:spcPts val="0"/>
              </a:spcAft>
            </a:pPr>
            <a:r>
              <a:rPr sz="900" b="0" i="0">
                <a:solidFill>
                  <a:srgbClr val="A9B8C9"/>
                </a:solidFill>
                <a:effectLst>
                  <a:glow rad="63500">
                    <a:srgbClr val="001633">
                      <a:alpha val="85000"/>
                    </a:srgbClr>
                  </a:glow>
                </a:effectLst>
                <a:latin typeface="Montserrat"/>
              </a:rPr>
              <a:t>centro de datos externo</a:t>
            </a:r>
          </a:p>
        </p:txBody>
      </p:sp>
      <p:sp>
        <p:nvSpPr>
          <p:cNvPr id="27" name="TextBox 26"/>
          <p:cNvSpPr txBox="1"/>
          <p:nvPr/>
        </p:nvSpPr>
        <p:spPr>
          <a:xfrm>
            <a:off x="8293608" y="3291840"/>
            <a:ext cx="2880360" cy="457200"/>
          </a:xfrm>
          <a:prstGeom prst="rect">
            <a:avLst/>
          </a:prstGeom>
          <a:noFill/>
        </p:spPr>
        <p:txBody>
          <a:bodyPr wrap="square" lIns="0" tIns="0" rIns="0" bIns="0" anchor="t">
            <a:spAutoFit/>
          </a:bodyPr>
          <a:lstStyle/>
          <a:p>
            <a:pPr algn="l">
              <a:spcAft>
                <a:spcPts val="0"/>
              </a:spcAft>
            </a:pPr>
            <a:r>
              <a:rPr sz="750" b="1" i="0">
                <a:solidFill>
                  <a:srgbClr val="85D5E6"/>
                </a:solidFill>
                <a:effectLst>
                  <a:glow rad="63500">
                    <a:srgbClr val="001633">
                      <a:alpha val="85000"/>
                    </a:srgbClr>
                  </a:glow>
                </a:effectLst>
                <a:latin typeface="Montserrat"/>
              </a:rPr>
              <a:t>LATENCIA</a:t>
            </a:r>
          </a:p>
          <a:p>
            <a:pPr algn="l">
              <a:spcAft>
                <a:spcPts val="0"/>
              </a:spcAft>
            </a:pPr>
            <a:r>
              <a:rPr sz="1000" b="0" i="0">
                <a:solidFill>
                  <a:srgbClr val="FFFFFF"/>
                </a:solidFill>
                <a:effectLst>
                  <a:glow rad="63500">
                    <a:srgbClr val="001633">
                      <a:alpha val="85000"/>
                    </a:srgbClr>
                  </a:glow>
                </a:effectLst>
                <a:latin typeface="Montserrat"/>
              </a:rPr>
              <a:t>segundos a minutos</a:t>
            </a:r>
          </a:p>
        </p:txBody>
      </p:sp>
      <p:sp>
        <p:nvSpPr>
          <p:cNvPr id="28" name="TextBox 27"/>
          <p:cNvSpPr txBox="1"/>
          <p:nvPr/>
        </p:nvSpPr>
        <p:spPr>
          <a:xfrm>
            <a:off x="8293608" y="3767328"/>
            <a:ext cx="2880360" cy="457200"/>
          </a:xfrm>
          <a:prstGeom prst="rect">
            <a:avLst/>
          </a:prstGeom>
          <a:noFill/>
        </p:spPr>
        <p:txBody>
          <a:bodyPr wrap="square" lIns="0" tIns="0" rIns="0" bIns="0" anchor="t">
            <a:spAutoFit/>
          </a:bodyPr>
          <a:lstStyle/>
          <a:p>
            <a:pPr algn="l">
              <a:spcAft>
                <a:spcPts val="0"/>
              </a:spcAft>
            </a:pPr>
            <a:r>
              <a:rPr sz="750" b="1" i="0">
                <a:solidFill>
                  <a:srgbClr val="85D5E6"/>
                </a:solidFill>
                <a:effectLst>
                  <a:glow rad="63500">
                    <a:srgbClr val="001633">
                      <a:alpha val="85000"/>
                    </a:srgbClr>
                  </a:glow>
                </a:effectLst>
                <a:latin typeface="Montserrat"/>
              </a:rPr>
              <a:t>SI SE CAE LA RED</a:t>
            </a:r>
          </a:p>
          <a:p>
            <a:pPr algn="l">
              <a:spcAft>
                <a:spcPts val="0"/>
              </a:spcAft>
            </a:pPr>
            <a:r>
              <a:rPr sz="1000" b="0" i="0">
                <a:solidFill>
                  <a:srgbClr val="FFFFFF"/>
                </a:solidFill>
                <a:effectLst>
                  <a:glow rad="63500">
                    <a:srgbClr val="001633">
                      <a:alpha val="85000"/>
                    </a:srgbClr>
                  </a:glow>
                </a:effectLst>
                <a:latin typeface="Montserrat"/>
              </a:rPr>
              <a:t>depende del enlace satelital o fibra</a:t>
            </a:r>
          </a:p>
        </p:txBody>
      </p:sp>
      <p:cxnSp>
        <p:nvCxnSpPr>
          <p:cNvPr id="29" name="Raya"/>
          <p:cNvCxnSpPr/>
          <p:nvPr/>
        </p:nvCxnSpPr>
        <p:spPr>
          <a:xfrm>
            <a:off x="8293608" y="4297680"/>
            <a:ext cx="274320" cy="0"/>
          </a:xfrm>
          <a:prstGeom prst="line">
            <a:avLst/>
          </a:prstGeom>
          <a:ln w="15875">
            <a:solidFill>
              <a:srgbClr val="FFAB4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293608" y="4352544"/>
            <a:ext cx="2880360" cy="4572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Ej.: </a:t>
            </a:r>
            <a:r>
              <a:rPr sz="900" b="0" i="0">
                <a:solidFill>
                  <a:srgbClr val="FFFFFF"/>
                </a:solidFill>
                <a:effectLst>
                  <a:glow rad="63500">
                    <a:srgbClr val="001633">
                      <a:alpha val="85000"/>
                    </a:srgbClr>
                  </a:glow>
                </a:effectLst>
                <a:latin typeface="Montserrat"/>
              </a:rPr>
              <a:t>comparar faenas; entrenar modelos; what-if masivos</a:t>
            </a:r>
          </a:p>
        </p:txBody>
      </p:sp>
      <p:sp>
        <p:nvSpPr>
          <p:cNvPr id="31" name="TextBox 30"/>
          <p:cNvSpPr txBox="1"/>
          <p:nvPr/>
        </p:nvSpPr>
        <p:spPr>
          <a:xfrm>
            <a:off x="1252728" y="4956048"/>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TRES PREGUNTAS PARA DECIDIR</a:t>
            </a:r>
          </a:p>
        </p:txBody>
      </p:sp>
      <p:sp>
        <p:nvSpPr>
          <p:cNvPr id="32" name="Pregunta edge"/>
          <p:cNvSpPr/>
          <p:nvPr/>
        </p:nvSpPr>
        <p:spPr>
          <a:xfrm>
            <a:off x="1252728" y="5193792"/>
            <a:ext cx="3154680" cy="548640"/>
          </a:xfrm>
          <a:prstGeom prst="rect">
            <a:avLst/>
          </a:prstGeom>
          <a:solidFill>
            <a:srgbClr val="001633"/>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362456" y="5193792"/>
            <a:ext cx="2240280" cy="548640"/>
          </a:xfrm>
          <a:prstGeom prst="rect">
            <a:avLst/>
          </a:prstGeom>
          <a:noFill/>
        </p:spPr>
        <p:txBody>
          <a:bodyPr wrap="square" lIns="0" tIns="0" rIns="0" bIns="0" anchor="ctr">
            <a:spAutoFit/>
          </a:bodyPr>
          <a:lstStyle/>
          <a:p>
            <a:pPr algn="l">
              <a:spcAft>
                <a:spcPts val="600"/>
              </a:spcAft>
            </a:pPr>
            <a:r>
              <a:rPr sz="900" b="0" i="0">
                <a:solidFill>
                  <a:srgbClr val="FFFFFF"/>
                </a:solidFill>
                <a:effectLst>
                  <a:glow rad="63500">
                    <a:srgbClr val="001633">
                      <a:alpha val="85000"/>
                    </a:srgbClr>
                  </a:glow>
                </a:effectLst>
                <a:latin typeface="Montserrat"/>
              </a:rPr>
              <a:t>¿Debe funcionar aunque se caiga la red?</a:t>
            </a:r>
          </a:p>
        </p:txBody>
      </p:sp>
      <p:sp>
        <p:nvSpPr>
          <p:cNvPr id="34" name="TextBox 33"/>
          <p:cNvSpPr txBox="1"/>
          <p:nvPr/>
        </p:nvSpPr>
        <p:spPr>
          <a:xfrm>
            <a:off x="3538728" y="5193792"/>
            <a:ext cx="777240" cy="548640"/>
          </a:xfrm>
          <a:prstGeom prst="rect">
            <a:avLst/>
          </a:prstGeom>
          <a:noFill/>
        </p:spPr>
        <p:txBody>
          <a:bodyPr wrap="square" lIns="0" tIns="0" rIns="0" bIns="0" anchor="ctr">
            <a:spAutoFit/>
          </a:bodyPr>
          <a:lstStyle/>
          <a:p>
            <a:pPr algn="r">
              <a:spcAft>
                <a:spcPts val="600"/>
              </a:spcAft>
            </a:pPr>
            <a:r>
              <a:rPr sz="1000" b="1" i="0">
                <a:solidFill>
                  <a:srgbClr val="85D5E6"/>
                </a:solidFill>
                <a:effectLst>
                  <a:glow rad="63500">
                    <a:srgbClr val="001633">
                      <a:alpha val="85000"/>
                    </a:srgbClr>
                  </a:glow>
                </a:effectLst>
                <a:latin typeface="Montserrat"/>
              </a:rPr>
              <a:t>→ edge</a:t>
            </a:r>
          </a:p>
        </p:txBody>
      </p:sp>
      <p:sp>
        <p:nvSpPr>
          <p:cNvPr id="35" name="Pregunta faena"/>
          <p:cNvSpPr/>
          <p:nvPr/>
        </p:nvSpPr>
        <p:spPr>
          <a:xfrm>
            <a:off x="4681728" y="5193792"/>
            <a:ext cx="3154680" cy="548640"/>
          </a:xfrm>
          <a:prstGeom prst="rect">
            <a:avLst/>
          </a:prstGeom>
          <a:solidFill>
            <a:srgbClr val="001633"/>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4791456" y="5193792"/>
            <a:ext cx="2240280" cy="548640"/>
          </a:xfrm>
          <a:prstGeom prst="rect">
            <a:avLst/>
          </a:prstGeom>
          <a:noFill/>
        </p:spPr>
        <p:txBody>
          <a:bodyPr wrap="square" lIns="0" tIns="0" rIns="0" bIns="0" anchor="ctr">
            <a:spAutoFit/>
          </a:bodyPr>
          <a:lstStyle/>
          <a:p>
            <a:pPr algn="l">
              <a:spcAft>
                <a:spcPts val="600"/>
              </a:spcAft>
            </a:pPr>
            <a:r>
              <a:rPr sz="900" b="0" i="0">
                <a:solidFill>
                  <a:srgbClr val="FFFFFF"/>
                </a:solidFill>
                <a:effectLst>
                  <a:glow rad="63500">
                    <a:srgbClr val="001633">
                      <a:alpha val="85000"/>
                    </a:srgbClr>
                  </a:glow>
                </a:effectLst>
                <a:latin typeface="Montserrat"/>
              </a:rPr>
              <a:t>¿Decide en segundos con datos de toda la planta?</a:t>
            </a:r>
          </a:p>
        </p:txBody>
      </p:sp>
      <p:sp>
        <p:nvSpPr>
          <p:cNvPr id="37" name="TextBox 36"/>
          <p:cNvSpPr txBox="1"/>
          <p:nvPr/>
        </p:nvSpPr>
        <p:spPr>
          <a:xfrm>
            <a:off x="6967728" y="5193792"/>
            <a:ext cx="777240" cy="548640"/>
          </a:xfrm>
          <a:prstGeom prst="rect">
            <a:avLst/>
          </a:prstGeom>
          <a:noFill/>
        </p:spPr>
        <p:txBody>
          <a:bodyPr wrap="square" lIns="0" tIns="0" rIns="0" bIns="0" anchor="ctr">
            <a:spAutoFit/>
          </a:bodyPr>
          <a:lstStyle/>
          <a:p>
            <a:pPr algn="r">
              <a:spcAft>
                <a:spcPts val="600"/>
              </a:spcAft>
            </a:pPr>
            <a:r>
              <a:rPr sz="1000" b="1" i="0">
                <a:solidFill>
                  <a:srgbClr val="85D5E6"/>
                </a:solidFill>
                <a:effectLst>
                  <a:glow rad="63500">
                    <a:srgbClr val="001633">
                      <a:alpha val="85000"/>
                    </a:srgbClr>
                  </a:glow>
                </a:effectLst>
                <a:latin typeface="Montserrat"/>
              </a:rPr>
              <a:t>→ faena</a:t>
            </a:r>
          </a:p>
        </p:txBody>
      </p:sp>
      <p:sp>
        <p:nvSpPr>
          <p:cNvPr id="38" name="Pregunta nube"/>
          <p:cNvSpPr/>
          <p:nvPr/>
        </p:nvSpPr>
        <p:spPr>
          <a:xfrm>
            <a:off x="8110728" y="5193792"/>
            <a:ext cx="3154680" cy="548640"/>
          </a:xfrm>
          <a:prstGeom prst="rect">
            <a:avLst/>
          </a:prstGeom>
          <a:solidFill>
            <a:srgbClr val="001633"/>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8220456" y="5193792"/>
            <a:ext cx="2240280" cy="548640"/>
          </a:xfrm>
          <a:prstGeom prst="rect">
            <a:avLst/>
          </a:prstGeom>
          <a:noFill/>
        </p:spPr>
        <p:txBody>
          <a:bodyPr wrap="square" lIns="0" tIns="0" rIns="0" bIns="0" anchor="ctr">
            <a:spAutoFit/>
          </a:bodyPr>
          <a:lstStyle/>
          <a:p>
            <a:pPr algn="l">
              <a:spcAft>
                <a:spcPts val="600"/>
              </a:spcAft>
            </a:pPr>
            <a:r>
              <a:rPr sz="900" b="0" i="0">
                <a:solidFill>
                  <a:srgbClr val="FFFFFF"/>
                </a:solidFill>
                <a:effectLst>
                  <a:glow rad="63500">
                    <a:srgbClr val="001633">
                      <a:alpha val="85000"/>
                    </a:srgbClr>
                  </a:glow>
                </a:effectLst>
                <a:latin typeface="Montserrat"/>
              </a:rPr>
              <a:t>¿Necesita mucho cálculo o datos de varias faenas?</a:t>
            </a:r>
          </a:p>
        </p:txBody>
      </p:sp>
      <p:sp>
        <p:nvSpPr>
          <p:cNvPr id="40" name="TextBox 39"/>
          <p:cNvSpPr txBox="1"/>
          <p:nvPr/>
        </p:nvSpPr>
        <p:spPr>
          <a:xfrm>
            <a:off x="10396728" y="5193792"/>
            <a:ext cx="777240" cy="548640"/>
          </a:xfrm>
          <a:prstGeom prst="rect">
            <a:avLst/>
          </a:prstGeom>
          <a:noFill/>
        </p:spPr>
        <p:txBody>
          <a:bodyPr wrap="square" lIns="0" tIns="0" rIns="0" bIns="0" anchor="ctr">
            <a:spAutoFit/>
          </a:bodyPr>
          <a:lstStyle/>
          <a:p>
            <a:pPr algn="r">
              <a:spcAft>
                <a:spcPts val="600"/>
              </a:spcAft>
            </a:pPr>
            <a:r>
              <a:rPr sz="1000" b="1" i="0">
                <a:solidFill>
                  <a:srgbClr val="85D5E6"/>
                </a:solidFill>
                <a:effectLst>
                  <a:glow rad="63500">
                    <a:srgbClr val="001633">
                      <a:alpha val="85000"/>
                    </a:srgbClr>
                  </a:glow>
                </a:effectLst>
                <a:latin typeface="Montserrat"/>
              </a:rPr>
              <a:t>→ nube</a:t>
            </a:r>
          </a:p>
        </p:txBody>
      </p:sp>
      <p:sp>
        <p:nvSpPr>
          <p:cNvPr id="4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Elaboración propia · latencias en órdenes de magnitud</a:t>
            </a:r>
          </a:p>
        </p:txBody>
      </p:sp>
      <p:sp>
        <p:nvSpPr>
          <p:cNvPr id="4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4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I actual"/>
          <p:cNvSpPr/>
          <p:nvPr/>
        </p:nvSpPr>
        <p:spPr>
          <a:xfrm>
            <a:off x="5001768" y="6510528"/>
            <a:ext cx="1437967"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25/31 </a:t>
            </a:r>
            <a:r>
              <a:rPr sz="1000" b="0" i="0">
                <a:solidFill>
                  <a:srgbClr val="A9B8C9"/>
                </a:solidFill>
                <a:effectLst>
                  <a:glow rad="63500">
                    <a:srgbClr val="001633">
                      <a:alpha val="85000"/>
                    </a:srgbClr>
                  </a:glow>
                </a:effectLst>
                <a:latin typeface="Montserrat"/>
              </a:rPr>
              <a:t>· Gemelos Digitales para Minería 4.0 · 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hardware define qué modelo cabe y a qué velocidad corre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5 · DÓNDE CORRE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De un controlador en el equipo a un servidor con GPU. Elegir hardware es elegir qué tan pesado puede ser el modelo y qué tan cerca de la decisión está.</a:t>
            </a:r>
          </a:p>
        </p:txBody>
      </p:sp>
      <p:sp>
        <p:nvSpPr>
          <p:cNvPr id="7" name="TextBox 6"/>
          <p:cNvSpPr txBox="1"/>
          <p:nvPr/>
        </p:nvSpPr>
        <p:spPr>
          <a:xfrm>
            <a:off x="1344168" y="2450592"/>
            <a:ext cx="2606040" cy="228600"/>
          </a:xfrm>
          <a:prstGeom prst="rect">
            <a:avLst/>
          </a:prstGeom>
          <a:noFill/>
        </p:spPr>
        <p:txBody>
          <a:bodyPr wrap="square" lIns="0" tIns="0" rIns="0" bIns="0" anchor="t">
            <a:spAutoFit/>
          </a:bodyPr>
          <a:lstStyle/>
          <a:p>
            <a:pPr algn="l">
              <a:spcAft>
                <a:spcPts val="600"/>
              </a:spcAft>
            </a:pPr>
            <a:endParaRPr/>
          </a:p>
        </p:txBody>
      </p:sp>
      <p:sp>
        <p:nvSpPr>
          <p:cNvPr id="8" name="TextBox 7"/>
          <p:cNvSpPr txBox="1"/>
          <p:nvPr/>
        </p:nvSpPr>
        <p:spPr>
          <a:xfrm>
            <a:off x="3950208" y="2450592"/>
            <a:ext cx="192024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DÓNDE VIVE</a:t>
            </a:r>
          </a:p>
        </p:txBody>
      </p:sp>
      <p:sp>
        <p:nvSpPr>
          <p:cNvPr id="9" name="TextBox 8"/>
          <p:cNvSpPr txBox="1"/>
          <p:nvPr/>
        </p:nvSpPr>
        <p:spPr>
          <a:xfrm>
            <a:off x="5870448" y="2450592"/>
            <a:ext cx="224028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QUÉ CORRE</a:t>
            </a:r>
          </a:p>
        </p:txBody>
      </p:sp>
      <p:sp>
        <p:nvSpPr>
          <p:cNvPr id="10" name="TextBox 9"/>
          <p:cNvSpPr txBox="1"/>
          <p:nvPr/>
        </p:nvSpPr>
        <p:spPr>
          <a:xfrm>
            <a:off x="8110728" y="2450592"/>
            <a:ext cx="146304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CAPACIDAD</a:t>
            </a:r>
          </a:p>
        </p:txBody>
      </p:sp>
      <p:sp>
        <p:nvSpPr>
          <p:cNvPr id="11" name="TextBox 10"/>
          <p:cNvSpPr txBox="1"/>
          <p:nvPr/>
        </p:nvSpPr>
        <p:spPr>
          <a:xfrm>
            <a:off x="9573768" y="2450592"/>
            <a:ext cx="1783080" cy="228600"/>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EJEMPLO MINERO</a:t>
            </a:r>
          </a:p>
        </p:txBody>
      </p:sp>
      <p:sp>
        <p:nvSpPr>
          <p:cNvPr id="12" name="Hardware PLC con runtime"/>
          <p:cNvSpPr/>
          <p:nvPr/>
        </p:nvSpPr>
        <p:spPr>
          <a:xfrm>
            <a:off x="1252728" y="2697480"/>
            <a:ext cx="1001268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PLC con runtime"/>
          <p:cNvSpPr/>
          <p:nvPr/>
        </p:nvSpPr>
        <p:spPr>
          <a:xfrm>
            <a:off x="1362456" y="2779776"/>
            <a:ext cx="420624" cy="420624"/>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cpu" descr="cpu-orange.png"/>
          <p:cNvPicPr>
            <a:picLocks noChangeAspect="1"/>
          </p:cNvPicPr>
          <p:nvPr/>
        </p:nvPicPr>
        <p:blipFill>
          <a:blip r:embed="rId3"/>
          <a:stretch>
            <a:fillRect/>
          </a:stretch>
        </p:blipFill>
        <p:spPr>
          <a:xfrm>
            <a:off x="1454993" y="2872313"/>
            <a:ext cx="235549" cy="235549"/>
          </a:xfrm>
          <a:prstGeom prst="rect">
            <a:avLst/>
          </a:prstGeom>
        </p:spPr>
      </p:pic>
      <p:sp>
        <p:nvSpPr>
          <p:cNvPr id="15" name="TextBox 14"/>
          <p:cNvSpPr txBox="1"/>
          <p:nvPr/>
        </p:nvSpPr>
        <p:spPr>
          <a:xfrm>
            <a:off x="1892808" y="2697480"/>
            <a:ext cx="1920240" cy="58521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PLC con runtime</a:t>
            </a:r>
          </a:p>
        </p:txBody>
      </p:sp>
      <p:sp>
        <p:nvSpPr>
          <p:cNvPr id="16" name="TextBox 15"/>
          <p:cNvSpPr txBox="1"/>
          <p:nvPr/>
        </p:nvSpPr>
        <p:spPr>
          <a:xfrm>
            <a:off x="3950208" y="2697480"/>
            <a:ext cx="1783080" cy="58521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en el tablero del equipo</a:t>
            </a:r>
          </a:p>
        </p:txBody>
      </p:sp>
      <p:sp>
        <p:nvSpPr>
          <p:cNvPr id="17" name="TextBox 16"/>
          <p:cNvSpPr txBox="1"/>
          <p:nvPr/>
        </p:nvSpPr>
        <p:spPr>
          <a:xfrm>
            <a:off x="5870448" y="2697480"/>
            <a:ext cx="2103120" cy="585216"/>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lógica de control y modelos muy simples</a:t>
            </a:r>
          </a:p>
        </p:txBody>
      </p:sp>
      <p:sp>
        <p:nvSpPr>
          <p:cNvPr id="18" name="Pista capacidad"/>
          <p:cNvSpPr/>
          <p:nvPr/>
        </p:nvSpPr>
        <p:spPr>
          <a:xfrm>
            <a:off x="8110728" y="2916936"/>
            <a:ext cx="1234440" cy="146304"/>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Capacidad"/>
          <p:cNvSpPr/>
          <p:nvPr/>
        </p:nvSpPr>
        <p:spPr>
          <a:xfrm>
            <a:off x="8110728" y="2916936"/>
            <a:ext cx="148132" cy="14630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9573768" y="2697480"/>
            <a:ext cx="1645920" cy="585216"/>
          </a:xfrm>
          <a:prstGeom prst="rect">
            <a:avLst/>
          </a:prstGeom>
          <a:noFill/>
        </p:spPr>
        <p:txBody>
          <a:bodyPr wrap="square" lIns="0" tIns="0" rIns="0" bIns="0" anchor="ctr">
            <a:spAutoFit/>
          </a:bodyPr>
          <a:lstStyle/>
          <a:p>
            <a:pPr algn="l">
              <a:spcAft>
                <a:spcPts val="600"/>
              </a:spcAft>
            </a:pPr>
            <a:r>
              <a:rPr sz="850" b="1" i="0">
                <a:solidFill>
                  <a:srgbClr val="FFAB40"/>
                </a:solidFill>
                <a:effectLst>
                  <a:glow rad="63500">
                    <a:srgbClr val="001633">
                      <a:alpha val="85000"/>
                    </a:srgbClr>
                  </a:glow>
                </a:effectLst>
                <a:latin typeface="Montserrat"/>
              </a:rPr>
              <a:t>nivel de una tolva</a:t>
            </a:r>
          </a:p>
        </p:txBody>
      </p:sp>
      <p:sp>
        <p:nvSpPr>
          <p:cNvPr id="21" name="Hardware PC industrial (edge)"/>
          <p:cNvSpPr/>
          <p:nvPr/>
        </p:nvSpPr>
        <p:spPr>
          <a:xfrm>
            <a:off x="1252728" y="3355848"/>
            <a:ext cx="1001268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PC industrial (edge)"/>
          <p:cNvSpPr/>
          <p:nvPr/>
        </p:nvSpPr>
        <p:spPr>
          <a:xfrm>
            <a:off x="1362456" y="3438144"/>
            <a:ext cx="420624" cy="420624"/>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Ícono hard-hat" descr="hard-hat-orange.png"/>
          <p:cNvPicPr>
            <a:picLocks noChangeAspect="1"/>
          </p:cNvPicPr>
          <p:nvPr/>
        </p:nvPicPr>
        <p:blipFill>
          <a:blip r:embed="rId4"/>
          <a:stretch>
            <a:fillRect/>
          </a:stretch>
        </p:blipFill>
        <p:spPr>
          <a:xfrm>
            <a:off x="1454993" y="3530681"/>
            <a:ext cx="235549" cy="235549"/>
          </a:xfrm>
          <a:prstGeom prst="rect">
            <a:avLst/>
          </a:prstGeom>
        </p:spPr>
      </p:pic>
      <p:sp>
        <p:nvSpPr>
          <p:cNvPr id="24" name="TextBox 23"/>
          <p:cNvSpPr txBox="1"/>
          <p:nvPr/>
        </p:nvSpPr>
        <p:spPr>
          <a:xfrm>
            <a:off x="1892808" y="3355848"/>
            <a:ext cx="1920240" cy="58521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PC industrial (edge)</a:t>
            </a:r>
          </a:p>
        </p:txBody>
      </p:sp>
      <p:sp>
        <p:nvSpPr>
          <p:cNvPr id="25" name="TextBox 24"/>
          <p:cNvSpPr txBox="1"/>
          <p:nvPr/>
        </p:nvSpPr>
        <p:spPr>
          <a:xfrm>
            <a:off x="3950208" y="3355848"/>
            <a:ext cx="1783080" cy="58521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en el nivel o en el equipo; sin ventilador, resistente al polvo</a:t>
            </a:r>
          </a:p>
        </p:txBody>
      </p:sp>
      <p:sp>
        <p:nvSpPr>
          <p:cNvPr id="26" name="TextBox 25"/>
          <p:cNvSpPr txBox="1"/>
          <p:nvPr/>
        </p:nvSpPr>
        <p:spPr>
          <a:xfrm>
            <a:off x="5870448" y="3355848"/>
            <a:ext cx="2103120" cy="585216"/>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FMU livianas, filtros y sensores virtuales</a:t>
            </a:r>
          </a:p>
        </p:txBody>
      </p:sp>
      <p:sp>
        <p:nvSpPr>
          <p:cNvPr id="27" name="Pista capacidad"/>
          <p:cNvSpPr/>
          <p:nvPr/>
        </p:nvSpPr>
        <p:spPr>
          <a:xfrm>
            <a:off x="8110728" y="3575304"/>
            <a:ext cx="1234440" cy="146304"/>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Capacidad"/>
          <p:cNvSpPr/>
          <p:nvPr/>
        </p:nvSpPr>
        <p:spPr>
          <a:xfrm>
            <a:off x="8110728" y="3575304"/>
            <a:ext cx="432054" cy="14630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9573768" y="3355848"/>
            <a:ext cx="1645920" cy="585216"/>
          </a:xfrm>
          <a:prstGeom prst="rect">
            <a:avLst/>
          </a:prstGeom>
          <a:noFill/>
        </p:spPr>
        <p:txBody>
          <a:bodyPr wrap="square" lIns="0" tIns="0" rIns="0" bIns="0" anchor="ctr">
            <a:spAutoFit/>
          </a:bodyPr>
          <a:lstStyle/>
          <a:p>
            <a:pPr algn="l">
              <a:spcAft>
                <a:spcPts val="600"/>
              </a:spcAft>
            </a:pPr>
            <a:r>
              <a:rPr sz="850" b="1" i="0">
                <a:solidFill>
                  <a:srgbClr val="FFAB40"/>
                </a:solidFill>
                <a:effectLst>
                  <a:glow rad="63500">
                    <a:srgbClr val="001633">
                      <a:alpha val="85000"/>
                    </a:srgbClr>
                  </a:glow>
                </a:effectLst>
                <a:latin typeface="Montserrat"/>
              </a:rPr>
              <a:t>ventilación de un nivel</a:t>
            </a:r>
          </a:p>
        </p:txBody>
      </p:sp>
      <p:sp>
        <p:nvSpPr>
          <p:cNvPr id="30" name="Hardware Servidor en faena"/>
          <p:cNvSpPr/>
          <p:nvPr/>
        </p:nvSpPr>
        <p:spPr>
          <a:xfrm>
            <a:off x="1252728" y="4014216"/>
            <a:ext cx="1001268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ervidor en faena"/>
          <p:cNvSpPr/>
          <p:nvPr/>
        </p:nvSpPr>
        <p:spPr>
          <a:xfrm>
            <a:off x="1362456" y="4096512"/>
            <a:ext cx="420624" cy="420624"/>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2" name="Ícono server" descr="server-orange.png"/>
          <p:cNvPicPr>
            <a:picLocks noChangeAspect="1"/>
          </p:cNvPicPr>
          <p:nvPr/>
        </p:nvPicPr>
        <p:blipFill>
          <a:blip r:embed="rId5"/>
          <a:stretch>
            <a:fillRect/>
          </a:stretch>
        </p:blipFill>
        <p:spPr>
          <a:xfrm>
            <a:off x="1454993" y="4189049"/>
            <a:ext cx="235549" cy="235549"/>
          </a:xfrm>
          <a:prstGeom prst="rect">
            <a:avLst/>
          </a:prstGeom>
        </p:spPr>
      </p:pic>
      <p:sp>
        <p:nvSpPr>
          <p:cNvPr id="33" name="TextBox 32"/>
          <p:cNvSpPr txBox="1"/>
          <p:nvPr/>
        </p:nvSpPr>
        <p:spPr>
          <a:xfrm>
            <a:off x="1892808" y="4014216"/>
            <a:ext cx="1920240" cy="58521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Servidor en faena</a:t>
            </a:r>
          </a:p>
        </p:txBody>
      </p:sp>
      <p:sp>
        <p:nvSpPr>
          <p:cNvPr id="34" name="TextBox 33"/>
          <p:cNvSpPr txBox="1"/>
          <p:nvPr/>
        </p:nvSpPr>
        <p:spPr>
          <a:xfrm>
            <a:off x="3950208" y="4014216"/>
            <a:ext cx="1783080" cy="58521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sala de servidores de la mina</a:t>
            </a:r>
          </a:p>
        </p:txBody>
      </p:sp>
      <p:sp>
        <p:nvSpPr>
          <p:cNvPr id="35" name="TextBox 34"/>
          <p:cNvSpPr txBox="1"/>
          <p:nvPr/>
        </p:nvSpPr>
        <p:spPr>
          <a:xfrm>
            <a:off x="5870448" y="4014216"/>
            <a:ext cx="2103120" cy="585216"/>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varias FMU, co-simulación, what-if</a:t>
            </a:r>
          </a:p>
        </p:txBody>
      </p:sp>
      <p:sp>
        <p:nvSpPr>
          <p:cNvPr id="36" name="Pista capacidad"/>
          <p:cNvSpPr/>
          <p:nvPr/>
        </p:nvSpPr>
        <p:spPr>
          <a:xfrm>
            <a:off x="8110728" y="4233672"/>
            <a:ext cx="1234440" cy="146304"/>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Capacidad"/>
          <p:cNvSpPr/>
          <p:nvPr/>
        </p:nvSpPr>
        <p:spPr>
          <a:xfrm>
            <a:off x="8110728" y="4233672"/>
            <a:ext cx="802386" cy="14630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p:cNvSpPr txBox="1"/>
          <p:nvPr/>
        </p:nvSpPr>
        <p:spPr>
          <a:xfrm>
            <a:off x="9573768" y="4014216"/>
            <a:ext cx="1645920" cy="585216"/>
          </a:xfrm>
          <a:prstGeom prst="rect">
            <a:avLst/>
          </a:prstGeom>
          <a:noFill/>
        </p:spPr>
        <p:txBody>
          <a:bodyPr wrap="square" lIns="0" tIns="0" rIns="0" bIns="0" anchor="ctr">
            <a:spAutoFit/>
          </a:bodyPr>
          <a:lstStyle/>
          <a:p>
            <a:pPr algn="l">
              <a:spcAft>
                <a:spcPts val="600"/>
              </a:spcAft>
            </a:pPr>
            <a:r>
              <a:rPr sz="850" b="1" i="0">
                <a:solidFill>
                  <a:srgbClr val="FFAB40"/>
                </a:solidFill>
                <a:effectLst>
                  <a:glow rad="63500">
                    <a:srgbClr val="001633">
                      <a:alpha val="85000"/>
                    </a:srgbClr>
                  </a:glow>
                </a:effectLst>
                <a:latin typeface="Montserrat"/>
              </a:rPr>
              <a:t>circuito de molienda</a:t>
            </a:r>
          </a:p>
        </p:txBody>
      </p:sp>
      <p:sp>
        <p:nvSpPr>
          <p:cNvPr id="39" name="Hardware Nube con CPU y GPU"/>
          <p:cNvSpPr/>
          <p:nvPr/>
        </p:nvSpPr>
        <p:spPr>
          <a:xfrm>
            <a:off x="1252728" y="4672584"/>
            <a:ext cx="10012680" cy="585216"/>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Nube con CPU y GPU"/>
          <p:cNvSpPr/>
          <p:nvPr/>
        </p:nvSpPr>
        <p:spPr>
          <a:xfrm>
            <a:off x="1362456" y="4754880"/>
            <a:ext cx="420624" cy="420624"/>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41" name="Ícono globe" descr="globe-orange.png"/>
          <p:cNvPicPr>
            <a:picLocks noChangeAspect="1"/>
          </p:cNvPicPr>
          <p:nvPr/>
        </p:nvPicPr>
        <p:blipFill>
          <a:blip r:embed="rId6"/>
          <a:stretch>
            <a:fillRect/>
          </a:stretch>
        </p:blipFill>
        <p:spPr>
          <a:xfrm>
            <a:off x="1454993" y="4847417"/>
            <a:ext cx="235549" cy="235549"/>
          </a:xfrm>
          <a:prstGeom prst="rect">
            <a:avLst/>
          </a:prstGeom>
        </p:spPr>
      </p:pic>
      <p:sp>
        <p:nvSpPr>
          <p:cNvPr id="42" name="TextBox 41"/>
          <p:cNvSpPr txBox="1"/>
          <p:nvPr/>
        </p:nvSpPr>
        <p:spPr>
          <a:xfrm>
            <a:off x="1892808" y="4672584"/>
            <a:ext cx="1920240" cy="585216"/>
          </a:xfrm>
          <a:prstGeom prst="rect">
            <a:avLst/>
          </a:prstGeom>
          <a:noFill/>
        </p:spPr>
        <p:txBody>
          <a:bodyPr wrap="square" lIns="0" tIns="0" rIns="0" bIns="0" anchor="ctr">
            <a:spAutoFit/>
          </a:bodyPr>
          <a:lstStyle/>
          <a:p>
            <a:pPr algn="l">
              <a:spcAft>
                <a:spcPts val="600"/>
              </a:spcAft>
            </a:pPr>
            <a:r>
              <a:rPr sz="1050" b="1" i="0">
                <a:solidFill>
                  <a:srgbClr val="FFFFFF"/>
                </a:solidFill>
                <a:effectLst>
                  <a:glow rad="63500">
                    <a:srgbClr val="001633">
                      <a:alpha val="85000"/>
                    </a:srgbClr>
                  </a:glow>
                </a:effectLst>
                <a:latin typeface="Montserrat"/>
              </a:rPr>
              <a:t>Nube con CPU y GPU</a:t>
            </a:r>
          </a:p>
        </p:txBody>
      </p:sp>
      <p:sp>
        <p:nvSpPr>
          <p:cNvPr id="43" name="TextBox 42"/>
          <p:cNvSpPr txBox="1"/>
          <p:nvPr/>
        </p:nvSpPr>
        <p:spPr>
          <a:xfrm>
            <a:off x="3950208" y="4672584"/>
            <a:ext cx="1783080" cy="585216"/>
          </a:xfrm>
          <a:prstGeom prst="rect">
            <a:avLst/>
          </a:prstGeom>
          <a:noFill/>
        </p:spPr>
        <p:txBody>
          <a:bodyPr wrap="square" lIns="0" tIns="0" rIns="0" bIns="0" anchor="ctr">
            <a:spAutoFit/>
          </a:bodyPr>
          <a:lstStyle/>
          <a:p>
            <a:pPr algn="l">
              <a:spcAft>
                <a:spcPts val="600"/>
              </a:spcAft>
            </a:pPr>
            <a:r>
              <a:rPr sz="850" b="0" i="0">
                <a:solidFill>
                  <a:srgbClr val="A9B8C9"/>
                </a:solidFill>
                <a:effectLst>
                  <a:glow rad="63500">
                    <a:srgbClr val="001633">
                      <a:alpha val="85000"/>
                    </a:srgbClr>
                  </a:glow>
                </a:effectLst>
                <a:latin typeface="Montserrat"/>
              </a:rPr>
              <a:t>centro de datos externo</a:t>
            </a:r>
          </a:p>
        </p:txBody>
      </p:sp>
      <p:sp>
        <p:nvSpPr>
          <p:cNvPr id="44" name="TextBox 43"/>
          <p:cNvSpPr txBox="1"/>
          <p:nvPr/>
        </p:nvSpPr>
        <p:spPr>
          <a:xfrm>
            <a:off x="5870448" y="4672584"/>
            <a:ext cx="2103120" cy="585216"/>
          </a:xfrm>
          <a:prstGeom prst="rect">
            <a:avLst/>
          </a:prstGeom>
          <a:noFill/>
        </p:spPr>
        <p:txBody>
          <a:bodyPr wrap="square" lIns="0" tIns="0" rIns="0" bIns="0" anchor="ctr">
            <a:spAutoFit/>
          </a:bodyPr>
          <a:lstStyle/>
          <a:p>
            <a:pPr algn="l">
              <a:spcAft>
                <a:spcPts val="600"/>
              </a:spcAft>
            </a:pPr>
            <a:r>
              <a:rPr sz="850" b="0" i="0">
                <a:solidFill>
                  <a:srgbClr val="FFFFFF"/>
                </a:solidFill>
                <a:effectLst>
                  <a:glow rad="63500">
                    <a:srgbClr val="001633">
                      <a:alpha val="85000"/>
                    </a:srgbClr>
                  </a:glow>
                </a:effectLst>
                <a:latin typeface="Montserrat"/>
              </a:rPr>
              <a:t>entrenar ML, miles de escenarios, DEM o CFD</a:t>
            </a:r>
          </a:p>
        </p:txBody>
      </p:sp>
      <p:sp>
        <p:nvSpPr>
          <p:cNvPr id="45" name="Pista capacidad"/>
          <p:cNvSpPr/>
          <p:nvPr/>
        </p:nvSpPr>
        <p:spPr>
          <a:xfrm>
            <a:off x="8110728" y="4892040"/>
            <a:ext cx="1234440" cy="146304"/>
          </a:xfrm>
          <a:prstGeom prst="rect">
            <a:avLst/>
          </a:prstGeom>
          <a:solidFill>
            <a:srgbClr val="001633"/>
          </a:solidFill>
          <a:ln w="6350">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Capacidad"/>
          <p:cNvSpPr/>
          <p:nvPr/>
        </p:nvSpPr>
        <p:spPr>
          <a:xfrm>
            <a:off x="8110728" y="4892040"/>
            <a:ext cx="1234440" cy="14630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p:cNvSpPr txBox="1"/>
          <p:nvPr/>
        </p:nvSpPr>
        <p:spPr>
          <a:xfrm>
            <a:off x="9573768" y="4672584"/>
            <a:ext cx="1645920" cy="585216"/>
          </a:xfrm>
          <a:prstGeom prst="rect">
            <a:avLst/>
          </a:prstGeom>
          <a:noFill/>
        </p:spPr>
        <p:txBody>
          <a:bodyPr wrap="square" lIns="0" tIns="0" rIns="0" bIns="0" anchor="ctr">
            <a:spAutoFit/>
          </a:bodyPr>
          <a:lstStyle/>
          <a:p>
            <a:pPr algn="l">
              <a:spcAft>
                <a:spcPts val="600"/>
              </a:spcAft>
            </a:pPr>
            <a:r>
              <a:rPr sz="850" b="1" i="0">
                <a:solidFill>
                  <a:srgbClr val="FFAB40"/>
                </a:solidFill>
                <a:effectLst>
                  <a:glow rad="63500">
                    <a:srgbClr val="001633">
                      <a:alpha val="85000"/>
                    </a:srgbClr>
                  </a:glow>
                </a:effectLst>
                <a:latin typeface="Montserrat"/>
              </a:rPr>
              <a:t>plan anual: barrido de escenarios</a:t>
            </a:r>
          </a:p>
        </p:txBody>
      </p:sp>
      <p:sp>
        <p:nvSpPr>
          <p:cNvPr id="48" name="Clave"/>
          <p:cNvSpPr/>
          <p:nvPr/>
        </p:nvSpPr>
        <p:spPr>
          <a:xfrm>
            <a:off x="1252728" y="5394960"/>
            <a:ext cx="10012680" cy="457200"/>
          </a:xfrm>
          <a:prstGeom prst="rect">
            <a:avLst/>
          </a:prstGeom>
          <a:solidFill>
            <a:srgbClr val="12335E"/>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1435608" y="5394960"/>
            <a:ext cx="9646920" cy="457200"/>
          </a:xfrm>
          <a:prstGeom prst="rect">
            <a:avLst/>
          </a:prstGeom>
          <a:noFill/>
        </p:spPr>
        <p:txBody>
          <a:bodyPr wrap="square" lIns="0" tIns="0" rIns="0" bIns="0" anchor="ctr">
            <a:spAutoFit/>
          </a:bodyPr>
          <a:lstStyle/>
          <a:p>
            <a:pPr algn="l">
              <a:spcAft>
                <a:spcPts val="600"/>
              </a:spcAft>
            </a:pPr>
            <a:r>
              <a:rPr sz="1000" b="1" i="0">
                <a:solidFill>
                  <a:srgbClr val="85D5E6"/>
                </a:solidFill>
                <a:effectLst>
                  <a:glow rad="63500">
                    <a:srgbClr val="001633">
                      <a:alpha val="85000"/>
                    </a:srgbClr>
                  </a:glow>
                </a:effectLst>
                <a:latin typeface="Montserrat"/>
              </a:rPr>
              <a:t>La misma FMU puede correr en cualquiera de ellos </a:t>
            </a:r>
            <a:r>
              <a:rPr sz="1000" b="0" i="0">
                <a:solidFill>
                  <a:srgbClr val="FFFFFF"/>
                </a:solidFill>
                <a:effectLst>
                  <a:glow rad="63500">
                    <a:srgbClr val="001633">
                      <a:alpha val="85000"/>
                    </a:srgbClr>
                  </a:glow>
                </a:effectLst>
                <a:latin typeface="Montserrat"/>
              </a:rPr>
              <a:t>si trae binarios para esa plataforma (Windows, Linux o el sistema del PLC): se modela una vez y se despliega donde convenga.</a:t>
            </a:r>
          </a:p>
        </p:txBody>
      </p:sp>
      <p:sp>
        <p:nvSpPr>
          <p:cNvPr id="50"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Elaboración propia · capacidades relativas, ilustrativas</a:t>
            </a:r>
          </a:p>
        </p:txBody>
      </p:sp>
      <p:sp>
        <p:nvSpPr>
          <p:cNvPr id="51"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2"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5"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6"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8"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Avance III actual"/>
          <p:cNvSpPr/>
          <p:nvPr/>
        </p:nvSpPr>
        <p:spPr>
          <a:xfrm>
            <a:off x="5001768" y="6510528"/>
            <a:ext cx="1495486"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1"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26/31 </a:t>
            </a:r>
            <a:r>
              <a:rPr sz="1000" b="0" i="0">
                <a:solidFill>
                  <a:srgbClr val="A9B8C9"/>
                </a:solidFill>
                <a:effectLst>
                  <a:glow rad="63500">
                    <a:srgbClr val="001633">
                      <a:alpha val="85000"/>
                    </a:srgbClr>
                  </a:glow>
                </a:effectLst>
                <a:latin typeface="Montserrat"/>
              </a:rPr>
              <a:t>· Gemelos Digitales para Minería 4.0 · 63</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Un escenario what-if clona el presente y prueba el futuro más rápido que la realidad</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5 · DÓNDE CORRE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El gemelo copia su estado actual, simula hacia adelante con decisiones distintas y compara. La planta real no se toca.</a:t>
            </a:r>
          </a:p>
        </p:txBody>
      </p:sp>
      <p:sp>
        <p:nvSpPr>
          <p:cNvPr id="7" name="Estado actual"/>
          <p:cNvSpPr/>
          <p:nvPr/>
        </p:nvSpPr>
        <p:spPr>
          <a:xfrm>
            <a:off x="1252728" y="3200400"/>
            <a:ext cx="1737360" cy="82296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3200400"/>
            <a:ext cx="1737360" cy="822960"/>
          </a:xfrm>
          <a:prstGeom prst="rect">
            <a:avLst/>
          </a:prstGeom>
          <a:noFill/>
        </p:spPr>
        <p:txBody>
          <a:bodyPr wrap="square" lIns="0" tIns="0" rIns="0" bIns="0" anchor="ctr">
            <a:spAutoFit/>
          </a:bodyPr>
          <a:lstStyle/>
          <a:p>
            <a:pPr algn="ctr">
              <a:spcAft>
                <a:spcPts val="0"/>
              </a:spcAft>
            </a:pPr>
            <a:r>
              <a:rPr sz="1200" b="1" i="0">
                <a:solidFill>
                  <a:srgbClr val="FFAB40"/>
                </a:solidFill>
                <a:effectLst>
                  <a:glow rad="63500">
                    <a:srgbClr val="001633">
                      <a:alpha val="85000"/>
                    </a:srgbClr>
                  </a:glow>
                </a:effectLst>
                <a:latin typeface="Montserrat"/>
              </a:rPr>
              <a:t>Estado actual</a:t>
            </a:r>
          </a:p>
          <a:p>
            <a:pPr algn="ctr">
              <a:spcAft>
                <a:spcPts val="0"/>
              </a:spcAft>
            </a:pPr>
            <a:r>
              <a:rPr sz="900" b="0" i="0">
                <a:solidFill>
                  <a:srgbClr val="A9B8C9"/>
                </a:solidFill>
                <a:effectLst>
                  <a:glow rad="63500">
                    <a:srgbClr val="001633">
                      <a:alpha val="85000"/>
                    </a:srgbClr>
                  </a:glow>
                </a:effectLst>
                <a:latin typeface="Montserrat"/>
              </a:rPr>
              <a:t>08:00 · una pala falla</a:t>
            </a:r>
          </a:p>
        </p:txBody>
      </p:sp>
      <p:cxnSp>
        <p:nvCxnSpPr>
          <p:cNvPr id="9" name="Rama A"/>
          <p:cNvCxnSpPr/>
          <p:nvPr/>
        </p:nvCxnSpPr>
        <p:spPr>
          <a:xfrm flipV="1">
            <a:off x="3035808" y="2852928"/>
            <a:ext cx="685800" cy="758952"/>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Escenario A"/>
          <p:cNvSpPr/>
          <p:nvPr/>
        </p:nvSpPr>
        <p:spPr>
          <a:xfrm>
            <a:off x="3767328" y="2487168"/>
            <a:ext cx="3840480" cy="731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1" name="TextBox 10"/>
          <p:cNvSpPr txBox="1"/>
          <p:nvPr/>
        </p:nvSpPr>
        <p:spPr>
          <a:xfrm>
            <a:off x="3904488" y="2487168"/>
            <a:ext cx="365760" cy="731520"/>
          </a:xfrm>
          <a:prstGeom prst="rect">
            <a:avLst/>
          </a:prstGeom>
          <a:noFill/>
        </p:spPr>
        <p:txBody>
          <a:bodyPr wrap="square" lIns="0" tIns="0" rIns="0" bIns="0" anchor="ctr">
            <a:spAutoFit/>
          </a:bodyPr>
          <a:lstStyle/>
          <a:p>
            <a:pPr algn="l">
              <a:spcAft>
                <a:spcPts val="600"/>
              </a:spcAft>
            </a:pPr>
            <a:r>
              <a:rPr sz="1600" b="1" i="0">
                <a:solidFill>
                  <a:srgbClr val="85D5E6"/>
                </a:solidFill>
                <a:effectLst>
                  <a:glow rad="63500">
                    <a:srgbClr val="001633">
                      <a:alpha val="85000"/>
                    </a:srgbClr>
                  </a:glow>
                </a:effectLst>
                <a:latin typeface="Montserrat"/>
              </a:rPr>
              <a:t>A</a:t>
            </a:r>
          </a:p>
        </p:txBody>
      </p:sp>
      <p:sp>
        <p:nvSpPr>
          <p:cNvPr id="12" name="TextBox 11"/>
          <p:cNvSpPr txBox="1"/>
          <p:nvPr/>
        </p:nvSpPr>
        <p:spPr>
          <a:xfrm>
            <a:off x="4315968" y="2487168"/>
            <a:ext cx="3200400" cy="731520"/>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reasignar camiones a las otras palas</a:t>
            </a:r>
          </a:p>
          <a:p>
            <a:pPr algn="l">
              <a:spcAft>
                <a:spcPts val="0"/>
              </a:spcAft>
            </a:pPr>
            <a:r>
              <a:rPr sz="950" b="0" i="0">
                <a:solidFill>
                  <a:srgbClr val="A9B8C9"/>
                </a:solidFill>
                <a:effectLst>
                  <a:glow rad="63500">
                    <a:srgbClr val="001633">
                      <a:alpha val="85000"/>
                    </a:srgbClr>
                  </a:glow>
                </a:effectLst>
                <a:latin typeface="Montserrat"/>
              </a:rPr>
              <a:t>−6 % tonelaje · colas cortas</a:t>
            </a:r>
          </a:p>
        </p:txBody>
      </p:sp>
      <p:cxnSp>
        <p:nvCxnSpPr>
          <p:cNvPr id="13" name="Rama B"/>
          <p:cNvCxnSpPr/>
          <p:nvPr/>
        </p:nvCxnSpPr>
        <p:spPr>
          <a:xfrm>
            <a:off x="3035808" y="3611880"/>
            <a:ext cx="685800" cy="155448"/>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Escenario B"/>
          <p:cNvSpPr/>
          <p:nvPr/>
        </p:nvSpPr>
        <p:spPr>
          <a:xfrm>
            <a:off x="3767328" y="3401568"/>
            <a:ext cx="3840480" cy="731520"/>
          </a:xfrm>
          <a:prstGeom prst="rect">
            <a:avLst/>
          </a:prstGeom>
          <a:solidFill>
            <a:srgbClr val="0B264A"/>
          </a:solidFill>
          <a:ln w="1587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5" name="TextBox 14"/>
          <p:cNvSpPr txBox="1"/>
          <p:nvPr/>
        </p:nvSpPr>
        <p:spPr>
          <a:xfrm>
            <a:off x="3904488" y="3401568"/>
            <a:ext cx="365760" cy="731520"/>
          </a:xfrm>
          <a:prstGeom prst="rect">
            <a:avLst/>
          </a:prstGeom>
          <a:noFill/>
        </p:spPr>
        <p:txBody>
          <a:bodyPr wrap="square" lIns="0" tIns="0" rIns="0" bIns="0" anchor="ctr">
            <a:spAutoFit/>
          </a:bodyPr>
          <a:lstStyle/>
          <a:p>
            <a:pPr algn="l">
              <a:spcAft>
                <a:spcPts val="600"/>
              </a:spcAft>
            </a:pPr>
            <a:r>
              <a:rPr sz="1600" b="1" i="0">
                <a:solidFill>
                  <a:srgbClr val="85D5E6"/>
                </a:solidFill>
                <a:effectLst>
                  <a:glow rad="63500">
                    <a:srgbClr val="001633">
                      <a:alpha val="85000"/>
                    </a:srgbClr>
                  </a:glow>
                </a:effectLst>
                <a:latin typeface="Montserrat"/>
              </a:rPr>
              <a:t>B</a:t>
            </a:r>
          </a:p>
        </p:txBody>
      </p:sp>
      <p:sp>
        <p:nvSpPr>
          <p:cNvPr id="16" name="TextBox 15"/>
          <p:cNvSpPr txBox="1"/>
          <p:nvPr/>
        </p:nvSpPr>
        <p:spPr>
          <a:xfrm>
            <a:off x="4315968" y="3401568"/>
            <a:ext cx="3200400" cy="731520"/>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llevar camiones al stockpile</a:t>
            </a:r>
          </a:p>
          <a:p>
            <a:pPr algn="l">
              <a:spcAft>
                <a:spcPts val="0"/>
              </a:spcAft>
            </a:pPr>
            <a:r>
              <a:rPr sz="950" b="0" i="0">
                <a:solidFill>
                  <a:srgbClr val="A9B8C9"/>
                </a:solidFill>
                <a:effectLst>
                  <a:glow rad="63500">
                    <a:srgbClr val="001633">
                      <a:alpha val="85000"/>
                    </a:srgbClr>
                  </a:glow>
                </a:effectLst>
                <a:latin typeface="Montserrat"/>
              </a:rPr>
              <a:t>−3 % tonelaje · más rehandling</a:t>
            </a:r>
          </a:p>
        </p:txBody>
      </p:sp>
      <p:cxnSp>
        <p:nvCxnSpPr>
          <p:cNvPr id="17" name="Rama C"/>
          <p:cNvCxnSpPr/>
          <p:nvPr/>
        </p:nvCxnSpPr>
        <p:spPr>
          <a:xfrm>
            <a:off x="3035808" y="3611880"/>
            <a:ext cx="685800" cy="1069848"/>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Escenario C"/>
          <p:cNvSpPr/>
          <p:nvPr/>
        </p:nvSpPr>
        <p:spPr>
          <a:xfrm>
            <a:off x="3767328" y="4315968"/>
            <a:ext cx="3840480" cy="7315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3904488" y="4315968"/>
            <a:ext cx="365760" cy="731520"/>
          </a:xfrm>
          <a:prstGeom prst="rect">
            <a:avLst/>
          </a:prstGeom>
          <a:noFill/>
        </p:spPr>
        <p:txBody>
          <a:bodyPr wrap="square" lIns="0" tIns="0" rIns="0" bIns="0" anchor="ctr">
            <a:spAutoFit/>
          </a:bodyPr>
          <a:lstStyle/>
          <a:p>
            <a:pPr algn="l">
              <a:spcAft>
                <a:spcPts val="600"/>
              </a:spcAft>
            </a:pPr>
            <a:r>
              <a:rPr sz="1600" b="1" i="0">
                <a:solidFill>
                  <a:srgbClr val="85D5E6"/>
                </a:solidFill>
                <a:effectLst>
                  <a:glow rad="63500">
                    <a:srgbClr val="001633">
                      <a:alpha val="85000"/>
                    </a:srgbClr>
                  </a:glow>
                </a:effectLst>
                <a:latin typeface="Montserrat"/>
              </a:rPr>
              <a:t>C</a:t>
            </a:r>
          </a:p>
        </p:txBody>
      </p:sp>
      <p:sp>
        <p:nvSpPr>
          <p:cNvPr id="20" name="TextBox 19"/>
          <p:cNvSpPr txBox="1"/>
          <p:nvPr/>
        </p:nvSpPr>
        <p:spPr>
          <a:xfrm>
            <a:off x="4315968" y="4315968"/>
            <a:ext cx="3200400" cy="731520"/>
          </a:xfrm>
          <a:prstGeom prst="rect">
            <a:avLst/>
          </a:prstGeom>
          <a:noFill/>
        </p:spPr>
        <p:txBody>
          <a:bodyPr wrap="square" lIns="0" tIns="0" rIns="0" bIns="0" anchor="ctr">
            <a:spAutoFit/>
          </a:bodyPr>
          <a:lstStyle/>
          <a:p>
            <a:pPr algn="l">
              <a:spcAft>
                <a:spcPts val="0"/>
              </a:spcAft>
            </a:pPr>
            <a:r>
              <a:rPr sz="1050" b="1" i="0">
                <a:solidFill>
                  <a:srgbClr val="FFFFFF"/>
                </a:solidFill>
                <a:effectLst>
                  <a:glow rad="63500">
                    <a:srgbClr val="001633">
                      <a:alpha val="85000"/>
                    </a:srgbClr>
                  </a:glow>
                </a:effectLst>
                <a:latin typeface="Montserrat"/>
              </a:rPr>
              <a:t>esperar la reparación</a:t>
            </a:r>
          </a:p>
          <a:p>
            <a:pPr algn="l">
              <a:spcAft>
                <a:spcPts val="0"/>
              </a:spcAft>
            </a:pPr>
            <a:r>
              <a:rPr sz="950" b="0" i="0">
                <a:solidFill>
                  <a:srgbClr val="A9B8C9"/>
                </a:solidFill>
                <a:effectLst>
                  <a:glow rad="63500">
                    <a:srgbClr val="001633">
                      <a:alpha val="85000"/>
                    </a:srgbClr>
                  </a:glow>
                </a:effectLst>
                <a:latin typeface="Montserrat"/>
              </a:rPr>
              <a:t>−14 % tonelaje · colas largas</a:t>
            </a:r>
          </a:p>
        </p:txBody>
      </p:sp>
      <p:sp>
        <p:nvSpPr>
          <p:cNvPr id="21" name="Tarjeta Más rápido que el real"/>
          <p:cNvSpPr/>
          <p:nvPr/>
        </p:nvSpPr>
        <p:spPr>
          <a:xfrm>
            <a:off x="7973568" y="2487168"/>
            <a:ext cx="329184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Borde Más rápido que el real"/>
          <p:cNvSpPr/>
          <p:nvPr/>
        </p:nvSpPr>
        <p:spPr>
          <a:xfrm>
            <a:off x="7973568" y="2487168"/>
            <a:ext cx="3291840" cy="54864"/>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Ícono rocket" descr="rocket-white.png"/>
          <p:cNvPicPr>
            <a:picLocks noChangeAspect="1"/>
          </p:cNvPicPr>
          <p:nvPr/>
        </p:nvPicPr>
        <p:blipFill>
          <a:blip r:embed="rId3"/>
          <a:stretch>
            <a:fillRect/>
          </a:stretch>
        </p:blipFill>
        <p:spPr>
          <a:xfrm>
            <a:off x="8138160" y="2670048"/>
            <a:ext cx="292608" cy="292608"/>
          </a:xfrm>
          <a:prstGeom prst="rect">
            <a:avLst/>
          </a:prstGeom>
        </p:spPr>
      </p:pic>
      <p:sp>
        <p:nvSpPr>
          <p:cNvPr id="24" name="TextBox 23"/>
          <p:cNvSpPr txBox="1"/>
          <p:nvPr/>
        </p:nvSpPr>
        <p:spPr>
          <a:xfrm>
            <a:off x="8549640" y="2615184"/>
            <a:ext cx="260604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Más rápido que el real</a:t>
            </a:r>
          </a:p>
        </p:txBody>
      </p:sp>
      <p:sp>
        <p:nvSpPr>
          <p:cNvPr id="25" name="TextBox 24"/>
          <p:cNvSpPr txBox="1"/>
          <p:nvPr/>
        </p:nvSpPr>
        <p:spPr>
          <a:xfrm>
            <a:off x="8138160" y="3054096"/>
            <a:ext cx="2999232" cy="576072"/>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Las 8 horas del turno se simulan en segundos; los escenarios corren en paralelo.</a:t>
            </a:r>
          </a:p>
        </p:txBody>
      </p:sp>
      <p:sp>
        <p:nvSpPr>
          <p:cNvPr id="26" name="Tarjeta Con incertidumbre"/>
          <p:cNvSpPr/>
          <p:nvPr/>
        </p:nvSpPr>
        <p:spPr>
          <a:xfrm>
            <a:off x="7973568" y="3813048"/>
            <a:ext cx="3291840" cy="1234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Borde Con incertidumbre"/>
          <p:cNvSpPr/>
          <p:nvPr/>
        </p:nvSpPr>
        <p:spPr>
          <a:xfrm>
            <a:off x="7973568" y="3813048"/>
            <a:ext cx="329184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8" name="Ícono gauge" descr="gauge-orange.png"/>
          <p:cNvPicPr>
            <a:picLocks noChangeAspect="1"/>
          </p:cNvPicPr>
          <p:nvPr/>
        </p:nvPicPr>
        <p:blipFill>
          <a:blip r:embed="rId4"/>
          <a:stretch>
            <a:fillRect/>
          </a:stretch>
        </p:blipFill>
        <p:spPr>
          <a:xfrm>
            <a:off x="8138160" y="3995928"/>
            <a:ext cx="292608" cy="292608"/>
          </a:xfrm>
          <a:prstGeom prst="rect">
            <a:avLst/>
          </a:prstGeom>
        </p:spPr>
      </p:pic>
      <p:sp>
        <p:nvSpPr>
          <p:cNvPr id="29" name="TextBox 28"/>
          <p:cNvSpPr txBox="1"/>
          <p:nvPr/>
        </p:nvSpPr>
        <p:spPr>
          <a:xfrm>
            <a:off x="8549640" y="3941064"/>
            <a:ext cx="260604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Con incertidumbre</a:t>
            </a:r>
          </a:p>
        </p:txBody>
      </p:sp>
      <p:sp>
        <p:nvSpPr>
          <p:cNvPr id="30" name="TextBox 29"/>
          <p:cNvSpPr txBox="1"/>
          <p:nvPr/>
        </p:nvSpPr>
        <p:spPr>
          <a:xfrm>
            <a:off x="8138160" y="4379976"/>
            <a:ext cx="2999232" cy="576072"/>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Cada resultado es un rango, no un número: el modelo no es perfecto.</a:t>
            </a:r>
          </a:p>
        </p:txBody>
      </p:sp>
      <p:sp>
        <p:nvSpPr>
          <p:cNvPr id="31" name="TextBox 30"/>
          <p:cNvSpPr txBox="1"/>
          <p:nvPr/>
        </p:nvSpPr>
        <p:spPr>
          <a:xfrm>
            <a:off x="1252728" y="5193792"/>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CÓMO SE HACE</a:t>
            </a:r>
          </a:p>
        </p:txBody>
      </p:sp>
      <p:sp>
        <p:nvSpPr>
          <p:cNvPr id="32" name="Etiqueta 1 · copiar el estado del gemelo"/>
          <p:cNvSpPr/>
          <p:nvPr/>
        </p:nvSpPr>
        <p:spPr>
          <a:xfrm>
            <a:off x="1252728" y="5422392"/>
            <a:ext cx="233172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xtBox 32"/>
          <p:cNvSpPr txBox="1"/>
          <p:nvPr/>
        </p:nvSpPr>
        <p:spPr>
          <a:xfrm>
            <a:off x="1252728" y="5422392"/>
            <a:ext cx="2331720" cy="384048"/>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1 · copiar el estado del gemelo</a:t>
            </a:r>
          </a:p>
        </p:txBody>
      </p:sp>
      <p:cxnSp>
        <p:nvCxnSpPr>
          <p:cNvPr id="34" name="Connector 33"/>
          <p:cNvCxnSpPr/>
          <p:nvPr/>
        </p:nvCxnSpPr>
        <p:spPr>
          <a:xfrm>
            <a:off x="3602736" y="5614416"/>
            <a:ext cx="192024"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Etiqueta 2 · simular cada decisión en paralelo"/>
          <p:cNvSpPr/>
          <p:nvPr/>
        </p:nvSpPr>
        <p:spPr>
          <a:xfrm>
            <a:off x="3813048" y="5422392"/>
            <a:ext cx="233172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p:cNvSpPr txBox="1"/>
          <p:nvPr/>
        </p:nvSpPr>
        <p:spPr>
          <a:xfrm>
            <a:off x="3813048" y="5422392"/>
            <a:ext cx="2331720" cy="384048"/>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2 · simular cada decisión en paralelo</a:t>
            </a:r>
          </a:p>
        </p:txBody>
      </p:sp>
      <p:cxnSp>
        <p:nvCxnSpPr>
          <p:cNvPr id="37" name="Connector 36"/>
          <p:cNvCxnSpPr/>
          <p:nvPr/>
        </p:nvCxnSpPr>
        <p:spPr>
          <a:xfrm>
            <a:off x="6163056" y="5614416"/>
            <a:ext cx="192024"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Etiqueta 3 · comparar tonelaje, colas y costo"/>
          <p:cNvSpPr/>
          <p:nvPr/>
        </p:nvSpPr>
        <p:spPr>
          <a:xfrm>
            <a:off x="6373368" y="5422392"/>
            <a:ext cx="233172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373368" y="5422392"/>
            <a:ext cx="2331720" cy="384048"/>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3 · comparar tonelaje, colas y costo</a:t>
            </a:r>
          </a:p>
        </p:txBody>
      </p:sp>
      <p:cxnSp>
        <p:nvCxnSpPr>
          <p:cNvPr id="40" name="Connector 39"/>
          <p:cNvCxnSpPr/>
          <p:nvPr/>
        </p:nvCxnSpPr>
        <p:spPr>
          <a:xfrm>
            <a:off x="8723376" y="5614416"/>
            <a:ext cx="192024"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Etiqueta 4 · el despachador elige"/>
          <p:cNvSpPr/>
          <p:nvPr/>
        </p:nvSpPr>
        <p:spPr>
          <a:xfrm>
            <a:off x="8933688" y="5422392"/>
            <a:ext cx="2331720" cy="384048"/>
          </a:xfrm>
          <a:prstGeom prst="rect">
            <a:avLst/>
          </a:prstGeom>
          <a:solidFill>
            <a:srgbClr val="001633"/>
          </a:solidFill>
          <a:ln w="9525">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TextBox 41"/>
          <p:cNvSpPr txBox="1"/>
          <p:nvPr/>
        </p:nvSpPr>
        <p:spPr>
          <a:xfrm>
            <a:off x="8933688" y="5422392"/>
            <a:ext cx="2331720" cy="384048"/>
          </a:xfrm>
          <a:prstGeom prst="rect">
            <a:avLst/>
          </a:prstGeom>
          <a:noFill/>
        </p:spPr>
        <p:txBody>
          <a:bodyPr wrap="square" lIns="0" tIns="0" rIns="0" bIns="0" anchor="ctr">
            <a:spAutoFit/>
          </a:bodyPr>
          <a:lstStyle/>
          <a:p>
            <a:pPr algn="ctr">
              <a:spcAft>
                <a:spcPts val="600"/>
              </a:spcAft>
            </a:pPr>
            <a:r>
              <a:rPr sz="900" b="1" i="0">
                <a:solidFill>
                  <a:srgbClr val="FFFFFF"/>
                </a:solidFill>
                <a:effectLst>
                  <a:glow rad="63500">
                    <a:srgbClr val="001633">
                      <a:alpha val="85000"/>
                    </a:srgbClr>
                  </a:glow>
                </a:effectLst>
                <a:latin typeface="Montserrat"/>
              </a:rPr>
              <a:t>4 · el despachador elige</a:t>
            </a:r>
          </a:p>
        </p:txBody>
      </p:sp>
      <p:sp>
        <p:nvSpPr>
          <p:cNvPr id="4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Escenario y resultados ilustrativos</a:t>
            </a:r>
          </a:p>
        </p:txBody>
      </p:sp>
      <p:sp>
        <p:nvSpPr>
          <p:cNvPr id="4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4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4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2" name="Avance III actual"/>
          <p:cNvSpPr/>
          <p:nvPr/>
        </p:nvSpPr>
        <p:spPr>
          <a:xfrm>
            <a:off x="5001768" y="6510528"/>
            <a:ext cx="1553005"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3"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54"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27/31 </a:t>
            </a:r>
            <a:r>
              <a:rPr sz="1000" b="0" i="0">
                <a:solidFill>
                  <a:srgbClr val="A9B8C9"/>
                </a:solidFill>
                <a:effectLst>
                  <a:glow rad="63500">
                    <a:srgbClr val="001633">
                      <a:alpha val="85000"/>
                    </a:srgbClr>
                  </a:glow>
                </a:effectLst>
                <a:latin typeface="Montserrat"/>
              </a:rPr>
              <a:t>· Gemelos Digitales para Minería 4.0 · 64</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Del escenario al control: cuatro escalones de autonomía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5 · DÓNDE CORRE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Los mismos modelos sirven para recomendar o para actuar. Subir de escalón exige más confianza en el modelo, no un modelo distinto.</a:t>
            </a:r>
          </a:p>
        </p:txBody>
      </p:sp>
      <p:sp>
        <p:nvSpPr>
          <p:cNvPr id="7" name="Escalón What-if manual"/>
          <p:cNvSpPr/>
          <p:nvPr/>
        </p:nvSpPr>
        <p:spPr>
          <a:xfrm>
            <a:off x="1252728" y="4069080"/>
            <a:ext cx="2400300" cy="17373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389888" y="4160520"/>
            <a:ext cx="2171700" cy="274320"/>
          </a:xfrm>
          <a:prstGeom prst="rect">
            <a:avLst/>
          </a:prstGeom>
          <a:noFill/>
        </p:spPr>
        <p:txBody>
          <a:bodyPr wrap="square" lIns="0" tIns="0" rIns="0" bIns="0" anchor="t">
            <a:spAutoFit/>
          </a:bodyPr>
          <a:lstStyle/>
          <a:p>
            <a:pPr algn="l">
              <a:spcAft>
                <a:spcPts val="600"/>
              </a:spcAft>
            </a:pPr>
            <a:r>
              <a:rPr sz="1150" b="1" i="0">
                <a:solidFill>
                  <a:srgbClr val="FFFFFF"/>
                </a:solidFill>
                <a:effectLst>
                  <a:glow rad="63500">
                    <a:srgbClr val="001633">
                      <a:alpha val="85000"/>
                    </a:srgbClr>
                  </a:glow>
                </a:effectLst>
                <a:latin typeface="Montserrat"/>
              </a:rPr>
              <a:t>1 · What-if manual</a:t>
            </a:r>
          </a:p>
        </p:txBody>
      </p:sp>
      <p:sp>
        <p:nvSpPr>
          <p:cNvPr id="9" name="TextBox 8"/>
          <p:cNvSpPr txBox="1"/>
          <p:nvPr/>
        </p:nvSpPr>
        <p:spPr>
          <a:xfrm>
            <a:off x="1389888" y="4453128"/>
            <a:ext cx="2171700"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el ingeniero prueba escenarios y decide</a:t>
            </a:r>
          </a:p>
        </p:txBody>
      </p:sp>
      <p:sp>
        <p:nvSpPr>
          <p:cNvPr id="10" name="TextBox 9"/>
          <p:cNvSpPr txBox="1"/>
          <p:nvPr/>
        </p:nvSpPr>
        <p:spPr>
          <a:xfrm>
            <a:off x="1389888" y="4892040"/>
            <a:ext cx="21717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Molienda: </a:t>
            </a:r>
            <a:r>
              <a:rPr sz="850" b="0" i="0">
                <a:solidFill>
                  <a:srgbClr val="FFFFFF"/>
                </a:solidFill>
                <a:effectLst>
                  <a:glow rad="63500">
                    <a:srgbClr val="001633">
                      <a:alpha val="85000"/>
                    </a:srgbClr>
                  </a:glow>
                </a:effectLst>
                <a:latin typeface="Montserrat"/>
              </a:rPr>
              <a:t>probar un cambio de alimentación antes del turno</a:t>
            </a:r>
          </a:p>
        </p:txBody>
      </p:sp>
      <p:sp>
        <p:nvSpPr>
          <p:cNvPr id="11" name="Etiqueta grado: Modelo"/>
          <p:cNvSpPr/>
          <p:nvPr/>
        </p:nvSpPr>
        <p:spPr>
          <a:xfrm>
            <a:off x="1389888" y="5413248"/>
            <a:ext cx="212598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2" name="TextBox 11"/>
          <p:cNvSpPr txBox="1"/>
          <p:nvPr/>
        </p:nvSpPr>
        <p:spPr>
          <a:xfrm>
            <a:off x="1389888" y="5413248"/>
            <a:ext cx="2125980" cy="27432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grado: Modelo</a:t>
            </a:r>
          </a:p>
        </p:txBody>
      </p:sp>
      <p:sp>
        <p:nvSpPr>
          <p:cNvPr id="13" name="Escalón Recomendación"/>
          <p:cNvSpPr/>
          <p:nvPr/>
        </p:nvSpPr>
        <p:spPr>
          <a:xfrm>
            <a:off x="3790188" y="3611880"/>
            <a:ext cx="2400300" cy="21945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3927348" y="3703320"/>
            <a:ext cx="2171700" cy="274320"/>
          </a:xfrm>
          <a:prstGeom prst="rect">
            <a:avLst/>
          </a:prstGeom>
          <a:noFill/>
        </p:spPr>
        <p:txBody>
          <a:bodyPr wrap="square" lIns="0" tIns="0" rIns="0" bIns="0" anchor="t">
            <a:spAutoFit/>
          </a:bodyPr>
          <a:lstStyle/>
          <a:p>
            <a:pPr algn="l">
              <a:spcAft>
                <a:spcPts val="600"/>
              </a:spcAft>
            </a:pPr>
            <a:r>
              <a:rPr sz="1150" b="1" i="0">
                <a:solidFill>
                  <a:srgbClr val="FFFFFF"/>
                </a:solidFill>
                <a:effectLst>
                  <a:glow rad="63500">
                    <a:srgbClr val="001633">
                      <a:alpha val="85000"/>
                    </a:srgbClr>
                  </a:glow>
                </a:effectLst>
                <a:latin typeface="Montserrat"/>
              </a:rPr>
              <a:t>2 · Recomendación</a:t>
            </a:r>
          </a:p>
        </p:txBody>
      </p:sp>
      <p:sp>
        <p:nvSpPr>
          <p:cNvPr id="15" name="TextBox 14"/>
          <p:cNvSpPr txBox="1"/>
          <p:nvPr/>
        </p:nvSpPr>
        <p:spPr>
          <a:xfrm>
            <a:off x="3927348" y="3995928"/>
            <a:ext cx="2171700"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el gemelo optimiza y sugiere; el operador decide</a:t>
            </a:r>
          </a:p>
        </p:txBody>
      </p:sp>
      <p:sp>
        <p:nvSpPr>
          <p:cNvPr id="16" name="TextBox 15"/>
          <p:cNvSpPr txBox="1"/>
          <p:nvPr/>
        </p:nvSpPr>
        <p:spPr>
          <a:xfrm>
            <a:off x="3927348" y="4434840"/>
            <a:ext cx="21717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Molienda: </a:t>
            </a:r>
            <a:r>
              <a:rPr sz="850" b="0" i="0">
                <a:solidFill>
                  <a:srgbClr val="FFFFFF"/>
                </a:solidFill>
                <a:effectLst>
                  <a:glow rad="63500">
                    <a:srgbClr val="001633">
                      <a:alpha val="85000"/>
                    </a:srgbClr>
                  </a:glow>
                </a:effectLst>
                <a:latin typeface="Montserrat"/>
              </a:rPr>
              <a:t>sugiere la velocidad del molino cada hora</a:t>
            </a:r>
          </a:p>
        </p:txBody>
      </p:sp>
      <p:sp>
        <p:nvSpPr>
          <p:cNvPr id="17" name="Etiqueta grado: Sombra"/>
          <p:cNvSpPr/>
          <p:nvPr/>
        </p:nvSpPr>
        <p:spPr>
          <a:xfrm>
            <a:off x="3927348" y="5413248"/>
            <a:ext cx="212598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3927348" y="5413248"/>
            <a:ext cx="2125980" cy="27432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grado: Sombra</a:t>
            </a:r>
          </a:p>
        </p:txBody>
      </p:sp>
      <p:sp>
        <p:nvSpPr>
          <p:cNvPr id="19" name="Escalón Control supervisado"/>
          <p:cNvSpPr/>
          <p:nvPr/>
        </p:nvSpPr>
        <p:spPr>
          <a:xfrm>
            <a:off x="6327648" y="3154680"/>
            <a:ext cx="2400300" cy="265176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6464808" y="3246120"/>
            <a:ext cx="2171700" cy="274320"/>
          </a:xfrm>
          <a:prstGeom prst="rect">
            <a:avLst/>
          </a:prstGeom>
          <a:noFill/>
        </p:spPr>
        <p:txBody>
          <a:bodyPr wrap="square" lIns="0" tIns="0" rIns="0" bIns="0" anchor="t">
            <a:spAutoFit/>
          </a:bodyPr>
          <a:lstStyle/>
          <a:p>
            <a:pPr algn="l">
              <a:spcAft>
                <a:spcPts val="600"/>
              </a:spcAft>
            </a:pPr>
            <a:r>
              <a:rPr sz="1150" b="1" i="0">
                <a:solidFill>
                  <a:srgbClr val="FFFFFF"/>
                </a:solidFill>
                <a:effectLst>
                  <a:glow rad="63500">
                    <a:srgbClr val="001633">
                      <a:alpha val="85000"/>
                    </a:srgbClr>
                  </a:glow>
                </a:effectLst>
                <a:latin typeface="Montserrat"/>
              </a:rPr>
              <a:t>3 · Control supervisado</a:t>
            </a:r>
          </a:p>
        </p:txBody>
      </p:sp>
      <p:sp>
        <p:nvSpPr>
          <p:cNvPr id="21" name="TextBox 20"/>
          <p:cNvSpPr txBox="1"/>
          <p:nvPr/>
        </p:nvSpPr>
        <p:spPr>
          <a:xfrm>
            <a:off x="6464808" y="3538728"/>
            <a:ext cx="2171700"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un MPC propone consignas que el operador aprueba</a:t>
            </a:r>
          </a:p>
        </p:txBody>
      </p:sp>
      <p:sp>
        <p:nvSpPr>
          <p:cNvPr id="22" name="TextBox 21"/>
          <p:cNvSpPr txBox="1"/>
          <p:nvPr/>
        </p:nvSpPr>
        <p:spPr>
          <a:xfrm>
            <a:off x="6464808" y="3977640"/>
            <a:ext cx="21717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Molienda: </a:t>
            </a:r>
            <a:r>
              <a:rPr sz="850" b="0" i="0">
                <a:solidFill>
                  <a:srgbClr val="FFFFFF"/>
                </a:solidFill>
                <a:effectLst>
                  <a:glow rad="63500">
                    <a:srgbClr val="001633">
                      <a:alpha val="85000"/>
                    </a:srgbClr>
                  </a:glow>
                </a:effectLst>
                <a:latin typeface="Montserrat"/>
              </a:rPr>
              <a:t>propone agua y alimentación; el operador acepta</a:t>
            </a:r>
          </a:p>
        </p:txBody>
      </p:sp>
      <p:sp>
        <p:nvSpPr>
          <p:cNvPr id="23" name="Etiqueta grado: Sombra"/>
          <p:cNvSpPr/>
          <p:nvPr/>
        </p:nvSpPr>
        <p:spPr>
          <a:xfrm>
            <a:off x="6464808" y="5413248"/>
            <a:ext cx="2125980" cy="274320"/>
          </a:xfrm>
          <a:prstGeom prst="rect">
            <a:avLst/>
          </a:prstGeom>
          <a:solidFill>
            <a:srgbClr val="001633"/>
          </a:solidFill>
          <a:ln w="9525">
            <a:solidFill>
              <a:srgbClr val="2A456B"/>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64808" y="5413248"/>
            <a:ext cx="2125980" cy="274320"/>
          </a:xfrm>
          <a:prstGeom prst="rect">
            <a:avLst/>
          </a:prstGeom>
          <a:noFill/>
        </p:spPr>
        <p:txBody>
          <a:bodyPr wrap="square" lIns="0" tIns="0" rIns="0" bIns="0" anchor="ctr">
            <a:spAutoFit/>
          </a:bodyPr>
          <a:lstStyle/>
          <a:p>
            <a:pPr algn="ctr">
              <a:spcAft>
                <a:spcPts val="600"/>
              </a:spcAft>
            </a:pPr>
            <a:r>
              <a:rPr sz="850" b="1" i="0">
                <a:solidFill>
                  <a:srgbClr val="FFFFFF"/>
                </a:solidFill>
                <a:effectLst>
                  <a:glow rad="63500">
                    <a:srgbClr val="001633">
                      <a:alpha val="85000"/>
                    </a:srgbClr>
                  </a:glow>
                </a:effectLst>
                <a:latin typeface="Montserrat"/>
              </a:rPr>
              <a:t>grado: Sombra</a:t>
            </a:r>
          </a:p>
        </p:txBody>
      </p:sp>
      <p:sp>
        <p:nvSpPr>
          <p:cNvPr id="25" name="Escalón Lazo cerrado"/>
          <p:cNvSpPr/>
          <p:nvPr/>
        </p:nvSpPr>
        <p:spPr>
          <a:xfrm>
            <a:off x="8865108" y="2697480"/>
            <a:ext cx="2400300" cy="310896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TextBox 25"/>
          <p:cNvSpPr txBox="1"/>
          <p:nvPr/>
        </p:nvSpPr>
        <p:spPr>
          <a:xfrm>
            <a:off x="9002268" y="2788920"/>
            <a:ext cx="2171700" cy="274320"/>
          </a:xfrm>
          <a:prstGeom prst="rect">
            <a:avLst/>
          </a:prstGeom>
          <a:noFill/>
        </p:spPr>
        <p:txBody>
          <a:bodyPr wrap="square" lIns="0" tIns="0" rIns="0" bIns="0" anchor="t">
            <a:spAutoFit/>
          </a:bodyPr>
          <a:lstStyle/>
          <a:p>
            <a:pPr algn="l">
              <a:spcAft>
                <a:spcPts val="600"/>
              </a:spcAft>
            </a:pPr>
            <a:r>
              <a:rPr sz="1150" b="1" i="0">
                <a:solidFill>
                  <a:srgbClr val="FFAB40"/>
                </a:solidFill>
                <a:effectLst>
                  <a:glow rad="63500">
                    <a:srgbClr val="001633">
                      <a:alpha val="85000"/>
                    </a:srgbClr>
                  </a:glow>
                </a:effectLst>
                <a:latin typeface="Montserrat"/>
              </a:rPr>
              <a:t>4 · Lazo cerrado</a:t>
            </a:r>
          </a:p>
        </p:txBody>
      </p:sp>
      <p:sp>
        <p:nvSpPr>
          <p:cNvPr id="27" name="TextBox 26"/>
          <p:cNvSpPr txBox="1"/>
          <p:nvPr/>
        </p:nvSpPr>
        <p:spPr>
          <a:xfrm>
            <a:off x="9002268" y="3081528"/>
            <a:ext cx="2171700" cy="411480"/>
          </a:xfrm>
          <a:prstGeom prst="rect">
            <a:avLst/>
          </a:prstGeom>
          <a:noFill/>
        </p:spPr>
        <p:txBody>
          <a:bodyPr wrap="square" lIns="0" tIns="0" rIns="0" bIns="0" anchor="t">
            <a:spAutoFit/>
          </a:bodyPr>
          <a:lstStyle/>
          <a:p>
            <a:pPr algn="l">
              <a:spcAft>
                <a:spcPts val="600"/>
              </a:spcAft>
            </a:pPr>
            <a:r>
              <a:rPr sz="850" b="0" i="0">
                <a:solidFill>
                  <a:srgbClr val="A9B8C9"/>
                </a:solidFill>
                <a:effectLst>
                  <a:glow rad="63500">
                    <a:srgbClr val="001633">
                      <a:alpha val="85000"/>
                    </a:srgbClr>
                  </a:glow>
                </a:effectLst>
                <a:latin typeface="Montserrat"/>
              </a:rPr>
              <a:t>el MPC actúa solo dentro de límites seguros</a:t>
            </a:r>
          </a:p>
        </p:txBody>
      </p:sp>
      <p:sp>
        <p:nvSpPr>
          <p:cNvPr id="28" name="TextBox 27"/>
          <p:cNvSpPr txBox="1"/>
          <p:nvPr/>
        </p:nvSpPr>
        <p:spPr>
          <a:xfrm>
            <a:off x="9002268" y="3520440"/>
            <a:ext cx="2171700" cy="502920"/>
          </a:xfrm>
          <a:prstGeom prst="rect">
            <a:avLst/>
          </a:prstGeom>
          <a:noFill/>
        </p:spPr>
        <p:txBody>
          <a:bodyPr wrap="square" lIns="0" tIns="0" rIns="0" bIns="0" anchor="t">
            <a:spAutoFit/>
          </a:bodyPr>
          <a:lstStyle/>
          <a:p>
            <a:pPr algn="l">
              <a:spcAft>
                <a:spcPts val="600"/>
              </a:spcAft>
            </a:pPr>
            <a:r>
              <a:rPr sz="850" b="1" i="0">
                <a:solidFill>
                  <a:srgbClr val="FFAB40"/>
                </a:solidFill>
                <a:effectLst>
                  <a:glow rad="63500">
                    <a:srgbClr val="001633">
                      <a:alpha val="85000"/>
                    </a:srgbClr>
                  </a:glow>
                </a:effectLst>
                <a:latin typeface="Montserrat"/>
              </a:rPr>
              <a:t>Molienda: </a:t>
            </a:r>
            <a:r>
              <a:rPr sz="850" b="0" i="0">
                <a:solidFill>
                  <a:srgbClr val="FFFFFF"/>
                </a:solidFill>
                <a:effectLst>
                  <a:glow rad="63500">
                    <a:srgbClr val="001633">
                      <a:alpha val="85000"/>
                    </a:srgbClr>
                  </a:glow>
                </a:effectLst>
                <a:latin typeface="Montserrat"/>
              </a:rPr>
              <a:t>ajusta la alimentación cada pocos segundos</a:t>
            </a:r>
          </a:p>
        </p:txBody>
      </p:sp>
      <p:sp>
        <p:nvSpPr>
          <p:cNvPr id="29" name="Etiqueta grado: Gemelo"/>
          <p:cNvSpPr/>
          <p:nvPr/>
        </p:nvSpPr>
        <p:spPr>
          <a:xfrm>
            <a:off x="9002268" y="5413248"/>
            <a:ext cx="2125980" cy="274320"/>
          </a:xfrm>
          <a:prstGeom prst="rect">
            <a:avLst/>
          </a:prstGeom>
          <a:solidFill>
            <a:srgbClr val="001633"/>
          </a:solidFill>
          <a:ln w="95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extBox 29"/>
          <p:cNvSpPr txBox="1"/>
          <p:nvPr/>
        </p:nvSpPr>
        <p:spPr>
          <a:xfrm>
            <a:off x="9002268" y="5413248"/>
            <a:ext cx="2125980" cy="274320"/>
          </a:xfrm>
          <a:prstGeom prst="rect">
            <a:avLst/>
          </a:prstGeom>
          <a:noFill/>
        </p:spPr>
        <p:txBody>
          <a:bodyPr wrap="square" lIns="0" tIns="0" rIns="0" bIns="0" anchor="ctr">
            <a:spAutoFit/>
          </a:bodyPr>
          <a:lstStyle/>
          <a:p>
            <a:pPr algn="ctr">
              <a:spcAft>
                <a:spcPts val="600"/>
              </a:spcAft>
            </a:pPr>
            <a:r>
              <a:rPr sz="850" b="1" i="0">
                <a:solidFill>
                  <a:srgbClr val="FFAB40"/>
                </a:solidFill>
                <a:effectLst>
                  <a:glow rad="63500">
                    <a:srgbClr val="001633">
                      <a:alpha val="85000"/>
                    </a:srgbClr>
                  </a:glow>
                </a:effectLst>
                <a:latin typeface="Montserrat"/>
              </a:rPr>
              <a:t>grado: Gemelo</a:t>
            </a:r>
          </a:p>
        </p:txBody>
      </p:sp>
      <p:cxnSp>
        <p:nvCxnSpPr>
          <p:cNvPr id="31" name="Más autonomía"/>
          <p:cNvCxnSpPr/>
          <p:nvPr/>
        </p:nvCxnSpPr>
        <p:spPr>
          <a:xfrm>
            <a:off x="1252728" y="2697480"/>
            <a:ext cx="2926080" cy="0"/>
          </a:xfrm>
          <a:prstGeom prst="line">
            <a:avLst/>
          </a:prstGeom>
          <a:ln w="19050">
            <a:solidFill>
              <a:srgbClr val="85D5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252728" y="2395728"/>
            <a:ext cx="3657600" cy="274320"/>
          </a:xfrm>
          <a:prstGeom prst="rect">
            <a:avLst/>
          </a:prstGeom>
          <a:noFill/>
        </p:spPr>
        <p:txBody>
          <a:bodyPr wrap="square" lIns="0" tIns="0" rIns="0" bIns="0" anchor="t">
            <a:spAutoFit/>
          </a:bodyPr>
          <a:lstStyle/>
          <a:p>
            <a:pPr algn="l">
              <a:spcAft>
                <a:spcPts val="600"/>
              </a:spcAft>
            </a:pPr>
            <a:r>
              <a:rPr sz="850" b="1" i="0">
                <a:solidFill>
                  <a:srgbClr val="85D5E6"/>
                </a:solidFill>
                <a:effectLst>
                  <a:glow rad="63500">
                    <a:srgbClr val="001633">
                      <a:alpha val="85000"/>
                    </a:srgbClr>
                  </a:glow>
                </a:effectLst>
                <a:latin typeface="Montserrat"/>
              </a:rPr>
              <a:t>más autonomía, más confianza exigida →</a:t>
            </a:r>
          </a:p>
        </p:txBody>
      </p:sp>
      <p:sp>
        <p:nvSpPr>
          <p:cNvPr id="33"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Grado de integración (Kritzinger) y autonomía (Arup): capítulo I · elaboración propia · ejemplos ilustrativos</a:t>
            </a:r>
          </a:p>
        </p:txBody>
      </p:sp>
      <p:sp>
        <p:nvSpPr>
          <p:cNvPr id="34"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5"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38"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41"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2" name="Avance III actual"/>
          <p:cNvSpPr/>
          <p:nvPr/>
        </p:nvSpPr>
        <p:spPr>
          <a:xfrm>
            <a:off x="5001768" y="6510528"/>
            <a:ext cx="1610523"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4"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28/31 </a:t>
            </a:r>
            <a:r>
              <a:rPr sz="1000" b="0" i="0">
                <a:solidFill>
                  <a:srgbClr val="A9B8C9"/>
                </a:solidFill>
                <a:effectLst>
                  <a:glow rad="63500">
                    <a:srgbClr val="001633">
                      <a:alpha val="85000"/>
                    </a:srgbClr>
                  </a:glow>
                </a:effectLst>
                <a:latin typeface="Montserrat"/>
              </a:rPr>
              <a:t>· Gemelos Digitales para Minería 4.0 · 65</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Cuando un parámetro se mueve solo, el gemelo está avisando algo de la planta</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6 · CÓMO SE MANTIENE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Algunos parámetros cambian lento: desgaste, ensuciamiento, colmatación. Si el gemelo los recalibra en línea, su tendencia es una señal de mantención.</a:t>
            </a:r>
          </a:p>
        </p:txBody>
      </p:sp>
      <p:sp>
        <p:nvSpPr>
          <p:cNvPr id="7" name="Área gráfico"/>
          <p:cNvSpPr/>
          <p:nvPr/>
        </p:nvSpPr>
        <p:spPr>
          <a:xfrm>
            <a:off x="1252728" y="2514600"/>
            <a:ext cx="6035040" cy="251460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252728" y="5056632"/>
            <a:ext cx="6035040" cy="182880"/>
          </a:xfrm>
          <a:prstGeom prst="rect">
            <a:avLst/>
          </a:prstGeom>
          <a:noFill/>
        </p:spPr>
        <p:txBody>
          <a:bodyPr wrap="square" lIns="0" tIns="0" rIns="0" bIns="0" anchor="t">
            <a:spAutoFit/>
          </a:bodyPr>
          <a:lstStyle/>
          <a:p>
            <a:pPr algn="r">
              <a:spcAft>
                <a:spcPts val="600"/>
              </a:spcAft>
            </a:pPr>
            <a:r>
              <a:rPr sz="800" b="0" i="0">
                <a:solidFill>
                  <a:srgbClr val="A9B8C9"/>
                </a:solidFill>
                <a:effectLst>
                  <a:glow rad="63500">
                    <a:srgbClr val="001633">
                      <a:alpha val="85000"/>
                    </a:srgbClr>
                  </a:glow>
                </a:effectLst>
                <a:latin typeface="Montserrat"/>
              </a:rPr>
              <a:t>semanas</a:t>
            </a:r>
          </a:p>
        </p:txBody>
      </p:sp>
      <p:sp>
        <p:nvSpPr>
          <p:cNvPr id="9" name="TextBox 8"/>
          <p:cNvSpPr txBox="1"/>
          <p:nvPr/>
        </p:nvSpPr>
        <p:spPr>
          <a:xfrm>
            <a:off x="1325880" y="2560320"/>
            <a:ext cx="6035040" cy="182880"/>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eficiencia estimada de levante (molino SAG)</a:t>
            </a:r>
          </a:p>
        </p:txBody>
      </p:sp>
      <p:sp>
        <p:nvSpPr>
          <p:cNvPr id="10" name="Parámetro estimado"/>
          <p:cNvSpPr/>
          <p:nvPr/>
        </p:nvSpPr>
        <p:spPr>
          <a:xfrm>
            <a:off x="1344168" y="2823839"/>
            <a:ext cx="5852160" cy="1347990"/>
          </a:xfrm>
          <a:custGeom>
            <a:avLst/>
            <a:gdLst/>
            <a:ahLst/>
            <a:cxnLst/>
            <a:rect l="l" t="t" r="r" b="b"/>
            <a:pathLst>
              <a:path w="5852160" h="1347990">
                <a:moveTo>
                  <a:pt x="0" y="67951"/>
                </a:moveTo>
                <a:lnTo>
                  <a:pt x="146304" y="0"/>
                </a:lnTo>
                <a:lnTo>
                  <a:pt x="292608" y="124526"/>
                </a:lnTo>
                <a:lnTo>
                  <a:pt x="438912" y="129424"/>
                </a:lnTo>
                <a:lnTo>
                  <a:pt x="585216" y="26515"/>
                </a:lnTo>
                <a:lnTo>
                  <a:pt x="731520" y="118753"/>
                </a:lnTo>
                <a:lnTo>
                  <a:pt x="877824" y="197723"/>
                </a:lnTo>
                <a:lnTo>
                  <a:pt x="1024128" y="94761"/>
                </a:lnTo>
                <a:lnTo>
                  <a:pt x="1170432" y="126996"/>
                </a:lnTo>
                <a:lnTo>
                  <a:pt x="1316736" y="257779"/>
                </a:lnTo>
                <a:lnTo>
                  <a:pt x="1463040" y="193462"/>
                </a:lnTo>
                <a:lnTo>
                  <a:pt x="1609344" y="160382"/>
                </a:lnTo>
                <a:lnTo>
                  <a:pt x="1755648" y="305690"/>
                </a:lnTo>
                <a:lnTo>
                  <a:pt x="1901952" y="307773"/>
                </a:lnTo>
                <a:lnTo>
                  <a:pt x="2048256" y="227311"/>
                </a:lnTo>
                <a:lnTo>
                  <a:pt x="2194560" y="346582"/>
                </a:lnTo>
                <a:lnTo>
                  <a:pt x="2340864" y="422296"/>
                </a:lnTo>
                <a:lnTo>
                  <a:pt x="2487168" y="329399"/>
                </a:lnTo>
                <a:lnTo>
                  <a:pt x="2633472" y="391963"/>
                </a:lnTo>
                <a:lnTo>
                  <a:pt x="2779776" y="525433"/>
                </a:lnTo>
                <a:lnTo>
                  <a:pt x="2926080" y="460347"/>
                </a:lnTo>
                <a:lnTo>
                  <a:pt x="3072384" y="455428"/>
                </a:lnTo>
                <a:lnTo>
                  <a:pt x="3218688" y="612798"/>
                </a:lnTo>
                <a:lnTo>
                  <a:pt x="3364992" y="607654"/>
                </a:lnTo>
                <a:lnTo>
                  <a:pt x="3511296" y="547836"/>
                </a:lnTo>
                <a:lnTo>
                  <a:pt x="3657600" y="688376"/>
                </a:lnTo>
                <a:lnTo>
                  <a:pt x="3803904" y="756493"/>
                </a:lnTo>
                <a:lnTo>
                  <a:pt x="3950208" y="673489"/>
                </a:lnTo>
                <a:lnTo>
                  <a:pt x="4096512" y="762992"/>
                </a:lnTo>
                <a:lnTo>
                  <a:pt x="4242816" y="894414"/>
                </a:lnTo>
                <a:lnTo>
                  <a:pt x="4389120" y="828529"/>
                </a:lnTo>
                <a:lnTo>
                  <a:pt x="4535424" y="850571"/>
                </a:lnTo>
                <a:lnTo>
                  <a:pt x="4681728" y="1015309"/>
                </a:lnTo>
                <a:lnTo>
                  <a:pt x="4828032" y="1002067"/>
                </a:lnTo>
                <a:lnTo>
                  <a:pt x="4974336" y="963391"/>
                </a:lnTo>
                <a:lnTo>
                  <a:pt x="5120640" y="1121297"/>
                </a:lnTo>
                <a:lnTo>
                  <a:pt x="5266944" y="1179662"/>
                </a:lnTo>
                <a:lnTo>
                  <a:pt x="5413248" y="1107912"/>
                </a:lnTo>
                <a:lnTo>
                  <a:pt x="5559552" y="1221916"/>
                </a:lnTo>
                <a:lnTo>
                  <a:pt x="5705856" y="1347990"/>
                </a:lnTo>
                <a:lnTo>
                  <a:pt x="5852160" y="1282544"/>
                </a:lnTo>
              </a:path>
            </a:pathLst>
          </a:custGeom>
          <a:noFill/>
          <a:ln w="254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1" name="Umbral"/>
          <p:cNvCxnSpPr/>
          <p:nvPr/>
        </p:nvCxnSpPr>
        <p:spPr>
          <a:xfrm>
            <a:off x="1252728" y="3973068"/>
            <a:ext cx="6035040" cy="0"/>
          </a:xfrm>
          <a:prstGeom prst="line">
            <a:avLst/>
          </a:prstGeom>
          <a:ln w="19050">
            <a:solidFill>
              <a:srgbClr val="FFAB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435608" y="4018788"/>
            <a:ext cx="2286000" cy="228600"/>
          </a:xfrm>
          <a:prstGeom prst="rect">
            <a:avLst/>
          </a:prstGeom>
          <a:noFill/>
        </p:spPr>
        <p:txBody>
          <a:bodyPr wrap="square" lIns="0" tIns="0" rIns="0" bIns="0" anchor="t">
            <a:spAutoFit/>
          </a:bodyPr>
          <a:lstStyle/>
          <a:p>
            <a:pPr algn="l">
              <a:spcAft>
                <a:spcPts val="600"/>
              </a:spcAft>
            </a:pPr>
            <a:r>
              <a:rPr sz="900" b="1" i="0">
                <a:solidFill>
                  <a:srgbClr val="FFAB40"/>
                </a:solidFill>
                <a:effectLst>
                  <a:glow rad="63500">
                    <a:srgbClr val="001633">
                      <a:alpha val="85000"/>
                    </a:srgbClr>
                  </a:glow>
                </a:effectLst>
                <a:latin typeface="Montserrat"/>
              </a:rPr>
              <a:t>umbral de mantención</a:t>
            </a:r>
          </a:p>
        </p:txBody>
      </p:sp>
      <p:sp>
        <p:nvSpPr>
          <p:cNvPr id="13" name="Alerta"/>
          <p:cNvSpPr/>
          <p:nvPr/>
        </p:nvSpPr>
        <p:spPr>
          <a:xfrm>
            <a:off x="6285585" y="3788075"/>
            <a:ext cx="182880" cy="1828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5371185" y="4172123"/>
            <a:ext cx="1828800" cy="411480"/>
          </a:xfrm>
          <a:prstGeom prst="rect">
            <a:avLst/>
          </a:prstGeom>
          <a:noFill/>
        </p:spPr>
        <p:txBody>
          <a:bodyPr wrap="square" lIns="0" tIns="0" rIns="0" bIns="0" anchor="t">
            <a:spAutoFit/>
          </a:bodyPr>
          <a:lstStyle/>
          <a:p>
            <a:pPr algn="ctr">
              <a:spcAft>
                <a:spcPts val="600"/>
              </a:spcAft>
            </a:pPr>
            <a:r>
              <a:rPr sz="800" b="1" i="0">
                <a:solidFill>
                  <a:srgbClr val="FFAB40"/>
                </a:solidFill>
                <a:effectLst>
                  <a:glow rad="63500">
                    <a:srgbClr val="001633">
                      <a:alpha val="85000"/>
                    </a:srgbClr>
                  </a:glow>
                </a:effectLst>
                <a:latin typeface="Montserrat"/>
              </a:rPr>
              <a:t>alerta: programar el cambio de revestimientos</a:t>
            </a:r>
          </a:p>
        </p:txBody>
      </p:sp>
      <p:sp>
        <p:nvSpPr>
          <p:cNvPr id="15" name="TextBox 14"/>
          <p:cNvSpPr txBox="1"/>
          <p:nvPr/>
        </p:nvSpPr>
        <p:spPr>
          <a:xfrm>
            <a:off x="7653528" y="2514600"/>
            <a:ext cx="36118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EL MISMO PATRÓN EN OTROS EQUIPOS</a:t>
            </a:r>
          </a:p>
        </p:txBody>
      </p:sp>
      <p:sp>
        <p:nvSpPr>
          <p:cNvPr id="16" name="Equipo Molino SAG"/>
          <p:cNvSpPr/>
          <p:nvPr/>
        </p:nvSpPr>
        <p:spPr>
          <a:xfrm>
            <a:off x="7653528" y="2761488"/>
            <a:ext cx="361188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Marca"/>
          <p:cNvSpPr/>
          <p:nvPr/>
        </p:nvSpPr>
        <p:spPr>
          <a:xfrm>
            <a:off x="7653528" y="2761488"/>
            <a:ext cx="45720"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TextBox 17"/>
          <p:cNvSpPr txBox="1"/>
          <p:nvPr/>
        </p:nvSpPr>
        <p:spPr>
          <a:xfrm>
            <a:off x="7790688" y="2761488"/>
            <a:ext cx="342900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Molino SAG</a:t>
            </a:r>
          </a:p>
          <a:p>
            <a:pPr algn="l">
              <a:spcAft>
                <a:spcPts val="0"/>
              </a:spcAft>
            </a:pPr>
            <a:r>
              <a:rPr sz="800" b="0" i="0">
                <a:solidFill>
                  <a:srgbClr val="A9B8C9"/>
                </a:solidFill>
                <a:effectLst>
                  <a:glow rad="63500">
                    <a:srgbClr val="001633">
                      <a:alpha val="85000"/>
                    </a:srgbClr>
                  </a:glow>
                </a:effectLst>
                <a:latin typeface="Montserrat"/>
              </a:rPr>
              <a:t>baja la eficiencia de levante → revestimientos gastados</a:t>
            </a:r>
          </a:p>
        </p:txBody>
      </p:sp>
      <p:sp>
        <p:nvSpPr>
          <p:cNvPr id="19" name="Equipo Bomba de pulpa"/>
          <p:cNvSpPr/>
          <p:nvPr/>
        </p:nvSpPr>
        <p:spPr>
          <a:xfrm>
            <a:off x="7653528" y="3328416"/>
            <a:ext cx="361188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Marca"/>
          <p:cNvSpPr/>
          <p:nvPr/>
        </p:nvSpPr>
        <p:spPr>
          <a:xfrm>
            <a:off x="7653528" y="3328416"/>
            <a:ext cx="45720"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p:cNvSpPr txBox="1"/>
          <p:nvPr/>
        </p:nvSpPr>
        <p:spPr>
          <a:xfrm>
            <a:off x="7790688" y="3328416"/>
            <a:ext cx="342900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Bomba de pulpa</a:t>
            </a:r>
          </a:p>
          <a:p>
            <a:pPr algn="l">
              <a:spcAft>
                <a:spcPts val="0"/>
              </a:spcAft>
            </a:pPr>
            <a:r>
              <a:rPr sz="800" b="0" i="0">
                <a:solidFill>
                  <a:srgbClr val="A9B8C9"/>
                </a:solidFill>
                <a:effectLst>
                  <a:glow rad="63500">
                    <a:srgbClr val="001633">
                      <a:alpha val="85000"/>
                    </a:srgbClr>
                  </a:glow>
                </a:effectLst>
                <a:latin typeface="Montserrat"/>
              </a:rPr>
              <a:t>cae la curva → impulsor gastado</a:t>
            </a:r>
          </a:p>
        </p:txBody>
      </p:sp>
      <p:sp>
        <p:nvSpPr>
          <p:cNvPr id="22" name="Equipo Correa"/>
          <p:cNvSpPr/>
          <p:nvPr/>
        </p:nvSpPr>
        <p:spPr>
          <a:xfrm>
            <a:off x="7653528" y="3895344"/>
            <a:ext cx="361188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Marca"/>
          <p:cNvSpPr/>
          <p:nvPr/>
        </p:nvSpPr>
        <p:spPr>
          <a:xfrm>
            <a:off x="7653528" y="3895344"/>
            <a:ext cx="45720"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7790688" y="3895344"/>
            <a:ext cx="342900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Correa</a:t>
            </a:r>
          </a:p>
          <a:p>
            <a:pPr algn="l">
              <a:spcAft>
                <a:spcPts val="0"/>
              </a:spcAft>
            </a:pPr>
            <a:r>
              <a:rPr sz="800" b="0" i="0">
                <a:solidFill>
                  <a:srgbClr val="A9B8C9"/>
                </a:solidFill>
                <a:effectLst>
                  <a:glow rad="63500">
                    <a:srgbClr val="001633">
                      <a:alpha val="85000"/>
                    </a:srgbClr>
                  </a:glow>
                </a:effectLst>
                <a:latin typeface="Montserrat"/>
              </a:rPr>
              <a:t>sube la fricción → polines dañados</a:t>
            </a:r>
          </a:p>
        </p:txBody>
      </p:sp>
      <p:sp>
        <p:nvSpPr>
          <p:cNvPr id="25" name="Equipo Hidrociclón"/>
          <p:cNvSpPr/>
          <p:nvPr/>
        </p:nvSpPr>
        <p:spPr>
          <a:xfrm>
            <a:off x="7653528" y="4462272"/>
            <a:ext cx="3611880" cy="5029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Marca"/>
          <p:cNvSpPr/>
          <p:nvPr/>
        </p:nvSpPr>
        <p:spPr>
          <a:xfrm>
            <a:off x="7653528" y="4462272"/>
            <a:ext cx="45720" cy="502920"/>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7790688" y="4462272"/>
            <a:ext cx="3429000" cy="502920"/>
          </a:xfrm>
          <a:prstGeom prst="rect">
            <a:avLst/>
          </a:prstGeom>
          <a:noFill/>
        </p:spPr>
        <p:txBody>
          <a:bodyPr wrap="square" lIns="0" tIns="0" rIns="0" bIns="0" anchor="ctr">
            <a:spAutoFit/>
          </a:bodyPr>
          <a:lstStyle/>
          <a:p>
            <a:pPr algn="l">
              <a:spcAft>
                <a:spcPts val="0"/>
              </a:spcAft>
            </a:pPr>
            <a:r>
              <a:rPr sz="950" b="1" i="0">
                <a:solidFill>
                  <a:srgbClr val="FFFFFF"/>
                </a:solidFill>
                <a:effectLst>
                  <a:glow rad="63500">
                    <a:srgbClr val="001633">
                      <a:alpha val="85000"/>
                    </a:srgbClr>
                  </a:glow>
                </a:effectLst>
                <a:latin typeface="Montserrat"/>
              </a:rPr>
              <a:t>Hidrociclón</a:t>
            </a:r>
          </a:p>
          <a:p>
            <a:pPr algn="l">
              <a:spcAft>
                <a:spcPts val="0"/>
              </a:spcAft>
            </a:pPr>
            <a:r>
              <a:rPr sz="800" b="0" i="0">
                <a:solidFill>
                  <a:srgbClr val="A9B8C9"/>
                </a:solidFill>
                <a:effectLst>
                  <a:glow rad="63500">
                    <a:srgbClr val="001633">
                      <a:alpha val="85000"/>
                    </a:srgbClr>
                  </a:glow>
                </a:effectLst>
                <a:latin typeface="Montserrat"/>
              </a:rPr>
              <a:t>cambia el corte → ápex desgastado</a:t>
            </a:r>
          </a:p>
        </p:txBody>
      </p:sp>
      <p:sp>
        <p:nvSpPr>
          <p:cNvPr id="28" name="Cuidado"/>
          <p:cNvSpPr/>
          <p:nvPr/>
        </p:nvSpPr>
        <p:spPr>
          <a:xfrm>
            <a:off x="1252728" y="5193792"/>
            <a:ext cx="10012680" cy="594360"/>
          </a:xfrm>
          <a:prstGeom prst="rect">
            <a:avLst/>
          </a:prstGeom>
          <a:solidFill>
            <a:srgbClr val="12335E"/>
          </a:solidFill>
          <a:ln w="1587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Ícono triangle-alert" descr="triangle-alert-orange.png"/>
          <p:cNvPicPr>
            <a:picLocks noChangeAspect="1"/>
          </p:cNvPicPr>
          <p:nvPr/>
        </p:nvPicPr>
        <p:blipFill>
          <a:blip r:embed="rId3"/>
          <a:stretch>
            <a:fillRect/>
          </a:stretch>
        </p:blipFill>
        <p:spPr>
          <a:xfrm>
            <a:off x="1417320" y="5340096"/>
            <a:ext cx="274320" cy="274320"/>
          </a:xfrm>
          <a:prstGeom prst="rect">
            <a:avLst/>
          </a:prstGeom>
        </p:spPr>
      </p:pic>
      <p:sp>
        <p:nvSpPr>
          <p:cNvPr id="30" name="TextBox 29"/>
          <p:cNvSpPr txBox="1"/>
          <p:nvPr/>
        </p:nvSpPr>
        <p:spPr>
          <a:xfrm>
            <a:off x="1801368" y="5193792"/>
            <a:ext cx="9281160" cy="594360"/>
          </a:xfrm>
          <a:prstGeom prst="rect">
            <a:avLst/>
          </a:prstGeom>
          <a:noFill/>
        </p:spPr>
        <p:txBody>
          <a:bodyPr wrap="square" lIns="0" tIns="0" rIns="0" bIns="0" anchor="ctr">
            <a:spAutoFit/>
          </a:bodyPr>
          <a:lstStyle/>
          <a:p>
            <a:pPr algn="l">
              <a:spcAft>
                <a:spcPts val="600"/>
              </a:spcAft>
            </a:pPr>
            <a:r>
              <a:rPr sz="1000" b="1" i="0">
                <a:solidFill>
                  <a:srgbClr val="FFAB40"/>
                </a:solidFill>
                <a:effectLst>
                  <a:glow rad="63500">
                    <a:srgbClr val="001633">
                      <a:alpha val="85000"/>
                    </a:srgbClr>
                  </a:glow>
                </a:effectLst>
                <a:latin typeface="Montserrat"/>
              </a:rPr>
              <a:t>Cuidado: </a:t>
            </a:r>
            <a:r>
              <a:rPr sz="950" b="0" i="0">
                <a:solidFill>
                  <a:srgbClr val="FFFFFF"/>
                </a:solidFill>
                <a:effectLst>
                  <a:glow rad="63500">
                    <a:srgbClr val="001633">
                      <a:alpha val="85000"/>
                    </a:srgbClr>
                  </a:glow>
                </a:effectLst>
                <a:latin typeface="Montserrat"/>
              </a:rPr>
              <a:t>antes de culpar al equipo, descartar el sensor. Si el parámetro salta de golpe, suele ser un instrumento que falla; si baja de a poco por semanas, suele ser desgaste real.</a:t>
            </a:r>
          </a:p>
        </p:txBody>
      </p:sp>
      <p:sp>
        <p:nvSpPr>
          <p:cNvPr id="3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Elaboración propia · gráfico esquemático, no datos reales</a:t>
            </a:r>
          </a:p>
        </p:txBody>
      </p:sp>
      <p:sp>
        <p:nvSpPr>
          <p:cNvPr id="3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3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3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III actual"/>
          <p:cNvSpPr/>
          <p:nvPr/>
        </p:nvSpPr>
        <p:spPr>
          <a:xfrm>
            <a:off x="5001768" y="6510528"/>
            <a:ext cx="1668042"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4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29/31 </a:t>
            </a:r>
            <a:r>
              <a:rPr sz="1000" b="0" i="0">
                <a:solidFill>
                  <a:srgbClr val="A9B8C9"/>
                </a:solidFill>
                <a:effectLst>
                  <a:glow rad="63500">
                    <a:srgbClr val="001633">
                      <a:alpha val="85000"/>
                    </a:srgbClr>
                  </a:glow>
                </a:effectLst>
                <a:latin typeface="Montserrat"/>
              </a:rPr>
              <a:t>· Gemelos Digitales para Minería 4.0 · 66</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El modelo también se mantiene: versiones, pruebas y despliegue</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DECISIÓN 6 · CÓMO SE MANTIENE</a:t>
            </a:r>
          </a:p>
        </p:txBody>
      </p:sp>
      <p:sp>
        <p:nvSpPr>
          <p:cNvPr id="6" name="TextBox 5"/>
          <p:cNvSpPr txBox="1"/>
          <p:nvPr/>
        </p:nvSpPr>
        <p:spPr>
          <a:xfrm>
            <a:off x="1252728" y="1828800"/>
            <a:ext cx="8595360" cy="548640"/>
          </a:xfrm>
          <a:prstGeom prst="rect">
            <a:avLst/>
          </a:prstGeom>
          <a:noFill/>
        </p:spPr>
        <p:txBody>
          <a:bodyPr wrap="square" lIns="0" tIns="0" rIns="0" bIns="0" anchor="t">
            <a:spAutoFit/>
          </a:bodyPr>
          <a:lstStyle/>
          <a:p>
            <a:pPr algn="l">
              <a:spcAft>
                <a:spcPts val="600"/>
              </a:spcAft>
            </a:pPr>
            <a:r>
              <a:rPr sz="1200" b="0" i="0">
                <a:solidFill>
                  <a:srgbClr val="FFFFFF"/>
                </a:solidFill>
                <a:effectLst>
                  <a:glow rad="63500">
                    <a:srgbClr val="001633">
                      <a:alpha val="85000"/>
                    </a:srgbClr>
                  </a:glow>
                </a:effectLst>
                <a:latin typeface="Montserrat"/>
              </a:rPr>
              <a:t>Un gemelo operativo es software en producción. Cada cambio del modelo se prueba y se versiona como cualquier sistema crítico de la faena.</a:t>
            </a:r>
          </a:p>
        </p:txBody>
      </p:sp>
      <p:sp>
        <p:nvSpPr>
          <p:cNvPr id="7" name="Desarrollar"/>
          <p:cNvSpPr/>
          <p:nvPr/>
        </p:nvSpPr>
        <p:spPr>
          <a:xfrm>
            <a:off x="3657600" y="2496312"/>
            <a:ext cx="493776" cy="493776"/>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8" name="Ícono pencil" descr="pencil-orange.png"/>
          <p:cNvPicPr>
            <a:picLocks noChangeAspect="1"/>
          </p:cNvPicPr>
          <p:nvPr/>
        </p:nvPicPr>
        <p:blipFill>
          <a:blip r:embed="rId3"/>
          <a:stretch>
            <a:fillRect/>
          </a:stretch>
        </p:blipFill>
        <p:spPr>
          <a:xfrm>
            <a:off x="3766231" y="2604943"/>
            <a:ext cx="276514" cy="276514"/>
          </a:xfrm>
          <a:prstGeom prst="rect">
            <a:avLst/>
          </a:prstGeom>
        </p:spPr>
      </p:pic>
      <p:sp>
        <p:nvSpPr>
          <p:cNvPr id="9" name="TextBox 8"/>
          <p:cNvSpPr txBox="1"/>
          <p:nvPr/>
        </p:nvSpPr>
        <p:spPr>
          <a:xfrm>
            <a:off x="4233672" y="2523744"/>
            <a:ext cx="1463040" cy="457200"/>
          </a:xfrm>
          <a:prstGeom prst="rect">
            <a:avLst/>
          </a:prstGeom>
          <a:noFill/>
        </p:spPr>
        <p:txBody>
          <a:bodyPr wrap="square" lIns="0" tIns="0" rIns="0" bIns="0" anchor="t">
            <a:spAutoFit/>
          </a:bodyPr>
          <a:lstStyle/>
          <a:p>
            <a:pPr algn="l">
              <a:spcAft>
                <a:spcPts val="0"/>
              </a:spcAft>
            </a:pPr>
            <a:r>
              <a:rPr sz="1000" b="1" i="0">
                <a:solidFill>
                  <a:srgbClr val="FFFFFF"/>
                </a:solidFill>
                <a:effectLst>
                  <a:glow rad="63500">
                    <a:srgbClr val="001633">
                      <a:alpha val="85000"/>
                    </a:srgbClr>
                  </a:glow>
                </a:effectLst>
                <a:latin typeface="Montserrat"/>
              </a:rPr>
              <a:t>Desarrollar</a:t>
            </a:r>
          </a:p>
          <a:p>
            <a:pPr algn="l">
              <a:spcAft>
                <a:spcPts val="0"/>
              </a:spcAft>
            </a:pPr>
            <a:r>
              <a:rPr sz="800" b="0" i="0">
                <a:solidFill>
                  <a:srgbClr val="A9B8C9"/>
                </a:solidFill>
                <a:effectLst>
                  <a:glow rad="63500">
                    <a:srgbClr val="001633">
                      <a:alpha val="85000"/>
                    </a:srgbClr>
                  </a:glow>
                </a:effectLst>
                <a:latin typeface="Montserrat"/>
              </a:rPr>
              <a:t>nuevo parámetro o equipo</a:t>
            </a:r>
          </a:p>
        </p:txBody>
      </p:sp>
      <p:sp>
        <p:nvSpPr>
          <p:cNvPr id="10" name="Probar"/>
          <p:cNvSpPr/>
          <p:nvPr/>
        </p:nvSpPr>
        <p:spPr>
          <a:xfrm>
            <a:off x="4845440" y="2953512"/>
            <a:ext cx="493776" cy="493776"/>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1" name="Ícono list-checks" descr="list-checks-orange.png"/>
          <p:cNvPicPr>
            <a:picLocks noChangeAspect="1"/>
          </p:cNvPicPr>
          <p:nvPr/>
        </p:nvPicPr>
        <p:blipFill>
          <a:blip r:embed="rId4"/>
          <a:stretch>
            <a:fillRect/>
          </a:stretch>
        </p:blipFill>
        <p:spPr>
          <a:xfrm>
            <a:off x="4954071" y="3062143"/>
            <a:ext cx="276514" cy="276514"/>
          </a:xfrm>
          <a:prstGeom prst="rect">
            <a:avLst/>
          </a:prstGeom>
        </p:spPr>
      </p:pic>
      <p:sp>
        <p:nvSpPr>
          <p:cNvPr id="12" name="TextBox 11"/>
          <p:cNvSpPr txBox="1"/>
          <p:nvPr/>
        </p:nvSpPr>
        <p:spPr>
          <a:xfrm>
            <a:off x="5421512" y="2980944"/>
            <a:ext cx="1463040" cy="457200"/>
          </a:xfrm>
          <a:prstGeom prst="rect">
            <a:avLst/>
          </a:prstGeom>
          <a:noFill/>
        </p:spPr>
        <p:txBody>
          <a:bodyPr wrap="square" lIns="0" tIns="0" rIns="0" bIns="0" anchor="t">
            <a:spAutoFit/>
          </a:bodyPr>
          <a:lstStyle/>
          <a:p>
            <a:pPr algn="l">
              <a:spcAft>
                <a:spcPts val="0"/>
              </a:spcAft>
            </a:pPr>
            <a:r>
              <a:rPr sz="1000" b="1" i="0">
                <a:solidFill>
                  <a:srgbClr val="FFFFFF"/>
                </a:solidFill>
                <a:effectLst>
                  <a:glow rad="63500">
                    <a:srgbClr val="001633">
                      <a:alpha val="85000"/>
                    </a:srgbClr>
                  </a:glow>
                </a:effectLst>
                <a:latin typeface="Montserrat"/>
              </a:rPr>
              <a:t>Probar</a:t>
            </a:r>
          </a:p>
          <a:p>
            <a:pPr algn="l">
              <a:spcAft>
                <a:spcPts val="0"/>
              </a:spcAft>
            </a:pPr>
            <a:r>
              <a:rPr sz="800" b="0" i="0">
                <a:solidFill>
                  <a:srgbClr val="A9B8C9"/>
                </a:solidFill>
                <a:effectLst>
                  <a:glow rad="63500">
                    <a:srgbClr val="001633">
                      <a:alpha val="85000"/>
                    </a:srgbClr>
                  </a:glow>
                </a:effectLst>
                <a:latin typeface="Montserrat"/>
              </a:rPr>
              <a:t>regresión con datos históricos</a:t>
            </a:r>
          </a:p>
        </p:txBody>
      </p:sp>
      <p:sp>
        <p:nvSpPr>
          <p:cNvPr id="13" name="Versionar"/>
          <p:cNvSpPr/>
          <p:nvPr/>
        </p:nvSpPr>
        <p:spPr>
          <a:xfrm>
            <a:off x="4845440" y="3867912"/>
            <a:ext cx="493776" cy="493776"/>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4" name="Ícono tag" descr="tag-orange.png"/>
          <p:cNvPicPr>
            <a:picLocks noChangeAspect="1"/>
          </p:cNvPicPr>
          <p:nvPr/>
        </p:nvPicPr>
        <p:blipFill>
          <a:blip r:embed="rId5"/>
          <a:stretch>
            <a:fillRect/>
          </a:stretch>
        </p:blipFill>
        <p:spPr>
          <a:xfrm>
            <a:off x="4954071" y="3976543"/>
            <a:ext cx="276514" cy="276514"/>
          </a:xfrm>
          <a:prstGeom prst="rect">
            <a:avLst/>
          </a:prstGeom>
        </p:spPr>
      </p:pic>
      <p:sp>
        <p:nvSpPr>
          <p:cNvPr id="15" name="TextBox 14"/>
          <p:cNvSpPr txBox="1"/>
          <p:nvPr/>
        </p:nvSpPr>
        <p:spPr>
          <a:xfrm>
            <a:off x="5421512" y="3895344"/>
            <a:ext cx="1463040" cy="457200"/>
          </a:xfrm>
          <a:prstGeom prst="rect">
            <a:avLst/>
          </a:prstGeom>
          <a:noFill/>
        </p:spPr>
        <p:txBody>
          <a:bodyPr wrap="square" lIns="0" tIns="0" rIns="0" bIns="0" anchor="t">
            <a:spAutoFit/>
          </a:bodyPr>
          <a:lstStyle/>
          <a:p>
            <a:pPr algn="l">
              <a:spcAft>
                <a:spcPts val="0"/>
              </a:spcAft>
            </a:pPr>
            <a:r>
              <a:rPr sz="1000" b="1" i="0">
                <a:solidFill>
                  <a:srgbClr val="FFFFFF"/>
                </a:solidFill>
                <a:effectLst>
                  <a:glow rad="63500">
                    <a:srgbClr val="001633">
                      <a:alpha val="85000"/>
                    </a:srgbClr>
                  </a:glow>
                </a:effectLst>
                <a:latin typeface="Montserrat"/>
              </a:rPr>
              <a:t>Versionar</a:t>
            </a:r>
          </a:p>
          <a:p>
            <a:pPr algn="l">
              <a:spcAft>
                <a:spcPts val="0"/>
              </a:spcAft>
            </a:pPr>
            <a:r>
              <a:rPr sz="800" b="0" i="0">
                <a:solidFill>
                  <a:srgbClr val="A9B8C9"/>
                </a:solidFill>
                <a:effectLst>
                  <a:glow rad="63500">
                    <a:srgbClr val="001633">
                      <a:alpha val="85000"/>
                    </a:srgbClr>
                  </a:glow>
                </a:effectLst>
                <a:latin typeface="Montserrat"/>
              </a:rPr>
              <a:t>cada FMU con su versión</a:t>
            </a:r>
          </a:p>
        </p:txBody>
      </p:sp>
      <p:sp>
        <p:nvSpPr>
          <p:cNvPr id="16" name="Desplegar"/>
          <p:cNvSpPr/>
          <p:nvPr/>
        </p:nvSpPr>
        <p:spPr>
          <a:xfrm>
            <a:off x="3657600" y="4325112"/>
            <a:ext cx="493776" cy="493776"/>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7" name="Ícono rocket" descr="rocket-orange.png"/>
          <p:cNvPicPr>
            <a:picLocks noChangeAspect="1"/>
          </p:cNvPicPr>
          <p:nvPr/>
        </p:nvPicPr>
        <p:blipFill>
          <a:blip r:embed="rId6"/>
          <a:stretch>
            <a:fillRect/>
          </a:stretch>
        </p:blipFill>
        <p:spPr>
          <a:xfrm>
            <a:off x="3766231" y="4433743"/>
            <a:ext cx="276514" cy="276514"/>
          </a:xfrm>
          <a:prstGeom prst="rect">
            <a:avLst/>
          </a:prstGeom>
        </p:spPr>
      </p:pic>
      <p:sp>
        <p:nvSpPr>
          <p:cNvPr id="18" name="TextBox 17"/>
          <p:cNvSpPr txBox="1"/>
          <p:nvPr/>
        </p:nvSpPr>
        <p:spPr>
          <a:xfrm>
            <a:off x="4233672" y="4352544"/>
            <a:ext cx="1463040" cy="457200"/>
          </a:xfrm>
          <a:prstGeom prst="rect">
            <a:avLst/>
          </a:prstGeom>
          <a:noFill/>
        </p:spPr>
        <p:txBody>
          <a:bodyPr wrap="square" lIns="0" tIns="0" rIns="0" bIns="0" anchor="t">
            <a:spAutoFit/>
          </a:bodyPr>
          <a:lstStyle/>
          <a:p>
            <a:pPr algn="l">
              <a:spcAft>
                <a:spcPts val="0"/>
              </a:spcAft>
            </a:pPr>
            <a:r>
              <a:rPr sz="1000" b="1" i="0">
                <a:solidFill>
                  <a:srgbClr val="FFFFFF"/>
                </a:solidFill>
                <a:effectLst>
                  <a:glow rad="63500">
                    <a:srgbClr val="001633">
                      <a:alpha val="85000"/>
                    </a:srgbClr>
                  </a:glow>
                </a:effectLst>
                <a:latin typeface="Montserrat"/>
              </a:rPr>
              <a:t>Desplegar</a:t>
            </a:r>
          </a:p>
          <a:p>
            <a:pPr algn="l">
              <a:spcAft>
                <a:spcPts val="0"/>
              </a:spcAft>
            </a:pPr>
            <a:r>
              <a:rPr sz="800" b="0" i="0">
                <a:solidFill>
                  <a:srgbClr val="A9B8C9"/>
                </a:solidFill>
                <a:effectLst>
                  <a:glow rad="63500">
                    <a:srgbClr val="001633">
                      <a:alpha val="85000"/>
                    </a:srgbClr>
                  </a:glow>
                </a:effectLst>
                <a:latin typeface="Montserrat"/>
              </a:rPr>
              <a:t>al edge o al servidor, con vuelta atrás</a:t>
            </a:r>
          </a:p>
        </p:txBody>
      </p:sp>
      <p:sp>
        <p:nvSpPr>
          <p:cNvPr id="19" name="Monitorear"/>
          <p:cNvSpPr/>
          <p:nvPr/>
        </p:nvSpPr>
        <p:spPr>
          <a:xfrm>
            <a:off x="2469759" y="3867912"/>
            <a:ext cx="493776" cy="493776"/>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0" name="Ícono activity" descr="activity-orange.png"/>
          <p:cNvPicPr>
            <a:picLocks noChangeAspect="1"/>
          </p:cNvPicPr>
          <p:nvPr/>
        </p:nvPicPr>
        <p:blipFill>
          <a:blip r:embed="rId7"/>
          <a:stretch>
            <a:fillRect/>
          </a:stretch>
        </p:blipFill>
        <p:spPr>
          <a:xfrm>
            <a:off x="2578390" y="3976543"/>
            <a:ext cx="276514" cy="276514"/>
          </a:xfrm>
          <a:prstGeom prst="rect">
            <a:avLst/>
          </a:prstGeom>
        </p:spPr>
      </p:pic>
      <p:sp>
        <p:nvSpPr>
          <p:cNvPr id="21" name="TextBox 20"/>
          <p:cNvSpPr txBox="1"/>
          <p:nvPr/>
        </p:nvSpPr>
        <p:spPr>
          <a:xfrm>
            <a:off x="933567" y="3895344"/>
            <a:ext cx="1463040" cy="457200"/>
          </a:xfrm>
          <a:prstGeom prst="rect">
            <a:avLst/>
          </a:prstGeom>
          <a:noFill/>
        </p:spPr>
        <p:txBody>
          <a:bodyPr wrap="square" lIns="0" tIns="0" rIns="0" bIns="0" anchor="t">
            <a:spAutoFit/>
          </a:bodyPr>
          <a:lstStyle/>
          <a:p>
            <a:pPr algn="r">
              <a:spcAft>
                <a:spcPts val="0"/>
              </a:spcAft>
            </a:pPr>
            <a:r>
              <a:rPr sz="1000" b="1" i="0">
                <a:solidFill>
                  <a:srgbClr val="FFFFFF"/>
                </a:solidFill>
                <a:effectLst>
                  <a:glow rad="63500">
                    <a:srgbClr val="001633">
                      <a:alpha val="85000"/>
                    </a:srgbClr>
                  </a:glow>
                </a:effectLst>
                <a:latin typeface="Montserrat"/>
              </a:rPr>
              <a:t>Monitorear</a:t>
            </a:r>
          </a:p>
          <a:p>
            <a:pPr algn="r">
              <a:spcAft>
                <a:spcPts val="0"/>
              </a:spcAft>
            </a:pPr>
            <a:r>
              <a:rPr sz="800" b="0" i="0">
                <a:solidFill>
                  <a:srgbClr val="A9B8C9"/>
                </a:solidFill>
                <a:effectLst>
                  <a:glow rad="63500">
                    <a:srgbClr val="001633">
                      <a:alpha val="85000"/>
                    </a:srgbClr>
                  </a:glow>
                </a:effectLst>
                <a:latin typeface="Montserrat"/>
              </a:rPr>
              <a:t>error del modelo vs. la planta</a:t>
            </a:r>
          </a:p>
        </p:txBody>
      </p:sp>
      <p:sp>
        <p:nvSpPr>
          <p:cNvPr id="22" name="Recalibrar"/>
          <p:cNvSpPr/>
          <p:nvPr/>
        </p:nvSpPr>
        <p:spPr>
          <a:xfrm>
            <a:off x="2469759" y="2953512"/>
            <a:ext cx="493776" cy="493776"/>
          </a:xfrm>
          <a:prstGeom prst="ellipse">
            <a:avLst/>
          </a:prstGeom>
          <a:solidFill>
            <a:srgbClr val="12335E"/>
          </a:solidFill>
          <a:ln w="22225">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3" name="Ícono refresh-cw" descr="refresh-cw-orange.png"/>
          <p:cNvPicPr>
            <a:picLocks noChangeAspect="1"/>
          </p:cNvPicPr>
          <p:nvPr/>
        </p:nvPicPr>
        <p:blipFill>
          <a:blip r:embed="rId8"/>
          <a:stretch>
            <a:fillRect/>
          </a:stretch>
        </p:blipFill>
        <p:spPr>
          <a:xfrm>
            <a:off x="2578390" y="3062143"/>
            <a:ext cx="276514" cy="276514"/>
          </a:xfrm>
          <a:prstGeom prst="rect">
            <a:avLst/>
          </a:prstGeom>
        </p:spPr>
      </p:pic>
      <p:sp>
        <p:nvSpPr>
          <p:cNvPr id="24" name="TextBox 23"/>
          <p:cNvSpPr txBox="1"/>
          <p:nvPr/>
        </p:nvSpPr>
        <p:spPr>
          <a:xfrm>
            <a:off x="933567" y="2980944"/>
            <a:ext cx="1463040" cy="457200"/>
          </a:xfrm>
          <a:prstGeom prst="rect">
            <a:avLst/>
          </a:prstGeom>
          <a:noFill/>
        </p:spPr>
        <p:txBody>
          <a:bodyPr wrap="square" lIns="0" tIns="0" rIns="0" bIns="0" anchor="t">
            <a:spAutoFit/>
          </a:bodyPr>
          <a:lstStyle/>
          <a:p>
            <a:pPr algn="r">
              <a:spcAft>
                <a:spcPts val="0"/>
              </a:spcAft>
            </a:pPr>
            <a:r>
              <a:rPr sz="1000" b="1" i="0">
                <a:solidFill>
                  <a:srgbClr val="FFFFFF"/>
                </a:solidFill>
                <a:effectLst>
                  <a:glow rad="63500">
                    <a:srgbClr val="001633">
                      <a:alpha val="85000"/>
                    </a:srgbClr>
                  </a:glow>
                </a:effectLst>
                <a:latin typeface="Montserrat"/>
              </a:rPr>
              <a:t>Recalibrar</a:t>
            </a:r>
          </a:p>
          <a:p>
            <a:pPr algn="r">
              <a:spcAft>
                <a:spcPts val="0"/>
              </a:spcAft>
            </a:pPr>
            <a:r>
              <a:rPr sz="800" b="0" i="0">
                <a:solidFill>
                  <a:srgbClr val="A9B8C9"/>
                </a:solidFill>
                <a:effectLst>
                  <a:glow rad="63500">
                    <a:srgbClr val="001633">
                      <a:alpha val="85000"/>
                    </a:srgbClr>
                  </a:glow>
                </a:effectLst>
                <a:latin typeface="Montserrat"/>
              </a:rPr>
              <a:t>cuando la deriva supera el umbral</a:t>
            </a:r>
          </a:p>
        </p:txBody>
      </p:sp>
      <p:sp>
        <p:nvSpPr>
          <p:cNvPr id="25" name="Ciclo"/>
          <p:cNvSpPr/>
          <p:nvPr/>
        </p:nvSpPr>
        <p:spPr>
          <a:xfrm>
            <a:off x="3584448" y="3337560"/>
            <a:ext cx="640080" cy="640080"/>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refresh-cw" descr="refresh-cw-navy.png"/>
          <p:cNvPicPr>
            <a:picLocks noChangeAspect="1"/>
          </p:cNvPicPr>
          <p:nvPr/>
        </p:nvPicPr>
        <p:blipFill>
          <a:blip r:embed="rId9"/>
          <a:stretch>
            <a:fillRect/>
          </a:stretch>
        </p:blipFill>
        <p:spPr>
          <a:xfrm>
            <a:off x="3725266" y="3478378"/>
            <a:ext cx="358444" cy="358444"/>
          </a:xfrm>
          <a:prstGeom prst="rect">
            <a:avLst/>
          </a:prstGeom>
        </p:spPr>
      </p:pic>
      <p:sp>
        <p:nvSpPr>
          <p:cNvPr id="27" name="Tarjeta Un dueño"/>
          <p:cNvSpPr/>
          <p:nvPr/>
        </p:nvSpPr>
        <p:spPr>
          <a:xfrm>
            <a:off x="7287768" y="2487168"/>
            <a:ext cx="3977640" cy="11887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Borde Un dueño"/>
          <p:cNvSpPr/>
          <p:nvPr/>
        </p:nvSpPr>
        <p:spPr>
          <a:xfrm>
            <a:off x="7287768" y="2487168"/>
            <a:ext cx="397764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9" name="Ícono users" descr="users-orange.png"/>
          <p:cNvPicPr>
            <a:picLocks noChangeAspect="1"/>
          </p:cNvPicPr>
          <p:nvPr/>
        </p:nvPicPr>
        <p:blipFill>
          <a:blip r:embed="rId10"/>
          <a:stretch>
            <a:fillRect/>
          </a:stretch>
        </p:blipFill>
        <p:spPr>
          <a:xfrm>
            <a:off x="7452360" y="2670048"/>
            <a:ext cx="292608" cy="292608"/>
          </a:xfrm>
          <a:prstGeom prst="rect">
            <a:avLst/>
          </a:prstGeom>
        </p:spPr>
      </p:pic>
      <p:sp>
        <p:nvSpPr>
          <p:cNvPr id="30" name="TextBox 29"/>
          <p:cNvSpPr txBox="1"/>
          <p:nvPr/>
        </p:nvSpPr>
        <p:spPr>
          <a:xfrm>
            <a:off x="7863840" y="2615184"/>
            <a:ext cx="329184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Un dueño</a:t>
            </a:r>
          </a:p>
        </p:txBody>
      </p:sp>
      <p:sp>
        <p:nvSpPr>
          <p:cNvPr id="31" name="TextBox 30"/>
          <p:cNvSpPr txBox="1"/>
          <p:nvPr/>
        </p:nvSpPr>
        <p:spPr>
          <a:xfrm>
            <a:off x="7452360" y="3054096"/>
            <a:ext cx="3685032" cy="530352"/>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Alguien en la operación responde por el modelo: lo recalibra, aprueba versiones y lo da de baja.</a:t>
            </a:r>
          </a:p>
        </p:txBody>
      </p:sp>
      <p:sp>
        <p:nvSpPr>
          <p:cNvPr id="32" name="Tarjeta Dos ciclos de vida"/>
          <p:cNvSpPr/>
          <p:nvPr/>
        </p:nvSpPr>
        <p:spPr>
          <a:xfrm>
            <a:off x="7287768" y="3767328"/>
            <a:ext cx="3977640" cy="118872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Borde Dos ciclos de vida"/>
          <p:cNvSpPr/>
          <p:nvPr/>
        </p:nvSpPr>
        <p:spPr>
          <a:xfrm>
            <a:off x="7287768" y="3767328"/>
            <a:ext cx="3977640" cy="54864"/>
          </a:xfrm>
          <a:prstGeom prst="rect">
            <a:avLst/>
          </a:prstGeom>
          <a:solidFill>
            <a:srgbClr val="85D5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34" name="Ícono history" descr="history-white.png"/>
          <p:cNvPicPr>
            <a:picLocks noChangeAspect="1"/>
          </p:cNvPicPr>
          <p:nvPr/>
        </p:nvPicPr>
        <p:blipFill>
          <a:blip r:embed="rId11"/>
          <a:stretch>
            <a:fillRect/>
          </a:stretch>
        </p:blipFill>
        <p:spPr>
          <a:xfrm>
            <a:off x="7452360" y="3950208"/>
            <a:ext cx="292608" cy="292608"/>
          </a:xfrm>
          <a:prstGeom prst="rect">
            <a:avLst/>
          </a:prstGeom>
        </p:spPr>
      </p:pic>
      <p:sp>
        <p:nvSpPr>
          <p:cNvPr id="35" name="TextBox 34"/>
          <p:cNvSpPr txBox="1"/>
          <p:nvPr/>
        </p:nvSpPr>
        <p:spPr>
          <a:xfrm>
            <a:off x="7863840" y="3895344"/>
            <a:ext cx="3291840" cy="411480"/>
          </a:xfrm>
          <a:prstGeom prst="rect">
            <a:avLst/>
          </a:prstGeom>
          <a:noFill/>
        </p:spPr>
        <p:txBody>
          <a:bodyPr wrap="square" lIns="0" tIns="0" rIns="0" bIns="0" anchor="ctr">
            <a:spAutoFit/>
          </a:bodyPr>
          <a:lstStyle/>
          <a:p>
            <a:pPr algn="l">
              <a:spcAft>
                <a:spcPts val="600"/>
              </a:spcAft>
            </a:pPr>
            <a:r>
              <a:rPr sz="1200" b="1" i="0">
                <a:solidFill>
                  <a:srgbClr val="FFFFFF"/>
                </a:solidFill>
                <a:effectLst>
                  <a:glow rad="63500">
                    <a:srgbClr val="001633">
                      <a:alpha val="85000"/>
                    </a:srgbClr>
                  </a:glow>
                </a:effectLst>
                <a:latin typeface="Montserrat"/>
              </a:rPr>
              <a:t>Dos ciclos de vida</a:t>
            </a:r>
          </a:p>
        </p:txBody>
      </p:sp>
      <p:sp>
        <p:nvSpPr>
          <p:cNvPr id="36" name="TextBox 35"/>
          <p:cNvSpPr txBox="1"/>
          <p:nvPr/>
        </p:nvSpPr>
        <p:spPr>
          <a:xfrm>
            <a:off x="7452360" y="4334256"/>
            <a:ext cx="3685032" cy="530352"/>
          </a:xfrm>
          <a:prstGeom prst="rect">
            <a:avLst/>
          </a:prstGeom>
          <a:noFill/>
        </p:spPr>
        <p:txBody>
          <a:bodyPr wrap="square" lIns="0" tIns="0" rIns="0" bIns="0" anchor="t">
            <a:spAutoFit/>
          </a:bodyPr>
          <a:lstStyle/>
          <a:p>
            <a:pPr algn="l">
              <a:spcAft>
                <a:spcPts val="600"/>
              </a:spcAft>
            </a:pPr>
            <a:r>
              <a:rPr sz="950" b="0" i="0">
                <a:solidFill>
                  <a:srgbClr val="A9B8C9"/>
                </a:solidFill>
                <a:effectLst>
                  <a:glow rad="63500">
                    <a:srgbClr val="001633">
                      <a:alpha val="85000"/>
                    </a:srgbClr>
                  </a:glow>
                </a:effectLst>
                <a:latin typeface="Montserrat"/>
              </a:rPr>
              <a:t>El del activo (capítulo I) y el del modelo: un equipo nuevo obliga a una versión nueva.</a:t>
            </a:r>
          </a:p>
        </p:txBody>
      </p:sp>
      <p:sp>
        <p:nvSpPr>
          <p:cNvPr id="37" name="TextBox 36"/>
          <p:cNvSpPr txBox="1"/>
          <p:nvPr/>
        </p:nvSpPr>
        <p:spPr>
          <a:xfrm>
            <a:off x="1252728" y="5074920"/>
            <a:ext cx="10012680" cy="228600"/>
          </a:xfrm>
          <a:prstGeom prst="rect">
            <a:avLst/>
          </a:prstGeom>
          <a:noFill/>
        </p:spPr>
        <p:txBody>
          <a:bodyPr wrap="square" lIns="0" tIns="0" rIns="0" bIns="0" anchor="t">
            <a:spAutoFit/>
          </a:bodyPr>
          <a:lstStyle/>
          <a:p>
            <a:pPr algn="l">
              <a:spcAft>
                <a:spcPts val="600"/>
              </a:spcAft>
            </a:pPr>
            <a:r>
              <a:rPr sz="850" b="1" i="0">
                <a:solidFill>
                  <a:srgbClr val="A9B8C9"/>
                </a:solidFill>
                <a:effectLst>
                  <a:glow rad="63500">
                    <a:srgbClr val="001633">
                      <a:alpha val="85000"/>
                    </a:srgbClr>
                  </a:glow>
                </a:effectLst>
                <a:latin typeface="Montserrat"/>
              </a:rPr>
              <a:t>EJEMPLO · HISTORIA DE VERSIONES DEL GEMELO DE UN MOLINO</a:t>
            </a:r>
          </a:p>
        </p:txBody>
      </p:sp>
      <p:cxnSp>
        <p:nvCxnSpPr>
          <p:cNvPr id="38" name="Línea versiones"/>
          <p:cNvCxnSpPr/>
          <p:nvPr/>
        </p:nvCxnSpPr>
        <p:spPr>
          <a:xfrm>
            <a:off x="1252728" y="5596128"/>
            <a:ext cx="10012680" cy="0"/>
          </a:xfrm>
          <a:prstGeom prst="line">
            <a:avLst/>
          </a:prstGeom>
          <a:ln w="12700">
            <a:solidFill>
              <a:srgbClr val="2A456B"/>
            </a:solidFill>
          </a:ln>
        </p:spPr>
        <p:style>
          <a:lnRef idx="2">
            <a:schemeClr val="accent1"/>
          </a:lnRef>
          <a:fillRef idx="0">
            <a:schemeClr val="accent1"/>
          </a:fillRef>
          <a:effectRef idx="1">
            <a:schemeClr val="accent1"/>
          </a:effectRef>
          <a:fontRef idx="minor">
            <a:schemeClr val="tx1"/>
          </a:fontRef>
        </p:style>
      </p:cxnSp>
      <p:sp>
        <p:nvSpPr>
          <p:cNvPr id="39" name="Versión v1.0"/>
          <p:cNvSpPr/>
          <p:nvPr/>
        </p:nvSpPr>
        <p:spPr>
          <a:xfrm>
            <a:off x="1252728" y="5321808"/>
            <a:ext cx="233172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p:cNvSpPr txBox="1"/>
          <p:nvPr/>
        </p:nvSpPr>
        <p:spPr>
          <a:xfrm>
            <a:off x="1362456" y="5321808"/>
            <a:ext cx="548640" cy="548640"/>
          </a:xfrm>
          <a:prstGeom prst="rect">
            <a:avLst/>
          </a:prstGeom>
          <a:noFill/>
        </p:spPr>
        <p:txBody>
          <a:bodyPr wrap="square" lIns="0" tIns="0" rIns="0" bIns="0" anchor="ctr">
            <a:spAutoFit/>
          </a:bodyPr>
          <a:lstStyle/>
          <a:p>
            <a:pPr algn="l">
              <a:spcAft>
                <a:spcPts val="600"/>
              </a:spcAft>
            </a:pPr>
            <a:r>
              <a:rPr sz="1100" b="1" i="0">
                <a:solidFill>
                  <a:srgbClr val="85D5E6"/>
                </a:solidFill>
                <a:effectLst>
                  <a:glow rad="63500">
                    <a:srgbClr val="001633">
                      <a:alpha val="85000"/>
                    </a:srgbClr>
                  </a:glow>
                </a:effectLst>
                <a:latin typeface="Montserrat"/>
              </a:rPr>
              <a:t>v1.0</a:t>
            </a:r>
          </a:p>
        </p:txBody>
      </p:sp>
      <p:sp>
        <p:nvSpPr>
          <p:cNvPr id="41" name="TextBox 40"/>
          <p:cNvSpPr txBox="1"/>
          <p:nvPr/>
        </p:nvSpPr>
        <p:spPr>
          <a:xfrm>
            <a:off x="1938528" y="5321808"/>
            <a:ext cx="1554480" cy="548640"/>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puesta en marcha</a:t>
            </a:r>
          </a:p>
          <a:p>
            <a:pPr algn="l">
              <a:spcAft>
                <a:spcPts val="0"/>
              </a:spcAft>
            </a:pPr>
            <a:r>
              <a:rPr sz="800" b="0" i="0">
                <a:solidFill>
                  <a:srgbClr val="A9B8C9"/>
                </a:solidFill>
                <a:effectLst>
                  <a:glow rad="63500">
                    <a:srgbClr val="001633">
                      <a:alpha val="85000"/>
                    </a:srgbClr>
                  </a:glow>
                </a:effectLst>
                <a:latin typeface="Montserrat"/>
              </a:rPr>
              <a:t>calibrado con 3 meses de datos</a:t>
            </a:r>
          </a:p>
        </p:txBody>
      </p:sp>
      <p:sp>
        <p:nvSpPr>
          <p:cNvPr id="42" name="Versión v1.1"/>
          <p:cNvSpPr/>
          <p:nvPr/>
        </p:nvSpPr>
        <p:spPr>
          <a:xfrm>
            <a:off x="3813048" y="5321808"/>
            <a:ext cx="233172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3" name="TextBox 42"/>
          <p:cNvSpPr txBox="1"/>
          <p:nvPr/>
        </p:nvSpPr>
        <p:spPr>
          <a:xfrm>
            <a:off x="3922776" y="5321808"/>
            <a:ext cx="548640" cy="548640"/>
          </a:xfrm>
          <a:prstGeom prst="rect">
            <a:avLst/>
          </a:prstGeom>
          <a:noFill/>
        </p:spPr>
        <p:txBody>
          <a:bodyPr wrap="square" lIns="0" tIns="0" rIns="0" bIns="0" anchor="ctr">
            <a:spAutoFit/>
          </a:bodyPr>
          <a:lstStyle/>
          <a:p>
            <a:pPr algn="l">
              <a:spcAft>
                <a:spcPts val="600"/>
              </a:spcAft>
            </a:pPr>
            <a:r>
              <a:rPr sz="1100" b="1" i="0">
                <a:solidFill>
                  <a:srgbClr val="85D5E6"/>
                </a:solidFill>
                <a:effectLst>
                  <a:glow rad="63500">
                    <a:srgbClr val="001633">
                      <a:alpha val="85000"/>
                    </a:srgbClr>
                  </a:glow>
                </a:effectLst>
                <a:latin typeface="Montserrat"/>
              </a:rPr>
              <a:t>v1.1</a:t>
            </a:r>
          </a:p>
        </p:txBody>
      </p:sp>
      <p:sp>
        <p:nvSpPr>
          <p:cNvPr id="44" name="TextBox 43"/>
          <p:cNvSpPr txBox="1"/>
          <p:nvPr/>
        </p:nvSpPr>
        <p:spPr>
          <a:xfrm>
            <a:off x="4498848" y="5321808"/>
            <a:ext cx="1554480" cy="548640"/>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recalibración</a:t>
            </a:r>
          </a:p>
          <a:p>
            <a:pPr algn="l">
              <a:spcAft>
                <a:spcPts val="0"/>
              </a:spcAft>
            </a:pPr>
            <a:r>
              <a:rPr sz="800" b="0" i="0">
                <a:solidFill>
                  <a:srgbClr val="A9B8C9"/>
                </a:solidFill>
                <a:effectLst>
                  <a:glow rad="63500">
                    <a:srgbClr val="001633">
                      <a:alpha val="85000"/>
                    </a:srgbClr>
                  </a:glow>
                </a:effectLst>
                <a:latin typeface="Montserrat"/>
              </a:rPr>
              <a:t>cambio de revestimientos</a:t>
            </a:r>
          </a:p>
        </p:txBody>
      </p:sp>
      <p:sp>
        <p:nvSpPr>
          <p:cNvPr id="45" name="Versión v1.2"/>
          <p:cNvSpPr/>
          <p:nvPr/>
        </p:nvSpPr>
        <p:spPr>
          <a:xfrm>
            <a:off x="6373368" y="5321808"/>
            <a:ext cx="2331720" cy="5486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p:cNvSpPr txBox="1"/>
          <p:nvPr/>
        </p:nvSpPr>
        <p:spPr>
          <a:xfrm>
            <a:off x="6483096" y="5321808"/>
            <a:ext cx="548640" cy="548640"/>
          </a:xfrm>
          <a:prstGeom prst="rect">
            <a:avLst/>
          </a:prstGeom>
          <a:noFill/>
        </p:spPr>
        <p:txBody>
          <a:bodyPr wrap="square" lIns="0" tIns="0" rIns="0" bIns="0" anchor="ctr">
            <a:spAutoFit/>
          </a:bodyPr>
          <a:lstStyle/>
          <a:p>
            <a:pPr algn="l">
              <a:spcAft>
                <a:spcPts val="600"/>
              </a:spcAft>
            </a:pPr>
            <a:r>
              <a:rPr sz="1100" b="1" i="0">
                <a:solidFill>
                  <a:srgbClr val="85D5E6"/>
                </a:solidFill>
                <a:effectLst>
                  <a:glow rad="63500">
                    <a:srgbClr val="001633">
                      <a:alpha val="85000"/>
                    </a:srgbClr>
                  </a:glow>
                </a:effectLst>
                <a:latin typeface="Montserrat"/>
              </a:rPr>
              <a:t>v1.2</a:t>
            </a:r>
          </a:p>
        </p:txBody>
      </p:sp>
      <p:sp>
        <p:nvSpPr>
          <p:cNvPr id="47" name="TextBox 46"/>
          <p:cNvSpPr txBox="1"/>
          <p:nvPr/>
        </p:nvSpPr>
        <p:spPr>
          <a:xfrm>
            <a:off x="7059168" y="5321808"/>
            <a:ext cx="1554480" cy="548640"/>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corrección</a:t>
            </a:r>
          </a:p>
          <a:p>
            <a:pPr algn="l">
              <a:spcAft>
                <a:spcPts val="0"/>
              </a:spcAft>
            </a:pPr>
            <a:r>
              <a:rPr sz="800" b="0" i="0">
                <a:solidFill>
                  <a:srgbClr val="A9B8C9"/>
                </a:solidFill>
                <a:effectLst>
                  <a:glow rad="63500">
                    <a:srgbClr val="001633">
                      <a:alpha val="85000"/>
                    </a:srgbClr>
                  </a:glow>
                </a:effectLst>
                <a:latin typeface="Montserrat"/>
              </a:rPr>
              <a:t>unidad mal declarada en una salida</a:t>
            </a:r>
          </a:p>
        </p:txBody>
      </p:sp>
      <p:sp>
        <p:nvSpPr>
          <p:cNvPr id="48" name="Versión v2.0"/>
          <p:cNvSpPr/>
          <p:nvPr/>
        </p:nvSpPr>
        <p:spPr>
          <a:xfrm>
            <a:off x="8933688" y="5321808"/>
            <a:ext cx="2331720" cy="548640"/>
          </a:xfrm>
          <a:prstGeom prst="rect">
            <a:avLst/>
          </a:prstGeom>
          <a:solidFill>
            <a:srgbClr val="0B264A"/>
          </a:solidFill>
          <a:ln w="1270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9043416" y="5321808"/>
            <a:ext cx="548640" cy="548640"/>
          </a:xfrm>
          <a:prstGeom prst="rect">
            <a:avLst/>
          </a:prstGeom>
          <a:noFill/>
        </p:spPr>
        <p:txBody>
          <a:bodyPr wrap="square" lIns="0" tIns="0" rIns="0" bIns="0" anchor="ctr">
            <a:spAutoFit/>
          </a:bodyPr>
          <a:lstStyle/>
          <a:p>
            <a:pPr algn="l">
              <a:spcAft>
                <a:spcPts val="600"/>
              </a:spcAft>
            </a:pPr>
            <a:r>
              <a:rPr sz="1100" b="1" i="0">
                <a:solidFill>
                  <a:srgbClr val="85D5E6"/>
                </a:solidFill>
                <a:effectLst>
                  <a:glow rad="63500">
                    <a:srgbClr val="001633">
                      <a:alpha val="85000"/>
                    </a:srgbClr>
                  </a:glow>
                </a:effectLst>
                <a:latin typeface="Montserrat"/>
              </a:rPr>
              <a:t>v2.0</a:t>
            </a:r>
          </a:p>
        </p:txBody>
      </p:sp>
      <p:sp>
        <p:nvSpPr>
          <p:cNvPr id="50" name="TextBox 49"/>
          <p:cNvSpPr txBox="1"/>
          <p:nvPr/>
        </p:nvSpPr>
        <p:spPr>
          <a:xfrm>
            <a:off x="9619488" y="5321808"/>
            <a:ext cx="1554480" cy="548640"/>
          </a:xfrm>
          <a:prstGeom prst="rect">
            <a:avLst/>
          </a:prstGeom>
          <a:noFill/>
        </p:spPr>
        <p:txBody>
          <a:bodyPr wrap="square" lIns="0" tIns="0" rIns="0" bIns="0" anchor="ctr">
            <a:spAutoFit/>
          </a:bodyPr>
          <a:lstStyle/>
          <a:p>
            <a:pPr algn="l">
              <a:spcAft>
                <a:spcPts val="0"/>
              </a:spcAft>
            </a:pPr>
            <a:r>
              <a:rPr sz="900" b="1" i="0">
                <a:solidFill>
                  <a:srgbClr val="FFFFFF"/>
                </a:solidFill>
                <a:effectLst>
                  <a:glow rad="63500">
                    <a:srgbClr val="001633">
                      <a:alpha val="85000"/>
                    </a:srgbClr>
                  </a:glow>
                </a:effectLst>
                <a:latin typeface="Montserrat"/>
              </a:rPr>
              <a:t>nuevo equipo</a:t>
            </a:r>
          </a:p>
          <a:p>
            <a:pPr algn="l">
              <a:spcAft>
                <a:spcPts val="0"/>
              </a:spcAft>
            </a:pPr>
            <a:r>
              <a:rPr sz="800" b="0" i="0">
                <a:solidFill>
                  <a:srgbClr val="A9B8C9"/>
                </a:solidFill>
                <a:effectLst>
                  <a:glow rad="63500">
                    <a:srgbClr val="001633">
                      <a:alpha val="85000"/>
                    </a:srgbClr>
                  </a:glow>
                </a:effectLst>
                <a:latin typeface="Montserrat"/>
              </a:rPr>
              <a:t>se agrega un segundo molino de bolas</a:t>
            </a:r>
          </a:p>
        </p:txBody>
      </p:sp>
      <p:sp>
        <p:nvSpPr>
          <p:cNvPr id="51"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ModelOps: elaboración propia sobre prácticas de software industrial · versiones ilustrativas</a:t>
            </a:r>
          </a:p>
        </p:txBody>
      </p:sp>
      <p:sp>
        <p:nvSpPr>
          <p:cNvPr id="52"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53"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5"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56"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7"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8"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59"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Avance III actual"/>
          <p:cNvSpPr/>
          <p:nvPr/>
        </p:nvSpPr>
        <p:spPr>
          <a:xfrm>
            <a:off x="5001768" y="6510528"/>
            <a:ext cx="1725561"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62"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30/31 </a:t>
            </a:r>
            <a:r>
              <a:rPr sz="1000" b="0" i="0">
                <a:solidFill>
                  <a:srgbClr val="A9B8C9"/>
                </a:solidFill>
                <a:effectLst>
                  <a:glow rad="63500">
                    <a:srgbClr val="001633">
                      <a:alpha val="85000"/>
                    </a:srgbClr>
                  </a:glow>
                </a:effectLst>
                <a:latin typeface="Montserrat"/>
              </a:rPr>
              <a:t>· Gemelos Digitales para Minería 4.0 · 67</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Tres ideas para llevarse del capítulo III</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III · CONSTRUCCIÓN — CIERRE</a:t>
            </a:r>
          </a:p>
        </p:txBody>
      </p:sp>
      <p:sp>
        <p:nvSpPr>
          <p:cNvPr id="6" name="Idea 1"/>
          <p:cNvSpPr/>
          <p:nvPr/>
        </p:nvSpPr>
        <p:spPr>
          <a:xfrm>
            <a:off x="1252728" y="2194560"/>
            <a:ext cx="3124200" cy="2377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Idea 1 borde"/>
          <p:cNvSpPr/>
          <p:nvPr/>
        </p:nvSpPr>
        <p:spPr>
          <a:xfrm>
            <a:off x="125272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7"/>
          <p:cNvSpPr txBox="1"/>
          <p:nvPr/>
        </p:nvSpPr>
        <p:spPr>
          <a:xfrm>
            <a:off x="148132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1</a:t>
            </a:r>
          </a:p>
        </p:txBody>
      </p:sp>
      <p:pic>
        <p:nvPicPr>
          <p:cNvPr id="9" name="Ícono brain-circuit" descr="brain-circuit-orange.png"/>
          <p:cNvPicPr>
            <a:picLocks noChangeAspect="1"/>
          </p:cNvPicPr>
          <p:nvPr/>
        </p:nvPicPr>
        <p:blipFill>
          <a:blip r:embed="rId3"/>
          <a:stretch>
            <a:fillRect/>
          </a:stretch>
        </p:blipFill>
        <p:spPr>
          <a:xfrm>
            <a:off x="3782568" y="2468880"/>
            <a:ext cx="365760" cy="365760"/>
          </a:xfrm>
          <a:prstGeom prst="rect">
            <a:avLst/>
          </a:prstGeom>
        </p:spPr>
      </p:pic>
      <p:sp>
        <p:nvSpPr>
          <p:cNvPr id="10" name="TextBox 9"/>
          <p:cNvSpPr txBox="1"/>
          <p:nvPr/>
        </p:nvSpPr>
        <p:spPr>
          <a:xfrm>
            <a:off x="148132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EL MODELO</a:t>
            </a:r>
          </a:p>
        </p:txBody>
      </p:sp>
      <p:sp>
        <p:nvSpPr>
          <p:cNvPr id="11" name="TextBox 10"/>
          <p:cNvSpPr txBox="1"/>
          <p:nvPr/>
        </p:nvSpPr>
        <p:spPr>
          <a:xfrm>
            <a:off x="1481328" y="3337560"/>
            <a:ext cx="2667000" cy="960120"/>
          </a:xfrm>
          <a:prstGeom prst="rect">
            <a:avLst/>
          </a:prstGeom>
          <a:noFill/>
        </p:spPr>
        <p:txBody>
          <a:bodyPr wrap="square" lIns="0" tIns="0" rIns="0" bIns="0" anchor="t">
            <a:spAutoFit/>
          </a:bodyPr>
          <a:lstStyle/>
          <a:p>
            <a:pPr algn="l">
              <a:spcAft>
                <a:spcPts val="400"/>
              </a:spcAft>
            </a:pPr>
            <a:r>
              <a:rPr sz="1250" b="1" i="0">
                <a:solidFill>
                  <a:srgbClr val="FFFFFF"/>
                </a:solidFill>
                <a:effectLst>
                  <a:glow rad="63500">
                    <a:srgbClr val="001633">
                      <a:alpha val="85000"/>
                    </a:srgbClr>
                  </a:glow>
                </a:effectLst>
                <a:latin typeface="Montserrat"/>
              </a:rPr>
              <a:t>Física, datos o híbrido, a la fidelidad que pide la decisión.</a:t>
            </a:r>
          </a:p>
          <a:p>
            <a:pPr algn="l">
              <a:spcAft>
                <a:spcPts val="400"/>
              </a:spcAft>
            </a:pPr>
            <a:r>
              <a:rPr sz="1000" b="0" i="0">
                <a:solidFill>
                  <a:srgbClr val="A9B8C9"/>
                </a:solidFill>
                <a:effectLst>
                  <a:glow rad="63500">
                    <a:srgbClr val="001633">
                      <a:alpha val="85000"/>
                    </a:srgbClr>
                  </a:glow>
                </a:effectLst>
                <a:latin typeface="Montserrat"/>
              </a:rPr>
              <a:t>Un modelo que simula no es un modelo correcto: se verifica, valida y calibra.</a:t>
            </a:r>
          </a:p>
        </p:txBody>
      </p:sp>
      <p:sp>
        <p:nvSpPr>
          <p:cNvPr id="12" name="Idea 2"/>
          <p:cNvSpPr/>
          <p:nvPr/>
        </p:nvSpPr>
        <p:spPr>
          <a:xfrm>
            <a:off x="4696968" y="2194560"/>
            <a:ext cx="3124200" cy="2377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3" name="Idea 2 borde"/>
          <p:cNvSpPr/>
          <p:nvPr/>
        </p:nvSpPr>
        <p:spPr>
          <a:xfrm>
            <a:off x="469696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492556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2</a:t>
            </a:r>
          </a:p>
        </p:txBody>
      </p:sp>
      <p:pic>
        <p:nvPicPr>
          <p:cNvPr id="15" name="Ícono git-merge" descr="git-merge-orange.png"/>
          <p:cNvPicPr>
            <a:picLocks noChangeAspect="1"/>
          </p:cNvPicPr>
          <p:nvPr/>
        </p:nvPicPr>
        <p:blipFill>
          <a:blip r:embed="rId4"/>
          <a:stretch>
            <a:fillRect/>
          </a:stretch>
        </p:blipFill>
        <p:spPr>
          <a:xfrm>
            <a:off x="7226808" y="2468880"/>
            <a:ext cx="365760" cy="365760"/>
          </a:xfrm>
          <a:prstGeom prst="rect">
            <a:avLst/>
          </a:prstGeom>
        </p:spPr>
      </p:pic>
      <p:sp>
        <p:nvSpPr>
          <p:cNvPr id="16" name="TextBox 15"/>
          <p:cNvSpPr txBox="1"/>
          <p:nvPr/>
        </p:nvSpPr>
        <p:spPr>
          <a:xfrm>
            <a:off x="492556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LA INTEGRACIÓN</a:t>
            </a:r>
          </a:p>
        </p:txBody>
      </p:sp>
      <p:sp>
        <p:nvSpPr>
          <p:cNvPr id="17" name="TextBox 16"/>
          <p:cNvSpPr txBox="1"/>
          <p:nvPr/>
        </p:nvSpPr>
        <p:spPr>
          <a:xfrm>
            <a:off x="4925568" y="3337560"/>
            <a:ext cx="2667000" cy="960120"/>
          </a:xfrm>
          <a:prstGeom prst="rect">
            <a:avLst/>
          </a:prstGeom>
          <a:noFill/>
        </p:spPr>
        <p:txBody>
          <a:bodyPr wrap="square" lIns="0" tIns="0" rIns="0" bIns="0" anchor="t">
            <a:spAutoFit/>
          </a:bodyPr>
          <a:lstStyle/>
          <a:p>
            <a:pPr algn="l">
              <a:spcAft>
                <a:spcPts val="400"/>
              </a:spcAft>
            </a:pPr>
            <a:r>
              <a:rPr sz="1250" b="1" i="0">
                <a:solidFill>
                  <a:srgbClr val="FFFFFF"/>
                </a:solidFill>
                <a:effectLst>
                  <a:glow rad="63500">
                    <a:srgbClr val="001633">
                      <a:alpha val="85000"/>
                    </a:srgbClr>
                  </a:glow>
                </a:effectLst>
                <a:latin typeface="Montserrat"/>
              </a:rPr>
              <a:t>Los proveedores se unen con estándares: FMU para modelos, OPC UA y MQTT para datos.</a:t>
            </a:r>
          </a:p>
          <a:p>
            <a:pPr algn="l">
              <a:spcAft>
                <a:spcPts val="400"/>
              </a:spcAft>
            </a:pPr>
            <a:r>
              <a:rPr sz="1000" b="0" i="0">
                <a:solidFill>
                  <a:srgbClr val="A9B8C9"/>
                </a:solidFill>
                <a:effectLst>
                  <a:glow rad="63500">
                    <a:srgbClr val="001633">
                      <a:alpha val="85000"/>
                    </a:srgbClr>
                  </a:glow>
                </a:effectLst>
                <a:latin typeface="Montserrat"/>
              </a:rPr>
              <a:t>El integrador valida el conjunto, no solo cada pieza.</a:t>
            </a:r>
          </a:p>
        </p:txBody>
      </p:sp>
      <p:sp>
        <p:nvSpPr>
          <p:cNvPr id="18" name="Idea 3"/>
          <p:cNvSpPr/>
          <p:nvPr/>
        </p:nvSpPr>
        <p:spPr>
          <a:xfrm>
            <a:off x="8141208" y="2194560"/>
            <a:ext cx="3124200" cy="2377440"/>
          </a:xfrm>
          <a:prstGeom prst="rect">
            <a:avLst/>
          </a:prstGeom>
          <a:solidFill>
            <a:srgbClr val="0B26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Idea 3 borde"/>
          <p:cNvSpPr/>
          <p:nvPr/>
        </p:nvSpPr>
        <p:spPr>
          <a:xfrm>
            <a:off x="8141208" y="2194560"/>
            <a:ext cx="3124200" cy="54864"/>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TextBox 19"/>
          <p:cNvSpPr txBox="1"/>
          <p:nvPr/>
        </p:nvSpPr>
        <p:spPr>
          <a:xfrm>
            <a:off x="8369808" y="2377440"/>
            <a:ext cx="822960" cy="731520"/>
          </a:xfrm>
          <a:prstGeom prst="rect">
            <a:avLst/>
          </a:prstGeom>
          <a:noFill/>
        </p:spPr>
        <p:txBody>
          <a:bodyPr wrap="square" lIns="0" tIns="0" rIns="0" bIns="0" anchor="t">
            <a:spAutoFit/>
          </a:bodyPr>
          <a:lstStyle/>
          <a:p>
            <a:pPr algn="l">
              <a:spcAft>
                <a:spcPts val="600"/>
              </a:spcAft>
            </a:pPr>
            <a:r>
              <a:rPr sz="4000" b="1" i="0">
                <a:solidFill>
                  <a:srgbClr val="FFAB40"/>
                </a:solidFill>
                <a:effectLst>
                  <a:glow rad="63500">
                    <a:srgbClr val="001633">
                      <a:alpha val="85000"/>
                    </a:srgbClr>
                  </a:glow>
                </a:effectLst>
                <a:latin typeface="Montserrat"/>
              </a:rPr>
              <a:t>3</a:t>
            </a:r>
          </a:p>
        </p:txBody>
      </p:sp>
      <p:pic>
        <p:nvPicPr>
          <p:cNvPr id="21" name="Ícono server" descr="server-orange.png"/>
          <p:cNvPicPr>
            <a:picLocks noChangeAspect="1"/>
          </p:cNvPicPr>
          <p:nvPr/>
        </p:nvPicPr>
        <p:blipFill>
          <a:blip r:embed="rId5"/>
          <a:stretch>
            <a:fillRect/>
          </a:stretch>
        </p:blipFill>
        <p:spPr>
          <a:xfrm>
            <a:off x="10671048" y="2468880"/>
            <a:ext cx="365760" cy="365760"/>
          </a:xfrm>
          <a:prstGeom prst="rect">
            <a:avLst/>
          </a:prstGeom>
        </p:spPr>
      </p:pic>
      <p:sp>
        <p:nvSpPr>
          <p:cNvPr id="22" name="TextBox 21"/>
          <p:cNvSpPr txBox="1"/>
          <p:nvPr/>
        </p:nvSpPr>
        <p:spPr>
          <a:xfrm>
            <a:off x="8369808" y="3063240"/>
            <a:ext cx="2667000" cy="274320"/>
          </a:xfrm>
          <a:prstGeom prst="rect">
            <a:avLst/>
          </a:prstGeom>
          <a:noFill/>
        </p:spPr>
        <p:txBody>
          <a:bodyPr wrap="square" lIns="0" tIns="0" rIns="0" bIns="0" anchor="t">
            <a:spAutoFit/>
          </a:bodyPr>
          <a:lstStyle/>
          <a:p>
            <a:pPr algn="l">
              <a:spcAft>
                <a:spcPts val="600"/>
              </a:spcAft>
            </a:pPr>
            <a:r>
              <a:rPr sz="1000" b="1" i="0">
                <a:solidFill>
                  <a:srgbClr val="A9B8C9"/>
                </a:solidFill>
                <a:effectLst>
                  <a:glow rad="63500">
                    <a:srgbClr val="001633">
                      <a:alpha val="85000"/>
                    </a:srgbClr>
                  </a:glow>
                </a:effectLst>
                <a:latin typeface="Montserrat"/>
              </a:rPr>
              <a:t>LA OPERACIÓN</a:t>
            </a:r>
          </a:p>
        </p:txBody>
      </p:sp>
      <p:sp>
        <p:nvSpPr>
          <p:cNvPr id="23" name="TextBox 22"/>
          <p:cNvSpPr txBox="1"/>
          <p:nvPr/>
        </p:nvSpPr>
        <p:spPr>
          <a:xfrm>
            <a:off x="8369808" y="3337560"/>
            <a:ext cx="2667000" cy="960120"/>
          </a:xfrm>
          <a:prstGeom prst="rect">
            <a:avLst/>
          </a:prstGeom>
          <a:noFill/>
        </p:spPr>
        <p:txBody>
          <a:bodyPr wrap="square" lIns="0" tIns="0" rIns="0" bIns="0" anchor="t">
            <a:spAutoFit/>
          </a:bodyPr>
          <a:lstStyle/>
          <a:p>
            <a:pPr algn="l">
              <a:spcAft>
                <a:spcPts val="400"/>
              </a:spcAft>
            </a:pPr>
            <a:r>
              <a:rPr sz="1250" b="1" i="0">
                <a:solidFill>
                  <a:srgbClr val="FFFFFF"/>
                </a:solidFill>
                <a:effectLst>
                  <a:glow rad="63500">
                    <a:srgbClr val="001633">
                      <a:alpha val="85000"/>
                    </a:srgbClr>
                  </a:glow>
                </a:effectLst>
                <a:latin typeface="Montserrat"/>
              </a:rPr>
              <a:t>El gemelo corre donde su decisión lo necesita y se mantiene como software crítico.</a:t>
            </a:r>
          </a:p>
          <a:p>
            <a:pPr algn="l">
              <a:spcAft>
                <a:spcPts val="400"/>
              </a:spcAft>
            </a:pPr>
            <a:r>
              <a:rPr sz="1000" b="0" i="0">
                <a:solidFill>
                  <a:srgbClr val="A9B8C9"/>
                </a:solidFill>
                <a:effectLst>
                  <a:glow rad="63500">
                    <a:srgbClr val="001633">
                      <a:alpha val="85000"/>
                    </a:srgbClr>
                  </a:glow>
                </a:effectLst>
                <a:latin typeface="Montserrat"/>
              </a:rPr>
              <a:t>Sin dueño ni recalibración, vuelve a ser una demo.</a:t>
            </a:r>
          </a:p>
        </p:txBody>
      </p:sp>
      <p:sp>
        <p:nvSpPr>
          <p:cNvPr id="24" name="Puente capítulo IV"/>
          <p:cNvSpPr/>
          <p:nvPr/>
        </p:nvSpPr>
        <p:spPr>
          <a:xfrm>
            <a:off x="1252728" y="4754880"/>
            <a:ext cx="10012680" cy="731520"/>
          </a:xfrm>
          <a:prstGeom prst="rect">
            <a:avLst/>
          </a:prstGeom>
          <a:solidFill>
            <a:srgbClr val="12335E"/>
          </a:solidFill>
          <a:ln w="190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pítulo IV"/>
          <p:cNvSpPr/>
          <p:nvPr/>
        </p:nvSpPr>
        <p:spPr>
          <a:xfrm>
            <a:off x="1435608" y="4864608"/>
            <a:ext cx="512064" cy="512064"/>
          </a:xfrm>
          <a:prstGeom prst="ellipse">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26" name="Ícono target" descr="target-navy.png"/>
          <p:cNvPicPr>
            <a:picLocks noChangeAspect="1"/>
          </p:cNvPicPr>
          <p:nvPr/>
        </p:nvPicPr>
        <p:blipFill>
          <a:blip r:embed="rId6"/>
          <a:stretch>
            <a:fillRect/>
          </a:stretch>
        </p:blipFill>
        <p:spPr>
          <a:xfrm>
            <a:off x="1548262" y="4977262"/>
            <a:ext cx="286755" cy="286755"/>
          </a:xfrm>
          <a:prstGeom prst="rect">
            <a:avLst/>
          </a:prstGeom>
        </p:spPr>
      </p:pic>
      <p:sp>
        <p:nvSpPr>
          <p:cNvPr id="27" name="TextBox 26"/>
          <p:cNvSpPr txBox="1"/>
          <p:nvPr/>
        </p:nvSpPr>
        <p:spPr>
          <a:xfrm>
            <a:off x="2121408" y="4754880"/>
            <a:ext cx="9006840" cy="731520"/>
          </a:xfrm>
          <a:prstGeom prst="rect">
            <a:avLst/>
          </a:prstGeom>
          <a:noFill/>
        </p:spPr>
        <p:txBody>
          <a:bodyPr wrap="square" lIns="0" tIns="0" rIns="0" bIns="0" anchor="ctr">
            <a:spAutoFit/>
          </a:bodyPr>
          <a:lstStyle/>
          <a:p>
            <a:pPr algn="l">
              <a:spcAft>
                <a:spcPts val="600"/>
              </a:spcAft>
            </a:pPr>
            <a:r>
              <a:rPr sz="1400" b="1" i="0">
                <a:solidFill>
                  <a:srgbClr val="FFAB40"/>
                </a:solidFill>
                <a:effectLst>
                  <a:glow rad="63500">
                    <a:srgbClr val="001633">
                      <a:alpha val="85000"/>
                    </a:srgbClr>
                  </a:glow>
                </a:effectLst>
                <a:latin typeface="Montserrat"/>
              </a:rPr>
              <a:t>Capítulo IV · Caso práctico   </a:t>
            </a:r>
            <a:r>
              <a:rPr sz="1300" b="0" i="0">
                <a:solidFill>
                  <a:srgbClr val="FFFFFF"/>
                </a:solidFill>
                <a:effectLst>
                  <a:glow rad="63500">
                    <a:srgbClr val="001633">
                      <a:alpha val="85000"/>
                    </a:srgbClr>
                  </a:glow>
                </a:effectLst>
                <a:latin typeface="Montserrat"/>
              </a:rPr>
              <a:t>todo el curso aplicado a un filtro de concentrado, de punta a punta.</a:t>
            </a:r>
          </a:p>
        </p:txBody>
      </p:sp>
      <p:sp>
        <p:nvSpPr>
          <p:cNvPr id="28"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0" i="0">
                <a:solidFill>
                  <a:srgbClr val="A9B8C9"/>
                </a:solidFill>
                <a:effectLst>
                  <a:glow rad="63500">
                    <a:srgbClr val="001633">
                      <a:alpha val="85000"/>
                    </a:srgbClr>
                  </a:glow>
                </a:effectLst>
                <a:latin typeface="Montserrat"/>
              </a:rPr>
              <a:t>Resumen del capítulo III</a:t>
            </a:r>
          </a:p>
        </p:txBody>
      </p:sp>
      <p:sp>
        <p:nvSpPr>
          <p:cNvPr id="29" name="Avance I rótulo"/>
          <p:cNvSpPr txBox="1"/>
          <p:nvPr/>
        </p:nvSpPr>
        <p:spPr>
          <a:xfrm>
            <a:off x="125272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 · Fundamentos</a:t>
            </a:r>
          </a:p>
        </p:txBody>
      </p:sp>
      <p:sp>
        <p:nvSpPr>
          <p:cNvPr id="30" name="Avance I pista"/>
          <p:cNvSpPr/>
          <p:nvPr/>
        </p:nvSpPr>
        <p:spPr>
          <a:xfrm>
            <a:off x="125272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Avance I completo"/>
          <p:cNvSpPr/>
          <p:nvPr/>
        </p:nvSpPr>
        <p:spPr>
          <a:xfrm>
            <a:off x="125272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Avance II rótulo"/>
          <p:cNvSpPr txBox="1"/>
          <p:nvPr/>
        </p:nvSpPr>
        <p:spPr>
          <a:xfrm>
            <a:off x="3127248" y="6263640"/>
            <a:ext cx="1783080" cy="201168"/>
          </a:xfrm>
          <a:prstGeom prst="rect">
            <a:avLst/>
          </a:prstGeom>
          <a:noFill/>
        </p:spPr>
        <p:txBody>
          <a:bodyPr wrap="square" lIns="0" tIns="0" rIns="0" bIns="0" anchor="t">
            <a:spAutoFit/>
          </a:bodyPr>
          <a:lstStyle/>
          <a:p>
            <a:pPr algn="l">
              <a:spcAft>
                <a:spcPts val="600"/>
              </a:spcAft>
            </a:pPr>
            <a:r>
              <a:rPr sz="1000" b="0" i="0">
                <a:solidFill>
                  <a:srgbClr val="9C6B2E"/>
                </a:solidFill>
                <a:effectLst>
                  <a:glow rad="63500">
                    <a:srgbClr val="001633">
                      <a:alpha val="85000"/>
                    </a:srgbClr>
                  </a:glow>
                </a:effectLst>
                <a:latin typeface="Montserrat"/>
              </a:rPr>
              <a:t>✓ II · Industria</a:t>
            </a:r>
          </a:p>
        </p:txBody>
      </p:sp>
      <p:sp>
        <p:nvSpPr>
          <p:cNvPr id="33" name="Avance II pista"/>
          <p:cNvSpPr/>
          <p:nvPr/>
        </p:nvSpPr>
        <p:spPr>
          <a:xfrm>
            <a:off x="312724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Avance II completo"/>
          <p:cNvSpPr/>
          <p:nvPr/>
        </p:nvSpPr>
        <p:spPr>
          <a:xfrm>
            <a:off x="3127248" y="6510528"/>
            <a:ext cx="1783080" cy="64008"/>
          </a:xfrm>
          <a:prstGeom prst="rect">
            <a:avLst/>
          </a:prstGeom>
          <a:solidFill>
            <a:srgbClr val="9C6B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Avance III rótulo"/>
          <p:cNvSpPr txBox="1"/>
          <p:nvPr/>
        </p:nvSpPr>
        <p:spPr>
          <a:xfrm>
            <a:off x="5001768" y="6263640"/>
            <a:ext cx="1783080" cy="201168"/>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 III · Construcción</a:t>
            </a:r>
          </a:p>
        </p:txBody>
      </p:sp>
      <p:sp>
        <p:nvSpPr>
          <p:cNvPr id="36" name="Avance III pista"/>
          <p:cNvSpPr/>
          <p:nvPr/>
        </p:nvSpPr>
        <p:spPr>
          <a:xfrm>
            <a:off x="500176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Avance III actual"/>
          <p:cNvSpPr/>
          <p:nvPr/>
        </p:nvSpPr>
        <p:spPr>
          <a:xfrm>
            <a:off x="5001768" y="6510528"/>
            <a:ext cx="1783080" cy="64008"/>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Avance IV rótulo"/>
          <p:cNvSpPr txBox="1"/>
          <p:nvPr/>
        </p:nvSpPr>
        <p:spPr>
          <a:xfrm>
            <a:off x="6876288" y="6263640"/>
            <a:ext cx="1783080" cy="201168"/>
          </a:xfrm>
          <a:prstGeom prst="rect">
            <a:avLst/>
          </a:prstGeom>
          <a:noFill/>
        </p:spPr>
        <p:txBody>
          <a:bodyPr wrap="square" lIns="0" tIns="0" rIns="0" bIns="0" anchor="t">
            <a:spAutoFit/>
          </a:bodyPr>
          <a:lstStyle/>
          <a:p>
            <a:pPr algn="l">
              <a:spcAft>
                <a:spcPts val="600"/>
              </a:spcAft>
            </a:pPr>
            <a:r>
              <a:rPr sz="1000" b="0" i="0">
                <a:solidFill>
                  <a:srgbClr val="A9B8C9"/>
                </a:solidFill>
                <a:effectLst>
                  <a:glow rad="63500">
                    <a:srgbClr val="001633">
                      <a:alpha val="85000"/>
                    </a:srgbClr>
                  </a:glow>
                </a:effectLst>
                <a:latin typeface="Montserrat"/>
              </a:rPr>
              <a:t>IV · Caso práctico</a:t>
            </a:r>
          </a:p>
        </p:txBody>
      </p:sp>
      <p:sp>
        <p:nvSpPr>
          <p:cNvPr id="39" name="Avance IV pista"/>
          <p:cNvSpPr/>
          <p:nvPr/>
        </p:nvSpPr>
        <p:spPr>
          <a:xfrm>
            <a:off x="6876288" y="6510528"/>
            <a:ext cx="1783080" cy="64008"/>
          </a:xfrm>
          <a:prstGeom prst="rect">
            <a:avLst/>
          </a:prstGeom>
          <a:solidFill>
            <a:srgbClr val="2A45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Avance número"/>
          <p:cNvSpPr txBox="1"/>
          <p:nvPr/>
        </p:nvSpPr>
        <p:spPr>
          <a:xfrm>
            <a:off x="8887968" y="6263640"/>
            <a:ext cx="3017520" cy="365760"/>
          </a:xfrm>
          <a:prstGeom prst="rect">
            <a:avLst/>
          </a:prstGeom>
          <a:noFill/>
        </p:spPr>
        <p:txBody>
          <a:bodyPr wrap="square" lIns="0" tIns="0" rIns="0" bIns="0" anchor="t">
            <a:spAutoFit/>
          </a:bodyPr>
          <a:lstStyle/>
          <a:p>
            <a:pPr algn="l">
              <a:spcAft>
                <a:spcPts val="600"/>
              </a:spcAft>
            </a:pPr>
            <a:r>
              <a:rPr sz="1000" b="1" i="0">
                <a:solidFill>
                  <a:srgbClr val="FFAB40"/>
                </a:solidFill>
                <a:effectLst>
                  <a:glow rad="63500">
                    <a:srgbClr val="001633">
                      <a:alpha val="85000"/>
                    </a:srgbClr>
                  </a:glow>
                </a:effectLst>
                <a:latin typeface="Montserrat"/>
              </a:rPr>
              <a:t>31/31 </a:t>
            </a:r>
            <a:r>
              <a:rPr sz="1000" b="0" i="0">
                <a:solidFill>
                  <a:srgbClr val="A9B8C9"/>
                </a:solidFill>
                <a:effectLst>
                  <a:glow rad="63500">
                    <a:srgbClr val="001633">
                      <a:alpha val="85000"/>
                    </a:srgbClr>
                  </a:glow>
                </a:effectLst>
                <a:latin typeface="Montserrat"/>
              </a:rPr>
              <a:t>· Gemelos Digitales para Minería 4.0 · 68</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(1/3)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a:t>
            </a:r>
          </a:p>
        </p:txBody>
      </p:sp>
      <p:sp>
        <p:nvSpPr>
          <p:cNvPr id="8" name="Tipo Industria"/>
          <p:cNvSpPr/>
          <p:nvPr/>
        </p:nvSpPr>
        <p:spPr>
          <a:xfrm>
            <a:off x="1252728" y="20299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(2026, 26 de agosto). Inside the $1.3B digital twin market: Why no vendor owns the full stack. IoT Analytics.</a:t>
            </a:r>
          </a:p>
          <a:p>
            <a:pPr algn="l">
              <a:spcAft>
                <a:spcPts val="100"/>
              </a:spcAft>
            </a:pPr>
            <a:r>
              <a:rPr sz="700" b="0" i="0">
                <a:solidFill>
                  <a:srgbClr val="A9B8C9"/>
                </a:solidFill>
                <a:effectLst>
                  <a:glow rad="63500">
                    <a:srgbClr val="001633">
                      <a:alpha val="85000"/>
                    </a:srgbClr>
                  </a:glow>
                </a:effectLst>
                <a:latin typeface="Montserrat"/>
              </a:rPr>
              <a:t>https://iot-analytics.com/why-no-vendor-owns-the-full-digital-twin-tech-stack/</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a:t>
            </a:r>
          </a:p>
        </p:txBody>
      </p:sp>
      <p:sp>
        <p:nvSpPr>
          <p:cNvPr id="13" name="Tipo Académica"/>
          <p:cNvSpPr/>
          <p:nvPr/>
        </p:nvSpPr>
        <p:spPr>
          <a:xfrm>
            <a:off x="125272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Kritzinger, W., Karner, M., Traar, G., Henjes, J. y Sihn, W. (2018). Digital Twin in manufacturing: A categorical literature review and classification. IFAC-PapersOnLine, 51(11), 1016–1022.</a:t>
            </a:r>
          </a:p>
          <a:p>
            <a:pPr algn="l">
              <a:spcAft>
                <a:spcPts val="100"/>
              </a:spcAft>
            </a:pPr>
            <a:r>
              <a:rPr sz="700" b="0" i="0">
                <a:solidFill>
                  <a:srgbClr val="A9B8C9"/>
                </a:solidFill>
                <a:effectLst>
                  <a:glow rad="63500">
                    <a:srgbClr val="001633">
                      <a:alpha val="85000"/>
                    </a:srgbClr>
                  </a:glow>
                </a:effectLst>
                <a:latin typeface="Montserrat"/>
              </a:rPr>
              <a:t>https://doi.org/10.1016/j.ifacol.2018.08.474</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[3]</a:t>
            </a:r>
          </a:p>
        </p:txBody>
      </p:sp>
      <p:sp>
        <p:nvSpPr>
          <p:cNvPr id="18" name="Tipo Proveedor"/>
          <p:cNvSpPr/>
          <p:nvPr/>
        </p:nvSpPr>
        <p:spPr>
          <a:xfrm>
            <a:off x="1252728" y="32491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Davies, L. (2026, 6 de marzo). Digital twins drive proactive tailings monitoring. Engineering News. Contenido patrocinado por Dassault Systèmes.</a:t>
            </a:r>
          </a:p>
          <a:p>
            <a:pPr algn="l">
              <a:spcAft>
                <a:spcPts val="100"/>
              </a:spcAft>
            </a:pPr>
            <a:r>
              <a:rPr sz="700" b="0" i="0">
                <a:solidFill>
                  <a:srgbClr val="A9B8C9"/>
                </a:solidFill>
                <a:effectLst>
                  <a:glow rad="63500">
                    <a:srgbClr val="001633">
                      <a:alpha val="85000"/>
                    </a:srgbClr>
                  </a:glow>
                </a:effectLst>
                <a:latin typeface="Montserrat"/>
              </a:rPr>
              <a:t>https://www.engineeringnews.co.za/article/digital-twins-drive-proactive-tailings-monitoring-2026-03-06</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[4]</a:t>
            </a:r>
          </a:p>
        </p:txBody>
      </p:sp>
      <p:sp>
        <p:nvSpPr>
          <p:cNvPr id="23" name="Tipo Industria"/>
          <p:cNvSpPr/>
          <p:nvPr/>
        </p:nvSpPr>
        <p:spPr>
          <a:xfrm>
            <a:off x="1252728" y="38587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Lueth, K. L. (2020, 29 de abril). How the world's 250 Digital Twins compare? Same, same but different. IoT Analytics.</a:t>
            </a:r>
          </a:p>
          <a:p>
            <a:pPr algn="l">
              <a:spcAft>
                <a:spcPts val="100"/>
              </a:spcAft>
            </a:pPr>
            <a:r>
              <a:rPr sz="700" b="0" i="0">
                <a:solidFill>
                  <a:srgbClr val="A9B8C9"/>
                </a:solidFill>
                <a:effectLst>
                  <a:glow rad="63500">
                    <a:srgbClr val="001633">
                      <a:alpha val="85000"/>
                    </a:srgbClr>
                  </a:glow>
                </a:effectLst>
                <a:latin typeface="Montserrat"/>
              </a:rPr>
              <a:t>https://iot-analytics.com/how-the-worlds-250-digital-twins-compare/</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[5]</a:t>
            </a:r>
          </a:p>
        </p:txBody>
      </p:sp>
      <p:sp>
        <p:nvSpPr>
          <p:cNvPr id="28" name="Tipo Industria"/>
          <p:cNvSpPr/>
          <p:nvPr/>
        </p:nvSpPr>
        <p:spPr>
          <a:xfrm>
            <a:off x="125272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Digital Twin Consortium (2022). Digital Twin Capabilities Periodic Table: A Digital Twin Consortium User Guide.</a:t>
            </a:r>
          </a:p>
          <a:p>
            <a:pPr algn="l">
              <a:spcAft>
                <a:spcPts val="100"/>
              </a:spcAft>
            </a:pPr>
            <a:r>
              <a:rPr sz="700" b="0" i="0">
                <a:solidFill>
                  <a:srgbClr val="A9B8C9"/>
                </a:solidFill>
                <a:effectLst>
                  <a:glow rad="63500">
                    <a:srgbClr val="001633">
                      <a:alpha val="85000"/>
                    </a:srgbClr>
                  </a:glow>
                </a:effectLst>
                <a:latin typeface="Montserrat"/>
              </a:rPr>
              <a:t>https://media.digitaltwinconsortium.org/wp-content/uploads/2022/06/Digital-Twin-Capabilities-Periodic-Table-User-Guide.pdf</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[6]</a:t>
            </a:r>
          </a:p>
        </p:txBody>
      </p:sp>
      <p:sp>
        <p:nvSpPr>
          <p:cNvPr id="33" name="Tipo Académica"/>
          <p:cNvSpPr/>
          <p:nvPr/>
        </p:nvSpPr>
        <p:spPr>
          <a:xfrm>
            <a:off x="1252728" y="5077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National Academies of Sciences, Engineering, and Medicine (2024). Foundational Research Gaps and Future Directions for Digital Twins. The National Academies Press.</a:t>
            </a:r>
          </a:p>
          <a:p>
            <a:pPr algn="l">
              <a:spcAft>
                <a:spcPts val="100"/>
              </a:spcAft>
            </a:pPr>
            <a:r>
              <a:rPr sz="700" b="0" i="0">
                <a:solidFill>
                  <a:srgbClr val="A9B8C9"/>
                </a:solidFill>
                <a:effectLst>
                  <a:glow rad="63500">
                    <a:srgbClr val="001633">
                      <a:alpha val="85000"/>
                    </a:srgbClr>
                  </a:glow>
                </a:effectLst>
                <a:latin typeface="Montserrat"/>
              </a:rPr>
              <a:t>https://doi.org/10.17226/26894</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[7]</a:t>
            </a:r>
          </a:p>
        </p:txBody>
      </p:sp>
      <p:sp>
        <p:nvSpPr>
          <p:cNvPr id="38" name="Tipo Académica"/>
          <p:cNvSpPr/>
          <p:nvPr/>
        </p:nvSpPr>
        <p:spPr>
          <a:xfrm>
            <a:off x="644194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Tao, F., Zhang, H., Liu, A. y Nee, A. Y. C. (2019). Digital Twin in Industry: State-of-the-Art. IEEE Transactions on Industrial Informatics, 15(4).</a:t>
            </a:r>
          </a:p>
          <a:p>
            <a:pPr algn="l">
              <a:spcAft>
                <a:spcPts val="100"/>
              </a:spcAft>
            </a:pPr>
            <a:r>
              <a:rPr sz="700" b="0" i="0">
                <a:solidFill>
                  <a:srgbClr val="A9B8C9"/>
                </a:solidFill>
                <a:effectLst>
                  <a:glow rad="63500">
                    <a:srgbClr val="001633">
                      <a:alpha val="85000"/>
                    </a:srgbClr>
                  </a:glow>
                </a:effectLst>
                <a:latin typeface="Montserrat"/>
              </a:rPr>
              <a:t>https://doi.org/10.1109/TII.2018.2873186</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[8]</a:t>
            </a:r>
          </a:p>
        </p:txBody>
      </p:sp>
      <p:sp>
        <p:nvSpPr>
          <p:cNvPr id="43" name="Tipo Académica"/>
          <p:cNvSpPr/>
          <p:nvPr/>
        </p:nvSpPr>
        <p:spPr>
          <a:xfrm>
            <a:off x="6441948" y="26395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Taylor, J., Clark, J. M., Levy, I., Horne, P., Smith, M. y Passmore, M. (2019). BHP Olympic Dam's transformation to live implicit modelling and innovative solutions to working in data dense environments. 11th International Mining Geology Conference, AusIMM.</a:t>
            </a:r>
          </a:p>
          <a:p>
            <a:pPr algn="l">
              <a:spcAft>
                <a:spcPts val="100"/>
              </a:spcAft>
            </a:pPr>
            <a:r>
              <a:rPr sz="700" b="0" i="0">
                <a:solidFill>
                  <a:srgbClr val="A9B8C9"/>
                </a:solidFill>
                <a:effectLst>
                  <a:glow rad="63500">
                    <a:srgbClr val="001633">
                      <a:alpha val="85000"/>
                    </a:srgbClr>
                  </a:glow>
                </a:effectLst>
                <a:latin typeface="Montserrat"/>
              </a:rPr>
              <a:t>https://www.ausimm.com/publications/conference-proceedings/11th-international-mining-geology-conference-2019/bhp-olympic-dams-transformation-to-live-implicit-modelling-and-innovative-solutions-to-working-in-data-dense-environments/</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[9]</a:t>
            </a:r>
          </a:p>
        </p:txBody>
      </p:sp>
      <p:sp>
        <p:nvSpPr>
          <p:cNvPr id="48" name="Tipo Académica"/>
          <p:cNvSpPr/>
          <p:nvPr/>
        </p:nvSpPr>
        <p:spPr>
          <a:xfrm>
            <a:off x="6441948" y="32491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Zamani, V., Badiozamani, M. M. y Askari-Nasab, H. (2025). An Ore-to-Barrel Digital Twin: Simulating Fleet and Plant Development in Oil Sands Mining Operations. Mining Optimization Laboratory, University of Alberta.</a:t>
            </a:r>
          </a:p>
          <a:p>
            <a:pPr algn="l">
              <a:spcAft>
                <a:spcPts val="100"/>
              </a:spcAft>
            </a:pPr>
            <a:r>
              <a:rPr sz="700" b="0" i="0">
                <a:solidFill>
                  <a:srgbClr val="A9B8C9"/>
                </a:solidFill>
                <a:effectLst>
                  <a:glow rad="63500">
                    <a:srgbClr val="001633">
                      <a:alpha val="85000"/>
                    </a:srgbClr>
                  </a:glow>
                </a:effectLst>
                <a:latin typeface="Montserrat"/>
              </a:rPr>
              <a:t>https://sites.ualberta.ca/MOL/DataFiles/2025_Papers/303_Zamani.pdf</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[10]</a:t>
            </a:r>
          </a:p>
        </p:txBody>
      </p:sp>
      <p:sp>
        <p:nvSpPr>
          <p:cNvPr id="53" name="Tipo Prensa"/>
          <p:cNvSpPr/>
          <p:nvPr/>
        </p:nvSpPr>
        <p:spPr>
          <a:xfrm>
            <a:off x="6441948" y="38587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Mining Digital (2024, 31 de enero). ABB &amp; Boliden use digital twins to optimise mining processes.</a:t>
            </a:r>
          </a:p>
          <a:p>
            <a:pPr algn="l">
              <a:spcAft>
                <a:spcPts val="100"/>
              </a:spcAft>
            </a:pPr>
            <a:r>
              <a:rPr sz="700" b="0" i="0">
                <a:solidFill>
                  <a:srgbClr val="A9B8C9"/>
                </a:solidFill>
                <a:effectLst>
                  <a:glow rad="63500">
                    <a:srgbClr val="001633">
                      <a:alpha val="85000"/>
                    </a:srgbClr>
                  </a:glow>
                </a:effectLst>
                <a:latin typeface="Montserrat"/>
              </a:rPr>
              <a:t>https://miningdigital.com/articles/abb-boliden-use-digital-twins-to-optimise-mining-processes</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[11]</a:t>
            </a:r>
          </a:p>
        </p:txBody>
      </p:sp>
      <p:sp>
        <p:nvSpPr>
          <p:cNvPr id="58" name="Tipo Industria"/>
          <p:cNvSpPr/>
          <p:nvPr/>
        </p:nvSpPr>
        <p:spPr>
          <a:xfrm>
            <a:off x="6441948" y="4468367"/>
            <a:ext cx="384048" cy="146304"/>
          </a:xfrm>
          <a:prstGeom prst="rect">
            <a:avLst/>
          </a:prstGeom>
          <a:solidFill>
            <a:srgbClr val="001633"/>
          </a:solidFill>
          <a:ln w="63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FFFFFF"/>
                </a:solidFill>
                <a:effectLst>
                  <a:glow rad="63500">
                    <a:srgbClr val="001633">
                      <a:alpha val="85000"/>
                    </a:srgbClr>
                  </a:glow>
                </a:effectLst>
                <a:latin typeface="Montserrat"/>
              </a:rPr>
              <a:t>INDU</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MMG (2026, 20 de julio). The new digital twin technology adoption that delivered strong value.</a:t>
            </a:r>
          </a:p>
          <a:p>
            <a:pPr algn="l">
              <a:spcAft>
                <a:spcPts val="100"/>
              </a:spcAft>
            </a:pPr>
            <a:r>
              <a:rPr sz="700" b="0" i="0">
                <a:solidFill>
                  <a:srgbClr val="A9B8C9"/>
                </a:solidFill>
                <a:effectLst>
                  <a:glow rad="63500">
                    <a:srgbClr val="001633">
                      <a:alpha val="85000"/>
                    </a:srgbClr>
                  </a:glow>
                </a:effectLst>
                <a:latin typeface="Montserrat"/>
              </a:rPr>
              <a:t>https://www.mmg.com/investors/news-centre/169701</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[12]</a:t>
            </a:r>
          </a:p>
        </p:txBody>
      </p:sp>
      <p:sp>
        <p:nvSpPr>
          <p:cNvPr id="63" name="Tipo Proveedor"/>
          <p:cNvSpPr/>
          <p:nvPr/>
        </p:nvSpPr>
        <p:spPr>
          <a:xfrm>
            <a:off x="6441948" y="5077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Kenworthy, A. (2021). The role of a dynamically updated digital twin in modern tailing storage facilities management. Seequent.</a:t>
            </a:r>
          </a:p>
          <a:p>
            <a:pPr algn="l">
              <a:spcAft>
                <a:spcPts val="100"/>
              </a:spcAft>
            </a:pPr>
            <a:r>
              <a:rPr sz="700" b="0" i="0">
                <a:solidFill>
                  <a:srgbClr val="A9B8C9"/>
                </a:solidFill>
                <a:effectLst>
                  <a:glow rad="63500">
                    <a:srgbClr val="001633">
                      <a:alpha val="85000"/>
                    </a:srgbClr>
                  </a:glow>
                </a:effectLst>
                <a:latin typeface="Montserrat"/>
              </a:rPr>
              <a:t>https://www.seequent.com/the-role-of-a-dynamically-updated-digital-twin-in-modern-tailing-storage-facilities-management-monitoring-to-modeling</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(2/3)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[13]</a:t>
            </a:r>
          </a:p>
        </p:txBody>
      </p:sp>
      <p:sp>
        <p:nvSpPr>
          <p:cNvPr id="8" name="Tipo Proveedor"/>
          <p:cNvSpPr/>
          <p:nvPr/>
        </p:nvSpPr>
        <p:spPr>
          <a:xfrm>
            <a:off x="1252728" y="20299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1" name="TextBox 10"/>
          <p:cNvSpPr txBox="1"/>
          <p:nvPr/>
        </p:nvSpPr>
        <p:spPr>
          <a:xfrm>
            <a:off x="175564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Visagie, C. (2026, 13 de mayo). Real-time ventilation-on-demand using digital twins. MechChem Africa. El autor es director de Vuma Software.</a:t>
            </a:r>
          </a:p>
          <a:p>
            <a:pPr algn="l">
              <a:spcAft>
                <a:spcPts val="100"/>
              </a:spcAft>
            </a:pPr>
            <a:r>
              <a:rPr sz="700" b="0" i="0">
                <a:solidFill>
                  <a:srgbClr val="A9B8C9"/>
                </a:solidFill>
                <a:effectLst>
                  <a:glow rad="63500">
                    <a:srgbClr val="001633">
                      <a:alpha val="85000"/>
                    </a:srgbClr>
                  </a:glow>
                </a:effectLst>
                <a:latin typeface="Montserrat"/>
              </a:rPr>
              <a:t>https://www.crown.co.za/mechchem-africa/industry-innovations/36611-real-time-ventilation-on-demand-using-digital-twins</a:t>
            </a:r>
          </a:p>
        </p:txBody>
      </p:sp>
      <p:sp>
        <p:nvSpPr>
          <p:cNvPr id="12" name="TextBox 11"/>
          <p:cNvSpPr txBox="1"/>
          <p:nvPr/>
        </p:nvSpPr>
        <p:spPr>
          <a:xfrm>
            <a:off x="125272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[14]</a:t>
            </a:r>
          </a:p>
        </p:txBody>
      </p:sp>
      <p:sp>
        <p:nvSpPr>
          <p:cNvPr id="13" name="Tipo Proveedor"/>
          <p:cNvSpPr/>
          <p:nvPr/>
        </p:nvSpPr>
        <p:spPr>
          <a:xfrm>
            <a:off x="1252728" y="26395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395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16" name="TextBox 15"/>
          <p:cNvSpPr txBox="1"/>
          <p:nvPr/>
        </p:nvSpPr>
        <p:spPr>
          <a:xfrm>
            <a:off x="175564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Mipac (2025, 21 de mayo). Ok Tedi's AVEVA PI System journey with Mipac.</a:t>
            </a:r>
          </a:p>
          <a:p>
            <a:pPr algn="l">
              <a:spcAft>
                <a:spcPts val="100"/>
              </a:spcAft>
            </a:pPr>
            <a:r>
              <a:rPr sz="700" b="0" i="0">
                <a:solidFill>
                  <a:srgbClr val="A9B8C9"/>
                </a:solidFill>
                <a:effectLst>
                  <a:glow rad="63500">
                    <a:srgbClr val="001633">
                      <a:alpha val="85000"/>
                    </a:srgbClr>
                  </a:glow>
                </a:effectLst>
                <a:latin typeface="Montserrat"/>
              </a:rPr>
              <a:t>https://www.mipac.com.au/insights/ok-tedis-aveva-pi-system-journey-with-mipac/</a:t>
            </a:r>
          </a:p>
        </p:txBody>
      </p:sp>
      <p:sp>
        <p:nvSpPr>
          <p:cNvPr id="17" name="TextBox 16"/>
          <p:cNvSpPr txBox="1"/>
          <p:nvPr/>
        </p:nvSpPr>
        <p:spPr>
          <a:xfrm>
            <a:off x="125272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[15]</a:t>
            </a:r>
          </a:p>
        </p:txBody>
      </p:sp>
      <p:sp>
        <p:nvSpPr>
          <p:cNvPr id="18" name="Tipo Prensa"/>
          <p:cNvSpPr/>
          <p:nvPr/>
        </p:nvSpPr>
        <p:spPr>
          <a:xfrm>
            <a:off x="1252728" y="32491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1252728" y="32491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20" name="TextBox 19"/>
          <p:cNvSpPr txBox="1"/>
          <p:nvPr/>
        </p:nvSpPr>
        <p:spPr>
          <a:xfrm>
            <a:off x="125272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1" name="TextBox 20"/>
          <p:cNvSpPr txBox="1"/>
          <p:nvPr/>
        </p:nvSpPr>
        <p:spPr>
          <a:xfrm>
            <a:off x="175564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International Mining (2022, 12 de diciembre). Anglo American utilising latest digital twin technology at Quellaveco.</a:t>
            </a:r>
          </a:p>
          <a:p>
            <a:pPr algn="l">
              <a:spcAft>
                <a:spcPts val="100"/>
              </a:spcAft>
            </a:pPr>
            <a:r>
              <a:rPr sz="700" b="0" i="0">
                <a:solidFill>
                  <a:srgbClr val="A9B8C9"/>
                </a:solidFill>
                <a:effectLst>
                  <a:glow rad="63500">
                    <a:srgbClr val="001633">
                      <a:alpha val="85000"/>
                    </a:srgbClr>
                  </a:glow>
                </a:effectLst>
                <a:latin typeface="Montserrat"/>
              </a:rPr>
              <a:t>https://im-mining.com/?p=91754</a:t>
            </a:r>
          </a:p>
        </p:txBody>
      </p:sp>
      <p:sp>
        <p:nvSpPr>
          <p:cNvPr id="22" name="TextBox 21"/>
          <p:cNvSpPr txBox="1"/>
          <p:nvPr/>
        </p:nvSpPr>
        <p:spPr>
          <a:xfrm>
            <a:off x="125272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[16]</a:t>
            </a:r>
          </a:p>
        </p:txBody>
      </p:sp>
      <p:sp>
        <p:nvSpPr>
          <p:cNvPr id="23" name="Tipo Proveedor"/>
          <p:cNvSpPr/>
          <p:nvPr/>
        </p:nvSpPr>
        <p:spPr>
          <a:xfrm>
            <a:off x="1252728" y="3858767"/>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1252728" y="3858767"/>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25" name="TextBox 24"/>
          <p:cNvSpPr txBox="1"/>
          <p:nvPr/>
        </p:nvSpPr>
        <p:spPr>
          <a:xfrm>
            <a:off x="125272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26" name="TextBox 25"/>
          <p:cNvSpPr txBox="1"/>
          <p:nvPr/>
        </p:nvSpPr>
        <p:spPr>
          <a:xfrm>
            <a:off x="175564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MechChem Africa (2024, mayo-junio). Innomotics partners in world's first digital mine.</a:t>
            </a:r>
          </a:p>
          <a:p>
            <a:pPr algn="l">
              <a:spcAft>
                <a:spcPts val="100"/>
              </a:spcAft>
            </a:pPr>
            <a:r>
              <a:rPr sz="700" b="0" i="0">
                <a:solidFill>
                  <a:srgbClr val="A9B8C9"/>
                </a:solidFill>
                <a:effectLst>
                  <a:glow rad="63500">
                    <a:srgbClr val="001633">
                      <a:alpha val="85000"/>
                    </a:srgbClr>
                  </a:glow>
                </a:effectLst>
                <a:latin typeface="Montserrat"/>
              </a:rPr>
              <a:t>https://www.crown.co.za/images/magazines/mechchem-africa/2024/Innomotics_partners_in_worlds_first_digital_mine.pdf</a:t>
            </a:r>
          </a:p>
        </p:txBody>
      </p:sp>
      <p:sp>
        <p:nvSpPr>
          <p:cNvPr id="27" name="TextBox 26"/>
          <p:cNvSpPr txBox="1"/>
          <p:nvPr/>
        </p:nvSpPr>
        <p:spPr>
          <a:xfrm>
            <a:off x="125272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[17]</a:t>
            </a:r>
          </a:p>
        </p:txBody>
      </p:sp>
      <p:sp>
        <p:nvSpPr>
          <p:cNvPr id="28" name="Tipo Prensa"/>
          <p:cNvSpPr/>
          <p:nvPr/>
        </p:nvSpPr>
        <p:spPr>
          <a:xfrm>
            <a:off x="1252728" y="4468367"/>
            <a:ext cx="384048" cy="146304"/>
          </a:xfrm>
          <a:prstGeom prst="rect">
            <a:avLst/>
          </a:prstGeom>
          <a:solidFill>
            <a:srgbClr val="001633"/>
          </a:solidFill>
          <a:ln w="6350">
            <a:solidFill>
              <a:srgbClr val="A9B8C9"/>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252728" y="4468367"/>
            <a:ext cx="384048" cy="146304"/>
          </a:xfrm>
          <a:prstGeom prst="rect">
            <a:avLst/>
          </a:prstGeom>
          <a:noFill/>
        </p:spPr>
        <p:txBody>
          <a:bodyPr wrap="square" lIns="0" tIns="0" rIns="0" bIns="0" anchor="ctr">
            <a:spAutoFit/>
          </a:bodyPr>
          <a:lstStyle/>
          <a:p>
            <a:pPr algn="ctr">
              <a:spcAft>
                <a:spcPts val="600"/>
              </a:spcAft>
            </a:pPr>
            <a:r>
              <a:rPr sz="550" b="1" i="0">
                <a:solidFill>
                  <a:srgbClr val="A9B8C9"/>
                </a:solidFill>
                <a:effectLst>
                  <a:glow rad="63500">
                    <a:srgbClr val="001633">
                      <a:alpha val="85000"/>
                    </a:srgbClr>
                  </a:glow>
                </a:effectLst>
                <a:latin typeface="Montserrat"/>
              </a:rPr>
              <a:t>PREN</a:t>
            </a:r>
          </a:p>
        </p:txBody>
      </p:sp>
      <p:sp>
        <p:nvSpPr>
          <p:cNvPr id="30" name="TextBox 29"/>
          <p:cNvSpPr txBox="1"/>
          <p:nvPr/>
        </p:nvSpPr>
        <p:spPr>
          <a:xfrm>
            <a:off x="125272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a:t>
            </a:r>
          </a:p>
        </p:txBody>
      </p:sp>
      <p:sp>
        <p:nvSpPr>
          <p:cNvPr id="31" name="TextBox 30"/>
          <p:cNvSpPr txBox="1"/>
          <p:nvPr/>
        </p:nvSpPr>
        <p:spPr>
          <a:xfrm>
            <a:off x="175564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Global Mining Review (2023, 16 de febrero). Hexagon and BUMA successfully deploy MineOperate OP Pro.</a:t>
            </a:r>
          </a:p>
          <a:p>
            <a:pPr algn="l">
              <a:spcAft>
                <a:spcPts val="100"/>
              </a:spcAft>
            </a:pPr>
            <a:r>
              <a:rPr sz="700" b="0" i="0">
                <a:solidFill>
                  <a:srgbClr val="A9B8C9"/>
                </a:solidFill>
                <a:effectLst>
                  <a:glow rad="63500">
                    <a:srgbClr val="001633">
                      <a:alpha val="85000"/>
                    </a:srgbClr>
                  </a:glow>
                </a:effectLst>
                <a:latin typeface="Montserrat"/>
              </a:rPr>
              <a:t>https://www.globalminingreview.com/mining/16022023/hexagon-and-buma-successfully-deploy-mineoperate-op-pro/</a:t>
            </a:r>
          </a:p>
        </p:txBody>
      </p:sp>
      <p:sp>
        <p:nvSpPr>
          <p:cNvPr id="32" name="TextBox 31"/>
          <p:cNvSpPr txBox="1"/>
          <p:nvPr/>
        </p:nvSpPr>
        <p:spPr>
          <a:xfrm>
            <a:off x="125272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[18]</a:t>
            </a:r>
          </a:p>
        </p:txBody>
      </p:sp>
      <p:sp>
        <p:nvSpPr>
          <p:cNvPr id="33" name="Tipo Estándar"/>
          <p:cNvSpPr/>
          <p:nvPr/>
        </p:nvSpPr>
        <p:spPr>
          <a:xfrm>
            <a:off x="125272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4" name="TextBox 33"/>
          <p:cNvSpPr txBox="1"/>
          <p:nvPr/>
        </p:nvSpPr>
        <p:spPr>
          <a:xfrm>
            <a:off x="125272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35" name="TextBox 34"/>
          <p:cNvSpPr txBox="1"/>
          <p:nvPr/>
        </p:nvSpPr>
        <p:spPr>
          <a:xfrm>
            <a:off x="125272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36" name="TextBox 35"/>
          <p:cNvSpPr txBox="1"/>
          <p:nvPr/>
        </p:nvSpPr>
        <p:spPr>
          <a:xfrm>
            <a:off x="175564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Modelica Language Specification 3.6.</a:t>
            </a:r>
          </a:p>
          <a:p>
            <a:pPr algn="l">
              <a:spcAft>
                <a:spcPts val="100"/>
              </a:spcAft>
            </a:pPr>
            <a:r>
              <a:rPr sz="700" b="0" i="0">
                <a:solidFill>
                  <a:srgbClr val="A9B8C9"/>
                </a:solidFill>
                <a:effectLst>
                  <a:glow rad="63500">
                    <a:srgbClr val="001633">
                      <a:alpha val="85000"/>
                    </a:srgbClr>
                  </a:glow>
                </a:effectLst>
                <a:latin typeface="Montserrat"/>
              </a:rPr>
              <a:t>https://specification.modelica.org/</a:t>
            </a:r>
          </a:p>
        </p:txBody>
      </p:sp>
      <p:sp>
        <p:nvSpPr>
          <p:cNvPr id="37" name="TextBox 3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[19]</a:t>
            </a:r>
          </a:p>
        </p:txBody>
      </p:sp>
      <p:sp>
        <p:nvSpPr>
          <p:cNvPr id="3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TextBox 3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0" name="TextBox 3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1" name="TextBox 40"/>
          <p:cNvSpPr txBox="1"/>
          <p:nvPr/>
        </p:nvSpPr>
        <p:spPr>
          <a:xfrm>
            <a:off x="6944868" y="1783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Functional Mock-up Interface (FMI) 3.0.</a:t>
            </a:r>
          </a:p>
          <a:p>
            <a:pPr algn="l">
              <a:spcAft>
                <a:spcPts val="100"/>
              </a:spcAft>
            </a:pPr>
            <a:r>
              <a:rPr sz="700" b="0" i="0">
                <a:solidFill>
                  <a:srgbClr val="A9B8C9"/>
                </a:solidFill>
                <a:effectLst>
                  <a:glow rad="63500">
                    <a:srgbClr val="001633">
                      <a:alpha val="85000"/>
                    </a:srgbClr>
                  </a:glow>
                </a:effectLst>
                <a:latin typeface="Montserrat"/>
              </a:rPr>
              <a:t>https://fmi-standard.org/</a:t>
            </a:r>
          </a:p>
        </p:txBody>
      </p:sp>
      <p:sp>
        <p:nvSpPr>
          <p:cNvPr id="42" name="TextBox 41"/>
          <p:cNvSpPr txBox="1"/>
          <p:nvPr/>
        </p:nvSpPr>
        <p:spPr>
          <a:xfrm>
            <a:off x="6441948" y="23926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[20]</a:t>
            </a:r>
          </a:p>
        </p:txBody>
      </p:sp>
      <p:sp>
        <p:nvSpPr>
          <p:cNvPr id="43" name="Tipo Estándar"/>
          <p:cNvSpPr/>
          <p:nvPr/>
        </p:nvSpPr>
        <p:spPr>
          <a:xfrm>
            <a:off x="6441948" y="26395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6441948" y="26395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45" name="TextBox 44"/>
          <p:cNvSpPr txBox="1"/>
          <p:nvPr/>
        </p:nvSpPr>
        <p:spPr>
          <a:xfrm>
            <a:off x="6441948" y="28041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 IV</a:t>
            </a:r>
          </a:p>
        </p:txBody>
      </p:sp>
      <p:sp>
        <p:nvSpPr>
          <p:cNvPr id="46" name="TextBox 45"/>
          <p:cNvSpPr txBox="1"/>
          <p:nvPr/>
        </p:nvSpPr>
        <p:spPr>
          <a:xfrm>
            <a:off x="6944868" y="23926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Modelica Association. System Structure and Parameterization (SSP) 1.0.</a:t>
            </a:r>
          </a:p>
          <a:p>
            <a:pPr algn="l">
              <a:spcAft>
                <a:spcPts val="100"/>
              </a:spcAft>
            </a:pPr>
            <a:r>
              <a:rPr sz="700" b="0" i="0">
                <a:solidFill>
                  <a:srgbClr val="A9B8C9"/>
                </a:solidFill>
                <a:effectLst>
                  <a:glow rad="63500">
                    <a:srgbClr val="001633">
                      <a:alpha val="85000"/>
                    </a:srgbClr>
                  </a:glow>
                </a:effectLst>
                <a:latin typeface="Montserrat"/>
              </a:rPr>
              <a:t>https://ssp-standard.org/</a:t>
            </a:r>
          </a:p>
        </p:txBody>
      </p:sp>
      <p:sp>
        <p:nvSpPr>
          <p:cNvPr id="47" name="TextBox 46"/>
          <p:cNvSpPr txBox="1"/>
          <p:nvPr/>
        </p:nvSpPr>
        <p:spPr>
          <a:xfrm>
            <a:off x="6441948" y="30022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[21]</a:t>
            </a:r>
          </a:p>
        </p:txBody>
      </p:sp>
      <p:sp>
        <p:nvSpPr>
          <p:cNvPr id="48" name="Tipo Estándar"/>
          <p:cNvSpPr/>
          <p:nvPr/>
        </p:nvSpPr>
        <p:spPr>
          <a:xfrm>
            <a:off x="6441948" y="32491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TextBox 48"/>
          <p:cNvSpPr txBox="1"/>
          <p:nvPr/>
        </p:nvSpPr>
        <p:spPr>
          <a:xfrm>
            <a:off x="6441948" y="32491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0" name="TextBox 49"/>
          <p:cNvSpPr txBox="1"/>
          <p:nvPr/>
        </p:nvSpPr>
        <p:spPr>
          <a:xfrm>
            <a:off x="6441948" y="34137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1" name="TextBox 50"/>
          <p:cNvSpPr txBox="1"/>
          <p:nvPr/>
        </p:nvSpPr>
        <p:spPr>
          <a:xfrm>
            <a:off x="6944868" y="30022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OPC Foundation. OPC Unified Architecture (IEC 62541).</a:t>
            </a:r>
          </a:p>
          <a:p>
            <a:pPr algn="l">
              <a:spcAft>
                <a:spcPts val="100"/>
              </a:spcAft>
            </a:pPr>
            <a:r>
              <a:rPr sz="700" b="0" i="0">
                <a:solidFill>
                  <a:srgbClr val="A9B8C9"/>
                </a:solidFill>
                <a:effectLst>
                  <a:glow rad="63500">
                    <a:srgbClr val="001633">
                      <a:alpha val="85000"/>
                    </a:srgbClr>
                  </a:glow>
                </a:effectLst>
                <a:latin typeface="Montserrat"/>
              </a:rPr>
              <a:t>https://opcfoundation.org/about/opc-technologies/opc-ua/</a:t>
            </a:r>
          </a:p>
        </p:txBody>
      </p:sp>
      <p:sp>
        <p:nvSpPr>
          <p:cNvPr id="52" name="TextBox 51"/>
          <p:cNvSpPr txBox="1"/>
          <p:nvPr/>
        </p:nvSpPr>
        <p:spPr>
          <a:xfrm>
            <a:off x="6441948" y="36118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[22]</a:t>
            </a:r>
          </a:p>
        </p:txBody>
      </p:sp>
      <p:sp>
        <p:nvSpPr>
          <p:cNvPr id="53" name="Tipo Estándar"/>
          <p:cNvSpPr/>
          <p:nvPr/>
        </p:nvSpPr>
        <p:spPr>
          <a:xfrm>
            <a:off x="6441948" y="38587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p:cNvSpPr txBox="1"/>
          <p:nvPr/>
        </p:nvSpPr>
        <p:spPr>
          <a:xfrm>
            <a:off x="6441948" y="38587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55" name="TextBox 54"/>
          <p:cNvSpPr txBox="1"/>
          <p:nvPr/>
        </p:nvSpPr>
        <p:spPr>
          <a:xfrm>
            <a:off x="6441948" y="40233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56" name="TextBox 55"/>
          <p:cNvSpPr txBox="1"/>
          <p:nvPr/>
        </p:nvSpPr>
        <p:spPr>
          <a:xfrm>
            <a:off x="6944868" y="36118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OASIS. MQTT Version 5.0, OASIS Standard (2019).</a:t>
            </a:r>
          </a:p>
          <a:p>
            <a:pPr algn="l">
              <a:spcAft>
                <a:spcPts val="100"/>
              </a:spcAft>
            </a:pPr>
            <a:r>
              <a:rPr sz="700" b="0" i="0">
                <a:solidFill>
                  <a:srgbClr val="A9B8C9"/>
                </a:solidFill>
                <a:effectLst>
                  <a:glow rad="63500">
                    <a:srgbClr val="001633">
                      <a:alpha val="85000"/>
                    </a:srgbClr>
                  </a:glow>
                </a:effectLst>
                <a:latin typeface="Montserrat"/>
              </a:rPr>
              <a:t>https://docs.oasis-open.org/mqtt/mqtt/v5.0/mqtt-v5.0.html</a:t>
            </a:r>
          </a:p>
        </p:txBody>
      </p:sp>
      <p:sp>
        <p:nvSpPr>
          <p:cNvPr id="57" name="TextBox 56"/>
          <p:cNvSpPr txBox="1"/>
          <p:nvPr/>
        </p:nvSpPr>
        <p:spPr>
          <a:xfrm>
            <a:off x="6441948" y="42214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[23]</a:t>
            </a:r>
          </a:p>
        </p:txBody>
      </p:sp>
      <p:sp>
        <p:nvSpPr>
          <p:cNvPr id="58" name="Tipo Estándar"/>
          <p:cNvSpPr/>
          <p:nvPr/>
        </p:nvSpPr>
        <p:spPr>
          <a:xfrm>
            <a:off x="6441948" y="44683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TextBox 58"/>
          <p:cNvSpPr txBox="1"/>
          <p:nvPr/>
        </p:nvSpPr>
        <p:spPr>
          <a:xfrm>
            <a:off x="6441948" y="44683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0" name="TextBox 59"/>
          <p:cNvSpPr txBox="1"/>
          <p:nvPr/>
        </p:nvSpPr>
        <p:spPr>
          <a:xfrm>
            <a:off x="6441948" y="46329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1" name="TextBox 60"/>
          <p:cNvSpPr txBox="1"/>
          <p:nvPr/>
        </p:nvSpPr>
        <p:spPr>
          <a:xfrm>
            <a:off x="6944868" y="42214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ISA. ISA-95 / IEC 62264: Enterprise-Control System Integration.</a:t>
            </a:r>
          </a:p>
          <a:p>
            <a:pPr algn="l">
              <a:spcAft>
                <a:spcPts val="100"/>
              </a:spcAft>
            </a:pPr>
            <a:r>
              <a:rPr sz="700" b="0" i="0">
                <a:solidFill>
                  <a:srgbClr val="A9B8C9"/>
                </a:solidFill>
                <a:effectLst>
                  <a:glow rad="63500">
                    <a:srgbClr val="001633">
                      <a:alpha val="85000"/>
                    </a:srgbClr>
                  </a:glow>
                </a:effectLst>
                <a:latin typeface="Montserrat"/>
              </a:rPr>
              <a:t>https://www.isa.org/standards-and-publications/isa-standards/isa-95-standard</a:t>
            </a:r>
          </a:p>
        </p:txBody>
      </p:sp>
      <p:sp>
        <p:nvSpPr>
          <p:cNvPr id="62" name="TextBox 61"/>
          <p:cNvSpPr txBox="1"/>
          <p:nvPr/>
        </p:nvSpPr>
        <p:spPr>
          <a:xfrm>
            <a:off x="6441948" y="4831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[24]</a:t>
            </a:r>
          </a:p>
        </p:txBody>
      </p:sp>
      <p:sp>
        <p:nvSpPr>
          <p:cNvPr id="63" name="Tipo Estándar"/>
          <p:cNvSpPr/>
          <p:nvPr/>
        </p:nvSpPr>
        <p:spPr>
          <a:xfrm>
            <a:off x="6441948" y="5077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4" name="TextBox 63"/>
          <p:cNvSpPr txBox="1"/>
          <p:nvPr/>
        </p:nvSpPr>
        <p:spPr>
          <a:xfrm>
            <a:off x="6441948" y="5077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65" name="TextBox 64"/>
          <p:cNvSpPr txBox="1"/>
          <p:nvPr/>
        </p:nvSpPr>
        <p:spPr>
          <a:xfrm>
            <a:off x="6441948" y="5242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66" name="TextBox 65"/>
          <p:cNvSpPr txBox="1"/>
          <p:nvPr/>
        </p:nvSpPr>
        <p:spPr>
          <a:xfrm>
            <a:off x="6944868" y="4831079"/>
            <a:ext cx="4320540" cy="609600"/>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Industrial Digital Twin Association. Asset Administration Shell (IEC 63278).</a:t>
            </a:r>
          </a:p>
          <a:p>
            <a:pPr algn="l">
              <a:spcAft>
                <a:spcPts val="100"/>
              </a:spcAft>
            </a:pPr>
            <a:r>
              <a:rPr sz="700" b="0" i="0">
                <a:solidFill>
                  <a:srgbClr val="A9B8C9"/>
                </a:solidFill>
                <a:effectLst>
                  <a:glow rad="63500">
                    <a:srgbClr val="001633">
                      <a:alpha val="85000"/>
                    </a:srgbClr>
                  </a:glow>
                </a:effectLst>
                <a:latin typeface="Montserrat"/>
              </a:rPr>
              <a:t>https://industrialdigitaltwin.org/en/content-hub/aasspecifications</a:t>
            </a:r>
          </a:p>
        </p:txBody>
      </p:sp>
      <p:sp>
        <p:nvSpPr>
          <p:cNvPr id="6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Velo título"/>
          <p:cNvSpPr/>
          <p:nvPr/>
        </p:nvSpPr>
        <p:spPr>
          <a:xfrm>
            <a:off x="-274320" y="-182880"/>
            <a:ext cx="10881360" cy="2240280"/>
          </a:xfrm>
          <a:prstGeom prst="rect">
            <a:avLst/>
          </a:prstGeom>
          <a:gradFill rotWithShape="1">
            <a:gsLst>
              <a:gs pos="0">
                <a:srgbClr val="001633">
                  <a:alpha val="100000"/>
                </a:srgbClr>
              </a:gs>
              <a:gs pos="62000">
                <a:srgbClr val="001633">
                  <a:alpha val="100000"/>
                </a:srgbClr>
              </a:gs>
              <a:gs pos="100000">
                <a:srgbClr val="001633">
                  <a:alpha val="0"/>
                </a:srgbClr>
              </a:gs>
            </a:gsLst>
            <a:path path="rect">
              <a:fillToRect t="50000" r="36000" b="5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 name="Title 1"/>
          <p:cNvSpPr>
            <a:spLocks noGrp="1"/>
          </p:cNvSpPr>
          <p:nvPr>
            <p:ph type="title"/>
          </p:nvPr>
        </p:nvSpPr>
        <p:spPr>
          <a:xfrm>
            <a:off x="1252728" y="749808"/>
            <a:ext cx="8229600" cy="914400"/>
          </a:xfrm>
        </p:spPr>
        <p:txBody>
          <a:bodyPr wrap="square" anchor="t"/>
          <a:lstStyle/>
          <a:p>
            <a:r>
              <a:rPr sz="2600" b="1" i="0">
                <a:solidFill>
                  <a:srgbClr val="FFFFFF"/>
                </a:solidFill>
                <a:effectLst>
                  <a:glow rad="63500">
                    <a:srgbClr val="001633">
                      <a:alpha val="85000"/>
                    </a:srgbClr>
                  </a:glow>
                </a:effectLst>
                <a:latin typeface="Montserrat"/>
              </a:rPr>
              <a:t>Referencias del curso (3/3)</a:t>
            </a:r>
          </a:p>
        </p:txBody>
      </p:sp>
      <p:sp>
        <p:nvSpPr>
          <p:cNvPr id="4" name="Raya rótulo"/>
          <p:cNvSpPr/>
          <p:nvPr/>
        </p:nvSpPr>
        <p:spPr>
          <a:xfrm>
            <a:off x="1252728" y="557784"/>
            <a:ext cx="320040" cy="36576"/>
          </a:xfrm>
          <a:prstGeom prst="rect">
            <a:avLst/>
          </a:prstGeom>
          <a:solidFill>
            <a:srgbClr val="FFAB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 name="Rótulo"/>
          <p:cNvSpPr txBox="1"/>
          <p:nvPr/>
        </p:nvSpPr>
        <p:spPr>
          <a:xfrm>
            <a:off x="1691640" y="457200"/>
            <a:ext cx="7315200" cy="274320"/>
          </a:xfrm>
          <a:prstGeom prst="rect">
            <a:avLst/>
          </a:prstGeom>
          <a:noFill/>
        </p:spPr>
        <p:txBody>
          <a:bodyPr wrap="square" lIns="0" tIns="0" rIns="0" bIns="0" anchor="t">
            <a:spAutoFit/>
          </a:bodyPr>
          <a:lstStyle/>
          <a:p>
            <a:pPr algn="l">
              <a:spcAft>
                <a:spcPts val="600"/>
              </a:spcAft>
            </a:pPr>
            <a:r>
              <a:rPr sz="1100" b="1" i="0" spc="200">
                <a:solidFill>
                  <a:srgbClr val="A9B8C9"/>
                </a:solidFill>
                <a:effectLst>
                  <a:glow rad="63500">
                    <a:srgbClr val="001633">
                      <a:alpha val="85000"/>
                    </a:srgbClr>
                  </a:glow>
                </a:effectLst>
                <a:latin typeface="Montserrat"/>
              </a:rPr>
              <a:t>FUENTES</a:t>
            </a:r>
          </a:p>
        </p:txBody>
      </p:sp>
      <p:sp>
        <p:nvSpPr>
          <p:cNvPr id="6" name="Velo referencias"/>
          <p:cNvSpPr/>
          <p:nvPr/>
        </p:nvSpPr>
        <p:spPr>
          <a:xfrm>
            <a:off x="5984748" y="1325879"/>
            <a:ext cx="6469380" cy="2377440"/>
          </a:xfrm>
          <a:prstGeom prst="rect">
            <a:avLst/>
          </a:prstGeom>
          <a:gradFill rotWithShape="1">
            <a:gsLst>
              <a:gs pos="0">
                <a:srgbClr val="001633">
                  <a:alpha val="100000"/>
                </a:srgbClr>
              </a:gs>
              <a:gs pos="65000">
                <a:srgbClr val="001633">
                  <a:alpha val="100000"/>
                </a:srgbClr>
              </a:gs>
              <a:gs pos="100000">
                <a:srgbClr val="001633">
                  <a:alpha val="0"/>
                </a:srgbClr>
              </a:gs>
            </a:gsLst>
            <a:path path="rect">
              <a:fillToRect t="30000" r="30000" b="30000"/>
            </a:path>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 name="TextBox 6"/>
          <p:cNvSpPr txBox="1"/>
          <p:nvPr/>
        </p:nvSpPr>
        <p:spPr>
          <a:xfrm>
            <a:off x="125272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[25]</a:t>
            </a:r>
          </a:p>
        </p:txBody>
      </p:sp>
      <p:sp>
        <p:nvSpPr>
          <p:cNvPr id="8" name="Tipo Académica"/>
          <p:cNvSpPr/>
          <p:nvPr/>
        </p:nvSpPr>
        <p:spPr>
          <a:xfrm>
            <a:off x="1252728" y="2029967"/>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TextBox 8"/>
          <p:cNvSpPr txBox="1"/>
          <p:nvPr/>
        </p:nvSpPr>
        <p:spPr>
          <a:xfrm>
            <a:off x="1252728" y="2029967"/>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10" name="TextBox 9"/>
          <p:cNvSpPr txBox="1"/>
          <p:nvPr/>
        </p:nvSpPr>
        <p:spPr>
          <a:xfrm>
            <a:off x="125272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III</a:t>
            </a:r>
          </a:p>
        </p:txBody>
      </p:sp>
      <p:sp>
        <p:nvSpPr>
          <p:cNvPr id="11" name="TextBox 10"/>
          <p:cNvSpPr txBox="1"/>
          <p:nvPr/>
        </p:nvSpPr>
        <p:spPr>
          <a:xfrm>
            <a:off x="175564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Kalman, R. E. (1960). A New Approach to Linear Filtering and Prediction Problems. Journal of Basic Engineering, 82(1), 35–45.</a:t>
            </a:r>
          </a:p>
          <a:p>
            <a:pPr algn="l">
              <a:spcAft>
                <a:spcPts val="100"/>
              </a:spcAft>
            </a:pPr>
            <a:r>
              <a:rPr sz="700" b="0" i="0">
                <a:solidFill>
                  <a:srgbClr val="A9B8C9"/>
                </a:solidFill>
                <a:effectLst>
                  <a:glow rad="63500">
                    <a:srgbClr val="001633">
                      <a:alpha val="85000"/>
                    </a:srgbClr>
                  </a:glow>
                </a:effectLst>
                <a:latin typeface="Montserrat"/>
              </a:rPr>
              <a:t>https://doi.org/10.1115/1.3662552</a:t>
            </a:r>
          </a:p>
        </p:txBody>
      </p:sp>
      <p:sp>
        <p:nvSpPr>
          <p:cNvPr id="12" name="TextBox 11"/>
          <p:cNvSpPr txBox="1"/>
          <p:nvPr/>
        </p:nvSpPr>
        <p:spPr>
          <a:xfrm>
            <a:off x="125272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[26]</a:t>
            </a:r>
          </a:p>
        </p:txBody>
      </p:sp>
      <p:sp>
        <p:nvSpPr>
          <p:cNvPr id="13" name="Tipo Proveedor"/>
          <p:cNvSpPr/>
          <p:nvPr/>
        </p:nvSpPr>
        <p:spPr>
          <a:xfrm>
            <a:off x="1252728" y="2688335"/>
            <a:ext cx="384048" cy="146304"/>
          </a:xfrm>
          <a:prstGeom prst="rect">
            <a:avLst/>
          </a:prstGeom>
          <a:solidFill>
            <a:srgbClr val="001633"/>
          </a:solidFill>
          <a:ln w="6350">
            <a:solidFill>
              <a:srgbClr val="FFAB4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4" name="TextBox 13"/>
          <p:cNvSpPr txBox="1"/>
          <p:nvPr/>
        </p:nvSpPr>
        <p:spPr>
          <a:xfrm>
            <a:off x="1252728" y="2688335"/>
            <a:ext cx="384048" cy="146304"/>
          </a:xfrm>
          <a:prstGeom prst="rect">
            <a:avLst/>
          </a:prstGeom>
          <a:noFill/>
        </p:spPr>
        <p:txBody>
          <a:bodyPr wrap="square" lIns="0" tIns="0" rIns="0" bIns="0" anchor="ctr">
            <a:spAutoFit/>
          </a:bodyPr>
          <a:lstStyle/>
          <a:p>
            <a:pPr algn="ctr">
              <a:spcAft>
                <a:spcPts val="600"/>
              </a:spcAft>
            </a:pPr>
            <a:r>
              <a:rPr sz="550" b="1" i="0">
                <a:solidFill>
                  <a:srgbClr val="FFAB40"/>
                </a:solidFill>
                <a:effectLst>
                  <a:glow rad="63500">
                    <a:srgbClr val="001633">
                      <a:alpha val="85000"/>
                    </a:srgbClr>
                  </a:glow>
                </a:effectLst>
                <a:latin typeface="Montserrat"/>
              </a:rPr>
              <a:t>PROV</a:t>
            </a:r>
          </a:p>
        </p:txBody>
      </p:sp>
      <p:sp>
        <p:nvSpPr>
          <p:cNvPr id="15" name="TextBox 14"/>
          <p:cNvSpPr txBox="1"/>
          <p:nvPr/>
        </p:nvSpPr>
        <p:spPr>
          <a:xfrm>
            <a:off x="125272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16" name="TextBox 15"/>
          <p:cNvSpPr txBox="1"/>
          <p:nvPr/>
        </p:nvSpPr>
        <p:spPr>
          <a:xfrm>
            <a:off x="175564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ANDRITZ AG. ANDRITZ Hyperbaric Disc Filter (HBF): folleto HBF 1.0/07.2019 y hoja de producto 1.0/01.2013.</a:t>
            </a:r>
          </a:p>
          <a:p>
            <a:pPr algn="l">
              <a:spcAft>
                <a:spcPts val="100"/>
              </a:spcAft>
            </a:pPr>
            <a:r>
              <a:rPr sz="700" b="0" i="0">
                <a:solidFill>
                  <a:srgbClr val="A9B8C9"/>
                </a:solidFill>
                <a:effectLst>
                  <a:glow rad="63500">
                    <a:srgbClr val="001633">
                      <a:alpha val="85000"/>
                    </a:srgbClr>
                  </a:glow>
                </a:effectLst>
                <a:latin typeface="Montserrat"/>
              </a:rPr>
              <a:t>https://www.andritz.com/products-en/separation/disc-drum-filters/andritz-hyperbaric-disc-filter-hbf</a:t>
            </a:r>
          </a:p>
        </p:txBody>
      </p:sp>
      <p:sp>
        <p:nvSpPr>
          <p:cNvPr id="17" name="TextBox 16"/>
          <p:cNvSpPr txBox="1"/>
          <p:nvPr/>
        </p:nvSpPr>
        <p:spPr>
          <a:xfrm>
            <a:off x="6441948" y="1783079"/>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[27]</a:t>
            </a:r>
          </a:p>
        </p:txBody>
      </p:sp>
      <p:sp>
        <p:nvSpPr>
          <p:cNvPr id="18" name="Tipo Estándar"/>
          <p:cNvSpPr/>
          <p:nvPr/>
        </p:nvSpPr>
        <p:spPr>
          <a:xfrm>
            <a:off x="6441948" y="2029967"/>
            <a:ext cx="384048" cy="146304"/>
          </a:xfrm>
          <a:prstGeom prst="rect">
            <a:avLst/>
          </a:prstGeom>
          <a:solidFill>
            <a:srgbClr val="001633"/>
          </a:solidFill>
          <a:ln w="6350">
            <a:solidFill>
              <a:srgbClr val="B39DF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441948" y="2029967"/>
            <a:ext cx="384048" cy="146304"/>
          </a:xfrm>
          <a:prstGeom prst="rect">
            <a:avLst/>
          </a:prstGeom>
          <a:noFill/>
        </p:spPr>
        <p:txBody>
          <a:bodyPr wrap="square" lIns="0" tIns="0" rIns="0" bIns="0" anchor="ctr">
            <a:spAutoFit/>
          </a:bodyPr>
          <a:lstStyle/>
          <a:p>
            <a:pPr algn="ctr">
              <a:spcAft>
                <a:spcPts val="600"/>
              </a:spcAft>
            </a:pPr>
            <a:r>
              <a:rPr sz="550" b="1" i="0">
                <a:solidFill>
                  <a:srgbClr val="B39DF0"/>
                </a:solidFill>
                <a:effectLst>
                  <a:glow rad="63500">
                    <a:srgbClr val="001633">
                      <a:alpha val="85000"/>
                    </a:srgbClr>
                  </a:glow>
                </a:effectLst>
                <a:latin typeface="Montserrat"/>
              </a:rPr>
              <a:t>ESTÁ</a:t>
            </a:r>
          </a:p>
        </p:txBody>
      </p:sp>
      <p:sp>
        <p:nvSpPr>
          <p:cNvPr id="20" name="TextBox 19"/>
          <p:cNvSpPr txBox="1"/>
          <p:nvPr/>
        </p:nvSpPr>
        <p:spPr>
          <a:xfrm>
            <a:off x="6441948" y="2194559"/>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1" name="TextBox 20"/>
          <p:cNvSpPr txBox="1"/>
          <p:nvPr/>
        </p:nvSpPr>
        <p:spPr>
          <a:xfrm>
            <a:off x="6944868" y="1783079"/>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IMO. International Maritime Solid Bulk Cargoes Code (IMSBC Code): cargas del Grupo A y límite de humedad transportable.</a:t>
            </a:r>
          </a:p>
          <a:p>
            <a:pPr algn="l">
              <a:spcAft>
                <a:spcPts val="100"/>
              </a:spcAft>
            </a:pPr>
            <a:r>
              <a:rPr sz="700" b="0" i="0">
                <a:solidFill>
                  <a:srgbClr val="A9B8C9"/>
                </a:solidFill>
                <a:effectLst>
                  <a:glow rad="63500">
                    <a:srgbClr val="001633">
                      <a:alpha val="85000"/>
                    </a:srgbClr>
                  </a:glow>
                </a:effectLst>
                <a:latin typeface="Montserrat"/>
              </a:rPr>
              <a:t>https://www.imo.org/en/OurWork/Safety/Pages/BulkCarriers.aspx</a:t>
            </a:r>
          </a:p>
        </p:txBody>
      </p:sp>
      <p:sp>
        <p:nvSpPr>
          <p:cNvPr id="22" name="TextBox 21"/>
          <p:cNvSpPr txBox="1"/>
          <p:nvPr/>
        </p:nvSpPr>
        <p:spPr>
          <a:xfrm>
            <a:off x="6441948" y="2441447"/>
            <a:ext cx="457200" cy="228600"/>
          </a:xfrm>
          <a:prstGeom prst="rect">
            <a:avLst/>
          </a:prstGeom>
          <a:noFill/>
        </p:spPr>
        <p:txBody>
          <a:bodyPr wrap="square" lIns="0" tIns="0" rIns="0" bIns="0" anchor="t">
            <a:spAutoFit/>
          </a:bodyPr>
          <a:lstStyle/>
          <a:p>
            <a:pPr algn="l">
              <a:spcAft>
                <a:spcPts val="600"/>
              </a:spcAft>
            </a:pPr>
            <a:r>
              <a:rPr sz="1100" b="1" i="0">
                <a:solidFill>
                  <a:srgbClr val="FFAB40"/>
                </a:solidFill>
                <a:effectLst>
                  <a:glow rad="63500">
                    <a:srgbClr val="001633">
                      <a:alpha val="85000"/>
                    </a:srgbClr>
                  </a:glow>
                </a:effectLst>
                <a:latin typeface="Montserrat"/>
              </a:rPr>
              <a:t>[28]</a:t>
            </a:r>
          </a:p>
        </p:txBody>
      </p:sp>
      <p:sp>
        <p:nvSpPr>
          <p:cNvPr id="23" name="Tipo Académica"/>
          <p:cNvSpPr/>
          <p:nvPr/>
        </p:nvSpPr>
        <p:spPr>
          <a:xfrm>
            <a:off x="6441948" y="2688335"/>
            <a:ext cx="384048" cy="146304"/>
          </a:xfrm>
          <a:prstGeom prst="rect">
            <a:avLst/>
          </a:prstGeom>
          <a:solidFill>
            <a:srgbClr val="001633"/>
          </a:solidFill>
          <a:ln w="6350">
            <a:solidFill>
              <a:srgbClr val="85D5E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TextBox 23"/>
          <p:cNvSpPr txBox="1"/>
          <p:nvPr/>
        </p:nvSpPr>
        <p:spPr>
          <a:xfrm>
            <a:off x="6441948" y="2688335"/>
            <a:ext cx="384048" cy="146304"/>
          </a:xfrm>
          <a:prstGeom prst="rect">
            <a:avLst/>
          </a:prstGeom>
          <a:noFill/>
        </p:spPr>
        <p:txBody>
          <a:bodyPr wrap="square" lIns="0" tIns="0" rIns="0" bIns="0" anchor="ctr">
            <a:spAutoFit/>
          </a:bodyPr>
          <a:lstStyle/>
          <a:p>
            <a:pPr algn="ctr">
              <a:spcAft>
                <a:spcPts val="600"/>
              </a:spcAft>
            </a:pPr>
            <a:r>
              <a:rPr sz="550" b="1" i="0">
                <a:solidFill>
                  <a:srgbClr val="85D5E6"/>
                </a:solidFill>
                <a:effectLst>
                  <a:glow rad="63500">
                    <a:srgbClr val="001633">
                      <a:alpha val="85000"/>
                    </a:srgbClr>
                  </a:glow>
                </a:effectLst>
                <a:latin typeface="Montserrat"/>
              </a:rPr>
              <a:t>ACAD</a:t>
            </a:r>
          </a:p>
        </p:txBody>
      </p:sp>
      <p:sp>
        <p:nvSpPr>
          <p:cNvPr id="25" name="TextBox 24"/>
          <p:cNvSpPr txBox="1"/>
          <p:nvPr/>
        </p:nvSpPr>
        <p:spPr>
          <a:xfrm>
            <a:off x="6441948" y="2852927"/>
            <a:ext cx="457200" cy="146304"/>
          </a:xfrm>
          <a:prstGeom prst="rect">
            <a:avLst/>
          </a:prstGeom>
          <a:noFill/>
        </p:spPr>
        <p:txBody>
          <a:bodyPr wrap="square" lIns="0" tIns="0" rIns="0" bIns="0" anchor="t">
            <a:spAutoFit/>
          </a:bodyPr>
          <a:lstStyle/>
          <a:p>
            <a:pPr algn="l">
              <a:spcAft>
                <a:spcPts val="600"/>
              </a:spcAft>
            </a:pPr>
            <a:r>
              <a:rPr sz="650" b="0" i="0">
                <a:solidFill>
                  <a:srgbClr val="A9B8C9"/>
                </a:solidFill>
                <a:effectLst>
                  <a:glow rad="63500">
                    <a:srgbClr val="001633">
                      <a:alpha val="85000"/>
                    </a:srgbClr>
                  </a:glow>
                </a:effectLst>
                <a:latin typeface="Montserrat"/>
              </a:rPr>
              <a:t>cap. IV</a:t>
            </a:r>
          </a:p>
        </p:txBody>
      </p:sp>
      <p:sp>
        <p:nvSpPr>
          <p:cNvPr id="26" name="TextBox 25"/>
          <p:cNvSpPr txBox="1"/>
          <p:nvPr/>
        </p:nvSpPr>
        <p:spPr>
          <a:xfrm>
            <a:off x="6944868" y="2441447"/>
            <a:ext cx="4320540" cy="658368"/>
          </a:xfrm>
          <a:prstGeom prst="rect">
            <a:avLst/>
          </a:prstGeom>
          <a:noFill/>
        </p:spPr>
        <p:txBody>
          <a:bodyPr wrap="square" lIns="0" tIns="0" rIns="0" bIns="0" anchor="t">
            <a:spAutoFit/>
          </a:bodyPr>
          <a:lstStyle/>
          <a:p>
            <a:pPr algn="l">
              <a:spcAft>
                <a:spcPts val="100"/>
              </a:spcAft>
            </a:pPr>
            <a:r>
              <a:rPr sz="850" b="0" i="0">
                <a:solidFill>
                  <a:srgbClr val="FFFFFF"/>
                </a:solidFill>
                <a:effectLst>
                  <a:glow rad="63500">
                    <a:srgbClr val="001633">
                      <a:alpha val="85000"/>
                    </a:srgbClr>
                  </a:glow>
                </a:effectLst>
                <a:latin typeface="Montserrat"/>
              </a:rPr>
              <a:t>Hahn, J. (2019). Tailings dewatering with increased filtration rates and lowest filter cake moisture for filtered tailings stacking. Paste 2019, ACG, 245–257.</a:t>
            </a:r>
          </a:p>
          <a:p>
            <a:pPr algn="l">
              <a:spcAft>
                <a:spcPts val="100"/>
              </a:spcAft>
            </a:pPr>
            <a:r>
              <a:rPr sz="700" b="0" i="0">
                <a:solidFill>
                  <a:srgbClr val="A9B8C9"/>
                </a:solidFill>
                <a:effectLst>
                  <a:glow rad="63500">
                    <a:srgbClr val="001633">
                      <a:alpha val="85000"/>
                    </a:srgbClr>
                  </a:glow>
                </a:effectLst>
                <a:latin typeface="Montserrat"/>
              </a:rPr>
              <a:t>https://doi.org/10.36487/ACG_rep/1910_16_Hahn</a:t>
            </a:r>
          </a:p>
        </p:txBody>
      </p:sp>
      <p:sp>
        <p:nvSpPr>
          <p:cNvPr id="27" name="Fuente"/>
          <p:cNvSpPr txBox="1"/>
          <p:nvPr/>
        </p:nvSpPr>
        <p:spPr>
          <a:xfrm>
            <a:off x="1252728" y="5943600"/>
            <a:ext cx="10012680" cy="201168"/>
          </a:xfrm>
          <a:prstGeom prst="rect">
            <a:avLst/>
          </a:prstGeom>
          <a:noFill/>
        </p:spPr>
        <p:txBody>
          <a:bodyPr wrap="square" lIns="0" tIns="0" rIns="0" bIns="0" anchor="t">
            <a:spAutoFit/>
          </a:bodyPr>
          <a:lstStyle/>
          <a:p>
            <a:pPr algn="l">
              <a:spcAft>
                <a:spcPts val="600"/>
              </a:spcAft>
            </a:pPr>
            <a:r>
              <a:rPr sz="800" b="1" i="0">
                <a:solidFill>
                  <a:srgbClr val="A9B8C9"/>
                </a:solidFill>
                <a:effectLst>
                  <a:glow rad="63500">
                    <a:srgbClr val="001633">
                      <a:alpha val="85000"/>
                    </a:srgbClr>
                  </a:glow>
                </a:effectLst>
                <a:latin typeface="Montserrat"/>
              </a:rPr>
              <a:t>Tipo de fuente: </a:t>
            </a:r>
            <a:r>
              <a:rPr sz="800" b="1" i="0">
                <a:solidFill>
                  <a:srgbClr val="85D5E6"/>
                </a:solidFill>
                <a:effectLst>
                  <a:glow rad="63500">
                    <a:srgbClr val="001633">
                      <a:alpha val="85000"/>
                    </a:srgbClr>
                  </a:glow>
                </a:effectLst>
                <a:latin typeface="Montserrat"/>
              </a:rPr>
              <a:t>Académica   </a:t>
            </a:r>
            <a:r>
              <a:rPr sz="800" b="1" i="0">
                <a:solidFill>
                  <a:srgbClr val="FFFFFF"/>
                </a:solidFill>
                <a:effectLst>
                  <a:glow rad="63500">
                    <a:srgbClr val="001633">
                      <a:alpha val="85000"/>
                    </a:srgbClr>
                  </a:glow>
                </a:effectLst>
                <a:latin typeface="Montserrat"/>
              </a:rPr>
              <a:t>Industria   </a:t>
            </a:r>
            <a:r>
              <a:rPr sz="800" b="1" i="0">
                <a:solidFill>
                  <a:srgbClr val="FFAB40"/>
                </a:solidFill>
                <a:effectLst>
                  <a:glow rad="63500">
                    <a:srgbClr val="001633">
                      <a:alpha val="85000"/>
                    </a:srgbClr>
                  </a:glow>
                </a:effectLst>
                <a:latin typeface="Montserrat"/>
              </a:rPr>
              <a:t>Proveedor   </a:t>
            </a:r>
            <a:r>
              <a:rPr sz="800" b="1" i="0">
                <a:solidFill>
                  <a:srgbClr val="A9B8C9"/>
                </a:solidFill>
                <a:effectLst>
                  <a:glow rad="63500">
                    <a:srgbClr val="001633">
                      <a:alpha val="85000"/>
                    </a:srgbClr>
                  </a:glow>
                </a:effectLst>
                <a:latin typeface="Montserrat"/>
              </a:rPr>
              <a:t>Prensa   </a:t>
            </a:r>
            <a:r>
              <a:rPr sz="800" b="1" i="0">
                <a:solidFill>
                  <a:srgbClr val="B39DF0"/>
                </a:solidFill>
                <a:effectLst>
                  <a:glow rad="63500">
                    <a:srgbClr val="001633">
                      <a:alpha val="85000"/>
                    </a:srgbClr>
                  </a:glow>
                </a:effectLst>
                <a:latin typeface="Montserrat"/>
              </a:rPr>
              <a:t>Estándar   </a:t>
            </a:r>
            <a:r>
              <a:rPr sz="800" b="0" i="0">
                <a:solidFill>
                  <a:srgbClr val="A9B8C9"/>
                </a:solidFill>
                <a:effectLst>
                  <a:glow rad="63500">
                    <a:srgbClr val="001633">
                      <a:alpha val="85000"/>
                    </a:srgbClr>
                  </a:glow>
                </a:effectLst>
                <a:latin typeface="Montserrat"/>
              </a:rPr>
              <a:t>· todas consultadas el 12 de octubre de 2026 · los casos de proveedor no entregan datos auditados</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800" b="1" i="0">
                <a:solidFill>
                  <a:srgbClr val="FFFFFF"/>
                </a:solidFill>
                <a:effectLst>
                  <a:glow rad="63500">
                    <a:srgbClr val="001633">
                      <a:alpha val="85000"/>
                    </a:srgbClr>
                  </a:glow>
                </a:effectLst>
                <a:latin typeface="Montserrat"/>
              </a:rPr>
              <a:t>¡Gracias!</a:t>
            </a:r>
          </a:p>
        </p:txBody>
      </p:sp>
      <p:sp>
        <p:nvSpPr>
          <p:cNvPr id="3" name="Subtitle 2"/>
          <p:cNvSpPr>
            <a:spLocks noGrp="1"/>
          </p:cNvSpPr>
          <p:nvPr>
            <p:ph type="subTitle" idx="1"/>
          </p:nvPr>
        </p:nvSpPr>
        <p:spPr/>
        <p:txBody>
          <a:bodyPr/>
          <a:lstStyle/>
          <a:p>
            <a:r>
              <a:rPr sz="2000" b="1" i="0">
                <a:solidFill>
                  <a:srgbClr val="FFAB40"/>
                </a:solidFill>
                <a:effectLst>
                  <a:glow rad="63500">
                    <a:srgbClr val="001633">
                      <a:alpha val="85000"/>
                    </a:srgbClr>
                  </a:glow>
                </a:effectLst>
                <a:latin typeface="Montserrat"/>
              </a:rPr>
              <a:t>Preguntas y conversación</a:t>
            </a:r>
          </a:p>
        </p:txBody>
      </p:sp>
      <p:sp>
        <p:nvSpPr>
          <p:cNvPr id="4" name="Contacto Luis Jaraquemada S."/>
          <p:cNvSpPr txBox="1"/>
          <p:nvPr/>
        </p:nvSpPr>
        <p:spPr>
          <a:xfrm>
            <a:off x="2286000" y="5989320"/>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Luis Jaraquemada S.   </a:t>
            </a:r>
            <a:r>
              <a:rPr sz="1600" b="0" i="0">
                <a:solidFill>
                  <a:srgbClr val="FFAB40"/>
                </a:solidFill>
                <a:effectLst>
                  <a:glow rad="63500">
                    <a:srgbClr val="001633">
                      <a:alpha val="85000"/>
                    </a:srgbClr>
                  </a:glow>
                </a:effectLst>
                <a:latin typeface="Montserrat"/>
              </a:rPr>
              <a:t>ljaraque@yahoo.com</a:t>
            </a:r>
          </a:p>
        </p:txBody>
      </p:sp>
      <p:sp>
        <p:nvSpPr>
          <p:cNvPr id="5" name="Contacto Andrés Venegas G."/>
          <p:cNvSpPr txBox="1"/>
          <p:nvPr/>
        </p:nvSpPr>
        <p:spPr>
          <a:xfrm>
            <a:off x="2286000" y="6300216"/>
            <a:ext cx="7619695" cy="292608"/>
          </a:xfrm>
          <a:prstGeom prst="rect">
            <a:avLst/>
          </a:prstGeom>
          <a:noFill/>
        </p:spPr>
        <p:txBody>
          <a:bodyPr wrap="square" lIns="0" tIns="0" rIns="0" bIns="0" anchor="t">
            <a:spAutoFit/>
          </a:bodyPr>
          <a:lstStyle/>
          <a:p>
            <a:pPr algn="ctr">
              <a:spcAft>
                <a:spcPts val="600"/>
              </a:spcAft>
            </a:pPr>
            <a:r>
              <a:rPr sz="1600" b="1" i="0">
                <a:solidFill>
                  <a:srgbClr val="FFFFFF"/>
                </a:solidFill>
                <a:effectLst>
                  <a:glow rad="63500">
                    <a:srgbClr val="001633">
                      <a:alpha val="85000"/>
                    </a:srgbClr>
                  </a:glow>
                </a:effectLst>
                <a:latin typeface="Montserrat"/>
              </a:rPr>
              <a:t>Andrés Venegas G.   </a:t>
            </a:r>
            <a:r>
              <a:rPr sz="1600" b="0" i="0">
                <a:solidFill>
                  <a:srgbClr val="FFAB40"/>
                </a:solidFill>
                <a:effectLst>
                  <a:glow rad="63500">
                    <a:srgbClr val="001633">
                      <a:alpha val="85000"/>
                    </a:srgbClr>
                  </a:glow>
                </a:effectLst>
                <a:latin typeface="Montserrat"/>
              </a:rPr>
              <a:t>lvenegas15@hotmail.com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Futuristic Background by Slidesgo">
  <a:themeElements>
    <a:clrScheme name="Simple Light">
      <a:dk1>
        <a:srgbClr val="001633"/>
      </a:dk1>
      <a:lt1>
        <a:srgbClr val="FFFFFF"/>
      </a:lt1>
      <a:dk2>
        <a:srgbClr val="85D5E6"/>
      </a:dk2>
      <a:lt2>
        <a:srgbClr val="FFAB40"/>
      </a:lt2>
      <a:accent1>
        <a:srgbClr val="FFAB40"/>
      </a:accent1>
      <a:accent2>
        <a:srgbClr val="85D5E6"/>
      </a:accent2>
      <a:accent3>
        <a:srgbClr val="78909C"/>
      </a:accent3>
      <a:accent4>
        <a:srgbClr val="FFAB40"/>
      </a:accent4>
      <a:accent5>
        <a:srgbClr val="0097A7"/>
      </a:accent5>
      <a:accent6>
        <a:srgbClr val="001633"/>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32454</Words>
  <Application>Microsoft Macintosh PowerPoint</Application>
  <PresentationFormat>Panorámica</PresentationFormat>
  <Paragraphs>3338</Paragraphs>
  <Slides>100</Slides>
  <Notes>98</Notes>
  <HiddenSlides>0</HiddenSlides>
  <MMClips>0</MMClips>
  <ScaleCrop>false</ScaleCrop>
  <HeadingPairs>
    <vt:vector size="6" baseType="variant">
      <vt:variant>
        <vt:lpstr>Fuentes usadas</vt:lpstr>
      </vt:variant>
      <vt:variant>
        <vt:i4>6</vt:i4>
      </vt:variant>
      <vt:variant>
        <vt:lpstr>Tema</vt:lpstr>
      </vt:variant>
      <vt:variant>
        <vt:i4>2</vt:i4>
      </vt:variant>
      <vt:variant>
        <vt:lpstr>Títulos de diapositiva</vt:lpstr>
      </vt:variant>
      <vt:variant>
        <vt:i4>100</vt:i4>
      </vt:variant>
    </vt:vector>
  </HeadingPairs>
  <TitlesOfParts>
    <vt:vector size="108" baseType="lpstr">
      <vt:lpstr>Aptos</vt:lpstr>
      <vt:lpstr>Aptos Display</vt:lpstr>
      <vt:lpstr>Arial</vt:lpstr>
      <vt:lpstr>Montserrat</vt:lpstr>
      <vt:lpstr>Montserrat ExtraBold</vt:lpstr>
      <vt:lpstr>Montserrat Medium</vt:lpstr>
      <vt:lpstr>Tema de Office</vt:lpstr>
      <vt:lpstr>Futuristic Background by Slidesgo</vt:lpstr>
      <vt:lpstr>Gemelos Digitales para Minería 4.0</vt:lpstr>
      <vt:lpstr>Quiénes somos Diseñamos, construimos y presentamos gemelos digitales mineros</vt:lpstr>
      <vt:lpstr>Quiénes somos Hablamos de gemelos digitales donde la minería decide</vt:lpstr>
      <vt:lpstr>Mapa del curso Cuatro capítulos, de lo general a lo particular</vt:lpstr>
      <vt:lpstr>Presentación de PowerPoint</vt:lpstr>
      <vt:lpstr>¿Qué es un gemelo digital?</vt:lpstr>
      <vt:lpstr>Tres preguntas ubican cualquier gemelo: de qué, cuándo y para qué</vt:lpstr>
      <vt:lpstr>De una pieza a toda la cadena: el nivel define qué se modela</vt:lpstr>
      <vt:lpstr>El gemelo acompaña al activo desde el diseño hasta el cierre</vt:lpstr>
      <vt:lpstr>Siete usos frecuentes, de digitalizar a predecir, y la lista sigue abierta</vt:lpstr>
      <vt:lpstr>El cubo dice dónde y para qué; la integración dice cuán gemelo es</vt:lpstr>
      <vt:lpstr>Seis familias de capacidades: cada gemelo necesita una combinación distinta</vt:lpstr>
      <vt:lpstr>Un gemelo se justifica por la decisión que mejora</vt:lpstr>
      <vt:lpstr>Lo difícil no es construir el modelo: es que siga siendo confiable</vt:lpstr>
      <vt:lpstr>Todo gemelo tiene cinco partes, y el modelo es solo una</vt:lpstr>
      <vt:lpstr>Cuatro gemelos con el mismo nombre y casi nada en común</vt:lpstr>
      <vt:lpstr>Tres ideas para llevarse del capítulo I</vt:lpstr>
      <vt:lpstr>Presentación de PowerPoint</vt:lpstr>
      <vt:lpstr>Hay gemelos en cada eslabón de la cadena, pero rara vez conectados entre sí</vt:lpstr>
      <vt:lpstr>Cinco capas tecnológicas sostienen un gemelo, y la integración es la que más cuesta</vt:lpstr>
      <vt:lpstr>Tres familias de soluciones, y cada una cubre capas distintas</vt:lpstr>
      <vt:lpstr>Geología y planificación: un modelo geológico que se actualiza solo</vt:lpstr>
      <vt:lpstr>Carguío y transporte: simular la flota antes de comprarla</vt:lpstr>
      <vt:lpstr>Molienda: probar el control en el gemelo antes de tocar la planta</vt:lpstr>
      <vt:lpstr>Flotación: un gemelo que ajusta la recuperación en tiempo real</vt:lpstr>
      <vt:lpstr>Relaves: un gemelo vivo de la estabilidad del depósito</vt:lpstr>
      <vt:lpstr>Subterránea: ventilación que sigue a la demanda</vt:lpstr>
      <vt:lpstr>Seis empresas ofrecen gemelos para la minería, y cada una parte de un lugar distinto</vt:lpstr>
      <vt:lpstr>AVEVA: el gemelo nace de los datos de operación</vt:lpstr>
      <vt:lpstr>Siemens: el gemelo nace de la ingeniería y la automatización</vt:lpstr>
      <vt:lpstr>ABB: el gemelo vive dentro del control de procesos</vt:lpstr>
      <vt:lpstr>Innomotics: el gemelo nace de lo que mueve la mina y la planta</vt:lpstr>
      <vt:lpstr>Hexagon: el gemelo de la mina, del plan a la flota</vt:lpstr>
      <vt:lpstr>Dassault Systèmes: el gemelo nace del modelo 3D de la mina</vt:lpstr>
      <vt:lpstr>Detrás de cada producto hay las mismas cuatro piezas</vt:lpstr>
      <vt:lpstr>Tres ideas para llevarse del capítulo II</vt:lpstr>
      <vt:lpstr>Presentación de PowerPoint</vt:lpstr>
      <vt:lpstr>Construir un gemelo es tomar seis decisiones técnicas, una tras otra</vt:lpstr>
      <vt:lpstr>Una demo corre una vez; un gemelo operativo corre siempre</vt:lpstr>
      <vt:lpstr>Todo modelo está en algún punto entre la física y los datos</vt:lpstr>
      <vt:lpstr>Un modelo físico escribe en ecuaciones lo que ya sabemos del equipo</vt:lpstr>
      <vt:lpstr>Un modelo de datos aprende el patrón sin saber la física</vt:lpstr>
      <vt:lpstr>Un modelo híbrido usa la física como esqueleto y los datos como corrección</vt:lpstr>
      <vt:lpstr>Seis preguntas ubican cada activo entre la física y los datos</vt:lpstr>
      <vt:lpstr>Más detalle no siempre es mejor: la fidelidad se elige por la pregunta</vt:lpstr>
      <vt:lpstr>Causal o acausal: lo que cambia es el significado del signo «=»</vt:lpstr>
      <vt:lpstr>Modelica: cada componente se escribe una vez y después solo se conecta</vt:lpstr>
      <vt:lpstr>Cada lenguaje tiene su lugar: no hay uno que sirva para todo</vt:lpstr>
      <vt:lpstr>Herramientas abiertas o comerciales: lo que importa es no quedar encerrado</vt:lpstr>
      <vt:lpstr>El solver es el motor: convierte las ecuaciones en una trayectoria, paso a paso</vt:lpstr>
      <vt:lpstr>El paso de simulación depende de qué tan rápido cambia lo que importa</vt:lpstr>
      <vt:lpstr>Un modelo que simula no es un modelo correcto: verificar, calibrar y validar</vt:lpstr>
      <vt:lpstr>Cada equipo trae su propio modelo: el gemelo necesita integrarlos</vt:lpstr>
      <vt:lpstr>La FMU: un modelo empaquetado que cualquier herramienta puede abrir</vt:lpstr>
      <vt:lpstr>La interfaz de la FMU es un contrato: declara todo lo que el otro necesita saber</vt:lpstr>
      <vt:lpstr>Co-Simulation: la FMU trae su solver y quien la usa solo le pide avanzar</vt:lpstr>
      <vt:lpstr>Así se arma un gemelo multiproveedor: cada pieza en su capa, unidas por estándares</vt:lpstr>
      <vt:lpstr>Seis estándares para tres problemas: unir modelos, mover datos y describir equipos</vt:lpstr>
      <vt:lpstr>Una señal recorre cinco escalones antes de llegar al gemelo</vt:lpstr>
      <vt:lpstr>Los datos reales llegan con huecos, ruido y desfases, y el gemelo debe tolerarlos</vt:lpstr>
      <vt:lpstr>Para seguir a la planta, el gemelo combina lo que predice con lo que mide</vt:lpstr>
      <vt:lpstr>Edge, faena o nube: el gemelo corre donde su decisión lo necesita</vt:lpstr>
      <vt:lpstr>El hardware define qué modelo cabe y a qué velocidad corre</vt:lpstr>
      <vt:lpstr>Un escenario what-if clona el presente y prueba el futuro más rápido que la realidad</vt:lpstr>
      <vt:lpstr>Del escenario al control: cuatro escalones de autonomía</vt:lpstr>
      <vt:lpstr>Cuando un parámetro se mueve solo, el gemelo está avisando algo de la planta</vt:lpstr>
      <vt:lpstr>El modelo también se mantiene: versiones, pruebas y despliegue</vt:lpstr>
      <vt:lpstr>Tres ideas para llevarse del capítulo III</vt:lpstr>
      <vt:lpstr>Presentación de PowerPoint</vt:lpstr>
      <vt:lpstr>Implementar un gemelo en una faena exige seis partes, no solo un modelo</vt:lpstr>
      <vt:lpstr>Áreas estratégicas para la creación de valor</vt:lpstr>
      <vt:lpstr>La misma mejora vale más seguro cuanto más cerca del puerto ocurre</vt:lpstr>
      <vt:lpstr>El problema del filtrado: la última puerta antes del despacho</vt:lpstr>
      <vt:lpstr>Para qué sirve: cuatro preguntas de la operación que el gemelo del filtro responde</vt:lpstr>
      <vt:lpstr>Por qué el HBF‑S 168/12: alto desempeño, pocas unidades en el mundo y casi sin datos</vt:lpstr>
      <vt:lpstr>El filtro en una lámina: cada sector del disco pasa por tres zonas en cada vuelta</vt:lpstr>
      <vt:lpstr>Un modelo fenomenológico: la física del filtro, sintonizada con la planta</vt:lpstr>
      <vt:lpstr>La base física: la ley de Darcy dice cuánto líquido atraviesa el queque</vt:lpstr>
      <vt:lpstr>Del equipo al modelo: seis elementos guardan lo que cambia el resultado</vt:lpstr>
      <vt:lpstr>Pulpa y queque: de dónde salen la capacidad y la humedad</vt:lpstr>
      <vt:lpstr>El aire: la presión sale de un balance, y la paga el compresor</vt:lpstr>
      <vt:lpstr>Los elementos se conectan en Modelica, igual que en el equipo real</vt:lpstr>
      <vt:lpstr>Las perillas del modelo: cinco parámetros que lo sintonizan con la realidad</vt:lpstr>
      <vt:lpstr>Paso de 1 segundo: más fino que lo más rápido que importa en el filtro</vt:lpstr>
      <vt:lpstr>La FMU es el contrato: 6 entradas y 15 salidas, cada una con nombre, unidad y descripción</vt:lpstr>
      <vt:lpstr>Una FMU o varias: el gemelo también se arma con piezas de distintas herramientas</vt:lpstr>
      <vt:lpstr>Del modelo a la planta: el gemelo se despliega por etapas, y cada etapa se gana</vt:lpstr>
      <vt:lpstr>La misma FMU corre en tres lugares, porque viaja con su código en C</vt:lpstr>
      <vt:lpstr>Las señales que necesita: unas alimentan al gemelo y otras lo vigilan</vt:lpstr>
      <vt:lpstr>Monitoreo: qué vigilar para saber si el gemelo sigue representando al filtro</vt:lpstr>
      <vt:lpstr>Comprar o construir: las mismas cuatro piezas, armadas con herramientas abiertas</vt:lpstr>
      <vt:lpstr>Todo lo que se ve con un número lo calcula la FMU; el resto ayuda a entenderlo</vt:lpstr>
      <vt:lpstr>Demo en vivo: tres preguntas para hacerle al filtro</vt:lpstr>
      <vt:lpstr>Taller: ¿dónde es técnicamente viable un gemelo en su faena?</vt:lpstr>
      <vt:lpstr>El entregable: un veredicto de viabilidad, con sus razones y su primer paso</vt:lpstr>
      <vt:lpstr>Tres ideas para llevarse del curso</vt:lpstr>
      <vt:lpstr>Referencias del curso (1/3)</vt:lpstr>
      <vt:lpstr>Referencias del curso (2/3)</vt:lpstr>
      <vt:lpstr>Referencias del curso (3/3)</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Luis Jaraquemada Jaraquemada</dc:creator>
  <cp:lastModifiedBy>Luis Venegas Gonzalez</cp:lastModifiedBy>
  <cp:revision>3</cp:revision>
  <dcterms:created xsi:type="dcterms:W3CDTF">2026-07-16T02:12:16Z</dcterms:created>
  <dcterms:modified xsi:type="dcterms:W3CDTF">2026-10-17T11:47:10Z</dcterms:modified>
</cp:coreProperties>
</file>