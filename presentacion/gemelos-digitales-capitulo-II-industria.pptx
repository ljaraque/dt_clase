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3"/>
  </p:notesMasterIdLst>
  <p:sldIdLst>
    <p:sldId id="256" r:id="rId3"/>
    <p:sldId id="257" r:id="rId4"/>
    <p:sldId id="258" r:id="rId5"/>
    <p:sldId id="259" r:id="rId6"/>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352" r:id="rId99"/>
    <p:sldId id="353" r:id="rId100"/>
    <p:sldId id="354" r:id="rId101"/>
    <p:sldId id="355" r:id="rId10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1" autoAdjust="0"/>
    <p:restoredTop sz="96121"/>
  </p:normalViewPr>
  <p:slideViewPr>
    <p:cSldViewPr snapToGrid="0">
      <p:cViewPr varScale="1">
        <p:scale>
          <a:sx n="121" d="100"/>
          <a:sy n="121" d="100"/>
        </p:scale>
        <p:origin x="3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E27D3-C215-4CF0-B1FA-89AF1A49981C}" type="datetimeFigureOut">
              <a:rPr lang="es-CL" smtClean="0"/>
              <a:t>17-10-26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5E836-5B69-40A0-869E-1082D9FB5991}" type="slidenum">
              <a:rPr lang="es-CL" smtClean="0"/>
              <a:t>‹Nº›</a:t>
            </a:fld>
            <a:endParaRPr lang="es-CL"/>
          </a:p>
        </p:txBody>
      </p:sp>
    </p:spTree>
    <p:extLst>
      <p:ext uri="{BB962C8B-B14F-4D97-AF65-F5344CB8AC3E}">
        <p14:creationId xmlns:p14="http://schemas.microsoft.com/office/powerpoint/2010/main" val="384786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Gemelos Digitales para Minería 4.0 · De la estrategia al impacto operacional · tres ejes: modelamiento dinámico, integración de datos y decisión en tiempo real.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de impacto. Fuente: bios del equipo a cargo del curso y trabajos en congresos 2022–2025.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del curso de lo general a lo particular: conceptos, soluciones de la industria, cómo se construye un gemelo (en general) y el caso del filtro, que recorre todo lo anterior y termina en el taller.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del capítulo II: qué pregunta responde, los temas que cubre y el avance del curso.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Recorrido de la cadena de valor del cobre a rajo abierto (la subterránea se ve en su propia lámina). El grado es el típico de lo que hoy se ve publicado: en geología y tronadura predominan los modelos (diseño y simulación fuera de línea); en carguío, chancado, relaves y puerto, sombras (datos en vivo, decide la persona); en molienda y flotación hay control avanzado que actúa sobre la planta. Mensaje: hay gemelos en todos lados, pero rara vez conectados; integrarlos es el nivel multisistema. Imágenes: rajo Escondida, P. Bachelot (CC BY-SA 3.0); tronadura Twin Creeks; pala P&amp;H 4100XPB, Sansumaria (CC BY-SA 3.0); chancador primario Brockman 2; molino, V. Bukharov (CC BY-SA 4.0); celdas DELKOR, Nina111955 (CC BY-SA 4.0); espesadores; cargador de barcos, C. Hargrave/CSIRO (CC BY 3.0). Detalle en imagenes/CREDITOS.md.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IoT Analytics (2026) describe cinco capas (fuentes, conectividad e integración, modelamiento, infraestructura, aplicaciones) en cuatro contextos: diseño e ingeniería, operaciones industriales, edificios e infraestructura, redes y sistemas. La minería cae en operaciones industriales (SCADA, MES, historian). Los ejemplos de tecnologías por capa son ilustrativos. Mensaje: el modelo es una capa entre cinco; el mayor esfuerzo suele estar en conectar e integrar.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familias, sin ranking de proveedores. Plataformas de datos y operación: historian, IIoT y salas de operación; fuertes en capas 1, 2, 4 y 5, pero el modelo físico no es su foco. Simuladores y modelos: modelo geológico y plan minero, simulación de flota, simuladores de proceso (incluye Modelica); fuertes en la capa 3 y sus aplicaciones, suelen trabajar con datos cargados. Gemelos del fabricante (OEM): cubren todo el stack, pero para su propio equipo. Mensaje: un gemelo de faena casi siempre combina las tres familias, y unirlas es el trabajo del integrador (capítulo III).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Taylor et al. (2019), AusIMM. Según el resumen, el valor es «el primer modelo geológico totalmente integrado y vivo» y las actualizaciones casi en tiempo real aseguran dominios geológicos robustos para el modelo de recursos. Lectura: nivel Sistema (el yacimiento), fase Operar, uso Simular. Grado Modelo: aunque se actualiza rápido, los datos se cargan por campañas y no hay acción automática sobre la operación; al actualizarse en continuo se acerca a sombra. Imagen ilustrativa: rajo Escondida.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Zamani, Badiozamani y Askari-Nasab (2025), Mining Optimization Laboratory, U. de Alberta. Construyen un gemelo de toda una operación a rajo (simulación de eventos discretos de mina y planta) para evaluar inversiones como transporte autónomo o nuevas configuraciones. Según el resumen, distintos escenarios sugieren una reducción potencial de 15–25 % de la flota de camiones requerida y 20–70 % menos tiempo promedio de cola en chancadores. Son resultados de simulación, no de operación. Lectura: Sistema · Diseñar · Simular, grado Modelo. El despacho en línea, en cambio, es sombra o gemelo (Operar · Orquestar).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Mining Digital (enero de 2024): en Aitik (cobre, Suecia) un gemelo que representa el proceso de conminución se usó para evaluar distintas estrategias de control frente a varios escenarios de proceso. Según páginas de ABB (vistas en el buscador), el modelo del circuito corre en Dymola, una herramienta Modelica: conecta con el capítulo III. Lectura: Proceso · Construir · Emular (el control real se prueba contra la planta virtual). En operación, el control avanzado actúa sobre el molino: grado Gemelo.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MMG (julio de 2026). Gemelo del proceso de flotación que combina modelos de proceso, aprendizaje automático y control avanzado de procesos, desarrollado con Hatch; según MMG, la inversión se recuperó en menos de tres meses desde la puesta en marcha (cifra de la empresa, no auditada). Lectura: Proceso · Optimizar · Orquestar, grado Gemelo porque actúa sobre la planta.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Seequent (charla de Pieter Neethling, 2021, actualizada 2022; fuente de proveedor). Instrumentos como piezómetros guían la construcción del gemelo 3D del depósito y lo hacen más preciso; en conjunto, los resultados definen un gemelo vivo. Lectura: Sistema · Operar · Predecir, grado Sombra: los datos llegan solos y la decisión es de los ingenieros.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Visagie (MechChem Africa, mayo de 2026; el autor dirige Vuma Software). Combina una simulación calibrada con mediciones en vivo de caudal, temperatura y calidad del aire, permite comparar desempeño esperado y real y ver el efecto de un ajuste antes de hacerlo; apoya la gestión activa del aire dentro de límites seguros. Lectura: Proceso · Operar · Orquestar. Grado Gemelo si el ajuste es automático; la fuente dice «apoya», así que hay que preguntar en cada faena.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seis empresas del curso, elegidas por presencia en grandes mineras, cobertura del stack y casos públicos documentados. No es un ranking ni cuotas de mercado. Cada una parte de su origen: AVEVA (Schneider Electric) desde los datos de operación; Siemens desde la ingeniería y la automatización; ABB desde el control de procesos y la electrificación; Innomotics (hoy independiente de Siemens) desde los accionamientos de molinos y correas y su portafolio DigiMine; Hexagon desde la mina (planificación, flota y seguridad); Dassault Systèmes desde la geología y el modelo de la mina. La cobertura por zona es una lectura propia de su oferta pública. Los fabricantes de equipos (Metso con Geminex, FLSmidth, ANDRITZ) ofrecen gemelos de sus propios equipos; ANDRITZ es el fabricante del filtro del capítulo IV.</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AVEVA (Schneider Electric): fuerte en datos de operación. Parte de los datos: reúne todas las señales de la faena en un historian y desde ahí monta tableros, analítica y salas de operación. Productos: AVEVA PI System: historian: guarda y ordena las series de tiempo de toda la faena; AVEVA Unified Operations Center: sala de operación integrada con tableros e indicadores; AVEVA Process Simulation: simulador de procesos para diseño y operación. Por dentro: series de tiempo y modelos de datos; simulación de procesos como complemento. Caso: Ok Tedi (Papúa Nueva Guinea): con PI System, recuperación de cobre +2,4 % y de oro +7,4 %.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Siemens: fuerte en ingeniería y automatización. Parte de la ingeniería de la planta y del control: el mismo modelo acompaña el diseño, la construcción y la operación. Productos: Siemens Xcelerator: portafolio que agrupa software y automatización; COMOS: ingeniería de planta: el «modelo de datos» de todos sus equipos; gPROMS: simulación avanzada de procesos con ecuaciones físicas. Por dentro: ecuaciones físicas de proceso y modelo de ingeniería de la planta. Caso: Anglo American Quellaveco (Perú): gemelos de molienda, flotación, relaves, agua y energía sobre COMOS.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ABB: fuerte en control y electrificación. Parte del control de procesos: un modelo dinámico dentro del control avanzado ajusta la planta cada pocos segundos. Productos: ABB Ability Expert Optimizer: control avanzado de molienda y flotación (control predictivo); ABB Ability Performance Optimization: servicio que mide y mejora el desempeño de la planta; Accionamientos y electrificación: molinos sin engranajes, transporte y sistemas eléctricos. Por dentro: modelo dinámico dentro de un control predictivo (MPC), con aprendizaje automático. Caso: Boliden Aitik (Suecia): el control se probó en un gemelo de la conminución antes de aplicarlo.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Innomotics: fuerte en accionamientos y digitalización minera. Parte de lo que mueve la mina y la planta: los accionamientos de molinos y correas, y desde ahí un portafolio digital para la operación. Productos: DigiMine Process Twin: simula los activos principales para probar escenarios what-if y eliminar cuellos de botella; DigiMine YardMaster: canchas de acopio: operación autónoma de máquinas, trazabilidad y planificación; Accionamientos sin engranajes: para molinos y correas, con sus motores y su automatización. Por dentro: simulación de activos y procesos; modelos de los accionamientos y su control. Caso: Anglo American Quellaveco: representación digital de toda la operación, del rajo al puerto, y accionamientos sin engranajes de cuatro molinos y la correa overland.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Hexagon: fuerte en mina: plan, flota y seguridad. Parte de la mina: del modelo geológico y el plan a la flota en terreno y la seguridad del operador. Productos: HxGN MinePlan: modelamiento geológico y planificación minera; HxGN MineOperate OP Pro: gestión de flota y despacho en tiempo real; HxGN MineProtect: anticolisión y alerta de fatiga del operador. Por dentro: geoestadística y optimización del plan; despacho en línea. Caso: BUMA (carbón, Indonesia): 150 equipos con OP Pro, operando en régimen en tres meses.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Dassault Systèmes: fuerte en geología y modelo de la mina. Parte de la representación 3D del yacimiento y la mina, y la lleva a una plataforma común para toda la cadena. Productos: GEOVIA Surpac: modelamiento geológico y diseño minero; GEOVIA Whittle: optimización económica del pit y del plan; 3DEXPERIENCE: plataforma colaborativa del «virtual twin» de la mina. Por dentro: geoestadística, optimización del plan y simulación física en la plataforma. Caso: Relaves: se simula el comportamiento del depósito antes de construirlo para comparar diseños. El objetivo no es aprender a usar estos productos, sino reconocer qué tipo de modelo llevan dentro: eso es lo que se abre en el capítulo III. Verificar nombres de producto antes de presentar.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Anatomía común a todos los productos vistos: datos y conectores → modelo → motor de cálculo (solver) → interfaz. Los nombres cambian; estas piezas no. El capítulo III no enseña a usar un producto: abre el modelo y el motor de cálculo, en general, con herramientas abiertas (Modelica y FMU). El capítulo IV lo aplica al filtro.</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del capítulo II. 1) La cadena minera tiene gemelos en cada eslabón, pero rara vez conectados. 2) Las seis empresas y su oferta, cada una desde su origen. 3) Todo software tiene las mismas cuatro piezas. Puente: en el capítulo III abrimos la caja del modelo y del motor de cálculo, en general.</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1C1EC3-D699-5938-A4A3-682198A9E5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E713AF42-5521-3368-35D0-9BAE0A8D6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6DDCFB1-BDA3-581B-9B59-04BD281347AE}"/>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1877ED4-AD61-9958-B8BF-9D6E203C959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A3FE22-F655-A5A5-501B-A49B967C307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49866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C4884-AC19-2253-D13F-C8673DBB835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0060FA2-4EA6-36C1-43FA-23CFA05280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333E93A-101E-9DE0-5167-50281558ED6D}"/>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B9CFDB-C719-7609-8375-5A75591152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DBA177-BFE8-69F7-61AD-8DEC70875203}"/>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64853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63449-D190-EC86-EFE5-9E6A2CF0EAE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BA531C0-4F44-1C00-A978-32B758E48C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1E15581-AE2F-4427-D998-E41DAA0C18C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513A1E9-7981-EFE8-41DE-A6C4DFC90D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8698054-145E-947F-80C5-B25F537184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402792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4FD70-939C-E1DC-EDDD-4A9B67CD469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195D4DC-A947-BD93-4A3D-AACAF9AB25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3A7977C-3263-D267-7E01-A7072E6E039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4782E93-7870-B13F-62E9-4489CE15F2C8}"/>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66E39DAF-12F8-BFB8-E205-C03F4602599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A377EBA-A376-5E20-ACD6-7A1BFB95C41C}"/>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61963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3E840-B297-F495-62C6-2F5A591FB89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F2D2530-A86D-7DF5-5433-87B672593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5018532-2796-2A90-F39E-FA91057272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2D7F3C8-C0FD-139D-7805-11818CEA3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E3FA0C-A922-F94D-44D2-DD070E35503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54EFA2AE-2AE0-004D-40D5-B785E6C950B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8" name="Marcador de pie de página 7">
            <a:extLst>
              <a:ext uri="{FF2B5EF4-FFF2-40B4-BE49-F238E27FC236}">
                <a16:creationId xmlns:a16="http://schemas.microsoft.com/office/drawing/2014/main" id="{A00ECF31-7FE1-9314-3C67-25E05E665F37}"/>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2EF40F13-A8B3-5C8C-28BE-AB7C0A167294}"/>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561430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408A5-6035-F4FD-F943-1F9E630B040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6C561BDF-C03F-52B4-EA59-4EB9BF4486C4}"/>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4" name="Marcador de pie de página 3">
            <a:extLst>
              <a:ext uri="{FF2B5EF4-FFF2-40B4-BE49-F238E27FC236}">
                <a16:creationId xmlns:a16="http://schemas.microsoft.com/office/drawing/2014/main" id="{94653506-5914-A42E-AC3B-9C1DFF889BD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87EEF24-ACCD-82DD-BFC2-6DE86647AC4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95760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8A5D5D1-9398-DBD0-CC96-4DCC0903CD5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3" name="Marcador de pie de página 2">
            <a:extLst>
              <a:ext uri="{FF2B5EF4-FFF2-40B4-BE49-F238E27FC236}">
                <a16:creationId xmlns:a16="http://schemas.microsoft.com/office/drawing/2014/main" id="{4FEBF566-555D-B77A-E8D8-BF879E78167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D8F82D6-2724-68E1-E832-9BA570873A2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267761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E4FBA-EC44-CEC9-7C61-56591E3F3DF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40A153E-83C0-21AA-D27D-086706A031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6D0FE2B-A801-50D0-3B55-F18535FE5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74A35C-644E-CE67-843E-3912E2B1753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58BD8E3-F770-F9CC-12EC-75900ED0360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87368D2-3F1E-CDFB-372D-1C6D507CF1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82683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8BB538-FB5B-94D8-AF11-91E676754D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1911712-9666-A7C3-2AB8-1E4954021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AB0EA63F-91E5-3C8E-D4A7-3774C15C0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E9ECD04-0D35-ECC0-9BAF-9F02E7352DE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4E1CA51-EFED-5252-1F89-51CDD981E6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ACFA750-B593-4349-FAEB-F1B774BF577B}"/>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1304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D27A2-2DCE-78A5-CD90-90CBB4AE9E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984B10D-65EB-F8A0-C4A1-F93E244AF08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AB1436B-DD56-82FB-E6B1-830BF8033FB1}"/>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D4B1D8-66F8-CFFD-EBA8-55F4CD69704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A29C4C-F216-F989-E4D0-0357833185F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91933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306880-4021-4239-12B5-3559F5F994F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3749660-7C27-8A53-859E-CC11E91228F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4F580E-CD7C-599A-4508-DE444E0686A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5118370D-FC2F-70B6-A108-7AEF0CBA681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D19D3B-1D74-8F29-5DF0-2CA05713A75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662887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3998228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extLst>
      <p:ext uri="{BB962C8B-B14F-4D97-AF65-F5344CB8AC3E}">
        <p14:creationId xmlns:p14="http://schemas.microsoft.com/office/powerpoint/2010/main" val="145671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32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50699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1743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62397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116233" y="1729500"/>
            <a:ext cx="3783200" cy="167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 name="Google Shape;26;p7"/>
          <p:cNvSpPr txBox="1">
            <a:spLocks noGrp="1"/>
          </p:cNvSpPr>
          <p:nvPr>
            <p:ph type="body" idx="1"/>
          </p:nvPr>
        </p:nvSpPr>
        <p:spPr>
          <a:xfrm>
            <a:off x="7116233" y="3458500"/>
            <a:ext cx="3783200" cy="16700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Clr>
                <a:schemeClr val="lt1"/>
              </a:buClr>
              <a:buSzPts val="1600"/>
              <a:buChar char="●"/>
              <a:defRPr sz="2133">
                <a:solidFill>
                  <a:schemeClr val="lt1"/>
                </a:solidFill>
              </a:defRPr>
            </a:lvl1pPr>
            <a:lvl2pPr marL="1219170" lvl="1" indent="-440256" rtl="0">
              <a:spcBef>
                <a:spcPts val="2133"/>
              </a:spcBef>
              <a:spcAft>
                <a:spcPts val="0"/>
              </a:spcAft>
              <a:buClr>
                <a:schemeClr val="lt1"/>
              </a:buClr>
              <a:buSzPts val="1600"/>
              <a:buChar char="○"/>
              <a:defRPr sz="2133">
                <a:solidFill>
                  <a:schemeClr val="lt1"/>
                </a:solidFill>
              </a:defRPr>
            </a:lvl2pPr>
            <a:lvl3pPr marL="1828754" lvl="2" indent="-440256" rtl="0">
              <a:spcBef>
                <a:spcPts val="2133"/>
              </a:spcBef>
              <a:spcAft>
                <a:spcPts val="0"/>
              </a:spcAft>
              <a:buClr>
                <a:schemeClr val="lt1"/>
              </a:buClr>
              <a:buSzPts val="1600"/>
              <a:buChar char="■"/>
              <a:defRPr sz="2133">
                <a:solidFill>
                  <a:schemeClr val="lt1"/>
                </a:solidFill>
              </a:defRPr>
            </a:lvl3pPr>
            <a:lvl4pPr marL="2438339" lvl="3" indent="-440256" rtl="0">
              <a:spcBef>
                <a:spcPts val="2133"/>
              </a:spcBef>
              <a:spcAft>
                <a:spcPts val="0"/>
              </a:spcAft>
              <a:buClr>
                <a:schemeClr val="lt1"/>
              </a:buClr>
              <a:buSzPts val="1600"/>
              <a:buChar char="●"/>
              <a:defRPr sz="2133">
                <a:solidFill>
                  <a:schemeClr val="lt1"/>
                </a:solidFill>
              </a:defRPr>
            </a:lvl4pPr>
            <a:lvl5pPr marL="3047924" lvl="4" indent="-440256" rtl="0">
              <a:spcBef>
                <a:spcPts val="2133"/>
              </a:spcBef>
              <a:spcAft>
                <a:spcPts val="0"/>
              </a:spcAft>
              <a:buClr>
                <a:schemeClr val="lt1"/>
              </a:buClr>
              <a:buSzPts val="1600"/>
              <a:buChar char="○"/>
              <a:defRPr sz="2133">
                <a:solidFill>
                  <a:schemeClr val="lt1"/>
                </a:solidFill>
              </a:defRPr>
            </a:lvl5pPr>
            <a:lvl6pPr marL="3657509" lvl="5" indent="-440256" rtl="0">
              <a:spcBef>
                <a:spcPts val="2133"/>
              </a:spcBef>
              <a:spcAft>
                <a:spcPts val="0"/>
              </a:spcAft>
              <a:buClr>
                <a:schemeClr val="lt1"/>
              </a:buClr>
              <a:buSzPts val="1600"/>
              <a:buChar char="■"/>
              <a:defRPr sz="2133">
                <a:solidFill>
                  <a:schemeClr val="lt1"/>
                </a:solidFill>
              </a:defRPr>
            </a:lvl6pPr>
            <a:lvl7pPr marL="4267093" lvl="6" indent="-440256" rtl="0">
              <a:spcBef>
                <a:spcPts val="2133"/>
              </a:spcBef>
              <a:spcAft>
                <a:spcPts val="0"/>
              </a:spcAft>
              <a:buClr>
                <a:schemeClr val="lt1"/>
              </a:buClr>
              <a:buSzPts val="1600"/>
              <a:buChar char="●"/>
              <a:defRPr sz="2133">
                <a:solidFill>
                  <a:schemeClr val="lt1"/>
                </a:solidFill>
              </a:defRPr>
            </a:lvl7pPr>
            <a:lvl8pPr marL="4876678" lvl="7" indent="-440256" rtl="0">
              <a:spcBef>
                <a:spcPts val="2133"/>
              </a:spcBef>
              <a:spcAft>
                <a:spcPts val="0"/>
              </a:spcAft>
              <a:buClr>
                <a:schemeClr val="lt1"/>
              </a:buClr>
              <a:buSzPts val="1600"/>
              <a:buChar char="○"/>
              <a:defRPr sz="2133">
                <a:solidFill>
                  <a:schemeClr val="lt1"/>
                </a:solidFill>
              </a:defRPr>
            </a:lvl8pPr>
            <a:lvl9pPr marL="5486263" lvl="8" indent="-440256" rtl="0">
              <a:spcBef>
                <a:spcPts val="2133"/>
              </a:spcBef>
              <a:spcAft>
                <a:spcPts val="2133"/>
              </a:spcAft>
              <a:buClr>
                <a:schemeClr val="lt1"/>
              </a:buClr>
              <a:buSzPts val="1600"/>
              <a:buChar char="■"/>
              <a:defRPr sz="2133">
                <a:solidFill>
                  <a:schemeClr val="lt1"/>
                </a:solidFill>
              </a:defRPr>
            </a:lvl9pPr>
          </a:lstStyle>
          <a:p>
            <a:endParaRPr/>
          </a:p>
        </p:txBody>
      </p:sp>
    </p:spTree>
    <p:extLst>
      <p:ext uri="{BB962C8B-B14F-4D97-AF65-F5344CB8AC3E}">
        <p14:creationId xmlns:p14="http://schemas.microsoft.com/office/powerpoint/2010/main" val="2043058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239303" y="581577"/>
            <a:ext cx="3662000" cy="545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4000">
                <a:solidFill>
                  <a:schemeClr val="accent1"/>
                </a:solidFill>
              </a:defRPr>
            </a:lvl1pPr>
            <a:lvl2pPr lvl="1">
              <a:spcBef>
                <a:spcPts val="0"/>
              </a:spcBef>
              <a:spcAft>
                <a:spcPts val="0"/>
              </a:spcAft>
              <a:buClr>
                <a:schemeClr val="accent1"/>
              </a:buClr>
              <a:buSzPts val="4800"/>
              <a:buNone/>
              <a:defRPr sz="6400">
                <a:solidFill>
                  <a:schemeClr val="accent1"/>
                </a:solidFill>
              </a:defRPr>
            </a:lvl2pPr>
            <a:lvl3pPr lvl="2">
              <a:spcBef>
                <a:spcPts val="0"/>
              </a:spcBef>
              <a:spcAft>
                <a:spcPts val="0"/>
              </a:spcAft>
              <a:buClr>
                <a:schemeClr val="accent1"/>
              </a:buClr>
              <a:buSzPts val="4800"/>
              <a:buNone/>
              <a:defRPr sz="6400">
                <a:solidFill>
                  <a:schemeClr val="accent1"/>
                </a:solidFill>
              </a:defRPr>
            </a:lvl3pPr>
            <a:lvl4pPr lvl="3">
              <a:spcBef>
                <a:spcPts val="0"/>
              </a:spcBef>
              <a:spcAft>
                <a:spcPts val="0"/>
              </a:spcAft>
              <a:buClr>
                <a:schemeClr val="accent1"/>
              </a:buClr>
              <a:buSzPts val="4800"/>
              <a:buNone/>
              <a:defRPr sz="6400">
                <a:solidFill>
                  <a:schemeClr val="accent1"/>
                </a:solidFill>
              </a:defRPr>
            </a:lvl4pPr>
            <a:lvl5pPr lvl="4">
              <a:spcBef>
                <a:spcPts val="0"/>
              </a:spcBef>
              <a:spcAft>
                <a:spcPts val="0"/>
              </a:spcAft>
              <a:buClr>
                <a:schemeClr val="accent1"/>
              </a:buClr>
              <a:buSzPts val="4800"/>
              <a:buNone/>
              <a:defRPr sz="6400">
                <a:solidFill>
                  <a:schemeClr val="accent1"/>
                </a:solidFill>
              </a:defRPr>
            </a:lvl5pPr>
            <a:lvl6pPr lvl="5">
              <a:spcBef>
                <a:spcPts val="0"/>
              </a:spcBef>
              <a:spcAft>
                <a:spcPts val="0"/>
              </a:spcAft>
              <a:buClr>
                <a:schemeClr val="accent1"/>
              </a:buClr>
              <a:buSzPts val="4800"/>
              <a:buNone/>
              <a:defRPr sz="6400">
                <a:solidFill>
                  <a:schemeClr val="accent1"/>
                </a:solidFill>
              </a:defRPr>
            </a:lvl6pPr>
            <a:lvl7pPr lvl="6">
              <a:spcBef>
                <a:spcPts val="0"/>
              </a:spcBef>
              <a:spcAft>
                <a:spcPts val="0"/>
              </a:spcAft>
              <a:buClr>
                <a:schemeClr val="accent1"/>
              </a:buClr>
              <a:buSzPts val="4800"/>
              <a:buNone/>
              <a:defRPr sz="6400">
                <a:solidFill>
                  <a:schemeClr val="accent1"/>
                </a:solidFill>
              </a:defRPr>
            </a:lvl7pPr>
            <a:lvl8pPr lvl="7">
              <a:spcBef>
                <a:spcPts val="0"/>
              </a:spcBef>
              <a:spcAft>
                <a:spcPts val="0"/>
              </a:spcAft>
              <a:buClr>
                <a:schemeClr val="accent1"/>
              </a:buClr>
              <a:buSzPts val="4800"/>
              <a:buNone/>
              <a:defRPr sz="6400">
                <a:solidFill>
                  <a:schemeClr val="accent1"/>
                </a:solidFill>
              </a:defRPr>
            </a:lvl8pPr>
            <a:lvl9pPr lvl="8">
              <a:spcBef>
                <a:spcPts val="0"/>
              </a:spcBef>
              <a:spcAft>
                <a:spcPts val="0"/>
              </a:spcAft>
              <a:buClr>
                <a:schemeClr val="accent1"/>
              </a:buClr>
              <a:buSzPts val="4800"/>
              <a:buNone/>
              <a:defRPr sz="6400">
                <a:solidFill>
                  <a:schemeClr val="accent1"/>
                </a:solidFill>
              </a:defRPr>
            </a:lvl9pPr>
          </a:lstStyle>
          <a:p>
            <a:endParaRPr/>
          </a:p>
        </p:txBody>
      </p:sp>
      <p:pic>
        <p:nvPicPr>
          <p:cNvPr id="29" name="Google Shape;29;p8"/>
          <p:cNvPicPr preferRelativeResize="0"/>
          <p:nvPr/>
        </p:nvPicPr>
        <p:blipFill>
          <a:blip r:embed="rId3">
            <a:alphaModFix/>
          </a:blip>
          <a:stretch>
            <a:fillRect/>
          </a:stretch>
        </p:blipFill>
        <p:spPr>
          <a:xfrm rot="5400000">
            <a:off x="4371899" y="552068"/>
            <a:ext cx="10168735" cy="3845065"/>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6429886" y="-469214"/>
            <a:ext cx="12413063" cy="4693700"/>
          </a:xfrm>
          <a:prstGeom prst="rect">
            <a:avLst/>
          </a:prstGeom>
          <a:noFill/>
          <a:ln>
            <a:noFill/>
          </a:ln>
        </p:spPr>
      </p:pic>
    </p:spTree>
    <p:extLst>
      <p:ext uri="{BB962C8B-B14F-4D97-AF65-F5344CB8AC3E}">
        <p14:creationId xmlns:p14="http://schemas.microsoft.com/office/powerpoint/2010/main" val="3145978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1251333" y="2359433"/>
            <a:ext cx="3828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2133">
                <a:solidFill>
                  <a:schemeClr val="lt2"/>
                </a:solidFill>
              </a:defRPr>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endParaRPr/>
          </a:p>
        </p:txBody>
      </p:sp>
      <p:sp>
        <p:nvSpPr>
          <p:cNvPr id="33" name="Google Shape;33;p9"/>
          <p:cNvSpPr txBox="1">
            <a:spLocks noGrp="1"/>
          </p:cNvSpPr>
          <p:nvPr>
            <p:ph type="body" idx="2"/>
          </p:nvPr>
        </p:nvSpPr>
        <p:spPr>
          <a:xfrm>
            <a:off x="6271167" y="1212800"/>
            <a:ext cx="4625200" cy="4432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34" name="Google Shape;34;p9"/>
          <p:cNvSpPr txBox="1">
            <a:spLocks noGrp="1"/>
          </p:cNvSpPr>
          <p:nvPr>
            <p:ph type="title"/>
          </p:nvPr>
        </p:nvSpPr>
        <p:spPr>
          <a:xfrm>
            <a:off x="1251333" y="593367"/>
            <a:ext cx="4298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182321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852498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561000" y="2179233"/>
            <a:ext cx="7070000" cy="1488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9600">
                <a:solidFill>
                  <a:schemeClr val="lt1"/>
                </a:solidFill>
              </a:defRPr>
            </a:lvl1pPr>
            <a:lvl2pPr lvl="1" algn="ctr">
              <a:spcBef>
                <a:spcPts val="0"/>
              </a:spcBef>
              <a:spcAft>
                <a:spcPts val="0"/>
              </a:spcAft>
              <a:buClr>
                <a:schemeClr val="lt1"/>
              </a:buClr>
              <a:buSzPts val="7200"/>
              <a:buNone/>
              <a:defRPr sz="9600">
                <a:solidFill>
                  <a:schemeClr val="lt1"/>
                </a:solidFill>
              </a:defRPr>
            </a:lvl2pPr>
            <a:lvl3pPr lvl="2" algn="ctr">
              <a:spcBef>
                <a:spcPts val="0"/>
              </a:spcBef>
              <a:spcAft>
                <a:spcPts val="0"/>
              </a:spcAft>
              <a:buClr>
                <a:schemeClr val="lt1"/>
              </a:buClr>
              <a:buSzPts val="7200"/>
              <a:buNone/>
              <a:defRPr sz="9600">
                <a:solidFill>
                  <a:schemeClr val="lt1"/>
                </a:solidFill>
              </a:defRPr>
            </a:lvl3pPr>
            <a:lvl4pPr lvl="3" algn="ctr">
              <a:spcBef>
                <a:spcPts val="0"/>
              </a:spcBef>
              <a:spcAft>
                <a:spcPts val="0"/>
              </a:spcAft>
              <a:buClr>
                <a:schemeClr val="lt1"/>
              </a:buClr>
              <a:buSzPts val="7200"/>
              <a:buNone/>
              <a:defRPr sz="9600">
                <a:solidFill>
                  <a:schemeClr val="lt1"/>
                </a:solidFill>
              </a:defRPr>
            </a:lvl4pPr>
            <a:lvl5pPr lvl="4" algn="ctr">
              <a:spcBef>
                <a:spcPts val="0"/>
              </a:spcBef>
              <a:spcAft>
                <a:spcPts val="0"/>
              </a:spcAft>
              <a:buClr>
                <a:schemeClr val="lt1"/>
              </a:buClr>
              <a:buSzPts val="7200"/>
              <a:buNone/>
              <a:defRPr sz="9600">
                <a:solidFill>
                  <a:schemeClr val="lt1"/>
                </a:solidFill>
              </a:defRPr>
            </a:lvl5pPr>
            <a:lvl6pPr lvl="5" algn="ctr">
              <a:spcBef>
                <a:spcPts val="0"/>
              </a:spcBef>
              <a:spcAft>
                <a:spcPts val="0"/>
              </a:spcAft>
              <a:buClr>
                <a:schemeClr val="lt1"/>
              </a:buClr>
              <a:buSzPts val="7200"/>
              <a:buNone/>
              <a:defRPr sz="9600">
                <a:solidFill>
                  <a:schemeClr val="lt1"/>
                </a:solidFill>
              </a:defRPr>
            </a:lvl6pPr>
            <a:lvl7pPr lvl="6" algn="ctr">
              <a:spcBef>
                <a:spcPts val="0"/>
              </a:spcBef>
              <a:spcAft>
                <a:spcPts val="0"/>
              </a:spcAft>
              <a:buClr>
                <a:schemeClr val="lt1"/>
              </a:buClr>
              <a:buSzPts val="7200"/>
              <a:buNone/>
              <a:defRPr sz="9600">
                <a:solidFill>
                  <a:schemeClr val="lt1"/>
                </a:solidFill>
              </a:defRPr>
            </a:lvl7pPr>
            <a:lvl8pPr lvl="7" algn="ctr">
              <a:spcBef>
                <a:spcPts val="0"/>
              </a:spcBef>
              <a:spcAft>
                <a:spcPts val="0"/>
              </a:spcAft>
              <a:buClr>
                <a:schemeClr val="lt1"/>
              </a:buClr>
              <a:buSzPts val="7200"/>
              <a:buNone/>
              <a:defRPr sz="9600">
                <a:solidFill>
                  <a:schemeClr val="lt1"/>
                </a:solidFill>
              </a:defRPr>
            </a:lvl8pPr>
            <a:lvl9pPr lvl="8" algn="ctr">
              <a:spcBef>
                <a:spcPts val="0"/>
              </a:spcBef>
              <a:spcAft>
                <a:spcPts val="0"/>
              </a:spcAft>
              <a:buClr>
                <a:schemeClr val="lt1"/>
              </a:buClr>
              <a:buSzPts val="7200"/>
              <a:buNone/>
              <a:defRPr sz="9600">
                <a:solidFill>
                  <a:schemeClr val="lt1"/>
                </a:solidFill>
              </a:defRPr>
            </a:lvl9pPr>
          </a:lstStyle>
          <a:p>
            <a:r>
              <a:t>xx%</a:t>
            </a:r>
          </a:p>
        </p:txBody>
      </p:sp>
      <p:sp>
        <p:nvSpPr>
          <p:cNvPr id="39" name="Google Shape;39;p11"/>
          <p:cNvSpPr txBox="1">
            <a:spLocks noGrp="1"/>
          </p:cNvSpPr>
          <p:nvPr>
            <p:ph type="body" idx="1"/>
          </p:nvPr>
        </p:nvSpPr>
        <p:spPr>
          <a:xfrm>
            <a:off x="3715400" y="4125967"/>
            <a:ext cx="4761200" cy="756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Clr>
                <a:schemeClr val="accent1"/>
              </a:buClr>
              <a:buSzPts val="1800"/>
              <a:buChar char="●"/>
              <a:defRPr>
                <a:solidFill>
                  <a:schemeClr val="accent1"/>
                </a:solidFill>
              </a:defRPr>
            </a:lvl1pPr>
            <a:lvl2pPr marL="1219170" lvl="1" indent="-457189" algn="ctr">
              <a:spcBef>
                <a:spcPts val="2133"/>
              </a:spcBef>
              <a:spcAft>
                <a:spcPts val="0"/>
              </a:spcAft>
              <a:buClr>
                <a:schemeClr val="accent1"/>
              </a:buClr>
              <a:buSzPts val="1800"/>
              <a:buChar char="○"/>
              <a:defRPr sz="2400">
                <a:solidFill>
                  <a:schemeClr val="accent1"/>
                </a:solidFill>
              </a:defRPr>
            </a:lvl2pPr>
            <a:lvl3pPr marL="1828754" lvl="2" indent="-457189" algn="ctr">
              <a:spcBef>
                <a:spcPts val="2133"/>
              </a:spcBef>
              <a:spcAft>
                <a:spcPts val="0"/>
              </a:spcAft>
              <a:buClr>
                <a:schemeClr val="accent1"/>
              </a:buClr>
              <a:buSzPts val="1800"/>
              <a:buChar char="■"/>
              <a:defRPr sz="2400">
                <a:solidFill>
                  <a:schemeClr val="accent1"/>
                </a:solidFill>
              </a:defRPr>
            </a:lvl3pPr>
            <a:lvl4pPr marL="2438339" lvl="3" indent="-457189" algn="ctr">
              <a:spcBef>
                <a:spcPts val="2133"/>
              </a:spcBef>
              <a:spcAft>
                <a:spcPts val="0"/>
              </a:spcAft>
              <a:buClr>
                <a:schemeClr val="accent1"/>
              </a:buClr>
              <a:buSzPts val="1800"/>
              <a:buChar char="●"/>
              <a:defRPr sz="2400">
                <a:solidFill>
                  <a:schemeClr val="accent1"/>
                </a:solidFill>
              </a:defRPr>
            </a:lvl4pPr>
            <a:lvl5pPr marL="3047924" lvl="4" indent="-457189" algn="ctr">
              <a:spcBef>
                <a:spcPts val="2133"/>
              </a:spcBef>
              <a:spcAft>
                <a:spcPts val="0"/>
              </a:spcAft>
              <a:buClr>
                <a:schemeClr val="accent1"/>
              </a:buClr>
              <a:buSzPts val="1800"/>
              <a:buChar char="○"/>
              <a:defRPr sz="2400">
                <a:solidFill>
                  <a:schemeClr val="accent1"/>
                </a:solidFill>
              </a:defRPr>
            </a:lvl5pPr>
            <a:lvl6pPr marL="3657509" lvl="5" indent="-457189" algn="ctr">
              <a:spcBef>
                <a:spcPts val="2133"/>
              </a:spcBef>
              <a:spcAft>
                <a:spcPts val="0"/>
              </a:spcAft>
              <a:buClr>
                <a:schemeClr val="accent1"/>
              </a:buClr>
              <a:buSzPts val="1800"/>
              <a:buChar char="■"/>
              <a:defRPr sz="2400">
                <a:solidFill>
                  <a:schemeClr val="accent1"/>
                </a:solidFill>
              </a:defRPr>
            </a:lvl6pPr>
            <a:lvl7pPr marL="4267093" lvl="6" indent="-457189" algn="ctr">
              <a:spcBef>
                <a:spcPts val="2133"/>
              </a:spcBef>
              <a:spcAft>
                <a:spcPts val="0"/>
              </a:spcAft>
              <a:buClr>
                <a:schemeClr val="accent1"/>
              </a:buClr>
              <a:buSzPts val="1800"/>
              <a:buChar char="●"/>
              <a:defRPr sz="2400">
                <a:solidFill>
                  <a:schemeClr val="accent1"/>
                </a:solidFill>
              </a:defRPr>
            </a:lvl7pPr>
            <a:lvl8pPr marL="4876678" lvl="7" indent="-457189" algn="ctr">
              <a:spcBef>
                <a:spcPts val="2133"/>
              </a:spcBef>
              <a:spcAft>
                <a:spcPts val="0"/>
              </a:spcAft>
              <a:buClr>
                <a:schemeClr val="accent1"/>
              </a:buClr>
              <a:buSzPts val="1800"/>
              <a:buChar char="○"/>
              <a:defRPr sz="2400">
                <a:solidFill>
                  <a:schemeClr val="accent1"/>
                </a:solidFill>
              </a:defRPr>
            </a:lvl8pPr>
            <a:lvl9pPr marL="5486263" lvl="8" indent="-457189" algn="ctr">
              <a:spcBef>
                <a:spcPts val="2133"/>
              </a:spcBef>
              <a:spcAft>
                <a:spcPts val="2133"/>
              </a:spcAft>
              <a:buClr>
                <a:schemeClr val="accent1"/>
              </a:buClr>
              <a:buSzPts val="1800"/>
              <a:buChar char="■"/>
              <a:defRPr sz="2400">
                <a:solidFill>
                  <a:schemeClr val="accent1"/>
                </a:solidFill>
              </a:defRPr>
            </a:lvl9pPr>
          </a:lstStyle>
          <a:p>
            <a:endParaRPr/>
          </a:p>
        </p:txBody>
      </p:sp>
    </p:spTree>
    <p:extLst>
      <p:ext uri="{BB962C8B-B14F-4D97-AF65-F5344CB8AC3E}">
        <p14:creationId xmlns:p14="http://schemas.microsoft.com/office/powerpoint/2010/main" val="3746317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2773950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1251333" y="1661367"/>
            <a:ext cx="9562800" cy="4053200"/>
          </a:xfrm>
          <a:prstGeom prst="rect">
            <a:avLst/>
          </a:prstGeom>
        </p:spPr>
        <p:txBody>
          <a:bodyPr spcFirstLastPara="1" wrap="square" lIns="91425" tIns="91425" rIns="91425" bIns="91425" anchor="t" anchorCtr="0">
            <a:noAutofit/>
          </a:bodyPr>
          <a:lstStyle>
            <a:lvl1pPr marL="609585" lvl="0" indent="-402157" rtl="0">
              <a:spcBef>
                <a:spcPts val="0"/>
              </a:spcBef>
              <a:spcAft>
                <a:spcPts val="0"/>
              </a:spcAft>
              <a:buClr>
                <a:schemeClr val="lt1"/>
              </a:buClr>
              <a:buSzPts val="1150"/>
              <a:buChar char="●"/>
              <a:defRPr sz="1533">
                <a:solidFill>
                  <a:schemeClr val="lt1"/>
                </a:solidFill>
              </a:defRPr>
            </a:lvl1pPr>
            <a:lvl2pPr marL="1219170" lvl="1" indent="-402157" rtl="0">
              <a:spcBef>
                <a:spcPts val="2133"/>
              </a:spcBef>
              <a:spcAft>
                <a:spcPts val="0"/>
              </a:spcAft>
              <a:buClr>
                <a:schemeClr val="lt1"/>
              </a:buClr>
              <a:buSzPts val="1150"/>
              <a:buChar char="○"/>
              <a:defRPr sz="1533">
                <a:solidFill>
                  <a:schemeClr val="lt1"/>
                </a:solidFill>
              </a:defRPr>
            </a:lvl2pPr>
            <a:lvl3pPr marL="1828754" lvl="2" indent="-402157" rtl="0">
              <a:spcBef>
                <a:spcPts val="2133"/>
              </a:spcBef>
              <a:spcAft>
                <a:spcPts val="0"/>
              </a:spcAft>
              <a:buClr>
                <a:schemeClr val="lt1"/>
              </a:buClr>
              <a:buSzPts val="1150"/>
              <a:buChar char="■"/>
              <a:defRPr sz="1533">
                <a:solidFill>
                  <a:schemeClr val="lt1"/>
                </a:solidFill>
              </a:defRPr>
            </a:lvl3pPr>
            <a:lvl4pPr marL="2438339" lvl="3" indent="-402157" rtl="0">
              <a:spcBef>
                <a:spcPts val="2133"/>
              </a:spcBef>
              <a:spcAft>
                <a:spcPts val="0"/>
              </a:spcAft>
              <a:buClr>
                <a:schemeClr val="lt1"/>
              </a:buClr>
              <a:buSzPts val="1150"/>
              <a:buChar char="●"/>
              <a:defRPr sz="1533">
                <a:solidFill>
                  <a:schemeClr val="lt1"/>
                </a:solidFill>
              </a:defRPr>
            </a:lvl4pPr>
            <a:lvl5pPr marL="3047924" lvl="4" indent="-402157" rtl="0">
              <a:spcBef>
                <a:spcPts val="2133"/>
              </a:spcBef>
              <a:spcAft>
                <a:spcPts val="0"/>
              </a:spcAft>
              <a:buClr>
                <a:schemeClr val="lt1"/>
              </a:buClr>
              <a:buSzPts val="1150"/>
              <a:buChar char="○"/>
              <a:defRPr sz="1533">
                <a:solidFill>
                  <a:schemeClr val="lt1"/>
                </a:solidFill>
              </a:defRPr>
            </a:lvl5pPr>
            <a:lvl6pPr marL="3657509" lvl="5" indent="-402157" rtl="0">
              <a:spcBef>
                <a:spcPts val="2133"/>
              </a:spcBef>
              <a:spcAft>
                <a:spcPts val="0"/>
              </a:spcAft>
              <a:buClr>
                <a:schemeClr val="lt1"/>
              </a:buClr>
              <a:buSzPts val="1150"/>
              <a:buChar char="■"/>
              <a:defRPr sz="1533">
                <a:solidFill>
                  <a:schemeClr val="lt1"/>
                </a:solidFill>
              </a:defRPr>
            </a:lvl6pPr>
            <a:lvl7pPr marL="4267093" lvl="6" indent="-402157" rtl="0">
              <a:spcBef>
                <a:spcPts val="2133"/>
              </a:spcBef>
              <a:spcAft>
                <a:spcPts val="0"/>
              </a:spcAft>
              <a:buClr>
                <a:schemeClr val="lt1"/>
              </a:buClr>
              <a:buSzPts val="1150"/>
              <a:buChar char="●"/>
              <a:defRPr sz="1533">
                <a:solidFill>
                  <a:schemeClr val="lt1"/>
                </a:solidFill>
              </a:defRPr>
            </a:lvl7pPr>
            <a:lvl8pPr marL="4876678" lvl="7" indent="-402157" rtl="0">
              <a:spcBef>
                <a:spcPts val="2133"/>
              </a:spcBef>
              <a:spcAft>
                <a:spcPts val="0"/>
              </a:spcAft>
              <a:buClr>
                <a:schemeClr val="lt1"/>
              </a:buClr>
              <a:buSzPts val="1150"/>
              <a:buChar char="○"/>
              <a:defRPr sz="1533">
                <a:solidFill>
                  <a:schemeClr val="lt1"/>
                </a:solidFill>
              </a:defRPr>
            </a:lvl8pPr>
            <a:lvl9pPr marL="5486263" lvl="8" indent="-402157" rtl="0">
              <a:spcBef>
                <a:spcPts val="2133"/>
              </a:spcBef>
              <a:spcAft>
                <a:spcPts val="2133"/>
              </a:spcAft>
              <a:buClr>
                <a:schemeClr val="lt1"/>
              </a:buClr>
              <a:buSzPts val="1150"/>
              <a:buChar char="■"/>
              <a:defRPr sz="1533">
                <a:solidFill>
                  <a:schemeClr val="lt1"/>
                </a:solidFill>
              </a:defRPr>
            </a:lvl9pPr>
          </a:lstStyle>
          <a:p>
            <a:endParaRPr/>
          </a:p>
        </p:txBody>
      </p:sp>
    </p:spTree>
    <p:extLst>
      <p:ext uri="{BB962C8B-B14F-4D97-AF65-F5344CB8AC3E}">
        <p14:creationId xmlns:p14="http://schemas.microsoft.com/office/powerpoint/2010/main" val="2434625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4717996"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6" name="Google Shape;46;p14"/>
          <p:cNvSpPr txBox="1">
            <a:spLocks noGrp="1"/>
          </p:cNvSpPr>
          <p:nvPr>
            <p:ph type="subTitle" idx="1"/>
          </p:nvPr>
        </p:nvSpPr>
        <p:spPr>
          <a:xfrm>
            <a:off x="4717996"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7" name="Google Shape;47;p14"/>
          <p:cNvSpPr txBox="1">
            <a:spLocks noGrp="1"/>
          </p:cNvSpPr>
          <p:nvPr>
            <p:ph type="title" idx="2"/>
          </p:nvPr>
        </p:nvSpPr>
        <p:spPr>
          <a:xfrm>
            <a:off x="8038071"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8" name="Google Shape;48;p14"/>
          <p:cNvSpPr txBox="1">
            <a:spLocks noGrp="1"/>
          </p:cNvSpPr>
          <p:nvPr>
            <p:ph type="subTitle" idx="3"/>
          </p:nvPr>
        </p:nvSpPr>
        <p:spPr>
          <a:xfrm>
            <a:off x="8038071"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9" name="Google Shape;49;p14"/>
          <p:cNvSpPr txBox="1">
            <a:spLocks noGrp="1"/>
          </p:cNvSpPr>
          <p:nvPr>
            <p:ph type="title" idx="4"/>
          </p:nvPr>
        </p:nvSpPr>
        <p:spPr>
          <a:xfrm>
            <a:off x="1397929"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50" name="Google Shape;50;p14"/>
          <p:cNvSpPr txBox="1">
            <a:spLocks noGrp="1"/>
          </p:cNvSpPr>
          <p:nvPr>
            <p:ph type="subTitle" idx="5"/>
          </p:nvPr>
        </p:nvSpPr>
        <p:spPr>
          <a:xfrm>
            <a:off x="1397929"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51" name="Google Shape;51;p14"/>
          <p:cNvSpPr txBox="1">
            <a:spLocks noGrp="1"/>
          </p:cNvSpPr>
          <p:nvPr>
            <p:ph type="title" idx="6" hasCustomPrompt="1"/>
          </p:nvPr>
        </p:nvSpPr>
        <p:spPr>
          <a:xfrm>
            <a:off x="1397933"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2" name="Google Shape;52;p14"/>
          <p:cNvSpPr txBox="1">
            <a:spLocks noGrp="1"/>
          </p:cNvSpPr>
          <p:nvPr>
            <p:ph type="title" idx="7" hasCustomPrompt="1"/>
          </p:nvPr>
        </p:nvSpPr>
        <p:spPr>
          <a:xfrm>
            <a:off x="4718000"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3" name="Google Shape;53;p14"/>
          <p:cNvSpPr txBox="1">
            <a:spLocks noGrp="1"/>
          </p:cNvSpPr>
          <p:nvPr>
            <p:ph type="title" idx="8" hasCustomPrompt="1"/>
          </p:nvPr>
        </p:nvSpPr>
        <p:spPr>
          <a:xfrm>
            <a:off x="8038067"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Tree>
    <p:extLst>
      <p:ext uri="{BB962C8B-B14F-4D97-AF65-F5344CB8AC3E}">
        <p14:creationId xmlns:p14="http://schemas.microsoft.com/office/powerpoint/2010/main" val="1450709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714000" y="3777167"/>
            <a:ext cx="4876400" cy="8596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56" name="Google Shape;56;p15"/>
          <p:cNvSpPr txBox="1">
            <a:spLocks noGrp="1"/>
          </p:cNvSpPr>
          <p:nvPr>
            <p:ph type="subTitle" idx="1"/>
          </p:nvPr>
        </p:nvSpPr>
        <p:spPr>
          <a:xfrm>
            <a:off x="5525400" y="4733133"/>
            <a:ext cx="525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184159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2467367" y="1543900"/>
            <a:ext cx="7257200" cy="347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4000" b="1">
                <a:solidFill>
                  <a:schemeClr val="lt1"/>
                </a:solidFill>
              </a:defRPr>
            </a:lvl1pPr>
            <a:lvl2pPr lvl="1" algn="ctr" rtl="0">
              <a:spcBef>
                <a:spcPts val="0"/>
              </a:spcBef>
              <a:spcAft>
                <a:spcPts val="0"/>
              </a:spcAft>
              <a:buClr>
                <a:schemeClr val="lt1"/>
              </a:buClr>
              <a:buSzPts val="3000"/>
              <a:buNone/>
              <a:defRPr sz="4000" b="1">
                <a:solidFill>
                  <a:schemeClr val="lt1"/>
                </a:solidFill>
              </a:defRPr>
            </a:lvl2pPr>
            <a:lvl3pPr lvl="2" algn="ctr" rtl="0">
              <a:spcBef>
                <a:spcPts val="0"/>
              </a:spcBef>
              <a:spcAft>
                <a:spcPts val="0"/>
              </a:spcAft>
              <a:buClr>
                <a:schemeClr val="lt1"/>
              </a:buClr>
              <a:buSzPts val="3000"/>
              <a:buNone/>
              <a:defRPr sz="4000" b="1">
                <a:solidFill>
                  <a:schemeClr val="lt1"/>
                </a:solidFill>
              </a:defRPr>
            </a:lvl3pPr>
            <a:lvl4pPr lvl="3" algn="ctr" rtl="0">
              <a:spcBef>
                <a:spcPts val="0"/>
              </a:spcBef>
              <a:spcAft>
                <a:spcPts val="0"/>
              </a:spcAft>
              <a:buClr>
                <a:schemeClr val="lt1"/>
              </a:buClr>
              <a:buSzPts val="3000"/>
              <a:buNone/>
              <a:defRPr sz="4000" b="1">
                <a:solidFill>
                  <a:schemeClr val="lt1"/>
                </a:solidFill>
              </a:defRPr>
            </a:lvl4pPr>
            <a:lvl5pPr lvl="4" algn="ctr" rtl="0">
              <a:spcBef>
                <a:spcPts val="0"/>
              </a:spcBef>
              <a:spcAft>
                <a:spcPts val="0"/>
              </a:spcAft>
              <a:buClr>
                <a:schemeClr val="lt1"/>
              </a:buClr>
              <a:buSzPts val="3000"/>
              <a:buNone/>
              <a:defRPr sz="4000" b="1">
                <a:solidFill>
                  <a:schemeClr val="lt1"/>
                </a:solidFill>
              </a:defRPr>
            </a:lvl5pPr>
            <a:lvl6pPr lvl="5" algn="ctr" rtl="0">
              <a:spcBef>
                <a:spcPts val="0"/>
              </a:spcBef>
              <a:spcAft>
                <a:spcPts val="0"/>
              </a:spcAft>
              <a:buClr>
                <a:schemeClr val="lt1"/>
              </a:buClr>
              <a:buSzPts val="3000"/>
              <a:buNone/>
              <a:defRPr sz="4000" b="1">
                <a:solidFill>
                  <a:schemeClr val="lt1"/>
                </a:solidFill>
              </a:defRPr>
            </a:lvl6pPr>
            <a:lvl7pPr lvl="6" algn="ctr" rtl="0">
              <a:spcBef>
                <a:spcPts val="0"/>
              </a:spcBef>
              <a:spcAft>
                <a:spcPts val="0"/>
              </a:spcAft>
              <a:buClr>
                <a:schemeClr val="lt1"/>
              </a:buClr>
              <a:buSzPts val="3000"/>
              <a:buNone/>
              <a:defRPr sz="4000" b="1">
                <a:solidFill>
                  <a:schemeClr val="lt1"/>
                </a:solidFill>
              </a:defRPr>
            </a:lvl7pPr>
            <a:lvl8pPr lvl="7" algn="ctr" rtl="0">
              <a:spcBef>
                <a:spcPts val="0"/>
              </a:spcBef>
              <a:spcAft>
                <a:spcPts val="0"/>
              </a:spcAft>
              <a:buClr>
                <a:schemeClr val="lt1"/>
              </a:buClr>
              <a:buSzPts val="3000"/>
              <a:buNone/>
              <a:defRPr sz="4000" b="1">
                <a:solidFill>
                  <a:schemeClr val="lt1"/>
                </a:solidFill>
              </a:defRPr>
            </a:lvl8pPr>
            <a:lvl9pPr lvl="8" algn="ctr" rtl="0">
              <a:spcBef>
                <a:spcPts val="0"/>
              </a:spcBef>
              <a:spcAft>
                <a:spcPts val="0"/>
              </a:spcAft>
              <a:buClr>
                <a:schemeClr val="lt1"/>
              </a:buClr>
              <a:buSzPts val="3000"/>
              <a:buNone/>
              <a:defRPr sz="4000" b="1">
                <a:solidFill>
                  <a:schemeClr val="lt1"/>
                </a:solidFill>
              </a:defRPr>
            </a:lvl9pPr>
          </a:lstStyle>
          <a:p>
            <a:endParaRPr/>
          </a:p>
        </p:txBody>
      </p:sp>
      <p:sp>
        <p:nvSpPr>
          <p:cNvPr id="59" name="Google Shape;59;p16"/>
          <p:cNvSpPr txBox="1">
            <a:spLocks noGrp="1"/>
          </p:cNvSpPr>
          <p:nvPr>
            <p:ph type="subTitle" idx="1"/>
          </p:nvPr>
        </p:nvSpPr>
        <p:spPr>
          <a:xfrm>
            <a:off x="3309200" y="5260800"/>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34470643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Two Columns">
  <p:cSld name="Title + Two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2583117"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2" name="Google Shape;62;p17"/>
          <p:cNvSpPr txBox="1">
            <a:spLocks noGrp="1"/>
          </p:cNvSpPr>
          <p:nvPr>
            <p:ph type="subTitle" idx="1"/>
          </p:nvPr>
        </p:nvSpPr>
        <p:spPr>
          <a:xfrm>
            <a:off x="2583117"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3" name="Google Shape;63;p17"/>
          <p:cNvSpPr txBox="1">
            <a:spLocks noGrp="1"/>
          </p:cNvSpPr>
          <p:nvPr>
            <p:ph type="title" idx="2"/>
          </p:nvPr>
        </p:nvSpPr>
        <p:spPr>
          <a:xfrm>
            <a:off x="6422084"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4" name="Google Shape;64;p17"/>
          <p:cNvSpPr txBox="1">
            <a:spLocks noGrp="1"/>
          </p:cNvSpPr>
          <p:nvPr>
            <p:ph type="subTitle" idx="3"/>
          </p:nvPr>
        </p:nvSpPr>
        <p:spPr>
          <a:xfrm>
            <a:off x="6422084"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5" name="Google Shape;65;p1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90334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717996"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8" name="Google Shape;68;p18"/>
          <p:cNvSpPr txBox="1">
            <a:spLocks noGrp="1"/>
          </p:cNvSpPr>
          <p:nvPr>
            <p:ph type="subTitle" idx="1"/>
          </p:nvPr>
        </p:nvSpPr>
        <p:spPr>
          <a:xfrm>
            <a:off x="4717996"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9" name="Google Shape;69;p18"/>
          <p:cNvSpPr txBox="1">
            <a:spLocks noGrp="1"/>
          </p:cNvSpPr>
          <p:nvPr>
            <p:ph type="title" idx="2"/>
          </p:nvPr>
        </p:nvSpPr>
        <p:spPr>
          <a:xfrm>
            <a:off x="8038071"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0" name="Google Shape;70;p18"/>
          <p:cNvSpPr txBox="1">
            <a:spLocks noGrp="1"/>
          </p:cNvSpPr>
          <p:nvPr>
            <p:ph type="subTitle" idx="3"/>
          </p:nvPr>
        </p:nvSpPr>
        <p:spPr>
          <a:xfrm>
            <a:off x="8038071"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71" name="Google Shape;71;p18"/>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1397929"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3" name="Google Shape;73;p18"/>
          <p:cNvSpPr txBox="1">
            <a:spLocks noGrp="1"/>
          </p:cNvSpPr>
          <p:nvPr>
            <p:ph type="subTitle" idx="6"/>
          </p:nvPr>
        </p:nvSpPr>
        <p:spPr>
          <a:xfrm>
            <a:off x="1397929"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76086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text">
  <p:cSld name="1_Big 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698000" y="1825333"/>
            <a:ext cx="8796000" cy="281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6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76" name="Google Shape;76;p19"/>
          <p:cNvSpPr txBox="1">
            <a:spLocks noGrp="1"/>
          </p:cNvSpPr>
          <p:nvPr>
            <p:ph type="subTitle" idx="1"/>
          </p:nvPr>
        </p:nvSpPr>
        <p:spPr>
          <a:xfrm>
            <a:off x="3309200" y="3359367"/>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2998418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Design">
  <p:cSld name="Title + Design">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766837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Design 1">
  <p:cSld name="Title + Design 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228596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318741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Design 3">
  <p:cSld name="Title + Design 3">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857608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Two Lists">
  <p:cSld name="Title + Two Lists">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1251333" y="593367"/>
            <a:ext cx="661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7" name="Google Shape;87;p24"/>
          <p:cNvSpPr txBox="1">
            <a:spLocks noGrp="1"/>
          </p:cNvSpPr>
          <p:nvPr>
            <p:ph type="body" idx="1"/>
          </p:nvPr>
        </p:nvSpPr>
        <p:spPr>
          <a:xfrm>
            <a:off x="1422988"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8" name="Google Shape;88;p24"/>
          <p:cNvSpPr txBox="1">
            <a:spLocks noGrp="1"/>
          </p:cNvSpPr>
          <p:nvPr>
            <p:ph type="body" idx="2"/>
          </p:nvPr>
        </p:nvSpPr>
        <p:spPr>
          <a:xfrm>
            <a:off x="6231803"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9" name="Google Shape;89;p24"/>
          <p:cNvSpPr txBox="1">
            <a:spLocks noGrp="1"/>
          </p:cNvSpPr>
          <p:nvPr>
            <p:ph type="title" idx="3"/>
          </p:nvPr>
        </p:nvSpPr>
        <p:spPr>
          <a:xfrm>
            <a:off x="16179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90" name="Google Shape;90;p24"/>
          <p:cNvSpPr txBox="1">
            <a:spLocks noGrp="1"/>
          </p:cNvSpPr>
          <p:nvPr>
            <p:ph type="title" idx="4"/>
          </p:nvPr>
        </p:nvSpPr>
        <p:spPr>
          <a:xfrm>
            <a:off x="64267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Tree>
    <p:extLst>
      <p:ext uri="{BB962C8B-B14F-4D97-AF65-F5344CB8AC3E}">
        <p14:creationId xmlns:p14="http://schemas.microsoft.com/office/powerpoint/2010/main" val="401956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Four Columns">
  <p:cSld name="Title + Four Columns">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93" name="Google Shape;93;p25"/>
          <p:cNvSpPr txBox="1">
            <a:spLocks noGrp="1"/>
          </p:cNvSpPr>
          <p:nvPr>
            <p:ph type="title" idx="2"/>
          </p:nvPr>
        </p:nvSpPr>
        <p:spPr>
          <a:xfrm>
            <a:off x="1197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4" name="Google Shape;94;p25"/>
          <p:cNvSpPr txBox="1">
            <a:spLocks noGrp="1"/>
          </p:cNvSpPr>
          <p:nvPr>
            <p:ph type="subTitle" idx="1"/>
          </p:nvPr>
        </p:nvSpPr>
        <p:spPr>
          <a:xfrm>
            <a:off x="1197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5" name="Google Shape;95;p25"/>
          <p:cNvSpPr txBox="1">
            <a:spLocks noGrp="1"/>
          </p:cNvSpPr>
          <p:nvPr>
            <p:ph type="title" idx="3"/>
          </p:nvPr>
        </p:nvSpPr>
        <p:spPr>
          <a:xfrm>
            <a:off x="3720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6" name="Google Shape;96;p25"/>
          <p:cNvSpPr txBox="1">
            <a:spLocks noGrp="1"/>
          </p:cNvSpPr>
          <p:nvPr>
            <p:ph type="subTitle" idx="4"/>
          </p:nvPr>
        </p:nvSpPr>
        <p:spPr>
          <a:xfrm>
            <a:off x="3720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7" name="Google Shape;97;p25"/>
          <p:cNvSpPr txBox="1">
            <a:spLocks noGrp="1"/>
          </p:cNvSpPr>
          <p:nvPr>
            <p:ph type="title" idx="5"/>
          </p:nvPr>
        </p:nvSpPr>
        <p:spPr>
          <a:xfrm>
            <a:off x="6242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8" name="Google Shape;98;p25"/>
          <p:cNvSpPr txBox="1">
            <a:spLocks noGrp="1"/>
          </p:cNvSpPr>
          <p:nvPr>
            <p:ph type="subTitle" idx="6"/>
          </p:nvPr>
        </p:nvSpPr>
        <p:spPr>
          <a:xfrm>
            <a:off x="6242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9" name="Google Shape;99;p25"/>
          <p:cNvSpPr txBox="1">
            <a:spLocks noGrp="1"/>
          </p:cNvSpPr>
          <p:nvPr>
            <p:ph type="title" idx="7"/>
          </p:nvPr>
        </p:nvSpPr>
        <p:spPr>
          <a:xfrm>
            <a:off x="8765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00" name="Google Shape;100;p25"/>
          <p:cNvSpPr txBox="1">
            <a:spLocks noGrp="1"/>
          </p:cNvSpPr>
          <p:nvPr>
            <p:ph type="subTitle" idx="8"/>
          </p:nvPr>
        </p:nvSpPr>
        <p:spPr>
          <a:xfrm>
            <a:off x="8765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967500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Numbers">
  <p:cSld name="Three Numbers">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hasCustomPrompt="1"/>
          </p:nvPr>
        </p:nvSpPr>
        <p:spPr>
          <a:xfrm>
            <a:off x="6662400" y="882457"/>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3" name="Google Shape;103;p26"/>
          <p:cNvSpPr txBox="1">
            <a:spLocks noGrp="1"/>
          </p:cNvSpPr>
          <p:nvPr>
            <p:ph type="subTitle" idx="1"/>
          </p:nvPr>
        </p:nvSpPr>
        <p:spPr>
          <a:xfrm>
            <a:off x="6548000" y="1687800"/>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4" name="Google Shape;104;p26"/>
          <p:cNvSpPr txBox="1">
            <a:spLocks noGrp="1"/>
          </p:cNvSpPr>
          <p:nvPr>
            <p:ph type="title" idx="2" hasCustomPrompt="1"/>
          </p:nvPr>
        </p:nvSpPr>
        <p:spPr>
          <a:xfrm>
            <a:off x="6662400" y="2798924"/>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5" name="Google Shape;105;p26"/>
          <p:cNvSpPr txBox="1">
            <a:spLocks noGrp="1"/>
          </p:cNvSpPr>
          <p:nvPr>
            <p:ph type="subTitle" idx="3"/>
          </p:nvPr>
        </p:nvSpPr>
        <p:spPr>
          <a:xfrm>
            <a:off x="6548000" y="3604267"/>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6" name="Google Shape;106;p26"/>
          <p:cNvSpPr txBox="1">
            <a:spLocks noGrp="1"/>
          </p:cNvSpPr>
          <p:nvPr>
            <p:ph type="title" idx="4" hasCustomPrompt="1"/>
          </p:nvPr>
        </p:nvSpPr>
        <p:spPr>
          <a:xfrm>
            <a:off x="6662400" y="4715391"/>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7" name="Google Shape;107;p26"/>
          <p:cNvSpPr txBox="1">
            <a:spLocks noGrp="1"/>
          </p:cNvSpPr>
          <p:nvPr>
            <p:ph type="subTitle" idx="5"/>
          </p:nvPr>
        </p:nvSpPr>
        <p:spPr>
          <a:xfrm>
            <a:off x="6548000" y="5520733"/>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Tree>
    <p:extLst>
      <p:ext uri="{BB962C8B-B14F-4D97-AF65-F5344CB8AC3E}">
        <p14:creationId xmlns:p14="http://schemas.microsoft.com/office/powerpoint/2010/main" val="1482259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Six Columns  ">
  <p:cSld name="Title + Six Columns  ">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4717996"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0" name="Google Shape;110;p27"/>
          <p:cNvSpPr txBox="1">
            <a:spLocks noGrp="1"/>
          </p:cNvSpPr>
          <p:nvPr>
            <p:ph type="subTitle" idx="1"/>
          </p:nvPr>
        </p:nvSpPr>
        <p:spPr>
          <a:xfrm>
            <a:off x="4717997"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1" name="Google Shape;111;p27"/>
          <p:cNvSpPr txBox="1">
            <a:spLocks noGrp="1"/>
          </p:cNvSpPr>
          <p:nvPr>
            <p:ph type="title" idx="2"/>
          </p:nvPr>
        </p:nvSpPr>
        <p:spPr>
          <a:xfrm>
            <a:off x="8038071"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2" name="Google Shape;112;p27"/>
          <p:cNvSpPr txBox="1">
            <a:spLocks noGrp="1"/>
          </p:cNvSpPr>
          <p:nvPr>
            <p:ph type="subTitle" idx="3"/>
          </p:nvPr>
        </p:nvSpPr>
        <p:spPr>
          <a:xfrm>
            <a:off x="8038069"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3" name="Google Shape;113;p2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7"/>
          <p:cNvSpPr txBox="1">
            <a:spLocks noGrp="1"/>
          </p:cNvSpPr>
          <p:nvPr>
            <p:ph type="title" idx="5"/>
          </p:nvPr>
        </p:nvSpPr>
        <p:spPr>
          <a:xfrm>
            <a:off x="1397929"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5" name="Google Shape;115;p27"/>
          <p:cNvSpPr txBox="1">
            <a:spLocks noGrp="1"/>
          </p:cNvSpPr>
          <p:nvPr>
            <p:ph type="subTitle" idx="6"/>
          </p:nvPr>
        </p:nvSpPr>
        <p:spPr>
          <a:xfrm>
            <a:off x="1397933"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6" name="Google Shape;116;p27"/>
          <p:cNvSpPr txBox="1">
            <a:spLocks noGrp="1"/>
          </p:cNvSpPr>
          <p:nvPr>
            <p:ph type="title" idx="7"/>
          </p:nvPr>
        </p:nvSpPr>
        <p:spPr>
          <a:xfrm>
            <a:off x="4717996"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7" name="Google Shape;117;p27"/>
          <p:cNvSpPr txBox="1">
            <a:spLocks noGrp="1"/>
          </p:cNvSpPr>
          <p:nvPr>
            <p:ph type="subTitle" idx="8"/>
          </p:nvPr>
        </p:nvSpPr>
        <p:spPr>
          <a:xfrm>
            <a:off x="4717997"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8" name="Google Shape;118;p27"/>
          <p:cNvSpPr txBox="1">
            <a:spLocks noGrp="1"/>
          </p:cNvSpPr>
          <p:nvPr>
            <p:ph type="title" idx="9"/>
          </p:nvPr>
        </p:nvSpPr>
        <p:spPr>
          <a:xfrm>
            <a:off x="8038071"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9" name="Google Shape;119;p27"/>
          <p:cNvSpPr txBox="1">
            <a:spLocks noGrp="1"/>
          </p:cNvSpPr>
          <p:nvPr>
            <p:ph type="subTitle" idx="13"/>
          </p:nvPr>
        </p:nvSpPr>
        <p:spPr>
          <a:xfrm>
            <a:off x="8038069"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20" name="Google Shape;120;p27"/>
          <p:cNvSpPr txBox="1">
            <a:spLocks noGrp="1"/>
          </p:cNvSpPr>
          <p:nvPr>
            <p:ph type="title" idx="14"/>
          </p:nvPr>
        </p:nvSpPr>
        <p:spPr>
          <a:xfrm>
            <a:off x="1397929"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21" name="Google Shape;121;p27"/>
          <p:cNvSpPr txBox="1">
            <a:spLocks noGrp="1"/>
          </p:cNvSpPr>
          <p:nvPr>
            <p:ph type="subTitle" idx="15"/>
          </p:nvPr>
        </p:nvSpPr>
        <p:spPr>
          <a:xfrm>
            <a:off x="1397933"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4662230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Four Columns 1">
  <p:cSld name="Title + Four Columns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8"/>
          <p:cNvSpPr txBox="1">
            <a:spLocks noGrp="1"/>
          </p:cNvSpPr>
          <p:nvPr>
            <p:ph type="title"/>
          </p:nvPr>
        </p:nvSpPr>
        <p:spPr>
          <a:xfrm>
            <a:off x="1251333" y="593367"/>
            <a:ext cx="67248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4" name="Google Shape;124;p28"/>
          <p:cNvSpPr txBox="1">
            <a:spLocks noGrp="1"/>
          </p:cNvSpPr>
          <p:nvPr>
            <p:ph type="title" idx="2"/>
          </p:nvPr>
        </p:nvSpPr>
        <p:spPr>
          <a:xfrm>
            <a:off x="1784317" y="3146433"/>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5" name="Google Shape;125;p28"/>
          <p:cNvSpPr txBox="1">
            <a:spLocks noGrp="1"/>
          </p:cNvSpPr>
          <p:nvPr>
            <p:ph type="subTitle" idx="1"/>
          </p:nvPr>
        </p:nvSpPr>
        <p:spPr>
          <a:xfrm>
            <a:off x="1784317" y="2284068"/>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6" name="Google Shape;126;p28"/>
          <p:cNvSpPr txBox="1">
            <a:spLocks noGrp="1"/>
          </p:cNvSpPr>
          <p:nvPr>
            <p:ph type="title" idx="3"/>
          </p:nvPr>
        </p:nvSpPr>
        <p:spPr>
          <a:xfrm>
            <a:off x="1784317" y="5318600"/>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7" name="Google Shape;127;p28"/>
          <p:cNvSpPr txBox="1">
            <a:spLocks noGrp="1"/>
          </p:cNvSpPr>
          <p:nvPr>
            <p:ph type="subTitle" idx="4"/>
          </p:nvPr>
        </p:nvSpPr>
        <p:spPr>
          <a:xfrm>
            <a:off x="1784317" y="4456235"/>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8" name="Google Shape;128;p28"/>
          <p:cNvSpPr txBox="1">
            <a:spLocks noGrp="1"/>
          </p:cNvSpPr>
          <p:nvPr>
            <p:ph type="title" idx="5"/>
          </p:nvPr>
        </p:nvSpPr>
        <p:spPr>
          <a:xfrm>
            <a:off x="6770884" y="3146433"/>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29" name="Google Shape;129;p28"/>
          <p:cNvSpPr txBox="1">
            <a:spLocks noGrp="1"/>
          </p:cNvSpPr>
          <p:nvPr>
            <p:ph type="subTitle" idx="6"/>
          </p:nvPr>
        </p:nvSpPr>
        <p:spPr>
          <a:xfrm>
            <a:off x="6770884" y="2284068"/>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30" name="Google Shape;130;p28"/>
          <p:cNvSpPr txBox="1">
            <a:spLocks noGrp="1"/>
          </p:cNvSpPr>
          <p:nvPr>
            <p:ph type="title" idx="7"/>
          </p:nvPr>
        </p:nvSpPr>
        <p:spPr>
          <a:xfrm>
            <a:off x="6770884" y="5318600"/>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31" name="Google Shape;131;p28"/>
          <p:cNvSpPr txBox="1">
            <a:spLocks noGrp="1"/>
          </p:cNvSpPr>
          <p:nvPr>
            <p:ph type="subTitle" idx="8"/>
          </p:nvPr>
        </p:nvSpPr>
        <p:spPr>
          <a:xfrm>
            <a:off x="6770884" y="4456235"/>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Tree>
    <p:extLst>
      <p:ext uri="{BB962C8B-B14F-4D97-AF65-F5344CB8AC3E}">
        <p14:creationId xmlns:p14="http://schemas.microsoft.com/office/powerpoint/2010/main" val="3671886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Text">
  <p:cSld name="Title + Text">
    <p:bg>
      <p:bgPr>
        <a:blipFill>
          <a:blip r:embed="rId2">
            <a:alphaModFix/>
          </a:blip>
          <a:stretch>
            <a:fillRect/>
          </a:stretch>
        </a:blipFill>
        <a:effectLst/>
      </p:bgPr>
    </p:bg>
    <p:spTree>
      <p:nvGrpSpPr>
        <p:cNvPr id="1" name="Shape 132"/>
        <p:cNvGrpSpPr/>
        <p:nvPr/>
      </p:nvGrpSpPr>
      <p:grpSpPr>
        <a:xfrm>
          <a:off x="0" y="0"/>
          <a:ext cx="0" cy="0"/>
          <a:chOff x="0" y="0"/>
          <a:chExt cx="0" cy="0"/>
        </a:xfrm>
      </p:grpSpPr>
      <p:sp>
        <p:nvSpPr>
          <p:cNvPr id="133" name="Google Shape;133;p29"/>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34" name="Google Shape;134;p29"/>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500868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Text 1">
  <p:cSld name="Title + Text 1">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7" name="Google Shape;137;p30"/>
          <p:cNvSpPr txBox="1">
            <a:spLocks noGrp="1"/>
          </p:cNvSpPr>
          <p:nvPr>
            <p:ph type="subTitle" idx="1"/>
          </p:nvPr>
        </p:nvSpPr>
        <p:spPr>
          <a:xfrm>
            <a:off x="1251333"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9039431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Text 2">
  <p:cSld name="Title + Text 2">
    <p:bg>
      <p:bgPr>
        <a:blipFill>
          <a:blip r:embed="rId2">
            <a:alphaModFix/>
          </a:blip>
          <a:stretch>
            <a:fillRect/>
          </a:stretch>
        </a:blip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31"/>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40795125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p:cSld name="One Column">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750400" y="3256067"/>
            <a:ext cx="6691200" cy="79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3" name="Google Shape;143;p32"/>
          <p:cNvSpPr txBox="1">
            <a:spLocks noGrp="1"/>
          </p:cNvSpPr>
          <p:nvPr>
            <p:ph type="subTitle" idx="1"/>
          </p:nvPr>
        </p:nvSpPr>
        <p:spPr>
          <a:xfrm>
            <a:off x="3862000" y="4521767"/>
            <a:ext cx="4468000" cy="15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30707060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s + Credits">
  <p:cSld name="Thanks + Credits">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1233160" y="1013833"/>
            <a:ext cx="4091600" cy="79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6" name="Google Shape;146;p33"/>
          <p:cNvSpPr txBox="1">
            <a:spLocks noGrp="1"/>
          </p:cNvSpPr>
          <p:nvPr>
            <p:ph type="subTitle" idx="1"/>
          </p:nvPr>
        </p:nvSpPr>
        <p:spPr>
          <a:xfrm>
            <a:off x="1233167" y="2245700"/>
            <a:ext cx="4407200" cy="14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147" name="Google Shape;147;p33"/>
          <p:cNvSpPr txBox="1"/>
          <p:nvPr/>
        </p:nvSpPr>
        <p:spPr>
          <a:xfrm>
            <a:off x="1233167" y="4760000"/>
            <a:ext cx="4407200" cy="889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1"/>
                </a:solidFill>
                <a:latin typeface="Montserrat Medium"/>
                <a:ea typeface="Montserrat Medium"/>
                <a:cs typeface="Montserrat Medium"/>
                <a:sym typeface="Montserrat Medium"/>
              </a:rPr>
              <a:t>CREDITS: This presentation template was created by </a:t>
            </a:r>
            <a:r>
              <a:rPr lang="en" sz="1333">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333">
                <a:solidFill>
                  <a:schemeClr val="accent1"/>
                </a:solidFill>
                <a:latin typeface="Montserrat Medium"/>
                <a:ea typeface="Montserrat Medium"/>
                <a:cs typeface="Montserrat Medium"/>
                <a:sym typeface="Montserrat Medium"/>
              </a:rPr>
              <a:t>, including icons by </a:t>
            </a:r>
            <a:r>
              <a:rPr lang="en" sz="1333">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333">
                <a:solidFill>
                  <a:schemeClr val="accent1"/>
                </a:solidFill>
                <a:latin typeface="Montserrat Medium"/>
                <a:ea typeface="Montserrat Medium"/>
                <a:cs typeface="Montserrat Medium"/>
                <a:sym typeface="Montserrat Medium"/>
              </a:rPr>
              <a:t>, and infographics &amp; images by </a:t>
            </a:r>
            <a:r>
              <a:rPr lang="en" sz="1333">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333">
                <a:solidFill>
                  <a:schemeClr val="accent1"/>
                </a:solidFill>
                <a:latin typeface="Montserrat Medium"/>
                <a:ea typeface="Montserrat Medium"/>
                <a:cs typeface="Montserrat Medium"/>
                <a:sym typeface="Montserrat Medium"/>
              </a:rPr>
              <a:t>. </a:t>
            </a:r>
            <a:endParaRPr sz="1333">
              <a:solidFill>
                <a:schemeClr val="accent1"/>
              </a:solidFill>
              <a:latin typeface="Montserrat Medium"/>
              <a:ea typeface="Montserrat Medium"/>
              <a:cs typeface="Montserrat Medium"/>
              <a:sym typeface="Montserrat Medium"/>
            </a:endParaRPr>
          </a:p>
          <a:p>
            <a:pPr marL="0" lvl="0" indent="0" algn="l" rtl="0">
              <a:spcBef>
                <a:spcPts val="400"/>
              </a:spcBef>
              <a:spcAft>
                <a:spcPts val="0"/>
              </a:spcAft>
              <a:buNone/>
            </a:pPr>
            <a:endParaRPr sz="1333">
              <a:solidFill>
                <a:schemeClr val="accen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865850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Bullet points 1">
  <p:cSld name="Title + Bullet points 1">
    <p:bg>
      <p:bgPr>
        <a:blipFill>
          <a:blip r:embed="rId2">
            <a:alphaModFix/>
          </a:blip>
          <a:stretch>
            <a:fillRect/>
          </a:stretch>
        </a:blipFill>
        <a:effectLst/>
      </p:bgPr>
    </p:bg>
    <p:spTree>
      <p:nvGrpSpPr>
        <p:cNvPr id="1" name="Shape 148"/>
        <p:cNvGrpSpPr/>
        <p:nvPr/>
      </p:nvGrpSpPr>
      <p:grpSpPr>
        <a:xfrm>
          <a:off x="0" y="0"/>
          <a:ext cx="0" cy="0"/>
          <a:chOff x="0" y="0"/>
          <a:chExt cx="0" cy="0"/>
        </a:xfrm>
      </p:grpSpPr>
      <p:sp>
        <p:nvSpPr>
          <p:cNvPr id="149" name="Google Shape;149;p3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0" name="Google Shape;150;p3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1700781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list">
  <p:cSld name="Title + list">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3" name="Google Shape;153;p35"/>
          <p:cNvSpPr txBox="1">
            <a:spLocks noGrp="1"/>
          </p:cNvSpPr>
          <p:nvPr>
            <p:ph type="body" idx="1"/>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29087815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7629121-19DA-F768-5CFC-B107B5E571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EED587A-86C9-0CB1-9E78-92A5B40A5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37848B63-FCC0-1F0C-6FA0-E39236C4D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FF5485DA-5959-B532-3F7A-88CB3767A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8A00227E-72C4-001E-FC04-94BC34817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001BE-C829-45D8-A74C-DB7038EE08AC}" type="slidenum">
              <a:rPr lang="es-CL" smtClean="0"/>
              <a:t>‹Nº›</a:t>
            </a:fld>
            <a:endParaRPr lang="es-CL"/>
          </a:p>
        </p:txBody>
      </p:sp>
    </p:spTree>
    <p:extLst>
      <p:ext uri="{BB962C8B-B14F-4D97-AF65-F5344CB8AC3E}">
        <p14:creationId xmlns:p14="http://schemas.microsoft.com/office/powerpoint/2010/main" val="1953608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60418886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jpg"/><Relationship Id="rId5" Type="http://schemas.openxmlformats.org/officeDocument/2006/relationships/image" Target="../media/image41.png"/><Relationship Id="rId6" Type="http://schemas.openxmlformats.org/officeDocument/2006/relationships/image" Target="../media/image4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 Id="rId3" Type="http://schemas.openxmlformats.org/officeDocument/2006/relationships/image" Target="../media/image4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 Id="rId3" Type="http://schemas.openxmlformats.org/officeDocument/2006/relationships/image" Target="../media/image74.jpg"/><Relationship Id="rId4" Type="http://schemas.openxmlformats.org/officeDocument/2006/relationships/image" Target="../media/image75.jpg"/><Relationship Id="rId5" Type="http://schemas.openxmlformats.org/officeDocument/2006/relationships/image" Target="../media/image53.jpg"/><Relationship Id="rId6" Type="http://schemas.openxmlformats.org/officeDocument/2006/relationships/image" Target="../media/image76.jpg"/><Relationship Id="rId7" Type="http://schemas.openxmlformats.org/officeDocument/2006/relationships/image" Target="../media/image70.jpg"/><Relationship Id="rId8" Type="http://schemas.openxmlformats.org/officeDocument/2006/relationships/image" Target="../media/image48.jpg"/><Relationship Id="rId9" Type="http://schemas.openxmlformats.org/officeDocument/2006/relationships/image" Target="../media/image77.jpg"/><Relationship Id="rId10" Type="http://schemas.openxmlformats.org/officeDocument/2006/relationships/image" Target="../media/image7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 Id="rId3" Type="http://schemas.openxmlformats.org/officeDocument/2006/relationships/image" Target="../media/image74.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 Id="rId3" Type="http://schemas.openxmlformats.org/officeDocument/2006/relationships/image" Target="../media/image53.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image" Target="../media/image70.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 Id="rId3" Type="http://schemas.openxmlformats.org/officeDocument/2006/relationships/image" Target="../media/image48.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5.xml"/><Relationship Id="rId3" Type="http://schemas.openxmlformats.org/officeDocument/2006/relationships/image" Target="../media/image77.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6.xml"/><Relationship Id="rId3" Type="http://schemas.openxmlformats.org/officeDocument/2006/relationships/image" Target="../media/image61.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82.png"/><Relationship Id="rId9" Type="http://schemas.openxmlformats.org/officeDocument/2006/relationships/image" Target="../media/image8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7.xml"/><Relationship Id="rId3" Type="http://schemas.openxmlformats.org/officeDocument/2006/relationships/image" Target="../media/image84.png"/><Relationship Id="rId4" Type="http://schemas.openxmlformats.org/officeDocument/2006/relationships/image" Target="../media/image26.png"/><Relationship Id="rId5" Type="http://schemas.openxmlformats.org/officeDocument/2006/relationships/image" Target="../media/image85.png"/><Relationship Id="rId6" Type="http://schemas.openxmlformats.org/officeDocument/2006/relationships/image" Target="../media/image27.png"/><Relationship Id="rId7" Type="http://schemas.openxmlformats.org/officeDocument/2006/relationships/image" Target="../media/image86.png"/><Relationship Id="rId8" Type="http://schemas.openxmlformats.org/officeDocument/2006/relationships/image" Target="../media/image8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8.xml"/><Relationship Id="rId3" Type="http://schemas.openxmlformats.org/officeDocument/2006/relationships/image" Target="../media/image8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0.xml"/><Relationship Id="rId3" Type="http://schemas.openxmlformats.org/officeDocument/2006/relationships/image" Target="../media/image8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 Id="rId3" Type="http://schemas.openxmlformats.org/officeDocument/2006/relationships/image" Target="../media/image8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 Id="rId3" Type="http://schemas.openxmlformats.org/officeDocument/2006/relationships/image" Target="../media/image8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4.xml"/><Relationship Id="rId3" Type="http://schemas.openxmlformats.org/officeDocument/2006/relationships/image" Target="../media/image64.png"/><Relationship Id="rId4" Type="http://schemas.openxmlformats.org/officeDocument/2006/relationships/image" Target="../media/image88.png"/><Relationship Id="rId5" Type="http://schemas.openxmlformats.org/officeDocument/2006/relationships/image" Target="../media/image31.png"/><Relationship Id="rId6" Type="http://schemas.openxmlformats.org/officeDocument/2006/relationships/image" Target="../media/image8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5.xml"/><Relationship Id="rId3" Type="http://schemas.openxmlformats.org/officeDocument/2006/relationships/image" Target="../media/image90.png"/><Relationship Id="rId4" Type="http://schemas.openxmlformats.org/officeDocument/2006/relationships/image" Target="../media/image83.png"/><Relationship Id="rId5" Type="http://schemas.openxmlformats.org/officeDocument/2006/relationships/image" Target="../media/image91.png"/><Relationship Id="rId6" Type="http://schemas.openxmlformats.org/officeDocument/2006/relationships/image" Target="../media/image9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b="1" i="0">
                <a:solidFill>
                  <a:srgbClr val="FFFFFF"/>
                </a:solidFill>
                <a:effectLst>
                  <a:glow rad="63500">
                    <a:srgbClr val="001633">
                      <a:alpha val="85000"/>
                    </a:srgbClr>
                  </a:glow>
                </a:effectLst>
                <a:latin typeface="Montserrat"/>
              </a:rPr>
              <a:t>Gemelos Digitales para Minería 4.0</a:t>
            </a:r>
          </a:p>
        </p:txBody>
      </p:sp>
      <p:sp>
        <p:nvSpPr>
          <p:cNvPr id="3" name="Subtítulo"/>
          <p:cNvSpPr txBox="1"/>
          <p:nvPr/>
        </p:nvSpPr>
        <p:spPr>
          <a:xfrm>
            <a:off x="1981047" y="4343400"/>
            <a:ext cx="8229600" cy="457200"/>
          </a:xfrm>
          <a:prstGeom prst="rect">
            <a:avLst/>
          </a:prstGeom>
          <a:noFill/>
        </p:spPr>
        <p:txBody>
          <a:bodyPr wrap="square" lIns="0" tIns="0" rIns="0" bIns="0" anchor="t">
            <a:spAutoFit/>
          </a:bodyPr>
          <a:lstStyle/>
          <a:p>
            <a:pPr algn="ctr">
              <a:spcAft>
                <a:spcPts val="600"/>
              </a:spcAft>
            </a:pPr>
            <a:r>
              <a:rPr sz="2600" b="1" i="0">
                <a:solidFill>
                  <a:srgbClr val="FFAB40"/>
                </a:solidFill>
                <a:effectLst>
                  <a:glow rad="63500">
                    <a:srgbClr val="001633">
                      <a:alpha val="85000"/>
                    </a:srgbClr>
                  </a:glow>
                </a:effectLst>
                <a:latin typeface="Montserrat"/>
              </a:rPr>
              <a:t>De la estrategia al impacto operacional</a:t>
            </a:r>
          </a:p>
        </p:txBody>
      </p:sp>
      <p:cxnSp>
        <p:nvCxnSpPr>
          <p:cNvPr id="4" name="Raya portada"/>
          <p:cNvCxnSpPr/>
          <p:nvPr/>
        </p:nvCxnSpPr>
        <p:spPr>
          <a:xfrm>
            <a:off x="5730087" y="4956048"/>
            <a:ext cx="73152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5" name="Ejes"/>
          <p:cNvSpPr txBox="1"/>
          <p:nvPr/>
        </p:nvSpPr>
        <p:spPr>
          <a:xfrm>
            <a:off x="1981047" y="5102352"/>
            <a:ext cx="8229600" cy="365760"/>
          </a:xfrm>
          <a:prstGeom prst="rect">
            <a:avLst/>
          </a:prstGeom>
          <a:noFill/>
        </p:spPr>
        <p:txBody>
          <a:bodyPr wrap="square" lIns="0" tIns="0" rIns="0" bIns="0" anchor="t">
            <a:spAutoFit/>
          </a:bodyPr>
          <a:lstStyle/>
          <a:p>
            <a:pPr algn="ctr">
              <a:spcAft>
                <a:spcPts val="600"/>
              </a:spcAft>
            </a:pPr>
            <a:r>
              <a:rPr sz="1600" b="0" i="0">
                <a:solidFill>
                  <a:srgbClr val="FFFFFF"/>
                </a:solidFill>
                <a:effectLst>
                  <a:glow rad="63500">
                    <a:srgbClr val="001633">
                      <a:alpha val="85000"/>
                    </a:srgbClr>
                  </a:glow>
                </a:effectLst>
                <a:latin typeface="Montserrat"/>
              </a:rPr>
              <a:t>Modelamiento dinámico   |   Integración de datos   |   Decisión en tiempo real</a:t>
            </a:r>
          </a:p>
        </p:txBody>
      </p:sp>
      <p:sp>
        <p:nvSpPr>
          <p:cNvPr id="6" name="Autores"/>
          <p:cNvSpPr txBox="1"/>
          <p:nvPr/>
        </p:nvSpPr>
        <p:spPr>
          <a:xfrm>
            <a:off x="7315200" y="6172200"/>
            <a:ext cx="4389120" cy="365760"/>
          </a:xfrm>
          <a:prstGeom prst="rect">
            <a:avLst/>
          </a:prstGeom>
          <a:noFill/>
        </p:spPr>
        <p:txBody>
          <a:bodyPr wrap="square" lIns="0" tIns="0" rIns="0" bIns="0" anchor="t">
            <a:spAutoFit/>
          </a:bodyPr>
          <a:lstStyle/>
          <a:p>
            <a:pPr algn="r">
              <a:spcAft>
                <a:spcPts val="600"/>
              </a:spcAft>
            </a:pPr>
            <a:r>
              <a:rPr sz="1300" b="0" i="0">
                <a:solidFill>
                  <a:srgbClr val="FFFFFF"/>
                </a:solidFill>
                <a:effectLst>
                  <a:glow rad="63500">
                    <a:srgbClr val="001633">
                      <a:alpha val="85000"/>
                    </a:srgbClr>
                  </a:glow>
                </a:effectLst>
                <a:latin typeface="Montserrat"/>
              </a:rPr>
              <a:t>Luis Jaraquemada S.  ·  Andrés Venegas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Diseñamos, construimos y presentamos gemelos digitales mineros</a:t>
            </a:r>
          </a:p>
        </p:txBody>
      </p:sp>
      <p:sp>
        <p:nvSpPr>
          <p:cNvPr id="3" name="Cifra años en software industrial minero"/>
          <p:cNvSpPr txBox="1"/>
          <p:nvPr/>
        </p:nvSpPr>
        <p:spPr>
          <a:xfrm>
            <a:off x="1252728" y="1691639"/>
            <a:ext cx="13716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+15</a:t>
            </a:r>
          </a:p>
        </p:txBody>
      </p:sp>
      <p:sp>
        <p:nvSpPr>
          <p:cNvPr id="4" name="TextBox 3"/>
          <p:cNvSpPr txBox="1"/>
          <p:nvPr/>
        </p:nvSpPr>
        <p:spPr>
          <a:xfrm>
            <a:off x="2715768" y="1691639"/>
            <a:ext cx="17373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años en software industrial minero</a:t>
            </a:r>
          </a:p>
        </p:txBody>
      </p:sp>
      <p:sp>
        <p:nvSpPr>
          <p:cNvPr id="5" name="Cifra procesos mineros con gemelo digital"/>
          <p:cNvSpPr txBox="1"/>
          <p:nvPr/>
        </p:nvSpPr>
        <p:spPr>
          <a:xfrm>
            <a:off x="459028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6</a:t>
            </a:r>
          </a:p>
        </p:txBody>
      </p:sp>
      <p:sp>
        <p:nvSpPr>
          <p:cNvPr id="6" name="TextBox 5"/>
          <p:cNvSpPr txBox="1"/>
          <p:nvPr/>
        </p:nvSpPr>
        <p:spPr>
          <a:xfrm>
            <a:off x="536752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procesos mineros con gemelo digital</a:t>
            </a:r>
          </a:p>
        </p:txBody>
      </p:sp>
      <p:sp>
        <p:nvSpPr>
          <p:cNvPr id="7" name="Cifra trabajos en congresos, 2022–2025"/>
          <p:cNvSpPr txBox="1"/>
          <p:nvPr/>
        </p:nvSpPr>
        <p:spPr>
          <a:xfrm>
            <a:off x="792784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5</a:t>
            </a:r>
          </a:p>
        </p:txBody>
      </p:sp>
      <p:sp>
        <p:nvSpPr>
          <p:cNvPr id="8" name="TextBox 7"/>
          <p:cNvSpPr txBox="1"/>
          <p:nvPr/>
        </p:nvSpPr>
        <p:spPr>
          <a:xfrm>
            <a:off x="870508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trabajos en congresos, 2022–2025</a:t>
            </a:r>
          </a:p>
        </p:txBody>
      </p:sp>
      <p:sp>
        <p:nvSpPr>
          <p:cNvPr id="9" name="TextBox 8"/>
          <p:cNvSpPr txBox="1"/>
          <p:nvPr/>
        </p:nvSpPr>
        <p:spPr>
          <a:xfrm>
            <a:off x="1252728" y="2651759"/>
            <a:ext cx="10012680" cy="27432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Carguío y transporte · chancado · correas y tolvas · stockpiles · flotación · filtración</a:t>
            </a:r>
          </a:p>
        </p:txBody>
      </p:sp>
      <p:sp>
        <p:nvSpPr>
          <p:cNvPr id="10" name="Perfil Luis Jaraquemada S."/>
          <p:cNvSpPr/>
          <p:nvPr/>
        </p:nvSpPr>
        <p:spPr>
          <a:xfrm>
            <a:off x="12527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Luis Jaraquemada S." descr="luis.png"/>
          <p:cNvPicPr>
            <a:picLocks noChangeAspect="1"/>
          </p:cNvPicPr>
          <p:nvPr/>
        </p:nvPicPr>
        <p:blipFill>
          <a:blip r:embed="rId3"/>
          <a:srcRect l="4777" r="4777"/>
          <a:stretch>
            <a:fillRect/>
          </a:stretch>
        </p:blipFill>
        <p:spPr>
          <a:xfrm>
            <a:off x="1527048" y="3337559"/>
            <a:ext cx="1417320" cy="1417320"/>
          </a:xfrm>
          <a:prstGeom prst="ellipse">
            <a:avLst/>
          </a:prstGeom>
        </p:spPr>
      </p:pic>
      <p:sp>
        <p:nvSpPr>
          <p:cNvPr id="12" name="Luis Jaraquemada S. anillo"/>
          <p:cNvSpPr/>
          <p:nvPr/>
        </p:nvSpPr>
        <p:spPr>
          <a:xfrm>
            <a:off x="14813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218688" y="3337559"/>
            <a:ext cx="2766060" cy="1463040"/>
          </a:xfrm>
          <a:prstGeom prst="rect">
            <a:avLst/>
          </a:prstGeom>
          <a:noFill/>
        </p:spPr>
        <p:txBody>
          <a:bodyPr wrap="square" lIns="0" tIns="0" rIns="0" bIns="0" anchor="ctr">
            <a:spAutoFit/>
          </a:bodyPr>
          <a:lstStyle/>
          <a:p>
            <a:pPr algn="l">
              <a:spcAft>
                <a:spcPts val="300"/>
              </a:spcAft>
            </a:pPr>
            <a:r>
              <a:rPr sz="2000" b="1" i="0">
                <a:solidFill>
                  <a:srgbClr val="FFFFFF"/>
                </a:solidFill>
                <a:effectLst>
                  <a:glow rad="63500">
                    <a:srgbClr val="001633">
                      <a:alpha val="85000"/>
                    </a:srgbClr>
                  </a:glow>
                </a:effectLst>
                <a:latin typeface="Montserrat"/>
              </a:rPr>
              <a:t>Luis Jaraquemada S.</a:t>
            </a:r>
          </a:p>
          <a:p>
            <a:pPr algn="l">
              <a:spcAft>
                <a:spcPts val="300"/>
              </a:spcAft>
            </a:pPr>
            <a:r>
              <a:rPr sz="1300" b="1" i="0">
                <a:solidFill>
                  <a:srgbClr val="FFAB40"/>
                </a:solidFill>
                <a:effectLst>
                  <a:glow rad="63500">
                    <a:srgbClr val="001633">
                      <a:alpha val="85000"/>
                    </a:srgbClr>
                  </a:glow>
                </a:effectLst>
                <a:latin typeface="Montserrat"/>
              </a:rPr>
              <a:t>Global R&amp;D Manager · Production Management</a:t>
            </a:r>
          </a:p>
          <a:p>
            <a:pPr algn="l">
              <a:spcAft>
                <a:spcPts val="300"/>
              </a:spcAft>
            </a:pPr>
            <a:r>
              <a:rPr sz="1200" b="0" i="0">
                <a:solidFill>
                  <a:srgbClr val="FFFFFF"/>
                </a:solidFill>
                <a:effectLst>
                  <a:glow rad="63500">
                    <a:srgbClr val="001633">
                      <a:alpha val="85000"/>
                    </a:srgbClr>
                  </a:glow>
                </a:effectLst>
                <a:latin typeface="Montserrat"/>
              </a:rPr>
              <a:t>Epiroc Digital Solutions Division</a:t>
            </a:r>
          </a:p>
          <a:p>
            <a:pPr algn="l">
              <a:spcAft>
                <a:spcPts val="300"/>
              </a:spcAft>
            </a:pPr>
            <a:r>
              <a:rPr sz="1100" b="0" i="0">
                <a:solidFill>
                  <a:srgbClr val="A9B8C9"/>
                </a:solidFill>
                <a:effectLst>
                  <a:glow rad="63500">
                    <a:srgbClr val="001633">
                      <a:alpha val="85000"/>
                    </a:srgbClr>
                  </a:glow>
                </a:effectLst>
                <a:latin typeface="Montserrat"/>
              </a:rPr>
              <a:t>Ing. Civil Eléctrico y MSc (USACH)</a:t>
            </a:r>
          </a:p>
        </p:txBody>
      </p:sp>
      <p:sp>
        <p:nvSpPr>
          <p:cNvPr id="14" name="Perfil Andrés Venegas G."/>
          <p:cNvSpPr/>
          <p:nvPr/>
        </p:nvSpPr>
        <p:spPr>
          <a:xfrm>
            <a:off x="63962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Andrés Venegas G." descr="andres.png"/>
          <p:cNvPicPr>
            <a:picLocks noChangeAspect="1"/>
          </p:cNvPicPr>
          <p:nvPr/>
        </p:nvPicPr>
        <p:blipFill>
          <a:blip r:embed="rId4"/>
          <a:stretch>
            <a:fillRect/>
          </a:stretch>
        </p:blipFill>
        <p:spPr>
          <a:xfrm>
            <a:off x="6670548" y="3337559"/>
            <a:ext cx="1417320" cy="1417320"/>
          </a:xfrm>
          <a:prstGeom prst="ellipse">
            <a:avLst/>
          </a:prstGeom>
        </p:spPr>
      </p:pic>
      <p:sp>
        <p:nvSpPr>
          <p:cNvPr id="16" name="Andrés Venegas G. anillo"/>
          <p:cNvSpPr/>
          <p:nvPr/>
        </p:nvSpPr>
        <p:spPr>
          <a:xfrm>
            <a:off x="66248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62188" y="3480456"/>
            <a:ext cx="2766060" cy="1177245"/>
          </a:xfrm>
          <a:prstGeom prst="rect">
            <a:avLst/>
          </a:prstGeom>
          <a:noFill/>
        </p:spPr>
        <p:txBody>
          <a:bodyPr wrap="square" lIns="0" tIns="0" rIns="0" bIns="0" anchor="ctr">
            <a:spAutoFit/>
          </a:bodyPr>
          <a:lstStyle/>
          <a:p>
            <a:pPr algn="l">
              <a:spcAft>
                <a:spcPts val="300"/>
              </a:spcAft>
            </a:pPr>
            <a:r>
              <a:rPr sz="2000" b="1" i="0" dirty="0">
                <a:solidFill>
                  <a:srgbClr val="FFFFFF"/>
                </a:solidFill>
                <a:effectLst>
                  <a:glow rad="63500">
                    <a:srgbClr val="001633">
                      <a:alpha val="85000"/>
                    </a:srgbClr>
                  </a:glow>
                </a:effectLst>
                <a:latin typeface="Montserrat"/>
              </a:rPr>
              <a:t>Andrés Venegas G.</a:t>
            </a:r>
          </a:p>
          <a:p>
            <a:pPr algn="l">
              <a:spcAft>
                <a:spcPts val="300"/>
              </a:spcAft>
            </a:pPr>
            <a:r>
              <a:rPr sz="1300" b="1" i="0" dirty="0">
                <a:solidFill>
                  <a:srgbClr val="FFAB40"/>
                </a:solidFill>
                <a:effectLst>
                  <a:glow rad="63500">
                    <a:srgbClr val="001633">
                      <a:alpha val="85000"/>
                    </a:srgbClr>
                  </a:glow>
                </a:effectLst>
                <a:latin typeface="Montserrat"/>
              </a:rPr>
              <a:t>Process &amp; Data Modelling Manager</a:t>
            </a:r>
          </a:p>
          <a:p>
            <a:pPr algn="l">
              <a:spcAft>
                <a:spcPts val="300"/>
              </a:spcAft>
            </a:pPr>
            <a:r>
              <a:rPr sz="1200" b="0" i="0" dirty="0">
                <a:solidFill>
                  <a:srgbClr val="FFFFFF"/>
                </a:solidFill>
                <a:effectLst>
                  <a:glow rad="63500">
                    <a:srgbClr val="001633">
                      <a:alpha val="85000"/>
                    </a:srgbClr>
                  </a:glow>
                </a:effectLst>
                <a:latin typeface="Montserrat"/>
              </a:rPr>
              <a:t>Epiroc Digital Solutions Division</a:t>
            </a:r>
          </a:p>
          <a:p>
            <a:pPr algn="l">
              <a:spcAft>
                <a:spcPts val="300"/>
              </a:spcAft>
            </a:pPr>
            <a:r>
              <a:rPr sz="1100" b="0" i="0" dirty="0">
                <a:solidFill>
                  <a:srgbClr val="A9B8C9"/>
                </a:solidFill>
                <a:effectLst>
                  <a:glow rad="63500">
                    <a:srgbClr val="001633">
                      <a:alpha val="85000"/>
                    </a:srgbClr>
                  </a:glow>
                </a:effectLst>
                <a:latin typeface="Montserrat"/>
              </a:rPr>
              <a:t>Ing. Civil </a:t>
            </a:r>
            <a:r>
              <a:rPr sz="1100" b="0" i="0" dirty="0" err="1">
                <a:solidFill>
                  <a:srgbClr val="A9B8C9"/>
                </a:solidFill>
                <a:effectLst>
                  <a:glow rad="63500">
                    <a:srgbClr val="001633">
                      <a:alpha val="85000"/>
                    </a:srgbClr>
                  </a:glow>
                </a:effectLst>
                <a:latin typeface="Montserrat"/>
              </a:rPr>
              <a:t>Mecatrónico</a:t>
            </a:r>
            <a:endParaRPr sz="1100" b="0" i="0" dirty="0">
              <a:solidFill>
                <a:srgbClr val="A9B8C9"/>
              </a:solidFill>
              <a:effectLst>
                <a:glow rad="63500">
                  <a:srgbClr val="001633">
                    <a:alpha val="85000"/>
                  </a:srgbClr>
                </a:glow>
              </a:effectLst>
              <a:latin typeface="Montserrat"/>
            </a:endParaRPr>
          </a:p>
        </p:txBody>
      </p:sp>
      <p:sp>
        <p:nvSpPr>
          <p:cNvPr id="18" name="TextBox 17"/>
          <p:cNvSpPr txBox="1"/>
          <p:nvPr/>
        </p:nvSpPr>
        <p:spPr>
          <a:xfrm>
            <a:off x="1252728" y="5257800"/>
            <a:ext cx="1920240" cy="411480"/>
          </a:xfrm>
          <a:prstGeom prst="rect">
            <a:avLst/>
          </a:prstGeom>
          <a:noFill/>
        </p:spPr>
        <p:txBody>
          <a:bodyPr wrap="square" lIns="0" tIns="0" rIns="0" bIns="0" anchor="ctr">
            <a:spAutoFit/>
          </a:bodyPr>
          <a:lstStyle/>
          <a:p>
            <a:pPr algn="l">
              <a:spcAft>
                <a:spcPts val="600"/>
              </a:spcAft>
            </a:pPr>
            <a:r>
              <a:rPr sz="1300" b="1" i="0">
                <a:solidFill>
                  <a:srgbClr val="A9B8C9"/>
                </a:solidFill>
                <a:effectLst>
                  <a:glow rad="63500">
                    <a:srgbClr val="001633">
                      <a:alpha val="85000"/>
                    </a:srgbClr>
                  </a:glow>
                </a:effectLst>
                <a:latin typeface="Montserrat"/>
              </a:rPr>
              <a:t>Trayectoria en</a:t>
            </a:r>
          </a:p>
        </p:txBody>
      </p:sp>
      <p:pic>
        <p:nvPicPr>
          <p:cNvPr id="19" name="logo-epiroc.png" descr="logo-epiroc.png"/>
          <p:cNvPicPr>
            <a:picLocks noChangeAspect="1"/>
          </p:cNvPicPr>
          <p:nvPr/>
        </p:nvPicPr>
        <p:blipFill>
          <a:blip r:embed="rId5"/>
          <a:stretch>
            <a:fillRect/>
          </a:stretch>
        </p:blipFill>
        <p:spPr>
          <a:xfrm>
            <a:off x="2990088" y="5257800"/>
            <a:ext cx="740664" cy="411480"/>
          </a:xfrm>
          <a:prstGeom prst="rect">
            <a:avLst/>
          </a:prstGeom>
        </p:spPr>
      </p:pic>
      <p:pic>
        <p:nvPicPr>
          <p:cNvPr id="20" name="logo-siemens.png" descr="logo-siemens.png"/>
          <p:cNvPicPr>
            <a:picLocks noChangeAspect="1"/>
          </p:cNvPicPr>
          <p:nvPr/>
        </p:nvPicPr>
        <p:blipFill>
          <a:blip r:embed="rId6"/>
          <a:stretch>
            <a:fillRect/>
          </a:stretch>
        </p:blipFill>
        <p:spPr>
          <a:xfrm>
            <a:off x="3959352" y="5257800"/>
            <a:ext cx="1930790" cy="411480"/>
          </a:xfrm>
          <a:prstGeom prst="rect">
            <a:avLst/>
          </a:prstGeom>
        </p:spPr>
      </p:pic>
      <p:pic>
        <p:nvPicPr>
          <p:cNvPr id="21" name="logo-innomotics.png" descr="logo-innomotics.png"/>
          <p:cNvPicPr>
            <a:picLocks noChangeAspect="1"/>
          </p:cNvPicPr>
          <p:nvPr/>
        </p:nvPicPr>
        <p:blipFill>
          <a:blip r:embed="rId7"/>
          <a:stretch>
            <a:fillRect/>
          </a:stretch>
        </p:blipFill>
        <p:spPr>
          <a:xfrm>
            <a:off x="6118742" y="5257800"/>
            <a:ext cx="1379876" cy="411480"/>
          </a:xfrm>
          <a:prstGeom prst="rect">
            <a:avLst/>
          </a:prstGeom>
        </p:spPr>
      </p:pic>
      <p:pic>
        <p:nvPicPr>
          <p:cNvPr id="22" name="logo-huawei.png" descr="logo-huawei.png"/>
          <p:cNvPicPr>
            <a:picLocks noChangeAspect="1"/>
          </p:cNvPicPr>
          <p:nvPr/>
        </p:nvPicPr>
        <p:blipFill>
          <a:blip r:embed="rId8"/>
          <a:stretch>
            <a:fillRect/>
          </a:stretch>
        </p:blipFill>
        <p:spPr>
          <a:xfrm>
            <a:off x="7727218" y="5257800"/>
            <a:ext cx="1402177" cy="411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Hablamos de gemelos digitales donde la minería decide</a:t>
            </a:r>
          </a:p>
        </p:txBody>
      </p:sp>
      <p:cxnSp>
        <p:nvCxnSpPr>
          <p:cNvPr id="3" name="Connector 2"/>
          <p:cNvCxnSpPr/>
          <p:nvPr/>
        </p:nvCxnSpPr>
        <p:spPr>
          <a:xfrm>
            <a:off x="1527048" y="2057399"/>
            <a:ext cx="0" cy="2487168"/>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4" name="Charla 1"/>
          <p:cNvSpPr/>
          <p:nvPr/>
        </p:nvSpPr>
        <p:spPr>
          <a:xfrm>
            <a:off x="1252728" y="1783079"/>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Ícono mic" descr="mic-orange.png"/>
          <p:cNvPicPr>
            <a:picLocks noChangeAspect="1"/>
          </p:cNvPicPr>
          <p:nvPr/>
        </p:nvPicPr>
        <p:blipFill>
          <a:blip r:embed="rId2"/>
          <a:stretch>
            <a:fillRect/>
          </a:stretch>
        </p:blipFill>
        <p:spPr>
          <a:xfrm>
            <a:off x="1373429" y="1903780"/>
            <a:ext cx="307238" cy="307238"/>
          </a:xfrm>
          <a:prstGeom prst="rect">
            <a:avLst/>
          </a:prstGeom>
        </p:spPr>
      </p:pic>
      <p:sp>
        <p:nvSpPr>
          <p:cNvPr id="6" name="TextBox 5"/>
          <p:cNvSpPr txBox="1"/>
          <p:nvPr/>
        </p:nvSpPr>
        <p:spPr>
          <a:xfrm>
            <a:off x="1984248" y="1764791"/>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Gemelos digitales en conminución y transporte</a:t>
            </a:r>
          </a:p>
        </p:txBody>
      </p:sp>
      <p:sp>
        <p:nvSpPr>
          <p:cNvPr id="7" name="Charla 2"/>
          <p:cNvSpPr/>
          <p:nvPr/>
        </p:nvSpPr>
        <p:spPr>
          <a:xfrm>
            <a:off x="1252728" y="2404871"/>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mic" descr="mic-orange.png"/>
          <p:cNvPicPr>
            <a:picLocks noChangeAspect="1"/>
          </p:cNvPicPr>
          <p:nvPr/>
        </p:nvPicPr>
        <p:blipFill>
          <a:blip r:embed="rId2"/>
          <a:stretch>
            <a:fillRect/>
          </a:stretch>
        </p:blipFill>
        <p:spPr>
          <a:xfrm>
            <a:off x="1373429" y="2525572"/>
            <a:ext cx="307238" cy="307238"/>
          </a:xfrm>
          <a:prstGeom prst="rect">
            <a:avLst/>
          </a:prstGeom>
        </p:spPr>
      </p:pic>
      <p:sp>
        <p:nvSpPr>
          <p:cNvPr id="9" name="TextBox 8"/>
          <p:cNvSpPr txBox="1"/>
          <p:nvPr/>
        </p:nvSpPr>
        <p:spPr>
          <a:xfrm>
            <a:off x="1984248" y="2386583"/>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MAPLA–MANTEMIN</a:t>
            </a:r>
          </a:p>
          <a:p>
            <a:pPr algn="l">
              <a:spcAft>
                <a:spcPts val="100"/>
              </a:spcAft>
            </a:pPr>
            <a:r>
              <a:rPr sz="1100" b="0" i="0">
                <a:solidFill>
                  <a:srgbClr val="A9B8C9"/>
                </a:solidFill>
                <a:effectLst>
                  <a:glow rad="63500">
                    <a:srgbClr val="001633">
                      <a:alpha val="85000"/>
                    </a:srgbClr>
                  </a:glow>
                </a:effectLst>
                <a:latin typeface="Montserrat"/>
              </a:rPr>
              <a:t>Gemelos digitales en chancado y transporte de material</a:t>
            </a:r>
          </a:p>
        </p:txBody>
      </p:sp>
      <p:sp>
        <p:nvSpPr>
          <p:cNvPr id="10" name="Charla 3"/>
          <p:cNvSpPr/>
          <p:nvPr/>
        </p:nvSpPr>
        <p:spPr>
          <a:xfrm>
            <a:off x="1252728" y="3026663"/>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Ícono award" descr="award-orange.png"/>
          <p:cNvPicPr>
            <a:picLocks noChangeAspect="1"/>
          </p:cNvPicPr>
          <p:nvPr/>
        </p:nvPicPr>
        <p:blipFill>
          <a:blip r:embed="rId3"/>
          <a:stretch>
            <a:fillRect/>
          </a:stretch>
        </p:blipFill>
        <p:spPr>
          <a:xfrm>
            <a:off x="1373429" y="3147364"/>
            <a:ext cx="307238" cy="307238"/>
          </a:xfrm>
          <a:prstGeom prst="rect">
            <a:avLst/>
          </a:prstGeom>
        </p:spPr>
      </p:pic>
      <p:sp>
        <p:nvSpPr>
          <p:cNvPr id="12" name="TextBox 11"/>
          <p:cNvSpPr txBox="1"/>
          <p:nvPr/>
        </p:nvSpPr>
        <p:spPr>
          <a:xfrm>
            <a:off x="1984248" y="3008375"/>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2024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 digital y datos artificiales en chancado y correas</a:t>
            </a:r>
          </a:p>
        </p:txBody>
      </p:sp>
      <p:sp>
        <p:nvSpPr>
          <p:cNvPr id="13" name="Charla 4"/>
          <p:cNvSpPr/>
          <p:nvPr/>
        </p:nvSpPr>
        <p:spPr>
          <a:xfrm>
            <a:off x="1252728" y="3648455"/>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cpu" descr="cpu-navy.png"/>
          <p:cNvPicPr>
            <a:picLocks noChangeAspect="1"/>
          </p:cNvPicPr>
          <p:nvPr/>
        </p:nvPicPr>
        <p:blipFill>
          <a:blip r:embed="rId4"/>
          <a:stretch>
            <a:fillRect/>
          </a:stretch>
        </p:blipFill>
        <p:spPr>
          <a:xfrm>
            <a:off x="1373429" y="3769156"/>
            <a:ext cx="307238" cy="307238"/>
          </a:xfrm>
          <a:prstGeom prst="rect">
            <a:avLst/>
          </a:prstGeom>
        </p:spPr>
      </p:pic>
      <p:sp>
        <p:nvSpPr>
          <p:cNvPr id="15" name="TextBox 14"/>
          <p:cNvSpPr txBox="1"/>
          <p:nvPr/>
        </p:nvSpPr>
        <p:spPr>
          <a:xfrm>
            <a:off x="1984248" y="3630167"/>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Control de producción en minería subterránea con edge computing</a:t>
            </a:r>
          </a:p>
        </p:txBody>
      </p:sp>
      <p:sp>
        <p:nvSpPr>
          <p:cNvPr id="16" name="Charla 5"/>
          <p:cNvSpPr/>
          <p:nvPr/>
        </p:nvSpPr>
        <p:spPr>
          <a:xfrm>
            <a:off x="1252728" y="4270247"/>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droplet" descr="droplet-navy.png"/>
          <p:cNvPicPr>
            <a:picLocks noChangeAspect="1"/>
          </p:cNvPicPr>
          <p:nvPr/>
        </p:nvPicPr>
        <p:blipFill>
          <a:blip r:embed="rId5"/>
          <a:stretch>
            <a:fillRect/>
          </a:stretch>
        </p:blipFill>
        <p:spPr>
          <a:xfrm>
            <a:off x="1373429" y="4390948"/>
            <a:ext cx="307238" cy="307238"/>
          </a:xfrm>
          <a:prstGeom prst="rect">
            <a:avLst/>
          </a:prstGeom>
        </p:spPr>
      </p:pic>
      <p:sp>
        <p:nvSpPr>
          <p:cNvPr id="18" name="TextBox 17"/>
          <p:cNvSpPr txBox="1"/>
          <p:nvPr/>
        </p:nvSpPr>
        <p:spPr>
          <a:xfrm>
            <a:off x="1984248" y="4251959"/>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Procemin‑Geomet · Gecamin</a:t>
            </a:r>
          </a:p>
          <a:p>
            <a:pPr algn="l">
              <a:spcAft>
                <a:spcPts val="100"/>
              </a:spcAft>
            </a:pPr>
            <a:r>
              <a:rPr sz="1100" b="0" i="0">
                <a:solidFill>
                  <a:srgbClr val="A9B8C9"/>
                </a:solidFill>
                <a:effectLst>
                  <a:glow rad="63500">
                    <a:srgbClr val="001633">
                      <a:alpha val="85000"/>
                    </a:srgbClr>
                  </a:glow>
                </a:effectLst>
                <a:latin typeface="Montserrat"/>
              </a:rPr>
              <a:t>Intelligent Filtering: Digital Twins as a Tool for Future Mining</a:t>
            </a:r>
          </a:p>
        </p:txBody>
      </p:sp>
      <p:pic>
        <p:nvPicPr>
          <p:cNvPr id="19" name="Ícono tv" descr="tv-muted.png"/>
          <p:cNvPicPr>
            <a:picLocks noChangeAspect="1"/>
          </p:cNvPicPr>
          <p:nvPr/>
        </p:nvPicPr>
        <p:blipFill>
          <a:blip r:embed="rId6"/>
          <a:stretch>
            <a:fillRect/>
          </a:stretch>
        </p:blipFill>
        <p:spPr>
          <a:xfrm>
            <a:off x="7699248" y="1892807"/>
            <a:ext cx="256032" cy="256032"/>
          </a:xfrm>
          <a:prstGeom prst="rect">
            <a:avLst/>
          </a:prstGeom>
        </p:spPr>
      </p:pic>
      <p:sp>
        <p:nvSpPr>
          <p:cNvPr id="20" name="TextBox 19"/>
          <p:cNvSpPr txBox="1"/>
          <p:nvPr/>
        </p:nvSpPr>
        <p:spPr>
          <a:xfrm>
            <a:off x="8046720" y="1874519"/>
            <a:ext cx="3657600" cy="320040"/>
          </a:xfrm>
          <a:prstGeom prst="rect">
            <a:avLst/>
          </a:prstGeom>
          <a:noFill/>
        </p:spPr>
        <p:txBody>
          <a:bodyPr wrap="square" lIns="0" tIns="0" rIns="0" bIns="0" anchor="t">
            <a:spAutoFit/>
          </a:bodyPr>
          <a:lstStyle/>
          <a:p>
            <a:pPr algn="l">
              <a:spcAft>
                <a:spcPts val="600"/>
              </a:spcAft>
            </a:pPr>
            <a:r>
              <a:rPr sz="1300" b="1" i="0">
                <a:solidFill>
                  <a:srgbClr val="A9B8C9"/>
                </a:solidFill>
                <a:effectLst>
                  <a:glow rad="63500">
                    <a:srgbClr val="001633">
                      <a:alpha val="85000"/>
                    </a:srgbClr>
                  </a:glow>
                </a:effectLst>
                <a:latin typeface="Montserrat"/>
              </a:rPr>
              <a:t>En escenarios y medios</a:t>
            </a:r>
          </a:p>
        </p:txBody>
      </p:sp>
      <p:pic>
        <p:nvPicPr>
          <p:cNvPr id="21" name="Minería Digital 2024" descr="medio-mineria-digital-2024.png"/>
          <p:cNvPicPr>
            <a:picLocks noChangeAspect="1"/>
          </p:cNvPicPr>
          <p:nvPr/>
        </p:nvPicPr>
        <p:blipFill>
          <a:blip r:embed="rId7"/>
          <a:srcRect t="4915" b="4915"/>
          <a:stretch>
            <a:fillRect/>
          </a:stretch>
        </p:blipFill>
        <p:spPr>
          <a:xfrm>
            <a:off x="7699248" y="2285999"/>
            <a:ext cx="1691640" cy="1024128"/>
          </a:xfrm>
          <a:prstGeom prst="rect">
            <a:avLst/>
          </a:prstGeom>
          <a:ln>
            <a:solidFill>
              <a:srgbClr val="2A456B"/>
            </a:solidFill>
          </a:ln>
        </p:spPr>
      </p:pic>
      <p:sp>
        <p:nvSpPr>
          <p:cNvPr id="22" name="TextBox 21"/>
          <p:cNvSpPr txBox="1"/>
          <p:nvPr/>
        </p:nvSpPr>
        <p:spPr>
          <a:xfrm>
            <a:off x="7699248"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Minería Digital 2024</a:t>
            </a:r>
          </a:p>
        </p:txBody>
      </p:sp>
      <p:pic>
        <p:nvPicPr>
          <p:cNvPr id="23" name="Siemens Minerals Week" descr="medio-siemens-minerals-week.png"/>
          <p:cNvPicPr>
            <a:picLocks noChangeAspect="1"/>
          </p:cNvPicPr>
          <p:nvPr/>
        </p:nvPicPr>
        <p:blipFill>
          <a:blip r:embed="rId8"/>
          <a:srcRect l="8202" r="8202"/>
          <a:stretch>
            <a:fillRect/>
          </a:stretch>
        </p:blipFill>
        <p:spPr>
          <a:xfrm>
            <a:off x="9509760" y="2285999"/>
            <a:ext cx="1691640" cy="1024128"/>
          </a:xfrm>
          <a:prstGeom prst="rect">
            <a:avLst/>
          </a:prstGeom>
          <a:ln>
            <a:solidFill>
              <a:srgbClr val="2A456B"/>
            </a:solidFill>
          </a:ln>
        </p:spPr>
      </p:pic>
      <p:sp>
        <p:nvSpPr>
          <p:cNvPr id="24" name="TextBox 23"/>
          <p:cNvSpPr txBox="1"/>
          <p:nvPr/>
        </p:nvSpPr>
        <p:spPr>
          <a:xfrm>
            <a:off x="9509760"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Siemens Minerals Week</a:t>
            </a:r>
          </a:p>
        </p:txBody>
      </p:sp>
      <p:pic>
        <p:nvPicPr>
          <p:cNvPr id="25" name="Podcast América Minera" descr="medio-america-minera.png"/>
          <p:cNvPicPr>
            <a:picLocks noChangeAspect="1"/>
          </p:cNvPicPr>
          <p:nvPr/>
        </p:nvPicPr>
        <p:blipFill>
          <a:blip r:embed="rId9"/>
          <a:srcRect l="27635" r="27635"/>
          <a:stretch>
            <a:fillRect/>
          </a:stretch>
        </p:blipFill>
        <p:spPr>
          <a:xfrm>
            <a:off x="7699248" y="3858767"/>
            <a:ext cx="1691640" cy="1024128"/>
          </a:xfrm>
          <a:prstGeom prst="rect">
            <a:avLst/>
          </a:prstGeom>
          <a:ln>
            <a:solidFill>
              <a:srgbClr val="2A456B"/>
            </a:solidFill>
          </a:ln>
        </p:spPr>
      </p:pic>
      <p:sp>
        <p:nvSpPr>
          <p:cNvPr id="26" name="TextBox 25"/>
          <p:cNvSpPr txBox="1"/>
          <p:nvPr/>
        </p:nvSpPr>
        <p:spPr>
          <a:xfrm>
            <a:off x="7699248"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Podcast América Minera</a:t>
            </a:r>
          </a:p>
        </p:txBody>
      </p:sp>
      <p:pic>
        <p:nvPicPr>
          <p:cNvPr id="27" name="Circle Digital · Siemens" descr="medio-circle-digital.png"/>
          <p:cNvPicPr>
            <a:picLocks noChangeAspect="1"/>
          </p:cNvPicPr>
          <p:nvPr/>
        </p:nvPicPr>
        <p:blipFill>
          <a:blip r:embed="rId10"/>
          <a:srcRect t="19136" b="19136"/>
          <a:stretch>
            <a:fillRect/>
          </a:stretch>
        </p:blipFill>
        <p:spPr>
          <a:xfrm>
            <a:off x="9509760" y="3858767"/>
            <a:ext cx="1691640" cy="1024128"/>
          </a:xfrm>
          <a:prstGeom prst="rect">
            <a:avLst/>
          </a:prstGeom>
          <a:ln>
            <a:solidFill>
              <a:srgbClr val="2A456B"/>
            </a:solidFill>
          </a:ln>
        </p:spPr>
      </p:pic>
      <p:sp>
        <p:nvSpPr>
          <p:cNvPr id="28" name="TextBox 27"/>
          <p:cNvSpPr txBox="1"/>
          <p:nvPr/>
        </p:nvSpPr>
        <p:spPr>
          <a:xfrm>
            <a:off x="9509760"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Circle Digital · Siemens</a:t>
            </a:r>
          </a:p>
        </p:txBody>
      </p:sp>
      <p:sp>
        <p:nvSpPr>
          <p:cNvPr id="29" name="Mensaje trayectoria"/>
          <p:cNvSpPr/>
          <p:nvPr/>
        </p:nvSpPr>
        <p:spPr>
          <a:xfrm>
            <a:off x="1252728" y="5029199"/>
            <a:ext cx="612648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layers" descr="layers-orange.png"/>
          <p:cNvPicPr>
            <a:picLocks noChangeAspect="1"/>
          </p:cNvPicPr>
          <p:nvPr/>
        </p:nvPicPr>
        <p:blipFill>
          <a:blip r:embed="rId11"/>
          <a:stretch>
            <a:fillRect/>
          </a:stretch>
        </p:blipFill>
        <p:spPr>
          <a:xfrm>
            <a:off x="1481328" y="5212079"/>
            <a:ext cx="329184" cy="329184"/>
          </a:xfrm>
          <a:prstGeom prst="rect">
            <a:avLst/>
          </a:prstGeom>
        </p:spPr>
      </p:pic>
      <p:sp>
        <p:nvSpPr>
          <p:cNvPr id="31" name="TextBox 30"/>
          <p:cNvSpPr txBox="1"/>
          <p:nvPr/>
        </p:nvSpPr>
        <p:spPr>
          <a:xfrm>
            <a:off x="1984248" y="5029199"/>
            <a:ext cx="5212080" cy="685800"/>
          </a:xfrm>
          <a:prstGeom prst="rect">
            <a:avLst/>
          </a:prstGeom>
          <a:noFill/>
        </p:spPr>
        <p:txBody>
          <a:bodyPr wrap="square" lIns="0" tIns="0" rIns="0" bIns="0" anchor="ctr">
            <a:spAutoFit/>
          </a:bodyPr>
          <a:lstStyle/>
          <a:p>
            <a:pPr algn="l">
              <a:spcAft>
                <a:spcPts val="600"/>
              </a:spcAft>
            </a:pPr>
            <a:r>
              <a:rPr sz="1600" b="0" i="0">
                <a:solidFill>
                  <a:srgbClr val="FFFFFF"/>
                </a:solidFill>
                <a:effectLst>
                  <a:glow rad="63500">
                    <a:srgbClr val="001633">
                      <a:alpha val="85000"/>
                    </a:srgbClr>
                  </a:glow>
                </a:effectLst>
                <a:latin typeface="Montserrat"/>
              </a:rPr>
              <a:t>Este curso reúne lo que hemos construido y presentado en la industria.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Mapa del curso</a:t>
            </a:r>
          </a:p>
          <a:p>
            <a:r>
              <a:rPr sz="2200" b="0" i="0">
                <a:solidFill>
                  <a:srgbClr val="FFFFFF"/>
                </a:solidFill>
                <a:effectLst>
                  <a:glow rad="63500">
                    <a:srgbClr val="001633">
                      <a:alpha val="85000"/>
                    </a:srgbClr>
                  </a:glow>
                </a:effectLst>
                <a:latin typeface="Montserrat"/>
              </a:rPr>
              <a:t>Cuatro capítulos, de lo general a lo particular</a:t>
            </a:r>
          </a:p>
        </p:txBody>
      </p:sp>
      <p:cxnSp>
        <p:nvCxnSpPr>
          <p:cNvPr id="3" name="General a particular"/>
          <p:cNvCxnSpPr/>
          <p:nvPr/>
        </p:nvCxnSpPr>
        <p:spPr>
          <a:xfrm>
            <a:off x="1252728" y="4050791"/>
            <a:ext cx="10012680"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522208" y="4123943"/>
            <a:ext cx="2743200" cy="201168"/>
          </a:xfrm>
          <a:prstGeom prst="rect">
            <a:avLst/>
          </a:prstGeom>
          <a:noFill/>
        </p:spPr>
        <p:txBody>
          <a:bodyPr wrap="square" lIns="0" tIns="0" rIns="0" bIns="0" anchor="t">
            <a:spAutoFit/>
          </a:bodyPr>
          <a:lstStyle/>
          <a:p>
            <a:pPr algn="r">
              <a:spcAft>
                <a:spcPts val="600"/>
              </a:spcAft>
            </a:pPr>
            <a:r>
              <a:rPr sz="900" b="1" i="0">
                <a:solidFill>
                  <a:srgbClr val="A9B8C9"/>
                </a:solidFill>
                <a:effectLst>
                  <a:glow rad="63500">
                    <a:srgbClr val="001633">
                      <a:alpha val="85000"/>
                    </a:srgbClr>
                  </a:glow>
                </a:effectLst>
                <a:latin typeface="Montserrat"/>
              </a:rPr>
              <a:t>de lo general a lo particular</a:t>
            </a:r>
          </a:p>
        </p:txBody>
      </p:sp>
      <p:pic>
        <p:nvPicPr>
          <p:cNvPr id="5" name="Capítulo I imagen" descr="virtual-rajo-chuquicamata.png"/>
          <p:cNvPicPr>
            <a:picLocks noChangeAspect="1"/>
          </p:cNvPicPr>
          <p:nvPr/>
        </p:nvPicPr>
        <p:blipFill>
          <a:blip r:embed="rId3"/>
          <a:srcRect l="9356" r="9356"/>
          <a:stretch>
            <a:fillRect/>
          </a:stretch>
        </p:blipFill>
        <p:spPr>
          <a:xfrm>
            <a:off x="1252728" y="1783079"/>
            <a:ext cx="2274570" cy="1920240"/>
          </a:xfrm>
          <a:prstGeom prst="rect">
            <a:avLst/>
          </a:prstGeom>
        </p:spPr>
      </p:pic>
      <p:cxnSp>
        <p:nvCxnSpPr>
          <p:cNvPr id="6" name="Guía capítulo"/>
          <p:cNvCxnSpPr/>
          <p:nvPr/>
        </p:nvCxnSpPr>
        <p:spPr>
          <a:xfrm>
            <a:off x="239001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7" name="Hito I"/>
          <p:cNvSpPr/>
          <p:nvPr/>
        </p:nvSpPr>
        <p:spPr>
          <a:xfrm>
            <a:off x="230771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 </a:t>
            </a:r>
            <a:r>
              <a:rPr sz="1800" b="1" i="0">
                <a:solidFill>
                  <a:srgbClr val="FFFFFF"/>
                </a:solidFill>
                <a:effectLst>
                  <a:glow rad="63500">
                    <a:srgbClr val="001633">
                      <a:alpha val="85000"/>
                    </a:srgbClr>
                  </a:glow>
                </a:effectLst>
                <a:latin typeface="Montserrat"/>
              </a:rPr>
              <a:t>Fundamentos</a:t>
            </a:r>
          </a:p>
        </p:txBody>
      </p:sp>
      <p:sp>
        <p:nvSpPr>
          <p:cNvPr id="9" name="TextBox 8"/>
          <p:cNvSpPr txBox="1"/>
          <p:nvPr/>
        </p:nvSpPr>
        <p:spPr>
          <a:xfrm>
            <a:off x="125272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es un gemelo digital y cómo se clasifica?</a:t>
            </a:r>
          </a:p>
        </p:txBody>
      </p:sp>
      <p:cxnSp>
        <p:nvCxnSpPr>
          <p:cNvPr id="10" name="Raya capítulo"/>
          <p:cNvCxnSpPr/>
          <p:nvPr/>
        </p:nvCxnSpPr>
        <p:spPr>
          <a:xfrm>
            <a:off x="125272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5272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Definición, el cubo de IoT Analytics: niveles, fases y usos</a:t>
            </a:r>
          </a:p>
        </p:txBody>
      </p:sp>
      <p:pic>
        <p:nvPicPr>
          <p:cNvPr id="12" name="Capítulo II imagen" descr="sala-control-fundicion-mufulira.jpg"/>
          <p:cNvPicPr>
            <a:picLocks noChangeAspect="1"/>
          </p:cNvPicPr>
          <p:nvPr/>
        </p:nvPicPr>
        <p:blipFill>
          <a:blip r:embed="rId4">
            <a:duotone>
              <a:srgbClr val="001633"/>
              <a:srgbClr val="A9B8C9"/>
            </a:duotone>
          </a:blip>
          <a:srcRect l="10670" r="10670"/>
          <a:stretch>
            <a:fillRect/>
          </a:stretch>
        </p:blipFill>
        <p:spPr>
          <a:xfrm>
            <a:off x="3755898" y="1783079"/>
            <a:ext cx="2274570" cy="1920240"/>
          </a:xfrm>
          <a:prstGeom prst="rect">
            <a:avLst/>
          </a:prstGeom>
        </p:spPr>
      </p:pic>
      <p:cxnSp>
        <p:nvCxnSpPr>
          <p:cNvPr id="13" name="Guía capítulo"/>
          <p:cNvCxnSpPr/>
          <p:nvPr/>
        </p:nvCxnSpPr>
        <p:spPr>
          <a:xfrm>
            <a:off x="489318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Hito II"/>
          <p:cNvSpPr/>
          <p:nvPr/>
        </p:nvSpPr>
        <p:spPr>
          <a:xfrm>
            <a:off x="481088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5589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 </a:t>
            </a:r>
            <a:r>
              <a:rPr sz="1800" b="1" i="0">
                <a:solidFill>
                  <a:srgbClr val="FFFFFF"/>
                </a:solidFill>
                <a:effectLst>
                  <a:glow rad="63500">
                    <a:srgbClr val="001633">
                      <a:alpha val="85000"/>
                    </a:srgbClr>
                  </a:glow>
                </a:effectLst>
                <a:latin typeface="Montserrat"/>
              </a:rPr>
              <a:t>Industria</a:t>
            </a:r>
          </a:p>
        </p:txBody>
      </p:sp>
      <p:sp>
        <p:nvSpPr>
          <p:cNvPr id="16" name="TextBox 15"/>
          <p:cNvSpPr txBox="1"/>
          <p:nvPr/>
        </p:nvSpPr>
        <p:spPr>
          <a:xfrm>
            <a:off x="375589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soluciones existen hoy en minería?</a:t>
            </a:r>
          </a:p>
        </p:txBody>
      </p:sp>
      <p:cxnSp>
        <p:nvCxnSpPr>
          <p:cNvPr id="17" name="Raya capítulo"/>
          <p:cNvCxnSpPr/>
          <p:nvPr/>
        </p:nvCxnSpPr>
        <p:spPr>
          <a:xfrm>
            <a:off x="375589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5589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cadena minera, seis procesos y el software del mercado</a:t>
            </a:r>
          </a:p>
        </p:txBody>
      </p:sp>
      <p:pic>
        <p:nvPicPr>
          <p:cNvPr id="19" name="Capítulo III imagen" descr="nivel1-plano-bomba.png"/>
          <p:cNvPicPr>
            <a:picLocks noChangeAspect="1"/>
          </p:cNvPicPr>
          <p:nvPr/>
        </p:nvPicPr>
        <p:blipFill>
          <a:blip r:embed="rId5"/>
          <a:srcRect l="11750" r="11750"/>
          <a:stretch>
            <a:fillRect/>
          </a:stretch>
        </p:blipFill>
        <p:spPr>
          <a:xfrm>
            <a:off x="6259068" y="1783079"/>
            <a:ext cx="2274570" cy="1920240"/>
          </a:xfrm>
          <a:prstGeom prst="rect">
            <a:avLst/>
          </a:prstGeom>
        </p:spPr>
      </p:pic>
      <p:cxnSp>
        <p:nvCxnSpPr>
          <p:cNvPr id="20" name="Guía capítulo"/>
          <p:cNvCxnSpPr/>
          <p:nvPr/>
        </p:nvCxnSpPr>
        <p:spPr>
          <a:xfrm>
            <a:off x="739635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1" name="Hito III"/>
          <p:cNvSpPr/>
          <p:nvPr/>
        </p:nvSpPr>
        <p:spPr>
          <a:xfrm>
            <a:off x="731405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5906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III </a:t>
            </a:r>
            <a:r>
              <a:rPr sz="1800" b="1" i="0">
                <a:solidFill>
                  <a:srgbClr val="FFFFFF"/>
                </a:solidFill>
                <a:effectLst>
                  <a:glow rad="63500">
                    <a:srgbClr val="001633">
                      <a:alpha val="85000"/>
                    </a:srgbClr>
                  </a:glow>
                </a:effectLst>
                <a:latin typeface="Montserrat"/>
              </a:rPr>
              <a:t>Construcción</a:t>
            </a:r>
          </a:p>
        </p:txBody>
      </p:sp>
      <p:sp>
        <p:nvSpPr>
          <p:cNvPr id="23" name="TextBox 22"/>
          <p:cNvSpPr txBox="1"/>
          <p:nvPr/>
        </p:nvSpPr>
        <p:spPr>
          <a:xfrm>
            <a:off x="625906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construye un gemelo y qué hay detrás del software?</a:t>
            </a:r>
          </a:p>
        </p:txBody>
      </p:sp>
      <p:cxnSp>
        <p:nvCxnSpPr>
          <p:cNvPr id="24" name="Raya capítulo"/>
          <p:cNvCxnSpPr/>
          <p:nvPr/>
        </p:nvCxnSpPr>
        <p:spPr>
          <a:xfrm>
            <a:off x="625906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5906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Modelamiento, integración multiproveedor, ejecución en edge y nube</a:t>
            </a:r>
          </a:p>
        </p:txBody>
      </p:sp>
      <p:pic>
        <p:nvPicPr>
          <p:cNvPr id="26" name="Capítulo IV imagen" descr="haer-filtro-discos-denver.jpg"/>
          <p:cNvPicPr>
            <a:picLocks noChangeAspect="1"/>
          </p:cNvPicPr>
          <p:nvPr/>
        </p:nvPicPr>
        <p:blipFill>
          <a:blip r:embed="rId6">
            <a:duotone>
              <a:srgbClr val="001633"/>
              <a:srgbClr val="A9B8C9"/>
            </a:duotone>
          </a:blip>
          <a:srcRect l="12493" t="5000" r="12493" b="5000"/>
          <a:stretch>
            <a:fillRect/>
          </a:stretch>
        </p:blipFill>
        <p:spPr>
          <a:xfrm>
            <a:off x="8762238" y="1783079"/>
            <a:ext cx="2274570" cy="1920240"/>
          </a:xfrm>
          <a:prstGeom prst="rect">
            <a:avLst/>
          </a:prstGeom>
        </p:spPr>
      </p:pic>
      <p:cxnSp>
        <p:nvCxnSpPr>
          <p:cNvPr id="27" name="Guía capítulo"/>
          <p:cNvCxnSpPr/>
          <p:nvPr/>
        </p:nvCxnSpPr>
        <p:spPr>
          <a:xfrm>
            <a:off x="989952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8" name="Hito IV"/>
          <p:cNvSpPr/>
          <p:nvPr/>
        </p:nvSpPr>
        <p:spPr>
          <a:xfrm>
            <a:off x="981722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76223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IV </a:t>
            </a:r>
            <a:r>
              <a:rPr sz="1800" b="1" i="0">
                <a:solidFill>
                  <a:srgbClr val="FFFFFF"/>
                </a:solidFill>
                <a:effectLst>
                  <a:glow rad="63500">
                    <a:srgbClr val="001633">
                      <a:alpha val="85000"/>
                    </a:srgbClr>
                  </a:glow>
                </a:effectLst>
                <a:latin typeface="Montserrat"/>
              </a:rPr>
              <a:t>Caso práctico</a:t>
            </a:r>
          </a:p>
        </p:txBody>
      </p:sp>
      <p:sp>
        <p:nvSpPr>
          <p:cNvPr id="30" name="TextBox 29"/>
          <p:cNvSpPr txBox="1"/>
          <p:nvPr/>
        </p:nvSpPr>
        <p:spPr>
          <a:xfrm>
            <a:off x="876223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ve todo el curso en un solo equipo?</a:t>
            </a:r>
          </a:p>
        </p:txBody>
      </p:sp>
      <p:cxnSp>
        <p:nvCxnSpPr>
          <p:cNvPr id="31" name="Raya capítulo"/>
          <p:cNvCxnSpPr/>
          <p:nvPr/>
        </p:nvCxnSpPr>
        <p:spPr>
          <a:xfrm>
            <a:off x="876223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6223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Todo el curso aplicado a un filtro hiperbárico, de la física a la demo en vivo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capítulo II" descr="sala-control-fundicion-mufulira.jpg"/>
          <p:cNvPicPr>
            <a:picLocks noChangeAspect="1"/>
          </p:cNvPicPr>
          <p:nvPr/>
        </p:nvPicPr>
        <p:blipFill>
          <a:blip r:embed="rId3">
            <a:duotone>
              <a:srgbClr val="001633"/>
              <a:srgbClr val="A9B8C9"/>
            </a:duotone>
          </a:blip>
          <a:srcRect l="20192" r="20192"/>
          <a:stretch>
            <a:fillRect/>
          </a:stretch>
        </p:blipFill>
        <p:spPr>
          <a:xfrm>
            <a:off x="6035040" y="0"/>
            <a:ext cx="6156655" cy="6858000"/>
          </a:xfrm>
          <a:prstGeom prst="rect">
            <a:avLst/>
          </a:prstGeom>
        </p:spPr>
      </p:pic>
      <p:sp>
        <p:nvSpPr>
          <p:cNvPr id="3" name="Fundido imagen"/>
          <p:cNvSpPr/>
          <p:nvPr/>
        </p:nvSpPr>
        <p:spPr>
          <a:xfrm>
            <a:off x="5989320" y="0"/>
            <a:ext cx="2926080" cy="6858000"/>
          </a:xfrm>
          <a:prstGeom prst="rect">
            <a:avLst/>
          </a:prstGeom>
          <a:gradFill rotWithShape="1">
            <a:gsLst>
              <a:gs pos="0">
                <a:srgbClr val="001633">
                  <a:alpha val="100000"/>
                </a:srgbClr>
              </a:gs>
              <a:gs pos="100000">
                <a:srgbClr val="001633">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aya rótulo"/>
          <p:cNvSpPr/>
          <p:nvPr/>
        </p:nvSpPr>
        <p:spPr>
          <a:xfrm>
            <a:off x="1252728" y="12435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11430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CAPÍTULO II</a:t>
            </a:r>
          </a:p>
        </p:txBody>
      </p:sp>
      <p:sp>
        <p:nvSpPr>
          <p:cNvPr id="6" name="Nombre capítulo"/>
          <p:cNvSpPr txBox="1"/>
          <p:nvPr/>
        </p:nvSpPr>
        <p:spPr>
          <a:xfrm>
            <a:off x="1252728" y="1508760"/>
            <a:ext cx="5486400" cy="914400"/>
          </a:xfrm>
          <a:prstGeom prst="rect">
            <a:avLst/>
          </a:prstGeom>
          <a:noFill/>
        </p:spPr>
        <p:txBody>
          <a:bodyPr wrap="square" lIns="0" tIns="0" rIns="0" bIns="0" anchor="t">
            <a:spAutoFit/>
          </a:bodyPr>
          <a:lstStyle/>
          <a:p>
            <a:pPr algn="l">
              <a:spcAft>
                <a:spcPts val="600"/>
              </a:spcAft>
            </a:pPr>
            <a:r>
              <a:rPr sz="4400" b="1" i="0">
                <a:solidFill>
                  <a:srgbClr val="FFFFFF"/>
                </a:solidFill>
                <a:effectLst>
                  <a:glow rad="63500">
                    <a:srgbClr val="001633">
                      <a:alpha val="85000"/>
                    </a:srgbClr>
                  </a:glow>
                </a:effectLst>
                <a:latin typeface="Montserrat"/>
              </a:rPr>
              <a:t>Industria</a:t>
            </a:r>
          </a:p>
        </p:txBody>
      </p:sp>
      <p:sp>
        <p:nvSpPr>
          <p:cNvPr id="7" name="Pregunta capítulo"/>
          <p:cNvSpPr txBox="1"/>
          <p:nvPr/>
        </p:nvSpPr>
        <p:spPr>
          <a:xfrm>
            <a:off x="1252728" y="2423160"/>
            <a:ext cx="5120640" cy="731520"/>
          </a:xfrm>
          <a:prstGeom prst="rect">
            <a:avLst/>
          </a:prstGeom>
          <a:noFill/>
        </p:spPr>
        <p:txBody>
          <a:bodyPr wrap="square" lIns="0" tIns="0" rIns="0" bIns="0" anchor="t">
            <a:spAutoFit/>
          </a:bodyPr>
          <a:lstStyle/>
          <a:p>
            <a:pPr algn="l">
              <a:spcAft>
                <a:spcPts val="600"/>
              </a:spcAft>
            </a:pPr>
            <a:r>
              <a:rPr sz="1800" b="0" i="0">
                <a:solidFill>
                  <a:srgbClr val="A9B8C9"/>
                </a:solidFill>
                <a:effectLst>
                  <a:glow rad="63500">
                    <a:srgbClr val="001633">
                      <a:alpha val="85000"/>
                    </a:srgbClr>
                  </a:glow>
                </a:effectLst>
                <a:latin typeface="Montserrat"/>
              </a:rPr>
              <a:t>¿Qué soluciones existen hoy en minería?</a:t>
            </a:r>
          </a:p>
        </p:txBody>
      </p:sp>
      <p:cxnSp>
        <p:nvCxnSpPr>
          <p:cNvPr id="8" name="Raya temas"/>
          <p:cNvCxnSpPr/>
          <p:nvPr/>
        </p:nvCxnSpPr>
        <p:spPr>
          <a:xfrm>
            <a:off x="1252728" y="3337560"/>
            <a:ext cx="457200" cy="0"/>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52728" y="356616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01</a:t>
            </a:r>
          </a:p>
        </p:txBody>
      </p:sp>
      <p:sp>
        <p:nvSpPr>
          <p:cNvPr id="10" name="TextBox 9"/>
          <p:cNvSpPr txBox="1"/>
          <p:nvPr/>
        </p:nvSpPr>
        <p:spPr>
          <a:xfrm>
            <a:off x="1709928" y="356616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La cadena minera y sus gemelos</a:t>
            </a:r>
          </a:p>
        </p:txBody>
      </p:sp>
      <p:sp>
        <p:nvSpPr>
          <p:cNvPr id="11" name="TextBox 10"/>
          <p:cNvSpPr txBox="1"/>
          <p:nvPr/>
        </p:nvSpPr>
        <p:spPr>
          <a:xfrm>
            <a:off x="1252728" y="397764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02</a:t>
            </a:r>
          </a:p>
        </p:txBody>
      </p:sp>
      <p:sp>
        <p:nvSpPr>
          <p:cNvPr id="12" name="TextBox 11"/>
          <p:cNvSpPr txBox="1"/>
          <p:nvPr/>
        </p:nvSpPr>
        <p:spPr>
          <a:xfrm>
            <a:off x="1709928" y="397764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Tres familias de soluciones</a:t>
            </a:r>
          </a:p>
        </p:txBody>
      </p:sp>
      <p:sp>
        <p:nvSpPr>
          <p:cNvPr id="13" name="TextBox 12"/>
          <p:cNvSpPr txBox="1"/>
          <p:nvPr/>
        </p:nvSpPr>
        <p:spPr>
          <a:xfrm>
            <a:off x="1252728" y="438912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03</a:t>
            </a:r>
          </a:p>
        </p:txBody>
      </p:sp>
      <p:sp>
        <p:nvSpPr>
          <p:cNvPr id="14" name="TextBox 13"/>
          <p:cNvSpPr txBox="1"/>
          <p:nvPr/>
        </p:nvSpPr>
        <p:spPr>
          <a:xfrm>
            <a:off x="1709928" y="438912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Seis procesos, seis casos</a:t>
            </a:r>
          </a:p>
        </p:txBody>
      </p:sp>
      <p:sp>
        <p:nvSpPr>
          <p:cNvPr id="15" name="TextBox 14"/>
          <p:cNvSpPr txBox="1"/>
          <p:nvPr/>
        </p:nvSpPr>
        <p:spPr>
          <a:xfrm>
            <a:off x="1252728" y="480060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04</a:t>
            </a:r>
          </a:p>
        </p:txBody>
      </p:sp>
      <p:sp>
        <p:nvSpPr>
          <p:cNvPr id="16" name="TextBox 15"/>
          <p:cNvSpPr txBox="1"/>
          <p:nvPr/>
        </p:nvSpPr>
        <p:spPr>
          <a:xfrm>
            <a:off x="1709928" y="480060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El software del mercado y qué lleva por dentro</a:t>
            </a:r>
          </a:p>
        </p:txBody>
      </p:sp>
      <p:sp>
        <p:nvSpPr>
          <p:cNvPr id="17" name="Avance I"/>
          <p:cNvSpPr txBox="1"/>
          <p:nvPr/>
        </p:nvSpPr>
        <p:spPr>
          <a:xfrm>
            <a:off x="1252728"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 · Fundamentos</a:t>
            </a:r>
          </a:p>
        </p:txBody>
      </p:sp>
      <p:sp>
        <p:nvSpPr>
          <p:cNvPr id="18" name="Avance I pista"/>
          <p:cNvSpPr/>
          <p:nvPr/>
        </p:nvSpPr>
        <p:spPr>
          <a:xfrm>
            <a:off x="1252728"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Avance II"/>
          <p:cNvSpPr txBox="1"/>
          <p:nvPr/>
        </p:nvSpPr>
        <p:spPr>
          <a:xfrm>
            <a:off x="2633472" y="5742432"/>
            <a:ext cx="13258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II · Industria</a:t>
            </a:r>
          </a:p>
        </p:txBody>
      </p:sp>
      <p:sp>
        <p:nvSpPr>
          <p:cNvPr id="20" name="Avance II pista"/>
          <p:cNvSpPr/>
          <p:nvPr/>
        </p:nvSpPr>
        <p:spPr>
          <a:xfrm>
            <a:off x="2633472" y="5989320"/>
            <a:ext cx="13258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Avance III"/>
          <p:cNvSpPr txBox="1"/>
          <p:nvPr/>
        </p:nvSpPr>
        <p:spPr>
          <a:xfrm>
            <a:off x="4014216"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22" name="Avance III pista"/>
          <p:cNvSpPr/>
          <p:nvPr/>
        </p:nvSpPr>
        <p:spPr>
          <a:xfrm>
            <a:off x="4014216"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Avance IV"/>
          <p:cNvSpPr txBox="1"/>
          <p:nvPr/>
        </p:nvSpPr>
        <p:spPr>
          <a:xfrm>
            <a:off x="5394960"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24" name="Avance IV pista"/>
          <p:cNvSpPr/>
          <p:nvPr/>
        </p:nvSpPr>
        <p:spPr>
          <a:xfrm>
            <a:off x="5394960"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Hay gemelos en cada eslabón de la cadena, pero rara vez conectados entre sí</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LA CADENA MINERA</a:t>
            </a:r>
          </a:p>
        </p:txBody>
      </p:sp>
      <p:sp>
        <p:nvSpPr>
          <p:cNvPr id="6" name="TextBox 5"/>
          <p:cNvSpPr txBox="1"/>
          <p:nvPr/>
        </p:nvSpPr>
        <p:spPr>
          <a:xfrm>
            <a:off x="1252728" y="1828800"/>
            <a:ext cx="822960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Del yacimiento al puerto, cada proceso tiene sus propios gemelos, con distinto grado de conexión. Pocas faenas los unen en uno solo: ese es el nivel multisistema del cubo.</a:t>
            </a:r>
          </a:p>
        </p:txBody>
      </p:sp>
      <p:cxnSp>
        <p:nvCxnSpPr>
          <p:cNvPr id="7" name="Cadena"/>
          <p:cNvCxnSpPr/>
          <p:nvPr/>
        </p:nvCxnSpPr>
        <p:spPr>
          <a:xfrm>
            <a:off x="1252728" y="3685032"/>
            <a:ext cx="1001268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pic>
        <p:nvPicPr>
          <p:cNvPr id="8" name="rajo-escondida" descr="rajo-escondida.jpg"/>
          <p:cNvPicPr>
            <a:picLocks noChangeAspect="1"/>
          </p:cNvPicPr>
          <p:nvPr/>
        </p:nvPicPr>
        <p:blipFill>
          <a:blip r:embed="rId3">
            <a:duotone>
              <a:srgbClr val="001633"/>
              <a:srgbClr val="A9B8C9"/>
            </a:duotone>
          </a:blip>
          <a:srcRect l="7458" r="7458"/>
          <a:stretch>
            <a:fillRect/>
          </a:stretch>
        </p:blipFill>
        <p:spPr>
          <a:xfrm>
            <a:off x="1252728" y="2606040"/>
            <a:ext cx="1171575" cy="914400"/>
          </a:xfrm>
          <a:prstGeom prst="rect">
            <a:avLst/>
          </a:prstGeom>
        </p:spPr>
      </p:pic>
      <p:sp>
        <p:nvSpPr>
          <p:cNvPr id="9" name="Eslabón Geología y planificación"/>
          <p:cNvSpPr/>
          <p:nvPr/>
        </p:nvSpPr>
        <p:spPr>
          <a:xfrm>
            <a:off x="1765363" y="3611880"/>
            <a:ext cx="146304" cy="146304"/>
          </a:xfrm>
          <a:prstGeom prst="ellipse">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52728"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Geología y planificación</a:t>
            </a:r>
          </a:p>
        </p:txBody>
      </p:sp>
      <p:sp>
        <p:nvSpPr>
          <p:cNvPr id="11" name="TextBox 10"/>
          <p:cNvSpPr txBox="1"/>
          <p:nvPr/>
        </p:nvSpPr>
        <p:spPr>
          <a:xfrm>
            <a:off x="1252728"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modelo de bloques y plan</a:t>
            </a:r>
          </a:p>
        </p:txBody>
      </p:sp>
      <p:sp>
        <p:nvSpPr>
          <p:cNvPr id="12" name="TextBox 11"/>
          <p:cNvSpPr txBox="1"/>
          <p:nvPr/>
        </p:nvSpPr>
        <p:spPr>
          <a:xfrm>
            <a:off x="1252728"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Modelo</a:t>
            </a:r>
          </a:p>
        </p:txBody>
      </p:sp>
      <p:pic>
        <p:nvPicPr>
          <p:cNvPr id="13" name="tronadura-rajo-twin-creeks" descr="tronadura-rajo-twin-creeks.jpg"/>
          <p:cNvPicPr>
            <a:picLocks noChangeAspect="1"/>
          </p:cNvPicPr>
          <p:nvPr/>
        </p:nvPicPr>
        <p:blipFill>
          <a:blip r:embed="rId4">
            <a:duotone>
              <a:srgbClr val="001633"/>
              <a:srgbClr val="A9B8C9"/>
            </a:duotone>
          </a:blip>
          <a:srcRect l="1953" r="1953"/>
          <a:stretch>
            <a:fillRect/>
          </a:stretch>
        </p:blipFill>
        <p:spPr>
          <a:xfrm>
            <a:off x="2515743" y="2606040"/>
            <a:ext cx="1171575" cy="914400"/>
          </a:xfrm>
          <a:prstGeom prst="rect">
            <a:avLst/>
          </a:prstGeom>
        </p:spPr>
      </p:pic>
      <p:sp>
        <p:nvSpPr>
          <p:cNvPr id="14" name="Eslabón Perforación y tronadura"/>
          <p:cNvSpPr/>
          <p:nvPr/>
        </p:nvSpPr>
        <p:spPr>
          <a:xfrm>
            <a:off x="3028378" y="3611880"/>
            <a:ext cx="146304" cy="146304"/>
          </a:xfrm>
          <a:prstGeom prst="ellipse">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515743"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Perforación y tronadura</a:t>
            </a:r>
          </a:p>
        </p:txBody>
      </p:sp>
      <p:sp>
        <p:nvSpPr>
          <p:cNvPr id="16" name="TextBox 15"/>
          <p:cNvSpPr txBox="1"/>
          <p:nvPr/>
        </p:nvSpPr>
        <p:spPr>
          <a:xfrm>
            <a:off x="2515743"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diseño de mallas</a:t>
            </a:r>
          </a:p>
        </p:txBody>
      </p:sp>
      <p:sp>
        <p:nvSpPr>
          <p:cNvPr id="17" name="TextBox 16"/>
          <p:cNvSpPr txBox="1"/>
          <p:nvPr/>
        </p:nvSpPr>
        <p:spPr>
          <a:xfrm>
            <a:off x="2515743"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Modelo</a:t>
            </a:r>
          </a:p>
        </p:txBody>
      </p:sp>
      <p:pic>
        <p:nvPicPr>
          <p:cNvPr id="18" name="carguio-pala-cables-ph-4100" descr="carguio-pala-cables-ph-4100.jpg"/>
          <p:cNvPicPr>
            <a:picLocks noChangeAspect="1"/>
          </p:cNvPicPr>
          <p:nvPr/>
        </p:nvPicPr>
        <p:blipFill>
          <a:blip r:embed="rId5">
            <a:duotone>
              <a:srgbClr val="001633"/>
              <a:srgbClr val="A9B8C9"/>
            </a:duotone>
          </a:blip>
          <a:srcRect l="7158" r="7158"/>
          <a:stretch>
            <a:fillRect/>
          </a:stretch>
        </p:blipFill>
        <p:spPr>
          <a:xfrm>
            <a:off x="3778758" y="2606040"/>
            <a:ext cx="1171575" cy="914400"/>
          </a:xfrm>
          <a:prstGeom prst="rect">
            <a:avLst/>
          </a:prstGeom>
        </p:spPr>
      </p:pic>
      <p:sp>
        <p:nvSpPr>
          <p:cNvPr id="19" name="Eslabón Carguío y transporte"/>
          <p:cNvSpPr/>
          <p:nvPr/>
        </p:nvSpPr>
        <p:spPr>
          <a:xfrm>
            <a:off x="4291393" y="3611880"/>
            <a:ext cx="146304" cy="146304"/>
          </a:xfrm>
          <a:prstGeom prst="ellipse">
            <a:avLst/>
          </a:prstGeom>
          <a:solidFill>
            <a:srgbClr val="FFFFF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778758"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Carguío y transporte</a:t>
            </a:r>
          </a:p>
        </p:txBody>
      </p:sp>
      <p:sp>
        <p:nvSpPr>
          <p:cNvPr id="21" name="TextBox 20"/>
          <p:cNvSpPr txBox="1"/>
          <p:nvPr/>
        </p:nvSpPr>
        <p:spPr>
          <a:xfrm>
            <a:off x="3778758"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despacho y simulación de flota</a:t>
            </a:r>
          </a:p>
        </p:txBody>
      </p:sp>
      <p:sp>
        <p:nvSpPr>
          <p:cNvPr id="22" name="TextBox 21"/>
          <p:cNvSpPr txBox="1"/>
          <p:nvPr/>
        </p:nvSpPr>
        <p:spPr>
          <a:xfrm>
            <a:off x="3778758"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Sombra</a:t>
            </a:r>
          </a:p>
        </p:txBody>
      </p:sp>
      <p:pic>
        <p:nvPicPr>
          <p:cNvPr id="23" name="chancador-primario-brockman2" descr="chancador-primario-brockman2.jpg"/>
          <p:cNvPicPr>
            <a:picLocks noChangeAspect="1"/>
          </p:cNvPicPr>
          <p:nvPr/>
        </p:nvPicPr>
        <p:blipFill>
          <a:blip r:embed="rId6">
            <a:duotone>
              <a:srgbClr val="001633"/>
              <a:srgbClr val="A9B8C9"/>
            </a:duotone>
          </a:blip>
          <a:srcRect t="20732" b="20732"/>
          <a:stretch>
            <a:fillRect/>
          </a:stretch>
        </p:blipFill>
        <p:spPr>
          <a:xfrm>
            <a:off x="5041773" y="2606040"/>
            <a:ext cx="1171575" cy="914400"/>
          </a:xfrm>
          <a:prstGeom prst="rect">
            <a:avLst/>
          </a:prstGeom>
        </p:spPr>
      </p:pic>
      <p:sp>
        <p:nvSpPr>
          <p:cNvPr id="24" name="Eslabón Chancado y correas"/>
          <p:cNvSpPr/>
          <p:nvPr/>
        </p:nvSpPr>
        <p:spPr>
          <a:xfrm>
            <a:off x="5554408" y="3611880"/>
            <a:ext cx="146304" cy="146304"/>
          </a:xfrm>
          <a:prstGeom prst="ellipse">
            <a:avLst/>
          </a:prstGeom>
          <a:solidFill>
            <a:srgbClr val="FFFFF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041773"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Chancado y correas</a:t>
            </a:r>
          </a:p>
        </p:txBody>
      </p:sp>
      <p:sp>
        <p:nvSpPr>
          <p:cNvPr id="26" name="TextBox 25"/>
          <p:cNvSpPr txBox="1"/>
          <p:nvPr/>
        </p:nvSpPr>
        <p:spPr>
          <a:xfrm>
            <a:off x="5041773"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monitoreo de condición</a:t>
            </a:r>
          </a:p>
        </p:txBody>
      </p:sp>
      <p:sp>
        <p:nvSpPr>
          <p:cNvPr id="27" name="TextBox 26"/>
          <p:cNvSpPr txBox="1"/>
          <p:nvPr/>
        </p:nvSpPr>
        <p:spPr>
          <a:xfrm>
            <a:off x="5041773"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Sombra</a:t>
            </a:r>
          </a:p>
        </p:txBody>
      </p:sp>
      <p:pic>
        <p:nvPicPr>
          <p:cNvPr id="28" name="molino-bolas-planta" descr="molino-bolas-planta.jpg"/>
          <p:cNvPicPr>
            <a:picLocks noChangeAspect="1"/>
          </p:cNvPicPr>
          <p:nvPr/>
        </p:nvPicPr>
        <p:blipFill>
          <a:blip r:embed="rId7">
            <a:duotone>
              <a:srgbClr val="001633"/>
              <a:srgbClr val="A9B8C9"/>
            </a:duotone>
          </a:blip>
          <a:srcRect l="1953" r="1953"/>
          <a:stretch>
            <a:fillRect/>
          </a:stretch>
        </p:blipFill>
        <p:spPr>
          <a:xfrm>
            <a:off x="6304788" y="2606040"/>
            <a:ext cx="1171575" cy="914400"/>
          </a:xfrm>
          <a:prstGeom prst="rect">
            <a:avLst/>
          </a:prstGeom>
        </p:spPr>
      </p:pic>
      <p:sp>
        <p:nvSpPr>
          <p:cNvPr id="29" name="Eslabón Molienda"/>
          <p:cNvSpPr/>
          <p:nvPr/>
        </p:nvSpPr>
        <p:spPr>
          <a:xfrm>
            <a:off x="6817423" y="3611880"/>
            <a:ext cx="146304" cy="146304"/>
          </a:xfrm>
          <a:prstGeom prst="ellipse">
            <a:avLst/>
          </a:prstGeom>
          <a:solidFill>
            <a:srgbClr val="FFAB40"/>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304788"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Molienda</a:t>
            </a:r>
          </a:p>
        </p:txBody>
      </p:sp>
      <p:sp>
        <p:nvSpPr>
          <p:cNvPr id="31" name="TextBox 30"/>
          <p:cNvSpPr txBox="1"/>
          <p:nvPr/>
        </p:nvSpPr>
        <p:spPr>
          <a:xfrm>
            <a:off x="6304788"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control avanzado</a:t>
            </a:r>
          </a:p>
        </p:txBody>
      </p:sp>
      <p:sp>
        <p:nvSpPr>
          <p:cNvPr id="32" name="TextBox 31"/>
          <p:cNvSpPr txBox="1"/>
          <p:nvPr/>
        </p:nvSpPr>
        <p:spPr>
          <a:xfrm>
            <a:off x="6304788" y="4754880"/>
            <a:ext cx="1171575" cy="228600"/>
          </a:xfrm>
          <a:prstGeom prst="rect">
            <a:avLst/>
          </a:prstGeom>
          <a:noFill/>
        </p:spPr>
        <p:txBody>
          <a:bodyPr wrap="square" lIns="0" tIns="0" rIns="0" bIns="0" anchor="t">
            <a:spAutoFit/>
          </a:bodyPr>
          <a:lstStyle/>
          <a:p>
            <a:pPr algn="ctr">
              <a:spcAft>
                <a:spcPts val="600"/>
              </a:spcAft>
            </a:pPr>
            <a:r>
              <a:rPr sz="950" b="1" i="0">
                <a:solidFill>
                  <a:srgbClr val="FFAB40"/>
                </a:solidFill>
                <a:effectLst>
                  <a:glow rad="63500">
                    <a:srgbClr val="001633">
                      <a:alpha val="85000"/>
                    </a:srgbClr>
                  </a:glow>
                </a:effectLst>
                <a:latin typeface="Montserrat"/>
              </a:rPr>
              <a:t>Gemelo</a:t>
            </a:r>
          </a:p>
        </p:txBody>
      </p:sp>
      <p:pic>
        <p:nvPicPr>
          <p:cNvPr id="33" name="flotacion-celdas-delkor" descr="flotacion-celdas-delkor.jpg"/>
          <p:cNvPicPr>
            <a:picLocks noChangeAspect="1"/>
          </p:cNvPicPr>
          <p:nvPr/>
        </p:nvPicPr>
        <p:blipFill>
          <a:blip r:embed="rId8">
            <a:duotone>
              <a:srgbClr val="001633"/>
              <a:srgbClr val="A9B8C9"/>
            </a:duotone>
          </a:blip>
          <a:srcRect l="1953" r="1953"/>
          <a:stretch>
            <a:fillRect/>
          </a:stretch>
        </p:blipFill>
        <p:spPr>
          <a:xfrm>
            <a:off x="7567803" y="2606040"/>
            <a:ext cx="1171575" cy="914400"/>
          </a:xfrm>
          <a:prstGeom prst="rect">
            <a:avLst/>
          </a:prstGeom>
        </p:spPr>
      </p:pic>
      <p:sp>
        <p:nvSpPr>
          <p:cNvPr id="34" name="Eslabón Flotación"/>
          <p:cNvSpPr/>
          <p:nvPr/>
        </p:nvSpPr>
        <p:spPr>
          <a:xfrm>
            <a:off x="8080438" y="3611880"/>
            <a:ext cx="146304" cy="146304"/>
          </a:xfrm>
          <a:prstGeom prst="ellipse">
            <a:avLst/>
          </a:prstGeom>
          <a:solidFill>
            <a:srgbClr val="FFAB40"/>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567803"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Flotación</a:t>
            </a:r>
          </a:p>
        </p:txBody>
      </p:sp>
      <p:sp>
        <p:nvSpPr>
          <p:cNvPr id="36" name="TextBox 35"/>
          <p:cNvSpPr txBox="1"/>
          <p:nvPr/>
        </p:nvSpPr>
        <p:spPr>
          <a:xfrm>
            <a:off x="7567803"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control y recuperación</a:t>
            </a:r>
          </a:p>
        </p:txBody>
      </p:sp>
      <p:sp>
        <p:nvSpPr>
          <p:cNvPr id="37" name="TextBox 36"/>
          <p:cNvSpPr txBox="1"/>
          <p:nvPr/>
        </p:nvSpPr>
        <p:spPr>
          <a:xfrm>
            <a:off x="7567803" y="4754880"/>
            <a:ext cx="1171575" cy="228600"/>
          </a:xfrm>
          <a:prstGeom prst="rect">
            <a:avLst/>
          </a:prstGeom>
          <a:noFill/>
        </p:spPr>
        <p:txBody>
          <a:bodyPr wrap="square" lIns="0" tIns="0" rIns="0" bIns="0" anchor="t">
            <a:spAutoFit/>
          </a:bodyPr>
          <a:lstStyle/>
          <a:p>
            <a:pPr algn="ctr">
              <a:spcAft>
                <a:spcPts val="600"/>
              </a:spcAft>
            </a:pPr>
            <a:r>
              <a:rPr sz="950" b="1" i="0">
                <a:solidFill>
                  <a:srgbClr val="FFAB40"/>
                </a:solidFill>
                <a:effectLst>
                  <a:glow rad="63500">
                    <a:srgbClr val="001633">
                      <a:alpha val="85000"/>
                    </a:srgbClr>
                  </a:glow>
                </a:effectLst>
                <a:latin typeface="Montserrat"/>
              </a:rPr>
              <a:t>Gemelo</a:t>
            </a:r>
          </a:p>
        </p:txBody>
      </p:sp>
      <p:pic>
        <p:nvPicPr>
          <p:cNvPr id="38" name="espesadores-relaves-bluewater" descr="espesadores-relaves-bluewater.jpg"/>
          <p:cNvPicPr>
            <a:picLocks noChangeAspect="1"/>
          </p:cNvPicPr>
          <p:nvPr/>
        </p:nvPicPr>
        <p:blipFill>
          <a:blip r:embed="rId9">
            <a:duotone>
              <a:srgbClr val="001633"/>
              <a:srgbClr val="A9B8C9"/>
            </a:duotone>
          </a:blip>
          <a:srcRect t="2215" b="2215"/>
          <a:stretch>
            <a:fillRect/>
          </a:stretch>
        </p:blipFill>
        <p:spPr>
          <a:xfrm>
            <a:off x="8830818" y="2606040"/>
            <a:ext cx="1171575" cy="914400"/>
          </a:xfrm>
          <a:prstGeom prst="rect">
            <a:avLst/>
          </a:prstGeom>
        </p:spPr>
      </p:pic>
      <p:sp>
        <p:nvSpPr>
          <p:cNvPr id="39" name="Eslabón Espesamiento y relaves"/>
          <p:cNvSpPr/>
          <p:nvPr/>
        </p:nvSpPr>
        <p:spPr>
          <a:xfrm>
            <a:off x="9343453" y="3611880"/>
            <a:ext cx="146304" cy="146304"/>
          </a:xfrm>
          <a:prstGeom prst="ellipse">
            <a:avLst/>
          </a:prstGeom>
          <a:solidFill>
            <a:srgbClr val="FFFFF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830818"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Espesamiento y relaves</a:t>
            </a:r>
          </a:p>
        </p:txBody>
      </p:sp>
      <p:sp>
        <p:nvSpPr>
          <p:cNvPr id="41" name="TextBox 40"/>
          <p:cNvSpPr txBox="1"/>
          <p:nvPr/>
        </p:nvSpPr>
        <p:spPr>
          <a:xfrm>
            <a:off x="8830818"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agua y estabilidad</a:t>
            </a:r>
          </a:p>
        </p:txBody>
      </p:sp>
      <p:sp>
        <p:nvSpPr>
          <p:cNvPr id="42" name="TextBox 41"/>
          <p:cNvSpPr txBox="1"/>
          <p:nvPr/>
        </p:nvSpPr>
        <p:spPr>
          <a:xfrm>
            <a:off x="8830818"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Sombra</a:t>
            </a:r>
          </a:p>
        </p:txBody>
      </p:sp>
      <p:pic>
        <p:nvPicPr>
          <p:cNvPr id="43" name="puerto-cargador-barcos-pilbara" descr="puerto-cargador-barcos-pilbara.jpg"/>
          <p:cNvPicPr>
            <a:picLocks noChangeAspect="1"/>
          </p:cNvPicPr>
          <p:nvPr/>
        </p:nvPicPr>
        <p:blipFill>
          <a:blip r:embed="rId10">
            <a:duotone>
              <a:srgbClr val="001633"/>
              <a:srgbClr val="A9B8C9"/>
            </a:duotone>
          </a:blip>
          <a:srcRect l="4589" r="4589"/>
          <a:stretch>
            <a:fillRect/>
          </a:stretch>
        </p:blipFill>
        <p:spPr>
          <a:xfrm>
            <a:off x="10093833" y="2606040"/>
            <a:ext cx="1171575" cy="914400"/>
          </a:xfrm>
          <a:prstGeom prst="rect">
            <a:avLst/>
          </a:prstGeom>
        </p:spPr>
      </p:pic>
      <p:sp>
        <p:nvSpPr>
          <p:cNvPr id="44" name="Eslabón Puerto"/>
          <p:cNvSpPr/>
          <p:nvPr/>
        </p:nvSpPr>
        <p:spPr>
          <a:xfrm>
            <a:off x="10606468" y="3611880"/>
            <a:ext cx="146304" cy="146304"/>
          </a:xfrm>
          <a:prstGeom prst="ellipse">
            <a:avLst/>
          </a:prstGeom>
          <a:solidFill>
            <a:srgbClr val="FFFFF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0093833" y="3867912"/>
            <a:ext cx="1171575" cy="457200"/>
          </a:xfrm>
          <a:prstGeom prst="rect">
            <a:avLst/>
          </a:prstGeom>
          <a:noFill/>
        </p:spPr>
        <p:txBody>
          <a:bodyPr wrap="square" lIns="0" tIns="0" rIns="0" bIns="0" anchor="t">
            <a:spAutoFit/>
          </a:bodyPr>
          <a:lstStyle/>
          <a:p>
            <a:pPr algn="ctr">
              <a:spcAft>
                <a:spcPts val="600"/>
              </a:spcAft>
            </a:pPr>
            <a:r>
              <a:rPr sz="1000" b="1" i="0">
                <a:solidFill>
                  <a:srgbClr val="FFFFFF"/>
                </a:solidFill>
                <a:effectLst>
                  <a:glow rad="63500">
                    <a:srgbClr val="001633">
                      <a:alpha val="85000"/>
                    </a:srgbClr>
                  </a:glow>
                </a:effectLst>
                <a:latin typeface="Montserrat"/>
              </a:rPr>
              <a:t>Puerto</a:t>
            </a:r>
          </a:p>
        </p:txBody>
      </p:sp>
      <p:sp>
        <p:nvSpPr>
          <p:cNvPr id="46" name="TextBox 45"/>
          <p:cNvSpPr txBox="1"/>
          <p:nvPr/>
        </p:nvSpPr>
        <p:spPr>
          <a:xfrm>
            <a:off x="10093833" y="4343400"/>
            <a:ext cx="1171575" cy="41148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acopio y embarque</a:t>
            </a:r>
          </a:p>
        </p:txBody>
      </p:sp>
      <p:sp>
        <p:nvSpPr>
          <p:cNvPr id="47" name="TextBox 46"/>
          <p:cNvSpPr txBox="1"/>
          <p:nvPr/>
        </p:nvSpPr>
        <p:spPr>
          <a:xfrm>
            <a:off x="10093833" y="4754880"/>
            <a:ext cx="1171575" cy="228600"/>
          </a:xfrm>
          <a:prstGeom prst="rect">
            <a:avLst/>
          </a:prstGeom>
          <a:noFill/>
        </p:spPr>
        <p:txBody>
          <a:bodyPr wrap="square" lIns="0" tIns="0" rIns="0" bIns="0" anchor="t">
            <a:spAutoFit/>
          </a:bodyPr>
          <a:lstStyle/>
          <a:p>
            <a:pPr algn="ctr">
              <a:spcAft>
                <a:spcPts val="600"/>
              </a:spcAft>
            </a:pPr>
            <a:r>
              <a:rPr sz="950" b="1" i="0">
                <a:solidFill>
                  <a:srgbClr val="FFFFFF"/>
                </a:solidFill>
                <a:effectLst>
                  <a:glow rad="63500">
                    <a:srgbClr val="001633">
                      <a:alpha val="85000"/>
                    </a:srgbClr>
                  </a:glow>
                </a:effectLst>
                <a:latin typeface="Montserrat"/>
              </a:rPr>
              <a:t>Sombra</a:t>
            </a:r>
          </a:p>
        </p:txBody>
      </p:sp>
      <p:sp>
        <p:nvSpPr>
          <p:cNvPr id="48" name="Leyenda Modelo"/>
          <p:cNvSpPr/>
          <p:nvPr/>
        </p:nvSpPr>
        <p:spPr>
          <a:xfrm>
            <a:off x="1252728" y="5330952"/>
            <a:ext cx="146304" cy="146304"/>
          </a:xfrm>
          <a:prstGeom prst="ellipse">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472184" y="5276088"/>
            <a:ext cx="9144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Modelo</a:t>
            </a:r>
          </a:p>
        </p:txBody>
      </p:sp>
      <p:sp>
        <p:nvSpPr>
          <p:cNvPr id="50" name="Leyenda Sombra"/>
          <p:cNvSpPr/>
          <p:nvPr/>
        </p:nvSpPr>
        <p:spPr>
          <a:xfrm>
            <a:off x="2441448" y="5330952"/>
            <a:ext cx="146304" cy="146304"/>
          </a:xfrm>
          <a:prstGeom prst="ellipse">
            <a:avLst/>
          </a:prstGeom>
          <a:solidFill>
            <a:srgbClr val="FFFFF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2660904" y="5276088"/>
            <a:ext cx="9144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Sombra</a:t>
            </a:r>
          </a:p>
        </p:txBody>
      </p:sp>
      <p:sp>
        <p:nvSpPr>
          <p:cNvPr id="52" name="Leyenda Gemelo"/>
          <p:cNvSpPr/>
          <p:nvPr/>
        </p:nvSpPr>
        <p:spPr>
          <a:xfrm>
            <a:off x="3630168" y="5330952"/>
            <a:ext cx="146304" cy="146304"/>
          </a:xfrm>
          <a:prstGeom prst="ellipse">
            <a:avLst/>
          </a:prstGeom>
          <a:solidFill>
            <a:srgbClr val="FFAB40"/>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3849624" y="5276088"/>
            <a:ext cx="9144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Gemelo</a:t>
            </a:r>
          </a:p>
        </p:txBody>
      </p:sp>
      <p:sp>
        <p:nvSpPr>
          <p:cNvPr id="54" name="TextBox 53"/>
          <p:cNvSpPr txBox="1"/>
          <p:nvPr/>
        </p:nvSpPr>
        <p:spPr>
          <a:xfrm>
            <a:off x="4910328" y="5276088"/>
            <a:ext cx="6355080" cy="256032"/>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grado típico de los gemelos que hoy se ven en cada eslabón</a:t>
            </a:r>
          </a:p>
        </p:txBody>
      </p:sp>
      <p:sp>
        <p:nvSpPr>
          <p:cNvPr id="5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Eslabones y grado típico: lectura propia a partir de los casos del curso · imágenes: Wikimedia Commons (autores en las notas)</a:t>
            </a:r>
          </a:p>
        </p:txBody>
      </p:sp>
      <p:sp>
        <p:nvSpPr>
          <p:cNvPr id="5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6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 actual"/>
          <p:cNvSpPr/>
          <p:nvPr/>
        </p:nvSpPr>
        <p:spPr>
          <a:xfrm>
            <a:off x="3127248" y="6510528"/>
            <a:ext cx="990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6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1/18 </a:t>
            </a:r>
            <a:r>
              <a:rPr sz="1000" b="0" i="0">
                <a:solidFill>
                  <a:srgbClr val="A9B8C9"/>
                </a:solidFill>
                <a:effectLst>
                  <a:glow rad="63500">
                    <a:srgbClr val="001633">
                      <a:alpha val="85000"/>
                    </a:srgbClr>
                  </a:glow>
                </a:effectLst>
                <a:latin typeface="Montserrat"/>
              </a:rPr>
              <a:t>· Gemelos Digitales para Minería 4.0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Cinco capas tecnológicas sostienen un gemelo, y la integración es la que más cuesta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ARQUITECTURA</a:t>
            </a:r>
          </a:p>
        </p:txBody>
      </p:sp>
      <p:sp>
        <p:nvSpPr>
          <p:cNvPr id="6" name="TextBox 5"/>
          <p:cNvSpPr txBox="1"/>
          <p:nvPr/>
        </p:nvSpPr>
        <p:spPr>
          <a:xfrm>
            <a:off x="1252728" y="1801367"/>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Los datos suben desde los equipos hasta las aplicaciones, y las decisiones bajan por el mismo camino. En minería, el cuello de botella suele estar en conectar e integrar, no en el modelo.</a:t>
            </a:r>
          </a:p>
        </p:txBody>
      </p:sp>
      <p:sp>
        <p:nvSpPr>
          <p:cNvPr id="7" name="Capa Aplicaciones"/>
          <p:cNvSpPr/>
          <p:nvPr/>
        </p:nvSpPr>
        <p:spPr>
          <a:xfrm>
            <a:off x="1252728" y="2606040"/>
            <a:ext cx="800100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89888" y="2606040"/>
            <a:ext cx="320040" cy="548640"/>
          </a:xfrm>
          <a:prstGeom prst="rect">
            <a:avLst/>
          </a:prstGeom>
          <a:noFill/>
        </p:spPr>
        <p:txBody>
          <a:bodyPr wrap="square" lIns="0" tIns="0" rIns="0" bIns="0" anchor="ctr">
            <a:spAutoFit/>
          </a:bodyPr>
          <a:lstStyle/>
          <a:p>
            <a:pPr algn="l">
              <a:spcAft>
                <a:spcPts val="600"/>
              </a:spcAft>
            </a:pPr>
            <a:r>
              <a:rPr sz="2000" b="1" i="0">
                <a:solidFill>
                  <a:srgbClr val="A9B8C9"/>
                </a:solidFill>
                <a:effectLst>
                  <a:glow rad="63500">
                    <a:srgbClr val="001633">
                      <a:alpha val="85000"/>
                    </a:srgbClr>
                  </a:glow>
                </a:effectLst>
                <a:latin typeface="Montserrat"/>
              </a:rPr>
              <a:t>5</a:t>
            </a:r>
          </a:p>
        </p:txBody>
      </p:sp>
      <p:sp>
        <p:nvSpPr>
          <p:cNvPr id="9" name="TextBox 8"/>
          <p:cNvSpPr txBox="1"/>
          <p:nvPr/>
        </p:nvSpPr>
        <p:spPr>
          <a:xfrm>
            <a:off x="1709928" y="2606040"/>
            <a:ext cx="187452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Aplicaciones</a:t>
            </a:r>
          </a:p>
          <a:p>
            <a:pPr algn="l">
              <a:spcAft>
                <a:spcPts val="0"/>
              </a:spcAft>
            </a:pPr>
            <a:r>
              <a:rPr sz="850" b="0" i="0">
                <a:solidFill>
                  <a:srgbClr val="A9B8C9"/>
                </a:solidFill>
                <a:effectLst>
                  <a:glow rad="63500">
                    <a:srgbClr val="001633">
                      <a:alpha val="85000"/>
                    </a:srgbClr>
                  </a:glow>
                </a:effectLst>
                <a:latin typeface="Montserrat"/>
              </a:rPr>
              <a:t>lo que usa la persona</a:t>
            </a:r>
          </a:p>
        </p:txBody>
      </p:sp>
      <p:sp>
        <p:nvSpPr>
          <p:cNvPr id="10" name="Tecnología Tableros"/>
          <p:cNvSpPr/>
          <p:nvPr/>
        </p:nvSpPr>
        <p:spPr>
          <a:xfrm>
            <a:off x="3584448" y="2743200"/>
            <a:ext cx="7571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84448" y="2743200"/>
            <a:ext cx="7571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Tableros</a:t>
            </a:r>
          </a:p>
        </p:txBody>
      </p:sp>
      <p:sp>
        <p:nvSpPr>
          <p:cNvPr id="12" name="Tecnología Recomendaciones"/>
          <p:cNvSpPr/>
          <p:nvPr/>
        </p:nvSpPr>
        <p:spPr>
          <a:xfrm>
            <a:off x="4414720" y="2743200"/>
            <a:ext cx="11795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414720" y="2743200"/>
            <a:ext cx="11795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Recomendaciones</a:t>
            </a:r>
          </a:p>
        </p:txBody>
      </p:sp>
      <p:sp>
        <p:nvSpPr>
          <p:cNvPr id="14" name="Tecnología Control avanzado"/>
          <p:cNvSpPr/>
          <p:nvPr/>
        </p:nvSpPr>
        <p:spPr>
          <a:xfrm>
            <a:off x="5667442" y="2743200"/>
            <a:ext cx="12399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7442" y="2743200"/>
            <a:ext cx="12399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Control avanzado</a:t>
            </a:r>
          </a:p>
        </p:txBody>
      </p:sp>
      <p:sp>
        <p:nvSpPr>
          <p:cNvPr id="16" name="Tecnología Planificación"/>
          <p:cNvSpPr/>
          <p:nvPr/>
        </p:nvSpPr>
        <p:spPr>
          <a:xfrm>
            <a:off x="6980514" y="2743200"/>
            <a:ext cx="10588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980514" y="2743200"/>
            <a:ext cx="10588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Planificación</a:t>
            </a:r>
          </a:p>
        </p:txBody>
      </p:sp>
      <p:sp>
        <p:nvSpPr>
          <p:cNvPr id="18" name="Capa Infraestructura"/>
          <p:cNvSpPr/>
          <p:nvPr/>
        </p:nvSpPr>
        <p:spPr>
          <a:xfrm>
            <a:off x="1252728" y="3227832"/>
            <a:ext cx="800100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89888" y="3227832"/>
            <a:ext cx="320040" cy="548640"/>
          </a:xfrm>
          <a:prstGeom prst="rect">
            <a:avLst/>
          </a:prstGeom>
          <a:noFill/>
        </p:spPr>
        <p:txBody>
          <a:bodyPr wrap="square" lIns="0" tIns="0" rIns="0" bIns="0" anchor="ctr">
            <a:spAutoFit/>
          </a:bodyPr>
          <a:lstStyle/>
          <a:p>
            <a:pPr algn="l">
              <a:spcAft>
                <a:spcPts val="600"/>
              </a:spcAft>
            </a:pPr>
            <a:r>
              <a:rPr sz="2000" b="1" i="0">
                <a:solidFill>
                  <a:srgbClr val="A9B8C9"/>
                </a:solidFill>
                <a:effectLst>
                  <a:glow rad="63500">
                    <a:srgbClr val="001633">
                      <a:alpha val="85000"/>
                    </a:srgbClr>
                  </a:glow>
                </a:effectLst>
                <a:latin typeface="Montserrat"/>
              </a:rPr>
              <a:t>4</a:t>
            </a:r>
          </a:p>
        </p:txBody>
      </p:sp>
      <p:sp>
        <p:nvSpPr>
          <p:cNvPr id="20" name="TextBox 19"/>
          <p:cNvSpPr txBox="1"/>
          <p:nvPr/>
        </p:nvSpPr>
        <p:spPr>
          <a:xfrm>
            <a:off x="1709928" y="3227832"/>
            <a:ext cx="187452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Infraestructura</a:t>
            </a:r>
          </a:p>
          <a:p>
            <a:pPr algn="l">
              <a:spcAft>
                <a:spcPts val="0"/>
              </a:spcAft>
            </a:pPr>
            <a:r>
              <a:rPr sz="850" b="0" i="0">
                <a:solidFill>
                  <a:srgbClr val="A9B8C9"/>
                </a:solidFill>
                <a:effectLst>
                  <a:glow rad="63500">
                    <a:srgbClr val="001633">
                      <a:alpha val="85000"/>
                    </a:srgbClr>
                  </a:glow>
                </a:effectLst>
                <a:latin typeface="Montserrat"/>
              </a:rPr>
              <a:t>dónde corre</a:t>
            </a:r>
          </a:p>
        </p:txBody>
      </p:sp>
      <p:sp>
        <p:nvSpPr>
          <p:cNvPr id="21" name="Tecnología Servidor en faena (edge)"/>
          <p:cNvSpPr/>
          <p:nvPr/>
        </p:nvSpPr>
        <p:spPr>
          <a:xfrm>
            <a:off x="3584448" y="3364992"/>
            <a:ext cx="17227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584448" y="3364992"/>
            <a:ext cx="17227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Servidor en faena (edge)</a:t>
            </a:r>
          </a:p>
        </p:txBody>
      </p:sp>
      <p:sp>
        <p:nvSpPr>
          <p:cNvPr id="23" name="Tecnología Nube"/>
          <p:cNvSpPr/>
          <p:nvPr/>
        </p:nvSpPr>
        <p:spPr>
          <a:xfrm>
            <a:off x="5380320" y="3364992"/>
            <a:ext cx="5157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380320" y="3364992"/>
            <a:ext cx="5157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Nube</a:t>
            </a:r>
          </a:p>
        </p:txBody>
      </p:sp>
      <p:sp>
        <p:nvSpPr>
          <p:cNvPr id="25" name="Tecnología Red industrial y LTE privada"/>
          <p:cNvSpPr/>
          <p:nvPr/>
        </p:nvSpPr>
        <p:spPr>
          <a:xfrm>
            <a:off x="5969192" y="3364992"/>
            <a:ext cx="19641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69192" y="3364992"/>
            <a:ext cx="19641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Red industrial y LTE privada</a:t>
            </a:r>
          </a:p>
        </p:txBody>
      </p:sp>
      <p:sp>
        <p:nvSpPr>
          <p:cNvPr id="27" name="Capa Modelamiento"/>
          <p:cNvSpPr/>
          <p:nvPr/>
        </p:nvSpPr>
        <p:spPr>
          <a:xfrm>
            <a:off x="1252728" y="3849624"/>
            <a:ext cx="800100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389888" y="3849624"/>
            <a:ext cx="320040" cy="548640"/>
          </a:xfrm>
          <a:prstGeom prst="rect">
            <a:avLst/>
          </a:prstGeom>
          <a:noFill/>
        </p:spPr>
        <p:txBody>
          <a:bodyPr wrap="square" lIns="0" tIns="0" rIns="0" bIns="0" anchor="ctr">
            <a:spAutoFit/>
          </a:bodyPr>
          <a:lstStyle/>
          <a:p>
            <a:pPr algn="l">
              <a:spcAft>
                <a:spcPts val="600"/>
              </a:spcAft>
            </a:pPr>
            <a:r>
              <a:rPr sz="2000" b="1" i="0">
                <a:solidFill>
                  <a:srgbClr val="A9B8C9"/>
                </a:solidFill>
                <a:effectLst>
                  <a:glow rad="63500">
                    <a:srgbClr val="001633">
                      <a:alpha val="85000"/>
                    </a:srgbClr>
                  </a:glow>
                </a:effectLst>
                <a:latin typeface="Montserrat"/>
              </a:rPr>
              <a:t>3</a:t>
            </a:r>
          </a:p>
        </p:txBody>
      </p:sp>
      <p:sp>
        <p:nvSpPr>
          <p:cNvPr id="29" name="TextBox 28"/>
          <p:cNvSpPr txBox="1"/>
          <p:nvPr/>
        </p:nvSpPr>
        <p:spPr>
          <a:xfrm>
            <a:off x="1709928" y="3849624"/>
            <a:ext cx="187452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Modelamiento</a:t>
            </a:r>
          </a:p>
          <a:p>
            <a:pPr algn="l">
              <a:spcAft>
                <a:spcPts val="0"/>
              </a:spcAft>
            </a:pPr>
            <a:r>
              <a:rPr sz="850" b="0" i="0">
                <a:solidFill>
                  <a:srgbClr val="A9B8C9"/>
                </a:solidFill>
                <a:effectLst>
                  <a:glow rad="63500">
                    <a:srgbClr val="001633">
                      <a:alpha val="85000"/>
                    </a:srgbClr>
                  </a:glow>
                </a:effectLst>
                <a:latin typeface="Montserrat"/>
              </a:rPr>
              <a:t>el gemelo propiamente tal</a:t>
            </a:r>
          </a:p>
        </p:txBody>
      </p:sp>
      <p:sp>
        <p:nvSpPr>
          <p:cNvPr id="30" name="Tecnología Físicos (Modelica, FMU)"/>
          <p:cNvSpPr/>
          <p:nvPr/>
        </p:nvSpPr>
        <p:spPr>
          <a:xfrm>
            <a:off x="3584448" y="3986784"/>
            <a:ext cx="16623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3584448" y="3986784"/>
            <a:ext cx="16623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Físicos (Modelica, FMU)</a:t>
            </a:r>
          </a:p>
        </p:txBody>
      </p:sp>
      <p:sp>
        <p:nvSpPr>
          <p:cNvPr id="32" name="Tecnología De datos (ML)"/>
          <p:cNvSpPr/>
          <p:nvPr/>
        </p:nvSpPr>
        <p:spPr>
          <a:xfrm>
            <a:off x="5319970" y="3986784"/>
            <a:ext cx="10588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319970" y="3986784"/>
            <a:ext cx="10588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De datos (ML)</a:t>
            </a:r>
          </a:p>
        </p:txBody>
      </p:sp>
      <p:sp>
        <p:nvSpPr>
          <p:cNvPr id="34" name="Tecnología 3D"/>
          <p:cNvSpPr/>
          <p:nvPr/>
        </p:nvSpPr>
        <p:spPr>
          <a:xfrm>
            <a:off x="6451992" y="3986784"/>
            <a:ext cx="3950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51992" y="3986784"/>
            <a:ext cx="3950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3D</a:t>
            </a:r>
          </a:p>
        </p:txBody>
      </p:sp>
      <p:sp>
        <p:nvSpPr>
          <p:cNvPr id="36" name="Capa Integración"/>
          <p:cNvSpPr/>
          <p:nvPr/>
        </p:nvSpPr>
        <p:spPr>
          <a:xfrm>
            <a:off x="1252728" y="4471416"/>
            <a:ext cx="8001000" cy="548640"/>
          </a:xfrm>
          <a:prstGeom prst="rect">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89888" y="4471416"/>
            <a:ext cx="320040" cy="548640"/>
          </a:xfrm>
          <a:prstGeom prst="rect">
            <a:avLst/>
          </a:prstGeom>
          <a:noFill/>
        </p:spPr>
        <p:txBody>
          <a:bodyPr wrap="square" lIns="0" tIns="0" rIns="0" bIns="0" anchor="ctr">
            <a:spAutoFit/>
          </a:bodyPr>
          <a:lstStyle/>
          <a:p>
            <a:pPr algn="l">
              <a:spcAft>
                <a:spcPts val="600"/>
              </a:spcAft>
            </a:pPr>
            <a:r>
              <a:rPr sz="2000" b="1" i="0">
                <a:solidFill>
                  <a:srgbClr val="FFAB40"/>
                </a:solidFill>
                <a:effectLst>
                  <a:glow rad="63500">
                    <a:srgbClr val="001633">
                      <a:alpha val="85000"/>
                    </a:srgbClr>
                  </a:glow>
                </a:effectLst>
                <a:latin typeface="Montserrat"/>
              </a:rPr>
              <a:t>2</a:t>
            </a:r>
          </a:p>
        </p:txBody>
      </p:sp>
      <p:sp>
        <p:nvSpPr>
          <p:cNvPr id="38" name="TextBox 37"/>
          <p:cNvSpPr txBox="1"/>
          <p:nvPr/>
        </p:nvSpPr>
        <p:spPr>
          <a:xfrm>
            <a:off x="1709928" y="4471416"/>
            <a:ext cx="1874520" cy="548640"/>
          </a:xfrm>
          <a:prstGeom prst="rect">
            <a:avLst/>
          </a:prstGeom>
          <a:noFill/>
        </p:spPr>
        <p:txBody>
          <a:bodyPr wrap="square" lIns="0" tIns="0" rIns="0" bIns="0" anchor="ctr">
            <a:spAutoFit/>
          </a:bodyPr>
          <a:lstStyle/>
          <a:p>
            <a:pPr algn="l">
              <a:spcAft>
                <a:spcPts val="0"/>
              </a:spcAft>
            </a:pPr>
            <a:r>
              <a:rPr sz="1200" b="1" i="0">
                <a:solidFill>
                  <a:srgbClr val="FFAB40"/>
                </a:solidFill>
                <a:effectLst>
                  <a:glow rad="63500">
                    <a:srgbClr val="001633">
                      <a:alpha val="85000"/>
                    </a:srgbClr>
                  </a:glow>
                </a:effectLst>
                <a:latin typeface="Montserrat"/>
              </a:rPr>
              <a:t>Integración</a:t>
            </a:r>
          </a:p>
          <a:p>
            <a:pPr algn="l">
              <a:spcAft>
                <a:spcPts val="0"/>
              </a:spcAft>
            </a:pPr>
            <a:r>
              <a:rPr sz="850" b="0" i="0">
                <a:solidFill>
                  <a:srgbClr val="A9B8C9"/>
                </a:solidFill>
                <a:effectLst>
                  <a:glow rad="63500">
                    <a:srgbClr val="001633">
                      <a:alpha val="85000"/>
                    </a:srgbClr>
                  </a:glow>
                </a:effectLst>
                <a:latin typeface="Montserrat"/>
              </a:rPr>
              <a:t>cómo se unen las piezas</a:t>
            </a:r>
          </a:p>
        </p:txBody>
      </p:sp>
      <p:sp>
        <p:nvSpPr>
          <p:cNvPr id="39" name="Tecnología OPC UA"/>
          <p:cNvSpPr/>
          <p:nvPr/>
        </p:nvSpPr>
        <p:spPr>
          <a:xfrm>
            <a:off x="3584448" y="4608576"/>
            <a:ext cx="636420" cy="27432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584448" y="4608576"/>
            <a:ext cx="6364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OPC UA</a:t>
            </a:r>
          </a:p>
        </p:txBody>
      </p:sp>
      <p:sp>
        <p:nvSpPr>
          <p:cNvPr id="41" name="Tecnología MQTT"/>
          <p:cNvSpPr/>
          <p:nvPr/>
        </p:nvSpPr>
        <p:spPr>
          <a:xfrm>
            <a:off x="4294020" y="4608576"/>
            <a:ext cx="515720" cy="27432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294020" y="4608576"/>
            <a:ext cx="5157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MQTT</a:t>
            </a:r>
          </a:p>
        </p:txBody>
      </p:sp>
      <p:sp>
        <p:nvSpPr>
          <p:cNvPr id="43" name="Tecnología Historian"/>
          <p:cNvSpPr/>
          <p:nvPr/>
        </p:nvSpPr>
        <p:spPr>
          <a:xfrm>
            <a:off x="4882892" y="4608576"/>
            <a:ext cx="817470" cy="27432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882892" y="4608576"/>
            <a:ext cx="8174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Historian</a:t>
            </a:r>
          </a:p>
        </p:txBody>
      </p:sp>
      <p:sp>
        <p:nvSpPr>
          <p:cNvPr id="45" name="Tecnología API con ERP"/>
          <p:cNvSpPr/>
          <p:nvPr/>
        </p:nvSpPr>
        <p:spPr>
          <a:xfrm>
            <a:off x="5773514" y="4608576"/>
            <a:ext cx="938170" cy="27432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5773514" y="4608576"/>
            <a:ext cx="9381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API con ERP</a:t>
            </a:r>
          </a:p>
        </p:txBody>
      </p:sp>
      <p:sp>
        <p:nvSpPr>
          <p:cNvPr id="47" name="Capa Fuentes de datos"/>
          <p:cNvSpPr/>
          <p:nvPr/>
        </p:nvSpPr>
        <p:spPr>
          <a:xfrm>
            <a:off x="1252728" y="5093208"/>
            <a:ext cx="800100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389888" y="5093208"/>
            <a:ext cx="320040" cy="548640"/>
          </a:xfrm>
          <a:prstGeom prst="rect">
            <a:avLst/>
          </a:prstGeom>
          <a:noFill/>
        </p:spPr>
        <p:txBody>
          <a:bodyPr wrap="square" lIns="0" tIns="0" rIns="0" bIns="0" anchor="ctr">
            <a:spAutoFit/>
          </a:bodyPr>
          <a:lstStyle/>
          <a:p>
            <a:pPr algn="l">
              <a:spcAft>
                <a:spcPts val="600"/>
              </a:spcAft>
            </a:pPr>
            <a:r>
              <a:rPr sz="2000" b="1" i="0">
                <a:solidFill>
                  <a:srgbClr val="A9B8C9"/>
                </a:solidFill>
                <a:effectLst>
                  <a:glow rad="63500">
                    <a:srgbClr val="001633">
                      <a:alpha val="85000"/>
                    </a:srgbClr>
                  </a:glow>
                </a:effectLst>
                <a:latin typeface="Montserrat"/>
              </a:rPr>
              <a:t>1</a:t>
            </a:r>
          </a:p>
        </p:txBody>
      </p:sp>
      <p:sp>
        <p:nvSpPr>
          <p:cNvPr id="49" name="TextBox 48"/>
          <p:cNvSpPr txBox="1"/>
          <p:nvPr/>
        </p:nvSpPr>
        <p:spPr>
          <a:xfrm>
            <a:off x="1709928" y="5093208"/>
            <a:ext cx="187452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Fuentes de datos</a:t>
            </a:r>
          </a:p>
          <a:p>
            <a:pPr algn="l">
              <a:spcAft>
                <a:spcPts val="0"/>
              </a:spcAft>
            </a:pPr>
            <a:r>
              <a:rPr sz="850" b="0" i="0">
                <a:solidFill>
                  <a:srgbClr val="A9B8C9"/>
                </a:solidFill>
                <a:effectLst>
                  <a:glow rad="63500">
                    <a:srgbClr val="001633">
                      <a:alpha val="85000"/>
                    </a:srgbClr>
                  </a:glow>
                </a:effectLst>
                <a:latin typeface="Montserrat"/>
              </a:rPr>
              <a:t>de dónde sale la información</a:t>
            </a:r>
          </a:p>
        </p:txBody>
      </p:sp>
      <p:sp>
        <p:nvSpPr>
          <p:cNvPr id="50" name="Tecnología PLC y DCS"/>
          <p:cNvSpPr/>
          <p:nvPr/>
        </p:nvSpPr>
        <p:spPr>
          <a:xfrm>
            <a:off x="3584448" y="5230368"/>
            <a:ext cx="8174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3584448" y="5230368"/>
            <a:ext cx="8174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PLC y DCS</a:t>
            </a:r>
          </a:p>
        </p:txBody>
      </p:sp>
      <p:sp>
        <p:nvSpPr>
          <p:cNvPr id="52" name="Tecnología SCADA"/>
          <p:cNvSpPr/>
          <p:nvPr/>
        </p:nvSpPr>
        <p:spPr>
          <a:xfrm>
            <a:off x="4475070" y="5230368"/>
            <a:ext cx="5760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4475070" y="5230368"/>
            <a:ext cx="5760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SCADA</a:t>
            </a:r>
          </a:p>
        </p:txBody>
      </p:sp>
      <p:sp>
        <p:nvSpPr>
          <p:cNvPr id="54" name="Tecnología Despacho de flota"/>
          <p:cNvSpPr/>
          <p:nvPr/>
        </p:nvSpPr>
        <p:spPr>
          <a:xfrm>
            <a:off x="5124292" y="5230368"/>
            <a:ext cx="13002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5124292" y="5230368"/>
            <a:ext cx="13002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Despacho de flota</a:t>
            </a:r>
          </a:p>
        </p:txBody>
      </p:sp>
      <p:sp>
        <p:nvSpPr>
          <p:cNvPr id="56" name="Tecnología Laboratorio"/>
          <p:cNvSpPr/>
          <p:nvPr/>
        </p:nvSpPr>
        <p:spPr>
          <a:xfrm>
            <a:off x="6497714" y="5230368"/>
            <a:ext cx="93817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497714" y="5230368"/>
            <a:ext cx="93817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Laboratorio</a:t>
            </a:r>
          </a:p>
        </p:txBody>
      </p:sp>
      <p:sp>
        <p:nvSpPr>
          <p:cNvPr id="58" name="Tecnología Sensores IoT"/>
          <p:cNvSpPr/>
          <p:nvPr/>
        </p:nvSpPr>
        <p:spPr>
          <a:xfrm>
            <a:off x="7509036" y="5230368"/>
            <a:ext cx="99852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7509036" y="5230368"/>
            <a:ext cx="998520" cy="2743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Sensores IoT</a:t>
            </a:r>
          </a:p>
        </p:txBody>
      </p:sp>
      <p:cxnSp>
        <p:nvCxnSpPr>
          <p:cNvPr id="60" name="Datos suben"/>
          <p:cNvCxnSpPr/>
          <p:nvPr/>
        </p:nvCxnSpPr>
        <p:spPr>
          <a:xfrm flipV="1">
            <a:off x="9756648" y="2697480"/>
            <a:ext cx="0" cy="2852928"/>
          </a:xfrm>
          <a:prstGeom prst="line">
            <a:avLst/>
          </a:prstGeom>
          <a:ln w="317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Decisiones bajan"/>
          <p:cNvCxnSpPr/>
          <p:nvPr/>
        </p:nvCxnSpPr>
        <p:spPr>
          <a:xfrm>
            <a:off x="10076688" y="2697480"/>
            <a:ext cx="0" cy="2852928"/>
          </a:xfrm>
          <a:prstGeom prst="line">
            <a:avLst/>
          </a:prstGeom>
          <a:ln w="317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208008" y="2377440"/>
            <a:ext cx="822960" cy="274320"/>
          </a:xfrm>
          <a:prstGeom prst="rect">
            <a:avLst/>
          </a:prstGeom>
          <a:noFill/>
        </p:spPr>
        <p:txBody>
          <a:bodyPr wrap="square" lIns="0" tIns="0" rIns="0" bIns="0" anchor="t">
            <a:spAutoFit/>
          </a:bodyPr>
          <a:lstStyle/>
          <a:p>
            <a:pPr algn="r">
              <a:spcAft>
                <a:spcPts val="600"/>
              </a:spcAft>
            </a:pPr>
            <a:r>
              <a:rPr sz="1000" b="1" i="0">
                <a:solidFill>
                  <a:srgbClr val="85D5E6"/>
                </a:solidFill>
                <a:effectLst>
                  <a:glow rad="63500">
                    <a:srgbClr val="001633">
                      <a:alpha val="85000"/>
                    </a:srgbClr>
                  </a:glow>
                </a:effectLst>
                <a:latin typeface="Montserrat"/>
              </a:rPr>
              <a:t>datos</a:t>
            </a:r>
          </a:p>
        </p:txBody>
      </p:sp>
      <p:sp>
        <p:nvSpPr>
          <p:cNvPr id="63" name="TextBox 62"/>
          <p:cNvSpPr txBox="1"/>
          <p:nvPr/>
        </p:nvSpPr>
        <p:spPr>
          <a:xfrm>
            <a:off x="9893808" y="5596128"/>
            <a:ext cx="1097280" cy="27432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decisiones</a:t>
            </a:r>
          </a:p>
        </p:txBody>
      </p:sp>
      <p:sp>
        <p:nvSpPr>
          <p:cNvPr id="64" name="TextBox 63"/>
          <p:cNvSpPr txBox="1"/>
          <p:nvPr/>
        </p:nvSpPr>
        <p:spPr>
          <a:xfrm>
            <a:off x="6922008" y="4471416"/>
            <a:ext cx="2194560" cy="548640"/>
          </a:xfrm>
          <a:prstGeom prst="rect">
            <a:avLst/>
          </a:prstGeom>
          <a:noFill/>
        </p:spPr>
        <p:txBody>
          <a:bodyPr wrap="square" lIns="0" tIns="0" rIns="0" bIns="0" anchor="ctr">
            <a:spAutoFit/>
          </a:bodyPr>
          <a:lstStyle/>
          <a:p>
            <a:pPr algn="r">
              <a:spcAft>
                <a:spcPts val="0"/>
              </a:spcAft>
            </a:pPr>
            <a:r>
              <a:rPr sz="1000" b="1" i="0">
                <a:solidFill>
                  <a:srgbClr val="FFAB40"/>
                </a:solidFill>
                <a:effectLst>
                  <a:glow rad="63500">
                    <a:srgbClr val="001633">
                      <a:alpha val="85000"/>
                    </a:srgbClr>
                  </a:glow>
                </a:effectLst>
                <a:latin typeface="Montserrat"/>
              </a:rPr>
              <a:t>aquí se va el esfuerzo</a:t>
            </a:r>
          </a:p>
          <a:p>
            <a:pPr algn="r">
              <a:spcAft>
                <a:spcPts val="0"/>
              </a:spcAft>
            </a:pPr>
            <a:r>
              <a:rPr sz="850" b="0" i="0">
                <a:solidFill>
                  <a:srgbClr val="A9B8C9"/>
                </a:solidFill>
                <a:effectLst>
                  <a:glow rad="63500">
                    <a:srgbClr val="001633">
                      <a:alpha val="85000"/>
                    </a:srgbClr>
                  </a:glow>
                </a:effectLst>
                <a:latin typeface="Montserrat"/>
              </a:rPr>
              <a:t>protocolos distintos, datos sin contexto, varios dueños</a:t>
            </a:r>
          </a:p>
        </p:txBody>
      </p:sp>
      <p:sp>
        <p:nvSpPr>
          <p:cNvPr id="65" name="TextBox 64"/>
          <p:cNvSpPr txBox="1"/>
          <p:nvPr/>
        </p:nvSpPr>
        <p:spPr>
          <a:xfrm>
            <a:off x="6922008" y="3849624"/>
            <a:ext cx="2194560" cy="548640"/>
          </a:xfrm>
          <a:prstGeom prst="rect">
            <a:avLst/>
          </a:prstGeom>
          <a:noFill/>
        </p:spPr>
        <p:txBody>
          <a:bodyPr wrap="square" lIns="0" tIns="0" rIns="0" bIns="0" anchor="ctr">
            <a:spAutoFit/>
          </a:bodyPr>
          <a:lstStyle/>
          <a:p>
            <a:pPr algn="r">
              <a:spcAft>
                <a:spcPts val="600"/>
              </a:spcAft>
            </a:pPr>
            <a:r>
              <a:rPr sz="1000" b="1" i="0">
                <a:solidFill>
                  <a:srgbClr val="85D5E6"/>
                </a:solidFill>
                <a:effectLst>
                  <a:glow rad="63500">
                    <a:srgbClr val="001633">
                      <a:alpha val="85000"/>
                    </a:srgbClr>
                  </a:glow>
                </a:effectLst>
                <a:latin typeface="Montserrat"/>
              </a:rPr>
              <a:t>se construye en el capítulo III</a:t>
            </a:r>
          </a:p>
        </p:txBody>
      </p:sp>
      <p:sp>
        <p:nvSpPr>
          <p:cNvPr id="6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Capas: «The end-to-end digital twin stack», IoT Analytics (2026) [1]; la minería corresponde a su contexto de operaciones industriales · tecnologías mineras: elaboración propia</a:t>
            </a:r>
          </a:p>
        </p:txBody>
      </p:sp>
      <p:sp>
        <p:nvSpPr>
          <p:cNvPr id="6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7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 actual"/>
          <p:cNvSpPr/>
          <p:nvPr/>
        </p:nvSpPr>
        <p:spPr>
          <a:xfrm>
            <a:off x="3127248" y="6510528"/>
            <a:ext cx="1981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7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2/18 </a:t>
            </a:r>
            <a:r>
              <a:rPr sz="1000" b="0" i="0">
                <a:solidFill>
                  <a:srgbClr val="A9B8C9"/>
                </a:solidFill>
                <a:effectLst>
                  <a:glow rad="63500">
                    <a:srgbClr val="001633">
                      <a:alpha val="85000"/>
                    </a:srgbClr>
                  </a:glow>
                </a:effectLst>
                <a:latin typeface="Montserrat"/>
              </a:rPr>
              <a:t>· Gemelos Digitales para Minería 4.0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familias de soluciones, y cada una cubre capas distintas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FAMILIAS DE SOLUCIONES</a:t>
            </a:r>
          </a:p>
        </p:txBody>
      </p:sp>
      <p:sp>
        <p:nvSpPr>
          <p:cNvPr id="6" name="TextBox 5"/>
          <p:cNvSpPr txBox="1"/>
          <p:nvPr/>
        </p:nvSpPr>
        <p:spPr>
          <a:xfrm>
            <a:off x="1252728" y="1828800"/>
            <a:ext cx="822960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Lo que el mercado llama «gemelo digital» suele ser una de estas tres cosas.</a:t>
            </a:r>
          </a:p>
        </p:txBody>
      </p:sp>
      <p:sp>
        <p:nvSpPr>
          <p:cNvPr id="7" name="Familia Plataformas de datos y operación"/>
          <p:cNvSpPr/>
          <p:nvPr/>
        </p:nvSpPr>
        <p:spPr>
          <a:xfrm>
            <a:off x="1252728" y="2514600"/>
            <a:ext cx="3124200" cy="64008"/>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server" descr="server-white.png"/>
          <p:cNvPicPr>
            <a:picLocks noChangeAspect="1"/>
          </p:cNvPicPr>
          <p:nvPr/>
        </p:nvPicPr>
        <p:blipFill>
          <a:blip r:embed="rId3"/>
          <a:stretch>
            <a:fillRect/>
          </a:stretch>
        </p:blipFill>
        <p:spPr>
          <a:xfrm>
            <a:off x="1252728" y="2697480"/>
            <a:ext cx="329184" cy="329184"/>
          </a:xfrm>
          <a:prstGeom prst="rect">
            <a:avLst/>
          </a:prstGeom>
        </p:spPr>
      </p:pic>
      <p:sp>
        <p:nvSpPr>
          <p:cNvPr id="9" name="TextBox 8"/>
          <p:cNvSpPr txBox="1"/>
          <p:nvPr/>
        </p:nvSpPr>
        <p:spPr>
          <a:xfrm>
            <a:off x="1709928" y="2651760"/>
            <a:ext cx="2667000" cy="41148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Plataformas de datos y operación</a:t>
            </a:r>
          </a:p>
        </p:txBody>
      </p:sp>
      <p:sp>
        <p:nvSpPr>
          <p:cNvPr id="10" name="TextBox 9"/>
          <p:cNvSpPr txBox="1"/>
          <p:nvPr/>
        </p:nvSpPr>
        <p:spPr>
          <a:xfrm>
            <a:off x="1252728" y="3154680"/>
            <a:ext cx="3124200" cy="502920"/>
          </a:xfrm>
          <a:prstGeom prst="rect">
            <a:avLst/>
          </a:prstGeom>
          <a:noFill/>
        </p:spPr>
        <p:txBody>
          <a:bodyPr wrap="square" lIns="0" tIns="0" rIns="0" bIns="0" anchor="t">
            <a:spAutoFit/>
          </a:bodyPr>
          <a:lstStyle/>
          <a:p>
            <a:pPr algn="l">
              <a:spcAft>
                <a:spcPts val="600"/>
              </a:spcAft>
            </a:pPr>
            <a:r>
              <a:rPr sz="1050" b="0" i="0">
                <a:solidFill>
                  <a:srgbClr val="FFFFFF"/>
                </a:solidFill>
                <a:effectLst>
                  <a:glow rad="63500">
                    <a:srgbClr val="001633">
                      <a:alpha val="85000"/>
                    </a:srgbClr>
                  </a:glow>
                </a:effectLst>
                <a:latin typeface="Montserrat"/>
              </a:rPr>
              <a:t>Reúnen y ordenan los datos de toda la faena y los muestran en salas de control.</a:t>
            </a:r>
          </a:p>
        </p:txBody>
      </p:sp>
      <p:cxnSp>
        <p:nvCxnSpPr>
          <p:cNvPr id="11" name="Raya ejemplo"/>
          <p:cNvCxnSpPr/>
          <p:nvPr/>
        </p:nvCxnSpPr>
        <p:spPr>
          <a:xfrm>
            <a:off x="1252728" y="373075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252728" y="3794760"/>
            <a:ext cx="3124200" cy="45720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Ej.: </a:t>
            </a:r>
            <a:r>
              <a:rPr sz="1000" b="0" i="0">
                <a:solidFill>
                  <a:srgbClr val="A9B8C9"/>
                </a:solidFill>
                <a:effectLst>
                  <a:glow rad="63500">
                    <a:srgbClr val="001633">
                      <a:alpha val="85000"/>
                    </a:srgbClr>
                  </a:glow>
                </a:effectLst>
                <a:latin typeface="Montserrat"/>
              </a:rPr>
              <a:t>historian, plataformas IIoT, tableros de operación</a:t>
            </a:r>
          </a:p>
        </p:txBody>
      </p:sp>
      <p:sp>
        <p:nvSpPr>
          <p:cNvPr id="13" name="TextBox 12"/>
          <p:cNvSpPr txBox="1"/>
          <p:nvPr/>
        </p:nvSpPr>
        <p:spPr>
          <a:xfrm>
            <a:off x="1252728" y="4343400"/>
            <a:ext cx="312420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CAPAS QUE CUBRE</a:t>
            </a:r>
          </a:p>
        </p:txBody>
      </p:sp>
      <p:sp>
        <p:nvSpPr>
          <p:cNvPr id="14" name="Capa Aplicaciones"/>
          <p:cNvSpPr/>
          <p:nvPr/>
        </p:nvSpPr>
        <p:spPr>
          <a:xfrm>
            <a:off x="1252728" y="4572000"/>
            <a:ext cx="3124200" cy="210312"/>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44168" y="4572000"/>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16" name="Capa Infraestructura"/>
          <p:cNvSpPr/>
          <p:nvPr/>
        </p:nvSpPr>
        <p:spPr>
          <a:xfrm>
            <a:off x="1252728" y="4818888"/>
            <a:ext cx="3124200" cy="210312"/>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44168" y="4818888"/>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4 · Infraestructura</a:t>
            </a:r>
          </a:p>
        </p:txBody>
      </p:sp>
      <p:sp>
        <p:nvSpPr>
          <p:cNvPr id="18" name="Capa Modelamiento"/>
          <p:cNvSpPr/>
          <p:nvPr/>
        </p:nvSpPr>
        <p:spPr>
          <a:xfrm>
            <a:off x="1252728" y="5065776"/>
            <a:ext cx="312420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44168" y="5065776"/>
            <a:ext cx="294132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3 · Modelamiento</a:t>
            </a:r>
          </a:p>
        </p:txBody>
      </p:sp>
      <p:sp>
        <p:nvSpPr>
          <p:cNvPr id="20" name="Capa Integración"/>
          <p:cNvSpPr/>
          <p:nvPr/>
        </p:nvSpPr>
        <p:spPr>
          <a:xfrm>
            <a:off x="1252728" y="5312664"/>
            <a:ext cx="3124200" cy="210312"/>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344168" y="5312664"/>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22" name="Capa Fuentes de datos"/>
          <p:cNvSpPr/>
          <p:nvPr/>
        </p:nvSpPr>
        <p:spPr>
          <a:xfrm>
            <a:off x="1252728" y="5559552"/>
            <a:ext cx="3124200" cy="210312"/>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44168" y="5559552"/>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 de datos</a:t>
            </a:r>
          </a:p>
        </p:txBody>
      </p:sp>
      <p:sp>
        <p:nvSpPr>
          <p:cNvPr id="24" name="Familia Simuladores y modelos"/>
          <p:cNvSpPr/>
          <p:nvPr/>
        </p:nvSpPr>
        <p:spPr>
          <a:xfrm>
            <a:off x="4696968" y="2514600"/>
            <a:ext cx="3124200" cy="64008"/>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Ícono brain-circuit" descr="brain-circuit-white.png"/>
          <p:cNvPicPr>
            <a:picLocks noChangeAspect="1"/>
          </p:cNvPicPr>
          <p:nvPr/>
        </p:nvPicPr>
        <p:blipFill>
          <a:blip r:embed="rId4"/>
          <a:stretch>
            <a:fillRect/>
          </a:stretch>
        </p:blipFill>
        <p:spPr>
          <a:xfrm>
            <a:off x="4696968" y="2697480"/>
            <a:ext cx="329184" cy="329184"/>
          </a:xfrm>
          <a:prstGeom prst="rect">
            <a:avLst/>
          </a:prstGeom>
        </p:spPr>
      </p:pic>
      <p:sp>
        <p:nvSpPr>
          <p:cNvPr id="26" name="TextBox 25"/>
          <p:cNvSpPr txBox="1"/>
          <p:nvPr/>
        </p:nvSpPr>
        <p:spPr>
          <a:xfrm>
            <a:off x="5154168" y="2651760"/>
            <a:ext cx="2667000" cy="41148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Simuladores y modelos</a:t>
            </a:r>
          </a:p>
        </p:txBody>
      </p:sp>
      <p:sp>
        <p:nvSpPr>
          <p:cNvPr id="27" name="TextBox 26"/>
          <p:cNvSpPr txBox="1"/>
          <p:nvPr/>
        </p:nvSpPr>
        <p:spPr>
          <a:xfrm>
            <a:off x="4696968" y="3154680"/>
            <a:ext cx="3124200" cy="502920"/>
          </a:xfrm>
          <a:prstGeom prst="rect">
            <a:avLst/>
          </a:prstGeom>
          <a:noFill/>
        </p:spPr>
        <p:txBody>
          <a:bodyPr wrap="square" lIns="0" tIns="0" rIns="0" bIns="0" anchor="t">
            <a:spAutoFit/>
          </a:bodyPr>
          <a:lstStyle/>
          <a:p>
            <a:pPr algn="l">
              <a:spcAft>
                <a:spcPts val="600"/>
              </a:spcAft>
            </a:pPr>
            <a:r>
              <a:rPr sz="1050" b="0" i="0">
                <a:solidFill>
                  <a:srgbClr val="FFFFFF"/>
                </a:solidFill>
                <a:effectLst>
                  <a:glow rad="63500">
                    <a:srgbClr val="001633">
                      <a:alpha val="85000"/>
                    </a:srgbClr>
                  </a:glow>
                </a:effectLst>
                <a:latin typeface="Montserrat"/>
              </a:rPr>
              <a:t>Representan la mina o el proceso para probar escenarios y decisiones.</a:t>
            </a:r>
          </a:p>
        </p:txBody>
      </p:sp>
      <p:cxnSp>
        <p:nvCxnSpPr>
          <p:cNvPr id="28" name="Raya ejemplo"/>
          <p:cNvCxnSpPr/>
          <p:nvPr/>
        </p:nvCxnSpPr>
        <p:spPr>
          <a:xfrm>
            <a:off x="4696968" y="373075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96968" y="3794760"/>
            <a:ext cx="3124200" cy="45720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Ej.: </a:t>
            </a:r>
            <a:r>
              <a:rPr sz="1000" b="0" i="0">
                <a:solidFill>
                  <a:srgbClr val="A9B8C9"/>
                </a:solidFill>
                <a:effectLst>
                  <a:glow rad="63500">
                    <a:srgbClr val="001633">
                      <a:alpha val="85000"/>
                    </a:srgbClr>
                  </a:glow>
                </a:effectLst>
                <a:latin typeface="Montserrat"/>
              </a:rPr>
              <a:t>modelo geológico y plan minero, simulación de flota, simuladores de proceso</a:t>
            </a:r>
          </a:p>
        </p:txBody>
      </p:sp>
      <p:sp>
        <p:nvSpPr>
          <p:cNvPr id="30" name="TextBox 29"/>
          <p:cNvSpPr txBox="1"/>
          <p:nvPr/>
        </p:nvSpPr>
        <p:spPr>
          <a:xfrm>
            <a:off x="4696968" y="4343400"/>
            <a:ext cx="312420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CAPAS QUE CUBRE</a:t>
            </a:r>
          </a:p>
        </p:txBody>
      </p:sp>
      <p:sp>
        <p:nvSpPr>
          <p:cNvPr id="31" name="Capa Aplicaciones"/>
          <p:cNvSpPr/>
          <p:nvPr/>
        </p:nvSpPr>
        <p:spPr>
          <a:xfrm>
            <a:off x="4696968" y="4572000"/>
            <a:ext cx="3124200" cy="2103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788408" y="4572000"/>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33" name="Capa Infraestructura"/>
          <p:cNvSpPr/>
          <p:nvPr/>
        </p:nvSpPr>
        <p:spPr>
          <a:xfrm>
            <a:off x="4696968" y="4818888"/>
            <a:ext cx="312420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4788408" y="4818888"/>
            <a:ext cx="294132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4 · Infraestructura</a:t>
            </a:r>
          </a:p>
        </p:txBody>
      </p:sp>
      <p:sp>
        <p:nvSpPr>
          <p:cNvPr id="35" name="Capa Modelamiento"/>
          <p:cNvSpPr/>
          <p:nvPr/>
        </p:nvSpPr>
        <p:spPr>
          <a:xfrm>
            <a:off x="4696968" y="5065776"/>
            <a:ext cx="3124200" cy="2103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788408" y="5065776"/>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Modelamiento</a:t>
            </a:r>
          </a:p>
        </p:txBody>
      </p:sp>
      <p:sp>
        <p:nvSpPr>
          <p:cNvPr id="37" name="Capa Integración"/>
          <p:cNvSpPr/>
          <p:nvPr/>
        </p:nvSpPr>
        <p:spPr>
          <a:xfrm>
            <a:off x="4696968" y="5312664"/>
            <a:ext cx="312420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788408" y="5312664"/>
            <a:ext cx="294132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2 · Integración</a:t>
            </a:r>
          </a:p>
        </p:txBody>
      </p:sp>
      <p:sp>
        <p:nvSpPr>
          <p:cNvPr id="39" name="Capa Fuentes de datos"/>
          <p:cNvSpPr/>
          <p:nvPr/>
        </p:nvSpPr>
        <p:spPr>
          <a:xfrm>
            <a:off x="4696968" y="5559552"/>
            <a:ext cx="312420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4788408" y="5559552"/>
            <a:ext cx="294132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 · Fuentes de datos</a:t>
            </a:r>
          </a:p>
        </p:txBody>
      </p:sp>
      <p:sp>
        <p:nvSpPr>
          <p:cNvPr id="41" name="Familia Gemelos del fabricante del equipo"/>
          <p:cNvSpPr/>
          <p:nvPr/>
        </p:nvSpPr>
        <p:spPr>
          <a:xfrm>
            <a:off x="8141208" y="2514600"/>
            <a:ext cx="3124200" cy="64008"/>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Ícono cog" descr="cog-white.png"/>
          <p:cNvPicPr>
            <a:picLocks noChangeAspect="1"/>
          </p:cNvPicPr>
          <p:nvPr/>
        </p:nvPicPr>
        <p:blipFill>
          <a:blip r:embed="rId5"/>
          <a:stretch>
            <a:fillRect/>
          </a:stretch>
        </p:blipFill>
        <p:spPr>
          <a:xfrm>
            <a:off x="8141208" y="2697480"/>
            <a:ext cx="329184" cy="329184"/>
          </a:xfrm>
          <a:prstGeom prst="rect">
            <a:avLst/>
          </a:prstGeom>
        </p:spPr>
      </p:pic>
      <p:sp>
        <p:nvSpPr>
          <p:cNvPr id="43" name="TextBox 42"/>
          <p:cNvSpPr txBox="1"/>
          <p:nvPr/>
        </p:nvSpPr>
        <p:spPr>
          <a:xfrm>
            <a:off x="8598408" y="2651760"/>
            <a:ext cx="2667000" cy="41148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Gemelos del fabricante del equipo</a:t>
            </a:r>
          </a:p>
        </p:txBody>
      </p:sp>
      <p:sp>
        <p:nvSpPr>
          <p:cNvPr id="44" name="TextBox 43"/>
          <p:cNvSpPr txBox="1"/>
          <p:nvPr/>
        </p:nvSpPr>
        <p:spPr>
          <a:xfrm>
            <a:off x="8141208" y="3154680"/>
            <a:ext cx="3124200" cy="502920"/>
          </a:xfrm>
          <a:prstGeom prst="rect">
            <a:avLst/>
          </a:prstGeom>
          <a:noFill/>
        </p:spPr>
        <p:txBody>
          <a:bodyPr wrap="square" lIns="0" tIns="0" rIns="0" bIns="0" anchor="t">
            <a:spAutoFit/>
          </a:bodyPr>
          <a:lstStyle/>
          <a:p>
            <a:pPr algn="l">
              <a:spcAft>
                <a:spcPts val="600"/>
              </a:spcAft>
            </a:pPr>
            <a:r>
              <a:rPr sz="1050" b="0" i="0">
                <a:solidFill>
                  <a:srgbClr val="FFFFFF"/>
                </a:solidFill>
                <a:effectLst>
                  <a:glow rad="63500">
                    <a:srgbClr val="001633">
                      <a:alpha val="85000"/>
                    </a:srgbClr>
                  </a:glow>
                </a:effectLst>
                <a:latin typeface="Montserrat"/>
              </a:rPr>
              <a:t>Vigilan y optimizan un equipo específico con el conocimiento de quien lo diseñó.</a:t>
            </a:r>
          </a:p>
        </p:txBody>
      </p:sp>
      <p:cxnSp>
        <p:nvCxnSpPr>
          <p:cNvPr id="45" name="Raya ejemplo"/>
          <p:cNvCxnSpPr/>
          <p:nvPr/>
        </p:nvCxnSpPr>
        <p:spPr>
          <a:xfrm>
            <a:off x="8141208" y="373075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141208" y="3794760"/>
            <a:ext cx="3124200" cy="45720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Ej.: </a:t>
            </a:r>
            <a:r>
              <a:rPr sz="1000" b="0" i="0">
                <a:solidFill>
                  <a:srgbClr val="A9B8C9"/>
                </a:solidFill>
                <a:effectLst>
                  <a:glow rad="63500">
                    <a:srgbClr val="001633">
                      <a:alpha val="85000"/>
                    </a:srgbClr>
                  </a:glow>
                </a:effectLst>
                <a:latin typeface="Montserrat"/>
              </a:rPr>
              <a:t>monitoreo de condición de camiones, molinos o bombas; control del equipo</a:t>
            </a:r>
          </a:p>
        </p:txBody>
      </p:sp>
      <p:sp>
        <p:nvSpPr>
          <p:cNvPr id="47" name="TextBox 46"/>
          <p:cNvSpPr txBox="1"/>
          <p:nvPr/>
        </p:nvSpPr>
        <p:spPr>
          <a:xfrm>
            <a:off x="8141208" y="4343400"/>
            <a:ext cx="312420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CAPAS QUE CUBRE</a:t>
            </a:r>
          </a:p>
        </p:txBody>
      </p:sp>
      <p:sp>
        <p:nvSpPr>
          <p:cNvPr id="48" name="Capa Aplicaciones"/>
          <p:cNvSpPr/>
          <p:nvPr/>
        </p:nvSpPr>
        <p:spPr>
          <a:xfrm>
            <a:off x="8141208" y="4572000"/>
            <a:ext cx="3124200" cy="21031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32648" y="4572000"/>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50" name="Capa Infraestructura"/>
          <p:cNvSpPr/>
          <p:nvPr/>
        </p:nvSpPr>
        <p:spPr>
          <a:xfrm>
            <a:off x="8141208" y="4818888"/>
            <a:ext cx="3124200" cy="21031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232648" y="4818888"/>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4 · Infraestructura</a:t>
            </a:r>
          </a:p>
        </p:txBody>
      </p:sp>
      <p:sp>
        <p:nvSpPr>
          <p:cNvPr id="52" name="Capa Modelamiento"/>
          <p:cNvSpPr/>
          <p:nvPr/>
        </p:nvSpPr>
        <p:spPr>
          <a:xfrm>
            <a:off x="8141208" y="5065776"/>
            <a:ext cx="3124200" cy="21031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232648" y="5065776"/>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Modelamiento</a:t>
            </a:r>
          </a:p>
        </p:txBody>
      </p:sp>
      <p:sp>
        <p:nvSpPr>
          <p:cNvPr id="54" name="Capa Integración"/>
          <p:cNvSpPr/>
          <p:nvPr/>
        </p:nvSpPr>
        <p:spPr>
          <a:xfrm>
            <a:off x="8141208" y="5312664"/>
            <a:ext cx="3124200" cy="21031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232648" y="5312664"/>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56" name="Capa Fuentes de datos"/>
          <p:cNvSpPr/>
          <p:nvPr/>
        </p:nvSpPr>
        <p:spPr>
          <a:xfrm>
            <a:off x="8141208" y="5559552"/>
            <a:ext cx="3124200" cy="21031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232648" y="5559552"/>
            <a:ext cx="294132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 de datos</a:t>
            </a:r>
          </a:p>
        </p:txBody>
      </p:sp>
      <p:sp>
        <p:nvSpPr>
          <p:cNvPr id="58" name="TextBox 57"/>
          <p:cNvSpPr txBox="1"/>
          <p:nvPr/>
        </p:nvSpPr>
        <p:spPr>
          <a:xfrm>
            <a:off x="8141208" y="5824728"/>
            <a:ext cx="3124200" cy="182880"/>
          </a:xfrm>
          <a:prstGeom prst="rect">
            <a:avLst/>
          </a:prstGeom>
          <a:noFill/>
        </p:spPr>
        <p:txBody>
          <a:bodyPr wrap="square" lIns="0" tIns="0" rIns="0" bIns="0" anchor="t">
            <a:spAutoFit/>
          </a:bodyPr>
          <a:lstStyle/>
          <a:p>
            <a:pPr algn="l">
              <a:spcAft>
                <a:spcPts val="600"/>
              </a:spcAft>
            </a:pPr>
            <a:r>
              <a:rPr sz="800" b="1" i="0">
                <a:solidFill>
                  <a:srgbClr val="85D5E6"/>
                </a:solidFill>
                <a:effectLst>
                  <a:glow rad="63500">
                    <a:srgbClr val="001633">
                      <a:alpha val="85000"/>
                    </a:srgbClr>
                  </a:glow>
                </a:effectLst>
                <a:latin typeface="Montserrat"/>
              </a:rPr>
              <a:t>todas las capas, pero de un solo equipo</a:t>
            </a:r>
          </a:p>
        </p:txBody>
      </p:sp>
      <p:sp>
        <p:nvSpPr>
          <p:cNvPr id="59"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Familias y capas que cubren: elaboración propia sobre el stack de cinco capas · cobertura típica, varía por producto</a:t>
            </a:r>
          </a:p>
        </p:txBody>
      </p:sp>
      <p:sp>
        <p:nvSpPr>
          <p:cNvPr id="60"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1"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64"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II actual"/>
          <p:cNvSpPr/>
          <p:nvPr/>
        </p:nvSpPr>
        <p:spPr>
          <a:xfrm>
            <a:off x="3127248" y="6510528"/>
            <a:ext cx="2971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67"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3/18 </a:t>
            </a:r>
            <a:r>
              <a:rPr sz="1000" b="0" i="0">
                <a:solidFill>
                  <a:srgbClr val="A9B8C9"/>
                </a:solidFill>
                <a:effectLst>
                  <a:glow rad="63500">
                    <a:srgbClr val="001633">
                      <a:alpha val="85000"/>
                    </a:srgbClr>
                  </a:glow>
                </a:effectLst>
                <a:latin typeface="Montserrat"/>
              </a:rPr>
              <a:t>· Gemelos Digitales para Minería 4.0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Geología y planificación: un modelo geológico que se actualiza solo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GEOLOGÍA Y PLANIFICACIÓN</a:t>
            </a:r>
          </a:p>
        </p:txBody>
      </p:sp>
      <p:pic>
        <p:nvPicPr>
          <p:cNvPr id="6" name="rajo-escondida" descr="rajo-escondida.jpg"/>
          <p:cNvPicPr>
            <a:picLocks noChangeAspect="1"/>
          </p:cNvPicPr>
          <p:nvPr/>
        </p:nvPicPr>
        <p:blipFill>
          <a:blip r:embed="rId3">
            <a:duotone>
              <a:srgbClr val="001633"/>
              <a:srgbClr val="A9B8C9"/>
            </a:duotone>
          </a:blip>
          <a:srcRect t="19357" b="19357"/>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Sistema</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Operar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Simular</a:t>
            </a:r>
          </a:p>
        </p:txBody>
      </p:sp>
      <p:sp>
        <p:nvSpPr>
          <p:cNvPr id="14" name="Bloque mini"/>
          <p:cNvSpPr/>
          <p:nvPr/>
        </p:nvSpPr>
        <p:spPr>
          <a:xfrm>
            <a:off x="125272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Modelo</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El modelo geológico envejece entre una campaña de sondajes y la siguiente.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qué bloques extraer y en qué secuencia.</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Sondajes, pozos de tronadura, mapeo de bancos y leyes de laboratorio.</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Modelo geológico implícito y modelo de bloques con geoestadística; optimización del plan.</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Modelamiento geológico y planificación minera; integración con el control de leyes.</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BHP Olympic Dam: el primer modelo geológico integrado y «vivo», con actualizaciones casi en tiempo real. </a:t>
            </a:r>
            <a:r>
              <a:rPr sz="1050" b="0" i="0">
                <a:solidFill>
                  <a:srgbClr val="A9B8C9"/>
                </a:solidFill>
                <a:effectLst>
                  <a:glow rad="63500">
                    <a:srgbClr val="001633">
                      <a:alpha val="85000"/>
                    </a:srgbClr>
                  </a:glow>
                </a:effectLst>
                <a:latin typeface="Montserrat"/>
              </a:rPr>
              <a:t>[8]</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3962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4/18 </a:t>
            </a:r>
            <a:r>
              <a:rPr sz="1000" b="0" i="0">
                <a:solidFill>
                  <a:srgbClr val="A9B8C9"/>
                </a:solidFill>
                <a:effectLst>
                  <a:glow rad="63500">
                    <a:srgbClr val="001633">
                      <a:alpha val="85000"/>
                    </a:srgbClr>
                  </a:glow>
                </a:effectLst>
                <a:latin typeface="Montserrat"/>
              </a:rPr>
              <a:t>· Gemelos Digitales para Minería 4.0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Carguío y transporte: simular la flota antes de comprarla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CARGUÍO Y TRANSPORTE</a:t>
            </a:r>
          </a:p>
        </p:txBody>
      </p:sp>
      <p:pic>
        <p:nvPicPr>
          <p:cNvPr id="6" name="carguio-pala-cables-ph-4100" descr="carguio-pala-cables-ph-4100.jpg"/>
          <p:cNvPicPr>
            <a:picLocks noChangeAspect="1"/>
          </p:cNvPicPr>
          <p:nvPr/>
        </p:nvPicPr>
        <p:blipFill>
          <a:blip r:embed="rId3">
            <a:duotone>
              <a:srgbClr val="001633"/>
              <a:srgbClr val="A9B8C9"/>
            </a:duotone>
          </a:blip>
          <a:srcRect t="19572" b="19572"/>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Sistema</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Diseñar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Simular</a:t>
            </a:r>
          </a:p>
        </p:txBody>
      </p:sp>
      <p:sp>
        <p:nvSpPr>
          <p:cNvPr id="14" name="Bloque mini"/>
          <p:cNvSpPr/>
          <p:nvPr/>
        </p:nvSpPr>
        <p:spPr>
          <a:xfrm>
            <a:off x="125272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Modelo</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Colas en palas y chancadores; camiones de más o de menos.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cuántos camiones y a qué pala.</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GPS y estado de la flota desde el despacho, tiempos de ciclo, disponibilidad.</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Simulación de eventos discretos con reglas de despacho y fallas de equipos.</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Sistemas de despacho, simuladores de flota, sistemas de transporte autónomo.</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Rajo de arenas bituminosas (Canadá): escenarios con 15–25 % menos camiones y 20–70 % menos espera en los chancadores. </a:t>
            </a:r>
            <a:r>
              <a:rPr sz="1050" b="0" i="0">
                <a:solidFill>
                  <a:srgbClr val="A9B8C9"/>
                </a:solidFill>
                <a:effectLst>
                  <a:glow rad="63500">
                    <a:srgbClr val="001633">
                      <a:alpha val="85000"/>
                    </a:srgbClr>
                  </a:glow>
                </a:effectLst>
                <a:latin typeface="Montserrat"/>
              </a:rPr>
              <a:t>[9]</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4953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5/18 </a:t>
            </a:r>
            <a:r>
              <a:rPr sz="1000" b="0" i="0">
                <a:solidFill>
                  <a:srgbClr val="A9B8C9"/>
                </a:solidFill>
                <a:effectLst>
                  <a:glow rad="63500">
                    <a:srgbClr val="001633">
                      <a:alpha val="85000"/>
                    </a:srgbClr>
                  </a:glow>
                </a:effectLst>
                <a:latin typeface="Montserrat"/>
              </a:rPr>
              <a:t>· Gemelos Digitales para Minería 4.0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Molienda: probar el control en el gemelo antes de tocar la planta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CHANCADO, CORREAS Y MOLIENDA</a:t>
            </a:r>
          </a:p>
        </p:txBody>
      </p:sp>
      <p:pic>
        <p:nvPicPr>
          <p:cNvPr id="6" name="molino-bolas-planta" descr="molino-bolas-planta.jpg"/>
          <p:cNvPicPr>
            <a:picLocks noChangeAspect="1"/>
          </p:cNvPicPr>
          <p:nvPr/>
        </p:nvPicPr>
        <p:blipFill>
          <a:blip r:embed="rId3">
            <a:duotone>
              <a:srgbClr val="001633"/>
              <a:srgbClr val="A9B8C9"/>
            </a:duotone>
          </a:blip>
          <a:srcRect t="22868" b="22868"/>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Proceso</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Construir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Emular</a:t>
            </a:r>
          </a:p>
        </p:txBody>
      </p:sp>
      <p:sp>
        <p:nvSpPr>
          <p:cNvPr id="14" name="Bloque mini"/>
          <p:cNvSpPr/>
          <p:nvPr/>
        </p:nvSpPr>
        <p:spPr>
          <a:xfrm>
            <a:off x="125272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Gemelo</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La molienda suele ser el cuello de botella de la concentradora.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consignas de alimentación, velocidad y agua.</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Potencia, presión de descansos, tonelaje, granulometría.</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Modelo dinámico del circuito y control predictivo (MPC).</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Control avanzado de procesos, simuladores dinámicos, monitoreo de condición de correas y molinos.</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Boliden Aitik (Suecia) con ABB: gemelo de la conminución para evaluar estrategias de control antes de implementarlas. </a:t>
            </a:r>
            <a:r>
              <a:rPr sz="1050" b="0" i="0">
                <a:solidFill>
                  <a:srgbClr val="A9B8C9"/>
                </a:solidFill>
                <a:effectLst>
                  <a:glow rad="63500">
                    <a:srgbClr val="001633">
                      <a:alpha val="85000"/>
                    </a:srgbClr>
                  </a:glow>
                </a:effectLst>
                <a:latin typeface="Montserrat"/>
              </a:rPr>
              <a:t>[10]</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5943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6/18 </a:t>
            </a:r>
            <a:r>
              <a:rPr sz="1000" b="0" i="0">
                <a:solidFill>
                  <a:srgbClr val="A9B8C9"/>
                </a:solidFill>
                <a:effectLst>
                  <a:glow rad="63500">
                    <a:srgbClr val="001633">
                      <a:alpha val="85000"/>
                    </a:srgbClr>
                  </a:glow>
                </a:effectLst>
                <a:latin typeface="Montserrat"/>
              </a:rPr>
              <a:t>· Gemelos Digitales para Minería 4.0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Flotación: un gemelo que ajusta la recuperación en tiempo real</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FLOTACIÓN</a:t>
            </a:r>
          </a:p>
        </p:txBody>
      </p:sp>
      <p:pic>
        <p:nvPicPr>
          <p:cNvPr id="6" name="flotacion-celdas-delkor" descr="flotacion-celdas-delkor.jpg"/>
          <p:cNvPicPr>
            <a:picLocks noChangeAspect="1"/>
          </p:cNvPicPr>
          <p:nvPr/>
        </p:nvPicPr>
        <p:blipFill>
          <a:blip r:embed="rId3">
            <a:duotone>
              <a:srgbClr val="001633"/>
              <a:srgbClr val="A9B8C9"/>
            </a:duotone>
          </a:blip>
          <a:srcRect t="22868" b="22868"/>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Proceso</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Optimizar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Orquestar</a:t>
            </a:r>
          </a:p>
        </p:txBody>
      </p:sp>
      <p:sp>
        <p:nvSpPr>
          <p:cNvPr id="14" name="Bloque mini"/>
          <p:cNvSpPr/>
          <p:nvPr/>
        </p:nvSpPr>
        <p:spPr>
          <a:xfrm>
            <a:off x="125272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Gemelo</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La recuperación cambia con el mineral que llega.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aire, nivel de espuma y reactivos.</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Análisis de leyes en línea, flujos, niveles y cámaras de espuma.</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Híbrido: modelos de proceso con aprendizaje automático y control avanzado.</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Control avanzado, sensores virtuales (soft-sensors), analizadores en línea.</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MMG Dugald River (zinc, Australia) con Hatch: la inversión se pagó en menos de tres meses. </a:t>
            </a:r>
            <a:r>
              <a:rPr sz="1050" b="0" i="0">
                <a:solidFill>
                  <a:srgbClr val="A9B8C9"/>
                </a:solidFill>
                <a:effectLst>
                  <a:glow rad="63500">
                    <a:srgbClr val="001633">
                      <a:alpha val="85000"/>
                    </a:srgbClr>
                  </a:glow>
                </a:effectLst>
                <a:latin typeface="Montserrat"/>
              </a:rPr>
              <a:t>[11]</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6934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7/18 </a:t>
            </a:r>
            <a:r>
              <a:rPr sz="1000" b="0" i="0">
                <a:solidFill>
                  <a:srgbClr val="A9B8C9"/>
                </a:solidFill>
                <a:effectLst>
                  <a:glow rad="63500">
                    <a:srgbClr val="001633">
                      <a:alpha val="85000"/>
                    </a:srgbClr>
                  </a:glow>
                </a:effectLst>
                <a:latin typeface="Montserrat"/>
              </a:rPr>
              <a:t>· Gemelos Digitales para Minería 4.0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Relaves: un gemelo vivo de la estabilidad del depósito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ESPESAMIENTO, RELAVES Y AGUA</a:t>
            </a:r>
          </a:p>
        </p:txBody>
      </p:sp>
      <p:pic>
        <p:nvPicPr>
          <p:cNvPr id="6" name="espesadores-relaves-bluewater" descr="espesadores-relaves-bluewater.jpg"/>
          <p:cNvPicPr>
            <a:picLocks noChangeAspect="1"/>
          </p:cNvPicPr>
          <p:nvPr/>
        </p:nvPicPr>
        <p:blipFill>
          <a:blip r:embed="rId3">
            <a:duotone>
              <a:srgbClr val="001633"/>
              <a:srgbClr val="A9B8C9"/>
            </a:duotone>
          </a:blip>
          <a:srcRect t="25083" b="25083"/>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Sistema</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Operar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Predecir</a:t>
            </a:r>
          </a:p>
        </p:txBody>
      </p:sp>
      <p:sp>
        <p:nvSpPr>
          <p:cNvPr id="14" name="Bloque mini"/>
          <p:cNvSpPr/>
          <p:nvPr/>
        </p:nvSpPr>
        <p:spPr>
          <a:xfrm>
            <a:off x="125272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285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Sombra</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La estabilidad del tranque y el agua que se recupera.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dónde depositar y cuándo alertar.</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Piezómetros, inclinómetros, topografía, densidad de la descarga.</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Modelo geotécnico 3D y balance de agua del depósito.</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Modelamiento geotécnico, monitoreo geotécnico, control de espesadores.</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Seequent: los piezómetros y el monitoreo guían el modelo 3D del depósito y definen un gemelo «vivo». </a:t>
            </a:r>
            <a:r>
              <a:rPr sz="1050" b="0" i="0">
                <a:solidFill>
                  <a:srgbClr val="A9B8C9"/>
                </a:solidFill>
                <a:effectLst>
                  <a:glow rad="63500">
                    <a:srgbClr val="001633">
                      <a:alpha val="85000"/>
                    </a:srgbClr>
                  </a:glow>
                </a:effectLst>
                <a:latin typeface="Montserrat"/>
              </a:rPr>
              <a:t>[12]</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7924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8/18 </a:t>
            </a:r>
            <a:r>
              <a:rPr sz="1000" b="0" i="0">
                <a:solidFill>
                  <a:srgbClr val="A9B8C9"/>
                </a:solidFill>
                <a:effectLst>
                  <a:glow rad="63500">
                    <a:srgbClr val="001633">
                      <a:alpha val="85000"/>
                    </a:srgbClr>
                  </a:glow>
                </a:effectLst>
                <a:latin typeface="Montserrat"/>
              </a:rPr>
              <a:t>· Gemelos Digitales para Minería 4.0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Subterránea: ventilación que sigue a la demanda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MINA SUBTERRÁNEA</a:t>
            </a:r>
          </a:p>
        </p:txBody>
      </p:sp>
      <p:pic>
        <p:nvPicPr>
          <p:cNvPr id="6" name="uso6-ventilador-mina" descr="uso6-ventilador-mina.jpg"/>
          <p:cNvPicPr>
            <a:picLocks noChangeAspect="1"/>
          </p:cNvPicPr>
          <p:nvPr/>
        </p:nvPicPr>
        <p:blipFill>
          <a:blip r:embed="rId3">
            <a:duotone>
              <a:srgbClr val="001633"/>
              <a:srgbClr val="A9B8C9"/>
            </a:duotone>
          </a:blip>
          <a:srcRect t="23912" b="23912"/>
          <a:stretch>
            <a:fillRect/>
          </a:stretch>
        </p:blipFill>
        <p:spPr>
          <a:xfrm>
            <a:off x="1252728" y="2240280"/>
            <a:ext cx="3931920" cy="1600200"/>
          </a:xfrm>
          <a:prstGeom prst="rect">
            <a:avLst/>
          </a:prstGeom>
        </p:spPr>
      </p:pic>
      <p:sp>
        <p:nvSpPr>
          <p:cNvPr id="7" name="TextBox 6"/>
          <p:cNvSpPr txBox="1"/>
          <p:nvPr/>
        </p:nvSpPr>
        <p:spPr>
          <a:xfrm>
            <a:off x="1252728" y="3977639"/>
            <a:ext cx="393192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CELDA DEL CUBO Y GRADO TÍPICO</a:t>
            </a:r>
          </a:p>
        </p:txBody>
      </p:sp>
      <p:sp>
        <p:nvSpPr>
          <p:cNvPr id="8" name="Coordenada NIVEL"/>
          <p:cNvSpPr/>
          <p:nvPr/>
        </p:nvSpPr>
        <p:spPr>
          <a:xfrm>
            <a:off x="125272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50" b="1" i="0">
                <a:solidFill>
                  <a:srgbClr val="FFAB40"/>
                </a:solidFill>
                <a:effectLst>
                  <a:glow rad="63500">
                    <a:srgbClr val="001633">
                      <a:alpha val="85000"/>
                    </a:srgbClr>
                  </a:glow>
                </a:effectLst>
                <a:latin typeface="Montserrat"/>
              </a:rPr>
              <a:t>Proceso</a:t>
            </a:r>
          </a:p>
        </p:txBody>
      </p:sp>
      <p:sp>
        <p:nvSpPr>
          <p:cNvPr id="10" name="Coordenada FASE"/>
          <p:cNvSpPr/>
          <p:nvPr/>
        </p:nvSpPr>
        <p:spPr>
          <a:xfrm>
            <a:off x="257860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7860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50" b="1" i="0">
                <a:solidFill>
                  <a:srgbClr val="FFAB40"/>
                </a:solidFill>
                <a:effectLst>
                  <a:glow rad="63500">
                    <a:srgbClr val="001633">
                      <a:alpha val="85000"/>
                    </a:srgbClr>
                  </a:glow>
                </a:effectLst>
                <a:latin typeface="Montserrat"/>
              </a:rPr>
              <a:t>Operar</a:t>
            </a:r>
          </a:p>
        </p:txBody>
      </p:sp>
      <p:sp>
        <p:nvSpPr>
          <p:cNvPr id="12" name="Coordenada USO"/>
          <p:cNvSpPr/>
          <p:nvPr/>
        </p:nvSpPr>
        <p:spPr>
          <a:xfrm>
            <a:off x="3904488" y="4251960"/>
            <a:ext cx="12801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904488" y="4270248"/>
            <a:ext cx="12801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50" b="1" i="0">
                <a:solidFill>
                  <a:srgbClr val="FFAB40"/>
                </a:solidFill>
                <a:effectLst>
                  <a:glow rad="63500">
                    <a:srgbClr val="001633">
                      <a:alpha val="85000"/>
                    </a:srgbClr>
                  </a:glow>
                </a:effectLst>
                <a:latin typeface="Montserrat"/>
              </a:rPr>
              <a:t>Orquestar</a:t>
            </a:r>
          </a:p>
        </p:txBody>
      </p:sp>
      <p:sp>
        <p:nvSpPr>
          <p:cNvPr id="14" name="Bloque mini"/>
          <p:cNvSpPr/>
          <p:nvPr/>
        </p:nvSpPr>
        <p:spPr>
          <a:xfrm>
            <a:off x="125272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6" name="Bloque mini"/>
          <p:cNvSpPr/>
          <p:nvPr/>
        </p:nvSpPr>
        <p:spPr>
          <a:xfrm>
            <a:off x="189280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18" name="Connector 17"/>
          <p:cNvCxnSpPr/>
          <p:nvPr/>
        </p:nvCxnSpPr>
        <p:spPr>
          <a:xfrm>
            <a:off x="1709928" y="4873752"/>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09928" y="5029200"/>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59736" y="4754880"/>
            <a:ext cx="1097280" cy="384048"/>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Gemelo</a:t>
            </a:r>
          </a:p>
        </p:txBody>
      </p:sp>
      <p:pic>
        <p:nvPicPr>
          <p:cNvPr id="21" name="Ícono target" descr="target-orange.png"/>
          <p:cNvPicPr>
            <a:picLocks noChangeAspect="1"/>
          </p:cNvPicPr>
          <p:nvPr/>
        </p:nvPicPr>
        <p:blipFill>
          <a:blip r:embed="rId6"/>
          <a:stretch>
            <a:fillRect/>
          </a:stretch>
        </p:blipFill>
        <p:spPr>
          <a:xfrm>
            <a:off x="5596128" y="2258568"/>
            <a:ext cx="274320" cy="274320"/>
          </a:xfrm>
          <a:prstGeom prst="rect">
            <a:avLst/>
          </a:prstGeom>
        </p:spPr>
      </p:pic>
      <p:sp>
        <p:nvSpPr>
          <p:cNvPr id="22" name="TextBox 21"/>
          <p:cNvSpPr txBox="1"/>
          <p:nvPr/>
        </p:nvSpPr>
        <p:spPr>
          <a:xfrm>
            <a:off x="6007608" y="2240280"/>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PROBLEMA Y DECISIÓN</a:t>
            </a:r>
          </a:p>
          <a:p>
            <a:pPr algn="l">
              <a:spcAft>
                <a:spcPts val="100"/>
              </a:spcAft>
            </a:pPr>
            <a:r>
              <a:rPr sz="1050" b="0" i="0">
                <a:solidFill>
                  <a:srgbClr val="FFFFFF"/>
                </a:solidFill>
                <a:effectLst>
                  <a:glow rad="63500">
                    <a:srgbClr val="001633">
                      <a:alpha val="85000"/>
                    </a:srgbClr>
                  </a:glow>
                </a:effectLst>
                <a:latin typeface="Montserrat"/>
              </a:rPr>
              <a:t>La ventilación consume mucha energía y define la seguridad. </a:t>
            </a:r>
            <a:r>
              <a:rPr sz="1050" b="1" i="0">
                <a:solidFill>
                  <a:srgbClr val="FFAB40"/>
                </a:solidFill>
                <a:effectLst>
                  <a:glow rad="63500">
                    <a:srgbClr val="001633">
                      <a:alpha val="85000"/>
                    </a:srgbClr>
                  </a:glow>
                </a:effectLst>
                <a:latin typeface="Montserrat"/>
              </a:rPr>
              <a:t>Decisión: </a:t>
            </a:r>
            <a:r>
              <a:rPr sz="1050" b="0" i="0">
                <a:solidFill>
                  <a:srgbClr val="FFFFFF"/>
                </a:solidFill>
                <a:effectLst>
                  <a:glow rad="63500">
                    <a:srgbClr val="001633">
                      <a:alpha val="85000"/>
                    </a:srgbClr>
                  </a:glow>
                </a:effectLst>
                <a:latin typeface="Montserrat"/>
              </a:rPr>
              <a:t>cuánto aire enviar a cada sector.</a:t>
            </a:r>
          </a:p>
        </p:txBody>
      </p:sp>
      <p:pic>
        <p:nvPicPr>
          <p:cNvPr id="23" name="Ícono database" descr="database-orange.png"/>
          <p:cNvPicPr>
            <a:picLocks noChangeAspect="1"/>
          </p:cNvPicPr>
          <p:nvPr/>
        </p:nvPicPr>
        <p:blipFill>
          <a:blip r:embed="rId7"/>
          <a:stretch>
            <a:fillRect/>
          </a:stretch>
        </p:blipFill>
        <p:spPr>
          <a:xfrm>
            <a:off x="5596128" y="2916936"/>
            <a:ext cx="274320" cy="274320"/>
          </a:xfrm>
          <a:prstGeom prst="rect">
            <a:avLst/>
          </a:prstGeom>
        </p:spPr>
      </p:pic>
      <p:sp>
        <p:nvSpPr>
          <p:cNvPr id="24" name="TextBox 23"/>
          <p:cNvSpPr txBox="1"/>
          <p:nvPr/>
        </p:nvSpPr>
        <p:spPr>
          <a:xfrm>
            <a:off x="6007608" y="2898648"/>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DATOS</a:t>
            </a:r>
          </a:p>
          <a:p>
            <a:pPr algn="l">
              <a:spcAft>
                <a:spcPts val="100"/>
              </a:spcAft>
            </a:pPr>
            <a:r>
              <a:rPr sz="1050" b="0" i="0">
                <a:solidFill>
                  <a:srgbClr val="FFFFFF"/>
                </a:solidFill>
                <a:effectLst>
                  <a:glow rad="63500">
                    <a:srgbClr val="001633">
                      <a:alpha val="85000"/>
                    </a:srgbClr>
                  </a:glow>
                </a:effectLst>
                <a:latin typeface="Montserrat"/>
              </a:rPr>
              <a:t>Caudal, temperatura, calidad del aire, ubicación de personas y equipos.</a:t>
            </a:r>
          </a:p>
        </p:txBody>
      </p:sp>
      <p:pic>
        <p:nvPicPr>
          <p:cNvPr id="25" name="Ícono brain-circuit" descr="brain-circuit-orange.png"/>
          <p:cNvPicPr>
            <a:picLocks noChangeAspect="1"/>
          </p:cNvPicPr>
          <p:nvPr/>
        </p:nvPicPr>
        <p:blipFill>
          <a:blip r:embed="rId8"/>
          <a:stretch>
            <a:fillRect/>
          </a:stretch>
        </p:blipFill>
        <p:spPr>
          <a:xfrm>
            <a:off x="5596128" y="3575304"/>
            <a:ext cx="274320" cy="274320"/>
          </a:xfrm>
          <a:prstGeom prst="rect">
            <a:avLst/>
          </a:prstGeom>
        </p:spPr>
      </p:pic>
      <p:sp>
        <p:nvSpPr>
          <p:cNvPr id="26" name="TextBox 25"/>
          <p:cNvSpPr txBox="1"/>
          <p:nvPr/>
        </p:nvSpPr>
        <p:spPr>
          <a:xfrm>
            <a:off x="6007608" y="3557016"/>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MODELO</a:t>
            </a:r>
          </a:p>
          <a:p>
            <a:pPr algn="l">
              <a:spcAft>
                <a:spcPts val="100"/>
              </a:spcAft>
            </a:pPr>
            <a:r>
              <a:rPr sz="1050" b="0" i="0">
                <a:solidFill>
                  <a:srgbClr val="FFFFFF"/>
                </a:solidFill>
                <a:effectLst>
                  <a:glow rad="63500">
                    <a:srgbClr val="001633">
                      <a:alpha val="85000"/>
                    </a:srgbClr>
                  </a:glow>
                </a:effectLst>
                <a:latin typeface="Montserrat"/>
              </a:rPr>
              <a:t>Red de ventilación calibrada con mediciones en vivo.</a:t>
            </a:r>
          </a:p>
        </p:txBody>
      </p:sp>
      <p:pic>
        <p:nvPicPr>
          <p:cNvPr id="27" name="Ícono boxes" descr="boxes-orange.png"/>
          <p:cNvPicPr>
            <a:picLocks noChangeAspect="1"/>
          </p:cNvPicPr>
          <p:nvPr/>
        </p:nvPicPr>
        <p:blipFill>
          <a:blip r:embed="rId9"/>
          <a:stretch>
            <a:fillRect/>
          </a:stretch>
        </p:blipFill>
        <p:spPr>
          <a:xfrm>
            <a:off x="5596128" y="4233672"/>
            <a:ext cx="274320" cy="274320"/>
          </a:xfrm>
          <a:prstGeom prst="rect">
            <a:avLst/>
          </a:prstGeom>
        </p:spPr>
      </p:pic>
      <p:sp>
        <p:nvSpPr>
          <p:cNvPr id="28" name="TextBox 27"/>
          <p:cNvSpPr txBox="1"/>
          <p:nvPr/>
        </p:nvSpPr>
        <p:spPr>
          <a:xfrm>
            <a:off x="6007608" y="4215384"/>
            <a:ext cx="5257800" cy="640080"/>
          </a:xfrm>
          <a:prstGeom prst="rect">
            <a:avLst/>
          </a:prstGeom>
          <a:noFill/>
        </p:spPr>
        <p:txBody>
          <a:bodyPr wrap="square" lIns="0" tIns="0" rIns="0" bIns="0" anchor="t">
            <a:spAutoFit/>
          </a:bodyPr>
          <a:lstStyle/>
          <a:p>
            <a:pPr algn="l">
              <a:spcAft>
                <a:spcPts val="100"/>
              </a:spcAft>
            </a:pPr>
            <a:r>
              <a:rPr sz="850" b="1" i="0">
                <a:solidFill>
                  <a:srgbClr val="A9B8C9"/>
                </a:solidFill>
                <a:effectLst>
                  <a:glow rad="63500">
                    <a:srgbClr val="001633">
                      <a:alpha val="85000"/>
                    </a:srgbClr>
                  </a:glow>
                </a:effectLst>
                <a:latin typeface="Montserrat"/>
              </a:rPr>
              <a:t>TIPOS DE SOLUCIÓN</a:t>
            </a:r>
          </a:p>
          <a:p>
            <a:pPr algn="l">
              <a:spcAft>
                <a:spcPts val="100"/>
              </a:spcAft>
            </a:pPr>
            <a:r>
              <a:rPr sz="1050" b="0" i="0">
                <a:solidFill>
                  <a:srgbClr val="FFFFFF"/>
                </a:solidFill>
                <a:effectLst>
                  <a:glow rad="63500">
                    <a:srgbClr val="001633">
                      <a:alpha val="85000"/>
                    </a:srgbClr>
                  </a:glow>
                </a:effectLst>
                <a:latin typeface="Montserrat"/>
              </a:rPr>
              <a:t>Ventilación bajo demanda, sistemas de localización, telemetría de equipos.</a:t>
            </a:r>
          </a:p>
        </p:txBody>
      </p:sp>
      <p:sp>
        <p:nvSpPr>
          <p:cNvPr id="29" name="Caso público"/>
          <p:cNvSpPr/>
          <p:nvPr/>
        </p:nvSpPr>
        <p:spPr>
          <a:xfrm>
            <a:off x="5596128" y="4983480"/>
            <a:ext cx="56692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760720" y="4983480"/>
            <a:ext cx="539496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050" b="0" i="0">
                <a:solidFill>
                  <a:srgbClr val="FFFFFF"/>
                </a:solidFill>
                <a:effectLst>
                  <a:glow rad="63500">
                    <a:srgbClr val="001633">
                      <a:alpha val="85000"/>
                    </a:srgbClr>
                  </a:glow>
                </a:effectLst>
                <a:latin typeface="Montserrat"/>
              </a:rPr>
              <a:t>Vuma: simulación calibrada con mediciones en vivo para ajustar el aire dentro de límites seguros. </a:t>
            </a:r>
            <a:r>
              <a:rPr sz="1050" b="0" i="0">
                <a:solidFill>
                  <a:srgbClr val="A9B8C9"/>
                </a:solidFill>
                <a:effectLst>
                  <a:glow rad="63500">
                    <a:srgbClr val="001633">
                      <a:alpha val="85000"/>
                    </a:srgbClr>
                  </a:glow>
                </a:effectLst>
                <a:latin typeface="Montserrat"/>
              </a:rPr>
              <a:t>[13]</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Celda del cubo y grado: lectura propia · tipos de solución: genéricos, sin ranking · imagen ilustrativa, no de la faena citada</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actual"/>
          <p:cNvSpPr/>
          <p:nvPr/>
        </p:nvSpPr>
        <p:spPr>
          <a:xfrm>
            <a:off x="3127248" y="6510528"/>
            <a:ext cx="8915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9/18 </a:t>
            </a:r>
            <a:r>
              <a:rPr sz="1000" b="0" i="0">
                <a:solidFill>
                  <a:srgbClr val="A9B8C9"/>
                </a:solidFill>
                <a:effectLst>
                  <a:glow rad="63500">
                    <a:srgbClr val="001633">
                      <a:alpha val="85000"/>
                    </a:srgbClr>
                  </a:glow>
                </a:effectLst>
                <a:latin typeface="Montserrat"/>
              </a:rPr>
              <a:t>· Gemelos Digitales para Minería 4.0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Seis empresas ofrecen gemelos para la minería, y cada una parte de un lugar distinto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OFERTA DEL MERCADO</a:t>
            </a:r>
          </a:p>
        </p:txBody>
      </p:sp>
      <p:sp>
        <p:nvSpPr>
          <p:cNvPr id="6" name="TextBox 5"/>
          <p:cNvSpPr txBox="1"/>
          <p:nvPr/>
        </p:nvSpPr>
        <p:spPr>
          <a:xfrm>
            <a:off x="1252728" y="1828800"/>
            <a:ext cx="841248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Ninguna cubre toda la cadena. Cada una nació en un mundo distinto (datos, automatización, control, accionamientos, mina, geología) y desde ahí ofrece su gemelo.</a:t>
            </a:r>
          </a:p>
        </p:txBody>
      </p:sp>
      <p:sp>
        <p:nvSpPr>
          <p:cNvPr id="7" name="TextBox 6"/>
          <p:cNvSpPr txBox="1"/>
          <p:nvPr/>
        </p:nvSpPr>
        <p:spPr>
          <a:xfrm>
            <a:off x="4636008" y="2487168"/>
            <a:ext cx="1657350" cy="27432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Geología y plan</a:t>
            </a:r>
          </a:p>
        </p:txBody>
      </p:sp>
      <p:sp>
        <p:nvSpPr>
          <p:cNvPr id="8" name="TextBox 7"/>
          <p:cNvSpPr txBox="1"/>
          <p:nvPr/>
        </p:nvSpPr>
        <p:spPr>
          <a:xfrm>
            <a:off x="6293358" y="2487168"/>
            <a:ext cx="1657350" cy="27432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Operación mina</a:t>
            </a:r>
          </a:p>
        </p:txBody>
      </p:sp>
      <p:sp>
        <p:nvSpPr>
          <p:cNvPr id="9" name="TextBox 8"/>
          <p:cNvSpPr txBox="1"/>
          <p:nvPr/>
        </p:nvSpPr>
        <p:spPr>
          <a:xfrm>
            <a:off x="7950708" y="2487168"/>
            <a:ext cx="1657350" cy="27432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Planta de proceso</a:t>
            </a:r>
          </a:p>
        </p:txBody>
      </p:sp>
      <p:sp>
        <p:nvSpPr>
          <p:cNvPr id="10" name="TextBox 9"/>
          <p:cNvSpPr txBox="1"/>
          <p:nvPr/>
        </p:nvSpPr>
        <p:spPr>
          <a:xfrm>
            <a:off x="9608058" y="2487168"/>
            <a:ext cx="1657350" cy="27432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Datos y operación integrada</a:t>
            </a:r>
          </a:p>
        </p:txBody>
      </p:sp>
      <p:sp>
        <p:nvSpPr>
          <p:cNvPr id="11" name="Empresa AVEVA"/>
          <p:cNvSpPr/>
          <p:nvPr/>
        </p:nvSpPr>
        <p:spPr>
          <a:xfrm>
            <a:off x="1252728" y="2798064"/>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Placa aveva"/>
          <p:cNvSpPr/>
          <p:nvPr/>
        </p:nvSpPr>
        <p:spPr>
          <a:xfrm>
            <a:off x="1325880" y="2843784"/>
            <a:ext cx="868680" cy="292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Logo aveva" descr="logo-aveva.png"/>
          <p:cNvPicPr>
            <a:picLocks noChangeAspect="1"/>
          </p:cNvPicPr>
          <p:nvPr/>
        </p:nvPicPr>
        <p:blipFill>
          <a:blip r:embed="rId3"/>
          <a:stretch>
            <a:fillRect/>
          </a:stretch>
        </p:blipFill>
        <p:spPr>
          <a:xfrm>
            <a:off x="1541856" y="2898648"/>
            <a:ext cx="436728" cy="182880"/>
          </a:xfrm>
          <a:prstGeom prst="rect">
            <a:avLst/>
          </a:prstGeom>
        </p:spPr>
      </p:pic>
      <p:sp>
        <p:nvSpPr>
          <p:cNvPr id="14" name="TextBox 13"/>
          <p:cNvSpPr txBox="1"/>
          <p:nvPr/>
        </p:nvSpPr>
        <p:spPr>
          <a:xfrm>
            <a:off x="2304288" y="2798064"/>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AVEVA</a:t>
            </a:r>
            <a:r>
              <a:rPr sz="850" b="0" i="0">
                <a:solidFill>
                  <a:srgbClr val="A9B8C9"/>
                </a:solidFill>
                <a:effectLst>
                  <a:glow rad="63500">
                    <a:srgbClr val="001633">
                      <a:alpha val="85000"/>
                    </a:srgbClr>
                  </a:glow>
                </a:effectLst>
                <a:latin typeface="Montserrat"/>
              </a:rPr>
              <a:t>  Schneider Electric</a:t>
            </a:r>
          </a:p>
          <a:p>
            <a:pPr algn="l">
              <a:spcAft>
                <a:spcPts val="0"/>
              </a:spcAft>
            </a:pPr>
            <a:r>
              <a:rPr sz="900" b="0" i="0">
                <a:solidFill>
                  <a:srgbClr val="FFAB40"/>
                </a:solidFill>
                <a:effectLst>
                  <a:glow rad="63500">
                    <a:srgbClr val="001633">
                      <a:alpha val="85000"/>
                    </a:srgbClr>
                  </a:glow>
                </a:effectLst>
                <a:latin typeface="Montserrat"/>
              </a:rPr>
              <a:t>fuerte en datos de operación</a:t>
            </a:r>
          </a:p>
        </p:txBody>
      </p:sp>
      <p:sp>
        <p:nvSpPr>
          <p:cNvPr id="15" name="Parcial"/>
          <p:cNvSpPr/>
          <p:nvPr/>
        </p:nvSpPr>
        <p:spPr>
          <a:xfrm>
            <a:off x="8697087" y="2907792"/>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Fuerte"/>
          <p:cNvSpPr/>
          <p:nvPr/>
        </p:nvSpPr>
        <p:spPr>
          <a:xfrm>
            <a:off x="10336149" y="2889504"/>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Empresa Siemens"/>
          <p:cNvSpPr/>
          <p:nvPr/>
        </p:nvSpPr>
        <p:spPr>
          <a:xfrm>
            <a:off x="1252728" y="3227832"/>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Placa siemens"/>
          <p:cNvSpPr/>
          <p:nvPr/>
        </p:nvSpPr>
        <p:spPr>
          <a:xfrm>
            <a:off x="1325880" y="3273552"/>
            <a:ext cx="868680" cy="292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Logo siemens" descr="logo-siemens.png"/>
          <p:cNvPicPr>
            <a:picLocks noChangeAspect="1"/>
          </p:cNvPicPr>
          <p:nvPr/>
        </p:nvPicPr>
        <p:blipFill>
          <a:blip r:embed="rId4"/>
          <a:stretch>
            <a:fillRect/>
          </a:stretch>
        </p:blipFill>
        <p:spPr>
          <a:xfrm>
            <a:off x="1380744" y="3338984"/>
            <a:ext cx="758952" cy="161743"/>
          </a:xfrm>
          <a:prstGeom prst="rect">
            <a:avLst/>
          </a:prstGeom>
        </p:spPr>
      </p:pic>
      <p:sp>
        <p:nvSpPr>
          <p:cNvPr id="20" name="TextBox 19"/>
          <p:cNvSpPr txBox="1"/>
          <p:nvPr/>
        </p:nvSpPr>
        <p:spPr>
          <a:xfrm>
            <a:off x="2304288" y="3227832"/>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Siemens</a:t>
            </a:r>
          </a:p>
          <a:p>
            <a:pPr algn="l">
              <a:spcAft>
                <a:spcPts val="0"/>
              </a:spcAft>
            </a:pPr>
            <a:r>
              <a:rPr sz="900" b="0" i="0">
                <a:solidFill>
                  <a:srgbClr val="FFAB40"/>
                </a:solidFill>
                <a:effectLst>
                  <a:glow rad="63500">
                    <a:srgbClr val="001633">
                      <a:alpha val="85000"/>
                    </a:srgbClr>
                  </a:glow>
                </a:effectLst>
                <a:latin typeface="Montserrat"/>
              </a:rPr>
              <a:t>fuerte en ingeniería y automatización</a:t>
            </a:r>
          </a:p>
        </p:txBody>
      </p:sp>
      <p:sp>
        <p:nvSpPr>
          <p:cNvPr id="21" name="Fuerte"/>
          <p:cNvSpPr/>
          <p:nvPr/>
        </p:nvSpPr>
        <p:spPr>
          <a:xfrm>
            <a:off x="8678799" y="3319272"/>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arcial"/>
          <p:cNvSpPr/>
          <p:nvPr/>
        </p:nvSpPr>
        <p:spPr>
          <a:xfrm>
            <a:off x="10354437" y="3337560"/>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Empresa ABB"/>
          <p:cNvSpPr/>
          <p:nvPr/>
        </p:nvSpPr>
        <p:spPr>
          <a:xfrm>
            <a:off x="1252728" y="3657600"/>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Placa abb"/>
          <p:cNvSpPr/>
          <p:nvPr/>
        </p:nvSpPr>
        <p:spPr>
          <a:xfrm>
            <a:off x="1325880" y="3703320"/>
            <a:ext cx="868680" cy="292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Logo abb" descr="logo-abb.png"/>
          <p:cNvPicPr>
            <a:picLocks noChangeAspect="1"/>
          </p:cNvPicPr>
          <p:nvPr/>
        </p:nvPicPr>
        <p:blipFill>
          <a:blip r:embed="rId5"/>
          <a:stretch>
            <a:fillRect/>
          </a:stretch>
        </p:blipFill>
        <p:spPr>
          <a:xfrm>
            <a:off x="1529820" y="3758184"/>
            <a:ext cx="460800" cy="182880"/>
          </a:xfrm>
          <a:prstGeom prst="rect">
            <a:avLst/>
          </a:prstGeom>
        </p:spPr>
      </p:pic>
      <p:sp>
        <p:nvSpPr>
          <p:cNvPr id="26" name="TextBox 25"/>
          <p:cNvSpPr txBox="1"/>
          <p:nvPr/>
        </p:nvSpPr>
        <p:spPr>
          <a:xfrm>
            <a:off x="2304288" y="3657600"/>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ABB</a:t>
            </a:r>
          </a:p>
          <a:p>
            <a:pPr algn="l">
              <a:spcAft>
                <a:spcPts val="0"/>
              </a:spcAft>
            </a:pPr>
            <a:r>
              <a:rPr sz="900" b="0" i="0">
                <a:solidFill>
                  <a:srgbClr val="FFAB40"/>
                </a:solidFill>
                <a:effectLst>
                  <a:glow rad="63500">
                    <a:srgbClr val="001633">
                      <a:alpha val="85000"/>
                    </a:srgbClr>
                  </a:glow>
                </a:effectLst>
                <a:latin typeface="Montserrat"/>
              </a:rPr>
              <a:t>fuerte en control y electrificación</a:t>
            </a:r>
          </a:p>
        </p:txBody>
      </p:sp>
      <p:sp>
        <p:nvSpPr>
          <p:cNvPr id="27" name="Parcial"/>
          <p:cNvSpPr/>
          <p:nvPr/>
        </p:nvSpPr>
        <p:spPr>
          <a:xfrm>
            <a:off x="7039737" y="3767328"/>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Fuerte"/>
          <p:cNvSpPr/>
          <p:nvPr/>
        </p:nvSpPr>
        <p:spPr>
          <a:xfrm>
            <a:off x="8678799" y="3749040"/>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Parcial"/>
          <p:cNvSpPr/>
          <p:nvPr/>
        </p:nvSpPr>
        <p:spPr>
          <a:xfrm>
            <a:off x="10354437" y="3767328"/>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Empresa Innomotics"/>
          <p:cNvSpPr/>
          <p:nvPr/>
        </p:nvSpPr>
        <p:spPr>
          <a:xfrm>
            <a:off x="1252728" y="4087368"/>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Placa innomotics"/>
          <p:cNvSpPr/>
          <p:nvPr/>
        </p:nvSpPr>
        <p:spPr>
          <a:xfrm>
            <a:off x="1325880" y="4133088"/>
            <a:ext cx="868680" cy="292608"/>
          </a:xfrm>
          <a:prstGeom prst="roundRect">
            <a:avLst>
              <a:gd name="adj" fmla="val 12000"/>
            </a:avLst>
          </a:prstGeom>
          <a:solidFill>
            <a:srgbClr val="0D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Logo innomotics" descr="logo-innomotics.png"/>
          <p:cNvPicPr>
            <a:picLocks noChangeAspect="1"/>
          </p:cNvPicPr>
          <p:nvPr/>
        </p:nvPicPr>
        <p:blipFill>
          <a:blip r:embed="rId6"/>
          <a:stretch>
            <a:fillRect/>
          </a:stretch>
        </p:blipFill>
        <p:spPr>
          <a:xfrm>
            <a:off x="1453581" y="4187952"/>
            <a:ext cx="613278" cy="182880"/>
          </a:xfrm>
          <a:prstGeom prst="rect">
            <a:avLst/>
          </a:prstGeom>
        </p:spPr>
      </p:pic>
      <p:sp>
        <p:nvSpPr>
          <p:cNvPr id="33" name="TextBox 32"/>
          <p:cNvSpPr txBox="1"/>
          <p:nvPr/>
        </p:nvSpPr>
        <p:spPr>
          <a:xfrm>
            <a:off x="2304288" y="4087368"/>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Innomotics</a:t>
            </a:r>
          </a:p>
          <a:p>
            <a:pPr algn="l">
              <a:spcAft>
                <a:spcPts val="0"/>
              </a:spcAft>
            </a:pPr>
            <a:r>
              <a:rPr sz="900" b="0" i="0">
                <a:solidFill>
                  <a:srgbClr val="FFAB40"/>
                </a:solidFill>
                <a:effectLst>
                  <a:glow rad="63500">
                    <a:srgbClr val="001633">
                      <a:alpha val="85000"/>
                    </a:srgbClr>
                  </a:glow>
                </a:effectLst>
                <a:latin typeface="Montserrat"/>
              </a:rPr>
              <a:t>fuerte en accionamientos y DigiMine</a:t>
            </a:r>
          </a:p>
        </p:txBody>
      </p:sp>
      <p:sp>
        <p:nvSpPr>
          <p:cNvPr id="34" name="Parcial"/>
          <p:cNvSpPr/>
          <p:nvPr/>
        </p:nvSpPr>
        <p:spPr>
          <a:xfrm>
            <a:off x="7039737" y="4197096"/>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Fuerte"/>
          <p:cNvSpPr/>
          <p:nvPr/>
        </p:nvSpPr>
        <p:spPr>
          <a:xfrm>
            <a:off x="8678799" y="4178808"/>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Parcial"/>
          <p:cNvSpPr/>
          <p:nvPr/>
        </p:nvSpPr>
        <p:spPr>
          <a:xfrm>
            <a:off x="10354437" y="4197096"/>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Empresa Hexagon"/>
          <p:cNvSpPr/>
          <p:nvPr/>
        </p:nvSpPr>
        <p:spPr>
          <a:xfrm>
            <a:off x="1252728" y="4517136"/>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Placa hexagon"/>
          <p:cNvSpPr/>
          <p:nvPr/>
        </p:nvSpPr>
        <p:spPr>
          <a:xfrm>
            <a:off x="1325880" y="4562856"/>
            <a:ext cx="868680" cy="292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Logo hexagon" descr="logo-hexagon.png"/>
          <p:cNvPicPr>
            <a:picLocks noChangeAspect="1"/>
          </p:cNvPicPr>
          <p:nvPr/>
        </p:nvPicPr>
        <p:blipFill>
          <a:blip r:embed="rId7"/>
          <a:stretch>
            <a:fillRect/>
          </a:stretch>
        </p:blipFill>
        <p:spPr>
          <a:xfrm>
            <a:off x="1463908" y="4617720"/>
            <a:ext cx="592623" cy="182880"/>
          </a:xfrm>
          <a:prstGeom prst="rect">
            <a:avLst/>
          </a:prstGeom>
        </p:spPr>
      </p:pic>
      <p:sp>
        <p:nvSpPr>
          <p:cNvPr id="40" name="TextBox 39"/>
          <p:cNvSpPr txBox="1"/>
          <p:nvPr/>
        </p:nvSpPr>
        <p:spPr>
          <a:xfrm>
            <a:off x="2304288" y="4517136"/>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Hexagon</a:t>
            </a:r>
          </a:p>
          <a:p>
            <a:pPr algn="l">
              <a:spcAft>
                <a:spcPts val="0"/>
              </a:spcAft>
            </a:pPr>
            <a:r>
              <a:rPr sz="900" b="0" i="0">
                <a:solidFill>
                  <a:srgbClr val="FFAB40"/>
                </a:solidFill>
                <a:effectLst>
                  <a:glow rad="63500">
                    <a:srgbClr val="001633">
                      <a:alpha val="85000"/>
                    </a:srgbClr>
                  </a:glow>
                </a:effectLst>
                <a:latin typeface="Montserrat"/>
              </a:rPr>
              <a:t>fuerte en mina: plan, flota y seguridad</a:t>
            </a:r>
          </a:p>
        </p:txBody>
      </p:sp>
      <p:sp>
        <p:nvSpPr>
          <p:cNvPr id="41" name="Fuerte"/>
          <p:cNvSpPr/>
          <p:nvPr/>
        </p:nvSpPr>
        <p:spPr>
          <a:xfrm>
            <a:off x="5364099" y="4608576"/>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Fuerte"/>
          <p:cNvSpPr/>
          <p:nvPr/>
        </p:nvSpPr>
        <p:spPr>
          <a:xfrm>
            <a:off x="7021449" y="4608576"/>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Parcial"/>
          <p:cNvSpPr/>
          <p:nvPr/>
        </p:nvSpPr>
        <p:spPr>
          <a:xfrm>
            <a:off x="10354437" y="4626864"/>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Empresa Dassault Systèmes"/>
          <p:cNvSpPr/>
          <p:nvPr/>
        </p:nvSpPr>
        <p:spPr>
          <a:xfrm>
            <a:off x="1252728" y="4946904"/>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Placa dassault"/>
          <p:cNvSpPr/>
          <p:nvPr/>
        </p:nvSpPr>
        <p:spPr>
          <a:xfrm>
            <a:off x="1325880" y="4992624"/>
            <a:ext cx="868680" cy="2926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6" name="Logo dassault" descr="logo-dassault.png"/>
          <p:cNvPicPr>
            <a:picLocks noChangeAspect="1"/>
          </p:cNvPicPr>
          <p:nvPr/>
        </p:nvPicPr>
        <p:blipFill>
          <a:blip r:embed="rId8"/>
          <a:stretch>
            <a:fillRect/>
          </a:stretch>
        </p:blipFill>
        <p:spPr>
          <a:xfrm>
            <a:off x="1457783" y="5047488"/>
            <a:ext cx="604874" cy="182880"/>
          </a:xfrm>
          <a:prstGeom prst="rect">
            <a:avLst/>
          </a:prstGeom>
        </p:spPr>
      </p:pic>
      <p:sp>
        <p:nvSpPr>
          <p:cNvPr id="47" name="TextBox 46"/>
          <p:cNvSpPr txBox="1"/>
          <p:nvPr/>
        </p:nvSpPr>
        <p:spPr>
          <a:xfrm>
            <a:off x="2304288" y="4946904"/>
            <a:ext cx="2331720" cy="384048"/>
          </a:xfrm>
          <a:prstGeom prst="rect">
            <a:avLst/>
          </a:prstGeom>
          <a:noFill/>
        </p:spPr>
        <p:txBody>
          <a:bodyPr wrap="square" lIns="0" tIns="0" rIns="0" bIns="0" anchor="ctr">
            <a:spAutoFit/>
          </a:bodyPr>
          <a:lstStyle/>
          <a:p>
            <a:pPr algn="l">
              <a:spcAft>
                <a:spcPts val="0"/>
              </a:spcAft>
            </a:pPr>
            <a:r>
              <a:rPr sz="1300" b="1" i="0">
                <a:solidFill>
                  <a:srgbClr val="FFFFFF"/>
                </a:solidFill>
                <a:effectLst>
                  <a:glow rad="63500">
                    <a:srgbClr val="001633">
                      <a:alpha val="85000"/>
                    </a:srgbClr>
                  </a:glow>
                </a:effectLst>
                <a:latin typeface="Montserrat"/>
              </a:rPr>
              <a:t>Dassault Systèmes</a:t>
            </a:r>
          </a:p>
          <a:p>
            <a:pPr algn="l">
              <a:spcAft>
                <a:spcPts val="0"/>
              </a:spcAft>
            </a:pPr>
            <a:r>
              <a:rPr sz="900" b="0" i="0">
                <a:solidFill>
                  <a:srgbClr val="FFAB40"/>
                </a:solidFill>
                <a:effectLst>
                  <a:glow rad="63500">
                    <a:srgbClr val="001633">
                      <a:alpha val="85000"/>
                    </a:srgbClr>
                  </a:glow>
                </a:effectLst>
                <a:latin typeface="Montserrat"/>
              </a:rPr>
              <a:t>fuerte en geología y modelo de la mina</a:t>
            </a:r>
          </a:p>
        </p:txBody>
      </p:sp>
      <p:sp>
        <p:nvSpPr>
          <p:cNvPr id="48" name="Fuerte"/>
          <p:cNvSpPr/>
          <p:nvPr/>
        </p:nvSpPr>
        <p:spPr>
          <a:xfrm>
            <a:off x="5364099" y="5038344"/>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Parcial"/>
          <p:cNvSpPr/>
          <p:nvPr/>
        </p:nvSpPr>
        <p:spPr>
          <a:xfrm>
            <a:off x="7039737" y="5056632"/>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Parcial"/>
          <p:cNvSpPr/>
          <p:nvPr/>
        </p:nvSpPr>
        <p:spPr>
          <a:xfrm>
            <a:off x="10354437" y="5056632"/>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Leyenda fuerte"/>
          <p:cNvSpPr/>
          <p:nvPr/>
        </p:nvSpPr>
        <p:spPr>
          <a:xfrm>
            <a:off x="1252728" y="5440680"/>
            <a:ext cx="201168" cy="20116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527048" y="5413248"/>
            <a:ext cx="146304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oferta principal</a:t>
            </a:r>
          </a:p>
        </p:txBody>
      </p:sp>
      <p:sp>
        <p:nvSpPr>
          <p:cNvPr id="53" name="Leyenda parcial"/>
          <p:cNvSpPr/>
          <p:nvPr/>
        </p:nvSpPr>
        <p:spPr>
          <a:xfrm>
            <a:off x="2944368" y="5458968"/>
            <a:ext cx="164592" cy="164592"/>
          </a:xfrm>
          <a:prstGeom prst="ellipse">
            <a:avLst/>
          </a:prstGeom>
          <a:no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3200400" y="5413248"/>
            <a:ext cx="146304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oferta parcial</a:t>
            </a:r>
          </a:p>
        </p:txBody>
      </p:sp>
      <p:sp>
        <p:nvSpPr>
          <p:cNvPr id="55" name="TextBox 54"/>
          <p:cNvSpPr txBox="1"/>
          <p:nvPr/>
        </p:nvSpPr>
        <p:spPr>
          <a:xfrm>
            <a:off x="4544568" y="5413248"/>
            <a:ext cx="6720840" cy="256032"/>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Además, </a:t>
            </a:r>
            <a:r>
              <a:rPr sz="950" b="1" i="0">
                <a:solidFill>
                  <a:srgbClr val="FFFFFF"/>
                </a:solidFill>
                <a:effectLst>
                  <a:glow rad="63500">
                    <a:srgbClr val="001633">
                      <a:alpha val="85000"/>
                    </a:srgbClr>
                  </a:glow>
                </a:effectLst>
                <a:latin typeface="Montserrat"/>
              </a:rPr>
              <a:t>fabricantes de equipos</a:t>
            </a:r>
            <a:r>
              <a:rPr sz="950" b="0" i="0">
                <a:solidFill>
                  <a:srgbClr val="A9B8C9"/>
                </a:solidFill>
                <a:effectLst>
                  <a:glow rad="63500">
                    <a:srgbClr val="001633">
                      <a:alpha val="85000"/>
                    </a:srgbClr>
                  </a:glow>
                </a:effectLst>
                <a:latin typeface="Montserrat"/>
              </a:rPr>
              <a:t> (Metso, FLSmidth, ANDRITZ) ofrecen gemelos de sus propios equipos de proceso.</a:t>
            </a:r>
          </a:p>
        </p:txBody>
      </p:sp>
      <p:sp>
        <p:nvSpPr>
          <p:cNvPr id="5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Selección de empresas: syllabus del curso (presencia en grandes mineras, cobertura del stack y casos públicos) · cobertura: lectura propia de su oferta pública, sin ranking</a:t>
            </a:r>
          </a:p>
        </p:txBody>
      </p:sp>
      <p:sp>
        <p:nvSpPr>
          <p:cNvPr id="5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6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I actual"/>
          <p:cNvSpPr/>
          <p:nvPr/>
        </p:nvSpPr>
        <p:spPr>
          <a:xfrm>
            <a:off x="3127248" y="6510528"/>
            <a:ext cx="9906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6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10/18 </a:t>
            </a:r>
            <a:r>
              <a:rPr sz="1000" b="0" i="0">
                <a:solidFill>
                  <a:srgbClr val="A9B8C9"/>
                </a:solidFill>
                <a:effectLst>
                  <a:glow rad="63500">
                    <a:srgbClr val="001633">
                      <a:alpha val="85000"/>
                    </a:srgbClr>
                  </a:glow>
                </a:effectLst>
                <a:latin typeface="Montserrat"/>
              </a:rPr>
              <a:t>· Gemelos Digitales para Minería 4.0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AVEVA: el gemelo nace de los datos de operación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AVEVA</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 los datos: reúne todas las señales de la faena en un historian y desde ahí monta tableros, analítica y salas de operación.</a:t>
            </a:r>
          </a:p>
        </p:txBody>
      </p:sp>
      <p:sp>
        <p:nvSpPr>
          <p:cNvPr id="7" name="Placa aveva"/>
          <p:cNvSpPr/>
          <p:nvPr/>
        </p:nvSpPr>
        <p:spPr>
          <a:xfrm>
            <a:off x="9482328" y="1783080"/>
            <a:ext cx="17830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aveva" descr="logo-aveva.png"/>
          <p:cNvPicPr>
            <a:picLocks noChangeAspect="1"/>
          </p:cNvPicPr>
          <p:nvPr/>
        </p:nvPicPr>
        <p:blipFill>
          <a:blip r:embed="rId3"/>
          <a:stretch>
            <a:fillRect/>
          </a:stretch>
        </p:blipFill>
        <p:spPr>
          <a:xfrm>
            <a:off x="9827958" y="1837944"/>
            <a:ext cx="1091820" cy="457200"/>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AVEVA PI System"/>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AVEVA PI System</a:t>
            </a:r>
          </a:p>
          <a:p>
            <a:pPr algn="l">
              <a:spcAft>
                <a:spcPts val="0"/>
              </a:spcAft>
            </a:pPr>
            <a:r>
              <a:rPr sz="1000" b="0" i="0">
                <a:solidFill>
                  <a:srgbClr val="A9B8C9"/>
                </a:solidFill>
                <a:effectLst>
                  <a:glow rad="63500">
                    <a:srgbClr val="001633">
                      <a:alpha val="85000"/>
                    </a:srgbClr>
                  </a:glow>
                </a:effectLst>
                <a:latin typeface="Montserrat"/>
              </a:rPr>
              <a:t>historian: guarda y ordena las series de tiempo de toda la faena</a:t>
            </a:r>
          </a:p>
        </p:txBody>
      </p:sp>
      <p:sp>
        <p:nvSpPr>
          <p:cNvPr id="13" name="Producto AVEVA Unified Operations Center"/>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AVEVA Unified Operations Center</a:t>
            </a:r>
          </a:p>
          <a:p>
            <a:pPr algn="l">
              <a:spcAft>
                <a:spcPts val="0"/>
              </a:spcAft>
            </a:pPr>
            <a:r>
              <a:rPr sz="1000" b="0" i="0">
                <a:solidFill>
                  <a:srgbClr val="A9B8C9"/>
                </a:solidFill>
                <a:effectLst>
                  <a:glow rad="63500">
                    <a:srgbClr val="001633">
                      <a:alpha val="85000"/>
                    </a:srgbClr>
                  </a:glow>
                </a:effectLst>
                <a:latin typeface="Montserrat"/>
              </a:rPr>
              <a:t>sala de operación integrada con tableros e indicadores</a:t>
            </a:r>
          </a:p>
        </p:txBody>
      </p:sp>
      <p:sp>
        <p:nvSpPr>
          <p:cNvPr id="16" name="Producto AVEVA Process Simulation"/>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AVEVA Process Simulation</a:t>
            </a:r>
          </a:p>
          <a:p>
            <a:pPr algn="l">
              <a:spcAft>
                <a:spcPts val="0"/>
              </a:spcAft>
            </a:pPr>
            <a:r>
              <a:rPr sz="1000" b="0" i="0">
                <a:solidFill>
                  <a:srgbClr val="A9B8C9"/>
                </a:solidFill>
                <a:effectLst>
                  <a:glow rad="63500">
                    <a:srgbClr val="001633">
                      <a:alpha val="85000"/>
                    </a:srgbClr>
                  </a:glow>
                </a:effectLst>
                <a:latin typeface="Montserrat"/>
              </a:rPr>
              <a:t>simulador de procesos para diseño y operación</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4 · Infraestructura</a:t>
            </a:r>
          </a:p>
        </p:txBody>
      </p:sp>
      <p:sp>
        <p:nvSpPr>
          <p:cNvPr id="24" name="Capa Modelo"/>
          <p:cNvSpPr/>
          <p:nvPr/>
        </p:nvSpPr>
        <p:spPr>
          <a:xfrm>
            <a:off x="7424928" y="3255264"/>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3 · Modelo</a:t>
            </a:r>
          </a:p>
        </p:txBody>
      </p:sp>
      <p:sp>
        <p:nvSpPr>
          <p:cNvPr id="26" name="Capa Integración"/>
          <p:cNvSpPr/>
          <p:nvPr/>
        </p:nvSpPr>
        <p:spPr>
          <a:xfrm>
            <a:off x="7424928" y="3502152"/>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28" name="Capa Fuentes"/>
          <p:cNvSpPr/>
          <p:nvPr/>
        </p:nvSpPr>
        <p:spPr>
          <a:xfrm>
            <a:off x="7424928" y="3749040"/>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series de tiempo y modelos de datos; simulación de procesos como complemento</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Ok Tedi (Papúa Nueva Guinea): con PI System, recuperación de cobre +2,4 % y de oro +7,4 %. </a:t>
            </a:r>
            <a:r>
              <a:rPr sz="1000" b="0" i="0">
                <a:solidFill>
                  <a:srgbClr val="A9B8C9"/>
                </a:solidFill>
                <a:effectLst>
                  <a:glow rad="63500">
                    <a:srgbClr val="001633">
                      <a:alpha val="85000"/>
                    </a:srgbClr>
                  </a:glow>
                </a:effectLst>
                <a:latin typeface="Montserrat"/>
              </a:rPr>
              <a:t>[14]</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0896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11/18 </a:t>
            </a:r>
            <a:r>
              <a:rPr sz="1000" b="0" i="0">
                <a:solidFill>
                  <a:srgbClr val="A9B8C9"/>
                </a:solidFill>
                <a:effectLst>
                  <a:glow rad="63500">
                    <a:srgbClr val="001633">
                      <a:alpha val="85000"/>
                    </a:srgbClr>
                  </a:glow>
                </a:effectLst>
                <a:latin typeface="Montserrat"/>
              </a:rPr>
              <a:t>· Gemelos Digitales para Minería 4.0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Siemens: el gemelo nace de la ingeniería y la automatización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SIEMENS</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 la ingeniería de la planta y del control: el mismo modelo acompaña el diseño, la construcción y la operación.</a:t>
            </a:r>
          </a:p>
        </p:txBody>
      </p:sp>
      <p:sp>
        <p:nvSpPr>
          <p:cNvPr id="7" name="Placa siemens"/>
          <p:cNvSpPr/>
          <p:nvPr/>
        </p:nvSpPr>
        <p:spPr>
          <a:xfrm>
            <a:off x="9482328" y="1783080"/>
            <a:ext cx="17830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siemens" descr="logo-siemens.png"/>
          <p:cNvPicPr>
            <a:picLocks noChangeAspect="1"/>
          </p:cNvPicPr>
          <p:nvPr/>
        </p:nvPicPr>
        <p:blipFill>
          <a:blip r:embed="rId3"/>
          <a:stretch>
            <a:fillRect/>
          </a:stretch>
        </p:blipFill>
        <p:spPr>
          <a:xfrm>
            <a:off x="9537192" y="1888236"/>
            <a:ext cx="1673352" cy="356616"/>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Siemens Xcelerator"/>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Siemens Xcelerator</a:t>
            </a:r>
          </a:p>
          <a:p>
            <a:pPr algn="l">
              <a:spcAft>
                <a:spcPts val="0"/>
              </a:spcAft>
            </a:pPr>
            <a:r>
              <a:rPr sz="1000" b="0" i="0">
                <a:solidFill>
                  <a:srgbClr val="A9B8C9"/>
                </a:solidFill>
                <a:effectLst>
                  <a:glow rad="63500">
                    <a:srgbClr val="001633">
                      <a:alpha val="85000"/>
                    </a:srgbClr>
                  </a:glow>
                </a:effectLst>
                <a:latin typeface="Montserrat"/>
              </a:rPr>
              <a:t>portafolio que agrupa software y automatización</a:t>
            </a:r>
          </a:p>
        </p:txBody>
      </p:sp>
      <p:sp>
        <p:nvSpPr>
          <p:cNvPr id="13" name="Producto COMOS"/>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COMOS</a:t>
            </a:r>
          </a:p>
          <a:p>
            <a:pPr algn="l">
              <a:spcAft>
                <a:spcPts val="0"/>
              </a:spcAft>
            </a:pPr>
            <a:r>
              <a:rPr sz="1000" b="0" i="0">
                <a:solidFill>
                  <a:srgbClr val="A9B8C9"/>
                </a:solidFill>
                <a:effectLst>
                  <a:glow rad="63500">
                    <a:srgbClr val="001633">
                      <a:alpha val="85000"/>
                    </a:srgbClr>
                  </a:glow>
                </a:effectLst>
                <a:latin typeface="Montserrat"/>
              </a:rPr>
              <a:t>ingeniería de planta: el «modelo de datos» de todos sus equipos</a:t>
            </a:r>
          </a:p>
        </p:txBody>
      </p:sp>
      <p:sp>
        <p:nvSpPr>
          <p:cNvPr id="16" name="Producto gPROMS"/>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gPROMS</a:t>
            </a:r>
          </a:p>
          <a:p>
            <a:pPr algn="l">
              <a:spcAft>
                <a:spcPts val="0"/>
              </a:spcAft>
            </a:pPr>
            <a:r>
              <a:rPr sz="1000" b="0" i="0">
                <a:solidFill>
                  <a:srgbClr val="A9B8C9"/>
                </a:solidFill>
                <a:effectLst>
                  <a:glow rad="63500">
                    <a:srgbClr val="001633">
                      <a:alpha val="85000"/>
                    </a:srgbClr>
                  </a:glow>
                </a:effectLst>
                <a:latin typeface="Montserrat"/>
              </a:rPr>
              <a:t>simulación avanzada de procesos con ecuaciones físicas</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4 · Infraestructura</a:t>
            </a:r>
          </a:p>
        </p:txBody>
      </p:sp>
      <p:sp>
        <p:nvSpPr>
          <p:cNvPr id="24" name="Capa Modelo"/>
          <p:cNvSpPr/>
          <p:nvPr/>
        </p:nvSpPr>
        <p:spPr>
          <a:xfrm>
            <a:off x="7424928" y="3255264"/>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Modelo</a:t>
            </a:r>
          </a:p>
        </p:txBody>
      </p:sp>
      <p:sp>
        <p:nvSpPr>
          <p:cNvPr id="26" name="Capa Integración"/>
          <p:cNvSpPr/>
          <p:nvPr/>
        </p:nvSpPr>
        <p:spPr>
          <a:xfrm>
            <a:off x="7424928" y="3502152"/>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28" name="Capa Fuentes"/>
          <p:cNvSpPr/>
          <p:nvPr/>
        </p:nvSpPr>
        <p:spPr>
          <a:xfrm>
            <a:off x="7424928" y="3749040"/>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ecuaciones físicas de proceso y modelo de ingeniería de la planta</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Anglo American Quellaveco (Perú): gemelos de molienda, flotación, relaves, agua y energía sobre COMOS. </a:t>
            </a:r>
            <a:r>
              <a:rPr sz="1000" b="0" i="0">
                <a:solidFill>
                  <a:srgbClr val="A9B8C9"/>
                </a:solidFill>
                <a:effectLst>
                  <a:glow rad="63500">
                    <a:srgbClr val="001633">
                      <a:alpha val="85000"/>
                    </a:srgbClr>
                  </a:glow>
                </a:effectLst>
                <a:latin typeface="Montserrat"/>
              </a:rPr>
              <a:t>[15]</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1887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12/18 </a:t>
            </a:r>
            <a:r>
              <a:rPr sz="1000" b="0" i="0">
                <a:solidFill>
                  <a:srgbClr val="A9B8C9"/>
                </a:solidFill>
                <a:effectLst>
                  <a:glow rad="63500">
                    <a:srgbClr val="001633">
                      <a:alpha val="85000"/>
                    </a:srgbClr>
                  </a:glow>
                </a:effectLst>
                <a:latin typeface="Montserrat"/>
              </a:rPr>
              <a:t>· Gemelos Digitales para Minería 4.0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ABB: el gemelo vive dentro del control de procesos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ABB</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del control de procesos: un modelo dinámico dentro del control avanzado ajusta la planta cada pocos segundos.</a:t>
            </a:r>
          </a:p>
        </p:txBody>
      </p:sp>
      <p:sp>
        <p:nvSpPr>
          <p:cNvPr id="7" name="Placa abb"/>
          <p:cNvSpPr/>
          <p:nvPr/>
        </p:nvSpPr>
        <p:spPr>
          <a:xfrm>
            <a:off x="9482328" y="1783080"/>
            <a:ext cx="17830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abb" descr="logo-abb.png"/>
          <p:cNvPicPr>
            <a:picLocks noChangeAspect="1"/>
          </p:cNvPicPr>
          <p:nvPr/>
        </p:nvPicPr>
        <p:blipFill>
          <a:blip r:embed="rId3"/>
          <a:stretch>
            <a:fillRect/>
          </a:stretch>
        </p:blipFill>
        <p:spPr>
          <a:xfrm>
            <a:off x="9797868" y="1837944"/>
            <a:ext cx="1152000" cy="457200"/>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ABB Ability Expert Optimizer"/>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ABB Ability Expert Optimizer</a:t>
            </a:r>
          </a:p>
          <a:p>
            <a:pPr algn="l">
              <a:spcAft>
                <a:spcPts val="0"/>
              </a:spcAft>
            </a:pPr>
            <a:r>
              <a:rPr sz="1000" b="0" i="0">
                <a:solidFill>
                  <a:srgbClr val="A9B8C9"/>
                </a:solidFill>
                <a:effectLst>
                  <a:glow rad="63500">
                    <a:srgbClr val="001633">
                      <a:alpha val="85000"/>
                    </a:srgbClr>
                  </a:glow>
                </a:effectLst>
                <a:latin typeface="Montserrat"/>
              </a:rPr>
              <a:t>control avanzado de molienda y flotación (control predictivo)</a:t>
            </a:r>
          </a:p>
        </p:txBody>
      </p:sp>
      <p:sp>
        <p:nvSpPr>
          <p:cNvPr id="13" name="Producto ABB Ability Performance Optimization"/>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ABB Ability Performance Optimization</a:t>
            </a:r>
          </a:p>
          <a:p>
            <a:pPr algn="l">
              <a:spcAft>
                <a:spcPts val="0"/>
              </a:spcAft>
            </a:pPr>
            <a:r>
              <a:rPr sz="1000" b="0" i="0">
                <a:solidFill>
                  <a:srgbClr val="A9B8C9"/>
                </a:solidFill>
                <a:effectLst>
                  <a:glow rad="63500">
                    <a:srgbClr val="001633">
                      <a:alpha val="85000"/>
                    </a:srgbClr>
                  </a:glow>
                </a:effectLst>
                <a:latin typeface="Montserrat"/>
              </a:rPr>
              <a:t>servicio que mide y mejora el desempeño de la planta</a:t>
            </a:r>
          </a:p>
        </p:txBody>
      </p:sp>
      <p:sp>
        <p:nvSpPr>
          <p:cNvPr id="16" name="Producto Accionamientos y electrificación"/>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Accionamientos y electrificación</a:t>
            </a:r>
          </a:p>
          <a:p>
            <a:pPr algn="l">
              <a:spcAft>
                <a:spcPts val="0"/>
              </a:spcAft>
            </a:pPr>
            <a:r>
              <a:rPr sz="1000" b="0" i="0">
                <a:solidFill>
                  <a:srgbClr val="A9B8C9"/>
                </a:solidFill>
                <a:effectLst>
                  <a:glow rad="63500">
                    <a:srgbClr val="001633">
                      <a:alpha val="85000"/>
                    </a:srgbClr>
                  </a:glow>
                </a:effectLst>
                <a:latin typeface="Montserrat"/>
              </a:rPr>
              <a:t>molinos sin engranajes, transporte y sistemas eléctricos</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4 · Infraestructura</a:t>
            </a:r>
          </a:p>
        </p:txBody>
      </p:sp>
      <p:sp>
        <p:nvSpPr>
          <p:cNvPr id="24" name="Capa Modelo"/>
          <p:cNvSpPr/>
          <p:nvPr/>
        </p:nvSpPr>
        <p:spPr>
          <a:xfrm>
            <a:off x="7424928" y="3255264"/>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Modelo</a:t>
            </a:r>
          </a:p>
        </p:txBody>
      </p:sp>
      <p:sp>
        <p:nvSpPr>
          <p:cNvPr id="26" name="Capa Integración"/>
          <p:cNvSpPr/>
          <p:nvPr/>
        </p:nvSpPr>
        <p:spPr>
          <a:xfrm>
            <a:off x="7424928" y="3502152"/>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2 · Integración</a:t>
            </a:r>
          </a:p>
        </p:txBody>
      </p:sp>
      <p:sp>
        <p:nvSpPr>
          <p:cNvPr id="28" name="Capa Fuentes"/>
          <p:cNvSpPr/>
          <p:nvPr/>
        </p:nvSpPr>
        <p:spPr>
          <a:xfrm>
            <a:off x="7424928" y="3749040"/>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modelo dinámico dentro de un control predictivo (MPC), con aprendizaje automático</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Boliden Aitik (Suecia): el control se probó en un gemelo de la conminución antes de aplicarlo. </a:t>
            </a:r>
            <a:r>
              <a:rPr sz="1000" b="0" i="0">
                <a:solidFill>
                  <a:srgbClr val="A9B8C9"/>
                </a:solidFill>
                <a:effectLst>
                  <a:glow rad="63500">
                    <a:srgbClr val="001633">
                      <a:alpha val="85000"/>
                    </a:srgbClr>
                  </a:glow>
                </a:effectLst>
                <a:latin typeface="Montserrat"/>
              </a:rPr>
              <a:t>[10]</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2877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13/18 </a:t>
            </a:r>
            <a:r>
              <a:rPr sz="1000" b="0" i="0">
                <a:solidFill>
                  <a:srgbClr val="A9B8C9"/>
                </a:solidFill>
                <a:effectLst>
                  <a:glow rad="63500">
                    <a:srgbClr val="001633">
                      <a:alpha val="85000"/>
                    </a:srgbClr>
                  </a:glow>
                </a:effectLst>
                <a:latin typeface="Montserrat"/>
              </a:rPr>
              <a:t>· Gemelos Digitales para Minería 4.0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Innomotics: el gemelo nace de lo que mueve la mina y la planta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INNOMOTICS</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 lo que mueve la mina y la planta: los accionamientos de molinos y correas, y desde ahí un portafolio digital para la operación.</a:t>
            </a:r>
          </a:p>
        </p:txBody>
      </p:sp>
      <p:sp>
        <p:nvSpPr>
          <p:cNvPr id="7" name="Placa innomotics"/>
          <p:cNvSpPr/>
          <p:nvPr/>
        </p:nvSpPr>
        <p:spPr>
          <a:xfrm>
            <a:off x="9482328" y="1783080"/>
            <a:ext cx="1783080" cy="566928"/>
          </a:xfrm>
          <a:prstGeom prst="roundRect">
            <a:avLst>
              <a:gd name="adj" fmla="val 12000"/>
            </a:avLst>
          </a:prstGeom>
          <a:solidFill>
            <a:srgbClr val="0D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innomotics" descr="logo-innomotics.png"/>
          <p:cNvPicPr>
            <a:picLocks noChangeAspect="1"/>
          </p:cNvPicPr>
          <p:nvPr/>
        </p:nvPicPr>
        <p:blipFill>
          <a:blip r:embed="rId3"/>
          <a:stretch>
            <a:fillRect/>
          </a:stretch>
        </p:blipFill>
        <p:spPr>
          <a:xfrm>
            <a:off x="9607270" y="1837944"/>
            <a:ext cx="1533196" cy="457200"/>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DigiMine Process Twin"/>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DigiMine Process Twin</a:t>
            </a:r>
          </a:p>
          <a:p>
            <a:pPr algn="l">
              <a:spcAft>
                <a:spcPts val="0"/>
              </a:spcAft>
            </a:pPr>
            <a:r>
              <a:rPr sz="1000" b="0" i="0">
                <a:solidFill>
                  <a:srgbClr val="A9B8C9"/>
                </a:solidFill>
                <a:effectLst>
                  <a:glow rad="63500">
                    <a:srgbClr val="001633">
                      <a:alpha val="85000"/>
                    </a:srgbClr>
                  </a:glow>
                </a:effectLst>
                <a:latin typeface="Montserrat"/>
              </a:rPr>
              <a:t>simula los activos principales para probar escenarios what-if y eliminar cuellos de botella</a:t>
            </a:r>
          </a:p>
        </p:txBody>
      </p:sp>
      <p:sp>
        <p:nvSpPr>
          <p:cNvPr id="13" name="Producto DigiMine YardMaster"/>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DigiMine YardMaster</a:t>
            </a:r>
          </a:p>
          <a:p>
            <a:pPr algn="l">
              <a:spcAft>
                <a:spcPts val="0"/>
              </a:spcAft>
            </a:pPr>
            <a:r>
              <a:rPr sz="1000" b="0" i="0">
                <a:solidFill>
                  <a:srgbClr val="A9B8C9"/>
                </a:solidFill>
                <a:effectLst>
                  <a:glow rad="63500">
                    <a:srgbClr val="001633">
                      <a:alpha val="85000"/>
                    </a:srgbClr>
                  </a:glow>
                </a:effectLst>
                <a:latin typeface="Montserrat"/>
              </a:rPr>
              <a:t>canchas de acopio: operación autónoma de máquinas, trazabilidad y planificación</a:t>
            </a:r>
          </a:p>
        </p:txBody>
      </p:sp>
      <p:sp>
        <p:nvSpPr>
          <p:cNvPr id="16" name="Producto Accionamientos sin engranajes"/>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Accionamientos sin engranajes</a:t>
            </a:r>
          </a:p>
          <a:p>
            <a:pPr algn="l">
              <a:spcAft>
                <a:spcPts val="0"/>
              </a:spcAft>
            </a:pPr>
            <a:r>
              <a:rPr sz="1000" b="0" i="0">
                <a:solidFill>
                  <a:srgbClr val="A9B8C9"/>
                </a:solidFill>
                <a:effectLst>
                  <a:glow rad="63500">
                    <a:srgbClr val="001633">
                      <a:alpha val="85000"/>
                    </a:srgbClr>
                  </a:glow>
                </a:effectLst>
                <a:latin typeface="Montserrat"/>
              </a:rPr>
              <a:t>para molinos y correas, con sus motores y su automatización</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4 · Infraestructura</a:t>
            </a:r>
          </a:p>
        </p:txBody>
      </p:sp>
      <p:sp>
        <p:nvSpPr>
          <p:cNvPr id="24" name="Capa Modelo"/>
          <p:cNvSpPr/>
          <p:nvPr/>
        </p:nvSpPr>
        <p:spPr>
          <a:xfrm>
            <a:off x="7424928" y="3255264"/>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Modelo</a:t>
            </a:r>
          </a:p>
        </p:txBody>
      </p:sp>
      <p:sp>
        <p:nvSpPr>
          <p:cNvPr id="26" name="Capa Integración"/>
          <p:cNvSpPr/>
          <p:nvPr/>
        </p:nvSpPr>
        <p:spPr>
          <a:xfrm>
            <a:off x="7424928" y="3502152"/>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28" name="Capa Fuentes"/>
          <p:cNvSpPr/>
          <p:nvPr/>
        </p:nvSpPr>
        <p:spPr>
          <a:xfrm>
            <a:off x="7424928" y="3749040"/>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simulación de activos y procesos; modelos de los accionamientos y su control</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Anglo American Quellaveco: representación digital de toda la operación, del rajo al puerto, y accionamientos sin engranajes de cuatro molinos y la correa overland. </a:t>
            </a:r>
            <a:r>
              <a:rPr sz="1000" b="0" i="0">
                <a:solidFill>
                  <a:srgbClr val="A9B8C9"/>
                </a:solidFill>
                <a:effectLst>
                  <a:glow rad="63500">
                    <a:srgbClr val="001633">
                      <a:alpha val="85000"/>
                    </a:srgbClr>
                  </a:glow>
                </a:effectLst>
                <a:latin typeface="Montserrat"/>
              </a:rPr>
              <a:t>[16]</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3868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14/18 </a:t>
            </a:r>
            <a:r>
              <a:rPr sz="1000" b="0" i="0">
                <a:solidFill>
                  <a:srgbClr val="A9B8C9"/>
                </a:solidFill>
                <a:effectLst>
                  <a:glow rad="63500">
                    <a:srgbClr val="001633">
                      <a:alpha val="85000"/>
                    </a:srgbClr>
                  </a:glow>
                </a:effectLst>
                <a:latin typeface="Montserrat"/>
              </a:rPr>
              <a:t>· Gemelos Digitales para Minería 4.0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Hexagon: el gemelo de la mina, del plan a la flota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HEXAGON</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 la mina: del modelo geológico y el plan a la flota en terreno y la seguridad del operador.</a:t>
            </a:r>
          </a:p>
        </p:txBody>
      </p:sp>
      <p:sp>
        <p:nvSpPr>
          <p:cNvPr id="7" name="Placa hexagon"/>
          <p:cNvSpPr/>
          <p:nvPr/>
        </p:nvSpPr>
        <p:spPr>
          <a:xfrm>
            <a:off x="9482328" y="1783080"/>
            <a:ext cx="17830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hexagon" descr="logo-hexagon.png"/>
          <p:cNvPicPr>
            <a:picLocks noChangeAspect="1"/>
          </p:cNvPicPr>
          <p:nvPr/>
        </p:nvPicPr>
        <p:blipFill>
          <a:blip r:embed="rId3"/>
          <a:stretch>
            <a:fillRect/>
          </a:stretch>
        </p:blipFill>
        <p:spPr>
          <a:xfrm>
            <a:off x="9633088" y="1837944"/>
            <a:ext cx="1481559" cy="457200"/>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HxGN MinePlan"/>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HxGN MinePlan</a:t>
            </a:r>
          </a:p>
          <a:p>
            <a:pPr algn="l">
              <a:spcAft>
                <a:spcPts val="0"/>
              </a:spcAft>
            </a:pPr>
            <a:r>
              <a:rPr sz="1000" b="0" i="0">
                <a:solidFill>
                  <a:srgbClr val="A9B8C9"/>
                </a:solidFill>
                <a:effectLst>
                  <a:glow rad="63500">
                    <a:srgbClr val="001633">
                      <a:alpha val="85000"/>
                    </a:srgbClr>
                  </a:glow>
                </a:effectLst>
                <a:latin typeface="Montserrat"/>
              </a:rPr>
              <a:t>modelamiento geológico y planificación minera</a:t>
            </a:r>
          </a:p>
        </p:txBody>
      </p:sp>
      <p:sp>
        <p:nvSpPr>
          <p:cNvPr id="13" name="Producto HxGN MineOperate OP Pro"/>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HxGN MineOperate OP Pro</a:t>
            </a:r>
          </a:p>
          <a:p>
            <a:pPr algn="l">
              <a:spcAft>
                <a:spcPts val="0"/>
              </a:spcAft>
            </a:pPr>
            <a:r>
              <a:rPr sz="1000" b="0" i="0">
                <a:solidFill>
                  <a:srgbClr val="A9B8C9"/>
                </a:solidFill>
                <a:effectLst>
                  <a:glow rad="63500">
                    <a:srgbClr val="001633">
                      <a:alpha val="85000"/>
                    </a:srgbClr>
                  </a:glow>
                </a:effectLst>
                <a:latin typeface="Montserrat"/>
              </a:rPr>
              <a:t>gestión de flota y despacho en tiempo real</a:t>
            </a:r>
          </a:p>
        </p:txBody>
      </p:sp>
      <p:sp>
        <p:nvSpPr>
          <p:cNvPr id="16" name="Producto HxGN MineProtect"/>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HxGN MineProtect</a:t>
            </a:r>
          </a:p>
          <a:p>
            <a:pPr algn="l">
              <a:spcAft>
                <a:spcPts val="0"/>
              </a:spcAft>
            </a:pPr>
            <a:r>
              <a:rPr sz="1000" b="0" i="0">
                <a:solidFill>
                  <a:srgbClr val="A9B8C9"/>
                </a:solidFill>
                <a:effectLst>
                  <a:glow rad="63500">
                    <a:srgbClr val="001633">
                      <a:alpha val="85000"/>
                    </a:srgbClr>
                  </a:glow>
                </a:effectLst>
                <a:latin typeface="Montserrat"/>
              </a:rPr>
              <a:t>anticolisión y alerta de fatiga del operador</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4 · Infraestructura</a:t>
            </a:r>
          </a:p>
        </p:txBody>
      </p:sp>
      <p:sp>
        <p:nvSpPr>
          <p:cNvPr id="24" name="Capa Modelo"/>
          <p:cNvSpPr/>
          <p:nvPr/>
        </p:nvSpPr>
        <p:spPr>
          <a:xfrm>
            <a:off x="7424928" y="3255264"/>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Modelo</a:t>
            </a:r>
          </a:p>
        </p:txBody>
      </p:sp>
      <p:sp>
        <p:nvSpPr>
          <p:cNvPr id="26" name="Capa Integración"/>
          <p:cNvSpPr/>
          <p:nvPr/>
        </p:nvSpPr>
        <p:spPr>
          <a:xfrm>
            <a:off x="7424928" y="3502152"/>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2 · Integración</a:t>
            </a:r>
          </a:p>
        </p:txBody>
      </p:sp>
      <p:sp>
        <p:nvSpPr>
          <p:cNvPr id="28" name="Capa Fuentes"/>
          <p:cNvSpPr/>
          <p:nvPr/>
        </p:nvSpPr>
        <p:spPr>
          <a:xfrm>
            <a:off x="7424928" y="3749040"/>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geoestadística y optimización del plan; despacho en línea</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BUMA (carbón, Indonesia): 150 equipos con OP Pro, operando en régimen en tres meses. </a:t>
            </a:r>
            <a:r>
              <a:rPr sz="1000" b="0" i="0">
                <a:solidFill>
                  <a:srgbClr val="A9B8C9"/>
                </a:solidFill>
                <a:effectLst>
                  <a:glow rad="63500">
                    <a:srgbClr val="001633">
                      <a:alpha val="85000"/>
                    </a:srgbClr>
                  </a:glow>
                </a:effectLst>
                <a:latin typeface="Montserrat"/>
              </a:rPr>
              <a:t>[17]</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4859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15/18 </a:t>
            </a:r>
            <a:r>
              <a:rPr sz="1000" b="0" i="0">
                <a:solidFill>
                  <a:srgbClr val="A9B8C9"/>
                </a:solidFill>
                <a:effectLst>
                  <a:glow rad="63500">
                    <a:srgbClr val="001633">
                      <a:alpha val="85000"/>
                    </a:srgbClr>
                  </a:glow>
                </a:effectLst>
                <a:latin typeface="Montserrat"/>
              </a:rPr>
              <a:t>· Gemelos Digitales para Minería 4.0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Dassault Systèmes: el gemelo nace del modelo 3D de la mina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DASSAULT SYSTÈMES</a:t>
            </a:r>
          </a:p>
        </p:txBody>
      </p:sp>
      <p:sp>
        <p:nvSpPr>
          <p:cNvPr id="6" name="TextBox 5"/>
          <p:cNvSpPr txBox="1"/>
          <p:nvPr/>
        </p:nvSpPr>
        <p:spPr>
          <a:xfrm>
            <a:off x="1252728" y="1828800"/>
            <a:ext cx="786384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Parte de la representación 3D del yacimiento y la mina, y la lleva a una plataforma común para toda la cadena.</a:t>
            </a:r>
          </a:p>
        </p:txBody>
      </p:sp>
      <p:sp>
        <p:nvSpPr>
          <p:cNvPr id="7" name="Placa dassault"/>
          <p:cNvSpPr/>
          <p:nvPr/>
        </p:nvSpPr>
        <p:spPr>
          <a:xfrm>
            <a:off x="9482328" y="1783080"/>
            <a:ext cx="17830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dassault" descr="logo-dassault.png"/>
          <p:cNvPicPr>
            <a:picLocks noChangeAspect="1"/>
          </p:cNvPicPr>
          <p:nvPr/>
        </p:nvPicPr>
        <p:blipFill>
          <a:blip r:embed="rId3"/>
          <a:stretch>
            <a:fillRect/>
          </a:stretch>
        </p:blipFill>
        <p:spPr>
          <a:xfrm>
            <a:off x="9617775" y="1837944"/>
            <a:ext cx="1512186" cy="457199"/>
          </a:xfrm>
          <a:prstGeom prst="rect">
            <a:avLst/>
          </a:prstGeom>
        </p:spPr>
      </p:pic>
      <p:sp>
        <p:nvSpPr>
          <p:cNvPr id="9" name="TextBox 8"/>
          <p:cNvSpPr txBox="1"/>
          <p:nvPr/>
        </p:nvSpPr>
        <p:spPr>
          <a:xfrm>
            <a:off x="1252728" y="2487168"/>
            <a:ext cx="576072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OFERTA PRINCIPAL PARA MINERÍA</a:t>
            </a:r>
          </a:p>
        </p:txBody>
      </p:sp>
      <p:sp>
        <p:nvSpPr>
          <p:cNvPr id="10" name="Producto GEOVIA Surpac"/>
          <p:cNvSpPr/>
          <p:nvPr/>
        </p:nvSpPr>
        <p:spPr>
          <a:xfrm>
            <a:off x="1252728" y="2761488"/>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Marca producto"/>
          <p:cNvSpPr/>
          <p:nvPr/>
        </p:nvSpPr>
        <p:spPr>
          <a:xfrm>
            <a:off x="1252728" y="2761488"/>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53896" y="2761488"/>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GEOVIA Surpac</a:t>
            </a:r>
          </a:p>
          <a:p>
            <a:pPr algn="l">
              <a:spcAft>
                <a:spcPts val="0"/>
              </a:spcAft>
            </a:pPr>
            <a:r>
              <a:rPr sz="1000" b="0" i="0">
                <a:solidFill>
                  <a:srgbClr val="A9B8C9"/>
                </a:solidFill>
                <a:effectLst>
                  <a:glow rad="63500">
                    <a:srgbClr val="001633">
                      <a:alpha val="85000"/>
                    </a:srgbClr>
                  </a:glow>
                </a:effectLst>
                <a:latin typeface="Montserrat"/>
              </a:rPr>
              <a:t>modelamiento geológico y diseño minero</a:t>
            </a:r>
          </a:p>
        </p:txBody>
      </p:sp>
      <p:sp>
        <p:nvSpPr>
          <p:cNvPr id="13" name="Producto GEOVIA Whittle"/>
          <p:cNvSpPr/>
          <p:nvPr/>
        </p:nvSpPr>
        <p:spPr>
          <a:xfrm>
            <a:off x="1252728" y="3419856"/>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roducto"/>
          <p:cNvSpPr/>
          <p:nvPr/>
        </p:nvSpPr>
        <p:spPr>
          <a:xfrm>
            <a:off x="1252728" y="3419856"/>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53896" y="3419856"/>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GEOVIA Whittle</a:t>
            </a:r>
          </a:p>
          <a:p>
            <a:pPr algn="l">
              <a:spcAft>
                <a:spcPts val="0"/>
              </a:spcAft>
            </a:pPr>
            <a:r>
              <a:rPr sz="1000" b="0" i="0">
                <a:solidFill>
                  <a:srgbClr val="A9B8C9"/>
                </a:solidFill>
                <a:effectLst>
                  <a:glow rad="63500">
                    <a:srgbClr val="001633">
                      <a:alpha val="85000"/>
                    </a:srgbClr>
                  </a:glow>
                </a:effectLst>
                <a:latin typeface="Montserrat"/>
              </a:rPr>
              <a:t>optimización económica del pit y del plan</a:t>
            </a:r>
          </a:p>
        </p:txBody>
      </p:sp>
      <p:sp>
        <p:nvSpPr>
          <p:cNvPr id="16" name="Producto 3DEXPERIENCE"/>
          <p:cNvSpPr/>
          <p:nvPr/>
        </p:nvSpPr>
        <p:spPr>
          <a:xfrm>
            <a:off x="1252728" y="4078224"/>
            <a:ext cx="5760720" cy="56692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roducto"/>
          <p:cNvSpPr/>
          <p:nvPr/>
        </p:nvSpPr>
        <p:spPr>
          <a:xfrm>
            <a:off x="1252728" y="4078224"/>
            <a:ext cx="54864" cy="56692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53896" y="4078224"/>
            <a:ext cx="5486400" cy="566928"/>
          </a:xfrm>
          <a:prstGeom prst="rect">
            <a:avLst/>
          </a:prstGeom>
          <a:noFill/>
        </p:spPr>
        <p:txBody>
          <a:bodyPr wrap="square" lIns="0" tIns="0" rIns="0" bIns="0" anchor="ctr">
            <a:spAutoFit/>
          </a:bodyPr>
          <a:lstStyle/>
          <a:p>
            <a:pPr algn="l">
              <a:spcAft>
                <a:spcPts val="0"/>
              </a:spcAft>
            </a:pPr>
            <a:r>
              <a:rPr sz="1250" b="1" i="0">
                <a:solidFill>
                  <a:srgbClr val="FFFFFF"/>
                </a:solidFill>
                <a:effectLst>
                  <a:glow rad="63500">
                    <a:srgbClr val="001633">
                      <a:alpha val="85000"/>
                    </a:srgbClr>
                  </a:glow>
                </a:effectLst>
                <a:latin typeface="Montserrat"/>
              </a:rPr>
              <a:t>3DEXPERIENCE</a:t>
            </a:r>
          </a:p>
          <a:p>
            <a:pPr algn="l">
              <a:spcAft>
                <a:spcPts val="0"/>
              </a:spcAft>
            </a:pPr>
            <a:r>
              <a:rPr sz="1000" b="0" i="0">
                <a:solidFill>
                  <a:srgbClr val="A9B8C9"/>
                </a:solidFill>
                <a:effectLst>
                  <a:glow rad="63500">
                    <a:srgbClr val="001633">
                      <a:alpha val="85000"/>
                    </a:srgbClr>
                  </a:glow>
                </a:effectLst>
                <a:latin typeface="Montserrat"/>
              </a:rPr>
              <a:t>plataforma colaborativa del «virtual twin» de la mina</a:t>
            </a:r>
          </a:p>
        </p:txBody>
      </p:sp>
      <p:sp>
        <p:nvSpPr>
          <p:cNvPr id="19" name="TextBox 18"/>
          <p:cNvSpPr txBox="1"/>
          <p:nvPr/>
        </p:nvSpPr>
        <p:spPr>
          <a:xfrm>
            <a:off x="7424928" y="2487168"/>
            <a:ext cx="3840480" cy="22860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CAPAS DEL STACK QUE CUBRE</a:t>
            </a:r>
          </a:p>
        </p:txBody>
      </p:sp>
      <p:sp>
        <p:nvSpPr>
          <p:cNvPr id="20" name="Capa Aplicaciones"/>
          <p:cNvSpPr/>
          <p:nvPr/>
        </p:nvSpPr>
        <p:spPr>
          <a:xfrm>
            <a:off x="7424928" y="2761488"/>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16368" y="2761488"/>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5 · Aplicaciones</a:t>
            </a:r>
          </a:p>
        </p:txBody>
      </p:sp>
      <p:sp>
        <p:nvSpPr>
          <p:cNvPr id="22" name="Capa Infraestructura"/>
          <p:cNvSpPr/>
          <p:nvPr/>
        </p:nvSpPr>
        <p:spPr>
          <a:xfrm>
            <a:off x="7424928" y="3008376"/>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516368" y="3008376"/>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4 · Infraestructura</a:t>
            </a:r>
          </a:p>
        </p:txBody>
      </p:sp>
      <p:sp>
        <p:nvSpPr>
          <p:cNvPr id="24" name="Capa Modelo"/>
          <p:cNvSpPr/>
          <p:nvPr/>
        </p:nvSpPr>
        <p:spPr>
          <a:xfrm>
            <a:off x="7424928" y="3255264"/>
            <a:ext cx="3840480" cy="21031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516368" y="3255264"/>
            <a:ext cx="3657600" cy="210312"/>
          </a:xfrm>
          <a:prstGeom prst="rect">
            <a:avLst/>
          </a:prstGeom>
          <a:noFill/>
        </p:spPr>
        <p:txBody>
          <a:bodyPr wrap="square" lIns="0" tIns="0" rIns="0" bIns="0" anchor="ctr">
            <a:spAutoFit/>
          </a:bodyPr>
          <a:lstStyle/>
          <a:p>
            <a:pPr algn="l">
              <a:spcAft>
                <a:spcPts val="600"/>
              </a:spcAft>
            </a:pPr>
            <a:r>
              <a:rPr sz="850" b="1" i="0">
                <a:solidFill>
                  <a:srgbClr val="001633"/>
                </a:solidFill>
                <a:latin typeface="Montserrat"/>
              </a:rPr>
              <a:t>3 · Modelo</a:t>
            </a:r>
          </a:p>
        </p:txBody>
      </p:sp>
      <p:sp>
        <p:nvSpPr>
          <p:cNvPr id="26" name="Capa Integración"/>
          <p:cNvSpPr/>
          <p:nvPr/>
        </p:nvSpPr>
        <p:spPr>
          <a:xfrm>
            <a:off x="7424928" y="3502152"/>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16368" y="3502152"/>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2 · Integración</a:t>
            </a:r>
          </a:p>
        </p:txBody>
      </p:sp>
      <p:sp>
        <p:nvSpPr>
          <p:cNvPr id="28" name="Capa Fuentes"/>
          <p:cNvSpPr/>
          <p:nvPr/>
        </p:nvSpPr>
        <p:spPr>
          <a:xfrm>
            <a:off x="7424928" y="3749040"/>
            <a:ext cx="3840480" cy="21031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16368" y="3749040"/>
            <a:ext cx="3657600" cy="21031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1 · Fuentes</a:t>
            </a:r>
          </a:p>
        </p:txBody>
      </p:sp>
      <p:sp>
        <p:nvSpPr>
          <p:cNvPr id="30" name="TextBox 29"/>
          <p:cNvSpPr txBox="1"/>
          <p:nvPr/>
        </p:nvSpPr>
        <p:spPr>
          <a:xfrm>
            <a:off x="7424928" y="4096512"/>
            <a:ext cx="3840480" cy="54864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QUÉ MODELO LLEVA POR DENTRO</a:t>
            </a:r>
          </a:p>
          <a:p>
            <a:pPr algn="l">
              <a:spcAft>
                <a:spcPts val="100"/>
              </a:spcAft>
            </a:pPr>
            <a:r>
              <a:rPr sz="1000" b="0" i="0">
                <a:solidFill>
                  <a:srgbClr val="FFFFFF"/>
                </a:solidFill>
                <a:effectLst>
                  <a:glow rad="63500">
                    <a:srgbClr val="001633">
                      <a:alpha val="85000"/>
                    </a:srgbClr>
                  </a:glow>
                </a:effectLst>
                <a:latin typeface="Montserrat"/>
              </a:rPr>
              <a:t>geoestadística, optimización del plan y simulación física en la plataforma</a:t>
            </a:r>
          </a:p>
        </p:txBody>
      </p:sp>
      <p:sp>
        <p:nvSpPr>
          <p:cNvPr id="31" name="Caso público"/>
          <p:cNvSpPr/>
          <p:nvPr/>
        </p:nvSpPr>
        <p:spPr>
          <a:xfrm>
            <a:off x="1252728" y="4846320"/>
            <a:ext cx="10012680" cy="77724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35608" y="4846320"/>
            <a:ext cx="9646920" cy="777240"/>
          </a:xfrm>
          <a:prstGeom prst="rect">
            <a:avLst/>
          </a:prstGeom>
          <a:noFill/>
        </p:spPr>
        <p:txBody>
          <a:bodyPr wrap="square" lIns="0" tIns="0" rIns="0" bIns="0" anchor="ctr">
            <a:spAutoFit/>
          </a:bodyPr>
          <a:lstStyle/>
          <a:p>
            <a:pPr algn="l">
              <a:spcAft>
                <a:spcPts val="100"/>
              </a:spcAft>
            </a:pPr>
            <a:r>
              <a:rPr sz="850" b="1" i="0">
                <a:solidFill>
                  <a:srgbClr val="FFAB40"/>
                </a:solidFill>
                <a:effectLst>
                  <a:glow rad="63500">
                    <a:srgbClr val="001633">
                      <a:alpha val="85000"/>
                    </a:srgbClr>
                  </a:glow>
                </a:effectLst>
                <a:latin typeface="Montserrat"/>
              </a:rPr>
              <a:t>CASO PÚBLICO</a:t>
            </a:r>
          </a:p>
          <a:p>
            <a:pPr algn="l">
              <a:spcAft>
                <a:spcPts val="100"/>
              </a:spcAft>
            </a:pPr>
            <a:r>
              <a:rPr sz="1100" b="0" i="0">
                <a:solidFill>
                  <a:srgbClr val="FFFFFF"/>
                </a:solidFill>
                <a:effectLst>
                  <a:glow rad="63500">
                    <a:srgbClr val="001633">
                      <a:alpha val="85000"/>
                    </a:srgbClr>
                  </a:glow>
                </a:effectLst>
                <a:latin typeface="Montserrat"/>
              </a:rPr>
              <a:t>Relaves: se simula el comportamiento del depósito antes de construirlo para comparar diseños. </a:t>
            </a:r>
            <a:r>
              <a:rPr sz="1000" b="0" i="0">
                <a:solidFill>
                  <a:srgbClr val="A9B8C9"/>
                </a:solidFill>
                <a:effectLst>
                  <a:glow rad="63500">
                    <a:srgbClr val="001633">
                      <a:alpha val="85000"/>
                    </a:srgbClr>
                  </a:glow>
                </a:effectLst>
                <a:latin typeface="Montserrat"/>
              </a:rPr>
              <a:t>[3]</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Productos: oferta pública de la empresa (nombres pueden cambiar) · capas y modelo: lectura propia · sin ranking ni cuotas de mercado</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actual"/>
          <p:cNvSpPr/>
          <p:nvPr/>
        </p:nvSpPr>
        <p:spPr>
          <a:xfrm>
            <a:off x="3127248" y="6510528"/>
            <a:ext cx="15849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16/18 </a:t>
            </a:r>
            <a:r>
              <a:rPr sz="1000" b="0" i="0">
                <a:solidFill>
                  <a:srgbClr val="A9B8C9"/>
                </a:solidFill>
                <a:effectLst>
                  <a:glow rad="63500">
                    <a:srgbClr val="001633">
                      <a:alpha val="85000"/>
                    </a:srgbClr>
                  </a:glow>
                </a:effectLst>
                <a:latin typeface="Montserrat"/>
              </a:rPr>
              <a:t>· Gemelos Digitales para Minería 4.0 · 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Detrás de cada producto hay las mismas cuatro piezas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POR DENTRO</a:t>
            </a:r>
          </a:p>
        </p:txBody>
      </p:sp>
      <p:sp>
        <p:nvSpPr>
          <p:cNvPr id="6" name="TextBox 5"/>
          <p:cNvSpPr txBox="1"/>
          <p:nvPr/>
        </p:nvSpPr>
        <p:spPr>
          <a:xfrm>
            <a:off x="1252728" y="1828800"/>
            <a:ext cx="841248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Aprender a usar un producto es aprender sus menús. Entender cómo funciona es saber qué modelo lleva, cómo lo resuelve y con qué datos: eso sirve para cualquiera de las seis empresas.</a:t>
            </a:r>
          </a:p>
        </p:txBody>
      </p:sp>
      <p:sp>
        <p:nvSpPr>
          <p:cNvPr id="7" name="Pieza Datos y conectores"/>
          <p:cNvSpPr/>
          <p:nvPr/>
        </p:nvSpPr>
        <p:spPr>
          <a:xfrm>
            <a:off x="1252728" y="2606040"/>
            <a:ext cx="2148840" cy="2011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Datos y conectores"/>
          <p:cNvSpPr/>
          <p:nvPr/>
        </p:nvSpPr>
        <p:spPr>
          <a:xfrm>
            <a:off x="2007108" y="2788920"/>
            <a:ext cx="640080" cy="64008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database" descr="database-orange.png"/>
          <p:cNvPicPr>
            <a:picLocks noChangeAspect="1"/>
          </p:cNvPicPr>
          <p:nvPr/>
        </p:nvPicPr>
        <p:blipFill>
          <a:blip r:embed="rId3"/>
          <a:stretch>
            <a:fillRect/>
          </a:stretch>
        </p:blipFill>
        <p:spPr>
          <a:xfrm>
            <a:off x="2147926" y="2929738"/>
            <a:ext cx="358444" cy="358444"/>
          </a:xfrm>
          <a:prstGeom prst="rect">
            <a:avLst/>
          </a:prstGeom>
        </p:spPr>
      </p:pic>
      <p:sp>
        <p:nvSpPr>
          <p:cNvPr id="10" name="TextBox 9"/>
          <p:cNvSpPr txBox="1"/>
          <p:nvPr/>
        </p:nvSpPr>
        <p:spPr>
          <a:xfrm>
            <a:off x="1389888" y="3520440"/>
            <a:ext cx="1874520" cy="320040"/>
          </a:xfrm>
          <a:prstGeom prst="rect">
            <a:avLst/>
          </a:prstGeom>
          <a:noFill/>
        </p:spPr>
        <p:txBody>
          <a:bodyPr wrap="square" lIns="0" tIns="0" rIns="0" bIns="0" anchor="t">
            <a:spAutoFit/>
          </a:bodyPr>
          <a:lstStyle/>
          <a:p>
            <a:pPr algn="ctr">
              <a:spcAft>
                <a:spcPts val="600"/>
              </a:spcAft>
            </a:pPr>
            <a:r>
              <a:rPr sz="1300" b="1" i="0">
                <a:solidFill>
                  <a:srgbClr val="FFFFFF"/>
                </a:solidFill>
                <a:effectLst>
                  <a:glow rad="63500">
                    <a:srgbClr val="001633">
                      <a:alpha val="85000"/>
                    </a:srgbClr>
                  </a:glow>
                </a:effectLst>
                <a:latin typeface="Montserrat"/>
              </a:rPr>
              <a:t>Datos y conectores</a:t>
            </a:r>
          </a:p>
        </p:txBody>
      </p:sp>
      <p:sp>
        <p:nvSpPr>
          <p:cNvPr id="11" name="TextBox 10"/>
          <p:cNvSpPr txBox="1"/>
          <p:nvPr/>
        </p:nvSpPr>
        <p:spPr>
          <a:xfrm>
            <a:off x="1389888" y="3858768"/>
            <a:ext cx="1874520" cy="45720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leen sensores, historian y sistemas de la faena</a:t>
            </a:r>
          </a:p>
        </p:txBody>
      </p:sp>
      <p:sp>
        <p:nvSpPr>
          <p:cNvPr id="12" name="TextBox 11"/>
          <p:cNvSpPr txBox="1"/>
          <p:nvPr/>
        </p:nvSpPr>
        <p:spPr>
          <a:xfrm>
            <a:off x="1389888" y="4297680"/>
            <a:ext cx="1874520" cy="274320"/>
          </a:xfrm>
          <a:prstGeom prst="rect">
            <a:avLst/>
          </a:prstGeom>
          <a:noFill/>
        </p:spPr>
        <p:txBody>
          <a:bodyPr wrap="square" lIns="0" tIns="0" rIns="0" bIns="0" anchor="t">
            <a:spAutoFit/>
          </a:bodyPr>
          <a:lstStyle/>
          <a:p>
            <a:pPr algn="ctr">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AVEVA PI System</a:t>
            </a:r>
          </a:p>
        </p:txBody>
      </p:sp>
      <p:cxnSp>
        <p:nvCxnSpPr>
          <p:cNvPr id="13" name="Flujo"/>
          <p:cNvCxnSpPr/>
          <p:nvPr/>
        </p:nvCxnSpPr>
        <p:spPr>
          <a:xfrm>
            <a:off x="3456432" y="3611880"/>
            <a:ext cx="36576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Pieza Modelo"/>
          <p:cNvSpPr/>
          <p:nvPr/>
        </p:nvSpPr>
        <p:spPr>
          <a:xfrm>
            <a:off x="3877056" y="2606040"/>
            <a:ext cx="2148840" cy="20116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Modelo"/>
          <p:cNvSpPr/>
          <p:nvPr/>
        </p:nvSpPr>
        <p:spPr>
          <a:xfrm>
            <a:off x="4631436" y="27889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Ícono brain-circuit" descr="brain-circuit-navy.png"/>
          <p:cNvPicPr>
            <a:picLocks noChangeAspect="1"/>
          </p:cNvPicPr>
          <p:nvPr/>
        </p:nvPicPr>
        <p:blipFill>
          <a:blip r:embed="rId4"/>
          <a:stretch>
            <a:fillRect/>
          </a:stretch>
        </p:blipFill>
        <p:spPr>
          <a:xfrm>
            <a:off x="4772254" y="2929738"/>
            <a:ext cx="358444" cy="358444"/>
          </a:xfrm>
          <a:prstGeom prst="rect">
            <a:avLst/>
          </a:prstGeom>
        </p:spPr>
      </p:pic>
      <p:sp>
        <p:nvSpPr>
          <p:cNvPr id="17" name="TextBox 16"/>
          <p:cNvSpPr txBox="1"/>
          <p:nvPr/>
        </p:nvSpPr>
        <p:spPr>
          <a:xfrm>
            <a:off x="4014216" y="3520440"/>
            <a:ext cx="1874520" cy="320040"/>
          </a:xfrm>
          <a:prstGeom prst="rect">
            <a:avLst/>
          </a:prstGeom>
          <a:noFill/>
        </p:spPr>
        <p:txBody>
          <a:bodyPr wrap="square" lIns="0" tIns="0" rIns="0" bIns="0" anchor="t">
            <a:spAutoFit/>
          </a:bodyPr>
          <a:lstStyle/>
          <a:p>
            <a:pPr algn="ctr">
              <a:spcAft>
                <a:spcPts val="600"/>
              </a:spcAft>
            </a:pPr>
            <a:r>
              <a:rPr sz="1300" b="1" i="0">
                <a:solidFill>
                  <a:srgbClr val="FFAB40"/>
                </a:solidFill>
                <a:effectLst>
                  <a:glow rad="63500">
                    <a:srgbClr val="001633">
                      <a:alpha val="85000"/>
                    </a:srgbClr>
                  </a:glow>
                </a:effectLst>
                <a:latin typeface="Montserrat"/>
              </a:rPr>
              <a:t>Modelo</a:t>
            </a:r>
          </a:p>
        </p:txBody>
      </p:sp>
      <p:sp>
        <p:nvSpPr>
          <p:cNvPr id="18" name="TextBox 17"/>
          <p:cNvSpPr txBox="1"/>
          <p:nvPr/>
        </p:nvSpPr>
        <p:spPr>
          <a:xfrm>
            <a:off x="4014216" y="3858768"/>
            <a:ext cx="1874520" cy="45720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ecuaciones, reglas o datos que representan el activo</a:t>
            </a:r>
          </a:p>
        </p:txBody>
      </p:sp>
      <p:sp>
        <p:nvSpPr>
          <p:cNvPr id="19" name="TextBox 18"/>
          <p:cNvSpPr txBox="1"/>
          <p:nvPr/>
        </p:nvSpPr>
        <p:spPr>
          <a:xfrm>
            <a:off x="4014216" y="4297680"/>
            <a:ext cx="1874520" cy="274320"/>
          </a:xfrm>
          <a:prstGeom prst="rect">
            <a:avLst/>
          </a:prstGeom>
          <a:noFill/>
        </p:spPr>
        <p:txBody>
          <a:bodyPr wrap="square" lIns="0" tIns="0" rIns="0" bIns="0" anchor="t">
            <a:spAutoFit/>
          </a:bodyPr>
          <a:lstStyle/>
          <a:p>
            <a:pPr algn="ctr">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gPROMS, Surpac, MinePlan</a:t>
            </a:r>
          </a:p>
        </p:txBody>
      </p:sp>
      <p:cxnSp>
        <p:nvCxnSpPr>
          <p:cNvPr id="20" name="Flujo"/>
          <p:cNvCxnSpPr/>
          <p:nvPr/>
        </p:nvCxnSpPr>
        <p:spPr>
          <a:xfrm>
            <a:off x="6080760" y="3611880"/>
            <a:ext cx="36576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Pieza Motor de cálculo"/>
          <p:cNvSpPr/>
          <p:nvPr/>
        </p:nvSpPr>
        <p:spPr>
          <a:xfrm>
            <a:off x="6501384" y="2606040"/>
            <a:ext cx="2148840" cy="20116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Motor de cálculo"/>
          <p:cNvSpPr/>
          <p:nvPr/>
        </p:nvSpPr>
        <p:spPr>
          <a:xfrm>
            <a:off x="7255764" y="278892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cpu" descr="cpu-navy.png"/>
          <p:cNvPicPr>
            <a:picLocks noChangeAspect="1"/>
          </p:cNvPicPr>
          <p:nvPr/>
        </p:nvPicPr>
        <p:blipFill>
          <a:blip r:embed="rId5"/>
          <a:stretch>
            <a:fillRect/>
          </a:stretch>
        </p:blipFill>
        <p:spPr>
          <a:xfrm>
            <a:off x="7396582" y="2929738"/>
            <a:ext cx="358444" cy="358444"/>
          </a:xfrm>
          <a:prstGeom prst="rect">
            <a:avLst/>
          </a:prstGeom>
        </p:spPr>
      </p:pic>
      <p:sp>
        <p:nvSpPr>
          <p:cNvPr id="24" name="TextBox 23"/>
          <p:cNvSpPr txBox="1"/>
          <p:nvPr/>
        </p:nvSpPr>
        <p:spPr>
          <a:xfrm>
            <a:off x="6638544" y="3520440"/>
            <a:ext cx="1874520" cy="320040"/>
          </a:xfrm>
          <a:prstGeom prst="rect">
            <a:avLst/>
          </a:prstGeom>
          <a:noFill/>
        </p:spPr>
        <p:txBody>
          <a:bodyPr wrap="square" lIns="0" tIns="0" rIns="0" bIns="0" anchor="t">
            <a:spAutoFit/>
          </a:bodyPr>
          <a:lstStyle/>
          <a:p>
            <a:pPr algn="ctr">
              <a:spcAft>
                <a:spcPts val="600"/>
              </a:spcAft>
            </a:pPr>
            <a:r>
              <a:rPr sz="1300" b="1" i="0">
                <a:solidFill>
                  <a:srgbClr val="FFAB40"/>
                </a:solidFill>
                <a:effectLst>
                  <a:glow rad="63500">
                    <a:srgbClr val="001633">
                      <a:alpha val="85000"/>
                    </a:srgbClr>
                  </a:glow>
                </a:effectLst>
                <a:latin typeface="Montserrat"/>
              </a:rPr>
              <a:t>Motor de cálculo</a:t>
            </a:r>
          </a:p>
        </p:txBody>
      </p:sp>
      <p:sp>
        <p:nvSpPr>
          <p:cNvPr id="25" name="TextBox 24"/>
          <p:cNvSpPr txBox="1"/>
          <p:nvPr/>
        </p:nvSpPr>
        <p:spPr>
          <a:xfrm>
            <a:off x="6638544" y="3858768"/>
            <a:ext cx="1874520" cy="45720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el solver que resuelve el modelo en el tiempo</a:t>
            </a:r>
          </a:p>
        </p:txBody>
      </p:sp>
      <p:sp>
        <p:nvSpPr>
          <p:cNvPr id="26" name="TextBox 25"/>
          <p:cNvSpPr txBox="1"/>
          <p:nvPr/>
        </p:nvSpPr>
        <p:spPr>
          <a:xfrm>
            <a:off x="6638544" y="4297680"/>
            <a:ext cx="1874520" cy="274320"/>
          </a:xfrm>
          <a:prstGeom prst="rect">
            <a:avLst/>
          </a:prstGeom>
          <a:noFill/>
        </p:spPr>
        <p:txBody>
          <a:bodyPr wrap="square" lIns="0" tIns="0" rIns="0" bIns="0" anchor="t">
            <a:spAutoFit/>
          </a:bodyPr>
          <a:lstStyle/>
          <a:p>
            <a:pPr algn="ctr">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dentro de Expert Optimizer o gPROMS</a:t>
            </a:r>
          </a:p>
        </p:txBody>
      </p:sp>
      <p:cxnSp>
        <p:nvCxnSpPr>
          <p:cNvPr id="27" name="Flujo"/>
          <p:cNvCxnSpPr/>
          <p:nvPr/>
        </p:nvCxnSpPr>
        <p:spPr>
          <a:xfrm>
            <a:off x="8705088" y="3611880"/>
            <a:ext cx="36576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Pieza Interfaz y resultados"/>
          <p:cNvSpPr/>
          <p:nvPr/>
        </p:nvSpPr>
        <p:spPr>
          <a:xfrm>
            <a:off x="9125712" y="2606040"/>
            <a:ext cx="2148840" cy="2011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Interfaz y resultados"/>
          <p:cNvSpPr/>
          <p:nvPr/>
        </p:nvSpPr>
        <p:spPr>
          <a:xfrm>
            <a:off x="9880092" y="2788920"/>
            <a:ext cx="640080" cy="64008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monitor" descr="monitor-orange.png"/>
          <p:cNvPicPr>
            <a:picLocks noChangeAspect="1"/>
          </p:cNvPicPr>
          <p:nvPr/>
        </p:nvPicPr>
        <p:blipFill>
          <a:blip r:embed="rId6"/>
          <a:stretch>
            <a:fillRect/>
          </a:stretch>
        </p:blipFill>
        <p:spPr>
          <a:xfrm>
            <a:off x="10020910" y="2929738"/>
            <a:ext cx="358444" cy="358444"/>
          </a:xfrm>
          <a:prstGeom prst="rect">
            <a:avLst/>
          </a:prstGeom>
        </p:spPr>
      </p:pic>
      <p:sp>
        <p:nvSpPr>
          <p:cNvPr id="31" name="TextBox 30"/>
          <p:cNvSpPr txBox="1"/>
          <p:nvPr/>
        </p:nvSpPr>
        <p:spPr>
          <a:xfrm>
            <a:off x="9262872" y="3520440"/>
            <a:ext cx="1874520" cy="320040"/>
          </a:xfrm>
          <a:prstGeom prst="rect">
            <a:avLst/>
          </a:prstGeom>
          <a:noFill/>
        </p:spPr>
        <p:txBody>
          <a:bodyPr wrap="square" lIns="0" tIns="0" rIns="0" bIns="0" anchor="t">
            <a:spAutoFit/>
          </a:bodyPr>
          <a:lstStyle/>
          <a:p>
            <a:pPr algn="ctr">
              <a:spcAft>
                <a:spcPts val="600"/>
              </a:spcAft>
            </a:pPr>
            <a:r>
              <a:rPr sz="1300" b="1" i="0">
                <a:solidFill>
                  <a:srgbClr val="FFFFFF"/>
                </a:solidFill>
                <a:effectLst>
                  <a:glow rad="63500">
                    <a:srgbClr val="001633">
                      <a:alpha val="85000"/>
                    </a:srgbClr>
                  </a:glow>
                </a:effectLst>
                <a:latin typeface="Montserrat"/>
              </a:rPr>
              <a:t>Interfaz y resultados</a:t>
            </a:r>
          </a:p>
        </p:txBody>
      </p:sp>
      <p:sp>
        <p:nvSpPr>
          <p:cNvPr id="32" name="TextBox 31"/>
          <p:cNvSpPr txBox="1"/>
          <p:nvPr/>
        </p:nvSpPr>
        <p:spPr>
          <a:xfrm>
            <a:off x="9262872" y="3858768"/>
            <a:ext cx="1874520" cy="457200"/>
          </a:xfrm>
          <a:prstGeom prst="rect">
            <a:avLst/>
          </a:prstGeom>
          <a:noFill/>
        </p:spPr>
        <p:txBody>
          <a:bodyPr wrap="square" lIns="0" tIns="0" rIns="0" bIns="0" anchor="t">
            <a:spAutoFit/>
          </a:bodyPr>
          <a:lstStyle/>
          <a:p>
            <a:pPr algn="ctr">
              <a:spcAft>
                <a:spcPts val="600"/>
              </a:spcAft>
            </a:pPr>
            <a:r>
              <a:rPr sz="950" b="0" i="0">
                <a:solidFill>
                  <a:srgbClr val="A9B8C9"/>
                </a:solidFill>
                <a:effectLst>
                  <a:glow rad="63500">
                    <a:srgbClr val="001633">
                      <a:alpha val="85000"/>
                    </a:srgbClr>
                  </a:glow>
                </a:effectLst>
                <a:latin typeface="Montserrat"/>
              </a:rPr>
              <a:t>tableros, alertas y consignas para la operación</a:t>
            </a:r>
          </a:p>
        </p:txBody>
      </p:sp>
      <p:sp>
        <p:nvSpPr>
          <p:cNvPr id="33" name="TextBox 32"/>
          <p:cNvSpPr txBox="1"/>
          <p:nvPr/>
        </p:nvSpPr>
        <p:spPr>
          <a:xfrm>
            <a:off x="9262872" y="4297680"/>
            <a:ext cx="1874520" cy="274320"/>
          </a:xfrm>
          <a:prstGeom prst="rect">
            <a:avLst/>
          </a:prstGeom>
          <a:noFill/>
        </p:spPr>
        <p:txBody>
          <a:bodyPr wrap="square" lIns="0" tIns="0" rIns="0" bIns="0" anchor="t">
            <a:spAutoFit/>
          </a:bodyPr>
          <a:lstStyle/>
          <a:p>
            <a:pPr algn="ctr">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Unified Operations Center, 3DEXPERIENCE</a:t>
            </a:r>
          </a:p>
        </p:txBody>
      </p:sp>
      <p:sp>
        <p:nvSpPr>
          <p:cNvPr id="34" name="Puente capítulo III"/>
          <p:cNvSpPr/>
          <p:nvPr/>
        </p:nvSpPr>
        <p:spPr>
          <a:xfrm>
            <a:off x="1252728" y="4892040"/>
            <a:ext cx="10012680" cy="73152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481328" y="4892040"/>
            <a:ext cx="9555480" cy="731520"/>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En el capítulo III abrimos el modelo y el motor de cálculo: </a:t>
            </a:r>
            <a:r>
              <a:rPr sz="1200" b="0" i="0">
                <a:solidFill>
                  <a:srgbClr val="FFFFFF"/>
                </a:solidFill>
                <a:effectLst>
                  <a:glow rad="63500">
                    <a:srgbClr val="001633">
                      <a:alpha val="85000"/>
                    </a:srgbClr>
                  </a:glow>
                </a:effectLst>
                <a:latin typeface="Montserrat"/>
              </a:rPr>
              <a:t>cómo se escribe un modelo físico, cómo lo resuelve el solver y cómo se conecta a datos, con herramientas abiertas.</a:t>
            </a:r>
          </a:p>
        </p:txBody>
      </p:sp>
      <p:sp>
        <p:nvSpPr>
          <p:cNvPr id="3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4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I actual"/>
          <p:cNvSpPr/>
          <p:nvPr/>
        </p:nvSpPr>
        <p:spPr>
          <a:xfrm>
            <a:off x="3127248" y="6510528"/>
            <a:ext cx="16840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17/18 </a:t>
            </a:r>
            <a:r>
              <a:rPr sz="1000" b="0" i="0">
                <a:solidFill>
                  <a:srgbClr val="A9B8C9"/>
                </a:solidFill>
                <a:effectLst>
                  <a:glow rad="63500">
                    <a:srgbClr val="001633">
                      <a:alpha val="85000"/>
                    </a:srgbClr>
                  </a:glow>
                </a:effectLst>
                <a:latin typeface="Montserrat"/>
              </a:rPr>
              <a:t>· Gemelos Digitales para Minería 4.0 · 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ideas para llevarse del capítulo II</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 · INDUSTRIA — CIERRE</a:t>
            </a:r>
          </a:p>
        </p:txBody>
      </p:sp>
      <p:sp>
        <p:nvSpPr>
          <p:cNvPr id="6" name="Idea 1"/>
          <p:cNvSpPr/>
          <p:nvPr/>
        </p:nvSpPr>
        <p:spPr>
          <a:xfrm>
            <a:off x="125272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Idea 1 borde"/>
          <p:cNvSpPr/>
          <p:nvPr/>
        </p:nvSpPr>
        <p:spPr>
          <a:xfrm>
            <a:off x="125272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8132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1</a:t>
            </a:r>
          </a:p>
        </p:txBody>
      </p:sp>
      <p:pic>
        <p:nvPicPr>
          <p:cNvPr id="9" name="Ícono pickaxe" descr="pickaxe-orange.png"/>
          <p:cNvPicPr>
            <a:picLocks noChangeAspect="1"/>
          </p:cNvPicPr>
          <p:nvPr/>
        </p:nvPicPr>
        <p:blipFill>
          <a:blip r:embed="rId3"/>
          <a:stretch>
            <a:fillRect/>
          </a:stretch>
        </p:blipFill>
        <p:spPr>
          <a:xfrm>
            <a:off x="3782568" y="2468880"/>
            <a:ext cx="365760" cy="365760"/>
          </a:xfrm>
          <a:prstGeom prst="rect">
            <a:avLst/>
          </a:prstGeom>
        </p:spPr>
      </p:pic>
      <p:sp>
        <p:nvSpPr>
          <p:cNvPr id="10" name="TextBox 9"/>
          <p:cNvSpPr txBox="1"/>
          <p:nvPr/>
        </p:nvSpPr>
        <p:spPr>
          <a:xfrm>
            <a:off x="148132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DÓNDE ESTÁN</a:t>
            </a:r>
          </a:p>
        </p:txBody>
      </p:sp>
      <p:sp>
        <p:nvSpPr>
          <p:cNvPr id="11" name="TextBox 10"/>
          <p:cNvSpPr txBox="1"/>
          <p:nvPr/>
        </p:nvSpPr>
        <p:spPr>
          <a:xfrm>
            <a:off x="148132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Hay gemelos en cada eslabón de la cadena, con distinto grado.</a:t>
            </a:r>
          </a:p>
          <a:p>
            <a:pPr algn="l">
              <a:spcAft>
                <a:spcPts val="400"/>
              </a:spcAft>
            </a:pPr>
            <a:r>
              <a:rPr sz="1050" b="0" i="0">
                <a:solidFill>
                  <a:srgbClr val="A9B8C9"/>
                </a:solidFill>
                <a:effectLst>
                  <a:glow rad="63500">
                    <a:srgbClr val="001633">
                      <a:alpha val="85000"/>
                    </a:srgbClr>
                  </a:glow>
                </a:effectLst>
                <a:latin typeface="Montserrat"/>
              </a:rPr>
              <a:t>Pocas faenas los conectan entre sí.</a:t>
            </a:r>
          </a:p>
        </p:txBody>
      </p:sp>
      <p:sp>
        <p:nvSpPr>
          <p:cNvPr id="12" name="Idea 2"/>
          <p:cNvSpPr/>
          <p:nvPr/>
        </p:nvSpPr>
        <p:spPr>
          <a:xfrm>
            <a:off x="469696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Idea 2 borde"/>
          <p:cNvSpPr/>
          <p:nvPr/>
        </p:nvSpPr>
        <p:spPr>
          <a:xfrm>
            <a:off x="469696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92556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2</a:t>
            </a:r>
          </a:p>
        </p:txBody>
      </p:sp>
      <p:pic>
        <p:nvPicPr>
          <p:cNvPr id="15" name="Ícono boxes" descr="boxes-orange.png"/>
          <p:cNvPicPr>
            <a:picLocks noChangeAspect="1"/>
          </p:cNvPicPr>
          <p:nvPr/>
        </p:nvPicPr>
        <p:blipFill>
          <a:blip r:embed="rId4"/>
          <a:stretch>
            <a:fillRect/>
          </a:stretch>
        </p:blipFill>
        <p:spPr>
          <a:xfrm>
            <a:off x="7226808" y="2468880"/>
            <a:ext cx="365760" cy="365760"/>
          </a:xfrm>
          <a:prstGeom prst="rect">
            <a:avLst/>
          </a:prstGeom>
        </p:spPr>
      </p:pic>
      <p:sp>
        <p:nvSpPr>
          <p:cNvPr id="16" name="TextBox 15"/>
          <p:cNvSpPr txBox="1"/>
          <p:nvPr/>
        </p:nvSpPr>
        <p:spPr>
          <a:xfrm>
            <a:off x="492556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QUÉ OFRECE EL MERCADO</a:t>
            </a:r>
          </a:p>
        </p:txBody>
      </p:sp>
      <p:sp>
        <p:nvSpPr>
          <p:cNvPr id="17" name="TextBox 16"/>
          <p:cNvSpPr txBox="1"/>
          <p:nvPr/>
        </p:nvSpPr>
        <p:spPr>
          <a:xfrm>
            <a:off x="492556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Seis empresas, cada una desde su origen: datos, ingeniería, control, accionamientos, mina o geología.</a:t>
            </a:r>
          </a:p>
          <a:p>
            <a:pPr algn="l">
              <a:spcAft>
                <a:spcPts val="400"/>
              </a:spcAft>
            </a:pPr>
            <a:r>
              <a:rPr sz="1050" b="0" i="0">
                <a:solidFill>
                  <a:srgbClr val="A9B8C9"/>
                </a:solidFill>
                <a:effectLst>
                  <a:glow rad="63500">
                    <a:srgbClr val="001633">
                      <a:alpha val="85000"/>
                    </a:srgbClr>
                  </a:glow>
                </a:effectLst>
                <a:latin typeface="Montserrat"/>
              </a:rPr>
              <a:t>Ninguna cubre toda la cadena.</a:t>
            </a:r>
          </a:p>
        </p:txBody>
      </p:sp>
      <p:sp>
        <p:nvSpPr>
          <p:cNvPr id="18" name="Idea 3"/>
          <p:cNvSpPr/>
          <p:nvPr/>
        </p:nvSpPr>
        <p:spPr>
          <a:xfrm>
            <a:off x="814120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dea 3 borde"/>
          <p:cNvSpPr/>
          <p:nvPr/>
        </p:nvSpPr>
        <p:spPr>
          <a:xfrm>
            <a:off x="814120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6980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3</a:t>
            </a:r>
          </a:p>
        </p:txBody>
      </p:sp>
      <p:pic>
        <p:nvPicPr>
          <p:cNvPr id="21" name="Ícono cpu" descr="cpu-orange.png"/>
          <p:cNvPicPr>
            <a:picLocks noChangeAspect="1"/>
          </p:cNvPicPr>
          <p:nvPr/>
        </p:nvPicPr>
        <p:blipFill>
          <a:blip r:embed="rId5"/>
          <a:stretch>
            <a:fillRect/>
          </a:stretch>
        </p:blipFill>
        <p:spPr>
          <a:xfrm>
            <a:off x="10671048" y="2468880"/>
            <a:ext cx="365760" cy="365760"/>
          </a:xfrm>
          <a:prstGeom prst="rect">
            <a:avLst/>
          </a:prstGeom>
        </p:spPr>
      </p:pic>
      <p:sp>
        <p:nvSpPr>
          <p:cNvPr id="22" name="TextBox 21"/>
          <p:cNvSpPr txBox="1"/>
          <p:nvPr/>
        </p:nvSpPr>
        <p:spPr>
          <a:xfrm>
            <a:off x="836980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QUÉ HAY POR DENTRO</a:t>
            </a:r>
          </a:p>
        </p:txBody>
      </p:sp>
      <p:sp>
        <p:nvSpPr>
          <p:cNvPr id="23" name="TextBox 22"/>
          <p:cNvSpPr txBox="1"/>
          <p:nvPr/>
        </p:nvSpPr>
        <p:spPr>
          <a:xfrm>
            <a:off x="836980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Datos, modelo, motor de cálculo e interfaz.</a:t>
            </a:r>
          </a:p>
          <a:p>
            <a:pPr algn="l">
              <a:spcAft>
                <a:spcPts val="400"/>
              </a:spcAft>
            </a:pPr>
            <a:r>
              <a:rPr sz="1050" b="0" i="0">
                <a:solidFill>
                  <a:srgbClr val="A9B8C9"/>
                </a:solidFill>
                <a:effectLst>
                  <a:glow rad="63500">
                    <a:srgbClr val="001633">
                      <a:alpha val="85000"/>
                    </a:srgbClr>
                  </a:glow>
                </a:effectLst>
                <a:latin typeface="Montserrat"/>
              </a:rPr>
              <a:t>Entender esas piezas sirve para cualquier producto.</a:t>
            </a:r>
          </a:p>
        </p:txBody>
      </p:sp>
      <p:sp>
        <p:nvSpPr>
          <p:cNvPr id="24" name="Puente capítulo III"/>
          <p:cNvSpPr/>
          <p:nvPr/>
        </p:nvSpPr>
        <p:spPr>
          <a:xfrm>
            <a:off x="1252728" y="4754880"/>
            <a:ext cx="10012680" cy="7315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pítulo III"/>
          <p:cNvSpPr/>
          <p:nvPr/>
        </p:nvSpPr>
        <p:spPr>
          <a:xfrm>
            <a:off x="1435608" y="4864608"/>
            <a:ext cx="512064" cy="51206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wrench" descr="wrench-navy.png"/>
          <p:cNvPicPr>
            <a:picLocks noChangeAspect="1"/>
          </p:cNvPicPr>
          <p:nvPr/>
        </p:nvPicPr>
        <p:blipFill>
          <a:blip r:embed="rId6"/>
          <a:stretch>
            <a:fillRect/>
          </a:stretch>
        </p:blipFill>
        <p:spPr>
          <a:xfrm>
            <a:off x="1548262" y="4977262"/>
            <a:ext cx="286755" cy="286755"/>
          </a:xfrm>
          <a:prstGeom prst="rect">
            <a:avLst/>
          </a:prstGeom>
        </p:spPr>
      </p:pic>
      <p:sp>
        <p:nvSpPr>
          <p:cNvPr id="27" name="TextBox 26"/>
          <p:cNvSpPr txBox="1"/>
          <p:nvPr/>
        </p:nvSpPr>
        <p:spPr>
          <a:xfrm>
            <a:off x="2121408" y="4754880"/>
            <a:ext cx="9006840" cy="731520"/>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Capítulo III · Construcción   </a:t>
            </a:r>
            <a:r>
              <a:rPr sz="1300" b="0" i="0">
                <a:solidFill>
                  <a:srgbClr val="FFFFFF"/>
                </a:solidFill>
                <a:effectLst>
                  <a:glow rad="63500">
                    <a:srgbClr val="001633">
                      <a:alpha val="85000"/>
                    </a:srgbClr>
                  </a:glow>
                </a:effectLst>
                <a:latin typeface="Montserrat"/>
              </a:rPr>
              <a:t>¿Cómo se construye un gemelo, paso a paso?</a:t>
            </a:r>
          </a:p>
        </p:txBody>
      </p:sp>
      <p:sp>
        <p:nvSpPr>
          <p:cNvPr id="2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2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 · Industria</a:t>
            </a:r>
          </a:p>
        </p:txBody>
      </p:sp>
      <p:sp>
        <p:nvSpPr>
          <p:cNvPr id="3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Avance II actual"/>
          <p:cNvSpPr/>
          <p:nvPr/>
        </p:nvSpPr>
        <p:spPr>
          <a:xfrm>
            <a:off x="3127248" y="6510528"/>
            <a:ext cx="17830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3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18/18 </a:t>
            </a:r>
            <a:r>
              <a:rPr sz="1000" b="0" i="0">
                <a:solidFill>
                  <a:srgbClr val="A9B8C9"/>
                </a:solidFill>
                <a:effectLst>
                  <a:glow rad="63500">
                    <a:srgbClr val="001633">
                      <a:alpha val="85000"/>
                    </a:srgbClr>
                  </a:glow>
                </a:effectLst>
                <a:latin typeface="Montserrat"/>
              </a:rPr>
              <a:t>· Gemelos Digitales para Minería 4.0 · 36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(1/3)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a:t>
            </a:r>
          </a:p>
        </p:txBody>
      </p:sp>
      <p:sp>
        <p:nvSpPr>
          <p:cNvPr id="8" name="Tipo Industria"/>
          <p:cNvSpPr/>
          <p:nvPr/>
        </p:nvSpPr>
        <p:spPr>
          <a:xfrm>
            <a:off x="1252728" y="20299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(2026, 26 de agosto). Inside the $1.3B digital twin market: Why no vendor owns the full stack. IoT Analytics.</a:t>
            </a:r>
          </a:p>
          <a:p>
            <a:pPr algn="l">
              <a:spcAft>
                <a:spcPts val="100"/>
              </a:spcAft>
            </a:pPr>
            <a:r>
              <a:rPr sz="700" b="0" i="0">
                <a:solidFill>
                  <a:srgbClr val="A9B8C9"/>
                </a:solidFill>
                <a:effectLst>
                  <a:glow rad="63500">
                    <a:srgbClr val="001633">
                      <a:alpha val="85000"/>
                    </a:srgbClr>
                  </a:glow>
                </a:effectLst>
                <a:latin typeface="Montserrat"/>
              </a:rPr>
              <a:t>https://iot-analytics.com/why-no-vendor-owns-the-full-digital-twin-tech-stack/</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a:t>
            </a:r>
          </a:p>
        </p:txBody>
      </p:sp>
      <p:sp>
        <p:nvSpPr>
          <p:cNvPr id="13" name="Tipo Académica"/>
          <p:cNvSpPr/>
          <p:nvPr/>
        </p:nvSpPr>
        <p:spPr>
          <a:xfrm>
            <a:off x="125272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Kritzinger, W., Karner, M., Traar, G., Henjes, J. y Sihn, W. (2018). Digital Twin in manufacturing: A categorical literature review and classification. IFAC-PapersOnLine, 51(11), 1016–1022.</a:t>
            </a:r>
          </a:p>
          <a:p>
            <a:pPr algn="l">
              <a:spcAft>
                <a:spcPts val="100"/>
              </a:spcAft>
            </a:pPr>
            <a:r>
              <a:rPr sz="700" b="0" i="0">
                <a:solidFill>
                  <a:srgbClr val="A9B8C9"/>
                </a:solidFill>
                <a:effectLst>
                  <a:glow rad="63500">
                    <a:srgbClr val="001633">
                      <a:alpha val="85000"/>
                    </a:srgbClr>
                  </a:glow>
                </a:effectLst>
                <a:latin typeface="Montserrat"/>
              </a:rPr>
              <a:t>https://doi.org/10.1016/j.ifacol.2018.08.474</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[3]</a:t>
            </a:r>
          </a:p>
        </p:txBody>
      </p:sp>
      <p:sp>
        <p:nvSpPr>
          <p:cNvPr id="18" name="Tipo Proveedor"/>
          <p:cNvSpPr/>
          <p:nvPr/>
        </p:nvSpPr>
        <p:spPr>
          <a:xfrm>
            <a:off x="1252728" y="32491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Davies, L. (2026, 6 de marzo). Digital twins drive proactive tailings monitoring. Engineering News. Contenido patrocinado por Dassault Systèmes.</a:t>
            </a:r>
          </a:p>
          <a:p>
            <a:pPr algn="l">
              <a:spcAft>
                <a:spcPts val="100"/>
              </a:spcAft>
            </a:pPr>
            <a:r>
              <a:rPr sz="700" b="0" i="0">
                <a:solidFill>
                  <a:srgbClr val="A9B8C9"/>
                </a:solidFill>
                <a:effectLst>
                  <a:glow rad="63500">
                    <a:srgbClr val="001633">
                      <a:alpha val="85000"/>
                    </a:srgbClr>
                  </a:glow>
                </a:effectLst>
                <a:latin typeface="Montserrat"/>
              </a:rPr>
              <a:t>https://www.engineeringnews.co.za/article/digital-twins-drive-proactive-tailings-monitoring-2026-03-06</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[4]</a:t>
            </a:r>
          </a:p>
        </p:txBody>
      </p:sp>
      <p:sp>
        <p:nvSpPr>
          <p:cNvPr id="23" name="Tipo Industria"/>
          <p:cNvSpPr/>
          <p:nvPr/>
        </p:nvSpPr>
        <p:spPr>
          <a:xfrm>
            <a:off x="1252728" y="38587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(2020, 29 de abril). How the world's 250 Digital Twins compare? Same, same but different. IoT Analytics.</a:t>
            </a:r>
          </a:p>
          <a:p>
            <a:pPr algn="l">
              <a:spcAft>
                <a:spcPts val="100"/>
              </a:spcAft>
            </a:pPr>
            <a:r>
              <a:rPr sz="700" b="0" i="0">
                <a:solidFill>
                  <a:srgbClr val="A9B8C9"/>
                </a:solidFill>
                <a:effectLst>
                  <a:glow rad="63500">
                    <a:srgbClr val="001633">
                      <a:alpha val="85000"/>
                    </a:srgbClr>
                  </a:glow>
                </a:effectLst>
                <a:latin typeface="Montserrat"/>
              </a:rPr>
              <a:t>https://iot-analytics.com/how-the-worlds-250-digital-twins-compare/</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[5]</a:t>
            </a:r>
          </a:p>
        </p:txBody>
      </p:sp>
      <p:sp>
        <p:nvSpPr>
          <p:cNvPr id="28" name="Tipo Industria"/>
          <p:cNvSpPr/>
          <p:nvPr/>
        </p:nvSpPr>
        <p:spPr>
          <a:xfrm>
            <a:off x="125272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Digital Twin Consortium (2022). Digital Twin Capabilities Periodic Table: A Digital Twin Consortium User Guide.</a:t>
            </a:r>
          </a:p>
          <a:p>
            <a:pPr algn="l">
              <a:spcAft>
                <a:spcPts val="100"/>
              </a:spcAft>
            </a:pPr>
            <a:r>
              <a:rPr sz="700" b="0" i="0">
                <a:solidFill>
                  <a:srgbClr val="A9B8C9"/>
                </a:solidFill>
                <a:effectLst>
                  <a:glow rad="63500">
                    <a:srgbClr val="001633">
                      <a:alpha val="85000"/>
                    </a:srgbClr>
                  </a:glow>
                </a:effectLst>
                <a:latin typeface="Montserrat"/>
              </a:rPr>
              <a:t>https://media.digitaltwinconsortium.org/wp-content/uploads/2022/06/Digital-Twin-Capabilities-Periodic-Table-User-Guide.pdf</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[6]</a:t>
            </a:r>
          </a:p>
        </p:txBody>
      </p:sp>
      <p:sp>
        <p:nvSpPr>
          <p:cNvPr id="33" name="Tipo Académica"/>
          <p:cNvSpPr/>
          <p:nvPr/>
        </p:nvSpPr>
        <p:spPr>
          <a:xfrm>
            <a:off x="1252728" y="5077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National Academies of Sciences, Engineering, and Medicine (2024). Foundational Research Gaps and Future Directions for Digital Twins. The National Academies Press.</a:t>
            </a:r>
          </a:p>
          <a:p>
            <a:pPr algn="l">
              <a:spcAft>
                <a:spcPts val="100"/>
              </a:spcAft>
            </a:pPr>
            <a:r>
              <a:rPr sz="700" b="0" i="0">
                <a:solidFill>
                  <a:srgbClr val="A9B8C9"/>
                </a:solidFill>
                <a:effectLst>
                  <a:glow rad="63500">
                    <a:srgbClr val="001633">
                      <a:alpha val="85000"/>
                    </a:srgbClr>
                  </a:glow>
                </a:effectLst>
                <a:latin typeface="Montserrat"/>
              </a:rPr>
              <a:t>https://doi.org/10.17226/26894</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[7]</a:t>
            </a:r>
          </a:p>
        </p:txBody>
      </p:sp>
      <p:sp>
        <p:nvSpPr>
          <p:cNvPr id="38" name="Tipo Académica"/>
          <p:cNvSpPr/>
          <p:nvPr/>
        </p:nvSpPr>
        <p:spPr>
          <a:xfrm>
            <a:off x="644194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Tao, F., Zhang, H., Liu, A. y Nee, A. Y. C. (2019). Digital Twin in Industry: State-of-the-Art. IEEE Transactions on Industrial Informatics, 15(4).</a:t>
            </a:r>
          </a:p>
          <a:p>
            <a:pPr algn="l">
              <a:spcAft>
                <a:spcPts val="100"/>
              </a:spcAft>
            </a:pPr>
            <a:r>
              <a:rPr sz="700" b="0" i="0">
                <a:solidFill>
                  <a:srgbClr val="A9B8C9"/>
                </a:solidFill>
                <a:effectLst>
                  <a:glow rad="63500">
                    <a:srgbClr val="001633">
                      <a:alpha val="85000"/>
                    </a:srgbClr>
                  </a:glow>
                </a:effectLst>
                <a:latin typeface="Montserrat"/>
              </a:rPr>
              <a:t>https://doi.org/10.1109/TII.2018.2873186</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[8]</a:t>
            </a:r>
          </a:p>
        </p:txBody>
      </p:sp>
      <p:sp>
        <p:nvSpPr>
          <p:cNvPr id="43" name="Tipo Académica"/>
          <p:cNvSpPr/>
          <p:nvPr/>
        </p:nvSpPr>
        <p:spPr>
          <a:xfrm>
            <a:off x="644194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Taylor, J., Clark, J. M., Levy, I., Horne, P., Smith, M. y Passmore, M. (2019). BHP Olympic Dam's transformation to live implicit modelling and innovative solutions to working in data dense environments. 11th International Mining Geology Conference, AusIMM.</a:t>
            </a:r>
          </a:p>
          <a:p>
            <a:pPr algn="l">
              <a:spcAft>
                <a:spcPts val="100"/>
              </a:spcAft>
            </a:pPr>
            <a:r>
              <a:rPr sz="700" b="0" i="0">
                <a:solidFill>
                  <a:srgbClr val="A9B8C9"/>
                </a:solidFill>
                <a:effectLst>
                  <a:glow rad="63500">
                    <a:srgbClr val="001633">
                      <a:alpha val="85000"/>
                    </a:srgbClr>
                  </a:glow>
                </a:effectLst>
                <a:latin typeface="Montserrat"/>
              </a:rPr>
              <a:t>https://www.ausimm.com/publications/conference-proceedings/11th-international-mining-geology-conference-2019/bhp-olympic-dams-transformation-to-live-implicit-modelling-and-innovative-solutions-to-working-in-data-dense-environments/</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[9]</a:t>
            </a:r>
          </a:p>
        </p:txBody>
      </p:sp>
      <p:sp>
        <p:nvSpPr>
          <p:cNvPr id="48" name="Tipo Académica"/>
          <p:cNvSpPr/>
          <p:nvPr/>
        </p:nvSpPr>
        <p:spPr>
          <a:xfrm>
            <a:off x="6441948" y="32491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Zamani, V., Badiozamani, M. M. y Askari-Nasab, H. (2025). An Ore-to-Barrel Digital Twin: Simulating Fleet and Plant Development in Oil Sands Mining Operations. Mining Optimization Laboratory, University of Alberta.</a:t>
            </a:r>
          </a:p>
          <a:p>
            <a:pPr algn="l">
              <a:spcAft>
                <a:spcPts val="100"/>
              </a:spcAft>
            </a:pPr>
            <a:r>
              <a:rPr sz="700" b="0" i="0">
                <a:solidFill>
                  <a:srgbClr val="A9B8C9"/>
                </a:solidFill>
                <a:effectLst>
                  <a:glow rad="63500">
                    <a:srgbClr val="001633">
                      <a:alpha val="85000"/>
                    </a:srgbClr>
                  </a:glow>
                </a:effectLst>
                <a:latin typeface="Montserrat"/>
              </a:rPr>
              <a:t>https://sites.ualberta.ca/MOL/DataFiles/2025_Papers/303_Zamani.pdf</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[10]</a:t>
            </a:r>
          </a:p>
        </p:txBody>
      </p:sp>
      <p:sp>
        <p:nvSpPr>
          <p:cNvPr id="53" name="Tipo Prensa"/>
          <p:cNvSpPr/>
          <p:nvPr/>
        </p:nvSpPr>
        <p:spPr>
          <a:xfrm>
            <a:off x="6441948" y="38587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Mining Digital (2024, 31 de enero). ABB &amp; Boliden use digital twins to optimise mining processes.</a:t>
            </a:r>
          </a:p>
          <a:p>
            <a:pPr algn="l">
              <a:spcAft>
                <a:spcPts val="100"/>
              </a:spcAft>
            </a:pPr>
            <a:r>
              <a:rPr sz="700" b="0" i="0">
                <a:solidFill>
                  <a:srgbClr val="A9B8C9"/>
                </a:solidFill>
                <a:effectLst>
                  <a:glow rad="63500">
                    <a:srgbClr val="001633">
                      <a:alpha val="85000"/>
                    </a:srgbClr>
                  </a:glow>
                </a:effectLst>
                <a:latin typeface="Montserrat"/>
              </a:rPr>
              <a:t>https://miningdigital.com/articles/abb-boliden-use-digital-twins-to-optimise-mining-processes</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[11]</a:t>
            </a:r>
          </a:p>
        </p:txBody>
      </p:sp>
      <p:sp>
        <p:nvSpPr>
          <p:cNvPr id="58" name="Tipo Industria"/>
          <p:cNvSpPr/>
          <p:nvPr/>
        </p:nvSpPr>
        <p:spPr>
          <a:xfrm>
            <a:off x="644194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MMG (2026, 20 de julio). The new digital twin technology adoption that delivered strong value.</a:t>
            </a:r>
          </a:p>
          <a:p>
            <a:pPr algn="l">
              <a:spcAft>
                <a:spcPts val="100"/>
              </a:spcAft>
            </a:pPr>
            <a:r>
              <a:rPr sz="700" b="0" i="0">
                <a:solidFill>
                  <a:srgbClr val="A9B8C9"/>
                </a:solidFill>
                <a:effectLst>
                  <a:glow rad="63500">
                    <a:srgbClr val="001633">
                      <a:alpha val="85000"/>
                    </a:srgbClr>
                  </a:glow>
                </a:effectLst>
                <a:latin typeface="Montserrat"/>
              </a:rPr>
              <a:t>https://www.mmg.com/investors/news-centre/169701</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[12]</a:t>
            </a:r>
          </a:p>
        </p:txBody>
      </p:sp>
      <p:sp>
        <p:nvSpPr>
          <p:cNvPr id="63" name="Tipo Proveedor"/>
          <p:cNvSpPr/>
          <p:nvPr/>
        </p:nvSpPr>
        <p:spPr>
          <a:xfrm>
            <a:off x="6441948" y="5077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Kenworthy, A. (2021). The role of a dynamically updated digital twin in modern tailing storage facilities management. Seequent.</a:t>
            </a:r>
          </a:p>
          <a:p>
            <a:pPr algn="l">
              <a:spcAft>
                <a:spcPts val="100"/>
              </a:spcAft>
            </a:pPr>
            <a:r>
              <a:rPr sz="700" b="0" i="0">
                <a:solidFill>
                  <a:srgbClr val="A9B8C9"/>
                </a:solidFill>
                <a:effectLst>
                  <a:glow rad="63500">
                    <a:srgbClr val="001633">
                      <a:alpha val="85000"/>
                    </a:srgbClr>
                  </a:glow>
                </a:effectLst>
                <a:latin typeface="Montserrat"/>
              </a:rPr>
              <a:t>https://www.seequent.com/the-role-of-a-dynamically-updated-digital-twin-in-modern-tailing-storage-facilities-management-monitoring-to-modeling</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(2/3)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[13]</a:t>
            </a:r>
          </a:p>
        </p:txBody>
      </p:sp>
      <p:sp>
        <p:nvSpPr>
          <p:cNvPr id="8" name="Tipo Proveedor"/>
          <p:cNvSpPr/>
          <p:nvPr/>
        </p:nvSpPr>
        <p:spPr>
          <a:xfrm>
            <a:off x="1252728" y="2029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Visagie, C. (2026, 13 de mayo). Real-time ventilation-on-demand using digital twins. MechChem Africa. El autor es director de Vuma Software.</a:t>
            </a:r>
          </a:p>
          <a:p>
            <a:pPr algn="l">
              <a:spcAft>
                <a:spcPts val="100"/>
              </a:spcAft>
            </a:pPr>
            <a:r>
              <a:rPr sz="700" b="0" i="0">
                <a:solidFill>
                  <a:srgbClr val="A9B8C9"/>
                </a:solidFill>
                <a:effectLst>
                  <a:glow rad="63500">
                    <a:srgbClr val="001633">
                      <a:alpha val="85000"/>
                    </a:srgbClr>
                  </a:glow>
                </a:effectLst>
                <a:latin typeface="Montserrat"/>
              </a:rPr>
              <a:t>https://www.crown.co.za/mechchem-africa/industry-innovations/36611-real-time-ventilation-on-demand-using-digital-twins</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[14]</a:t>
            </a:r>
          </a:p>
        </p:txBody>
      </p:sp>
      <p:sp>
        <p:nvSpPr>
          <p:cNvPr id="13" name="Tipo Proveedor"/>
          <p:cNvSpPr/>
          <p:nvPr/>
        </p:nvSpPr>
        <p:spPr>
          <a:xfrm>
            <a:off x="1252728" y="26395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Mipac (2025, 21 de mayo). Ok Tedi's AVEVA PI System journey with Mipac.</a:t>
            </a:r>
          </a:p>
          <a:p>
            <a:pPr algn="l">
              <a:spcAft>
                <a:spcPts val="100"/>
              </a:spcAft>
            </a:pPr>
            <a:r>
              <a:rPr sz="700" b="0" i="0">
                <a:solidFill>
                  <a:srgbClr val="A9B8C9"/>
                </a:solidFill>
                <a:effectLst>
                  <a:glow rad="63500">
                    <a:srgbClr val="001633">
                      <a:alpha val="85000"/>
                    </a:srgbClr>
                  </a:glow>
                </a:effectLst>
                <a:latin typeface="Montserrat"/>
              </a:rPr>
              <a:t>https://www.mipac.com.au/insights/ok-tedis-aveva-pi-system-journey-with-mipac/</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[15]</a:t>
            </a:r>
          </a:p>
        </p:txBody>
      </p:sp>
      <p:sp>
        <p:nvSpPr>
          <p:cNvPr id="18" name="Tipo Prensa"/>
          <p:cNvSpPr/>
          <p:nvPr/>
        </p:nvSpPr>
        <p:spPr>
          <a:xfrm>
            <a:off x="1252728" y="32491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International Mining (2022, 12 de diciembre). Anglo American utilising latest digital twin technology at Quellaveco.</a:t>
            </a:r>
          </a:p>
          <a:p>
            <a:pPr algn="l">
              <a:spcAft>
                <a:spcPts val="100"/>
              </a:spcAft>
            </a:pPr>
            <a:r>
              <a:rPr sz="700" b="0" i="0">
                <a:solidFill>
                  <a:srgbClr val="A9B8C9"/>
                </a:solidFill>
                <a:effectLst>
                  <a:glow rad="63500">
                    <a:srgbClr val="001633">
                      <a:alpha val="85000"/>
                    </a:srgbClr>
                  </a:glow>
                </a:effectLst>
                <a:latin typeface="Montserrat"/>
              </a:rPr>
              <a:t>https://im-mining.com/?p=91754</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[16]</a:t>
            </a:r>
          </a:p>
        </p:txBody>
      </p:sp>
      <p:sp>
        <p:nvSpPr>
          <p:cNvPr id="23" name="Tipo Proveedor"/>
          <p:cNvSpPr/>
          <p:nvPr/>
        </p:nvSpPr>
        <p:spPr>
          <a:xfrm>
            <a:off x="1252728" y="38587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MechChem Africa (2024, mayo-junio). Innomotics partners in world's first digital mine.</a:t>
            </a:r>
          </a:p>
          <a:p>
            <a:pPr algn="l">
              <a:spcAft>
                <a:spcPts val="100"/>
              </a:spcAft>
            </a:pPr>
            <a:r>
              <a:rPr sz="700" b="0" i="0">
                <a:solidFill>
                  <a:srgbClr val="A9B8C9"/>
                </a:solidFill>
                <a:effectLst>
                  <a:glow rad="63500">
                    <a:srgbClr val="001633">
                      <a:alpha val="85000"/>
                    </a:srgbClr>
                  </a:glow>
                </a:effectLst>
                <a:latin typeface="Montserrat"/>
              </a:rPr>
              <a:t>https://www.crown.co.za/images/magazines/mechchem-africa/2024/Innomotics_partners_in_worlds_first_digital_mine.pdf</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[17]</a:t>
            </a:r>
          </a:p>
        </p:txBody>
      </p:sp>
      <p:sp>
        <p:nvSpPr>
          <p:cNvPr id="28" name="Tipo Prensa"/>
          <p:cNvSpPr/>
          <p:nvPr/>
        </p:nvSpPr>
        <p:spPr>
          <a:xfrm>
            <a:off x="1252728" y="44683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Global Mining Review (2023, 16 de febrero). Hexagon and BUMA successfully deploy MineOperate OP Pro.</a:t>
            </a:r>
          </a:p>
          <a:p>
            <a:pPr algn="l">
              <a:spcAft>
                <a:spcPts val="100"/>
              </a:spcAft>
            </a:pPr>
            <a:r>
              <a:rPr sz="700" b="0" i="0">
                <a:solidFill>
                  <a:srgbClr val="A9B8C9"/>
                </a:solidFill>
                <a:effectLst>
                  <a:glow rad="63500">
                    <a:srgbClr val="001633">
                      <a:alpha val="85000"/>
                    </a:srgbClr>
                  </a:glow>
                </a:effectLst>
                <a:latin typeface="Montserrat"/>
              </a:rPr>
              <a:t>https://www.globalminingreview.com/mining/16022023/hexagon-and-buma-successfully-deploy-mineoperate-op-pro/</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[18]</a:t>
            </a:r>
          </a:p>
        </p:txBody>
      </p:sp>
      <p:sp>
        <p:nvSpPr>
          <p:cNvPr id="33" name="Tipo Estándar"/>
          <p:cNvSpPr/>
          <p:nvPr/>
        </p:nvSpPr>
        <p:spPr>
          <a:xfrm>
            <a:off x="125272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Modelica Language Specification 3.6.</a:t>
            </a:r>
          </a:p>
          <a:p>
            <a:pPr algn="l">
              <a:spcAft>
                <a:spcPts val="100"/>
              </a:spcAft>
            </a:pPr>
            <a:r>
              <a:rPr sz="700" b="0" i="0">
                <a:solidFill>
                  <a:srgbClr val="A9B8C9"/>
                </a:solidFill>
                <a:effectLst>
                  <a:glow rad="63500">
                    <a:srgbClr val="001633">
                      <a:alpha val="85000"/>
                    </a:srgbClr>
                  </a:glow>
                </a:effectLst>
                <a:latin typeface="Montserrat"/>
              </a:rPr>
              <a:t>https://specification.modelica.org/</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[19]</a:t>
            </a:r>
          </a:p>
        </p:txBody>
      </p:sp>
      <p:sp>
        <p:nvSpPr>
          <p:cNvPr id="3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Functional Mock-up Interface (FMI) 3.0.</a:t>
            </a:r>
          </a:p>
          <a:p>
            <a:pPr algn="l">
              <a:spcAft>
                <a:spcPts val="100"/>
              </a:spcAft>
            </a:pPr>
            <a:r>
              <a:rPr sz="700" b="0" i="0">
                <a:solidFill>
                  <a:srgbClr val="A9B8C9"/>
                </a:solidFill>
                <a:effectLst>
                  <a:glow rad="63500">
                    <a:srgbClr val="001633">
                      <a:alpha val="85000"/>
                    </a:srgbClr>
                  </a:glow>
                </a:effectLst>
                <a:latin typeface="Montserrat"/>
              </a:rPr>
              <a:t>https://fmi-standard.org/</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[20]</a:t>
            </a:r>
          </a:p>
        </p:txBody>
      </p:sp>
      <p:sp>
        <p:nvSpPr>
          <p:cNvPr id="43" name="Tipo Estándar"/>
          <p:cNvSpPr/>
          <p:nvPr/>
        </p:nvSpPr>
        <p:spPr>
          <a:xfrm>
            <a:off x="6441948" y="26395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System Structure and Parameterization (SSP) 1.0.</a:t>
            </a:r>
          </a:p>
          <a:p>
            <a:pPr algn="l">
              <a:spcAft>
                <a:spcPts val="100"/>
              </a:spcAft>
            </a:pPr>
            <a:r>
              <a:rPr sz="700" b="0" i="0">
                <a:solidFill>
                  <a:srgbClr val="A9B8C9"/>
                </a:solidFill>
                <a:effectLst>
                  <a:glow rad="63500">
                    <a:srgbClr val="001633">
                      <a:alpha val="85000"/>
                    </a:srgbClr>
                  </a:glow>
                </a:effectLst>
                <a:latin typeface="Montserrat"/>
              </a:rPr>
              <a:t>https://ssp-standard.org/</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[21]</a:t>
            </a:r>
          </a:p>
        </p:txBody>
      </p:sp>
      <p:sp>
        <p:nvSpPr>
          <p:cNvPr id="48" name="Tipo Estándar"/>
          <p:cNvSpPr/>
          <p:nvPr/>
        </p:nvSpPr>
        <p:spPr>
          <a:xfrm>
            <a:off x="6441948" y="32491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OPC Foundation. OPC Unified Architecture (IEC 62541).</a:t>
            </a:r>
          </a:p>
          <a:p>
            <a:pPr algn="l">
              <a:spcAft>
                <a:spcPts val="100"/>
              </a:spcAft>
            </a:pPr>
            <a:r>
              <a:rPr sz="700" b="0" i="0">
                <a:solidFill>
                  <a:srgbClr val="A9B8C9"/>
                </a:solidFill>
                <a:effectLst>
                  <a:glow rad="63500">
                    <a:srgbClr val="001633">
                      <a:alpha val="85000"/>
                    </a:srgbClr>
                  </a:glow>
                </a:effectLst>
                <a:latin typeface="Montserrat"/>
              </a:rPr>
              <a:t>https://opcfoundation.org/about/opc-technologies/opc-ua/</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[22]</a:t>
            </a:r>
          </a:p>
        </p:txBody>
      </p:sp>
      <p:sp>
        <p:nvSpPr>
          <p:cNvPr id="53" name="Tipo Estándar"/>
          <p:cNvSpPr/>
          <p:nvPr/>
        </p:nvSpPr>
        <p:spPr>
          <a:xfrm>
            <a:off x="6441948" y="38587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OASIS. MQTT Version 5.0, OASIS Standard (2019).</a:t>
            </a:r>
          </a:p>
          <a:p>
            <a:pPr algn="l">
              <a:spcAft>
                <a:spcPts val="100"/>
              </a:spcAft>
            </a:pPr>
            <a:r>
              <a:rPr sz="700" b="0" i="0">
                <a:solidFill>
                  <a:srgbClr val="A9B8C9"/>
                </a:solidFill>
                <a:effectLst>
                  <a:glow rad="63500">
                    <a:srgbClr val="001633">
                      <a:alpha val="85000"/>
                    </a:srgbClr>
                  </a:glow>
                </a:effectLst>
                <a:latin typeface="Montserrat"/>
              </a:rPr>
              <a:t>https://docs.oasis-open.org/mqtt/mqtt/v5.0/mqtt-v5.0.html</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[23]</a:t>
            </a:r>
          </a:p>
        </p:txBody>
      </p:sp>
      <p:sp>
        <p:nvSpPr>
          <p:cNvPr id="58" name="Tipo Estándar"/>
          <p:cNvSpPr/>
          <p:nvPr/>
        </p:nvSpPr>
        <p:spPr>
          <a:xfrm>
            <a:off x="6441948" y="44683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ISA. ISA-95 / IEC 62264: Enterprise-Control System Integration.</a:t>
            </a:r>
          </a:p>
          <a:p>
            <a:pPr algn="l">
              <a:spcAft>
                <a:spcPts val="100"/>
              </a:spcAft>
            </a:pPr>
            <a:r>
              <a:rPr sz="700" b="0" i="0">
                <a:solidFill>
                  <a:srgbClr val="A9B8C9"/>
                </a:solidFill>
                <a:effectLst>
                  <a:glow rad="63500">
                    <a:srgbClr val="001633">
                      <a:alpha val="85000"/>
                    </a:srgbClr>
                  </a:glow>
                </a:effectLst>
                <a:latin typeface="Montserrat"/>
              </a:rPr>
              <a:t>https://www.isa.org/standards-and-publications/isa-standards/isa-95-standard</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[24]</a:t>
            </a:r>
          </a:p>
        </p:txBody>
      </p:sp>
      <p:sp>
        <p:nvSpPr>
          <p:cNvPr id="63" name="Tipo Estándar"/>
          <p:cNvSpPr/>
          <p:nvPr/>
        </p:nvSpPr>
        <p:spPr>
          <a:xfrm>
            <a:off x="644194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Industrial Digital Twin Association. Asset Administration Shell (IEC 63278).</a:t>
            </a:r>
          </a:p>
          <a:p>
            <a:pPr algn="l">
              <a:spcAft>
                <a:spcPts val="100"/>
              </a:spcAft>
            </a:pPr>
            <a:r>
              <a:rPr sz="700" b="0" i="0">
                <a:solidFill>
                  <a:srgbClr val="A9B8C9"/>
                </a:solidFill>
                <a:effectLst>
                  <a:glow rad="63500">
                    <a:srgbClr val="001633">
                      <a:alpha val="85000"/>
                    </a:srgbClr>
                  </a:glow>
                </a:effectLst>
                <a:latin typeface="Montserrat"/>
              </a:rPr>
              <a:t>https://industrialdigitaltwin.org/en/content-hub/aasspecifications</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(3/3)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[25]</a:t>
            </a:r>
          </a:p>
        </p:txBody>
      </p:sp>
      <p:sp>
        <p:nvSpPr>
          <p:cNvPr id="8" name="Tipo Académica"/>
          <p:cNvSpPr/>
          <p:nvPr/>
        </p:nvSpPr>
        <p:spPr>
          <a:xfrm>
            <a:off x="125272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11" name="TextBox 10"/>
          <p:cNvSpPr txBox="1"/>
          <p:nvPr/>
        </p:nvSpPr>
        <p:spPr>
          <a:xfrm>
            <a:off x="175564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Kalman, R. E. (1960). A New Approach to Linear Filtering and Prediction Problems. Journal of Basic Engineering, 82(1), 35–45.</a:t>
            </a:r>
          </a:p>
          <a:p>
            <a:pPr algn="l">
              <a:spcAft>
                <a:spcPts val="100"/>
              </a:spcAft>
            </a:pPr>
            <a:r>
              <a:rPr sz="700" b="0" i="0">
                <a:solidFill>
                  <a:srgbClr val="A9B8C9"/>
                </a:solidFill>
                <a:effectLst>
                  <a:glow rad="63500">
                    <a:srgbClr val="001633">
                      <a:alpha val="85000"/>
                    </a:srgbClr>
                  </a:glow>
                </a:effectLst>
                <a:latin typeface="Montserrat"/>
              </a:rPr>
              <a:t>https://doi.org/10.1115/1.3662552</a:t>
            </a:r>
          </a:p>
        </p:txBody>
      </p:sp>
      <p:sp>
        <p:nvSpPr>
          <p:cNvPr id="12" name="TextBox 11"/>
          <p:cNvSpPr txBox="1"/>
          <p:nvPr/>
        </p:nvSpPr>
        <p:spPr>
          <a:xfrm>
            <a:off x="125272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[26]</a:t>
            </a:r>
          </a:p>
        </p:txBody>
      </p:sp>
      <p:sp>
        <p:nvSpPr>
          <p:cNvPr id="13" name="Tipo Proveedor"/>
          <p:cNvSpPr/>
          <p:nvPr/>
        </p:nvSpPr>
        <p:spPr>
          <a:xfrm>
            <a:off x="1252728" y="2688335"/>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88335"/>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16" name="TextBox 15"/>
          <p:cNvSpPr txBox="1"/>
          <p:nvPr/>
        </p:nvSpPr>
        <p:spPr>
          <a:xfrm>
            <a:off x="175564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ANDRITZ AG. ANDRITZ Hyperbaric Disc Filter (HBF): folleto HBF 1.0/07.2019 y hoja de producto 1.0/01.2013.</a:t>
            </a:r>
          </a:p>
          <a:p>
            <a:pPr algn="l">
              <a:spcAft>
                <a:spcPts val="100"/>
              </a:spcAft>
            </a:pPr>
            <a:r>
              <a:rPr sz="700" b="0" i="0">
                <a:solidFill>
                  <a:srgbClr val="A9B8C9"/>
                </a:solidFill>
                <a:effectLst>
                  <a:glow rad="63500">
                    <a:srgbClr val="001633">
                      <a:alpha val="85000"/>
                    </a:srgbClr>
                  </a:glow>
                </a:effectLst>
                <a:latin typeface="Montserrat"/>
              </a:rPr>
              <a:t>https://www.andritz.com/products-en/separation/disc-drum-filters/andritz-hyperbaric-disc-filter-hbf</a:t>
            </a:r>
          </a:p>
        </p:txBody>
      </p:sp>
      <p:sp>
        <p:nvSpPr>
          <p:cNvPr id="17" name="TextBox 1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[27]</a:t>
            </a:r>
          </a:p>
        </p:txBody>
      </p:sp>
      <p:sp>
        <p:nvSpPr>
          <p:cNvPr id="1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20" name="TextBox 1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1" name="TextBox 20"/>
          <p:cNvSpPr txBox="1"/>
          <p:nvPr/>
        </p:nvSpPr>
        <p:spPr>
          <a:xfrm>
            <a:off x="694486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IMO. International Maritime Solid Bulk Cargoes Code (IMSBC Code): cargas del Grupo A y límite de humedad transportable.</a:t>
            </a:r>
          </a:p>
          <a:p>
            <a:pPr algn="l">
              <a:spcAft>
                <a:spcPts val="100"/>
              </a:spcAft>
            </a:pPr>
            <a:r>
              <a:rPr sz="700" b="0" i="0">
                <a:solidFill>
                  <a:srgbClr val="A9B8C9"/>
                </a:solidFill>
                <a:effectLst>
                  <a:glow rad="63500">
                    <a:srgbClr val="001633">
                      <a:alpha val="85000"/>
                    </a:srgbClr>
                  </a:glow>
                </a:effectLst>
                <a:latin typeface="Montserrat"/>
              </a:rPr>
              <a:t>https://www.imo.org/en/OurWork/Safety/Pages/BulkCarriers.aspx</a:t>
            </a:r>
          </a:p>
        </p:txBody>
      </p:sp>
      <p:sp>
        <p:nvSpPr>
          <p:cNvPr id="22" name="TextBox 21"/>
          <p:cNvSpPr txBox="1"/>
          <p:nvPr/>
        </p:nvSpPr>
        <p:spPr>
          <a:xfrm>
            <a:off x="644194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[28]</a:t>
            </a:r>
          </a:p>
        </p:txBody>
      </p:sp>
      <p:sp>
        <p:nvSpPr>
          <p:cNvPr id="23" name="Tipo Académica"/>
          <p:cNvSpPr/>
          <p:nvPr/>
        </p:nvSpPr>
        <p:spPr>
          <a:xfrm>
            <a:off x="6441948" y="2688335"/>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41948" y="2688335"/>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25" name="TextBox 24"/>
          <p:cNvSpPr txBox="1"/>
          <p:nvPr/>
        </p:nvSpPr>
        <p:spPr>
          <a:xfrm>
            <a:off x="644194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6" name="TextBox 25"/>
          <p:cNvSpPr txBox="1"/>
          <p:nvPr/>
        </p:nvSpPr>
        <p:spPr>
          <a:xfrm>
            <a:off x="694486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Hahn, J. (2019). Tailings dewatering with increased filtration rates and lowest filter cake moisture for filtered tailings stacking. Paste 2019, ACG, 245–257.</a:t>
            </a:r>
          </a:p>
          <a:p>
            <a:pPr algn="l">
              <a:spcAft>
                <a:spcPts val="100"/>
              </a:spcAft>
            </a:pPr>
            <a:r>
              <a:rPr sz="700" b="0" i="0">
                <a:solidFill>
                  <a:srgbClr val="A9B8C9"/>
                </a:solidFill>
                <a:effectLst>
                  <a:glow rad="63500">
                    <a:srgbClr val="001633">
                      <a:alpha val="85000"/>
                    </a:srgbClr>
                  </a:glow>
                </a:effectLst>
                <a:latin typeface="Montserrat"/>
              </a:rPr>
              <a:t>https://doi.org/10.36487/ACG_rep/1910_16_Hahn</a:t>
            </a:r>
          </a:p>
        </p:txBody>
      </p:sp>
      <p:sp>
        <p:nvSpPr>
          <p:cNvPr id="2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800" b="1" i="0">
                <a:solidFill>
                  <a:srgbClr val="FFFFFF"/>
                </a:solidFill>
                <a:effectLst>
                  <a:glow rad="63500">
                    <a:srgbClr val="001633">
                      <a:alpha val="85000"/>
                    </a:srgbClr>
                  </a:glow>
                </a:effectLst>
                <a:latin typeface="Montserrat"/>
              </a:rPr>
              <a:t>¡Gracias!</a:t>
            </a:r>
          </a:p>
        </p:txBody>
      </p:sp>
      <p:sp>
        <p:nvSpPr>
          <p:cNvPr id="3" name="Subtitle 2"/>
          <p:cNvSpPr>
            <a:spLocks noGrp="1"/>
          </p:cNvSpPr>
          <p:nvPr>
            <p:ph type="subTitle" idx="1"/>
          </p:nvPr>
        </p:nvSpPr>
        <p:spPr/>
        <p:txBody>
          <a:bodyPr/>
          <a:lstStyle/>
          <a:p>
            <a:r>
              <a:rPr sz="2000" b="1" i="0">
                <a:solidFill>
                  <a:srgbClr val="FFAB40"/>
                </a:solidFill>
                <a:effectLst>
                  <a:glow rad="63500">
                    <a:srgbClr val="001633">
                      <a:alpha val="85000"/>
                    </a:srgbClr>
                  </a:glow>
                </a:effectLst>
                <a:latin typeface="Montserrat"/>
              </a:rPr>
              <a:t>Preguntas y conversación</a:t>
            </a:r>
          </a:p>
        </p:txBody>
      </p:sp>
      <p:sp>
        <p:nvSpPr>
          <p:cNvPr id="4" name="Contacto Luis Jaraquemada S."/>
          <p:cNvSpPr txBox="1"/>
          <p:nvPr/>
        </p:nvSpPr>
        <p:spPr>
          <a:xfrm>
            <a:off x="2286000" y="5989320"/>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Luis Jaraquemada S.   </a:t>
            </a:r>
            <a:r>
              <a:rPr sz="1600" b="0" i="0">
                <a:solidFill>
                  <a:srgbClr val="FFAB40"/>
                </a:solidFill>
                <a:effectLst>
                  <a:glow rad="63500">
                    <a:srgbClr val="001633">
                      <a:alpha val="85000"/>
                    </a:srgbClr>
                  </a:glow>
                </a:effectLst>
                <a:latin typeface="Montserrat"/>
              </a:rPr>
              <a:t>ljaraque@yahoo.com</a:t>
            </a:r>
          </a:p>
        </p:txBody>
      </p:sp>
      <p:sp>
        <p:nvSpPr>
          <p:cNvPr id="5" name="Contacto Andrés Venegas G."/>
          <p:cNvSpPr txBox="1"/>
          <p:nvPr/>
        </p:nvSpPr>
        <p:spPr>
          <a:xfrm>
            <a:off x="2286000" y="6300216"/>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Andrés Venegas G.   </a:t>
            </a:r>
            <a:r>
              <a:rPr sz="1600" b="0" i="0">
                <a:solidFill>
                  <a:srgbClr val="FFAB40"/>
                </a:solidFill>
                <a:effectLst>
                  <a:glow rad="63500">
                    <a:srgbClr val="001633">
                      <a:alpha val="85000"/>
                    </a:srgbClr>
                  </a:glow>
                </a:effectLst>
                <a:latin typeface="Montserrat"/>
              </a:rPr>
              <a:t>lvenegas15@hotmail.com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32454</Words>
  <Application>Microsoft Macintosh PowerPoint</Application>
  <PresentationFormat>Panorámica</PresentationFormat>
  <Paragraphs>3338</Paragraphs>
  <Slides>100</Slides>
  <Notes>98</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100</vt:i4>
      </vt:variant>
    </vt:vector>
  </HeadingPairs>
  <TitlesOfParts>
    <vt:vector size="108" baseType="lpstr">
      <vt:lpstr>Aptos</vt:lpstr>
      <vt:lpstr>Aptos Display</vt:lpstr>
      <vt:lpstr>Arial</vt:lpstr>
      <vt:lpstr>Montserrat</vt:lpstr>
      <vt:lpstr>Montserrat ExtraBold</vt:lpstr>
      <vt:lpstr>Montserrat Medium</vt:lpstr>
      <vt:lpstr>Tema de Office</vt:lpstr>
      <vt:lpstr>Futuristic Background by Slidesgo</vt:lpstr>
      <vt:lpstr>Gemelos Digitales para Minería 4.0</vt:lpstr>
      <vt:lpstr>Quiénes somos Diseñamos, construimos y presentamos gemelos digitales mineros</vt:lpstr>
      <vt:lpstr>Quiénes somos Hablamos de gemelos digitales donde la minería decide</vt:lpstr>
      <vt:lpstr>Mapa del curso Cuatro capítulos, de lo general a lo particular</vt:lpstr>
      <vt:lpstr>Presentación de PowerPoint</vt:lpstr>
      <vt:lpstr>¿Qué es un gemelo digital?</vt:lpstr>
      <vt:lpstr>Tres preguntas ubican cualquier gemelo: de qué, cuándo y para qué</vt:lpstr>
      <vt:lpstr>De una pieza a toda la cadena: el nivel define qué se modela</vt:lpstr>
      <vt:lpstr>El gemelo acompaña al activo desde el diseño hasta el cierre</vt:lpstr>
      <vt:lpstr>Siete usos frecuentes, de digitalizar a predecir, y la lista sigue abierta</vt:lpstr>
      <vt:lpstr>El cubo dice dónde y para qué; la integración dice cuán gemelo es</vt:lpstr>
      <vt:lpstr>Seis familias de capacidades: cada gemelo necesita una combinación distinta</vt:lpstr>
      <vt:lpstr>Un gemelo se justifica por la decisión que mejora</vt:lpstr>
      <vt:lpstr>Lo difícil no es construir el modelo: es que siga siendo confiable</vt:lpstr>
      <vt:lpstr>Todo gemelo tiene cinco partes, y el modelo es solo una</vt:lpstr>
      <vt:lpstr>Cuatro gemelos con el mismo nombre y casi nada en común</vt:lpstr>
      <vt:lpstr>Tres ideas para llevarse del capítulo I</vt:lpstr>
      <vt:lpstr>Presentación de PowerPoint</vt:lpstr>
      <vt:lpstr>Hay gemelos en cada eslabón de la cadena, pero rara vez conectados entre sí</vt:lpstr>
      <vt:lpstr>Cinco capas tecnológicas sostienen un gemelo, y la integración es la que más cuesta</vt:lpstr>
      <vt:lpstr>Tres familias de soluciones, y cada una cubre capas distintas</vt:lpstr>
      <vt:lpstr>Geología y planificación: un modelo geológico que se actualiza solo</vt:lpstr>
      <vt:lpstr>Carguío y transporte: simular la flota antes de comprarla</vt:lpstr>
      <vt:lpstr>Molienda: probar el control en el gemelo antes de tocar la planta</vt:lpstr>
      <vt:lpstr>Flotación: un gemelo que ajusta la recuperación en tiempo real</vt:lpstr>
      <vt:lpstr>Relaves: un gemelo vivo de la estabilidad del depósito</vt:lpstr>
      <vt:lpstr>Subterránea: ventilación que sigue a la demanda</vt:lpstr>
      <vt:lpstr>Seis empresas ofrecen gemelos para la minería, y cada una parte de un lugar distinto</vt:lpstr>
      <vt:lpstr>AVEVA: el gemelo nace de los datos de operación</vt:lpstr>
      <vt:lpstr>Siemens: el gemelo nace de la ingeniería y la automatización</vt:lpstr>
      <vt:lpstr>ABB: el gemelo vive dentro del control de procesos</vt:lpstr>
      <vt:lpstr>Innomotics: el gemelo nace de lo que mueve la mina y la planta</vt:lpstr>
      <vt:lpstr>Hexagon: el gemelo de la mina, del plan a la flota</vt:lpstr>
      <vt:lpstr>Dassault Systèmes: el gemelo nace del modelo 3D de la mina</vt:lpstr>
      <vt:lpstr>Detrás de cada producto hay las mismas cuatro piezas</vt:lpstr>
      <vt:lpstr>Tres ideas para llevarse del capítulo II</vt:lpstr>
      <vt:lpstr>Presentación de PowerPoint</vt:lpstr>
      <vt:lpstr>Construir un gemelo es tomar seis decisiones técnicas, una tras otra</vt:lpstr>
      <vt:lpstr>Una demo corre una vez; un gemelo operativo corre siempre</vt:lpstr>
      <vt:lpstr>Todo modelo está en algún punto entre la física y los datos</vt:lpstr>
      <vt:lpstr>Un modelo físico escribe en ecuaciones lo que ya sabemos del equipo</vt:lpstr>
      <vt:lpstr>Un modelo de datos aprende el patrón sin saber la física</vt:lpstr>
      <vt:lpstr>Un modelo híbrido usa la física como esqueleto y los datos como corrección</vt:lpstr>
      <vt:lpstr>Seis preguntas ubican cada activo entre la física y los datos</vt:lpstr>
      <vt:lpstr>Más detalle no siempre es mejor: la fidelidad se elige por la pregunta</vt:lpstr>
      <vt:lpstr>Causal o acausal: lo que cambia es el significado del signo «=»</vt:lpstr>
      <vt:lpstr>Modelica: cada componente se escribe una vez y después solo se conecta</vt:lpstr>
      <vt:lpstr>Cada lenguaje tiene su lugar: no hay uno que sirva para todo</vt:lpstr>
      <vt:lpstr>Herramientas abiertas o comerciales: lo que importa es no quedar encerrado</vt:lpstr>
      <vt:lpstr>El solver es el motor: convierte las ecuaciones en una trayectoria, paso a paso</vt:lpstr>
      <vt:lpstr>El paso de simulación depende de qué tan rápido cambia lo que importa</vt:lpstr>
      <vt:lpstr>Un modelo que simula no es un modelo correcto: verificar, calibrar y validar</vt:lpstr>
      <vt:lpstr>Cada equipo trae su propio modelo: el gemelo necesita integrarlos</vt:lpstr>
      <vt:lpstr>La FMU: un modelo empaquetado que cualquier herramienta puede abrir</vt:lpstr>
      <vt:lpstr>La interfaz de la FMU es un contrato: declara todo lo que el otro necesita saber</vt:lpstr>
      <vt:lpstr>Co-Simulation: la FMU trae su solver y quien la usa solo le pide avanzar</vt:lpstr>
      <vt:lpstr>Así se arma un gemelo multiproveedor: cada pieza en su capa, unidas por estándares</vt:lpstr>
      <vt:lpstr>Seis estándares para tres problemas: unir modelos, mover datos y describir equipos</vt:lpstr>
      <vt:lpstr>Una señal recorre cinco escalones antes de llegar al gemelo</vt:lpstr>
      <vt:lpstr>Los datos reales llegan con huecos, ruido y desfases, y el gemelo debe tolerarlos</vt:lpstr>
      <vt:lpstr>Para seguir a la planta, el gemelo combina lo que predice con lo que mide</vt:lpstr>
      <vt:lpstr>Edge, faena o nube: el gemelo corre donde su decisión lo necesita</vt:lpstr>
      <vt:lpstr>El hardware define qué modelo cabe y a qué velocidad corre</vt:lpstr>
      <vt:lpstr>Un escenario what-if clona el presente y prueba el futuro más rápido que la realidad</vt:lpstr>
      <vt:lpstr>Del escenario al control: cuatro escalones de autonomía</vt:lpstr>
      <vt:lpstr>Cuando un parámetro se mueve solo, el gemelo está avisando algo de la planta</vt:lpstr>
      <vt:lpstr>El modelo también se mantiene: versiones, pruebas y despliegue</vt:lpstr>
      <vt:lpstr>Tres ideas para llevarse del capítulo III</vt:lpstr>
      <vt:lpstr>Presentación de PowerPoint</vt:lpstr>
      <vt:lpstr>Implementar un gemelo en una faena exige seis partes, no solo un modelo</vt:lpstr>
      <vt:lpstr>Áreas estratégicas para la creación de valor</vt:lpstr>
      <vt:lpstr>La misma mejora vale más seguro cuanto más cerca del puerto ocurre</vt:lpstr>
      <vt:lpstr>El problema del filtrado: la última puerta antes del despacho</vt:lpstr>
      <vt:lpstr>Para qué sirve: cuatro preguntas de la operación que el gemelo del filtro responde</vt:lpstr>
      <vt:lpstr>Por qué el HBF‑S 168/12: alto desempeño, pocas unidades en el mundo y casi sin datos</vt:lpstr>
      <vt:lpstr>El filtro en una lámina: cada sector del disco pasa por tres zonas en cada vuelta</vt:lpstr>
      <vt:lpstr>Un modelo fenomenológico: la física del filtro, sintonizada con la planta</vt:lpstr>
      <vt:lpstr>La base física: la ley de Darcy dice cuánto líquido atraviesa el queque</vt:lpstr>
      <vt:lpstr>Del equipo al modelo: seis elementos guardan lo que cambia el resultado</vt:lpstr>
      <vt:lpstr>Pulpa y queque: de dónde salen la capacidad y la humedad</vt:lpstr>
      <vt:lpstr>El aire: la presión sale de un balance, y la paga el compresor</vt:lpstr>
      <vt:lpstr>Los elementos se conectan en Modelica, igual que en el equipo real</vt:lpstr>
      <vt:lpstr>Las perillas del modelo: cinco parámetros que lo sintonizan con la realidad</vt:lpstr>
      <vt:lpstr>Paso de 1 segundo: más fino que lo más rápido que importa en el filtro</vt:lpstr>
      <vt:lpstr>La FMU es el contrato: 6 entradas y 15 salidas, cada una con nombre, unidad y descripción</vt:lpstr>
      <vt:lpstr>Una FMU o varias: el gemelo también se arma con piezas de distintas herramientas</vt:lpstr>
      <vt:lpstr>Del modelo a la planta: el gemelo se despliega por etapas, y cada etapa se gana</vt:lpstr>
      <vt:lpstr>La misma FMU corre en tres lugares, porque viaja con su código en C</vt:lpstr>
      <vt:lpstr>Las señales que necesita: unas alimentan al gemelo y otras lo vigilan</vt:lpstr>
      <vt:lpstr>Monitoreo: qué vigilar para saber si el gemelo sigue representando al filtro</vt:lpstr>
      <vt:lpstr>Comprar o construir: las mismas cuatro piezas, armadas con herramientas abiertas</vt:lpstr>
      <vt:lpstr>Todo lo que se ve con un número lo calcula la FMU; el resto ayuda a entenderlo</vt:lpstr>
      <vt:lpstr>Demo en vivo: tres preguntas para hacerle al filtro</vt:lpstr>
      <vt:lpstr>Taller: ¿dónde es técnicamente viable un gemelo en su faena?</vt:lpstr>
      <vt:lpstr>El entregable: un veredicto de viabilidad, con sus razones y su primer paso</vt:lpstr>
      <vt:lpstr>Tres ideas para llevarse del curso</vt:lpstr>
      <vt:lpstr>Referencias del curso (1/3)</vt:lpstr>
      <vt:lpstr>Referencias del curso (2/3)</vt:lpstr>
      <vt:lpstr>Referencias del curso (3/3)</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Jaraquemada Jaraquemada</dc:creator>
  <cp:lastModifiedBy>Luis Venegas Gonzalez</cp:lastModifiedBy>
  <cp:revision>3</cp:revision>
  <dcterms:created xsi:type="dcterms:W3CDTF">2026-07-16T02:12:16Z</dcterms:created>
  <dcterms:modified xsi:type="dcterms:W3CDTF">2026-10-17T11:47:10Z</dcterms:modified>
</cp:coreProperties>
</file>