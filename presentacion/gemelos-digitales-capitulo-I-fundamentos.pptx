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0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352" r:id="rId99"/>
    <p:sldId id="353" r:id="rId100"/>
    <p:sldId id="354" r:id="rId101"/>
    <p:sldId id="355" r:id="rId102"/>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21" autoAdjust="0"/>
    <p:restoredTop sz="96121"/>
  </p:normalViewPr>
  <p:slideViewPr>
    <p:cSldViewPr snapToGrid="0">
      <p:cViewPr varScale="1">
        <p:scale>
          <a:sx n="121" d="100"/>
          <a:sy n="121" d="100"/>
        </p:scale>
        <p:origin x="36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99" Type="http://schemas.openxmlformats.org/officeDocument/2006/relationships/slide" Target="slides/slide97.xml"/><Relationship Id="rId100" Type="http://schemas.openxmlformats.org/officeDocument/2006/relationships/slide" Target="slides/slide98.xml"/><Relationship Id="rId101" Type="http://schemas.openxmlformats.org/officeDocument/2006/relationships/slide" Target="slides/slide99.xml"/><Relationship Id="rId102" Type="http://schemas.openxmlformats.org/officeDocument/2006/relationships/slide" Target="slides/slide100.xml"/><Relationship Id="rId103" Type="http://schemas.openxmlformats.org/officeDocument/2006/relationships/notesMaster" Target="notesMasters/notesMaster1.xml"/><Relationship Id="rId104" Type="http://schemas.openxmlformats.org/officeDocument/2006/relationships/presProps" Target="presProps.xml"/><Relationship Id="rId105" Type="http://schemas.openxmlformats.org/officeDocument/2006/relationships/viewProps" Target="viewProps.xml"/><Relationship Id="rId106" Type="http://schemas.openxmlformats.org/officeDocument/2006/relationships/theme" Target="theme/theme1.xml"/><Relationship Id="rId10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9E27D3-C215-4CF0-B1FA-89AF1A49981C}" type="datetimeFigureOut">
              <a:rPr lang="es-CL" smtClean="0"/>
              <a:t>17-10-26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5E836-5B69-40A0-869E-1082D9FB5991}" type="slidenum">
              <a:rPr lang="es-CL" smtClean="0"/>
              <a:t>‹Nº›</a:t>
            </a:fld>
            <a:endParaRPr lang="es-CL"/>
          </a:p>
        </p:txBody>
      </p:sp>
    </p:spTree>
    <p:extLst>
      <p:ext uri="{BB962C8B-B14F-4D97-AF65-F5344CB8AC3E}">
        <p14:creationId xmlns:p14="http://schemas.microsoft.com/office/powerpoint/2010/main" val="3847864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Portada: Gemelos Digitales para Minería 4.0 · De la estrategia al impacto operacional · tres ejes: modelamiento dinámico, integración de datos y decisión en tiempo real.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Lámina de impacto. Fuente: bios del equipo a cargo del curso y trabajos en congresos 2022–2025.</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Mapa del curso de lo general a lo particular: conceptos, soluciones de la industria, cómo se construye un gemelo (en general) y el caso del filtro, que recorre todo lo anterior y termina en el taller.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Apertura del capítulo I: qué pregunta responde, los temas que cubre y el avance del curso.</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Definición textual de IoT Analytics 2026 (traducida). Imagen: el filtro hiperbárico del capítulo IV; a la izquierda el equipo, a la derecha su réplica virtual, que deja ver los discos por dentro. Es una representación 3D propia. Modelo, sombra y gemelo según Kritzinger: cuán conectado está el modelo con la operación. El cubo de la lámina siguiente dice dónde y para qué.</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Cada gemelo es una celda del cubo: nivel (de qué), fase (cuándo) y uso (para qué). Las celdas A y B se marcan en las tres caras: frente (nivel × fase), techo (fase × uso) y costado (nivel × uso). Celdas más comunes según IoT Analytics 2020: Producto×Diseño×Visualizar, Proceso×Construcción×Simular, Multisistema×Optimización×Predecir.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Definiciones de nivel resumidas de IoT Analytics 2020. Ejemplos ilustrativos: un activo minero típico por nivel, de la ficha de una bomba a la cadena mina–planta–puerto. Imágenes (Wikimedia Commons): plano derivado de «Centrifugal 4.png» (CC BY-SA 3.0); neumático Michelin 59/80 R63, Mattes (dominio público); LHD, Gaisky GOK (CC BY-SA 4.0); celdas DELKOR, Nina111955 (CC BY-SA 4.0); planta Colón, WeHaKa (CC BY-SA 4.0); rajo Escondida, P. Bachelot (CC BY-SA 3.0); molino, V. Bukharov (CC BY-SA 4.0); cargador de barcos, C. Hargrave/CSIRO (CC BY 3.0).</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Fases de IoT Analytics 2020. «Construir» y «Cerrar» mezclan en el original el ciclo de vida del activo y del software; aquí se leen como fases del activo (proyecto y cierre de faena). Ejemplos ilustrativos. Imágenes (Wikimedia Commons): tranque Las Tórtolas, WeHaKa (CC BY-SA 4.0); concentradora en construcción c. 1971, Robert Owen Winkler (dominio público); pala P&amp;H 4100XPB, Sansumaria (CC BY-SA 3.0); camión en taller Brockman 4, Calistemon (CC BY-SA 4.0); sala de control, Steag (CC BY-SA 3.0, planta no minera); revegetación Mount Polley (CC0).</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Usos de IoT Analytics 2020 (7 + N, lista abierta). Desde Extraer interviene hardware: el activo físico conectado. Ejemplos ilustrativos. Imágenes (Wikimedia Commons): Grubenriss der Zeche Moritz Wilhelm (dominio público); rajo de Chuquicamata, versión virtual derivada de foto de Diego Delso (CC BY-SA 4.0); CAT 797 en Escondida, Duratray (CC BY-SA 4.0); simulador de entrenamiento, Peabody Energy (CC BY 3.0); LiDAR de correa, Mweaver89 (CC BY-SA 4.0); ventilador de mina, Andrew Woodvine (CC BY-SA 2.0); bomba de pulpa, Baiqiangip (CC BY-SA 4.0).</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IoT Analytics todo el cubo es gemelo (el gemelo es el modelo). Para Kritzinger solo hay gemelo completo con flujo automático en ambos sentidos. Cian = depende del caso. La sombra y el gemelo aparecen en operación, mantención y optimización.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Tres gemelos, tres combinaciones: A (ventilación bajo demanda) es control en tiempo real; B (visor 3D de planta para mantención) es información y visualización, casi sin tiempo real; C (predicción de fallas de camiones) es datos históricos, integración con la mantención y aprendizaje. Solo la ciberseguridad la exigen los tres. Capacidades del DTC (2022), 62 en total. Datos (16): adquisición e ingesta, streaming, transformación, contextualización, lotes, tiempo real, publicación/suscripción, agregación, datos sintéticos, ontologías, repositorios de modelos, instancias, simulación e IA, series de tiempo, almacenamiento y archivo. Integración (6): sistemas empresariales, de ingeniería, OT/IoT, entre gemelos, colaboración, API. Inteligencia (16): IA en el borde, comando y control, orquestación, alertas, reportes, analítica, predicción, aprendizaje automático, IA, aprendizaje federado, simulación, cálculos de ingeniería, recomendaciones, reglas de negocio, contratos inteligentes, composición. Experiencia de usuario (13): visualización básica y avanzada, monitoreo en tiempo real, relaciones entre entidades, RA, RV, tableros, inteligencia continua y de negocio, flujos de trabajo, motor de juego, render 3D, gamificación. Gestión (4): dispositivos, monitoreo del sistema, registros, gobierno de datos. Confiabilidad (7): cifrado, seguridad de dispositivos, ciberseguridad, privacidad, seguridad operacional, confiabilidad, resiliencia.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IoT Analytics (2026): dos factores de urgencia (alto costo del error; presión por acortar plazos) y cuatro de encaje (la simulación reemplaza pruebas físicas, sistemas interdependientes, datos disponibles, casos repetibles). Donde ambos son altos el gemelo rinde; donde no hay ninguno, se vuelve un piloto permanente. Recomendación: partir por la decisión, no por la plataforma. Para el despacho: 1) decisión: asignar camiones a palas en cada ciclo; 2) flujo: el despachador en tiempo real; 3) capacidades: posición y estado de la flota, modelo de ciclos; 4) ¿ya existe?: el despacho sí, la simulación de ciclos no; 5) comprar o construir: construir la simulación e integrar el despacho.</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NASEM (2024): la verificación, validación y cuantificación de incertidumbre (VVUQ) debe ser un proceso continuo que se adapte a los cambios del activo físico. El gráfico es ilustrativo: la planta cambia (mineral, desgaste) y el gemelo, si no se recalibra, acumula error sin que nadie lo note. Las cinco causas corresponden a los desafíos de NASEM: ciclo de vida, datos, incertidumbre, fidelidad adecuada al propósito e interoperabilidad.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Tao et al. (2019) describen el gemelo con cinco dimensiones: entidad física, entidad virtual, datos, conexiones y servicios. En la correa: 1) la correa real con polines, motores y carga; 2) su representación virtual, por ejemplo el perfil de carga medido con LiDAR y un modelo de desgaste; 3) los datos que se miden y guardan (vibración de polines, corriente de motores, carga); 4) las conexiones que los mueven en ambos sentidos (red de planta, OPC UA, MQTT); 5) los servicios que recibe la operación (avisos, alertas, planes de mantención). Mensaje: el modelo es solo una de las cinco partes; un proyecto que solo construye el modelo no tiene gemelo. Si falta una parte el sistema queda cojo: sin datos el modelo envejece, sin conexiones no hay sincronía y sin servicios nadie obtiene valor.</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IDEA DE LA LÁMINA: cuatro ejemplos de una misma faena de cobre, todos llamados «gemelo digital», que no comparten ni nivel, ni fase, ni uso, ni grado de conexión. Son ejemplos construidos por nosotros para leer el cubo y el grado; los casos reales vienen en el capítulo II.</a:t>
            </a:r>
          </a:p>
          <a:p>
            <a:endParaRPr/>
          </a:p>
          <a:p>
            <a:r>
              <a:t>1 · FLOTA PARA UNA EXPANSIÓN. Pregunta: cuántos camiones y palas hacen falta para el nuevo plan. Se simula el ciclo de carguío, transporte y descarga con el plan minero y las distancias de las rutas. Cubo: nivel Sistema (toda la operación de carguío y transporte), fase Diseñar, uso Simular. Grado: MODELO, porque la flota aún no existe y ningún dato llega solo.</a:t>
            </a:r>
          </a:p>
          <a:p>
            <a:endParaRPr/>
          </a:p>
          <a:p>
            <a:r>
              <a:t>2 · MOLINO NUEVO. Pregunta: si el control funciona antes de la puesta en marcha. El PLC y el sistema de control reales se conectan a un modelo del molino, que responde como lo haría el equipo: se depura la lógica y se entrena a los operadores. Cubo: nivel Producto (un equipo completo), fase Construir, uso Emular. Grado: MODELO, porque el molino físico todavía no entrega datos, aunque el control sí es el real.</a:t>
            </a:r>
          </a:p>
          <a:p>
            <a:endParaRPr/>
          </a:p>
          <a:p>
            <a:r>
              <a:t>3 · NEUMÁTICOS DE LA FLOTA. Pregunta: cuándo cambiar cada neumático sin arriesgar una falla. Sensores de presión y temperatura en cada neumático envían datos solos; el modelo estima desgaste y temperatura según ruta y carga. Cubo: nivel Componente (una pieza del camión), fase Mantener, uso Predecir. Grado: SOMBRA, porque los datos llegan solos pero la decisión del cambio la toma mantenimiento.</a:t>
            </a:r>
          </a:p>
          <a:p>
            <a:endParaRPr/>
          </a:p>
          <a:p>
            <a:r>
              <a:t>4 · VENTILACIÓN SUBTERRÁNEA. Pregunta: cuánto aire enviar a cada frente según quién trabaja ahí. Mide gases, caudal y la posición de equipos y personas, calcula el aire necesario y ajusta los ventiladores, siempre dentro de límites seguros. Cubo: nivel Proceso (la red de ventilación), fase Operar, uso Orquestar. Grado: GEMELO, porque los datos llegan solos y la acción vuelve sola a los ventiladores.</a:t>
            </a:r>
          </a:p>
          <a:p>
            <a:endParaRPr/>
          </a:p>
          <a:p>
            <a:r>
              <a:t>CIERRE Y PUENTE: mismo nombre, cuatro soluciones distintas. Pregunta para el capítulo II: qué soluciones existen hoy en minería y qué parte del problema resuelve cada una.</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Resumen del capítulo I en tres ideas. 1) Definición (IoT Analytics) y el cubo: nivel, fase y uso. 2) Grado de integración (Kritzinger) y capacidades (DTC): cada gemelo es distinto. 3) Urgencia × encaje y validación continua (NASEM): se construye por una decisión y se mantiene confiable. Puente: el capítulo II recorre la cadena minera y revisa qué soluciones existen para cada problema técnico.</a:t>
            </a:r>
          </a:p>
        </p:txBody>
      </p:sp>
      <p:sp>
        <p:nvSpPr>
          <p:cNvPr id="4" name="Slide Number Placeholder 3"/>
          <p:cNvSpPr>
            <a:spLocks noGrp="1"/>
          </p:cNvSpPr>
          <p:nvPr>
            <p:ph type="sldNum" sz="quarter" idx="5"/>
          </p:nvPr>
        </p:nvSpPr>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Referencias de todo el curso, numeradas en orden de aparición; bajo cada número, el capítulo donde se cita.</a:t>
            </a:r>
          </a:p>
        </p:txBody>
      </p:sp>
      <p:sp>
        <p:nvSpPr>
          <p:cNvPr id="4" name="Slide Number Placeholder 3"/>
          <p:cNvSpPr>
            <a:spLocks noGrp="1"/>
          </p:cNvSpPr>
          <p:nvPr>
            <p:ph type="sldNum" sz="quarter" idx="5"/>
          </p:nvPr>
        </p:nvSpPr>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Referencias de todo el curso, numeradas en orden de aparición; bajo cada número, el capítulo donde se cita.</a:t>
            </a:r>
          </a:p>
        </p:txBody>
      </p:sp>
      <p:sp>
        <p:nvSpPr>
          <p:cNvPr id="4" name="Slide Number Placeholder 3"/>
          <p:cNvSpPr>
            <a:spLocks noGrp="1"/>
          </p:cNvSpPr>
          <p:nvPr>
            <p:ph type="sldNum" sz="quarter" idx="5"/>
          </p:nvPr>
        </p:nvSpPr>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Referencias de todo el curso, numeradas en orden de aparición; bajo cada número, el capítulo donde se cita.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e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hyperlink" Target="http://bit.ly/2Tynxth"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1C1EC3-D699-5938-A4A3-682198A9E5D1}"/>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E713AF42-5521-3368-35D0-9BAE0A8D61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D6DDCFB1-BDA3-581B-9B59-04BD281347AE}"/>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5" name="Marcador de pie de página 4">
            <a:extLst>
              <a:ext uri="{FF2B5EF4-FFF2-40B4-BE49-F238E27FC236}">
                <a16:creationId xmlns:a16="http://schemas.microsoft.com/office/drawing/2014/main" id="{D1877ED4-AD61-9958-B8BF-9D6E203C9590}"/>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AEA3FE22-F655-A5A5-501B-A49B967C307D}"/>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3498667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CC4884-AC19-2253-D13F-C8673DBB835F}"/>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00060FA2-4EA6-36C1-43FA-23CFA05280A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E333E93A-101E-9DE0-5167-50281558ED6D}"/>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5" name="Marcador de pie de página 4">
            <a:extLst>
              <a:ext uri="{FF2B5EF4-FFF2-40B4-BE49-F238E27FC236}">
                <a16:creationId xmlns:a16="http://schemas.microsoft.com/office/drawing/2014/main" id="{09B9CFDB-C719-7609-8375-5A75591152F0}"/>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EDBA177-BFE8-69F7-61AD-8DEC70875203}"/>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3648530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F63449-D190-EC86-EFE5-9E6A2CF0EAE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CBA531C0-4F44-1C00-A978-32B758E48C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1E15581-AE2F-4427-D998-E41DAA0C18CA}"/>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5" name="Marcador de pie de página 4">
            <a:extLst>
              <a:ext uri="{FF2B5EF4-FFF2-40B4-BE49-F238E27FC236}">
                <a16:creationId xmlns:a16="http://schemas.microsoft.com/office/drawing/2014/main" id="{D513A1E9-7981-EFE8-41DE-A6C4DFC90DE2}"/>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78698054-145E-947F-80C5-B25F5371848D}"/>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4027929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14FD70-939C-E1DC-EDDD-4A9B67CD4694}"/>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9195D4DC-A947-BD93-4A3D-AACAF9AB250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43A7977C-3263-D267-7E01-A7072E6E039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B4782E93-7870-B13F-62E9-4489CE15F2C8}"/>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6" name="Marcador de pie de página 5">
            <a:extLst>
              <a:ext uri="{FF2B5EF4-FFF2-40B4-BE49-F238E27FC236}">
                <a16:creationId xmlns:a16="http://schemas.microsoft.com/office/drawing/2014/main" id="{66E39DAF-12F8-BFB8-E205-C03F46025998}"/>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8A377EBA-A376-5E20-ACD6-7A1BFB95C41C}"/>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6196377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03E840-B297-F495-62C6-2F5A591FB894}"/>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6F2D2530-A86D-7DF5-5433-87B672593A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5018532-2796-2A90-F39E-FA91057272F9}"/>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62D7F3C8-C0FD-139D-7805-11818CEA33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4E3FA0C-A922-F94D-44D2-DD070E355034}"/>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54EFA2AE-2AE0-004D-40D5-B785E6C950B6}"/>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8" name="Marcador de pie de página 7">
            <a:extLst>
              <a:ext uri="{FF2B5EF4-FFF2-40B4-BE49-F238E27FC236}">
                <a16:creationId xmlns:a16="http://schemas.microsoft.com/office/drawing/2014/main" id="{A00ECF31-7FE1-9314-3C67-25E05E665F37}"/>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2EF40F13-A8B3-5C8C-28BE-AB7C0A167294}"/>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35614309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F408A5-6035-F4FD-F943-1F9E630B0406}"/>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6C561BDF-C03F-52B4-EA59-4EB9BF4486C4}"/>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4" name="Marcador de pie de página 3">
            <a:extLst>
              <a:ext uri="{FF2B5EF4-FFF2-40B4-BE49-F238E27FC236}">
                <a16:creationId xmlns:a16="http://schemas.microsoft.com/office/drawing/2014/main" id="{94653506-5914-A42E-AC3B-9C1DFF889BDC}"/>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387EEF24-ACCD-82DD-BFC2-6DE86647AC46}"/>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957608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8A5D5D1-9398-DBD0-CC96-4DCC0903CD56}"/>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3" name="Marcador de pie de página 2">
            <a:extLst>
              <a:ext uri="{FF2B5EF4-FFF2-40B4-BE49-F238E27FC236}">
                <a16:creationId xmlns:a16="http://schemas.microsoft.com/office/drawing/2014/main" id="{4FEBF566-555D-B77A-E8D8-BF879E781670}"/>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6D8F82D6-2724-68E1-E832-9BA570873A2A}"/>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2677613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DE4FBA-EC44-CEC9-7C61-56591E3F3DF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740A153E-83C0-21AA-D27D-086706A031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E6D0FE2B-A801-50D0-3B55-F18535FE55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774A35C-644E-CE67-843E-3912E2B1753A}"/>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6" name="Marcador de pie de página 5">
            <a:extLst>
              <a:ext uri="{FF2B5EF4-FFF2-40B4-BE49-F238E27FC236}">
                <a16:creationId xmlns:a16="http://schemas.microsoft.com/office/drawing/2014/main" id="{A58BD8E3-F770-F9CC-12EC-75900ED03605}"/>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E87368D2-3F1E-CDFB-372D-1C6D507CF18D}"/>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3826832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8BB538-FB5B-94D8-AF11-91E676754D9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31911712-9666-A7C3-2AB8-1E49540217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AB0EA63F-91E5-3C8E-D4A7-3774C15C02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E9ECD04-0D35-ECC0-9BAF-9F02E7352DEA}"/>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6" name="Marcador de pie de página 5">
            <a:extLst>
              <a:ext uri="{FF2B5EF4-FFF2-40B4-BE49-F238E27FC236}">
                <a16:creationId xmlns:a16="http://schemas.microsoft.com/office/drawing/2014/main" id="{A4E1CA51-EFED-5252-1F89-51CDD981E66E}"/>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0ACFA750-B593-4349-FAEB-F1B774BF577B}"/>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1130404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4D27A2-2DCE-78A5-CD90-90CBB4AE9E35}"/>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D984B10D-65EB-F8A0-C4A1-F93E244AF08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0AB1436B-DD56-82FB-E6B1-830BF8033FB1}"/>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5" name="Marcador de pie de página 4">
            <a:extLst>
              <a:ext uri="{FF2B5EF4-FFF2-40B4-BE49-F238E27FC236}">
                <a16:creationId xmlns:a16="http://schemas.microsoft.com/office/drawing/2014/main" id="{09D4B1D8-66F8-CFFD-EBA8-55F4CD69704F}"/>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19A29C4C-F216-F989-E4D0-0357833185F6}"/>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3919335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9306880-4021-4239-12B5-3559F5F994F4}"/>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B3749660-7C27-8A53-859E-CC11E91228F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44F580E-CD7C-599A-4508-DE444E0686A6}"/>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5" name="Marcador de pie de página 4">
            <a:extLst>
              <a:ext uri="{FF2B5EF4-FFF2-40B4-BE49-F238E27FC236}">
                <a16:creationId xmlns:a16="http://schemas.microsoft.com/office/drawing/2014/main" id="{5118370D-FC2F-70B6-A108-7AEF0CBA6812}"/>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8ED19D3B-1D74-8F29-5DF0-2CA05713A75A}"/>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16628878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901200" y="2600133"/>
            <a:ext cx="6389600" cy="8596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3600"/>
              <a:buNone/>
              <a:defRPr sz="4800" b="1">
                <a:solidFill>
                  <a:schemeClr val="lt1"/>
                </a:solidFill>
              </a:defRPr>
            </a:lvl1pPr>
            <a:lvl2pPr lvl="1" algn="ctr">
              <a:spcBef>
                <a:spcPts val="0"/>
              </a:spcBef>
              <a:spcAft>
                <a:spcPts val="0"/>
              </a:spcAft>
              <a:buClr>
                <a:schemeClr val="lt1"/>
              </a:buClr>
              <a:buSzPts val="3600"/>
              <a:buNone/>
              <a:defRPr sz="4800" b="1">
                <a:solidFill>
                  <a:schemeClr val="lt1"/>
                </a:solidFill>
              </a:defRPr>
            </a:lvl2pPr>
            <a:lvl3pPr lvl="2" algn="ctr">
              <a:spcBef>
                <a:spcPts val="0"/>
              </a:spcBef>
              <a:spcAft>
                <a:spcPts val="0"/>
              </a:spcAft>
              <a:buClr>
                <a:schemeClr val="lt1"/>
              </a:buClr>
              <a:buSzPts val="3600"/>
              <a:buNone/>
              <a:defRPr sz="4800" b="1">
                <a:solidFill>
                  <a:schemeClr val="lt1"/>
                </a:solidFill>
              </a:defRPr>
            </a:lvl3pPr>
            <a:lvl4pPr lvl="3" algn="ctr">
              <a:spcBef>
                <a:spcPts val="0"/>
              </a:spcBef>
              <a:spcAft>
                <a:spcPts val="0"/>
              </a:spcAft>
              <a:buClr>
                <a:schemeClr val="lt1"/>
              </a:buClr>
              <a:buSzPts val="3600"/>
              <a:buNone/>
              <a:defRPr sz="4800" b="1">
                <a:solidFill>
                  <a:schemeClr val="lt1"/>
                </a:solidFill>
              </a:defRPr>
            </a:lvl4pPr>
            <a:lvl5pPr lvl="4" algn="ctr">
              <a:spcBef>
                <a:spcPts val="0"/>
              </a:spcBef>
              <a:spcAft>
                <a:spcPts val="0"/>
              </a:spcAft>
              <a:buClr>
                <a:schemeClr val="lt1"/>
              </a:buClr>
              <a:buSzPts val="3600"/>
              <a:buNone/>
              <a:defRPr sz="4800" b="1">
                <a:solidFill>
                  <a:schemeClr val="lt1"/>
                </a:solidFill>
              </a:defRPr>
            </a:lvl5pPr>
            <a:lvl6pPr lvl="5" algn="ctr">
              <a:spcBef>
                <a:spcPts val="0"/>
              </a:spcBef>
              <a:spcAft>
                <a:spcPts val="0"/>
              </a:spcAft>
              <a:buClr>
                <a:schemeClr val="lt1"/>
              </a:buClr>
              <a:buSzPts val="3600"/>
              <a:buNone/>
              <a:defRPr sz="4800" b="1">
                <a:solidFill>
                  <a:schemeClr val="lt1"/>
                </a:solidFill>
              </a:defRPr>
            </a:lvl6pPr>
            <a:lvl7pPr lvl="6" algn="ctr">
              <a:spcBef>
                <a:spcPts val="0"/>
              </a:spcBef>
              <a:spcAft>
                <a:spcPts val="0"/>
              </a:spcAft>
              <a:buClr>
                <a:schemeClr val="lt1"/>
              </a:buClr>
              <a:buSzPts val="3600"/>
              <a:buNone/>
              <a:defRPr sz="4800" b="1">
                <a:solidFill>
                  <a:schemeClr val="lt1"/>
                </a:solidFill>
              </a:defRPr>
            </a:lvl7pPr>
            <a:lvl8pPr lvl="7" algn="ctr">
              <a:spcBef>
                <a:spcPts val="0"/>
              </a:spcBef>
              <a:spcAft>
                <a:spcPts val="0"/>
              </a:spcAft>
              <a:buClr>
                <a:schemeClr val="lt1"/>
              </a:buClr>
              <a:buSzPts val="3600"/>
              <a:buNone/>
              <a:defRPr sz="4800" b="1">
                <a:solidFill>
                  <a:schemeClr val="lt1"/>
                </a:solidFill>
              </a:defRPr>
            </a:lvl8pPr>
            <a:lvl9pPr lvl="8" algn="ctr">
              <a:spcBef>
                <a:spcPts val="0"/>
              </a:spcBef>
              <a:spcAft>
                <a:spcPts val="0"/>
              </a:spcAft>
              <a:buClr>
                <a:schemeClr val="lt1"/>
              </a:buClr>
              <a:buSzPts val="3600"/>
              <a:buNone/>
              <a:defRPr sz="4800" b="1">
                <a:solidFill>
                  <a:schemeClr val="lt1"/>
                </a:solidFill>
              </a:defRPr>
            </a:lvl9pPr>
          </a:lstStyle>
          <a:p>
            <a:endParaRPr/>
          </a:p>
        </p:txBody>
      </p:sp>
      <p:sp>
        <p:nvSpPr>
          <p:cNvPr id="10" name="Google Shape;10;p2"/>
          <p:cNvSpPr txBox="1">
            <a:spLocks noGrp="1"/>
          </p:cNvSpPr>
          <p:nvPr>
            <p:ph type="subTitle" idx="1"/>
          </p:nvPr>
        </p:nvSpPr>
        <p:spPr>
          <a:xfrm>
            <a:off x="2725600" y="4939533"/>
            <a:ext cx="6740800" cy="619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1400"/>
              <a:buNone/>
              <a:defRPr sz="1867">
                <a:solidFill>
                  <a:schemeClr val="accent1"/>
                </a:solidFill>
              </a:defRPr>
            </a:lvl1pPr>
            <a:lvl2pPr lvl="1" algn="ctr">
              <a:lnSpc>
                <a:spcPct val="100000"/>
              </a:lnSpc>
              <a:spcBef>
                <a:spcPts val="0"/>
              </a:spcBef>
              <a:spcAft>
                <a:spcPts val="0"/>
              </a:spcAft>
              <a:buClr>
                <a:schemeClr val="lt1"/>
              </a:buClr>
              <a:buSzPts val="1800"/>
              <a:buNone/>
              <a:defRPr sz="2400">
                <a:solidFill>
                  <a:schemeClr val="lt1"/>
                </a:solidFill>
              </a:defRPr>
            </a:lvl2pPr>
            <a:lvl3pPr lvl="2" algn="ctr">
              <a:lnSpc>
                <a:spcPct val="100000"/>
              </a:lnSpc>
              <a:spcBef>
                <a:spcPts val="0"/>
              </a:spcBef>
              <a:spcAft>
                <a:spcPts val="0"/>
              </a:spcAft>
              <a:buClr>
                <a:schemeClr val="lt1"/>
              </a:buClr>
              <a:buSzPts val="1800"/>
              <a:buNone/>
              <a:defRPr sz="2400">
                <a:solidFill>
                  <a:schemeClr val="lt1"/>
                </a:solidFill>
              </a:defRPr>
            </a:lvl3pPr>
            <a:lvl4pPr lvl="3" algn="ctr">
              <a:lnSpc>
                <a:spcPct val="100000"/>
              </a:lnSpc>
              <a:spcBef>
                <a:spcPts val="0"/>
              </a:spcBef>
              <a:spcAft>
                <a:spcPts val="0"/>
              </a:spcAft>
              <a:buClr>
                <a:schemeClr val="lt1"/>
              </a:buClr>
              <a:buSzPts val="1800"/>
              <a:buNone/>
              <a:defRPr sz="2400">
                <a:solidFill>
                  <a:schemeClr val="lt1"/>
                </a:solidFill>
              </a:defRPr>
            </a:lvl4pPr>
            <a:lvl5pPr lvl="4" algn="ctr">
              <a:lnSpc>
                <a:spcPct val="100000"/>
              </a:lnSpc>
              <a:spcBef>
                <a:spcPts val="0"/>
              </a:spcBef>
              <a:spcAft>
                <a:spcPts val="0"/>
              </a:spcAft>
              <a:buClr>
                <a:schemeClr val="lt1"/>
              </a:buClr>
              <a:buSzPts val="1800"/>
              <a:buNone/>
              <a:defRPr sz="2400">
                <a:solidFill>
                  <a:schemeClr val="lt1"/>
                </a:solidFill>
              </a:defRPr>
            </a:lvl5pPr>
            <a:lvl6pPr lvl="5" algn="ctr">
              <a:lnSpc>
                <a:spcPct val="100000"/>
              </a:lnSpc>
              <a:spcBef>
                <a:spcPts val="0"/>
              </a:spcBef>
              <a:spcAft>
                <a:spcPts val="0"/>
              </a:spcAft>
              <a:buClr>
                <a:schemeClr val="lt1"/>
              </a:buClr>
              <a:buSzPts val="1800"/>
              <a:buNone/>
              <a:defRPr sz="2400">
                <a:solidFill>
                  <a:schemeClr val="lt1"/>
                </a:solidFill>
              </a:defRPr>
            </a:lvl6pPr>
            <a:lvl7pPr lvl="6" algn="ctr">
              <a:lnSpc>
                <a:spcPct val="100000"/>
              </a:lnSpc>
              <a:spcBef>
                <a:spcPts val="0"/>
              </a:spcBef>
              <a:spcAft>
                <a:spcPts val="0"/>
              </a:spcAft>
              <a:buClr>
                <a:schemeClr val="lt1"/>
              </a:buClr>
              <a:buSzPts val="1800"/>
              <a:buNone/>
              <a:defRPr sz="2400">
                <a:solidFill>
                  <a:schemeClr val="lt1"/>
                </a:solidFill>
              </a:defRPr>
            </a:lvl7pPr>
            <a:lvl8pPr lvl="7" algn="ctr">
              <a:lnSpc>
                <a:spcPct val="100000"/>
              </a:lnSpc>
              <a:spcBef>
                <a:spcPts val="0"/>
              </a:spcBef>
              <a:spcAft>
                <a:spcPts val="0"/>
              </a:spcAft>
              <a:buClr>
                <a:schemeClr val="lt1"/>
              </a:buClr>
              <a:buSzPts val="1800"/>
              <a:buNone/>
              <a:defRPr sz="2400">
                <a:solidFill>
                  <a:schemeClr val="lt1"/>
                </a:solidFill>
              </a:defRPr>
            </a:lvl8pPr>
            <a:lvl9pPr lvl="8" algn="ctr">
              <a:lnSpc>
                <a:spcPct val="100000"/>
              </a:lnSpc>
              <a:spcBef>
                <a:spcPts val="0"/>
              </a:spcBef>
              <a:spcAft>
                <a:spcPts val="0"/>
              </a:spcAft>
              <a:buClr>
                <a:schemeClr val="lt1"/>
              </a:buClr>
              <a:buSzPts val="1800"/>
              <a:buNone/>
              <a:defRPr sz="2400">
                <a:solidFill>
                  <a:schemeClr val="lt1"/>
                </a:solidFill>
              </a:defRPr>
            </a:lvl9pPr>
          </a:lstStyle>
          <a:p>
            <a:endParaRPr/>
          </a:p>
        </p:txBody>
      </p:sp>
    </p:spTree>
    <p:extLst>
      <p:ext uri="{BB962C8B-B14F-4D97-AF65-F5344CB8AC3E}">
        <p14:creationId xmlns:p14="http://schemas.microsoft.com/office/powerpoint/2010/main" val="39982286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5016893" y="4237000"/>
            <a:ext cx="4091600" cy="7984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3600"/>
              <a:buNone/>
              <a:defRPr sz="4800">
                <a:solidFill>
                  <a:schemeClr val="lt1"/>
                </a:solidFill>
              </a:defRPr>
            </a:lvl1pPr>
            <a:lvl2pPr lvl="1">
              <a:spcBef>
                <a:spcPts val="0"/>
              </a:spcBef>
              <a:spcAft>
                <a:spcPts val="0"/>
              </a:spcAft>
              <a:buClr>
                <a:schemeClr val="lt1"/>
              </a:buClr>
              <a:buSzPts val="3600"/>
              <a:buNone/>
              <a:defRPr sz="4800">
                <a:solidFill>
                  <a:schemeClr val="lt1"/>
                </a:solidFill>
              </a:defRPr>
            </a:lvl2pPr>
            <a:lvl3pPr lvl="2">
              <a:spcBef>
                <a:spcPts val="0"/>
              </a:spcBef>
              <a:spcAft>
                <a:spcPts val="0"/>
              </a:spcAft>
              <a:buClr>
                <a:schemeClr val="lt1"/>
              </a:buClr>
              <a:buSzPts val="3600"/>
              <a:buNone/>
              <a:defRPr sz="4800">
                <a:solidFill>
                  <a:schemeClr val="lt1"/>
                </a:solidFill>
              </a:defRPr>
            </a:lvl3pPr>
            <a:lvl4pPr lvl="3">
              <a:spcBef>
                <a:spcPts val="0"/>
              </a:spcBef>
              <a:spcAft>
                <a:spcPts val="0"/>
              </a:spcAft>
              <a:buClr>
                <a:schemeClr val="lt1"/>
              </a:buClr>
              <a:buSzPts val="3600"/>
              <a:buNone/>
              <a:defRPr sz="4800">
                <a:solidFill>
                  <a:schemeClr val="lt1"/>
                </a:solidFill>
              </a:defRPr>
            </a:lvl4pPr>
            <a:lvl5pPr lvl="4">
              <a:spcBef>
                <a:spcPts val="0"/>
              </a:spcBef>
              <a:spcAft>
                <a:spcPts val="0"/>
              </a:spcAft>
              <a:buClr>
                <a:schemeClr val="lt1"/>
              </a:buClr>
              <a:buSzPts val="3600"/>
              <a:buNone/>
              <a:defRPr sz="4800">
                <a:solidFill>
                  <a:schemeClr val="lt1"/>
                </a:solidFill>
              </a:defRPr>
            </a:lvl5pPr>
            <a:lvl6pPr lvl="5">
              <a:spcBef>
                <a:spcPts val="0"/>
              </a:spcBef>
              <a:spcAft>
                <a:spcPts val="0"/>
              </a:spcAft>
              <a:buClr>
                <a:schemeClr val="lt1"/>
              </a:buClr>
              <a:buSzPts val="3600"/>
              <a:buNone/>
              <a:defRPr sz="4800">
                <a:solidFill>
                  <a:schemeClr val="lt1"/>
                </a:solidFill>
              </a:defRPr>
            </a:lvl6pPr>
            <a:lvl7pPr lvl="6">
              <a:spcBef>
                <a:spcPts val="0"/>
              </a:spcBef>
              <a:spcAft>
                <a:spcPts val="0"/>
              </a:spcAft>
              <a:buClr>
                <a:schemeClr val="lt1"/>
              </a:buClr>
              <a:buSzPts val="3600"/>
              <a:buNone/>
              <a:defRPr sz="4800">
                <a:solidFill>
                  <a:schemeClr val="lt1"/>
                </a:solidFill>
              </a:defRPr>
            </a:lvl7pPr>
            <a:lvl8pPr lvl="7">
              <a:spcBef>
                <a:spcPts val="0"/>
              </a:spcBef>
              <a:spcAft>
                <a:spcPts val="0"/>
              </a:spcAft>
              <a:buClr>
                <a:schemeClr val="lt1"/>
              </a:buClr>
              <a:buSzPts val="3600"/>
              <a:buNone/>
              <a:defRPr sz="4800">
                <a:solidFill>
                  <a:schemeClr val="lt1"/>
                </a:solidFill>
              </a:defRPr>
            </a:lvl8pPr>
            <a:lvl9pPr lvl="8">
              <a:spcBef>
                <a:spcPts val="0"/>
              </a:spcBef>
              <a:spcAft>
                <a:spcPts val="0"/>
              </a:spcAft>
              <a:buClr>
                <a:schemeClr val="lt1"/>
              </a:buClr>
              <a:buSzPts val="3600"/>
              <a:buNone/>
              <a:defRPr sz="4800">
                <a:solidFill>
                  <a:schemeClr val="lt1"/>
                </a:solidFill>
              </a:defRPr>
            </a:lvl9pPr>
          </a:lstStyle>
          <a:p>
            <a:endParaRPr/>
          </a:p>
        </p:txBody>
      </p:sp>
      <p:sp>
        <p:nvSpPr>
          <p:cNvPr id="13" name="Google Shape;13;p3"/>
          <p:cNvSpPr txBox="1">
            <a:spLocks noGrp="1"/>
          </p:cNvSpPr>
          <p:nvPr>
            <p:ph type="title" idx="2" hasCustomPrompt="1"/>
          </p:nvPr>
        </p:nvSpPr>
        <p:spPr>
          <a:xfrm>
            <a:off x="1397693" y="4383333"/>
            <a:ext cx="3217200" cy="1242000"/>
          </a:xfrm>
          <a:prstGeom prst="rect">
            <a:avLst/>
          </a:prstGeom>
          <a:effectLst>
            <a:outerShdw blurRad="114300" dist="28575" dir="6360000" algn="bl" rotWithShape="0">
              <a:schemeClr val="accent1">
                <a:alpha val="50000"/>
              </a:schemeClr>
            </a:outerShdw>
          </a:effectLst>
        </p:spPr>
        <p:txBody>
          <a:bodyPr spcFirstLastPara="1" wrap="square" lIns="91425" tIns="91425" rIns="91425" bIns="91425" anchor="ctr" anchorCtr="0">
            <a:noAutofit/>
          </a:bodyPr>
          <a:lstStyle>
            <a:lvl1pPr lvl="0" algn="r" rtl="0">
              <a:spcBef>
                <a:spcPts val="0"/>
              </a:spcBef>
              <a:spcAft>
                <a:spcPts val="0"/>
              </a:spcAft>
              <a:buClr>
                <a:schemeClr val="lt1"/>
              </a:buClr>
              <a:buSzPts val="6000"/>
              <a:buNone/>
              <a:defRPr sz="8000">
                <a:solidFill>
                  <a:schemeClr val="lt1"/>
                </a:solidFill>
              </a:defRPr>
            </a:lvl1pPr>
            <a:lvl2pPr lvl="1" algn="ctr" rtl="0">
              <a:spcBef>
                <a:spcPts val="0"/>
              </a:spcBef>
              <a:spcAft>
                <a:spcPts val="0"/>
              </a:spcAft>
              <a:buClr>
                <a:schemeClr val="lt1"/>
              </a:buClr>
              <a:buSzPts val="7200"/>
              <a:buNone/>
              <a:defRPr sz="9600">
                <a:solidFill>
                  <a:schemeClr val="lt1"/>
                </a:solidFill>
              </a:defRPr>
            </a:lvl2pPr>
            <a:lvl3pPr lvl="2" algn="ctr" rtl="0">
              <a:spcBef>
                <a:spcPts val="0"/>
              </a:spcBef>
              <a:spcAft>
                <a:spcPts val="0"/>
              </a:spcAft>
              <a:buClr>
                <a:schemeClr val="lt1"/>
              </a:buClr>
              <a:buSzPts val="7200"/>
              <a:buNone/>
              <a:defRPr sz="9600">
                <a:solidFill>
                  <a:schemeClr val="lt1"/>
                </a:solidFill>
              </a:defRPr>
            </a:lvl3pPr>
            <a:lvl4pPr lvl="3" algn="ctr" rtl="0">
              <a:spcBef>
                <a:spcPts val="0"/>
              </a:spcBef>
              <a:spcAft>
                <a:spcPts val="0"/>
              </a:spcAft>
              <a:buClr>
                <a:schemeClr val="lt1"/>
              </a:buClr>
              <a:buSzPts val="7200"/>
              <a:buNone/>
              <a:defRPr sz="9600">
                <a:solidFill>
                  <a:schemeClr val="lt1"/>
                </a:solidFill>
              </a:defRPr>
            </a:lvl4pPr>
            <a:lvl5pPr lvl="4" algn="ctr" rtl="0">
              <a:spcBef>
                <a:spcPts val="0"/>
              </a:spcBef>
              <a:spcAft>
                <a:spcPts val="0"/>
              </a:spcAft>
              <a:buClr>
                <a:schemeClr val="lt1"/>
              </a:buClr>
              <a:buSzPts val="7200"/>
              <a:buNone/>
              <a:defRPr sz="9600">
                <a:solidFill>
                  <a:schemeClr val="lt1"/>
                </a:solidFill>
              </a:defRPr>
            </a:lvl5pPr>
            <a:lvl6pPr lvl="5" algn="ctr" rtl="0">
              <a:spcBef>
                <a:spcPts val="0"/>
              </a:spcBef>
              <a:spcAft>
                <a:spcPts val="0"/>
              </a:spcAft>
              <a:buClr>
                <a:schemeClr val="lt1"/>
              </a:buClr>
              <a:buSzPts val="7200"/>
              <a:buNone/>
              <a:defRPr sz="9600">
                <a:solidFill>
                  <a:schemeClr val="lt1"/>
                </a:solidFill>
              </a:defRPr>
            </a:lvl6pPr>
            <a:lvl7pPr lvl="6" algn="ctr" rtl="0">
              <a:spcBef>
                <a:spcPts val="0"/>
              </a:spcBef>
              <a:spcAft>
                <a:spcPts val="0"/>
              </a:spcAft>
              <a:buClr>
                <a:schemeClr val="lt1"/>
              </a:buClr>
              <a:buSzPts val="7200"/>
              <a:buNone/>
              <a:defRPr sz="9600">
                <a:solidFill>
                  <a:schemeClr val="lt1"/>
                </a:solidFill>
              </a:defRPr>
            </a:lvl7pPr>
            <a:lvl8pPr lvl="7" algn="ctr" rtl="0">
              <a:spcBef>
                <a:spcPts val="0"/>
              </a:spcBef>
              <a:spcAft>
                <a:spcPts val="0"/>
              </a:spcAft>
              <a:buClr>
                <a:schemeClr val="lt1"/>
              </a:buClr>
              <a:buSzPts val="7200"/>
              <a:buNone/>
              <a:defRPr sz="9600">
                <a:solidFill>
                  <a:schemeClr val="lt1"/>
                </a:solidFill>
              </a:defRPr>
            </a:lvl8pPr>
            <a:lvl9pPr lvl="8" algn="ctr" rtl="0">
              <a:spcBef>
                <a:spcPts val="0"/>
              </a:spcBef>
              <a:spcAft>
                <a:spcPts val="0"/>
              </a:spcAft>
              <a:buClr>
                <a:schemeClr val="lt1"/>
              </a:buClr>
              <a:buSzPts val="7200"/>
              <a:buNone/>
              <a:defRPr sz="9600">
                <a:solidFill>
                  <a:schemeClr val="lt1"/>
                </a:solidFill>
              </a:defRPr>
            </a:lvl9pPr>
          </a:lstStyle>
          <a:p>
            <a:r>
              <a:t>xx%</a:t>
            </a:r>
          </a:p>
        </p:txBody>
      </p:sp>
      <p:sp>
        <p:nvSpPr>
          <p:cNvPr id="14" name="Google Shape;14;p3"/>
          <p:cNvSpPr txBox="1">
            <a:spLocks noGrp="1"/>
          </p:cNvSpPr>
          <p:nvPr>
            <p:ph type="subTitle" idx="1"/>
          </p:nvPr>
        </p:nvSpPr>
        <p:spPr>
          <a:xfrm>
            <a:off x="5016893" y="4960867"/>
            <a:ext cx="4091600" cy="61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None/>
              <a:defRPr sz="1867">
                <a:solidFill>
                  <a:schemeClr val="accent1"/>
                </a:solidFill>
              </a:defRPr>
            </a:lvl1pPr>
            <a:lvl2pPr lvl="1" rtl="0">
              <a:lnSpc>
                <a:spcPct val="100000"/>
              </a:lnSpc>
              <a:spcBef>
                <a:spcPts val="0"/>
              </a:spcBef>
              <a:spcAft>
                <a:spcPts val="0"/>
              </a:spcAft>
              <a:buClr>
                <a:schemeClr val="accent1"/>
              </a:buClr>
              <a:buSzPts val="1400"/>
              <a:buNone/>
              <a:defRPr>
                <a:solidFill>
                  <a:schemeClr val="accent1"/>
                </a:solidFill>
              </a:defRPr>
            </a:lvl2pPr>
            <a:lvl3pPr lvl="2" rtl="0">
              <a:lnSpc>
                <a:spcPct val="100000"/>
              </a:lnSpc>
              <a:spcBef>
                <a:spcPts val="0"/>
              </a:spcBef>
              <a:spcAft>
                <a:spcPts val="0"/>
              </a:spcAft>
              <a:buClr>
                <a:schemeClr val="accent1"/>
              </a:buClr>
              <a:buSzPts val="1400"/>
              <a:buNone/>
              <a:defRPr>
                <a:solidFill>
                  <a:schemeClr val="accent1"/>
                </a:solidFill>
              </a:defRPr>
            </a:lvl3pPr>
            <a:lvl4pPr lvl="3" rtl="0">
              <a:lnSpc>
                <a:spcPct val="100000"/>
              </a:lnSpc>
              <a:spcBef>
                <a:spcPts val="0"/>
              </a:spcBef>
              <a:spcAft>
                <a:spcPts val="0"/>
              </a:spcAft>
              <a:buClr>
                <a:schemeClr val="accent1"/>
              </a:buClr>
              <a:buSzPts val="1400"/>
              <a:buNone/>
              <a:defRPr>
                <a:solidFill>
                  <a:schemeClr val="accent1"/>
                </a:solidFill>
              </a:defRPr>
            </a:lvl4pPr>
            <a:lvl5pPr lvl="4" rtl="0">
              <a:lnSpc>
                <a:spcPct val="100000"/>
              </a:lnSpc>
              <a:spcBef>
                <a:spcPts val="0"/>
              </a:spcBef>
              <a:spcAft>
                <a:spcPts val="0"/>
              </a:spcAft>
              <a:buClr>
                <a:schemeClr val="accent1"/>
              </a:buClr>
              <a:buSzPts val="1400"/>
              <a:buNone/>
              <a:defRPr>
                <a:solidFill>
                  <a:schemeClr val="accent1"/>
                </a:solidFill>
              </a:defRPr>
            </a:lvl5pPr>
            <a:lvl6pPr lvl="5" rtl="0">
              <a:lnSpc>
                <a:spcPct val="100000"/>
              </a:lnSpc>
              <a:spcBef>
                <a:spcPts val="0"/>
              </a:spcBef>
              <a:spcAft>
                <a:spcPts val="0"/>
              </a:spcAft>
              <a:buClr>
                <a:schemeClr val="accent1"/>
              </a:buClr>
              <a:buSzPts val="1400"/>
              <a:buNone/>
              <a:defRPr>
                <a:solidFill>
                  <a:schemeClr val="accent1"/>
                </a:solidFill>
              </a:defRPr>
            </a:lvl6pPr>
            <a:lvl7pPr lvl="6" rtl="0">
              <a:lnSpc>
                <a:spcPct val="100000"/>
              </a:lnSpc>
              <a:spcBef>
                <a:spcPts val="0"/>
              </a:spcBef>
              <a:spcAft>
                <a:spcPts val="0"/>
              </a:spcAft>
              <a:buClr>
                <a:schemeClr val="accent1"/>
              </a:buClr>
              <a:buSzPts val="1400"/>
              <a:buNone/>
              <a:defRPr>
                <a:solidFill>
                  <a:schemeClr val="accent1"/>
                </a:solidFill>
              </a:defRPr>
            </a:lvl7pPr>
            <a:lvl8pPr lvl="7" rtl="0">
              <a:lnSpc>
                <a:spcPct val="100000"/>
              </a:lnSpc>
              <a:spcBef>
                <a:spcPts val="0"/>
              </a:spcBef>
              <a:spcAft>
                <a:spcPts val="0"/>
              </a:spcAft>
              <a:buClr>
                <a:schemeClr val="accent1"/>
              </a:buClr>
              <a:buSzPts val="1400"/>
              <a:buNone/>
              <a:defRPr>
                <a:solidFill>
                  <a:schemeClr val="accent1"/>
                </a:solidFill>
              </a:defRPr>
            </a:lvl8pPr>
            <a:lvl9pPr lvl="8" rtl="0">
              <a:lnSpc>
                <a:spcPct val="100000"/>
              </a:lnSpc>
              <a:spcBef>
                <a:spcPts val="0"/>
              </a:spcBef>
              <a:spcAft>
                <a:spcPts val="0"/>
              </a:spcAft>
              <a:buClr>
                <a:schemeClr val="accent1"/>
              </a:buClr>
              <a:buSzPts val="1400"/>
              <a:buNone/>
              <a:defRPr>
                <a:solidFill>
                  <a:schemeClr val="accent1"/>
                </a:solidFill>
              </a:defRPr>
            </a:lvl9pPr>
          </a:lstStyle>
          <a:p>
            <a:endParaRPr/>
          </a:p>
        </p:txBody>
      </p:sp>
    </p:spTree>
    <p:extLst>
      <p:ext uri="{BB962C8B-B14F-4D97-AF65-F5344CB8AC3E}">
        <p14:creationId xmlns:p14="http://schemas.microsoft.com/office/powerpoint/2010/main" val="14567112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2400"/>
              <a:buNone/>
              <a:defRPr sz="3200">
                <a:solidFill>
                  <a:schemeClr val="accen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7" name="Google Shape;17;p4"/>
          <p:cNvSpPr txBox="1">
            <a:spLocks noGrp="1"/>
          </p:cNvSpPr>
          <p:nvPr>
            <p:ph type="body" idx="1"/>
          </p:nvPr>
        </p:nvSpPr>
        <p:spPr>
          <a:xfrm>
            <a:off x="1251333" y="2212367"/>
            <a:ext cx="6595200" cy="36812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Clr>
                <a:schemeClr val="lt1"/>
              </a:buClr>
              <a:buSzPts val="1400"/>
              <a:buChar char="●"/>
              <a:defRPr sz="1867">
                <a:solidFill>
                  <a:schemeClr val="lt1"/>
                </a:solidFill>
              </a:defRPr>
            </a:lvl1pPr>
            <a:lvl2pPr marL="1219170" lvl="1" indent="-423323">
              <a:spcBef>
                <a:spcPts val="2133"/>
              </a:spcBef>
              <a:spcAft>
                <a:spcPts val="0"/>
              </a:spcAft>
              <a:buClr>
                <a:schemeClr val="lt1"/>
              </a:buClr>
              <a:buSzPts val="1400"/>
              <a:buChar char="○"/>
              <a:defRPr>
                <a:solidFill>
                  <a:schemeClr val="lt1"/>
                </a:solidFill>
              </a:defRPr>
            </a:lvl2pPr>
            <a:lvl3pPr marL="1828754" lvl="2" indent="-423323">
              <a:spcBef>
                <a:spcPts val="2133"/>
              </a:spcBef>
              <a:spcAft>
                <a:spcPts val="0"/>
              </a:spcAft>
              <a:buClr>
                <a:schemeClr val="lt1"/>
              </a:buClr>
              <a:buSzPts val="1400"/>
              <a:buChar char="■"/>
              <a:defRPr>
                <a:solidFill>
                  <a:schemeClr val="lt1"/>
                </a:solidFill>
              </a:defRPr>
            </a:lvl3pPr>
            <a:lvl4pPr marL="2438339" lvl="3" indent="-423323">
              <a:spcBef>
                <a:spcPts val="2133"/>
              </a:spcBef>
              <a:spcAft>
                <a:spcPts val="0"/>
              </a:spcAft>
              <a:buClr>
                <a:schemeClr val="lt1"/>
              </a:buClr>
              <a:buSzPts val="1400"/>
              <a:buChar char="●"/>
              <a:defRPr>
                <a:solidFill>
                  <a:schemeClr val="lt1"/>
                </a:solidFill>
              </a:defRPr>
            </a:lvl4pPr>
            <a:lvl5pPr marL="3047924" lvl="4" indent="-423323">
              <a:spcBef>
                <a:spcPts val="2133"/>
              </a:spcBef>
              <a:spcAft>
                <a:spcPts val="0"/>
              </a:spcAft>
              <a:buClr>
                <a:schemeClr val="lt1"/>
              </a:buClr>
              <a:buSzPts val="1400"/>
              <a:buChar char="○"/>
              <a:defRPr>
                <a:solidFill>
                  <a:schemeClr val="lt1"/>
                </a:solidFill>
              </a:defRPr>
            </a:lvl5pPr>
            <a:lvl6pPr marL="3657509" lvl="5" indent="-423323">
              <a:spcBef>
                <a:spcPts val="2133"/>
              </a:spcBef>
              <a:spcAft>
                <a:spcPts val="0"/>
              </a:spcAft>
              <a:buClr>
                <a:schemeClr val="lt1"/>
              </a:buClr>
              <a:buSzPts val="1400"/>
              <a:buChar char="■"/>
              <a:defRPr>
                <a:solidFill>
                  <a:schemeClr val="lt1"/>
                </a:solidFill>
              </a:defRPr>
            </a:lvl6pPr>
            <a:lvl7pPr marL="4267093" lvl="6" indent="-423323">
              <a:spcBef>
                <a:spcPts val="2133"/>
              </a:spcBef>
              <a:spcAft>
                <a:spcPts val="0"/>
              </a:spcAft>
              <a:buClr>
                <a:schemeClr val="lt1"/>
              </a:buClr>
              <a:buSzPts val="1400"/>
              <a:buChar char="●"/>
              <a:defRPr>
                <a:solidFill>
                  <a:schemeClr val="lt1"/>
                </a:solidFill>
              </a:defRPr>
            </a:lvl7pPr>
            <a:lvl8pPr marL="4876678" lvl="7" indent="-423323">
              <a:spcBef>
                <a:spcPts val="2133"/>
              </a:spcBef>
              <a:spcAft>
                <a:spcPts val="0"/>
              </a:spcAft>
              <a:buClr>
                <a:schemeClr val="lt1"/>
              </a:buClr>
              <a:buSzPts val="1400"/>
              <a:buChar char="○"/>
              <a:defRPr>
                <a:solidFill>
                  <a:schemeClr val="lt1"/>
                </a:solidFill>
              </a:defRPr>
            </a:lvl8pPr>
            <a:lvl9pPr marL="5486263" lvl="8" indent="-423323">
              <a:spcBef>
                <a:spcPts val="2133"/>
              </a:spcBef>
              <a:spcAft>
                <a:spcPts val="2133"/>
              </a:spcAft>
              <a:buClr>
                <a:schemeClr val="lt1"/>
              </a:buClr>
              <a:buSzPts val="1400"/>
              <a:buChar char="■"/>
              <a:defRPr>
                <a:solidFill>
                  <a:schemeClr val="lt1"/>
                </a:solidFill>
              </a:defRPr>
            </a:lvl9pPr>
          </a:lstStyle>
          <a:p>
            <a:endParaRPr/>
          </a:p>
        </p:txBody>
      </p:sp>
    </p:spTree>
    <p:extLst>
      <p:ext uri="{BB962C8B-B14F-4D97-AF65-F5344CB8AC3E}">
        <p14:creationId xmlns:p14="http://schemas.microsoft.com/office/powerpoint/2010/main" val="30506997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bg>
      <p:bgPr>
        <a:blipFill>
          <a:blip r:embed="rId2">
            <a:alphaModFix/>
          </a:blip>
          <a:stretch>
            <a:fillRect/>
          </a:stretch>
        </a:blipFill>
        <a:effectLst/>
      </p:bgPr>
    </p:bg>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0" name="Google Shape;20;p5"/>
          <p:cNvSpPr txBox="1">
            <a:spLocks noGrp="1"/>
          </p:cNvSpPr>
          <p:nvPr>
            <p:ph type="body" idx="1"/>
          </p:nvPr>
        </p:nvSpPr>
        <p:spPr>
          <a:xfrm>
            <a:off x="1251333" y="2212367"/>
            <a:ext cx="4249200" cy="36812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solidFill>
                  <a:schemeClr val="lt1"/>
                </a:solidFill>
              </a:defRPr>
            </a:lvl1pPr>
            <a:lvl2pPr marL="1219170" lvl="1" indent="-423323" rtl="0">
              <a:spcBef>
                <a:spcPts val="21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endParaRPr/>
          </a:p>
        </p:txBody>
      </p:sp>
      <p:sp>
        <p:nvSpPr>
          <p:cNvPr id="21" name="Google Shape;21;p5"/>
          <p:cNvSpPr txBox="1">
            <a:spLocks noGrp="1"/>
          </p:cNvSpPr>
          <p:nvPr>
            <p:ph type="body" idx="2"/>
          </p:nvPr>
        </p:nvSpPr>
        <p:spPr>
          <a:xfrm>
            <a:off x="6716700" y="2212367"/>
            <a:ext cx="4249200" cy="36812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solidFill>
                  <a:schemeClr val="lt1"/>
                </a:solidFill>
              </a:defRPr>
            </a:lvl1pPr>
            <a:lvl2pPr marL="1219170" lvl="1" indent="-423323" rtl="0">
              <a:spcBef>
                <a:spcPts val="21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endParaRPr/>
          </a:p>
        </p:txBody>
      </p:sp>
    </p:spTree>
    <p:extLst>
      <p:ext uri="{BB962C8B-B14F-4D97-AF65-F5344CB8AC3E}">
        <p14:creationId xmlns:p14="http://schemas.microsoft.com/office/powerpoint/2010/main" val="3174343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16239731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 column text">
    <p:bg>
      <p:bgPr>
        <a:blipFill>
          <a:blip r:embed="rId2">
            <a:alphaModFix/>
          </a:blip>
          <a:stretch>
            <a:fillRect/>
          </a:stretch>
        </a:blipFill>
        <a:effectLst/>
      </p:bgPr>
    </p:bg>
    <p:spTree>
      <p:nvGrpSpPr>
        <p:cNvPr id="1" name="Shape 24"/>
        <p:cNvGrpSpPr/>
        <p:nvPr/>
      </p:nvGrpSpPr>
      <p:grpSpPr>
        <a:xfrm>
          <a:off x="0" y="0"/>
          <a:ext cx="0" cy="0"/>
          <a:chOff x="0" y="0"/>
          <a:chExt cx="0" cy="0"/>
        </a:xfrm>
      </p:grpSpPr>
      <p:sp>
        <p:nvSpPr>
          <p:cNvPr id="25" name="Google Shape;25;p7"/>
          <p:cNvSpPr txBox="1">
            <a:spLocks noGrp="1"/>
          </p:cNvSpPr>
          <p:nvPr>
            <p:ph type="title"/>
          </p:nvPr>
        </p:nvSpPr>
        <p:spPr>
          <a:xfrm>
            <a:off x="7116233" y="1729500"/>
            <a:ext cx="3783200" cy="16700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6" name="Google Shape;26;p7"/>
          <p:cNvSpPr txBox="1">
            <a:spLocks noGrp="1"/>
          </p:cNvSpPr>
          <p:nvPr>
            <p:ph type="body" idx="1"/>
          </p:nvPr>
        </p:nvSpPr>
        <p:spPr>
          <a:xfrm>
            <a:off x="7116233" y="3458500"/>
            <a:ext cx="3783200" cy="1670000"/>
          </a:xfrm>
          <a:prstGeom prst="rect">
            <a:avLst/>
          </a:prstGeom>
        </p:spPr>
        <p:txBody>
          <a:bodyPr spcFirstLastPara="1" wrap="square" lIns="91425" tIns="91425" rIns="91425" bIns="91425" anchor="t" anchorCtr="0">
            <a:noAutofit/>
          </a:bodyPr>
          <a:lstStyle>
            <a:lvl1pPr marL="609585" lvl="0" indent="-440256" rtl="0">
              <a:spcBef>
                <a:spcPts val="0"/>
              </a:spcBef>
              <a:spcAft>
                <a:spcPts val="0"/>
              </a:spcAft>
              <a:buClr>
                <a:schemeClr val="lt1"/>
              </a:buClr>
              <a:buSzPts val="1600"/>
              <a:buChar char="●"/>
              <a:defRPr sz="2133">
                <a:solidFill>
                  <a:schemeClr val="lt1"/>
                </a:solidFill>
              </a:defRPr>
            </a:lvl1pPr>
            <a:lvl2pPr marL="1219170" lvl="1" indent="-440256" rtl="0">
              <a:spcBef>
                <a:spcPts val="2133"/>
              </a:spcBef>
              <a:spcAft>
                <a:spcPts val="0"/>
              </a:spcAft>
              <a:buClr>
                <a:schemeClr val="lt1"/>
              </a:buClr>
              <a:buSzPts val="1600"/>
              <a:buChar char="○"/>
              <a:defRPr sz="2133">
                <a:solidFill>
                  <a:schemeClr val="lt1"/>
                </a:solidFill>
              </a:defRPr>
            </a:lvl2pPr>
            <a:lvl3pPr marL="1828754" lvl="2" indent="-440256" rtl="0">
              <a:spcBef>
                <a:spcPts val="2133"/>
              </a:spcBef>
              <a:spcAft>
                <a:spcPts val="0"/>
              </a:spcAft>
              <a:buClr>
                <a:schemeClr val="lt1"/>
              </a:buClr>
              <a:buSzPts val="1600"/>
              <a:buChar char="■"/>
              <a:defRPr sz="2133">
                <a:solidFill>
                  <a:schemeClr val="lt1"/>
                </a:solidFill>
              </a:defRPr>
            </a:lvl3pPr>
            <a:lvl4pPr marL="2438339" lvl="3" indent="-440256" rtl="0">
              <a:spcBef>
                <a:spcPts val="2133"/>
              </a:spcBef>
              <a:spcAft>
                <a:spcPts val="0"/>
              </a:spcAft>
              <a:buClr>
                <a:schemeClr val="lt1"/>
              </a:buClr>
              <a:buSzPts val="1600"/>
              <a:buChar char="●"/>
              <a:defRPr sz="2133">
                <a:solidFill>
                  <a:schemeClr val="lt1"/>
                </a:solidFill>
              </a:defRPr>
            </a:lvl4pPr>
            <a:lvl5pPr marL="3047924" lvl="4" indent="-440256" rtl="0">
              <a:spcBef>
                <a:spcPts val="2133"/>
              </a:spcBef>
              <a:spcAft>
                <a:spcPts val="0"/>
              </a:spcAft>
              <a:buClr>
                <a:schemeClr val="lt1"/>
              </a:buClr>
              <a:buSzPts val="1600"/>
              <a:buChar char="○"/>
              <a:defRPr sz="2133">
                <a:solidFill>
                  <a:schemeClr val="lt1"/>
                </a:solidFill>
              </a:defRPr>
            </a:lvl5pPr>
            <a:lvl6pPr marL="3657509" lvl="5" indent="-440256" rtl="0">
              <a:spcBef>
                <a:spcPts val="2133"/>
              </a:spcBef>
              <a:spcAft>
                <a:spcPts val="0"/>
              </a:spcAft>
              <a:buClr>
                <a:schemeClr val="lt1"/>
              </a:buClr>
              <a:buSzPts val="1600"/>
              <a:buChar char="■"/>
              <a:defRPr sz="2133">
                <a:solidFill>
                  <a:schemeClr val="lt1"/>
                </a:solidFill>
              </a:defRPr>
            </a:lvl6pPr>
            <a:lvl7pPr marL="4267093" lvl="6" indent="-440256" rtl="0">
              <a:spcBef>
                <a:spcPts val="2133"/>
              </a:spcBef>
              <a:spcAft>
                <a:spcPts val="0"/>
              </a:spcAft>
              <a:buClr>
                <a:schemeClr val="lt1"/>
              </a:buClr>
              <a:buSzPts val="1600"/>
              <a:buChar char="●"/>
              <a:defRPr sz="2133">
                <a:solidFill>
                  <a:schemeClr val="lt1"/>
                </a:solidFill>
              </a:defRPr>
            </a:lvl7pPr>
            <a:lvl8pPr marL="4876678" lvl="7" indent="-440256" rtl="0">
              <a:spcBef>
                <a:spcPts val="2133"/>
              </a:spcBef>
              <a:spcAft>
                <a:spcPts val="0"/>
              </a:spcAft>
              <a:buClr>
                <a:schemeClr val="lt1"/>
              </a:buClr>
              <a:buSzPts val="1600"/>
              <a:buChar char="○"/>
              <a:defRPr sz="2133">
                <a:solidFill>
                  <a:schemeClr val="lt1"/>
                </a:solidFill>
              </a:defRPr>
            </a:lvl8pPr>
            <a:lvl9pPr marL="5486263" lvl="8" indent="-440256" rtl="0">
              <a:spcBef>
                <a:spcPts val="2133"/>
              </a:spcBef>
              <a:spcAft>
                <a:spcPts val="2133"/>
              </a:spcAft>
              <a:buClr>
                <a:schemeClr val="lt1"/>
              </a:buClr>
              <a:buSzPts val="1600"/>
              <a:buChar char="■"/>
              <a:defRPr sz="2133">
                <a:solidFill>
                  <a:schemeClr val="lt1"/>
                </a:solidFill>
              </a:defRPr>
            </a:lvl9pPr>
          </a:lstStyle>
          <a:p>
            <a:endParaRPr/>
          </a:p>
        </p:txBody>
      </p:sp>
    </p:spTree>
    <p:extLst>
      <p:ext uri="{BB962C8B-B14F-4D97-AF65-F5344CB8AC3E}">
        <p14:creationId xmlns:p14="http://schemas.microsoft.com/office/powerpoint/2010/main" val="20430584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 point">
    <p:bg>
      <p:bgPr>
        <a:blipFill>
          <a:blip r:embed="rId2">
            <a:alphaModFix/>
          </a:blip>
          <a:stretch>
            <a:fillRect/>
          </a:stretch>
        </a:blipFill>
        <a:effectLst/>
      </p:bgPr>
    </p:bg>
    <p:spTree>
      <p:nvGrpSpPr>
        <p:cNvPr id="1" name="Shape 27"/>
        <p:cNvGrpSpPr/>
        <p:nvPr/>
      </p:nvGrpSpPr>
      <p:grpSpPr>
        <a:xfrm>
          <a:off x="0" y="0"/>
          <a:ext cx="0" cy="0"/>
          <a:chOff x="0" y="0"/>
          <a:chExt cx="0" cy="0"/>
        </a:xfrm>
      </p:grpSpPr>
      <p:sp>
        <p:nvSpPr>
          <p:cNvPr id="28" name="Google Shape;28;p8"/>
          <p:cNvSpPr txBox="1">
            <a:spLocks noGrp="1"/>
          </p:cNvSpPr>
          <p:nvPr>
            <p:ph type="title"/>
          </p:nvPr>
        </p:nvSpPr>
        <p:spPr>
          <a:xfrm>
            <a:off x="1239303" y="581577"/>
            <a:ext cx="3662000" cy="54544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3000"/>
              <a:buNone/>
              <a:defRPr sz="4000">
                <a:solidFill>
                  <a:schemeClr val="accent1"/>
                </a:solidFill>
              </a:defRPr>
            </a:lvl1pPr>
            <a:lvl2pPr lvl="1">
              <a:spcBef>
                <a:spcPts val="0"/>
              </a:spcBef>
              <a:spcAft>
                <a:spcPts val="0"/>
              </a:spcAft>
              <a:buClr>
                <a:schemeClr val="accent1"/>
              </a:buClr>
              <a:buSzPts val="4800"/>
              <a:buNone/>
              <a:defRPr sz="6400">
                <a:solidFill>
                  <a:schemeClr val="accent1"/>
                </a:solidFill>
              </a:defRPr>
            </a:lvl2pPr>
            <a:lvl3pPr lvl="2">
              <a:spcBef>
                <a:spcPts val="0"/>
              </a:spcBef>
              <a:spcAft>
                <a:spcPts val="0"/>
              </a:spcAft>
              <a:buClr>
                <a:schemeClr val="accent1"/>
              </a:buClr>
              <a:buSzPts val="4800"/>
              <a:buNone/>
              <a:defRPr sz="6400">
                <a:solidFill>
                  <a:schemeClr val="accent1"/>
                </a:solidFill>
              </a:defRPr>
            </a:lvl3pPr>
            <a:lvl4pPr lvl="3">
              <a:spcBef>
                <a:spcPts val="0"/>
              </a:spcBef>
              <a:spcAft>
                <a:spcPts val="0"/>
              </a:spcAft>
              <a:buClr>
                <a:schemeClr val="accent1"/>
              </a:buClr>
              <a:buSzPts val="4800"/>
              <a:buNone/>
              <a:defRPr sz="6400">
                <a:solidFill>
                  <a:schemeClr val="accent1"/>
                </a:solidFill>
              </a:defRPr>
            </a:lvl4pPr>
            <a:lvl5pPr lvl="4">
              <a:spcBef>
                <a:spcPts val="0"/>
              </a:spcBef>
              <a:spcAft>
                <a:spcPts val="0"/>
              </a:spcAft>
              <a:buClr>
                <a:schemeClr val="accent1"/>
              </a:buClr>
              <a:buSzPts val="4800"/>
              <a:buNone/>
              <a:defRPr sz="6400">
                <a:solidFill>
                  <a:schemeClr val="accent1"/>
                </a:solidFill>
              </a:defRPr>
            </a:lvl5pPr>
            <a:lvl6pPr lvl="5">
              <a:spcBef>
                <a:spcPts val="0"/>
              </a:spcBef>
              <a:spcAft>
                <a:spcPts val="0"/>
              </a:spcAft>
              <a:buClr>
                <a:schemeClr val="accent1"/>
              </a:buClr>
              <a:buSzPts val="4800"/>
              <a:buNone/>
              <a:defRPr sz="6400">
                <a:solidFill>
                  <a:schemeClr val="accent1"/>
                </a:solidFill>
              </a:defRPr>
            </a:lvl6pPr>
            <a:lvl7pPr lvl="6">
              <a:spcBef>
                <a:spcPts val="0"/>
              </a:spcBef>
              <a:spcAft>
                <a:spcPts val="0"/>
              </a:spcAft>
              <a:buClr>
                <a:schemeClr val="accent1"/>
              </a:buClr>
              <a:buSzPts val="4800"/>
              <a:buNone/>
              <a:defRPr sz="6400">
                <a:solidFill>
                  <a:schemeClr val="accent1"/>
                </a:solidFill>
              </a:defRPr>
            </a:lvl7pPr>
            <a:lvl8pPr lvl="7">
              <a:spcBef>
                <a:spcPts val="0"/>
              </a:spcBef>
              <a:spcAft>
                <a:spcPts val="0"/>
              </a:spcAft>
              <a:buClr>
                <a:schemeClr val="accent1"/>
              </a:buClr>
              <a:buSzPts val="4800"/>
              <a:buNone/>
              <a:defRPr sz="6400">
                <a:solidFill>
                  <a:schemeClr val="accent1"/>
                </a:solidFill>
              </a:defRPr>
            </a:lvl8pPr>
            <a:lvl9pPr lvl="8">
              <a:spcBef>
                <a:spcPts val="0"/>
              </a:spcBef>
              <a:spcAft>
                <a:spcPts val="0"/>
              </a:spcAft>
              <a:buClr>
                <a:schemeClr val="accent1"/>
              </a:buClr>
              <a:buSzPts val="4800"/>
              <a:buNone/>
              <a:defRPr sz="6400">
                <a:solidFill>
                  <a:schemeClr val="accent1"/>
                </a:solidFill>
              </a:defRPr>
            </a:lvl9pPr>
          </a:lstStyle>
          <a:p>
            <a:endParaRPr/>
          </a:p>
        </p:txBody>
      </p:sp>
      <p:pic>
        <p:nvPicPr>
          <p:cNvPr id="29" name="Google Shape;29;p8"/>
          <p:cNvPicPr preferRelativeResize="0"/>
          <p:nvPr/>
        </p:nvPicPr>
        <p:blipFill>
          <a:blip r:embed="rId3">
            <a:alphaModFix/>
          </a:blip>
          <a:stretch>
            <a:fillRect/>
          </a:stretch>
        </p:blipFill>
        <p:spPr>
          <a:xfrm rot="5400000">
            <a:off x="4371899" y="552068"/>
            <a:ext cx="10168735" cy="3845065"/>
          </a:xfrm>
          <a:prstGeom prst="rect">
            <a:avLst/>
          </a:prstGeom>
          <a:noFill/>
          <a:ln>
            <a:noFill/>
          </a:ln>
        </p:spPr>
      </p:pic>
      <p:pic>
        <p:nvPicPr>
          <p:cNvPr id="30" name="Google Shape;30;p8"/>
          <p:cNvPicPr preferRelativeResize="0"/>
          <p:nvPr/>
        </p:nvPicPr>
        <p:blipFill>
          <a:blip r:embed="rId3">
            <a:alphaModFix/>
          </a:blip>
          <a:stretch>
            <a:fillRect/>
          </a:stretch>
        </p:blipFill>
        <p:spPr>
          <a:xfrm rot="5400000" flipH="1">
            <a:off x="6429886" y="-469214"/>
            <a:ext cx="12413063" cy="4693700"/>
          </a:xfrm>
          <a:prstGeom prst="rect">
            <a:avLst/>
          </a:prstGeom>
          <a:noFill/>
          <a:ln>
            <a:noFill/>
          </a:ln>
        </p:spPr>
      </p:pic>
    </p:spTree>
    <p:extLst>
      <p:ext uri="{BB962C8B-B14F-4D97-AF65-F5344CB8AC3E}">
        <p14:creationId xmlns:p14="http://schemas.microsoft.com/office/powerpoint/2010/main" val="31459782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9"/>
          <p:cNvSpPr txBox="1">
            <a:spLocks noGrp="1"/>
          </p:cNvSpPr>
          <p:nvPr>
            <p:ph type="subTitle" idx="1"/>
          </p:nvPr>
        </p:nvSpPr>
        <p:spPr>
          <a:xfrm>
            <a:off x="1251333" y="2359433"/>
            <a:ext cx="3828800" cy="1646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2"/>
              </a:buClr>
              <a:buSzPts val="1600"/>
              <a:buNone/>
              <a:defRPr sz="2133">
                <a:solidFill>
                  <a:schemeClr val="lt2"/>
                </a:solidFill>
              </a:defRPr>
            </a:lvl1pPr>
            <a:lvl2pPr lvl="1" algn="ctr">
              <a:lnSpc>
                <a:spcPct val="100000"/>
              </a:lnSpc>
              <a:spcBef>
                <a:spcPts val="0"/>
              </a:spcBef>
              <a:spcAft>
                <a:spcPts val="0"/>
              </a:spcAft>
              <a:buSzPts val="1600"/>
              <a:buNone/>
              <a:defRPr sz="2133"/>
            </a:lvl2pPr>
            <a:lvl3pPr lvl="2" algn="ctr">
              <a:lnSpc>
                <a:spcPct val="100000"/>
              </a:lnSpc>
              <a:spcBef>
                <a:spcPts val="0"/>
              </a:spcBef>
              <a:spcAft>
                <a:spcPts val="0"/>
              </a:spcAft>
              <a:buSzPts val="1600"/>
              <a:buNone/>
              <a:defRPr sz="2133"/>
            </a:lvl3pPr>
            <a:lvl4pPr lvl="3" algn="ctr">
              <a:lnSpc>
                <a:spcPct val="100000"/>
              </a:lnSpc>
              <a:spcBef>
                <a:spcPts val="0"/>
              </a:spcBef>
              <a:spcAft>
                <a:spcPts val="0"/>
              </a:spcAft>
              <a:buSzPts val="1600"/>
              <a:buNone/>
              <a:defRPr sz="2133"/>
            </a:lvl4pPr>
            <a:lvl5pPr lvl="4" algn="ctr">
              <a:lnSpc>
                <a:spcPct val="100000"/>
              </a:lnSpc>
              <a:spcBef>
                <a:spcPts val="0"/>
              </a:spcBef>
              <a:spcAft>
                <a:spcPts val="0"/>
              </a:spcAft>
              <a:buSzPts val="1600"/>
              <a:buNone/>
              <a:defRPr sz="2133"/>
            </a:lvl5pPr>
            <a:lvl6pPr lvl="5" algn="ctr">
              <a:lnSpc>
                <a:spcPct val="100000"/>
              </a:lnSpc>
              <a:spcBef>
                <a:spcPts val="0"/>
              </a:spcBef>
              <a:spcAft>
                <a:spcPts val="0"/>
              </a:spcAft>
              <a:buSzPts val="1600"/>
              <a:buNone/>
              <a:defRPr sz="2133"/>
            </a:lvl6pPr>
            <a:lvl7pPr lvl="6" algn="ctr">
              <a:lnSpc>
                <a:spcPct val="100000"/>
              </a:lnSpc>
              <a:spcBef>
                <a:spcPts val="0"/>
              </a:spcBef>
              <a:spcAft>
                <a:spcPts val="0"/>
              </a:spcAft>
              <a:buSzPts val="1600"/>
              <a:buNone/>
              <a:defRPr sz="2133"/>
            </a:lvl7pPr>
            <a:lvl8pPr lvl="7" algn="ctr">
              <a:lnSpc>
                <a:spcPct val="100000"/>
              </a:lnSpc>
              <a:spcBef>
                <a:spcPts val="0"/>
              </a:spcBef>
              <a:spcAft>
                <a:spcPts val="0"/>
              </a:spcAft>
              <a:buSzPts val="1600"/>
              <a:buNone/>
              <a:defRPr sz="2133"/>
            </a:lvl8pPr>
            <a:lvl9pPr lvl="8" algn="ctr">
              <a:lnSpc>
                <a:spcPct val="100000"/>
              </a:lnSpc>
              <a:spcBef>
                <a:spcPts val="0"/>
              </a:spcBef>
              <a:spcAft>
                <a:spcPts val="0"/>
              </a:spcAft>
              <a:buSzPts val="1600"/>
              <a:buNone/>
              <a:defRPr sz="2133"/>
            </a:lvl9pPr>
          </a:lstStyle>
          <a:p>
            <a:endParaRPr/>
          </a:p>
        </p:txBody>
      </p:sp>
      <p:sp>
        <p:nvSpPr>
          <p:cNvPr id="33" name="Google Shape;33;p9"/>
          <p:cNvSpPr txBox="1">
            <a:spLocks noGrp="1"/>
          </p:cNvSpPr>
          <p:nvPr>
            <p:ph type="body" idx="2"/>
          </p:nvPr>
        </p:nvSpPr>
        <p:spPr>
          <a:xfrm>
            <a:off x="6271167" y="1212800"/>
            <a:ext cx="4625200" cy="44324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Clr>
                <a:schemeClr val="lt1"/>
              </a:buClr>
              <a:buSzPts val="1400"/>
              <a:buChar char="●"/>
              <a:defRPr sz="1867">
                <a:solidFill>
                  <a:schemeClr val="lt1"/>
                </a:solidFill>
              </a:defRPr>
            </a:lvl1pPr>
            <a:lvl2pPr marL="1219170" lvl="1" indent="-423323">
              <a:spcBef>
                <a:spcPts val="2133"/>
              </a:spcBef>
              <a:spcAft>
                <a:spcPts val="0"/>
              </a:spcAft>
              <a:buClr>
                <a:schemeClr val="lt1"/>
              </a:buClr>
              <a:buSzPts val="1400"/>
              <a:buChar char="○"/>
              <a:defRPr>
                <a:solidFill>
                  <a:schemeClr val="lt1"/>
                </a:solidFill>
              </a:defRPr>
            </a:lvl2pPr>
            <a:lvl3pPr marL="1828754" lvl="2" indent="-423323">
              <a:spcBef>
                <a:spcPts val="2133"/>
              </a:spcBef>
              <a:spcAft>
                <a:spcPts val="0"/>
              </a:spcAft>
              <a:buClr>
                <a:schemeClr val="lt1"/>
              </a:buClr>
              <a:buSzPts val="1400"/>
              <a:buChar char="■"/>
              <a:defRPr>
                <a:solidFill>
                  <a:schemeClr val="lt1"/>
                </a:solidFill>
              </a:defRPr>
            </a:lvl3pPr>
            <a:lvl4pPr marL="2438339" lvl="3" indent="-423323">
              <a:spcBef>
                <a:spcPts val="2133"/>
              </a:spcBef>
              <a:spcAft>
                <a:spcPts val="0"/>
              </a:spcAft>
              <a:buClr>
                <a:schemeClr val="lt1"/>
              </a:buClr>
              <a:buSzPts val="1400"/>
              <a:buChar char="●"/>
              <a:defRPr>
                <a:solidFill>
                  <a:schemeClr val="lt1"/>
                </a:solidFill>
              </a:defRPr>
            </a:lvl4pPr>
            <a:lvl5pPr marL="3047924" lvl="4" indent="-423323">
              <a:spcBef>
                <a:spcPts val="2133"/>
              </a:spcBef>
              <a:spcAft>
                <a:spcPts val="0"/>
              </a:spcAft>
              <a:buClr>
                <a:schemeClr val="lt1"/>
              </a:buClr>
              <a:buSzPts val="1400"/>
              <a:buChar char="○"/>
              <a:defRPr>
                <a:solidFill>
                  <a:schemeClr val="lt1"/>
                </a:solidFill>
              </a:defRPr>
            </a:lvl5pPr>
            <a:lvl6pPr marL="3657509" lvl="5" indent="-423323">
              <a:spcBef>
                <a:spcPts val="2133"/>
              </a:spcBef>
              <a:spcAft>
                <a:spcPts val="0"/>
              </a:spcAft>
              <a:buClr>
                <a:schemeClr val="lt1"/>
              </a:buClr>
              <a:buSzPts val="1400"/>
              <a:buChar char="■"/>
              <a:defRPr>
                <a:solidFill>
                  <a:schemeClr val="lt1"/>
                </a:solidFill>
              </a:defRPr>
            </a:lvl6pPr>
            <a:lvl7pPr marL="4267093" lvl="6" indent="-423323">
              <a:spcBef>
                <a:spcPts val="2133"/>
              </a:spcBef>
              <a:spcAft>
                <a:spcPts val="0"/>
              </a:spcAft>
              <a:buClr>
                <a:schemeClr val="lt1"/>
              </a:buClr>
              <a:buSzPts val="1400"/>
              <a:buChar char="●"/>
              <a:defRPr>
                <a:solidFill>
                  <a:schemeClr val="lt1"/>
                </a:solidFill>
              </a:defRPr>
            </a:lvl7pPr>
            <a:lvl8pPr marL="4876678" lvl="7" indent="-423323">
              <a:spcBef>
                <a:spcPts val="2133"/>
              </a:spcBef>
              <a:spcAft>
                <a:spcPts val="0"/>
              </a:spcAft>
              <a:buClr>
                <a:schemeClr val="lt1"/>
              </a:buClr>
              <a:buSzPts val="1400"/>
              <a:buChar char="○"/>
              <a:defRPr>
                <a:solidFill>
                  <a:schemeClr val="lt1"/>
                </a:solidFill>
              </a:defRPr>
            </a:lvl8pPr>
            <a:lvl9pPr marL="5486263" lvl="8" indent="-423323">
              <a:spcBef>
                <a:spcPts val="2133"/>
              </a:spcBef>
              <a:spcAft>
                <a:spcPts val="2133"/>
              </a:spcAft>
              <a:buClr>
                <a:schemeClr val="lt1"/>
              </a:buClr>
              <a:buSzPts val="1400"/>
              <a:buChar char="■"/>
              <a:defRPr>
                <a:solidFill>
                  <a:schemeClr val="lt1"/>
                </a:solidFill>
              </a:defRPr>
            </a:lvl9pPr>
          </a:lstStyle>
          <a:p>
            <a:endParaRPr/>
          </a:p>
        </p:txBody>
      </p:sp>
      <p:sp>
        <p:nvSpPr>
          <p:cNvPr id="34" name="Google Shape;34;p9"/>
          <p:cNvSpPr txBox="1">
            <a:spLocks noGrp="1"/>
          </p:cNvSpPr>
          <p:nvPr>
            <p:ph type="title"/>
          </p:nvPr>
        </p:nvSpPr>
        <p:spPr>
          <a:xfrm>
            <a:off x="1251333" y="593367"/>
            <a:ext cx="4298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31823211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
    <p:bg>
      <p:bgPr>
        <a:blipFill>
          <a:blip r:embed="rId2">
            <a:alphaModFix/>
          </a:blip>
          <a:stretch>
            <a:fillRect/>
          </a:stretch>
        </a:blipFill>
        <a:effectLst/>
      </p:bgPr>
    </p:bg>
    <p:spTree>
      <p:nvGrpSpPr>
        <p:cNvPr id="1" name="Shape 35"/>
        <p:cNvGrpSpPr/>
        <p:nvPr/>
      </p:nvGrpSpPr>
      <p:grpSpPr>
        <a:xfrm>
          <a:off x="0" y="0"/>
          <a:ext cx="0" cy="0"/>
          <a:chOff x="0" y="0"/>
          <a:chExt cx="0" cy="0"/>
        </a:xfrm>
      </p:grpSpPr>
      <p:sp>
        <p:nvSpPr>
          <p:cNvPr id="36" name="Google Shape;36;p10"/>
          <p:cNvSpPr txBox="1">
            <a:spLocks noGrp="1"/>
          </p:cNvSpPr>
          <p:nvPr>
            <p:ph type="title"/>
          </p:nvPr>
        </p:nvSpPr>
        <p:spPr>
          <a:xfrm>
            <a:off x="1251333" y="593367"/>
            <a:ext cx="7647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38524983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 number">
    <p:bg>
      <p:bgPr>
        <a:blipFill>
          <a:blip r:embed="rId2">
            <a:alphaModFix/>
          </a:blip>
          <a:stretch>
            <a:fillRect/>
          </a:stretch>
        </a:blipFill>
        <a:effectLst/>
      </p:bgPr>
    </p:bg>
    <p:spTree>
      <p:nvGrpSpPr>
        <p:cNvPr id="1" name="Shape 37"/>
        <p:cNvGrpSpPr/>
        <p:nvPr/>
      </p:nvGrpSpPr>
      <p:grpSpPr>
        <a:xfrm>
          <a:off x="0" y="0"/>
          <a:ext cx="0" cy="0"/>
          <a:chOff x="0" y="0"/>
          <a:chExt cx="0" cy="0"/>
        </a:xfrm>
      </p:grpSpPr>
      <p:sp>
        <p:nvSpPr>
          <p:cNvPr id="38" name="Google Shape;38;p11"/>
          <p:cNvSpPr txBox="1">
            <a:spLocks noGrp="1"/>
          </p:cNvSpPr>
          <p:nvPr>
            <p:ph type="title" hasCustomPrompt="1"/>
          </p:nvPr>
        </p:nvSpPr>
        <p:spPr>
          <a:xfrm>
            <a:off x="2561000" y="2179233"/>
            <a:ext cx="7070000" cy="14888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7200"/>
              <a:buNone/>
              <a:defRPr sz="9600">
                <a:solidFill>
                  <a:schemeClr val="lt1"/>
                </a:solidFill>
              </a:defRPr>
            </a:lvl1pPr>
            <a:lvl2pPr lvl="1" algn="ctr">
              <a:spcBef>
                <a:spcPts val="0"/>
              </a:spcBef>
              <a:spcAft>
                <a:spcPts val="0"/>
              </a:spcAft>
              <a:buClr>
                <a:schemeClr val="lt1"/>
              </a:buClr>
              <a:buSzPts val="7200"/>
              <a:buNone/>
              <a:defRPr sz="9600">
                <a:solidFill>
                  <a:schemeClr val="lt1"/>
                </a:solidFill>
              </a:defRPr>
            </a:lvl2pPr>
            <a:lvl3pPr lvl="2" algn="ctr">
              <a:spcBef>
                <a:spcPts val="0"/>
              </a:spcBef>
              <a:spcAft>
                <a:spcPts val="0"/>
              </a:spcAft>
              <a:buClr>
                <a:schemeClr val="lt1"/>
              </a:buClr>
              <a:buSzPts val="7200"/>
              <a:buNone/>
              <a:defRPr sz="9600">
                <a:solidFill>
                  <a:schemeClr val="lt1"/>
                </a:solidFill>
              </a:defRPr>
            </a:lvl3pPr>
            <a:lvl4pPr lvl="3" algn="ctr">
              <a:spcBef>
                <a:spcPts val="0"/>
              </a:spcBef>
              <a:spcAft>
                <a:spcPts val="0"/>
              </a:spcAft>
              <a:buClr>
                <a:schemeClr val="lt1"/>
              </a:buClr>
              <a:buSzPts val="7200"/>
              <a:buNone/>
              <a:defRPr sz="9600">
                <a:solidFill>
                  <a:schemeClr val="lt1"/>
                </a:solidFill>
              </a:defRPr>
            </a:lvl4pPr>
            <a:lvl5pPr lvl="4" algn="ctr">
              <a:spcBef>
                <a:spcPts val="0"/>
              </a:spcBef>
              <a:spcAft>
                <a:spcPts val="0"/>
              </a:spcAft>
              <a:buClr>
                <a:schemeClr val="lt1"/>
              </a:buClr>
              <a:buSzPts val="7200"/>
              <a:buNone/>
              <a:defRPr sz="9600">
                <a:solidFill>
                  <a:schemeClr val="lt1"/>
                </a:solidFill>
              </a:defRPr>
            </a:lvl5pPr>
            <a:lvl6pPr lvl="5" algn="ctr">
              <a:spcBef>
                <a:spcPts val="0"/>
              </a:spcBef>
              <a:spcAft>
                <a:spcPts val="0"/>
              </a:spcAft>
              <a:buClr>
                <a:schemeClr val="lt1"/>
              </a:buClr>
              <a:buSzPts val="7200"/>
              <a:buNone/>
              <a:defRPr sz="9600">
                <a:solidFill>
                  <a:schemeClr val="lt1"/>
                </a:solidFill>
              </a:defRPr>
            </a:lvl6pPr>
            <a:lvl7pPr lvl="6" algn="ctr">
              <a:spcBef>
                <a:spcPts val="0"/>
              </a:spcBef>
              <a:spcAft>
                <a:spcPts val="0"/>
              </a:spcAft>
              <a:buClr>
                <a:schemeClr val="lt1"/>
              </a:buClr>
              <a:buSzPts val="7200"/>
              <a:buNone/>
              <a:defRPr sz="9600">
                <a:solidFill>
                  <a:schemeClr val="lt1"/>
                </a:solidFill>
              </a:defRPr>
            </a:lvl7pPr>
            <a:lvl8pPr lvl="7" algn="ctr">
              <a:spcBef>
                <a:spcPts val="0"/>
              </a:spcBef>
              <a:spcAft>
                <a:spcPts val="0"/>
              </a:spcAft>
              <a:buClr>
                <a:schemeClr val="lt1"/>
              </a:buClr>
              <a:buSzPts val="7200"/>
              <a:buNone/>
              <a:defRPr sz="9600">
                <a:solidFill>
                  <a:schemeClr val="lt1"/>
                </a:solidFill>
              </a:defRPr>
            </a:lvl8pPr>
            <a:lvl9pPr lvl="8" algn="ctr">
              <a:spcBef>
                <a:spcPts val="0"/>
              </a:spcBef>
              <a:spcAft>
                <a:spcPts val="0"/>
              </a:spcAft>
              <a:buClr>
                <a:schemeClr val="lt1"/>
              </a:buClr>
              <a:buSzPts val="7200"/>
              <a:buNone/>
              <a:defRPr sz="9600">
                <a:solidFill>
                  <a:schemeClr val="lt1"/>
                </a:solidFill>
              </a:defRPr>
            </a:lvl9pPr>
          </a:lstStyle>
          <a:p>
            <a:r>
              <a:t>xx%</a:t>
            </a:r>
          </a:p>
        </p:txBody>
      </p:sp>
      <p:sp>
        <p:nvSpPr>
          <p:cNvPr id="39" name="Google Shape;39;p11"/>
          <p:cNvSpPr txBox="1">
            <a:spLocks noGrp="1"/>
          </p:cNvSpPr>
          <p:nvPr>
            <p:ph type="body" idx="1"/>
          </p:nvPr>
        </p:nvSpPr>
        <p:spPr>
          <a:xfrm>
            <a:off x="3715400" y="4125967"/>
            <a:ext cx="4761200" cy="756000"/>
          </a:xfrm>
          <a:prstGeom prst="rect">
            <a:avLst/>
          </a:prstGeom>
        </p:spPr>
        <p:txBody>
          <a:bodyPr spcFirstLastPara="1" wrap="square" lIns="91425" tIns="91425" rIns="91425" bIns="91425" anchor="t" anchorCtr="0">
            <a:noAutofit/>
          </a:bodyPr>
          <a:lstStyle>
            <a:lvl1pPr marL="609585" lvl="0" indent="-457189" algn="ctr">
              <a:spcBef>
                <a:spcPts val="0"/>
              </a:spcBef>
              <a:spcAft>
                <a:spcPts val="0"/>
              </a:spcAft>
              <a:buClr>
                <a:schemeClr val="accent1"/>
              </a:buClr>
              <a:buSzPts val="1800"/>
              <a:buChar char="●"/>
              <a:defRPr>
                <a:solidFill>
                  <a:schemeClr val="accent1"/>
                </a:solidFill>
              </a:defRPr>
            </a:lvl1pPr>
            <a:lvl2pPr marL="1219170" lvl="1" indent="-457189" algn="ctr">
              <a:spcBef>
                <a:spcPts val="2133"/>
              </a:spcBef>
              <a:spcAft>
                <a:spcPts val="0"/>
              </a:spcAft>
              <a:buClr>
                <a:schemeClr val="accent1"/>
              </a:buClr>
              <a:buSzPts val="1800"/>
              <a:buChar char="○"/>
              <a:defRPr sz="2400">
                <a:solidFill>
                  <a:schemeClr val="accent1"/>
                </a:solidFill>
              </a:defRPr>
            </a:lvl2pPr>
            <a:lvl3pPr marL="1828754" lvl="2" indent="-457189" algn="ctr">
              <a:spcBef>
                <a:spcPts val="2133"/>
              </a:spcBef>
              <a:spcAft>
                <a:spcPts val="0"/>
              </a:spcAft>
              <a:buClr>
                <a:schemeClr val="accent1"/>
              </a:buClr>
              <a:buSzPts val="1800"/>
              <a:buChar char="■"/>
              <a:defRPr sz="2400">
                <a:solidFill>
                  <a:schemeClr val="accent1"/>
                </a:solidFill>
              </a:defRPr>
            </a:lvl3pPr>
            <a:lvl4pPr marL="2438339" lvl="3" indent="-457189" algn="ctr">
              <a:spcBef>
                <a:spcPts val="2133"/>
              </a:spcBef>
              <a:spcAft>
                <a:spcPts val="0"/>
              </a:spcAft>
              <a:buClr>
                <a:schemeClr val="accent1"/>
              </a:buClr>
              <a:buSzPts val="1800"/>
              <a:buChar char="●"/>
              <a:defRPr sz="2400">
                <a:solidFill>
                  <a:schemeClr val="accent1"/>
                </a:solidFill>
              </a:defRPr>
            </a:lvl4pPr>
            <a:lvl5pPr marL="3047924" lvl="4" indent="-457189" algn="ctr">
              <a:spcBef>
                <a:spcPts val="2133"/>
              </a:spcBef>
              <a:spcAft>
                <a:spcPts val="0"/>
              </a:spcAft>
              <a:buClr>
                <a:schemeClr val="accent1"/>
              </a:buClr>
              <a:buSzPts val="1800"/>
              <a:buChar char="○"/>
              <a:defRPr sz="2400">
                <a:solidFill>
                  <a:schemeClr val="accent1"/>
                </a:solidFill>
              </a:defRPr>
            </a:lvl5pPr>
            <a:lvl6pPr marL="3657509" lvl="5" indent="-457189" algn="ctr">
              <a:spcBef>
                <a:spcPts val="2133"/>
              </a:spcBef>
              <a:spcAft>
                <a:spcPts val="0"/>
              </a:spcAft>
              <a:buClr>
                <a:schemeClr val="accent1"/>
              </a:buClr>
              <a:buSzPts val="1800"/>
              <a:buChar char="■"/>
              <a:defRPr sz="2400">
                <a:solidFill>
                  <a:schemeClr val="accent1"/>
                </a:solidFill>
              </a:defRPr>
            </a:lvl6pPr>
            <a:lvl7pPr marL="4267093" lvl="6" indent="-457189" algn="ctr">
              <a:spcBef>
                <a:spcPts val="2133"/>
              </a:spcBef>
              <a:spcAft>
                <a:spcPts val="0"/>
              </a:spcAft>
              <a:buClr>
                <a:schemeClr val="accent1"/>
              </a:buClr>
              <a:buSzPts val="1800"/>
              <a:buChar char="●"/>
              <a:defRPr sz="2400">
                <a:solidFill>
                  <a:schemeClr val="accent1"/>
                </a:solidFill>
              </a:defRPr>
            </a:lvl7pPr>
            <a:lvl8pPr marL="4876678" lvl="7" indent="-457189" algn="ctr">
              <a:spcBef>
                <a:spcPts val="2133"/>
              </a:spcBef>
              <a:spcAft>
                <a:spcPts val="0"/>
              </a:spcAft>
              <a:buClr>
                <a:schemeClr val="accent1"/>
              </a:buClr>
              <a:buSzPts val="1800"/>
              <a:buChar char="○"/>
              <a:defRPr sz="2400">
                <a:solidFill>
                  <a:schemeClr val="accent1"/>
                </a:solidFill>
              </a:defRPr>
            </a:lvl8pPr>
            <a:lvl9pPr marL="5486263" lvl="8" indent="-457189" algn="ctr">
              <a:spcBef>
                <a:spcPts val="2133"/>
              </a:spcBef>
              <a:spcAft>
                <a:spcPts val="2133"/>
              </a:spcAft>
              <a:buClr>
                <a:schemeClr val="accent1"/>
              </a:buClr>
              <a:buSzPts val="1800"/>
              <a:buChar char="■"/>
              <a:defRPr sz="2400">
                <a:solidFill>
                  <a:schemeClr val="accent1"/>
                </a:solidFill>
              </a:defRPr>
            </a:lvl9pPr>
          </a:lstStyle>
          <a:p>
            <a:endParaRPr/>
          </a:p>
        </p:txBody>
      </p:sp>
    </p:spTree>
    <p:extLst>
      <p:ext uri="{BB962C8B-B14F-4D97-AF65-F5344CB8AC3E}">
        <p14:creationId xmlns:p14="http://schemas.microsoft.com/office/powerpoint/2010/main" val="3746317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0"/>
        <p:cNvGrpSpPr/>
        <p:nvPr/>
      </p:nvGrpSpPr>
      <p:grpSpPr>
        <a:xfrm>
          <a:off x="0" y="0"/>
          <a:ext cx="0" cy="0"/>
          <a:chOff x="0" y="0"/>
          <a:chExt cx="0" cy="0"/>
        </a:xfrm>
      </p:grpSpPr>
    </p:spTree>
    <p:extLst>
      <p:ext uri="{BB962C8B-B14F-4D97-AF65-F5344CB8AC3E}">
        <p14:creationId xmlns:p14="http://schemas.microsoft.com/office/powerpoint/2010/main" val="27739509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 Bullet Points">
  <p:cSld name="Title + Bullet Points">
    <p:bg>
      <p:bgPr>
        <a:blipFill>
          <a:blip r:embed="rId2">
            <a:alphaModFix/>
          </a:blip>
          <a:stretch>
            <a:fillRect/>
          </a:stretch>
        </a:blipFill>
        <a:effectLst/>
      </p:bgPr>
    </p:bg>
    <p:spTree>
      <p:nvGrpSpPr>
        <p:cNvPr id="1" name="Shape 41"/>
        <p:cNvGrpSpPr/>
        <p:nvPr/>
      </p:nvGrpSpPr>
      <p:grpSpPr>
        <a:xfrm>
          <a:off x="0" y="0"/>
          <a:ext cx="0" cy="0"/>
          <a:chOff x="0" y="0"/>
          <a:chExt cx="0" cy="0"/>
        </a:xfrm>
      </p:grpSpPr>
      <p:sp>
        <p:nvSpPr>
          <p:cNvPr id="42" name="Google Shape;42;p13"/>
          <p:cNvSpPr txBox="1">
            <a:spLocks noGrp="1"/>
          </p:cNvSpPr>
          <p:nvPr>
            <p:ph type="title"/>
          </p:nvPr>
        </p:nvSpPr>
        <p:spPr>
          <a:xfrm>
            <a:off x="1251333" y="593367"/>
            <a:ext cx="7647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43" name="Google Shape;43;p13"/>
          <p:cNvSpPr txBox="1">
            <a:spLocks noGrp="1"/>
          </p:cNvSpPr>
          <p:nvPr>
            <p:ph type="body" idx="1"/>
          </p:nvPr>
        </p:nvSpPr>
        <p:spPr>
          <a:xfrm>
            <a:off x="1251333" y="1661367"/>
            <a:ext cx="9562800" cy="4053200"/>
          </a:xfrm>
          <a:prstGeom prst="rect">
            <a:avLst/>
          </a:prstGeom>
        </p:spPr>
        <p:txBody>
          <a:bodyPr spcFirstLastPara="1" wrap="square" lIns="91425" tIns="91425" rIns="91425" bIns="91425" anchor="t" anchorCtr="0">
            <a:noAutofit/>
          </a:bodyPr>
          <a:lstStyle>
            <a:lvl1pPr marL="609585" lvl="0" indent="-402157" rtl="0">
              <a:spcBef>
                <a:spcPts val="0"/>
              </a:spcBef>
              <a:spcAft>
                <a:spcPts val="0"/>
              </a:spcAft>
              <a:buClr>
                <a:schemeClr val="lt1"/>
              </a:buClr>
              <a:buSzPts val="1150"/>
              <a:buChar char="●"/>
              <a:defRPr sz="1533">
                <a:solidFill>
                  <a:schemeClr val="lt1"/>
                </a:solidFill>
              </a:defRPr>
            </a:lvl1pPr>
            <a:lvl2pPr marL="1219170" lvl="1" indent="-402157" rtl="0">
              <a:spcBef>
                <a:spcPts val="2133"/>
              </a:spcBef>
              <a:spcAft>
                <a:spcPts val="0"/>
              </a:spcAft>
              <a:buClr>
                <a:schemeClr val="lt1"/>
              </a:buClr>
              <a:buSzPts val="1150"/>
              <a:buChar char="○"/>
              <a:defRPr sz="1533">
                <a:solidFill>
                  <a:schemeClr val="lt1"/>
                </a:solidFill>
              </a:defRPr>
            </a:lvl2pPr>
            <a:lvl3pPr marL="1828754" lvl="2" indent="-402157" rtl="0">
              <a:spcBef>
                <a:spcPts val="2133"/>
              </a:spcBef>
              <a:spcAft>
                <a:spcPts val="0"/>
              </a:spcAft>
              <a:buClr>
                <a:schemeClr val="lt1"/>
              </a:buClr>
              <a:buSzPts val="1150"/>
              <a:buChar char="■"/>
              <a:defRPr sz="1533">
                <a:solidFill>
                  <a:schemeClr val="lt1"/>
                </a:solidFill>
              </a:defRPr>
            </a:lvl3pPr>
            <a:lvl4pPr marL="2438339" lvl="3" indent="-402157" rtl="0">
              <a:spcBef>
                <a:spcPts val="2133"/>
              </a:spcBef>
              <a:spcAft>
                <a:spcPts val="0"/>
              </a:spcAft>
              <a:buClr>
                <a:schemeClr val="lt1"/>
              </a:buClr>
              <a:buSzPts val="1150"/>
              <a:buChar char="●"/>
              <a:defRPr sz="1533">
                <a:solidFill>
                  <a:schemeClr val="lt1"/>
                </a:solidFill>
              </a:defRPr>
            </a:lvl4pPr>
            <a:lvl5pPr marL="3047924" lvl="4" indent="-402157" rtl="0">
              <a:spcBef>
                <a:spcPts val="2133"/>
              </a:spcBef>
              <a:spcAft>
                <a:spcPts val="0"/>
              </a:spcAft>
              <a:buClr>
                <a:schemeClr val="lt1"/>
              </a:buClr>
              <a:buSzPts val="1150"/>
              <a:buChar char="○"/>
              <a:defRPr sz="1533">
                <a:solidFill>
                  <a:schemeClr val="lt1"/>
                </a:solidFill>
              </a:defRPr>
            </a:lvl5pPr>
            <a:lvl6pPr marL="3657509" lvl="5" indent="-402157" rtl="0">
              <a:spcBef>
                <a:spcPts val="2133"/>
              </a:spcBef>
              <a:spcAft>
                <a:spcPts val="0"/>
              </a:spcAft>
              <a:buClr>
                <a:schemeClr val="lt1"/>
              </a:buClr>
              <a:buSzPts val="1150"/>
              <a:buChar char="■"/>
              <a:defRPr sz="1533">
                <a:solidFill>
                  <a:schemeClr val="lt1"/>
                </a:solidFill>
              </a:defRPr>
            </a:lvl6pPr>
            <a:lvl7pPr marL="4267093" lvl="6" indent="-402157" rtl="0">
              <a:spcBef>
                <a:spcPts val="2133"/>
              </a:spcBef>
              <a:spcAft>
                <a:spcPts val="0"/>
              </a:spcAft>
              <a:buClr>
                <a:schemeClr val="lt1"/>
              </a:buClr>
              <a:buSzPts val="1150"/>
              <a:buChar char="●"/>
              <a:defRPr sz="1533">
                <a:solidFill>
                  <a:schemeClr val="lt1"/>
                </a:solidFill>
              </a:defRPr>
            </a:lvl7pPr>
            <a:lvl8pPr marL="4876678" lvl="7" indent="-402157" rtl="0">
              <a:spcBef>
                <a:spcPts val="2133"/>
              </a:spcBef>
              <a:spcAft>
                <a:spcPts val="0"/>
              </a:spcAft>
              <a:buClr>
                <a:schemeClr val="lt1"/>
              </a:buClr>
              <a:buSzPts val="1150"/>
              <a:buChar char="○"/>
              <a:defRPr sz="1533">
                <a:solidFill>
                  <a:schemeClr val="lt1"/>
                </a:solidFill>
              </a:defRPr>
            </a:lvl8pPr>
            <a:lvl9pPr marL="5486263" lvl="8" indent="-402157" rtl="0">
              <a:spcBef>
                <a:spcPts val="2133"/>
              </a:spcBef>
              <a:spcAft>
                <a:spcPts val="2133"/>
              </a:spcAft>
              <a:buClr>
                <a:schemeClr val="lt1"/>
              </a:buClr>
              <a:buSzPts val="1150"/>
              <a:buChar char="■"/>
              <a:defRPr sz="1533">
                <a:solidFill>
                  <a:schemeClr val="lt1"/>
                </a:solidFill>
              </a:defRPr>
            </a:lvl9pPr>
          </a:lstStyle>
          <a:p>
            <a:endParaRPr/>
          </a:p>
        </p:txBody>
      </p:sp>
    </p:spTree>
    <p:extLst>
      <p:ext uri="{BB962C8B-B14F-4D97-AF65-F5344CB8AC3E}">
        <p14:creationId xmlns:p14="http://schemas.microsoft.com/office/powerpoint/2010/main" val="24346256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able of contents">
  <p:cSld name="Table of contents">
    <p:bg>
      <p:bgPr>
        <a:blipFill>
          <a:blip r:embed="rId2">
            <a:alphaModFix/>
          </a:blip>
          <a:stretch>
            <a:fillRect/>
          </a:stretch>
        </a:blipFill>
        <a:effectLst/>
      </p:bgPr>
    </p:bg>
    <p:spTree>
      <p:nvGrpSpPr>
        <p:cNvPr id="1" name="Shape 44"/>
        <p:cNvGrpSpPr/>
        <p:nvPr/>
      </p:nvGrpSpPr>
      <p:grpSpPr>
        <a:xfrm>
          <a:off x="0" y="0"/>
          <a:ext cx="0" cy="0"/>
          <a:chOff x="0" y="0"/>
          <a:chExt cx="0" cy="0"/>
        </a:xfrm>
      </p:grpSpPr>
      <p:sp>
        <p:nvSpPr>
          <p:cNvPr id="45" name="Google Shape;45;p14"/>
          <p:cNvSpPr txBox="1">
            <a:spLocks noGrp="1"/>
          </p:cNvSpPr>
          <p:nvPr>
            <p:ph type="title"/>
          </p:nvPr>
        </p:nvSpPr>
        <p:spPr>
          <a:xfrm>
            <a:off x="4717996" y="3487433"/>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46" name="Google Shape;46;p14"/>
          <p:cNvSpPr txBox="1">
            <a:spLocks noGrp="1"/>
          </p:cNvSpPr>
          <p:nvPr>
            <p:ph type="subTitle" idx="1"/>
          </p:nvPr>
        </p:nvSpPr>
        <p:spPr>
          <a:xfrm>
            <a:off x="4717996" y="4197433"/>
            <a:ext cx="2756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47" name="Google Shape;47;p14"/>
          <p:cNvSpPr txBox="1">
            <a:spLocks noGrp="1"/>
          </p:cNvSpPr>
          <p:nvPr>
            <p:ph type="title" idx="2"/>
          </p:nvPr>
        </p:nvSpPr>
        <p:spPr>
          <a:xfrm>
            <a:off x="8038071" y="3487433"/>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48" name="Google Shape;48;p14"/>
          <p:cNvSpPr txBox="1">
            <a:spLocks noGrp="1"/>
          </p:cNvSpPr>
          <p:nvPr>
            <p:ph type="subTitle" idx="3"/>
          </p:nvPr>
        </p:nvSpPr>
        <p:spPr>
          <a:xfrm>
            <a:off x="8038071" y="4197433"/>
            <a:ext cx="2756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49" name="Google Shape;49;p14"/>
          <p:cNvSpPr txBox="1">
            <a:spLocks noGrp="1"/>
          </p:cNvSpPr>
          <p:nvPr>
            <p:ph type="title" idx="4"/>
          </p:nvPr>
        </p:nvSpPr>
        <p:spPr>
          <a:xfrm>
            <a:off x="1397929" y="3487433"/>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50" name="Google Shape;50;p14"/>
          <p:cNvSpPr txBox="1">
            <a:spLocks noGrp="1"/>
          </p:cNvSpPr>
          <p:nvPr>
            <p:ph type="subTitle" idx="5"/>
          </p:nvPr>
        </p:nvSpPr>
        <p:spPr>
          <a:xfrm>
            <a:off x="1397929" y="4197433"/>
            <a:ext cx="2756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51" name="Google Shape;51;p14"/>
          <p:cNvSpPr txBox="1">
            <a:spLocks noGrp="1"/>
          </p:cNvSpPr>
          <p:nvPr>
            <p:ph type="title" idx="6" hasCustomPrompt="1"/>
          </p:nvPr>
        </p:nvSpPr>
        <p:spPr>
          <a:xfrm>
            <a:off x="1397933" y="2360933"/>
            <a:ext cx="2756000" cy="965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3600"/>
              <a:buNone/>
              <a:defRPr sz="4800">
                <a:solidFill>
                  <a:schemeClr val="lt2"/>
                </a:solidFill>
              </a:defRPr>
            </a:lvl1pPr>
            <a:lvl2pPr lvl="1" algn="ctr" rtl="0">
              <a:spcBef>
                <a:spcPts val="0"/>
              </a:spcBef>
              <a:spcAft>
                <a:spcPts val="0"/>
              </a:spcAft>
              <a:buClr>
                <a:schemeClr val="lt2"/>
              </a:buClr>
              <a:buSzPts val="3600"/>
              <a:buNone/>
              <a:defRPr sz="4800">
                <a:solidFill>
                  <a:schemeClr val="lt2"/>
                </a:solidFill>
              </a:defRPr>
            </a:lvl2pPr>
            <a:lvl3pPr lvl="2" algn="ctr" rtl="0">
              <a:spcBef>
                <a:spcPts val="0"/>
              </a:spcBef>
              <a:spcAft>
                <a:spcPts val="0"/>
              </a:spcAft>
              <a:buClr>
                <a:schemeClr val="lt2"/>
              </a:buClr>
              <a:buSzPts val="3600"/>
              <a:buNone/>
              <a:defRPr sz="4800">
                <a:solidFill>
                  <a:schemeClr val="lt2"/>
                </a:solidFill>
              </a:defRPr>
            </a:lvl3pPr>
            <a:lvl4pPr lvl="3" algn="ctr" rtl="0">
              <a:spcBef>
                <a:spcPts val="0"/>
              </a:spcBef>
              <a:spcAft>
                <a:spcPts val="0"/>
              </a:spcAft>
              <a:buClr>
                <a:schemeClr val="lt2"/>
              </a:buClr>
              <a:buSzPts val="3600"/>
              <a:buNone/>
              <a:defRPr sz="4800">
                <a:solidFill>
                  <a:schemeClr val="lt2"/>
                </a:solidFill>
              </a:defRPr>
            </a:lvl4pPr>
            <a:lvl5pPr lvl="4" algn="ctr" rtl="0">
              <a:spcBef>
                <a:spcPts val="0"/>
              </a:spcBef>
              <a:spcAft>
                <a:spcPts val="0"/>
              </a:spcAft>
              <a:buClr>
                <a:schemeClr val="lt2"/>
              </a:buClr>
              <a:buSzPts val="3600"/>
              <a:buNone/>
              <a:defRPr sz="4800">
                <a:solidFill>
                  <a:schemeClr val="lt2"/>
                </a:solidFill>
              </a:defRPr>
            </a:lvl5pPr>
            <a:lvl6pPr lvl="5" algn="ctr" rtl="0">
              <a:spcBef>
                <a:spcPts val="0"/>
              </a:spcBef>
              <a:spcAft>
                <a:spcPts val="0"/>
              </a:spcAft>
              <a:buClr>
                <a:schemeClr val="lt2"/>
              </a:buClr>
              <a:buSzPts val="3600"/>
              <a:buNone/>
              <a:defRPr sz="4800">
                <a:solidFill>
                  <a:schemeClr val="lt2"/>
                </a:solidFill>
              </a:defRPr>
            </a:lvl6pPr>
            <a:lvl7pPr lvl="6" algn="ctr" rtl="0">
              <a:spcBef>
                <a:spcPts val="0"/>
              </a:spcBef>
              <a:spcAft>
                <a:spcPts val="0"/>
              </a:spcAft>
              <a:buClr>
                <a:schemeClr val="lt2"/>
              </a:buClr>
              <a:buSzPts val="3600"/>
              <a:buNone/>
              <a:defRPr sz="4800">
                <a:solidFill>
                  <a:schemeClr val="lt2"/>
                </a:solidFill>
              </a:defRPr>
            </a:lvl7pPr>
            <a:lvl8pPr lvl="7" algn="ctr" rtl="0">
              <a:spcBef>
                <a:spcPts val="0"/>
              </a:spcBef>
              <a:spcAft>
                <a:spcPts val="0"/>
              </a:spcAft>
              <a:buClr>
                <a:schemeClr val="lt2"/>
              </a:buClr>
              <a:buSzPts val="3600"/>
              <a:buNone/>
              <a:defRPr sz="4800">
                <a:solidFill>
                  <a:schemeClr val="lt2"/>
                </a:solidFill>
              </a:defRPr>
            </a:lvl8pPr>
            <a:lvl9pPr lvl="8" algn="ctr" rtl="0">
              <a:spcBef>
                <a:spcPts val="0"/>
              </a:spcBef>
              <a:spcAft>
                <a:spcPts val="0"/>
              </a:spcAft>
              <a:buClr>
                <a:schemeClr val="lt2"/>
              </a:buClr>
              <a:buSzPts val="3600"/>
              <a:buNone/>
              <a:defRPr sz="4800">
                <a:solidFill>
                  <a:schemeClr val="lt2"/>
                </a:solidFill>
              </a:defRPr>
            </a:lvl9pPr>
          </a:lstStyle>
          <a:p>
            <a:r>
              <a:t>xx%</a:t>
            </a:r>
          </a:p>
        </p:txBody>
      </p:sp>
      <p:sp>
        <p:nvSpPr>
          <p:cNvPr id="52" name="Google Shape;52;p14"/>
          <p:cNvSpPr txBox="1">
            <a:spLocks noGrp="1"/>
          </p:cNvSpPr>
          <p:nvPr>
            <p:ph type="title" idx="7" hasCustomPrompt="1"/>
          </p:nvPr>
        </p:nvSpPr>
        <p:spPr>
          <a:xfrm>
            <a:off x="4718000" y="2360933"/>
            <a:ext cx="2756000" cy="965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3600"/>
              <a:buNone/>
              <a:defRPr sz="4800">
                <a:solidFill>
                  <a:schemeClr val="lt2"/>
                </a:solidFill>
              </a:defRPr>
            </a:lvl1pPr>
            <a:lvl2pPr lvl="1" algn="ctr" rtl="0">
              <a:spcBef>
                <a:spcPts val="0"/>
              </a:spcBef>
              <a:spcAft>
                <a:spcPts val="0"/>
              </a:spcAft>
              <a:buClr>
                <a:schemeClr val="lt2"/>
              </a:buClr>
              <a:buSzPts val="3600"/>
              <a:buNone/>
              <a:defRPr sz="4800">
                <a:solidFill>
                  <a:schemeClr val="lt2"/>
                </a:solidFill>
              </a:defRPr>
            </a:lvl2pPr>
            <a:lvl3pPr lvl="2" algn="ctr" rtl="0">
              <a:spcBef>
                <a:spcPts val="0"/>
              </a:spcBef>
              <a:spcAft>
                <a:spcPts val="0"/>
              </a:spcAft>
              <a:buClr>
                <a:schemeClr val="lt2"/>
              </a:buClr>
              <a:buSzPts val="3600"/>
              <a:buNone/>
              <a:defRPr sz="4800">
                <a:solidFill>
                  <a:schemeClr val="lt2"/>
                </a:solidFill>
              </a:defRPr>
            </a:lvl3pPr>
            <a:lvl4pPr lvl="3" algn="ctr" rtl="0">
              <a:spcBef>
                <a:spcPts val="0"/>
              </a:spcBef>
              <a:spcAft>
                <a:spcPts val="0"/>
              </a:spcAft>
              <a:buClr>
                <a:schemeClr val="lt2"/>
              </a:buClr>
              <a:buSzPts val="3600"/>
              <a:buNone/>
              <a:defRPr sz="4800">
                <a:solidFill>
                  <a:schemeClr val="lt2"/>
                </a:solidFill>
              </a:defRPr>
            </a:lvl4pPr>
            <a:lvl5pPr lvl="4" algn="ctr" rtl="0">
              <a:spcBef>
                <a:spcPts val="0"/>
              </a:spcBef>
              <a:spcAft>
                <a:spcPts val="0"/>
              </a:spcAft>
              <a:buClr>
                <a:schemeClr val="lt2"/>
              </a:buClr>
              <a:buSzPts val="3600"/>
              <a:buNone/>
              <a:defRPr sz="4800">
                <a:solidFill>
                  <a:schemeClr val="lt2"/>
                </a:solidFill>
              </a:defRPr>
            </a:lvl5pPr>
            <a:lvl6pPr lvl="5" algn="ctr" rtl="0">
              <a:spcBef>
                <a:spcPts val="0"/>
              </a:spcBef>
              <a:spcAft>
                <a:spcPts val="0"/>
              </a:spcAft>
              <a:buClr>
                <a:schemeClr val="lt2"/>
              </a:buClr>
              <a:buSzPts val="3600"/>
              <a:buNone/>
              <a:defRPr sz="4800">
                <a:solidFill>
                  <a:schemeClr val="lt2"/>
                </a:solidFill>
              </a:defRPr>
            </a:lvl6pPr>
            <a:lvl7pPr lvl="6" algn="ctr" rtl="0">
              <a:spcBef>
                <a:spcPts val="0"/>
              </a:spcBef>
              <a:spcAft>
                <a:spcPts val="0"/>
              </a:spcAft>
              <a:buClr>
                <a:schemeClr val="lt2"/>
              </a:buClr>
              <a:buSzPts val="3600"/>
              <a:buNone/>
              <a:defRPr sz="4800">
                <a:solidFill>
                  <a:schemeClr val="lt2"/>
                </a:solidFill>
              </a:defRPr>
            </a:lvl7pPr>
            <a:lvl8pPr lvl="7" algn="ctr" rtl="0">
              <a:spcBef>
                <a:spcPts val="0"/>
              </a:spcBef>
              <a:spcAft>
                <a:spcPts val="0"/>
              </a:spcAft>
              <a:buClr>
                <a:schemeClr val="lt2"/>
              </a:buClr>
              <a:buSzPts val="3600"/>
              <a:buNone/>
              <a:defRPr sz="4800">
                <a:solidFill>
                  <a:schemeClr val="lt2"/>
                </a:solidFill>
              </a:defRPr>
            </a:lvl8pPr>
            <a:lvl9pPr lvl="8" algn="ctr" rtl="0">
              <a:spcBef>
                <a:spcPts val="0"/>
              </a:spcBef>
              <a:spcAft>
                <a:spcPts val="0"/>
              </a:spcAft>
              <a:buClr>
                <a:schemeClr val="lt2"/>
              </a:buClr>
              <a:buSzPts val="3600"/>
              <a:buNone/>
              <a:defRPr sz="4800">
                <a:solidFill>
                  <a:schemeClr val="lt2"/>
                </a:solidFill>
              </a:defRPr>
            </a:lvl9pPr>
          </a:lstStyle>
          <a:p>
            <a:r>
              <a:t>xx%</a:t>
            </a:r>
          </a:p>
        </p:txBody>
      </p:sp>
      <p:sp>
        <p:nvSpPr>
          <p:cNvPr id="53" name="Google Shape;53;p14"/>
          <p:cNvSpPr txBox="1">
            <a:spLocks noGrp="1"/>
          </p:cNvSpPr>
          <p:nvPr>
            <p:ph type="title" idx="8" hasCustomPrompt="1"/>
          </p:nvPr>
        </p:nvSpPr>
        <p:spPr>
          <a:xfrm>
            <a:off x="8038067" y="2360933"/>
            <a:ext cx="2756000" cy="965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3600"/>
              <a:buNone/>
              <a:defRPr sz="4800">
                <a:solidFill>
                  <a:schemeClr val="lt2"/>
                </a:solidFill>
              </a:defRPr>
            </a:lvl1pPr>
            <a:lvl2pPr lvl="1" algn="ctr" rtl="0">
              <a:spcBef>
                <a:spcPts val="0"/>
              </a:spcBef>
              <a:spcAft>
                <a:spcPts val="0"/>
              </a:spcAft>
              <a:buClr>
                <a:schemeClr val="lt2"/>
              </a:buClr>
              <a:buSzPts val="3600"/>
              <a:buNone/>
              <a:defRPr sz="4800">
                <a:solidFill>
                  <a:schemeClr val="lt2"/>
                </a:solidFill>
              </a:defRPr>
            </a:lvl2pPr>
            <a:lvl3pPr lvl="2" algn="ctr" rtl="0">
              <a:spcBef>
                <a:spcPts val="0"/>
              </a:spcBef>
              <a:spcAft>
                <a:spcPts val="0"/>
              </a:spcAft>
              <a:buClr>
                <a:schemeClr val="lt2"/>
              </a:buClr>
              <a:buSzPts val="3600"/>
              <a:buNone/>
              <a:defRPr sz="4800">
                <a:solidFill>
                  <a:schemeClr val="lt2"/>
                </a:solidFill>
              </a:defRPr>
            </a:lvl3pPr>
            <a:lvl4pPr lvl="3" algn="ctr" rtl="0">
              <a:spcBef>
                <a:spcPts val="0"/>
              </a:spcBef>
              <a:spcAft>
                <a:spcPts val="0"/>
              </a:spcAft>
              <a:buClr>
                <a:schemeClr val="lt2"/>
              </a:buClr>
              <a:buSzPts val="3600"/>
              <a:buNone/>
              <a:defRPr sz="4800">
                <a:solidFill>
                  <a:schemeClr val="lt2"/>
                </a:solidFill>
              </a:defRPr>
            </a:lvl4pPr>
            <a:lvl5pPr lvl="4" algn="ctr" rtl="0">
              <a:spcBef>
                <a:spcPts val="0"/>
              </a:spcBef>
              <a:spcAft>
                <a:spcPts val="0"/>
              </a:spcAft>
              <a:buClr>
                <a:schemeClr val="lt2"/>
              </a:buClr>
              <a:buSzPts val="3600"/>
              <a:buNone/>
              <a:defRPr sz="4800">
                <a:solidFill>
                  <a:schemeClr val="lt2"/>
                </a:solidFill>
              </a:defRPr>
            </a:lvl5pPr>
            <a:lvl6pPr lvl="5" algn="ctr" rtl="0">
              <a:spcBef>
                <a:spcPts val="0"/>
              </a:spcBef>
              <a:spcAft>
                <a:spcPts val="0"/>
              </a:spcAft>
              <a:buClr>
                <a:schemeClr val="lt2"/>
              </a:buClr>
              <a:buSzPts val="3600"/>
              <a:buNone/>
              <a:defRPr sz="4800">
                <a:solidFill>
                  <a:schemeClr val="lt2"/>
                </a:solidFill>
              </a:defRPr>
            </a:lvl6pPr>
            <a:lvl7pPr lvl="6" algn="ctr" rtl="0">
              <a:spcBef>
                <a:spcPts val="0"/>
              </a:spcBef>
              <a:spcAft>
                <a:spcPts val="0"/>
              </a:spcAft>
              <a:buClr>
                <a:schemeClr val="lt2"/>
              </a:buClr>
              <a:buSzPts val="3600"/>
              <a:buNone/>
              <a:defRPr sz="4800">
                <a:solidFill>
                  <a:schemeClr val="lt2"/>
                </a:solidFill>
              </a:defRPr>
            </a:lvl7pPr>
            <a:lvl8pPr lvl="7" algn="ctr" rtl="0">
              <a:spcBef>
                <a:spcPts val="0"/>
              </a:spcBef>
              <a:spcAft>
                <a:spcPts val="0"/>
              </a:spcAft>
              <a:buClr>
                <a:schemeClr val="lt2"/>
              </a:buClr>
              <a:buSzPts val="3600"/>
              <a:buNone/>
              <a:defRPr sz="4800">
                <a:solidFill>
                  <a:schemeClr val="lt2"/>
                </a:solidFill>
              </a:defRPr>
            </a:lvl8pPr>
            <a:lvl9pPr lvl="8" algn="ctr" rtl="0">
              <a:spcBef>
                <a:spcPts val="0"/>
              </a:spcBef>
              <a:spcAft>
                <a:spcPts val="0"/>
              </a:spcAft>
              <a:buClr>
                <a:schemeClr val="lt2"/>
              </a:buClr>
              <a:buSzPts val="3600"/>
              <a:buNone/>
              <a:defRPr sz="4800">
                <a:solidFill>
                  <a:schemeClr val="lt2"/>
                </a:solidFill>
              </a:defRPr>
            </a:lvl9pPr>
          </a:lstStyle>
          <a:p>
            <a:r>
              <a:t>xx%</a:t>
            </a:r>
          </a:p>
        </p:txBody>
      </p:sp>
    </p:spTree>
    <p:extLst>
      <p:ext uri="{BB962C8B-B14F-4D97-AF65-F5344CB8AC3E}">
        <p14:creationId xmlns:p14="http://schemas.microsoft.com/office/powerpoint/2010/main" val="14507095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ig Text">
  <p:cSld name="Big Text">
    <p:bg>
      <p:bgPr>
        <a:blipFill>
          <a:blip r:embed="rId2">
            <a:alphaModFix/>
          </a:blip>
          <a:stretch>
            <a:fillRect/>
          </a:stretch>
        </a:blipFill>
        <a:effectLst/>
      </p:bgPr>
    </p:bg>
    <p:spTree>
      <p:nvGrpSpPr>
        <p:cNvPr id="1" name="Shape 54"/>
        <p:cNvGrpSpPr/>
        <p:nvPr/>
      </p:nvGrpSpPr>
      <p:grpSpPr>
        <a:xfrm>
          <a:off x="0" y="0"/>
          <a:ext cx="0" cy="0"/>
          <a:chOff x="0" y="0"/>
          <a:chExt cx="0" cy="0"/>
        </a:xfrm>
      </p:grpSpPr>
      <p:sp>
        <p:nvSpPr>
          <p:cNvPr id="55" name="Google Shape;55;p15"/>
          <p:cNvSpPr txBox="1">
            <a:spLocks noGrp="1"/>
          </p:cNvSpPr>
          <p:nvPr>
            <p:ph type="ctrTitle"/>
          </p:nvPr>
        </p:nvSpPr>
        <p:spPr>
          <a:xfrm>
            <a:off x="5714000" y="3777167"/>
            <a:ext cx="4876400" cy="859600"/>
          </a:xfrm>
          <a:prstGeom prst="rect">
            <a:avLst/>
          </a:prstGeom>
          <a:effectLst>
            <a:outerShdw blurRad="57150" dist="19050" dir="5400000" algn="bl" rotWithShape="0">
              <a:srgbClr val="76A5AF">
                <a:alpha val="88000"/>
              </a:srgbClr>
            </a:outerShdw>
          </a:effectLst>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8000" b="1">
                <a:solidFill>
                  <a:schemeClr val="lt1"/>
                </a:solidFill>
              </a:defRPr>
            </a:lvl1pPr>
            <a:lvl2pPr lvl="1" algn="ctr" rtl="0">
              <a:spcBef>
                <a:spcPts val="0"/>
              </a:spcBef>
              <a:spcAft>
                <a:spcPts val="0"/>
              </a:spcAft>
              <a:buClr>
                <a:schemeClr val="lt1"/>
              </a:buClr>
              <a:buSzPts val="3600"/>
              <a:buNone/>
              <a:defRPr sz="4800" b="1">
                <a:solidFill>
                  <a:schemeClr val="lt1"/>
                </a:solidFill>
              </a:defRPr>
            </a:lvl2pPr>
            <a:lvl3pPr lvl="2" algn="ctr" rtl="0">
              <a:spcBef>
                <a:spcPts val="0"/>
              </a:spcBef>
              <a:spcAft>
                <a:spcPts val="0"/>
              </a:spcAft>
              <a:buClr>
                <a:schemeClr val="lt1"/>
              </a:buClr>
              <a:buSzPts val="3600"/>
              <a:buNone/>
              <a:defRPr sz="4800" b="1">
                <a:solidFill>
                  <a:schemeClr val="lt1"/>
                </a:solidFill>
              </a:defRPr>
            </a:lvl3pPr>
            <a:lvl4pPr lvl="3" algn="ctr" rtl="0">
              <a:spcBef>
                <a:spcPts val="0"/>
              </a:spcBef>
              <a:spcAft>
                <a:spcPts val="0"/>
              </a:spcAft>
              <a:buClr>
                <a:schemeClr val="lt1"/>
              </a:buClr>
              <a:buSzPts val="3600"/>
              <a:buNone/>
              <a:defRPr sz="4800" b="1">
                <a:solidFill>
                  <a:schemeClr val="lt1"/>
                </a:solidFill>
              </a:defRPr>
            </a:lvl4pPr>
            <a:lvl5pPr lvl="4" algn="ctr" rtl="0">
              <a:spcBef>
                <a:spcPts val="0"/>
              </a:spcBef>
              <a:spcAft>
                <a:spcPts val="0"/>
              </a:spcAft>
              <a:buClr>
                <a:schemeClr val="lt1"/>
              </a:buClr>
              <a:buSzPts val="3600"/>
              <a:buNone/>
              <a:defRPr sz="4800" b="1">
                <a:solidFill>
                  <a:schemeClr val="lt1"/>
                </a:solidFill>
              </a:defRPr>
            </a:lvl5pPr>
            <a:lvl6pPr lvl="5" algn="ctr" rtl="0">
              <a:spcBef>
                <a:spcPts val="0"/>
              </a:spcBef>
              <a:spcAft>
                <a:spcPts val="0"/>
              </a:spcAft>
              <a:buClr>
                <a:schemeClr val="lt1"/>
              </a:buClr>
              <a:buSzPts val="3600"/>
              <a:buNone/>
              <a:defRPr sz="4800" b="1">
                <a:solidFill>
                  <a:schemeClr val="lt1"/>
                </a:solidFill>
              </a:defRPr>
            </a:lvl6pPr>
            <a:lvl7pPr lvl="6" algn="ctr" rtl="0">
              <a:spcBef>
                <a:spcPts val="0"/>
              </a:spcBef>
              <a:spcAft>
                <a:spcPts val="0"/>
              </a:spcAft>
              <a:buClr>
                <a:schemeClr val="lt1"/>
              </a:buClr>
              <a:buSzPts val="3600"/>
              <a:buNone/>
              <a:defRPr sz="4800" b="1">
                <a:solidFill>
                  <a:schemeClr val="lt1"/>
                </a:solidFill>
              </a:defRPr>
            </a:lvl7pPr>
            <a:lvl8pPr lvl="7" algn="ctr" rtl="0">
              <a:spcBef>
                <a:spcPts val="0"/>
              </a:spcBef>
              <a:spcAft>
                <a:spcPts val="0"/>
              </a:spcAft>
              <a:buClr>
                <a:schemeClr val="lt1"/>
              </a:buClr>
              <a:buSzPts val="3600"/>
              <a:buNone/>
              <a:defRPr sz="4800" b="1">
                <a:solidFill>
                  <a:schemeClr val="lt1"/>
                </a:solidFill>
              </a:defRPr>
            </a:lvl8pPr>
            <a:lvl9pPr lvl="8" algn="ctr" rtl="0">
              <a:spcBef>
                <a:spcPts val="0"/>
              </a:spcBef>
              <a:spcAft>
                <a:spcPts val="0"/>
              </a:spcAft>
              <a:buClr>
                <a:schemeClr val="lt1"/>
              </a:buClr>
              <a:buSzPts val="3600"/>
              <a:buNone/>
              <a:defRPr sz="4800" b="1">
                <a:solidFill>
                  <a:schemeClr val="lt1"/>
                </a:solidFill>
              </a:defRPr>
            </a:lvl9pPr>
          </a:lstStyle>
          <a:p>
            <a:endParaRPr/>
          </a:p>
        </p:txBody>
      </p:sp>
      <p:sp>
        <p:nvSpPr>
          <p:cNvPr id="56" name="Google Shape;56;p15"/>
          <p:cNvSpPr txBox="1">
            <a:spLocks noGrp="1"/>
          </p:cNvSpPr>
          <p:nvPr>
            <p:ph type="subTitle" idx="1"/>
          </p:nvPr>
        </p:nvSpPr>
        <p:spPr>
          <a:xfrm>
            <a:off x="5525400" y="4733133"/>
            <a:ext cx="5253600" cy="61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867">
                <a:solidFill>
                  <a:schemeClr val="accent1"/>
                </a:solidFill>
              </a:defRPr>
            </a:lvl1pPr>
            <a:lvl2pPr lvl="1" algn="ctr" rtl="0">
              <a:lnSpc>
                <a:spcPct val="100000"/>
              </a:lnSpc>
              <a:spcBef>
                <a:spcPts val="0"/>
              </a:spcBef>
              <a:spcAft>
                <a:spcPts val="0"/>
              </a:spcAft>
              <a:buClr>
                <a:schemeClr val="lt1"/>
              </a:buClr>
              <a:buSzPts val="1800"/>
              <a:buNone/>
              <a:defRPr sz="2400">
                <a:solidFill>
                  <a:schemeClr val="lt1"/>
                </a:solidFill>
              </a:defRPr>
            </a:lvl2pPr>
            <a:lvl3pPr lvl="2" algn="ctr" rtl="0">
              <a:lnSpc>
                <a:spcPct val="100000"/>
              </a:lnSpc>
              <a:spcBef>
                <a:spcPts val="0"/>
              </a:spcBef>
              <a:spcAft>
                <a:spcPts val="0"/>
              </a:spcAft>
              <a:buClr>
                <a:schemeClr val="lt1"/>
              </a:buClr>
              <a:buSzPts val="1800"/>
              <a:buNone/>
              <a:defRPr sz="2400">
                <a:solidFill>
                  <a:schemeClr val="lt1"/>
                </a:solidFill>
              </a:defRPr>
            </a:lvl3pPr>
            <a:lvl4pPr lvl="3" algn="ctr" rtl="0">
              <a:lnSpc>
                <a:spcPct val="100000"/>
              </a:lnSpc>
              <a:spcBef>
                <a:spcPts val="0"/>
              </a:spcBef>
              <a:spcAft>
                <a:spcPts val="0"/>
              </a:spcAft>
              <a:buClr>
                <a:schemeClr val="lt1"/>
              </a:buClr>
              <a:buSzPts val="1800"/>
              <a:buNone/>
              <a:defRPr sz="2400">
                <a:solidFill>
                  <a:schemeClr val="lt1"/>
                </a:solidFill>
              </a:defRPr>
            </a:lvl4pPr>
            <a:lvl5pPr lvl="4" algn="ctr" rtl="0">
              <a:lnSpc>
                <a:spcPct val="100000"/>
              </a:lnSpc>
              <a:spcBef>
                <a:spcPts val="0"/>
              </a:spcBef>
              <a:spcAft>
                <a:spcPts val="0"/>
              </a:spcAft>
              <a:buClr>
                <a:schemeClr val="lt1"/>
              </a:buClr>
              <a:buSzPts val="1800"/>
              <a:buNone/>
              <a:defRPr sz="2400">
                <a:solidFill>
                  <a:schemeClr val="lt1"/>
                </a:solidFill>
              </a:defRPr>
            </a:lvl5pPr>
            <a:lvl6pPr lvl="5" algn="ctr" rtl="0">
              <a:lnSpc>
                <a:spcPct val="100000"/>
              </a:lnSpc>
              <a:spcBef>
                <a:spcPts val="0"/>
              </a:spcBef>
              <a:spcAft>
                <a:spcPts val="0"/>
              </a:spcAft>
              <a:buClr>
                <a:schemeClr val="lt1"/>
              </a:buClr>
              <a:buSzPts val="1800"/>
              <a:buNone/>
              <a:defRPr sz="2400">
                <a:solidFill>
                  <a:schemeClr val="lt1"/>
                </a:solidFill>
              </a:defRPr>
            </a:lvl6pPr>
            <a:lvl7pPr lvl="6" algn="ctr" rtl="0">
              <a:lnSpc>
                <a:spcPct val="100000"/>
              </a:lnSpc>
              <a:spcBef>
                <a:spcPts val="0"/>
              </a:spcBef>
              <a:spcAft>
                <a:spcPts val="0"/>
              </a:spcAft>
              <a:buClr>
                <a:schemeClr val="lt1"/>
              </a:buClr>
              <a:buSzPts val="1800"/>
              <a:buNone/>
              <a:defRPr sz="2400">
                <a:solidFill>
                  <a:schemeClr val="lt1"/>
                </a:solidFill>
              </a:defRPr>
            </a:lvl7pPr>
            <a:lvl8pPr lvl="7" algn="ctr" rtl="0">
              <a:lnSpc>
                <a:spcPct val="100000"/>
              </a:lnSpc>
              <a:spcBef>
                <a:spcPts val="0"/>
              </a:spcBef>
              <a:spcAft>
                <a:spcPts val="0"/>
              </a:spcAft>
              <a:buClr>
                <a:schemeClr val="lt1"/>
              </a:buClr>
              <a:buSzPts val="1800"/>
              <a:buNone/>
              <a:defRPr sz="2400">
                <a:solidFill>
                  <a:schemeClr val="lt1"/>
                </a:solidFill>
              </a:defRPr>
            </a:lvl8pPr>
            <a:lvl9pPr lvl="8" algn="ctr" rtl="0">
              <a:lnSpc>
                <a:spcPct val="100000"/>
              </a:lnSpc>
              <a:spcBef>
                <a:spcPts val="0"/>
              </a:spcBef>
              <a:spcAft>
                <a:spcPts val="0"/>
              </a:spcAft>
              <a:buClr>
                <a:schemeClr val="lt1"/>
              </a:buClr>
              <a:buSzPts val="1800"/>
              <a:buNone/>
              <a:defRPr sz="2400">
                <a:solidFill>
                  <a:schemeClr val="lt1"/>
                </a:solidFill>
              </a:defRPr>
            </a:lvl9pPr>
          </a:lstStyle>
          <a:p>
            <a:endParaRPr/>
          </a:p>
        </p:txBody>
      </p:sp>
    </p:spTree>
    <p:extLst>
      <p:ext uri="{BB962C8B-B14F-4D97-AF65-F5344CB8AC3E}">
        <p14:creationId xmlns:p14="http://schemas.microsoft.com/office/powerpoint/2010/main" val="11841597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Quote">
  <p:cSld name="Quote">
    <p:bg>
      <p:bgPr>
        <a:blipFill>
          <a:blip r:embed="rId2">
            <a:alphaModFix/>
          </a:blip>
          <a:stretch>
            <a:fillRect/>
          </a:stretch>
        </a:blipFill>
        <a:effectLst/>
      </p:bgPr>
    </p:bg>
    <p:spTree>
      <p:nvGrpSpPr>
        <p:cNvPr id="1" name="Shape 57"/>
        <p:cNvGrpSpPr/>
        <p:nvPr/>
      </p:nvGrpSpPr>
      <p:grpSpPr>
        <a:xfrm>
          <a:off x="0" y="0"/>
          <a:ext cx="0" cy="0"/>
          <a:chOff x="0" y="0"/>
          <a:chExt cx="0" cy="0"/>
        </a:xfrm>
      </p:grpSpPr>
      <p:sp>
        <p:nvSpPr>
          <p:cNvPr id="58" name="Google Shape;58;p16"/>
          <p:cNvSpPr txBox="1">
            <a:spLocks noGrp="1"/>
          </p:cNvSpPr>
          <p:nvPr>
            <p:ph type="ctrTitle"/>
          </p:nvPr>
        </p:nvSpPr>
        <p:spPr>
          <a:xfrm>
            <a:off x="2467367" y="1543900"/>
            <a:ext cx="7257200" cy="34708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3000"/>
              <a:buNone/>
              <a:defRPr sz="4000" b="1">
                <a:solidFill>
                  <a:schemeClr val="lt1"/>
                </a:solidFill>
              </a:defRPr>
            </a:lvl1pPr>
            <a:lvl2pPr lvl="1" algn="ctr" rtl="0">
              <a:spcBef>
                <a:spcPts val="0"/>
              </a:spcBef>
              <a:spcAft>
                <a:spcPts val="0"/>
              </a:spcAft>
              <a:buClr>
                <a:schemeClr val="lt1"/>
              </a:buClr>
              <a:buSzPts val="3000"/>
              <a:buNone/>
              <a:defRPr sz="4000" b="1">
                <a:solidFill>
                  <a:schemeClr val="lt1"/>
                </a:solidFill>
              </a:defRPr>
            </a:lvl2pPr>
            <a:lvl3pPr lvl="2" algn="ctr" rtl="0">
              <a:spcBef>
                <a:spcPts val="0"/>
              </a:spcBef>
              <a:spcAft>
                <a:spcPts val="0"/>
              </a:spcAft>
              <a:buClr>
                <a:schemeClr val="lt1"/>
              </a:buClr>
              <a:buSzPts val="3000"/>
              <a:buNone/>
              <a:defRPr sz="4000" b="1">
                <a:solidFill>
                  <a:schemeClr val="lt1"/>
                </a:solidFill>
              </a:defRPr>
            </a:lvl3pPr>
            <a:lvl4pPr lvl="3" algn="ctr" rtl="0">
              <a:spcBef>
                <a:spcPts val="0"/>
              </a:spcBef>
              <a:spcAft>
                <a:spcPts val="0"/>
              </a:spcAft>
              <a:buClr>
                <a:schemeClr val="lt1"/>
              </a:buClr>
              <a:buSzPts val="3000"/>
              <a:buNone/>
              <a:defRPr sz="4000" b="1">
                <a:solidFill>
                  <a:schemeClr val="lt1"/>
                </a:solidFill>
              </a:defRPr>
            </a:lvl4pPr>
            <a:lvl5pPr lvl="4" algn="ctr" rtl="0">
              <a:spcBef>
                <a:spcPts val="0"/>
              </a:spcBef>
              <a:spcAft>
                <a:spcPts val="0"/>
              </a:spcAft>
              <a:buClr>
                <a:schemeClr val="lt1"/>
              </a:buClr>
              <a:buSzPts val="3000"/>
              <a:buNone/>
              <a:defRPr sz="4000" b="1">
                <a:solidFill>
                  <a:schemeClr val="lt1"/>
                </a:solidFill>
              </a:defRPr>
            </a:lvl5pPr>
            <a:lvl6pPr lvl="5" algn="ctr" rtl="0">
              <a:spcBef>
                <a:spcPts val="0"/>
              </a:spcBef>
              <a:spcAft>
                <a:spcPts val="0"/>
              </a:spcAft>
              <a:buClr>
                <a:schemeClr val="lt1"/>
              </a:buClr>
              <a:buSzPts val="3000"/>
              <a:buNone/>
              <a:defRPr sz="4000" b="1">
                <a:solidFill>
                  <a:schemeClr val="lt1"/>
                </a:solidFill>
              </a:defRPr>
            </a:lvl6pPr>
            <a:lvl7pPr lvl="6" algn="ctr" rtl="0">
              <a:spcBef>
                <a:spcPts val="0"/>
              </a:spcBef>
              <a:spcAft>
                <a:spcPts val="0"/>
              </a:spcAft>
              <a:buClr>
                <a:schemeClr val="lt1"/>
              </a:buClr>
              <a:buSzPts val="3000"/>
              <a:buNone/>
              <a:defRPr sz="4000" b="1">
                <a:solidFill>
                  <a:schemeClr val="lt1"/>
                </a:solidFill>
              </a:defRPr>
            </a:lvl7pPr>
            <a:lvl8pPr lvl="7" algn="ctr" rtl="0">
              <a:spcBef>
                <a:spcPts val="0"/>
              </a:spcBef>
              <a:spcAft>
                <a:spcPts val="0"/>
              </a:spcAft>
              <a:buClr>
                <a:schemeClr val="lt1"/>
              </a:buClr>
              <a:buSzPts val="3000"/>
              <a:buNone/>
              <a:defRPr sz="4000" b="1">
                <a:solidFill>
                  <a:schemeClr val="lt1"/>
                </a:solidFill>
              </a:defRPr>
            </a:lvl8pPr>
            <a:lvl9pPr lvl="8" algn="ctr" rtl="0">
              <a:spcBef>
                <a:spcPts val="0"/>
              </a:spcBef>
              <a:spcAft>
                <a:spcPts val="0"/>
              </a:spcAft>
              <a:buClr>
                <a:schemeClr val="lt1"/>
              </a:buClr>
              <a:buSzPts val="3000"/>
              <a:buNone/>
              <a:defRPr sz="4000" b="1">
                <a:solidFill>
                  <a:schemeClr val="lt1"/>
                </a:solidFill>
              </a:defRPr>
            </a:lvl9pPr>
          </a:lstStyle>
          <a:p>
            <a:endParaRPr/>
          </a:p>
        </p:txBody>
      </p:sp>
      <p:sp>
        <p:nvSpPr>
          <p:cNvPr id="59" name="Google Shape;59;p16"/>
          <p:cNvSpPr txBox="1">
            <a:spLocks noGrp="1"/>
          </p:cNvSpPr>
          <p:nvPr>
            <p:ph type="subTitle" idx="1"/>
          </p:nvPr>
        </p:nvSpPr>
        <p:spPr>
          <a:xfrm>
            <a:off x="3309200" y="5260800"/>
            <a:ext cx="5573600" cy="61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867">
                <a:solidFill>
                  <a:schemeClr val="accent1"/>
                </a:solidFill>
              </a:defRPr>
            </a:lvl1pPr>
            <a:lvl2pPr lvl="1" algn="ctr" rtl="0">
              <a:lnSpc>
                <a:spcPct val="100000"/>
              </a:lnSpc>
              <a:spcBef>
                <a:spcPts val="0"/>
              </a:spcBef>
              <a:spcAft>
                <a:spcPts val="0"/>
              </a:spcAft>
              <a:buClr>
                <a:schemeClr val="accent1"/>
              </a:buClr>
              <a:buSzPts val="1800"/>
              <a:buNone/>
              <a:defRPr sz="2400">
                <a:solidFill>
                  <a:schemeClr val="accent1"/>
                </a:solidFill>
              </a:defRPr>
            </a:lvl2pPr>
            <a:lvl3pPr lvl="2" algn="ctr" rtl="0">
              <a:lnSpc>
                <a:spcPct val="100000"/>
              </a:lnSpc>
              <a:spcBef>
                <a:spcPts val="0"/>
              </a:spcBef>
              <a:spcAft>
                <a:spcPts val="0"/>
              </a:spcAft>
              <a:buClr>
                <a:schemeClr val="accent1"/>
              </a:buClr>
              <a:buSzPts val="1800"/>
              <a:buNone/>
              <a:defRPr sz="2400">
                <a:solidFill>
                  <a:schemeClr val="accent1"/>
                </a:solidFill>
              </a:defRPr>
            </a:lvl3pPr>
            <a:lvl4pPr lvl="3" algn="ctr" rtl="0">
              <a:lnSpc>
                <a:spcPct val="100000"/>
              </a:lnSpc>
              <a:spcBef>
                <a:spcPts val="0"/>
              </a:spcBef>
              <a:spcAft>
                <a:spcPts val="0"/>
              </a:spcAft>
              <a:buClr>
                <a:schemeClr val="accent1"/>
              </a:buClr>
              <a:buSzPts val="1800"/>
              <a:buNone/>
              <a:defRPr sz="2400">
                <a:solidFill>
                  <a:schemeClr val="accent1"/>
                </a:solidFill>
              </a:defRPr>
            </a:lvl4pPr>
            <a:lvl5pPr lvl="4" algn="ctr" rtl="0">
              <a:lnSpc>
                <a:spcPct val="100000"/>
              </a:lnSpc>
              <a:spcBef>
                <a:spcPts val="0"/>
              </a:spcBef>
              <a:spcAft>
                <a:spcPts val="0"/>
              </a:spcAft>
              <a:buClr>
                <a:schemeClr val="accent1"/>
              </a:buClr>
              <a:buSzPts val="1800"/>
              <a:buNone/>
              <a:defRPr sz="2400">
                <a:solidFill>
                  <a:schemeClr val="accent1"/>
                </a:solidFill>
              </a:defRPr>
            </a:lvl5pPr>
            <a:lvl6pPr lvl="5" algn="ctr" rtl="0">
              <a:lnSpc>
                <a:spcPct val="100000"/>
              </a:lnSpc>
              <a:spcBef>
                <a:spcPts val="0"/>
              </a:spcBef>
              <a:spcAft>
                <a:spcPts val="0"/>
              </a:spcAft>
              <a:buClr>
                <a:schemeClr val="accent1"/>
              </a:buClr>
              <a:buSzPts val="1800"/>
              <a:buNone/>
              <a:defRPr sz="2400">
                <a:solidFill>
                  <a:schemeClr val="accent1"/>
                </a:solidFill>
              </a:defRPr>
            </a:lvl6pPr>
            <a:lvl7pPr lvl="6" algn="ctr" rtl="0">
              <a:lnSpc>
                <a:spcPct val="100000"/>
              </a:lnSpc>
              <a:spcBef>
                <a:spcPts val="0"/>
              </a:spcBef>
              <a:spcAft>
                <a:spcPts val="0"/>
              </a:spcAft>
              <a:buClr>
                <a:schemeClr val="accent1"/>
              </a:buClr>
              <a:buSzPts val="1800"/>
              <a:buNone/>
              <a:defRPr sz="2400">
                <a:solidFill>
                  <a:schemeClr val="accent1"/>
                </a:solidFill>
              </a:defRPr>
            </a:lvl7pPr>
            <a:lvl8pPr lvl="7" algn="ctr" rtl="0">
              <a:lnSpc>
                <a:spcPct val="100000"/>
              </a:lnSpc>
              <a:spcBef>
                <a:spcPts val="0"/>
              </a:spcBef>
              <a:spcAft>
                <a:spcPts val="0"/>
              </a:spcAft>
              <a:buClr>
                <a:schemeClr val="accent1"/>
              </a:buClr>
              <a:buSzPts val="1800"/>
              <a:buNone/>
              <a:defRPr sz="2400">
                <a:solidFill>
                  <a:schemeClr val="accent1"/>
                </a:solidFill>
              </a:defRPr>
            </a:lvl8pPr>
            <a:lvl9pPr lvl="8" algn="ctr" rtl="0">
              <a:lnSpc>
                <a:spcPct val="100000"/>
              </a:lnSpc>
              <a:spcBef>
                <a:spcPts val="0"/>
              </a:spcBef>
              <a:spcAft>
                <a:spcPts val="0"/>
              </a:spcAft>
              <a:buClr>
                <a:schemeClr val="accent1"/>
              </a:buClr>
              <a:buSzPts val="1800"/>
              <a:buNone/>
              <a:defRPr sz="2400">
                <a:solidFill>
                  <a:schemeClr val="accent1"/>
                </a:solidFill>
              </a:defRPr>
            </a:lvl9pPr>
          </a:lstStyle>
          <a:p>
            <a:endParaRPr/>
          </a:p>
        </p:txBody>
      </p:sp>
    </p:spTree>
    <p:extLst>
      <p:ext uri="{BB962C8B-B14F-4D97-AF65-F5344CB8AC3E}">
        <p14:creationId xmlns:p14="http://schemas.microsoft.com/office/powerpoint/2010/main" val="344706437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 Two Columns">
  <p:cSld name="Title + Two Columns">
    <p:bg>
      <p:bgPr>
        <a:blipFill>
          <a:blip r:embed="rId2">
            <a:alphaModFix/>
          </a:blip>
          <a:stretch>
            <a:fillRect/>
          </a:stretch>
        </a:blipFill>
        <a:effectLst/>
      </p:bgPr>
    </p:bg>
    <p:spTree>
      <p:nvGrpSpPr>
        <p:cNvPr id="1" name="Shape 60"/>
        <p:cNvGrpSpPr/>
        <p:nvPr/>
      </p:nvGrpSpPr>
      <p:grpSpPr>
        <a:xfrm>
          <a:off x="0" y="0"/>
          <a:ext cx="0" cy="0"/>
          <a:chOff x="0" y="0"/>
          <a:chExt cx="0" cy="0"/>
        </a:xfrm>
      </p:grpSpPr>
      <p:sp>
        <p:nvSpPr>
          <p:cNvPr id="61" name="Google Shape;61;p17"/>
          <p:cNvSpPr txBox="1">
            <a:spLocks noGrp="1"/>
          </p:cNvSpPr>
          <p:nvPr>
            <p:ph type="title"/>
          </p:nvPr>
        </p:nvSpPr>
        <p:spPr>
          <a:xfrm>
            <a:off x="2583117" y="3284233"/>
            <a:ext cx="31868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62" name="Google Shape;62;p17"/>
          <p:cNvSpPr txBox="1">
            <a:spLocks noGrp="1"/>
          </p:cNvSpPr>
          <p:nvPr>
            <p:ph type="subTitle" idx="1"/>
          </p:nvPr>
        </p:nvSpPr>
        <p:spPr>
          <a:xfrm>
            <a:off x="2583117" y="4197433"/>
            <a:ext cx="31868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63" name="Google Shape;63;p17"/>
          <p:cNvSpPr txBox="1">
            <a:spLocks noGrp="1"/>
          </p:cNvSpPr>
          <p:nvPr>
            <p:ph type="title" idx="2"/>
          </p:nvPr>
        </p:nvSpPr>
        <p:spPr>
          <a:xfrm>
            <a:off x="6422084" y="3284233"/>
            <a:ext cx="31868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64" name="Google Shape;64;p17"/>
          <p:cNvSpPr txBox="1">
            <a:spLocks noGrp="1"/>
          </p:cNvSpPr>
          <p:nvPr>
            <p:ph type="subTitle" idx="3"/>
          </p:nvPr>
        </p:nvSpPr>
        <p:spPr>
          <a:xfrm>
            <a:off x="6422084" y="4197433"/>
            <a:ext cx="31868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65" name="Google Shape;65;p17"/>
          <p:cNvSpPr txBox="1">
            <a:spLocks noGrp="1"/>
          </p:cNvSpPr>
          <p:nvPr>
            <p:ph type="title" idx="4"/>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390334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 Three Columns ">
  <p:cSld name="Title + Three Columns ">
    <p:bg>
      <p:bgPr>
        <a:blipFill>
          <a:blip r:embed="rId2">
            <a:alphaModFix/>
          </a:blip>
          <a:stretch>
            <a:fillRect/>
          </a:stretch>
        </a:blipFill>
        <a:effectLst/>
      </p:bgPr>
    </p:bg>
    <p:spTree>
      <p:nvGrpSpPr>
        <p:cNvPr id="1" name="Shape 66"/>
        <p:cNvGrpSpPr/>
        <p:nvPr/>
      </p:nvGrpSpPr>
      <p:grpSpPr>
        <a:xfrm>
          <a:off x="0" y="0"/>
          <a:ext cx="0" cy="0"/>
          <a:chOff x="0" y="0"/>
          <a:chExt cx="0" cy="0"/>
        </a:xfrm>
      </p:grpSpPr>
      <p:sp>
        <p:nvSpPr>
          <p:cNvPr id="67" name="Google Shape;67;p18"/>
          <p:cNvSpPr txBox="1">
            <a:spLocks noGrp="1"/>
          </p:cNvSpPr>
          <p:nvPr>
            <p:ph type="title"/>
          </p:nvPr>
        </p:nvSpPr>
        <p:spPr>
          <a:xfrm>
            <a:off x="4717996" y="3690633"/>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68" name="Google Shape;68;p18"/>
          <p:cNvSpPr txBox="1">
            <a:spLocks noGrp="1"/>
          </p:cNvSpPr>
          <p:nvPr>
            <p:ph type="subTitle" idx="1"/>
          </p:nvPr>
        </p:nvSpPr>
        <p:spPr>
          <a:xfrm>
            <a:off x="4717996" y="4603833"/>
            <a:ext cx="2756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69" name="Google Shape;69;p18"/>
          <p:cNvSpPr txBox="1">
            <a:spLocks noGrp="1"/>
          </p:cNvSpPr>
          <p:nvPr>
            <p:ph type="title" idx="2"/>
          </p:nvPr>
        </p:nvSpPr>
        <p:spPr>
          <a:xfrm>
            <a:off x="8038071" y="3690633"/>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70" name="Google Shape;70;p18"/>
          <p:cNvSpPr txBox="1">
            <a:spLocks noGrp="1"/>
          </p:cNvSpPr>
          <p:nvPr>
            <p:ph type="subTitle" idx="3"/>
          </p:nvPr>
        </p:nvSpPr>
        <p:spPr>
          <a:xfrm>
            <a:off x="8038071" y="4603833"/>
            <a:ext cx="2756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71" name="Google Shape;71;p18"/>
          <p:cNvSpPr txBox="1">
            <a:spLocks noGrp="1"/>
          </p:cNvSpPr>
          <p:nvPr>
            <p:ph type="title" idx="4"/>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72" name="Google Shape;72;p18"/>
          <p:cNvSpPr txBox="1">
            <a:spLocks noGrp="1"/>
          </p:cNvSpPr>
          <p:nvPr>
            <p:ph type="title" idx="5"/>
          </p:nvPr>
        </p:nvSpPr>
        <p:spPr>
          <a:xfrm>
            <a:off x="1397929" y="3690633"/>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73" name="Google Shape;73;p18"/>
          <p:cNvSpPr txBox="1">
            <a:spLocks noGrp="1"/>
          </p:cNvSpPr>
          <p:nvPr>
            <p:ph type="subTitle" idx="6"/>
          </p:nvPr>
        </p:nvSpPr>
        <p:spPr>
          <a:xfrm>
            <a:off x="1397929" y="4603833"/>
            <a:ext cx="2756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Tree>
    <p:extLst>
      <p:ext uri="{BB962C8B-B14F-4D97-AF65-F5344CB8AC3E}">
        <p14:creationId xmlns:p14="http://schemas.microsoft.com/office/powerpoint/2010/main" val="7608604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ig text">
  <p:cSld name="1_Big text">
    <p:bg>
      <p:bgPr>
        <a:blipFill>
          <a:blip r:embed="rId2">
            <a:alphaModFix/>
          </a:blip>
          <a:stretch>
            <a:fillRect/>
          </a:stretch>
        </a:blipFill>
        <a:effectLst/>
      </p:bgPr>
    </p:bg>
    <p:spTree>
      <p:nvGrpSpPr>
        <p:cNvPr id="1" name="Shape 74"/>
        <p:cNvGrpSpPr/>
        <p:nvPr/>
      </p:nvGrpSpPr>
      <p:grpSpPr>
        <a:xfrm>
          <a:off x="0" y="0"/>
          <a:ext cx="0" cy="0"/>
          <a:chOff x="0" y="0"/>
          <a:chExt cx="0" cy="0"/>
        </a:xfrm>
      </p:grpSpPr>
      <p:sp>
        <p:nvSpPr>
          <p:cNvPr id="75" name="Google Shape;75;p19"/>
          <p:cNvSpPr txBox="1">
            <a:spLocks noGrp="1"/>
          </p:cNvSpPr>
          <p:nvPr>
            <p:ph type="ctrTitle"/>
          </p:nvPr>
        </p:nvSpPr>
        <p:spPr>
          <a:xfrm>
            <a:off x="1698000" y="1825333"/>
            <a:ext cx="8796000" cy="28132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4500"/>
              <a:buNone/>
              <a:defRPr sz="6000" b="1">
                <a:solidFill>
                  <a:schemeClr val="lt1"/>
                </a:solidFill>
              </a:defRPr>
            </a:lvl1pPr>
            <a:lvl2pPr lvl="1" algn="ctr" rtl="0">
              <a:spcBef>
                <a:spcPts val="0"/>
              </a:spcBef>
              <a:spcAft>
                <a:spcPts val="0"/>
              </a:spcAft>
              <a:buClr>
                <a:schemeClr val="lt1"/>
              </a:buClr>
              <a:buSzPts val="3600"/>
              <a:buNone/>
              <a:defRPr sz="4800" b="1">
                <a:solidFill>
                  <a:schemeClr val="lt1"/>
                </a:solidFill>
              </a:defRPr>
            </a:lvl2pPr>
            <a:lvl3pPr lvl="2" algn="ctr" rtl="0">
              <a:spcBef>
                <a:spcPts val="0"/>
              </a:spcBef>
              <a:spcAft>
                <a:spcPts val="0"/>
              </a:spcAft>
              <a:buClr>
                <a:schemeClr val="lt1"/>
              </a:buClr>
              <a:buSzPts val="3600"/>
              <a:buNone/>
              <a:defRPr sz="4800" b="1">
                <a:solidFill>
                  <a:schemeClr val="lt1"/>
                </a:solidFill>
              </a:defRPr>
            </a:lvl3pPr>
            <a:lvl4pPr lvl="3" algn="ctr" rtl="0">
              <a:spcBef>
                <a:spcPts val="0"/>
              </a:spcBef>
              <a:spcAft>
                <a:spcPts val="0"/>
              </a:spcAft>
              <a:buClr>
                <a:schemeClr val="lt1"/>
              </a:buClr>
              <a:buSzPts val="3600"/>
              <a:buNone/>
              <a:defRPr sz="4800" b="1">
                <a:solidFill>
                  <a:schemeClr val="lt1"/>
                </a:solidFill>
              </a:defRPr>
            </a:lvl4pPr>
            <a:lvl5pPr lvl="4" algn="ctr" rtl="0">
              <a:spcBef>
                <a:spcPts val="0"/>
              </a:spcBef>
              <a:spcAft>
                <a:spcPts val="0"/>
              </a:spcAft>
              <a:buClr>
                <a:schemeClr val="lt1"/>
              </a:buClr>
              <a:buSzPts val="3600"/>
              <a:buNone/>
              <a:defRPr sz="4800" b="1">
                <a:solidFill>
                  <a:schemeClr val="lt1"/>
                </a:solidFill>
              </a:defRPr>
            </a:lvl5pPr>
            <a:lvl6pPr lvl="5" algn="ctr" rtl="0">
              <a:spcBef>
                <a:spcPts val="0"/>
              </a:spcBef>
              <a:spcAft>
                <a:spcPts val="0"/>
              </a:spcAft>
              <a:buClr>
                <a:schemeClr val="lt1"/>
              </a:buClr>
              <a:buSzPts val="3600"/>
              <a:buNone/>
              <a:defRPr sz="4800" b="1">
                <a:solidFill>
                  <a:schemeClr val="lt1"/>
                </a:solidFill>
              </a:defRPr>
            </a:lvl6pPr>
            <a:lvl7pPr lvl="6" algn="ctr" rtl="0">
              <a:spcBef>
                <a:spcPts val="0"/>
              </a:spcBef>
              <a:spcAft>
                <a:spcPts val="0"/>
              </a:spcAft>
              <a:buClr>
                <a:schemeClr val="lt1"/>
              </a:buClr>
              <a:buSzPts val="3600"/>
              <a:buNone/>
              <a:defRPr sz="4800" b="1">
                <a:solidFill>
                  <a:schemeClr val="lt1"/>
                </a:solidFill>
              </a:defRPr>
            </a:lvl7pPr>
            <a:lvl8pPr lvl="7" algn="ctr" rtl="0">
              <a:spcBef>
                <a:spcPts val="0"/>
              </a:spcBef>
              <a:spcAft>
                <a:spcPts val="0"/>
              </a:spcAft>
              <a:buClr>
                <a:schemeClr val="lt1"/>
              </a:buClr>
              <a:buSzPts val="3600"/>
              <a:buNone/>
              <a:defRPr sz="4800" b="1">
                <a:solidFill>
                  <a:schemeClr val="lt1"/>
                </a:solidFill>
              </a:defRPr>
            </a:lvl8pPr>
            <a:lvl9pPr lvl="8" algn="ctr" rtl="0">
              <a:spcBef>
                <a:spcPts val="0"/>
              </a:spcBef>
              <a:spcAft>
                <a:spcPts val="0"/>
              </a:spcAft>
              <a:buClr>
                <a:schemeClr val="lt1"/>
              </a:buClr>
              <a:buSzPts val="3600"/>
              <a:buNone/>
              <a:defRPr sz="4800" b="1">
                <a:solidFill>
                  <a:schemeClr val="lt1"/>
                </a:solidFill>
              </a:defRPr>
            </a:lvl9pPr>
          </a:lstStyle>
          <a:p>
            <a:endParaRPr/>
          </a:p>
        </p:txBody>
      </p:sp>
      <p:sp>
        <p:nvSpPr>
          <p:cNvPr id="76" name="Google Shape;76;p19"/>
          <p:cNvSpPr txBox="1">
            <a:spLocks noGrp="1"/>
          </p:cNvSpPr>
          <p:nvPr>
            <p:ph type="subTitle" idx="1"/>
          </p:nvPr>
        </p:nvSpPr>
        <p:spPr>
          <a:xfrm>
            <a:off x="3309200" y="3359367"/>
            <a:ext cx="5573600" cy="61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867">
                <a:solidFill>
                  <a:schemeClr val="accent1"/>
                </a:solidFill>
              </a:defRPr>
            </a:lvl1pPr>
            <a:lvl2pPr lvl="1" algn="ctr" rtl="0">
              <a:lnSpc>
                <a:spcPct val="100000"/>
              </a:lnSpc>
              <a:spcBef>
                <a:spcPts val="0"/>
              </a:spcBef>
              <a:spcAft>
                <a:spcPts val="0"/>
              </a:spcAft>
              <a:buClr>
                <a:schemeClr val="accent1"/>
              </a:buClr>
              <a:buSzPts val="1800"/>
              <a:buNone/>
              <a:defRPr sz="2400">
                <a:solidFill>
                  <a:schemeClr val="accent1"/>
                </a:solidFill>
              </a:defRPr>
            </a:lvl2pPr>
            <a:lvl3pPr lvl="2" algn="ctr" rtl="0">
              <a:lnSpc>
                <a:spcPct val="100000"/>
              </a:lnSpc>
              <a:spcBef>
                <a:spcPts val="0"/>
              </a:spcBef>
              <a:spcAft>
                <a:spcPts val="0"/>
              </a:spcAft>
              <a:buClr>
                <a:schemeClr val="accent1"/>
              </a:buClr>
              <a:buSzPts val="1800"/>
              <a:buNone/>
              <a:defRPr sz="2400">
                <a:solidFill>
                  <a:schemeClr val="accent1"/>
                </a:solidFill>
              </a:defRPr>
            </a:lvl3pPr>
            <a:lvl4pPr lvl="3" algn="ctr" rtl="0">
              <a:lnSpc>
                <a:spcPct val="100000"/>
              </a:lnSpc>
              <a:spcBef>
                <a:spcPts val="0"/>
              </a:spcBef>
              <a:spcAft>
                <a:spcPts val="0"/>
              </a:spcAft>
              <a:buClr>
                <a:schemeClr val="accent1"/>
              </a:buClr>
              <a:buSzPts val="1800"/>
              <a:buNone/>
              <a:defRPr sz="2400">
                <a:solidFill>
                  <a:schemeClr val="accent1"/>
                </a:solidFill>
              </a:defRPr>
            </a:lvl4pPr>
            <a:lvl5pPr lvl="4" algn="ctr" rtl="0">
              <a:lnSpc>
                <a:spcPct val="100000"/>
              </a:lnSpc>
              <a:spcBef>
                <a:spcPts val="0"/>
              </a:spcBef>
              <a:spcAft>
                <a:spcPts val="0"/>
              </a:spcAft>
              <a:buClr>
                <a:schemeClr val="accent1"/>
              </a:buClr>
              <a:buSzPts val="1800"/>
              <a:buNone/>
              <a:defRPr sz="2400">
                <a:solidFill>
                  <a:schemeClr val="accent1"/>
                </a:solidFill>
              </a:defRPr>
            </a:lvl5pPr>
            <a:lvl6pPr lvl="5" algn="ctr" rtl="0">
              <a:lnSpc>
                <a:spcPct val="100000"/>
              </a:lnSpc>
              <a:spcBef>
                <a:spcPts val="0"/>
              </a:spcBef>
              <a:spcAft>
                <a:spcPts val="0"/>
              </a:spcAft>
              <a:buClr>
                <a:schemeClr val="accent1"/>
              </a:buClr>
              <a:buSzPts val="1800"/>
              <a:buNone/>
              <a:defRPr sz="2400">
                <a:solidFill>
                  <a:schemeClr val="accent1"/>
                </a:solidFill>
              </a:defRPr>
            </a:lvl6pPr>
            <a:lvl7pPr lvl="6" algn="ctr" rtl="0">
              <a:lnSpc>
                <a:spcPct val="100000"/>
              </a:lnSpc>
              <a:spcBef>
                <a:spcPts val="0"/>
              </a:spcBef>
              <a:spcAft>
                <a:spcPts val="0"/>
              </a:spcAft>
              <a:buClr>
                <a:schemeClr val="accent1"/>
              </a:buClr>
              <a:buSzPts val="1800"/>
              <a:buNone/>
              <a:defRPr sz="2400">
                <a:solidFill>
                  <a:schemeClr val="accent1"/>
                </a:solidFill>
              </a:defRPr>
            </a:lvl7pPr>
            <a:lvl8pPr lvl="7" algn="ctr" rtl="0">
              <a:lnSpc>
                <a:spcPct val="100000"/>
              </a:lnSpc>
              <a:spcBef>
                <a:spcPts val="0"/>
              </a:spcBef>
              <a:spcAft>
                <a:spcPts val="0"/>
              </a:spcAft>
              <a:buClr>
                <a:schemeClr val="accent1"/>
              </a:buClr>
              <a:buSzPts val="1800"/>
              <a:buNone/>
              <a:defRPr sz="2400">
                <a:solidFill>
                  <a:schemeClr val="accent1"/>
                </a:solidFill>
              </a:defRPr>
            </a:lvl8pPr>
            <a:lvl9pPr lvl="8" algn="ctr" rtl="0">
              <a:lnSpc>
                <a:spcPct val="100000"/>
              </a:lnSpc>
              <a:spcBef>
                <a:spcPts val="0"/>
              </a:spcBef>
              <a:spcAft>
                <a:spcPts val="0"/>
              </a:spcAft>
              <a:buClr>
                <a:schemeClr val="accent1"/>
              </a:buClr>
              <a:buSzPts val="1800"/>
              <a:buNone/>
              <a:defRPr sz="2400">
                <a:solidFill>
                  <a:schemeClr val="accent1"/>
                </a:solidFill>
              </a:defRPr>
            </a:lvl9pPr>
          </a:lstStyle>
          <a:p>
            <a:endParaRPr/>
          </a:p>
        </p:txBody>
      </p:sp>
    </p:spTree>
    <p:extLst>
      <p:ext uri="{BB962C8B-B14F-4D97-AF65-F5344CB8AC3E}">
        <p14:creationId xmlns:p14="http://schemas.microsoft.com/office/powerpoint/2010/main" val="29984184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 Design">
  <p:cSld name="Title + Design">
    <p:bg>
      <p:bgPr>
        <a:blipFill>
          <a:blip r:embed="rId2">
            <a:alphaModFix/>
          </a:blip>
          <a:stretch>
            <a:fillRect/>
          </a:stretch>
        </a:blipFill>
        <a:effectLst/>
      </p:bgPr>
    </p:bg>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1251333" y="593367"/>
            <a:ext cx="6269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76683784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 Design 1">
  <p:cSld name="Title + Design 1">
    <p:bg>
      <p:bgPr>
        <a:blipFill>
          <a:blip r:embed="rId2">
            <a:alphaModFix/>
          </a:blip>
          <a:stretch>
            <a:fillRect/>
          </a:stretch>
        </a:blipFill>
        <a:effectLst/>
      </p:bgPr>
    </p:bg>
    <p:spTree>
      <p:nvGrpSpPr>
        <p:cNvPr id="1" name="Shape 79"/>
        <p:cNvGrpSpPr/>
        <p:nvPr/>
      </p:nvGrpSpPr>
      <p:grpSpPr>
        <a:xfrm>
          <a:off x="0" y="0"/>
          <a:ext cx="0" cy="0"/>
          <a:chOff x="0" y="0"/>
          <a:chExt cx="0" cy="0"/>
        </a:xfrm>
      </p:grpSpPr>
      <p:sp>
        <p:nvSpPr>
          <p:cNvPr id="80" name="Google Shape;80;p21"/>
          <p:cNvSpPr txBox="1">
            <a:spLocks noGrp="1"/>
          </p:cNvSpPr>
          <p:nvPr>
            <p:ph type="title"/>
          </p:nvPr>
        </p:nvSpPr>
        <p:spPr>
          <a:xfrm>
            <a:off x="1251333" y="593367"/>
            <a:ext cx="6269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32285961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 Design 2">
  <p:cSld name="Title + Design 2">
    <p:bg>
      <p:bgPr>
        <a:blipFill>
          <a:blip r:embed="rId2">
            <a:alphaModFix/>
          </a:blip>
          <a:stretch>
            <a:fillRect/>
          </a:stretch>
        </a:blipFill>
        <a:effectLst/>
      </p:bgPr>
    </p:bg>
    <p:spTree>
      <p:nvGrpSpPr>
        <p:cNvPr id="1" name="Shape 81"/>
        <p:cNvGrpSpPr/>
        <p:nvPr/>
      </p:nvGrpSpPr>
      <p:grpSpPr>
        <a:xfrm>
          <a:off x="0" y="0"/>
          <a:ext cx="0" cy="0"/>
          <a:chOff x="0" y="0"/>
          <a:chExt cx="0" cy="0"/>
        </a:xfrm>
      </p:grpSpPr>
      <p:sp>
        <p:nvSpPr>
          <p:cNvPr id="82" name="Google Shape;82;p22"/>
          <p:cNvSpPr txBox="1">
            <a:spLocks noGrp="1"/>
          </p:cNvSpPr>
          <p:nvPr>
            <p:ph type="title"/>
          </p:nvPr>
        </p:nvSpPr>
        <p:spPr>
          <a:xfrm>
            <a:off x="1251333" y="593367"/>
            <a:ext cx="6269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231874189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 Design 3">
  <p:cSld name="Title + Design 3">
    <p:bg>
      <p:bgPr>
        <a:blipFill>
          <a:blip r:embed="rId2">
            <a:alphaModFix/>
          </a:blip>
          <a:stretch>
            <a:fillRect/>
          </a:stretch>
        </a:blipFill>
        <a:effectLst/>
      </p:bgPr>
    </p:bg>
    <p:spTree>
      <p:nvGrpSpPr>
        <p:cNvPr id="1" name="Shape 83"/>
        <p:cNvGrpSpPr/>
        <p:nvPr/>
      </p:nvGrpSpPr>
      <p:grpSpPr>
        <a:xfrm>
          <a:off x="0" y="0"/>
          <a:ext cx="0" cy="0"/>
          <a:chOff x="0" y="0"/>
          <a:chExt cx="0" cy="0"/>
        </a:xfrm>
      </p:grpSpPr>
      <p:sp>
        <p:nvSpPr>
          <p:cNvPr id="84" name="Google Shape;84;p23"/>
          <p:cNvSpPr txBox="1">
            <a:spLocks noGrp="1"/>
          </p:cNvSpPr>
          <p:nvPr>
            <p:ph type="title"/>
          </p:nvPr>
        </p:nvSpPr>
        <p:spPr>
          <a:xfrm>
            <a:off x="1251333" y="593367"/>
            <a:ext cx="6269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28576089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 Two Lists">
  <p:cSld name="Title + Two Lists">
    <p:bg>
      <p:bgPr>
        <a:blipFill>
          <a:blip r:embed="rId2">
            <a:alphaModFix/>
          </a:blip>
          <a:stretch>
            <a:fillRect/>
          </a:stretch>
        </a:blipFill>
        <a:effectLst/>
      </p:bgPr>
    </p:bg>
    <p:spTree>
      <p:nvGrpSpPr>
        <p:cNvPr id="1" name="Shape 85"/>
        <p:cNvGrpSpPr/>
        <p:nvPr/>
      </p:nvGrpSpPr>
      <p:grpSpPr>
        <a:xfrm>
          <a:off x="0" y="0"/>
          <a:ext cx="0" cy="0"/>
          <a:chOff x="0" y="0"/>
          <a:chExt cx="0" cy="0"/>
        </a:xfrm>
      </p:grpSpPr>
      <p:sp>
        <p:nvSpPr>
          <p:cNvPr id="86" name="Google Shape;86;p24"/>
          <p:cNvSpPr txBox="1">
            <a:spLocks noGrp="1"/>
          </p:cNvSpPr>
          <p:nvPr>
            <p:ph type="title"/>
          </p:nvPr>
        </p:nvSpPr>
        <p:spPr>
          <a:xfrm>
            <a:off x="1251333" y="593367"/>
            <a:ext cx="6619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87" name="Google Shape;87;p24"/>
          <p:cNvSpPr txBox="1">
            <a:spLocks noGrp="1"/>
          </p:cNvSpPr>
          <p:nvPr>
            <p:ph type="body" idx="1"/>
          </p:nvPr>
        </p:nvSpPr>
        <p:spPr>
          <a:xfrm>
            <a:off x="1422988" y="3535700"/>
            <a:ext cx="4345200" cy="23940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solidFill>
                  <a:schemeClr val="lt1"/>
                </a:solidFill>
              </a:defRPr>
            </a:lvl1pPr>
            <a:lvl2pPr marL="1219170" lvl="1" indent="-423323" rtl="0">
              <a:spcBef>
                <a:spcPts val="13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endParaRPr/>
          </a:p>
        </p:txBody>
      </p:sp>
      <p:sp>
        <p:nvSpPr>
          <p:cNvPr id="88" name="Google Shape;88;p24"/>
          <p:cNvSpPr txBox="1">
            <a:spLocks noGrp="1"/>
          </p:cNvSpPr>
          <p:nvPr>
            <p:ph type="body" idx="2"/>
          </p:nvPr>
        </p:nvSpPr>
        <p:spPr>
          <a:xfrm>
            <a:off x="6231803" y="3535700"/>
            <a:ext cx="4345200" cy="23940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solidFill>
                  <a:schemeClr val="lt1"/>
                </a:solidFill>
              </a:defRPr>
            </a:lvl1pPr>
            <a:lvl2pPr marL="1219170" lvl="1" indent="-423323" rtl="0">
              <a:spcBef>
                <a:spcPts val="13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endParaRPr/>
          </a:p>
        </p:txBody>
      </p:sp>
      <p:sp>
        <p:nvSpPr>
          <p:cNvPr id="89" name="Google Shape;89;p24"/>
          <p:cNvSpPr txBox="1">
            <a:spLocks noGrp="1"/>
          </p:cNvSpPr>
          <p:nvPr>
            <p:ph type="title" idx="3"/>
          </p:nvPr>
        </p:nvSpPr>
        <p:spPr>
          <a:xfrm>
            <a:off x="1617999" y="2606833"/>
            <a:ext cx="4345200" cy="7312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800"/>
              <a:buNone/>
              <a:defRPr sz="2400">
                <a:solidFill>
                  <a:schemeClr val="lt1"/>
                </a:solidFill>
              </a:defRPr>
            </a:lvl1pPr>
            <a:lvl2pPr lvl="1" rtl="0">
              <a:spcBef>
                <a:spcPts val="0"/>
              </a:spcBef>
              <a:spcAft>
                <a:spcPts val="0"/>
              </a:spcAft>
              <a:buClr>
                <a:schemeClr val="lt1"/>
              </a:buClr>
              <a:buSzPts val="4200"/>
              <a:buNone/>
              <a:defRPr sz="5600">
                <a:solidFill>
                  <a:schemeClr val="lt1"/>
                </a:solidFill>
              </a:defRPr>
            </a:lvl2pPr>
            <a:lvl3pPr lvl="2" rtl="0">
              <a:spcBef>
                <a:spcPts val="0"/>
              </a:spcBef>
              <a:spcAft>
                <a:spcPts val="0"/>
              </a:spcAft>
              <a:buClr>
                <a:schemeClr val="lt1"/>
              </a:buClr>
              <a:buSzPts val="4200"/>
              <a:buNone/>
              <a:defRPr sz="5600">
                <a:solidFill>
                  <a:schemeClr val="lt1"/>
                </a:solidFill>
              </a:defRPr>
            </a:lvl3pPr>
            <a:lvl4pPr lvl="3" rtl="0">
              <a:spcBef>
                <a:spcPts val="0"/>
              </a:spcBef>
              <a:spcAft>
                <a:spcPts val="0"/>
              </a:spcAft>
              <a:buClr>
                <a:schemeClr val="lt1"/>
              </a:buClr>
              <a:buSzPts val="4200"/>
              <a:buNone/>
              <a:defRPr sz="5600">
                <a:solidFill>
                  <a:schemeClr val="lt1"/>
                </a:solidFill>
              </a:defRPr>
            </a:lvl4pPr>
            <a:lvl5pPr lvl="4" rtl="0">
              <a:spcBef>
                <a:spcPts val="0"/>
              </a:spcBef>
              <a:spcAft>
                <a:spcPts val="0"/>
              </a:spcAft>
              <a:buClr>
                <a:schemeClr val="lt1"/>
              </a:buClr>
              <a:buSzPts val="4200"/>
              <a:buNone/>
              <a:defRPr sz="5600">
                <a:solidFill>
                  <a:schemeClr val="lt1"/>
                </a:solidFill>
              </a:defRPr>
            </a:lvl5pPr>
            <a:lvl6pPr lvl="5" rtl="0">
              <a:spcBef>
                <a:spcPts val="0"/>
              </a:spcBef>
              <a:spcAft>
                <a:spcPts val="0"/>
              </a:spcAft>
              <a:buClr>
                <a:schemeClr val="lt1"/>
              </a:buClr>
              <a:buSzPts val="4200"/>
              <a:buNone/>
              <a:defRPr sz="5600">
                <a:solidFill>
                  <a:schemeClr val="lt1"/>
                </a:solidFill>
              </a:defRPr>
            </a:lvl6pPr>
            <a:lvl7pPr lvl="6" rtl="0">
              <a:spcBef>
                <a:spcPts val="0"/>
              </a:spcBef>
              <a:spcAft>
                <a:spcPts val="0"/>
              </a:spcAft>
              <a:buClr>
                <a:schemeClr val="lt1"/>
              </a:buClr>
              <a:buSzPts val="4200"/>
              <a:buNone/>
              <a:defRPr sz="5600">
                <a:solidFill>
                  <a:schemeClr val="lt1"/>
                </a:solidFill>
              </a:defRPr>
            </a:lvl7pPr>
            <a:lvl8pPr lvl="7" rtl="0">
              <a:spcBef>
                <a:spcPts val="0"/>
              </a:spcBef>
              <a:spcAft>
                <a:spcPts val="0"/>
              </a:spcAft>
              <a:buClr>
                <a:schemeClr val="lt1"/>
              </a:buClr>
              <a:buSzPts val="4200"/>
              <a:buNone/>
              <a:defRPr sz="5600">
                <a:solidFill>
                  <a:schemeClr val="lt1"/>
                </a:solidFill>
              </a:defRPr>
            </a:lvl8pPr>
            <a:lvl9pPr lvl="8" rtl="0">
              <a:spcBef>
                <a:spcPts val="0"/>
              </a:spcBef>
              <a:spcAft>
                <a:spcPts val="0"/>
              </a:spcAft>
              <a:buClr>
                <a:schemeClr val="lt1"/>
              </a:buClr>
              <a:buSzPts val="4200"/>
              <a:buNone/>
              <a:defRPr sz="5600">
                <a:solidFill>
                  <a:schemeClr val="lt1"/>
                </a:solidFill>
              </a:defRPr>
            </a:lvl9pPr>
          </a:lstStyle>
          <a:p>
            <a:endParaRPr/>
          </a:p>
        </p:txBody>
      </p:sp>
      <p:sp>
        <p:nvSpPr>
          <p:cNvPr id="90" name="Google Shape;90;p24"/>
          <p:cNvSpPr txBox="1">
            <a:spLocks noGrp="1"/>
          </p:cNvSpPr>
          <p:nvPr>
            <p:ph type="title" idx="4"/>
          </p:nvPr>
        </p:nvSpPr>
        <p:spPr>
          <a:xfrm>
            <a:off x="6426799" y="2606833"/>
            <a:ext cx="4345200" cy="7312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800"/>
              <a:buNone/>
              <a:defRPr sz="2400">
                <a:solidFill>
                  <a:schemeClr val="lt1"/>
                </a:solidFill>
              </a:defRPr>
            </a:lvl1pPr>
            <a:lvl2pPr lvl="1" rtl="0">
              <a:spcBef>
                <a:spcPts val="0"/>
              </a:spcBef>
              <a:spcAft>
                <a:spcPts val="0"/>
              </a:spcAft>
              <a:buClr>
                <a:schemeClr val="lt1"/>
              </a:buClr>
              <a:buSzPts val="4200"/>
              <a:buNone/>
              <a:defRPr sz="5600">
                <a:solidFill>
                  <a:schemeClr val="lt1"/>
                </a:solidFill>
              </a:defRPr>
            </a:lvl2pPr>
            <a:lvl3pPr lvl="2" rtl="0">
              <a:spcBef>
                <a:spcPts val="0"/>
              </a:spcBef>
              <a:spcAft>
                <a:spcPts val="0"/>
              </a:spcAft>
              <a:buClr>
                <a:schemeClr val="lt1"/>
              </a:buClr>
              <a:buSzPts val="4200"/>
              <a:buNone/>
              <a:defRPr sz="5600">
                <a:solidFill>
                  <a:schemeClr val="lt1"/>
                </a:solidFill>
              </a:defRPr>
            </a:lvl3pPr>
            <a:lvl4pPr lvl="3" rtl="0">
              <a:spcBef>
                <a:spcPts val="0"/>
              </a:spcBef>
              <a:spcAft>
                <a:spcPts val="0"/>
              </a:spcAft>
              <a:buClr>
                <a:schemeClr val="lt1"/>
              </a:buClr>
              <a:buSzPts val="4200"/>
              <a:buNone/>
              <a:defRPr sz="5600">
                <a:solidFill>
                  <a:schemeClr val="lt1"/>
                </a:solidFill>
              </a:defRPr>
            </a:lvl4pPr>
            <a:lvl5pPr lvl="4" rtl="0">
              <a:spcBef>
                <a:spcPts val="0"/>
              </a:spcBef>
              <a:spcAft>
                <a:spcPts val="0"/>
              </a:spcAft>
              <a:buClr>
                <a:schemeClr val="lt1"/>
              </a:buClr>
              <a:buSzPts val="4200"/>
              <a:buNone/>
              <a:defRPr sz="5600">
                <a:solidFill>
                  <a:schemeClr val="lt1"/>
                </a:solidFill>
              </a:defRPr>
            </a:lvl5pPr>
            <a:lvl6pPr lvl="5" rtl="0">
              <a:spcBef>
                <a:spcPts val="0"/>
              </a:spcBef>
              <a:spcAft>
                <a:spcPts val="0"/>
              </a:spcAft>
              <a:buClr>
                <a:schemeClr val="lt1"/>
              </a:buClr>
              <a:buSzPts val="4200"/>
              <a:buNone/>
              <a:defRPr sz="5600">
                <a:solidFill>
                  <a:schemeClr val="lt1"/>
                </a:solidFill>
              </a:defRPr>
            </a:lvl6pPr>
            <a:lvl7pPr lvl="6" rtl="0">
              <a:spcBef>
                <a:spcPts val="0"/>
              </a:spcBef>
              <a:spcAft>
                <a:spcPts val="0"/>
              </a:spcAft>
              <a:buClr>
                <a:schemeClr val="lt1"/>
              </a:buClr>
              <a:buSzPts val="4200"/>
              <a:buNone/>
              <a:defRPr sz="5600">
                <a:solidFill>
                  <a:schemeClr val="lt1"/>
                </a:solidFill>
              </a:defRPr>
            </a:lvl7pPr>
            <a:lvl8pPr lvl="7" rtl="0">
              <a:spcBef>
                <a:spcPts val="0"/>
              </a:spcBef>
              <a:spcAft>
                <a:spcPts val="0"/>
              </a:spcAft>
              <a:buClr>
                <a:schemeClr val="lt1"/>
              </a:buClr>
              <a:buSzPts val="4200"/>
              <a:buNone/>
              <a:defRPr sz="5600">
                <a:solidFill>
                  <a:schemeClr val="lt1"/>
                </a:solidFill>
              </a:defRPr>
            </a:lvl8pPr>
            <a:lvl9pPr lvl="8" rtl="0">
              <a:spcBef>
                <a:spcPts val="0"/>
              </a:spcBef>
              <a:spcAft>
                <a:spcPts val="0"/>
              </a:spcAft>
              <a:buClr>
                <a:schemeClr val="lt1"/>
              </a:buClr>
              <a:buSzPts val="4200"/>
              <a:buNone/>
              <a:defRPr sz="5600">
                <a:solidFill>
                  <a:schemeClr val="lt1"/>
                </a:solidFill>
              </a:defRPr>
            </a:lvl9pPr>
          </a:lstStyle>
          <a:p>
            <a:endParaRPr/>
          </a:p>
        </p:txBody>
      </p:sp>
    </p:spTree>
    <p:extLst>
      <p:ext uri="{BB962C8B-B14F-4D97-AF65-F5344CB8AC3E}">
        <p14:creationId xmlns:p14="http://schemas.microsoft.com/office/powerpoint/2010/main" val="401956827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 Four Columns">
  <p:cSld name="Title + Four Columns">
    <p:bg>
      <p:bgPr>
        <a:blipFill>
          <a:blip r:embed="rId2">
            <a:alphaModFix/>
          </a:blip>
          <a:stretch>
            <a:fillRect/>
          </a:stretch>
        </a:blipFill>
        <a:effectLst/>
      </p:bgPr>
    </p:bg>
    <p:spTree>
      <p:nvGrpSpPr>
        <p:cNvPr id="1" name="Shape 91"/>
        <p:cNvGrpSpPr/>
        <p:nvPr/>
      </p:nvGrpSpPr>
      <p:grpSpPr>
        <a:xfrm>
          <a:off x="0" y="0"/>
          <a:ext cx="0" cy="0"/>
          <a:chOff x="0" y="0"/>
          <a:chExt cx="0" cy="0"/>
        </a:xfrm>
      </p:grpSpPr>
      <p:sp>
        <p:nvSpPr>
          <p:cNvPr id="92" name="Google Shape;92;p25"/>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93" name="Google Shape;93;p25"/>
          <p:cNvSpPr txBox="1">
            <a:spLocks noGrp="1"/>
          </p:cNvSpPr>
          <p:nvPr>
            <p:ph type="title" idx="2"/>
          </p:nvPr>
        </p:nvSpPr>
        <p:spPr>
          <a:xfrm>
            <a:off x="1197848" y="4070167"/>
            <a:ext cx="22288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94" name="Google Shape;94;p25"/>
          <p:cNvSpPr txBox="1">
            <a:spLocks noGrp="1"/>
          </p:cNvSpPr>
          <p:nvPr>
            <p:ph type="subTitle" idx="1"/>
          </p:nvPr>
        </p:nvSpPr>
        <p:spPr>
          <a:xfrm>
            <a:off x="1197852" y="4745116"/>
            <a:ext cx="2228800" cy="154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95" name="Google Shape;95;p25"/>
          <p:cNvSpPr txBox="1">
            <a:spLocks noGrp="1"/>
          </p:cNvSpPr>
          <p:nvPr>
            <p:ph type="title" idx="3"/>
          </p:nvPr>
        </p:nvSpPr>
        <p:spPr>
          <a:xfrm>
            <a:off x="3720348" y="4070167"/>
            <a:ext cx="22288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96" name="Google Shape;96;p25"/>
          <p:cNvSpPr txBox="1">
            <a:spLocks noGrp="1"/>
          </p:cNvSpPr>
          <p:nvPr>
            <p:ph type="subTitle" idx="4"/>
          </p:nvPr>
        </p:nvSpPr>
        <p:spPr>
          <a:xfrm>
            <a:off x="3720352" y="4745116"/>
            <a:ext cx="2228800" cy="154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97" name="Google Shape;97;p25"/>
          <p:cNvSpPr txBox="1">
            <a:spLocks noGrp="1"/>
          </p:cNvSpPr>
          <p:nvPr>
            <p:ph type="title" idx="5"/>
          </p:nvPr>
        </p:nvSpPr>
        <p:spPr>
          <a:xfrm>
            <a:off x="6242848" y="4070167"/>
            <a:ext cx="22288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98" name="Google Shape;98;p25"/>
          <p:cNvSpPr txBox="1">
            <a:spLocks noGrp="1"/>
          </p:cNvSpPr>
          <p:nvPr>
            <p:ph type="subTitle" idx="6"/>
          </p:nvPr>
        </p:nvSpPr>
        <p:spPr>
          <a:xfrm>
            <a:off x="6242852" y="4745116"/>
            <a:ext cx="2228800" cy="154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99" name="Google Shape;99;p25"/>
          <p:cNvSpPr txBox="1">
            <a:spLocks noGrp="1"/>
          </p:cNvSpPr>
          <p:nvPr>
            <p:ph type="title" idx="7"/>
          </p:nvPr>
        </p:nvSpPr>
        <p:spPr>
          <a:xfrm>
            <a:off x="8765348" y="4070167"/>
            <a:ext cx="22288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100" name="Google Shape;100;p25"/>
          <p:cNvSpPr txBox="1">
            <a:spLocks noGrp="1"/>
          </p:cNvSpPr>
          <p:nvPr>
            <p:ph type="subTitle" idx="8"/>
          </p:nvPr>
        </p:nvSpPr>
        <p:spPr>
          <a:xfrm>
            <a:off x="8765352" y="4745116"/>
            <a:ext cx="2228800" cy="154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Tree>
    <p:extLst>
      <p:ext uri="{BB962C8B-B14F-4D97-AF65-F5344CB8AC3E}">
        <p14:creationId xmlns:p14="http://schemas.microsoft.com/office/powerpoint/2010/main" val="96750060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hree Numbers">
  <p:cSld name="Three Numbers">
    <p:bg>
      <p:bgPr>
        <a:blipFill>
          <a:blip r:embed="rId2">
            <a:alphaModFix/>
          </a:blip>
          <a:stretch>
            <a:fillRect/>
          </a:stretch>
        </a:blipFill>
        <a:effectLst/>
      </p:bgPr>
    </p:bg>
    <p:spTree>
      <p:nvGrpSpPr>
        <p:cNvPr id="1" name="Shape 101"/>
        <p:cNvGrpSpPr/>
        <p:nvPr/>
      </p:nvGrpSpPr>
      <p:grpSpPr>
        <a:xfrm>
          <a:off x="0" y="0"/>
          <a:ext cx="0" cy="0"/>
          <a:chOff x="0" y="0"/>
          <a:chExt cx="0" cy="0"/>
        </a:xfrm>
      </p:grpSpPr>
      <p:sp>
        <p:nvSpPr>
          <p:cNvPr id="102" name="Google Shape;102;p26"/>
          <p:cNvSpPr txBox="1">
            <a:spLocks noGrp="1"/>
          </p:cNvSpPr>
          <p:nvPr>
            <p:ph type="title" hasCustomPrompt="1"/>
          </p:nvPr>
        </p:nvSpPr>
        <p:spPr>
          <a:xfrm>
            <a:off x="6662400" y="882457"/>
            <a:ext cx="4212400" cy="965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6400">
                <a:solidFill>
                  <a:schemeClr val="lt1"/>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03" name="Google Shape;103;p26"/>
          <p:cNvSpPr txBox="1">
            <a:spLocks noGrp="1"/>
          </p:cNvSpPr>
          <p:nvPr>
            <p:ph type="subTitle" idx="1"/>
          </p:nvPr>
        </p:nvSpPr>
        <p:spPr>
          <a:xfrm>
            <a:off x="6548000" y="1687800"/>
            <a:ext cx="4441200" cy="55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867">
                <a:solidFill>
                  <a:schemeClr val="accent1"/>
                </a:solidFill>
              </a:defRPr>
            </a:lvl1pPr>
            <a:lvl2pPr lvl="1" algn="ctr" rtl="0">
              <a:lnSpc>
                <a:spcPct val="100000"/>
              </a:lnSpc>
              <a:spcBef>
                <a:spcPts val="0"/>
              </a:spcBef>
              <a:spcAft>
                <a:spcPts val="0"/>
              </a:spcAft>
              <a:buClr>
                <a:schemeClr val="accent1"/>
              </a:buClr>
              <a:buSzPts val="2100"/>
              <a:buNone/>
              <a:defRPr sz="2800">
                <a:solidFill>
                  <a:schemeClr val="accent1"/>
                </a:solidFill>
              </a:defRPr>
            </a:lvl2pPr>
            <a:lvl3pPr lvl="2" algn="ctr" rtl="0">
              <a:lnSpc>
                <a:spcPct val="100000"/>
              </a:lnSpc>
              <a:spcBef>
                <a:spcPts val="0"/>
              </a:spcBef>
              <a:spcAft>
                <a:spcPts val="0"/>
              </a:spcAft>
              <a:buClr>
                <a:schemeClr val="accent1"/>
              </a:buClr>
              <a:buSzPts val="2100"/>
              <a:buNone/>
              <a:defRPr sz="2800">
                <a:solidFill>
                  <a:schemeClr val="accent1"/>
                </a:solidFill>
              </a:defRPr>
            </a:lvl3pPr>
            <a:lvl4pPr lvl="3" algn="ctr" rtl="0">
              <a:lnSpc>
                <a:spcPct val="100000"/>
              </a:lnSpc>
              <a:spcBef>
                <a:spcPts val="0"/>
              </a:spcBef>
              <a:spcAft>
                <a:spcPts val="0"/>
              </a:spcAft>
              <a:buClr>
                <a:schemeClr val="accent1"/>
              </a:buClr>
              <a:buSzPts val="2100"/>
              <a:buNone/>
              <a:defRPr sz="2800">
                <a:solidFill>
                  <a:schemeClr val="accent1"/>
                </a:solidFill>
              </a:defRPr>
            </a:lvl4pPr>
            <a:lvl5pPr lvl="4" algn="ctr" rtl="0">
              <a:lnSpc>
                <a:spcPct val="100000"/>
              </a:lnSpc>
              <a:spcBef>
                <a:spcPts val="0"/>
              </a:spcBef>
              <a:spcAft>
                <a:spcPts val="0"/>
              </a:spcAft>
              <a:buClr>
                <a:schemeClr val="accent1"/>
              </a:buClr>
              <a:buSzPts val="2100"/>
              <a:buNone/>
              <a:defRPr sz="2800">
                <a:solidFill>
                  <a:schemeClr val="accent1"/>
                </a:solidFill>
              </a:defRPr>
            </a:lvl5pPr>
            <a:lvl6pPr lvl="5" algn="ctr" rtl="0">
              <a:lnSpc>
                <a:spcPct val="100000"/>
              </a:lnSpc>
              <a:spcBef>
                <a:spcPts val="0"/>
              </a:spcBef>
              <a:spcAft>
                <a:spcPts val="0"/>
              </a:spcAft>
              <a:buClr>
                <a:schemeClr val="accent1"/>
              </a:buClr>
              <a:buSzPts val="2100"/>
              <a:buNone/>
              <a:defRPr sz="2800">
                <a:solidFill>
                  <a:schemeClr val="accent1"/>
                </a:solidFill>
              </a:defRPr>
            </a:lvl6pPr>
            <a:lvl7pPr lvl="6" algn="ctr" rtl="0">
              <a:lnSpc>
                <a:spcPct val="100000"/>
              </a:lnSpc>
              <a:spcBef>
                <a:spcPts val="0"/>
              </a:spcBef>
              <a:spcAft>
                <a:spcPts val="0"/>
              </a:spcAft>
              <a:buClr>
                <a:schemeClr val="accent1"/>
              </a:buClr>
              <a:buSzPts val="2100"/>
              <a:buNone/>
              <a:defRPr sz="2800">
                <a:solidFill>
                  <a:schemeClr val="accent1"/>
                </a:solidFill>
              </a:defRPr>
            </a:lvl7pPr>
            <a:lvl8pPr lvl="7" algn="ctr" rtl="0">
              <a:lnSpc>
                <a:spcPct val="100000"/>
              </a:lnSpc>
              <a:spcBef>
                <a:spcPts val="0"/>
              </a:spcBef>
              <a:spcAft>
                <a:spcPts val="0"/>
              </a:spcAft>
              <a:buClr>
                <a:schemeClr val="accent1"/>
              </a:buClr>
              <a:buSzPts val="2100"/>
              <a:buNone/>
              <a:defRPr sz="2800">
                <a:solidFill>
                  <a:schemeClr val="accent1"/>
                </a:solidFill>
              </a:defRPr>
            </a:lvl8pPr>
            <a:lvl9pPr lvl="8" algn="ctr" rtl="0">
              <a:lnSpc>
                <a:spcPct val="100000"/>
              </a:lnSpc>
              <a:spcBef>
                <a:spcPts val="0"/>
              </a:spcBef>
              <a:spcAft>
                <a:spcPts val="0"/>
              </a:spcAft>
              <a:buClr>
                <a:schemeClr val="accent1"/>
              </a:buClr>
              <a:buSzPts val="2100"/>
              <a:buNone/>
              <a:defRPr sz="2800">
                <a:solidFill>
                  <a:schemeClr val="accent1"/>
                </a:solidFill>
              </a:defRPr>
            </a:lvl9pPr>
          </a:lstStyle>
          <a:p>
            <a:endParaRPr/>
          </a:p>
        </p:txBody>
      </p:sp>
      <p:sp>
        <p:nvSpPr>
          <p:cNvPr id="104" name="Google Shape;104;p26"/>
          <p:cNvSpPr txBox="1">
            <a:spLocks noGrp="1"/>
          </p:cNvSpPr>
          <p:nvPr>
            <p:ph type="title" idx="2" hasCustomPrompt="1"/>
          </p:nvPr>
        </p:nvSpPr>
        <p:spPr>
          <a:xfrm>
            <a:off x="6662400" y="2798924"/>
            <a:ext cx="4212400" cy="965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6400">
                <a:solidFill>
                  <a:schemeClr val="lt1"/>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05" name="Google Shape;105;p26"/>
          <p:cNvSpPr txBox="1">
            <a:spLocks noGrp="1"/>
          </p:cNvSpPr>
          <p:nvPr>
            <p:ph type="subTitle" idx="3"/>
          </p:nvPr>
        </p:nvSpPr>
        <p:spPr>
          <a:xfrm>
            <a:off x="6548000" y="3604267"/>
            <a:ext cx="4441200" cy="55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867">
                <a:solidFill>
                  <a:schemeClr val="accent1"/>
                </a:solidFill>
              </a:defRPr>
            </a:lvl1pPr>
            <a:lvl2pPr lvl="1" algn="ctr" rtl="0">
              <a:lnSpc>
                <a:spcPct val="100000"/>
              </a:lnSpc>
              <a:spcBef>
                <a:spcPts val="0"/>
              </a:spcBef>
              <a:spcAft>
                <a:spcPts val="0"/>
              </a:spcAft>
              <a:buClr>
                <a:schemeClr val="accent1"/>
              </a:buClr>
              <a:buSzPts val="2100"/>
              <a:buNone/>
              <a:defRPr sz="2800">
                <a:solidFill>
                  <a:schemeClr val="accent1"/>
                </a:solidFill>
              </a:defRPr>
            </a:lvl2pPr>
            <a:lvl3pPr lvl="2" algn="ctr" rtl="0">
              <a:lnSpc>
                <a:spcPct val="100000"/>
              </a:lnSpc>
              <a:spcBef>
                <a:spcPts val="0"/>
              </a:spcBef>
              <a:spcAft>
                <a:spcPts val="0"/>
              </a:spcAft>
              <a:buClr>
                <a:schemeClr val="accent1"/>
              </a:buClr>
              <a:buSzPts val="2100"/>
              <a:buNone/>
              <a:defRPr sz="2800">
                <a:solidFill>
                  <a:schemeClr val="accent1"/>
                </a:solidFill>
              </a:defRPr>
            </a:lvl3pPr>
            <a:lvl4pPr lvl="3" algn="ctr" rtl="0">
              <a:lnSpc>
                <a:spcPct val="100000"/>
              </a:lnSpc>
              <a:spcBef>
                <a:spcPts val="0"/>
              </a:spcBef>
              <a:spcAft>
                <a:spcPts val="0"/>
              </a:spcAft>
              <a:buClr>
                <a:schemeClr val="accent1"/>
              </a:buClr>
              <a:buSzPts val="2100"/>
              <a:buNone/>
              <a:defRPr sz="2800">
                <a:solidFill>
                  <a:schemeClr val="accent1"/>
                </a:solidFill>
              </a:defRPr>
            </a:lvl4pPr>
            <a:lvl5pPr lvl="4" algn="ctr" rtl="0">
              <a:lnSpc>
                <a:spcPct val="100000"/>
              </a:lnSpc>
              <a:spcBef>
                <a:spcPts val="0"/>
              </a:spcBef>
              <a:spcAft>
                <a:spcPts val="0"/>
              </a:spcAft>
              <a:buClr>
                <a:schemeClr val="accent1"/>
              </a:buClr>
              <a:buSzPts val="2100"/>
              <a:buNone/>
              <a:defRPr sz="2800">
                <a:solidFill>
                  <a:schemeClr val="accent1"/>
                </a:solidFill>
              </a:defRPr>
            </a:lvl5pPr>
            <a:lvl6pPr lvl="5" algn="ctr" rtl="0">
              <a:lnSpc>
                <a:spcPct val="100000"/>
              </a:lnSpc>
              <a:spcBef>
                <a:spcPts val="0"/>
              </a:spcBef>
              <a:spcAft>
                <a:spcPts val="0"/>
              </a:spcAft>
              <a:buClr>
                <a:schemeClr val="accent1"/>
              </a:buClr>
              <a:buSzPts val="2100"/>
              <a:buNone/>
              <a:defRPr sz="2800">
                <a:solidFill>
                  <a:schemeClr val="accent1"/>
                </a:solidFill>
              </a:defRPr>
            </a:lvl6pPr>
            <a:lvl7pPr lvl="6" algn="ctr" rtl="0">
              <a:lnSpc>
                <a:spcPct val="100000"/>
              </a:lnSpc>
              <a:spcBef>
                <a:spcPts val="0"/>
              </a:spcBef>
              <a:spcAft>
                <a:spcPts val="0"/>
              </a:spcAft>
              <a:buClr>
                <a:schemeClr val="accent1"/>
              </a:buClr>
              <a:buSzPts val="2100"/>
              <a:buNone/>
              <a:defRPr sz="2800">
                <a:solidFill>
                  <a:schemeClr val="accent1"/>
                </a:solidFill>
              </a:defRPr>
            </a:lvl7pPr>
            <a:lvl8pPr lvl="7" algn="ctr" rtl="0">
              <a:lnSpc>
                <a:spcPct val="100000"/>
              </a:lnSpc>
              <a:spcBef>
                <a:spcPts val="0"/>
              </a:spcBef>
              <a:spcAft>
                <a:spcPts val="0"/>
              </a:spcAft>
              <a:buClr>
                <a:schemeClr val="accent1"/>
              </a:buClr>
              <a:buSzPts val="2100"/>
              <a:buNone/>
              <a:defRPr sz="2800">
                <a:solidFill>
                  <a:schemeClr val="accent1"/>
                </a:solidFill>
              </a:defRPr>
            </a:lvl8pPr>
            <a:lvl9pPr lvl="8" algn="ctr" rtl="0">
              <a:lnSpc>
                <a:spcPct val="100000"/>
              </a:lnSpc>
              <a:spcBef>
                <a:spcPts val="0"/>
              </a:spcBef>
              <a:spcAft>
                <a:spcPts val="0"/>
              </a:spcAft>
              <a:buClr>
                <a:schemeClr val="accent1"/>
              </a:buClr>
              <a:buSzPts val="2100"/>
              <a:buNone/>
              <a:defRPr sz="2800">
                <a:solidFill>
                  <a:schemeClr val="accent1"/>
                </a:solidFill>
              </a:defRPr>
            </a:lvl9pPr>
          </a:lstStyle>
          <a:p>
            <a:endParaRPr/>
          </a:p>
        </p:txBody>
      </p:sp>
      <p:sp>
        <p:nvSpPr>
          <p:cNvPr id="106" name="Google Shape;106;p26"/>
          <p:cNvSpPr txBox="1">
            <a:spLocks noGrp="1"/>
          </p:cNvSpPr>
          <p:nvPr>
            <p:ph type="title" idx="4" hasCustomPrompt="1"/>
          </p:nvPr>
        </p:nvSpPr>
        <p:spPr>
          <a:xfrm>
            <a:off x="6662400" y="4715391"/>
            <a:ext cx="4212400" cy="965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6400">
                <a:solidFill>
                  <a:schemeClr val="lt1"/>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07" name="Google Shape;107;p26"/>
          <p:cNvSpPr txBox="1">
            <a:spLocks noGrp="1"/>
          </p:cNvSpPr>
          <p:nvPr>
            <p:ph type="subTitle" idx="5"/>
          </p:nvPr>
        </p:nvSpPr>
        <p:spPr>
          <a:xfrm>
            <a:off x="6548000" y="5520733"/>
            <a:ext cx="4441200" cy="55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867">
                <a:solidFill>
                  <a:schemeClr val="accent1"/>
                </a:solidFill>
              </a:defRPr>
            </a:lvl1pPr>
            <a:lvl2pPr lvl="1" algn="ctr" rtl="0">
              <a:lnSpc>
                <a:spcPct val="100000"/>
              </a:lnSpc>
              <a:spcBef>
                <a:spcPts val="0"/>
              </a:spcBef>
              <a:spcAft>
                <a:spcPts val="0"/>
              </a:spcAft>
              <a:buClr>
                <a:schemeClr val="accent1"/>
              </a:buClr>
              <a:buSzPts val="2100"/>
              <a:buNone/>
              <a:defRPr sz="2800">
                <a:solidFill>
                  <a:schemeClr val="accent1"/>
                </a:solidFill>
              </a:defRPr>
            </a:lvl2pPr>
            <a:lvl3pPr lvl="2" algn="ctr" rtl="0">
              <a:lnSpc>
                <a:spcPct val="100000"/>
              </a:lnSpc>
              <a:spcBef>
                <a:spcPts val="0"/>
              </a:spcBef>
              <a:spcAft>
                <a:spcPts val="0"/>
              </a:spcAft>
              <a:buClr>
                <a:schemeClr val="accent1"/>
              </a:buClr>
              <a:buSzPts val="2100"/>
              <a:buNone/>
              <a:defRPr sz="2800">
                <a:solidFill>
                  <a:schemeClr val="accent1"/>
                </a:solidFill>
              </a:defRPr>
            </a:lvl3pPr>
            <a:lvl4pPr lvl="3" algn="ctr" rtl="0">
              <a:lnSpc>
                <a:spcPct val="100000"/>
              </a:lnSpc>
              <a:spcBef>
                <a:spcPts val="0"/>
              </a:spcBef>
              <a:spcAft>
                <a:spcPts val="0"/>
              </a:spcAft>
              <a:buClr>
                <a:schemeClr val="accent1"/>
              </a:buClr>
              <a:buSzPts val="2100"/>
              <a:buNone/>
              <a:defRPr sz="2800">
                <a:solidFill>
                  <a:schemeClr val="accent1"/>
                </a:solidFill>
              </a:defRPr>
            </a:lvl4pPr>
            <a:lvl5pPr lvl="4" algn="ctr" rtl="0">
              <a:lnSpc>
                <a:spcPct val="100000"/>
              </a:lnSpc>
              <a:spcBef>
                <a:spcPts val="0"/>
              </a:spcBef>
              <a:spcAft>
                <a:spcPts val="0"/>
              </a:spcAft>
              <a:buClr>
                <a:schemeClr val="accent1"/>
              </a:buClr>
              <a:buSzPts val="2100"/>
              <a:buNone/>
              <a:defRPr sz="2800">
                <a:solidFill>
                  <a:schemeClr val="accent1"/>
                </a:solidFill>
              </a:defRPr>
            </a:lvl5pPr>
            <a:lvl6pPr lvl="5" algn="ctr" rtl="0">
              <a:lnSpc>
                <a:spcPct val="100000"/>
              </a:lnSpc>
              <a:spcBef>
                <a:spcPts val="0"/>
              </a:spcBef>
              <a:spcAft>
                <a:spcPts val="0"/>
              </a:spcAft>
              <a:buClr>
                <a:schemeClr val="accent1"/>
              </a:buClr>
              <a:buSzPts val="2100"/>
              <a:buNone/>
              <a:defRPr sz="2800">
                <a:solidFill>
                  <a:schemeClr val="accent1"/>
                </a:solidFill>
              </a:defRPr>
            </a:lvl6pPr>
            <a:lvl7pPr lvl="6" algn="ctr" rtl="0">
              <a:lnSpc>
                <a:spcPct val="100000"/>
              </a:lnSpc>
              <a:spcBef>
                <a:spcPts val="0"/>
              </a:spcBef>
              <a:spcAft>
                <a:spcPts val="0"/>
              </a:spcAft>
              <a:buClr>
                <a:schemeClr val="accent1"/>
              </a:buClr>
              <a:buSzPts val="2100"/>
              <a:buNone/>
              <a:defRPr sz="2800">
                <a:solidFill>
                  <a:schemeClr val="accent1"/>
                </a:solidFill>
              </a:defRPr>
            </a:lvl7pPr>
            <a:lvl8pPr lvl="7" algn="ctr" rtl="0">
              <a:lnSpc>
                <a:spcPct val="100000"/>
              </a:lnSpc>
              <a:spcBef>
                <a:spcPts val="0"/>
              </a:spcBef>
              <a:spcAft>
                <a:spcPts val="0"/>
              </a:spcAft>
              <a:buClr>
                <a:schemeClr val="accent1"/>
              </a:buClr>
              <a:buSzPts val="2100"/>
              <a:buNone/>
              <a:defRPr sz="2800">
                <a:solidFill>
                  <a:schemeClr val="accent1"/>
                </a:solidFill>
              </a:defRPr>
            </a:lvl8pPr>
            <a:lvl9pPr lvl="8" algn="ctr" rtl="0">
              <a:lnSpc>
                <a:spcPct val="100000"/>
              </a:lnSpc>
              <a:spcBef>
                <a:spcPts val="0"/>
              </a:spcBef>
              <a:spcAft>
                <a:spcPts val="0"/>
              </a:spcAft>
              <a:buClr>
                <a:schemeClr val="accent1"/>
              </a:buClr>
              <a:buSzPts val="2100"/>
              <a:buNone/>
              <a:defRPr sz="2800">
                <a:solidFill>
                  <a:schemeClr val="accent1"/>
                </a:solidFill>
              </a:defRPr>
            </a:lvl9pPr>
          </a:lstStyle>
          <a:p>
            <a:endParaRPr/>
          </a:p>
        </p:txBody>
      </p:sp>
    </p:spTree>
    <p:extLst>
      <p:ext uri="{BB962C8B-B14F-4D97-AF65-F5344CB8AC3E}">
        <p14:creationId xmlns:p14="http://schemas.microsoft.com/office/powerpoint/2010/main" val="148225933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 Six Columns  ">
  <p:cSld name="Title + Six Columns  ">
    <p:bg>
      <p:bgPr>
        <a:blipFill>
          <a:blip r:embed="rId2">
            <a:alphaModFix/>
          </a:blip>
          <a:stretch>
            <a:fillRect/>
          </a:stretch>
        </a:blipFill>
        <a:effectLst/>
      </p:bgPr>
    </p:bg>
    <p:spTree>
      <p:nvGrpSpPr>
        <p:cNvPr id="1" name="Shape 108"/>
        <p:cNvGrpSpPr/>
        <p:nvPr/>
      </p:nvGrpSpPr>
      <p:grpSpPr>
        <a:xfrm>
          <a:off x="0" y="0"/>
          <a:ext cx="0" cy="0"/>
          <a:chOff x="0" y="0"/>
          <a:chExt cx="0" cy="0"/>
        </a:xfrm>
      </p:grpSpPr>
      <p:sp>
        <p:nvSpPr>
          <p:cNvPr id="109" name="Google Shape;109;p27"/>
          <p:cNvSpPr txBox="1">
            <a:spLocks noGrp="1"/>
          </p:cNvSpPr>
          <p:nvPr>
            <p:ph type="title"/>
          </p:nvPr>
        </p:nvSpPr>
        <p:spPr>
          <a:xfrm>
            <a:off x="4717996" y="2424721"/>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110" name="Google Shape;110;p27"/>
          <p:cNvSpPr txBox="1">
            <a:spLocks noGrp="1"/>
          </p:cNvSpPr>
          <p:nvPr>
            <p:ph type="subTitle" idx="1"/>
          </p:nvPr>
        </p:nvSpPr>
        <p:spPr>
          <a:xfrm>
            <a:off x="4717997" y="3099687"/>
            <a:ext cx="2756000" cy="8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111" name="Google Shape;111;p27"/>
          <p:cNvSpPr txBox="1">
            <a:spLocks noGrp="1"/>
          </p:cNvSpPr>
          <p:nvPr>
            <p:ph type="title" idx="2"/>
          </p:nvPr>
        </p:nvSpPr>
        <p:spPr>
          <a:xfrm>
            <a:off x="8038071" y="2424721"/>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112" name="Google Shape;112;p27"/>
          <p:cNvSpPr txBox="1">
            <a:spLocks noGrp="1"/>
          </p:cNvSpPr>
          <p:nvPr>
            <p:ph type="subTitle" idx="3"/>
          </p:nvPr>
        </p:nvSpPr>
        <p:spPr>
          <a:xfrm>
            <a:off x="8038069" y="3099687"/>
            <a:ext cx="2756000" cy="8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113" name="Google Shape;113;p27"/>
          <p:cNvSpPr txBox="1">
            <a:spLocks noGrp="1"/>
          </p:cNvSpPr>
          <p:nvPr>
            <p:ph type="title" idx="4"/>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14" name="Google Shape;114;p27"/>
          <p:cNvSpPr txBox="1">
            <a:spLocks noGrp="1"/>
          </p:cNvSpPr>
          <p:nvPr>
            <p:ph type="title" idx="5"/>
          </p:nvPr>
        </p:nvSpPr>
        <p:spPr>
          <a:xfrm>
            <a:off x="1397929" y="2424721"/>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115" name="Google Shape;115;p27"/>
          <p:cNvSpPr txBox="1">
            <a:spLocks noGrp="1"/>
          </p:cNvSpPr>
          <p:nvPr>
            <p:ph type="subTitle" idx="6"/>
          </p:nvPr>
        </p:nvSpPr>
        <p:spPr>
          <a:xfrm>
            <a:off x="1397933" y="3099687"/>
            <a:ext cx="2756000" cy="8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116" name="Google Shape;116;p27"/>
          <p:cNvSpPr txBox="1">
            <a:spLocks noGrp="1"/>
          </p:cNvSpPr>
          <p:nvPr>
            <p:ph type="title" idx="7"/>
          </p:nvPr>
        </p:nvSpPr>
        <p:spPr>
          <a:xfrm>
            <a:off x="4717996" y="4433380"/>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117" name="Google Shape;117;p27"/>
          <p:cNvSpPr txBox="1">
            <a:spLocks noGrp="1"/>
          </p:cNvSpPr>
          <p:nvPr>
            <p:ph type="subTitle" idx="8"/>
          </p:nvPr>
        </p:nvSpPr>
        <p:spPr>
          <a:xfrm>
            <a:off x="4717997" y="5108345"/>
            <a:ext cx="2756000" cy="8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118" name="Google Shape;118;p27"/>
          <p:cNvSpPr txBox="1">
            <a:spLocks noGrp="1"/>
          </p:cNvSpPr>
          <p:nvPr>
            <p:ph type="title" idx="9"/>
          </p:nvPr>
        </p:nvSpPr>
        <p:spPr>
          <a:xfrm>
            <a:off x="8038071" y="4433380"/>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119" name="Google Shape;119;p27"/>
          <p:cNvSpPr txBox="1">
            <a:spLocks noGrp="1"/>
          </p:cNvSpPr>
          <p:nvPr>
            <p:ph type="subTitle" idx="13"/>
          </p:nvPr>
        </p:nvSpPr>
        <p:spPr>
          <a:xfrm>
            <a:off x="8038069" y="5108345"/>
            <a:ext cx="2756000" cy="8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120" name="Google Shape;120;p27"/>
          <p:cNvSpPr txBox="1">
            <a:spLocks noGrp="1"/>
          </p:cNvSpPr>
          <p:nvPr>
            <p:ph type="title" idx="14"/>
          </p:nvPr>
        </p:nvSpPr>
        <p:spPr>
          <a:xfrm>
            <a:off x="1397929" y="4433380"/>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121" name="Google Shape;121;p27"/>
          <p:cNvSpPr txBox="1">
            <a:spLocks noGrp="1"/>
          </p:cNvSpPr>
          <p:nvPr>
            <p:ph type="subTitle" idx="15"/>
          </p:nvPr>
        </p:nvSpPr>
        <p:spPr>
          <a:xfrm>
            <a:off x="1397933" y="5108345"/>
            <a:ext cx="2756000" cy="8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Tree>
    <p:extLst>
      <p:ext uri="{BB962C8B-B14F-4D97-AF65-F5344CB8AC3E}">
        <p14:creationId xmlns:p14="http://schemas.microsoft.com/office/powerpoint/2010/main" val="46622301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 Four Columns 1">
  <p:cSld name="Title + Four Columns 1">
    <p:bg>
      <p:bgPr>
        <a:blipFill>
          <a:blip r:embed="rId2">
            <a:alphaModFix/>
          </a:blip>
          <a:stretch>
            <a:fillRect/>
          </a:stretch>
        </a:blipFill>
        <a:effectLst/>
      </p:bgPr>
    </p:bg>
    <p:spTree>
      <p:nvGrpSpPr>
        <p:cNvPr id="1" name="Shape 122"/>
        <p:cNvGrpSpPr/>
        <p:nvPr/>
      </p:nvGrpSpPr>
      <p:grpSpPr>
        <a:xfrm>
          <a:off x="0" y="0"/>
          <a:ext cx="0" cy="0"/>
          <a:chOff x="0" y="0"/>
          <a:chExt cx="0" cy="0"/>
        </a:xfrm>
      </p:grpSpPr>
      <p:sp>
        <p:nvSpPr>
          <p:cNvPr id="123" name="Google Shape;123;p28"/>
          <p:cNvSpPr txBox="1">
            <a:spLocks noGrp="1"/>
          </p:cNvSpPr>
          <p:nvPr>
            <p:ph type="title"/>
          </p:nvPr>
        </p:nvSpPr>
        <p:spPr>
          <a:xfrm>
            <a:off x="1251333" y="593367"/>
            <a:ext cx="67248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24" name="Google Shape;124;p28"/>
          <p:cNvSpPr txBox="1">
            <a:spLocks noGrp="1"/>
          </p:cNvSpPr>
          <p:nvPr>
            <p:ph type="title" idx="2"/>
          </p:nvPr>
        </p:nvSpPr>
        <p:spPr>
          <a:xfrm>
            <a:off x="1784317" y="3146433"/>
            <a:ext cx="3636800" cy="5008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lt1"/>
              </a:buClr>
              <a:buSzPts val="1400"/>
              <a:buNone/>
              <a:defRPr sz="1867">
                <a:solidFill>
                  <a:schemeClr val="lt1"/>
                </a:solidFill>
              </a:defRPr>
            </a:lvl1pPr>
            <a:lvl2pPr lvl="1" algn="r" rtl="0">
              <a:spcBef>
                <a:spcPts val="0"/>
              </a:spcBef>
              <a:spcAft>
                <a:spcPts val="0"/>
              </a:spcAft>
              <a:buClr>
                <a:schemeClr val="lt1"/>
              </a:buClr>
              <a:buSzPts val="4200"/>
              <a:buNone/>
              <a:defRPr sz="5600">
                <a:solidFill>
                  <a:schemeClr val="lt1"/>
                </a:solidFill>
              </a:defRPr>
            </a:lvl2pPr>
            <a:lvl3pPr lvl="2" algn="r" rtl="0">
              <a:spcBef>
                <a:spcPts val="0"/>
              </a:spcBef>
              <a:spcAft>
                <a:spcPts val="0"/>
              </a:spcAft>
              <a:buClr>
                <a:schemeClr val="lt1"/>
              </a:buClr>
              <a:buSzPts val="4200"/>
              <a:buNone/>
              <a:defRPr sz="5600">
                <a:solidFill>
                  <a:schemeClr val="lt1"/>
                </a:solidFill>
              </a:defRPr>
            </a:lvl3pPr>
            <a:lvl4pPr lvl="3" algn="r" rtl="0">
              <a:spcBef>
                <a:spcPts val="0"/>
              </a:spcBef>
              <a:spcAft>
                <a:spcPts val="0"/>
              </a:spcAft>
              <a:buClr>
                <a:schemeClr val="lt1"/>
              </a:buClr>
              <a:buSzPts val="4200"/>
              <a:buNone/>
              <a:defRPr sz="5600">
                <a:solidFill>
                  <a:schemeClr val="lt1"/>
                </a:solidFill>
              </a:defRPr>
            </a:lvl4pPr>
            <a:lvl5pPr lvl="4" algn="r" rtl="0">
              <a:spcBef>
                <a:spcPts val="0"/>
              </a:spcBef>
              <a:spcAft>
                <a:spcPts val="0"/>
              </a:spcAft>
              <a:buClr>
                <a:schemeClr val="lt1"/>
              </a:buClr>
              <a:buSzPts val="4200"/>
              <a:buNone/>
              <a:defRPr sz="5600">
                <a:solidFill>
                  <a:schemeClr val="lt1"/>
                </a:solidFill>
              </a:defRPr>
            </a:lvl5pPr>
            <a:lvl6pPr lvl="5" algn="r" rtl="0">
              <a:spcBef>
                <a:spcPts val="0"/>
              </a:spcBef>
              <a:spcAft>
                <a:spcPts val="0"/>
              </a:spcAft>
              <a:buClr>
                <a:schemeClr val="lt1"/>
              </a:buClr>
              <a:buSzPts val="4200"/>
              <a:buNone/>
              <a:defRPr sz="5600">
                <a:solidFill>
                  <a:schemeClr val="lt1"/>
                </a:solidFill>
              </a:defRPr>
            </a:lvl6pPr>
            <a:lvl7pPr lvl="6" algn="r" rtl="0">
              <a:spcBef>
                <a:spcPts val="0"/>
              </a:spcBef>
              <a:spcAft>
                <a:spcPts val="0"/>
              </a:spcAft>
              <a:buClr>
                <a:schemeClr val="lt1"/>
              </a:buClr>
              <a:buSzPts val="4200"/>
              <a:buNone/>
              <a:defRPr sz="5600">
                <a:solidFill>
                  <a:schemeClr val="lt1"/>
                </a:solidFill>
              </a:defRPr>
            </a:lvl7pPr>
            <a:lvl8pPr lvl="7" algn="r" rtl="0">
              <a:spcBef>
                <a:spcPts val="0"/>
              </a:spcBef>
              <a:spcAft>
                <a:spcPts val="0"/>
              </a:spcAft>
              <a:buClr>
                <a:schemeClr val="lt1"/>
              </a:buClr>
              <a:buSzPts val="4200"/>
              <a:buNone/>
              <a:defRPr sz="5600">
                <a:solidFill>
                  <a:schemeClr val="lt1"/>
                </a:solidFill>
              </a:defRPr>
            </a:lvl8pPr>
            <a:lvl9pPr lvl="8" algn="r" rtl="0">
              <a:spcBef>
                <a:spcPts val="0"/>
              </a:spcBef>
              <a:spcAft>
                <a:spcPts val="0"/>
              </a:spcAft>
              <a:buClr>
                <a:schemeClr val="lt1"/>
              </a:buClr>
              <a:buSzPts val="4200"/>
              <a:buNone/>
              <a:defRPr sz="5600">
                <a:solidFill>
                  <a:schemeClr val="lt1"/>
                </a:solidFill>
              </a:defRPr>
            </a:lvl9pPr>
          </a:lstStyle>
          <a:p>
            <a:endParaRPr/>
          </a:p>
        </p:txBody>
      </p:sp>
      <p:sp>
        <p:nvSpPr>
          <p:cNvPr id="125" name="Google Shape;125;p28"/>
          <p:cNvSpPr txBox="1">
            <a:spLocks noGrp="1"/>
          </p:cNvSpPr>
          <p:nvPr>
            <p:ph type="subTitle" idx="1"/>
          </p:nvPr>
        </p:nvSpPr>
        <p:spPr>
          <a:xfrm>
            <a:off x="1784317" y="2284068"/>
            <a:ext cx="3636800" cy="807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lt1"/>
              </a:buClr>
              <a:buSzPts val="1600"/>
              <a:buNone/>
              <a:defRPr sz="2133">
                <a:solidFill>
                  <a:schemeClr val="lt1"/>
                </a:solidFill>
              </a:defRPr>
            </a:lvl1pPr>
            <a:lvl2pPr lvl="1" algn="r" rtl="0">
              <a:lnSpc>
                <a:spcPct val="100000"/>
              </a:lnSpc>
              <a:spcBef>
                <a:spcPts val="0"/>
              </a:spcBef>
              <a:spcAft>
                <a:spcPts val="0"/>
              </a:spcAft>
              <a:buClr>
                <a:schemeClr val="lt1"/>
              </a:buClr>
              <a:buSzPts val="1600"/>
              <a:buNone/>
              <a:defRPr sz="2133">
                <a:solidFill>
                  <a:schemeClr val="lt1"/>
                </a:solidFill>
              </a:defRPr>
            </a:lvl2pPr>
            <a:lvl3pPr lvl="2" algn="r" rtl="0">
              <a:lnSpc>
                <a:spcPct val="100000"/>
              </a:lnSpc>
              <a:spcBef>
                <a:spcPts val="0"/>
              </a:spcBef>
              <a:spcAft>
                <a:spcPts val="0"/>
              </a:spcAft>
              <a:buClr>
                <a:schemeClr val="lt1"/>
              </a:buClr>
              <a:buSzPts val="1600"/>
              <a:buNone/>
              <a:defRPr sz="2133">
                <a:solidFill>
                  <a:schemeClr val="lt1"/>
                </a:solidFill>
              </a:defRPr>
            </a:lvl3pPr>
            <a:lvl4pPr lvl="3" algn="r" rtl="0">
              <a:lnSpc>
                <a:spcPct val="100000"/>
              </a:lnSpc>
              <a:spcBef>
                <a:spcPts val="0"/>
              </a:spcBef>
              <a:spcAft>
                <a:spcPts val="0"/>
              </a:spcAft>
              <a:buClr>
                <a:schemeClr val="lt1"/>
              </a:buClr>
              <a:buSzPts val="1600"/>
              <a:buNone/>
              <a:defRPr sz="2133">
                <a:solidFill>
                  <a:schemeClr val="lt1"/>
                </a:solidFill>
              </a:defRPr>
            </a:lvl4pPr>
            <a:lvl5pPr lvl="4" algn="r" rtl="0">
              <a:lnSpc>
                <a:spcPct val="100000"/>
              </a:lnSpc>
              <a:spcBef>
                <a:spcPts val="0"/>
              </a:spcBef>
              <a:spcAft>
                <a:spcPts val="0"/>
              </a:spcAft>
              <a:buClr>
                <a:schemeClr val="lt1"/>
              </a:buClr>
              <a:buSzPts val="1600"/>
              <a:buNone/>
              <a:defRPr sz="2133">
                <a:solidFill>
                  <a:schemeClr val="lt1"/>
                </a:solidFill>
              </a:defRPr>
            </a:lvl5pPr>
            <a:lvl6pPr lvl="5" algn="r" rtl="0">
              <a:lnSpc>
                <a:spcPct val="100000"/>
              </a:lnSpc>
              <a:spcBef>
                <a:spcPts val="0"/>
              </a:spcBef>
              <a:spcAft>
                <a:spcPts val="0"/>
              </a:spcAft>
              <a:buClr>
                <a:schemeClr val="lt1"/>
              </a:buClr>
              <a:buSzPts val="1600"/>
              <a:buNone/>
              <a:defRPr sz="2133">
                <a:solidFill>
                  <a:schemeClr val="lt1"/>
                </a:solidFill>
              </a:defRPr>
            </a:lvl6pPr>
            <a:lvl7pPr lvl="6" algn="r" rtl="0">
              <a:lnSpc>
                <a:spcPct val="100000"/>
              </a:lnSpc>
              <a:spcBef>
                <a:spcPts val="0"/>
              </a:spcBef>
              <a:spcAft>
                <a:spcPts val="0"/>
              </a:spcAft>
              <a:buClr>
                <a:schemeClr val="lt1"/>
              </a:buClr>
              <a:buSzPts val="1600"/>
              <a:buNone/>
              <a:defRPr sz="2133">
                <a:solidFill>
                  <a:schemeClr val="lt1"/>
                </a:solidFill>
              </a:defRPr>
            </a:lvl7pPr>
            <a:lvl8pPr lvl="7" algn="r" rtl="0">
              <a:lnSpc>
                <a:spcPct val="100000"/>
              </a:lnSpc>
              <a:spcBef>
                <a:spcPts val="0"/>
              </a:spcBef>
              <a:spcAft>
                <a:spcPts val="0"/>
              </a:spcAft>
              <a:buClr>
                <a:schemeClr val="lt1"/>
              </a:buClr>
              <a:buSzPts val="1600"/>
              <a:buNone/>
              <a:defRPr sz="2133">
                <a:solidFill>
                  <a:schemeClr val="lt1"/>
                </a:solidFill>
              </a:defRPr>
            </a:lvl8pPr>
            <a:lvl9pPr lvl="8" algn="r" rtl="0">
              <a:lnSpc>
                <a:spcPct val="100000"/>
              </a:lnSpc>
              <a:spcBef>
                <a:spcPts val="0"/>
              </a:spcBef>
              <a:spcAft>
                <a:spcPts val="0"/>
              </a:spcAft>
              <a:buClr>
                <a:schemeClr val="lt1"/>
              </a:buClr>
              <a:buSzPts val="1600"/>
              <a:buNone/>
              <a:defRPr sz="2133">
                <a:solidFill>
                  <a:schemeClr val="lt1"/>
                </a:solidFill>
              </a:defRPr>
            </a:lvl9pPr>
          </a:lstStyle>
          <a:p>
            <a:endParaRPr/>
          </a:p>
        </p:txBody>
      </p:sp>
      <p:sp>
        <p:nvSpPr>
          <p:cNvPr id="126" name="Google Shape;126;p28"/>
          <p:cNvSpPr txBox="1">
            <a:spLocks noGrp="1"/>
          </p:cNvSpPr>
          <p:nvPr>
            <p:ph type="title" idx="3"/>
          </p:nvPr>
        </p:nvSpPr>
        <p:spPr>
          <a:xfrm>
            <a:off x="1784317" y="5318600"/>
            <a:ext cx="3636800" cy="5008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lt1"/>
              </a:buClr>
              <a:buSzPts val="1400"/>
              <a:buNone/>
              <a:defRPr sz="1867">
                <a:solidFill>
                  <a:schemeClr val="lt1"/>
                </a:solidFill>
              </a:defRPr>
            </a:lvl1pPr>
            <a:lvl2pPr lvl="1" algn="r" rtl="0">
              <a:spcBef>
                <a:spcPts val="0"/>
              </a:spcBef>
              <a:spcAft>
                <a:spcPts val="0"/>
              </a:spcAft>
              <a:buClr>
                <a:schemeClr val="lt1"/>
              </a:buClr>
              <a:buSzPts val="4200"/>
              <a:buNone/>
              <a:defRPr sz="5600">
                <a:solidFill>
                  <a:schemeClr val="lt1"/>
                </a:solidFill>
              </a:defRPr>
            </a:lvl2pPr>
            <a:lvl3pPr lvl="2" algn="r" rtl="0">
              <a:spcBef>
                <a:spcPts val="0"/>
              </a:spcBef>
              <a:spcAft>
                <a:spcPts val="0"/>
              </a:spcAft>
              <a:buClr>
                <a:schemeClr val="lt1"/>
              </a:buClr>
              <a:buSzPts val="4200"/>
              <a:buNone/>
              <a:defRPr sz="5600">
                <a:solidFill>
                  <a:schemeClr val="lt1"/>
                </a:solidFill>
              </a:defRPr>
            </a:lvl3pPr>
            <a:lvl4pPr lvl="3" algn="r" rtl="0">
              <a:spcBef>
                <a:spcPts val="0"/>
              </a:spcBef>
              <a:spcAft>
                <a:spcPts val="0"/>
              </a:spcAft>
              <a:buClr>
                <a:schemeClr val="lt1"/>
              </a:buClr>
              <a:buSzPts val="4200"/>
              <a:buNone/>
              <a:defRPr sz="5600">
                <a:solidFill>
                  <a:schemeClr val="lt1"/>
                </a:solidFill>
              </a:defRPr>
            </a:lvl4pPr>
            <a:lvl5pPr lvl="4" algn="r" rtl="0">
              <a:spcBef>
                <a:spcPts val="0"/>
              </a:spcBef>
              <a:spcAft>
                <a:spcPts val="0"/>
              </a:spcAft>
              <a:buClr>
                <a:schemeClr val="lt1"/>
              </a:buClr>
              <a:buSzPts val="4200"/>
              <a:buNone/>
              <a:defRPr sz="5600">
                <a:solidFill>
                  <a:schemeClr val="lt1"/>
                </a:solidFill>
              </a:defRPr>
            </a:lvl5pPr>
            <a:lvl6pPr lvl="5" algn="r" rtl="0">
              <a:spcBef>
                <a:spcPts val="0"/>
              </a:spcBef>
              <a:spcAft>
                <a:spcPts val="0"/>
              </a:spcAft>
              <a:buClr>
                <a:schemeClr val="lt1"/>
              </a:buClr>
              <a:buSzPts val="4200"/>
              <a:buNone/>
              <a:defRPr sz="5600">
                <a:solidFill>
                  <a:schemeClr val="lt1"/>
                </a:solidFill>
              </a:defRPr>
            </a:lvl6pPr>
            <a:lvl7pPr lvl="6" algn="r" rtl="0">
              <a:spcBef>
                <a:spcPts val="0"/>
              </a:spcBef>
              <a:spcAft>
                <a:spcPts val="0"/>
              </a:spcAft>
              <a:buClr>
                <a:schemeClr val="lt1"/>
              </a:buClr>
              <a:buSzPts val="4200"/>
              <a:buNone/>
              <a:defRPr sz="5600">
                <a:solidFill>
                  <a:schemeClr val="lt1"/>
                </a:solidFill>
              </a:defRPr>
            </a:lvl7pPr>
            <a:lvl8pPr lvl="7" algn="r" rtl="0">
              <a:spcBef>
                <a:spcPts val="0"/>
              </a:spcBef>
              <a:spcAft>
                <a:spcPts val="0"/>
              </a:spcAft>
              <a:buClr>
                <a:schemeClr val="lt1"/>
              </a:buClr>
              <a:buSzPts val="4200"/>
              <a:buNone/>
              <a:defRPr sz="5600">
                <a:solidFill>
                  <a:schemeClr val="lt1"/>
                </a:solidFill>
              </a:defRPr>
            </a:lvl8pPr>
            <a:lvl9pPr lvl="8" algn="r" rtl="0">
              <a:spcBef>
                <a:spcPts val="0"/>
              </a:spcBef>
              <a:spcAft>
                <a:spcPts val="0"/>
              </a:spcAft>
              <a:buClr>
                <a:schemeClr val="lt1"/>
              </a:buClr>
              <a:buSzPts val="4200"/>
              <a:buNone/>
              <a:defRPr sz="5600">
                <a:solidFill>
                  <a:schemeClr val="lt1"/>
                </a:solidFill>
              </a:defRPr>
            </a:lvl9pPr>
          </a:lstStyle>
          <a:p>
            <a:endParaRPr/>
          </a:p>
        </p:txBody>
      </p:sp>
      <p:sp>
        <p:nvSpPr>
          <p:cNvPr id="127" name="Google Shape;127;p28"/>
          <p:cNvSpPr txBox="1">
            <a:spLocks noGrp="1"/>
          </p:cNvSpPr>
          <p:nvPr>
            <p:ph type="subTitle" idx="4"/>
          </p:nvPr>
        </p:nvSpPr>
        <p:spPr>
          <a:xfrm>
            <a:off x="1784317" y="4456235"/>
            <a:ext cx="3636800" cy="807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lt1"/>
              </a:buClr>
              <a:buSzPts val="1600"/>
              <a:buNone/>
              <a:defRPr sz="2133">
                <a:solidFill>
                  <a:schemeClr val="lt1"/>
                </a:solidFill>
              </a:defRPr>
            </a:lvl1pPr>
            <a:lvl2pPr lvl="1" algn="r" rtl="0">
              <a:lnSpc>
                <a:spcPct val="100000"/>
              </a:lnSpc>
              <a:spcBef>
                <a:spcPts val="0"/>
              </a:spcBef>
              <a:spcAft>
                <a:spcPts val="0"/>
              </a:spcAft>
              <a:buClr>
                <a:schemeClr val="lt1"/>
              </a:buClr>
              <a:buSzPts val="1600"/>
              <a:buNone/>
              <a:defRPr sz="2133">
                <a:solidFill>
                  <a:schemeClr val="lt1"/>
                </a:solidFill>
              </a:defRPr>
            </a:lvl2pPr>
            <a:lvl3pPr lvl="2" algn="r" rtl="0">
              <a:lnSpc>
                <a:spcPct val="100000"/>
              </a:lnSpc>
              <a:spcBef>
                <a:spcPts val="0"/>
              </a:spcBef>
              <a:spcAft>
                <a:spcPts val="0"/>
              </a:spcAft>
              <a:buClr>
                <a:schemeClr val="lt1"/>
              </a:buClr>
              <a:buSzPts val="1600"/>
              <a:buNone/>
              <a:defRPr sz="2133">
                <a:solidFill>
                  <a:schemeClr val="lt1"/>
                </a:solidFill>
              </a:defRPr>
            </a:lvl3pPr>
            <a:lvl4pPr lvl="3" algn="r" rtl="0">
              <a:lnSpc>
                <a:spcPct val="100000"/>
              </a:lnSpc>
              <a:spcBef>
                <a:spcPts val="0"/>
              </a:spcBef>
              <a:spcAft>
                <a:spcPts val="0"/>
              </a:spcAft>
              <a:buClr>
                <a:schemeClr val="lt1"/>
              </a:buClr>
              <a:buSzPts val="1600"/>
              <a:buNone/>
              <a:defRPr sz="2133">
                <a:solidFill>
                  <a:schemeClr val="lt1"/>
                </a:solidFill>
              </a:defRPr>
            </a:lvl4pPr>
            <a:lvl5pPr lvl="4" algn="r" rtl="0">
              <a:lnSpc>
                <a:spcPct val="100000"/>
              </a:lnSpc>
              <a:spcBef>
                <a:spcPts val="0"/>
              </a:spcBef>
              <a:spcAft>
                <a:spcPts val="0"/>
              </a:spcAft>
              <a:buClr>
                <a:schemeClr val="lt1"/>
              </a:buClr>
              <a:buSzPts val="1600"/>
              <a:buNone/>
              <a:defRPr sz="2133">
                <a:solidFill>
                  <a:schemeClr val="lt1"/>
                </a:solidFill>
              </a:defRPr>
            </a:lvl5pPr>
            <a:lvl6pPr lvl="5" algn="r" rtl="0">
              <a:lnSpc>
                <a:spcPct val="100000"/>
              </a:lnSpc>
              <a:spcBef>
                <a:spcPts val="0"/>
              </a:spcBef>
              <a:spcAft>
                <a:spcPts val="0"/>
              </a:spcAft>
              <a:buClr>
                <a:schemeClr val="lt1"/>
              </a:buClr>
              <a:buSzPts val="1600"/>
              <a:buNone/>
              <a:defRPr sz="2133">
                <a:solidFill>
                  <a:schemeClr val="lt1"/>
                </a:solidFill>
              </a:defRPr>
            </a:lvl6pPr>
            <a:lvl7pPr lvl="6" algn="r" rtl="0">
              <a:lnSpc>
                <a:spcPct val="100000"/>
              </a:lnSpc>
              <a:spcBef>
                <a:spcPts val="0"/>
              </a:spcBef>
              <a:spcAft>
                <a:spcPts val="0"/>
              </a:spcAft>
              <a:buClr>
                <a:schemeClr val="lt1"/>
              </a:buClr>
              <a:buSzPts val="1600"/>
              <a:buNone/>
              <a:defRPr sz="2133">
                <a:solidFill>
                  <a:schemeClr val="lt1"/>
                </a:solidFill>
              </a:defRPr>
            </a:lvl7pPr>
            <a:lvl8pPr lvl="7" algn="r" rtl="0">
              <a:lnSpc>
                <a:spcPct val="100000"/>
              </a:lnSpc>
              <a:spcBef>
                <a:spcPts val="0"/>
              </a:spcBef>
              <a:spcAft>
                <a:spcPts val="0"/>
              </a:spcAft>
              <a:buClr>
                <a:schemeClr val="lt1"/>
              </a:buClr>
              <a:buSzPts val="1600"/>
              <a:buNone/>
              <a:defRPr sz="2133">
                <a:solidFill>
                  <a:schemeClr val="lt1"/>
                </a:solidFill>
              </a:defRPr>
            </a:lvl8pPr>
            <a:lvl9pPr lvl="8" algn="r" rtl="0">
              <a:lnSpc>
                <a:spcPct val="100000"/>
              </a:lnSpc>
              <a:spcBef>
                <a:spcPts val="0"/>
              </a:spcBef>
              <a:spcAft>
                <a:spcPts val="0"/>
              </a:spcAft>
              <a:buClr>
                <a:schemeClr val="lt1"/>
              </a:buClr>
              <a:buSzPts val="1600"/>
              <a:buNone/>
              <a:defRPr sz="2133">
                <a:solidFill>
                  <a:schemeClr val="lt1"/>
                </a:solidFill>
              </a:defRPr>
            </a:lvl9pPr>
          </a:lstStyle>
          <a:p>
            <a:endParaRPr/>
          </a:p>
        </p:txBody>
      </p:sp>
      <p:sp>
        <p:nvSpPr>
          <p:cNvPr id="128" name="Google Shape;128;p28"/>
          <p:cNvSpPr txBox="1">
            <a:spLocks noGrp="1"/>
          </p:cNvSpPr>
          <p:nvPr>
            <p:ph type="title" idx="5"/>
          </p:nvPr>
        </p:nvSpPr>
        <p:spPr>
          <a:xfrm>
            <a:off x="6770884" y="3146433"/>
            <a:ext cx="3636800" cy="500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1400"/>
              <a:buNone/>
              <a:defRPr sz="1867">
                <a:solidFill>
                  <a:schemeClr val="lt1"/>
                </a:solidFill>
              </a:defRPr>
            </a:lvl1pPr>
            <a:lvl2pPr lvl="1" rtl="0">
              <a:spcBef>
                <a:spcPts val="0"/>
              </a:spcBef>
              <a:spcAft>
                <a:spcPts val="0"/>
              </a:spcAft>
              <a:buClr>
                <a:schemeClr val="lt1"/>
              </a:buClr>
              <a:buSzPts val="4200"/>
              <a:buNone/>
              <a:defRPr sz="5600">
                <a:solidFill>
                  <a:schemeClr val="lt1"/>
                </a:solidFill>
              </a:defRPr>
            </a:lvl2pPr>
            <a:lvl3pPr lvl="2" rtl="0">
              <a:spcBef>
                <a:spcPts val="0"/>
              </a:spcBef>
              <a:spcAft>
                <a:spcPts val="0"/>
              </a:spcAft>
              <a:buClr>
                <a:schemeClr val="lt1"/>
              </a:buClr>
              <a:buSzPts val="4200"/>
              <a:buNone/>
              <a:defRPr sz="5600">
                <a:solidFill>
                  <a:schemeClr val="lt1"/>
                </a:solidFill>
              </a:defRPr>
            </a:lvl3pPr>
            <a:lvl4pPr lvl="3" rtl="0">
              <a:spcBef>
                <a:spcPts val="0"/>
              </a:spcBef>
              <a:spcAft>
                <a:spcPts val="0"/>
              </a:spcAft>
              <a:buClr>
                <a:schemeClr val="lt1"/>
              </a:buClr>
              <a:buSzPts val="4200"/>
              <a:buNone/>
              <a:defRPr sz="5600">
                <a:solidFill>
                  <a:schemeClr val="lt1"/>
                </a:solidFill>
              </a:defRPr>
            </a:lvl4pPr>
            <a:lvl5pPr lvl="4" rtl="0">
              <a:spcBef>
                <a:spcPts val="0"/>
              </a:spcBef>
              <a:spcAft>
                <a:spcPts val="0"/>
              </a:spcAft>
              <a:buClr>
                <a:schemeClr val="lt1"/>
              </a:buClr>
              <a:buSzPts val="4200"/>
              <a:buNone/>
              <a:defRPr sz="5600">
                <a:solidFill>
                  <a:schemeClr val="lt1"/>
                </a:solidFill>
              </a:defRPr>
            </a:lvl5pPr>
            <a:lvl6pPr lvl="5" rtl="0">
              <a:spcBef>
                <a:spcPts val="0"/>
              </a:spcBef>
              <a:spcAft>
                <a:spcPts val="0"/>
              </a:spcAft>
              <a:buClr>
                <a:schemeClr val="lt1"/>
              </a:buClr>
              <a:buSzPts val="4200"/>
              <a:buNone/>
              <a:defRPr sz="5600">
                <a:solidFill>
                  <a:schemeClr val="lt1"/>
                </a:solidFill>
              </a:defRPr>
            </a:lvl6pPr>
            <a:lvl7pPr lvl="6" rtl="0">
              <a:spcBef>
                <a:spcPts val="0"/>
              </a:spcBef>
              <a:spcAft>
                <a:spcPts val="0"/>
              </a:spcAft>
              <a:buClr>
                <a:schemeClr val="lt1"/>
              </a:buClr>
              <a:buSzPts val="4200"/>
              <a:buNone/>
              <a:defRPr sz="5600">
                <a:solidFill>
                  <a:schemeClr val="lt1"/>
                </a:solidFill>
              </a:defRPr>
            </a:lvl7pPr>
            <a:lvl8pPr lvl="7" rtl="0">
              <a:spcBef>
                <a:spcPts val="0"/>
              </a:spcBef>
              <a:spcAft>
                <a:spcPts val="0"/>
              </a:spcAft>
              <a:buClr>
                <a:schemeClr val="lt1"/>
              </a:buClr>
              <a:buSzPts val="4200"/>
              <a:buNone/>
              <a:defRPr sz="5600">
                <a:solidFill>
                  <a:schemeClr val="lt1"/>
                </a:solidFill>
              </a:defRPr>
            </a:lvl8pPr>
            <a:lvl9pPr lvl="8" rtl="0">
              <a:spcBef>
                <a:spcPts val="0"/>
              </a:spcBef>
              <a:spcAft>
                <a:spcPts val="0"/>
              </a:spcAft>
              <a:buClr>
                <a:schemeClr val="lt1"/>
              </a:buClr>
              <a:buSzPts val="4200"/>
              <a:buNone/>
              <a:defRPr sz="5600">
                <a:solidFill>
                  <a:schemeClr val="lt1"/>
                </a:solidFill>
              </a:defRPr>
            </a:lvl9pPr>
          </a:lstStyle>
          <a:p>
            <a:endParaRPr/>
          </a:p>
        </p:txBody>
      </p:sp>
      <p:sp>
        <p:nvSpPr>
          <p:cNvPr id="129" name="Google Shape;129;p28"/>
          <p:cNvSpPr txBox="1">
            <a:spLocks noGrp="1"/>
          </p:cNvSpPr>
          <p:nvPr>
            <p:ph type="subTitle" idx="6"/>
          </p:nvPr>
        </p:nvSpPr>
        <p:spPr>
          <a:xfrm>
            <a:off x="6770884" y="2284068"/>
            <a:ext cx="3636800" cy="80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600"/>
              <a:buNone/>
              <a:defRPr sz="2133">
                <a:solidFill>
                  <a:schemeClr val="lt1"/>
                </a:solidFill>
              </a:defRPr>
            </a:lvl1pPr>
            <a:lvl2pPr lvl="1" rtl="0">
              <a:lnSpc>
                <a:spcPct val="100000"/>
              </a:lnSpc>
              <a:spcBef>
                <a:spcPts val="0"/>
              </a:spcBef>
              <a:spcAft>
                <a:spcPts val="0"/>
              </a:spcAft>
              <a:buClr>
                <a:schemeClr val="lt1"/>
              </a:buClr>
              <a:buSzPts val="1600"/>
              <a:buNone/>
              <a:defRPr sz="2133">
                <a:solidFill>
                  <a:schemeClr val="lt1"/>
                </a:solidFill>
              </a:defRPr>
            </a:lvl2pPr>
            <a:lvl3pPr lvl="2" rtl="0">
              <a:lnSpc>
                <a:spcPct val="100000"/>
              </a:lnSpc>
              <a:spcBef>
                <a:spcPts val="0"/>
              </a:spcBef>
              <a:spcAft>
                <a:spcPts val="0"/>
              </a:spcAft>
              <a:buClr>
                <a:schemeClr val="lt1"/>
              </a:buClr>
              <a:buSzPts val="1600"/>
              <a:buNone/>
              <a:defRPr sz="2133">
                <a:solidFill>
                  <a:schemeClr val="lt1"/>
                </a:solidFill>
              </a:defRPr>
            </a:lvl3pPr>
            <a:lvl4pPr lvl="3" rtl="0">
              <a:lnSpc>
                <a:spcPct val="100000"/>
              </a:lnSpc>
              <a:spcBef>
                <a:spcPts val="0"/>
              </a:spcBef>
              <a:spcAft>
                <a:spcPts val="0"/>
              </a:spcAft>
              <a:buClr>
                <a:schemeClr val="lt1"/>
              </a:buClr>
              <a:buSzPts val="1600"/>
              <a:buNone/>
              <a:defRPr sz="2133">
                <a:solidFill>
                  <a:schemeClr val="lt1"/>
                </a:solidFill>
              </a:defRPr>
            </a:lvl4pPr>
            <a:lvl5pPr lvl="4" rtl="0">
              <a:lnSpc>
                <a:spcPct val="100000"/>
              </a:lnSpc>
              <a:spcBef>
                <a:spcPts val="0"/>
              </a:spcBef>
              <a:spcAft>
                <a:spcPts val="0"/>
              </a:spcAft>
              <a:buClr>
                <a:schemeClr val="lt1"/>
              </a:buClr>
              <a:buSzPts val="1600"/>
              <a:buNone/>
              <a:defRPr sz="2133">
                <a:solidFill>
                  <a:schemeClr val="lt1"/>
                </a:solidFill>
              </a:defRPr>
            </a:lvl5pPr>
            <a:lvl6pPr lvl="5" rtl="0">
              <a:lnSpc>
                <a:spcPct val="100000"/>
              </a:lnSpc>
              <a:spcBef>
                <a:spcPts val="0"/>
              </a:spcBef>
              <a:spcAft>
                <a:spcPts val="0"/>
              </a:spcAft>
              <a:buClr>
                <a:schemeClr val="lt1"/>
              </a:buClr>
              <a:buSzPts val="1600"/>
              <a:buNone/>
              <a:defRPr sz="2133">
                <a:solidFill>
                  <a:schemeClr val="lt1"/>
                </a:solidFill>
              </a:defRPr>
            </a:lvl6pPr>
            <a:lvl7pPr lvl="6" rtl="0">
              <a:lnSpc>
                <a:spcPct val="100000"/>
              </a:lnSpc>
              <a:spcBef>
                <a:spcPts val="0"/>
              </a:spcBef>
              <a:spcAft>
                <a:spcPts val="0"/>
              </a:spcAft>
              <a:buClr>
                <a:schemeClr val="lt1"/>
              </a:buClr>
              <a:buSzPts val="1600"/>
              <a:buNone/>
              <a:defRPr sz="2133">
                <a:solidFill>
                  <a:schemeClr val="lt1"/>
                </a:solidFill>
              </a:defRPr>
            </a:lvl7pPr>
            <a:lvl8pPr lvl="7" rtl="0">
              <a:lnSpc>
                <a:spcPct val="100000"/>
              </a:lnSpc>
              <a:spcBef>
                <a:spcPts val="0"/>
              </a:spcBef>
              <a:spcAft>
                <a:spcPts val="0"/>
              </a:spcAft>
              <a:buClr>
                <a:schemeClr val="lt1"/>
              </a:buClr>
              <a:buSzPts val="1600"/>
              <a:buNone/>
              <a:defRPr sz="2133">
                <a:solidFill>
                  <a:schemeClr val="lt1"/>
                </a:solidFill>
              </a:defRPr>
            </a:lvl8pPr>
            <a:lvl9pPr lvl="8" rtl="0">
              <a:lnSpc>
                <a:spcPct val="100000"/>
              </a:lnSpc>
              <a:spcBef>
                <a:spcPts val="0"/>
              </a:spcBef>
              <a:spcAft>
                <a:spcPts val="0"/>
              </a:spcAft>
              <a:buClr>
                <a:schemeClr val="lt1"/>
              </a:buClr>
              <a:buSzPts val="1600"/>
              <a:buNone/>
              <a:defRPr sz="2133">
                <a:solidFill>
                  <a:schemeClr val="lt1"/>
                </a:solidFill>
              </a:defRPr>
            </a:lvl9pPr>
          </a:lstStyle>
          <a:p>
            <a:endParaRPr/>
          </a:p>
        </p:txBody>
      </p:sp>
      <p:sp>
        <p:nvSpPr>
          <p:cNvPr id="130" name="Google Shape;130;p28"/>
          <p:cNvSpPr txBox="1">
            <a:spLocks noGrp="1"/>
          </p:cNvSpPr>
          <p:nvPr>
            <p:ph type="title" idx="7"/>
          </p:nvPr>
        </p:nvSpPr>
        <p:spPr>
          <a:xfrm>
            <a:off x="6770884" y="5318600"/>
            <a:ext cx="3636800" cy="500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1400"/>
              <a:buNone/>
              <a:defRPr sz="1867">
                <a:solidFill>
                  <a:schemeClr val="lt1"/>
                </a:solidFill>
              </a:defRPr>
            </a:lvl1pPr>
            <a:lvl2pPr lvl="1" rtl="0">
              <a:spcBef>
                <a:spcPts val="0"/>
              </a:spcBef>
              <a:spcAft>
                <a:spcPts val="0"/>
              </a:spcAft>
              <a:buClr>
                <a:schemeClr val="lt1"/>
              </a:buClr>
              <a:buSzPts val="4200"/>
              <a:buNone/>
              <a:defRPr sz="5600">
                <a:solidFill>
                  <a:schemeClr val="lt1"/>
                </a:solidFill>
              </a:defRPr>
            </a:lvl2pPr>
            <a:lvl3pPr lvl="2" rtl="0">
              <a:spcBef>
                <a:spcPts val="0"/>
              </a:spcBef>
              <a:spcAft>
                <a:spcPts val="0"/>
              </a:spcAft>
              <a:buClr>
                <a:schemeClr val="lt1"/>
              </a:buClr>
              <a:buSzPts val="4200"/>
              <a:buNone/>
              <a:defRPr sz="5600">
                <a:solidFill>
                  <a:schemeClr val="lt1"/>
                </a:solidFill>
              </a:defRPr>
            </a:lvl3pPr>
            <a:lvl4pPr lvl="3" rtl="0">
              <a:spcBef>
                <a:spcPts val="0"/>
              </a:spcBef>
              <a:spcAft>
                <a:spcPts val="0"/>
              </a:spcAft>
              <a:buClr>
                <a:schemeClr val="lt1"/>
              </a:buClr>
              <a:buSzPts val="4200"/>
              <a:buNone/>
              <a:defRPr sz="5600">
                <a:solidFill>
                  <a:schemeClr val="lt1"/>
                </a:solidFill>
              </a:defRPr>
            </a:lvl4pPr>
            <a:lvl5pPr lvl="4" rtl="0">
              <a:spcBef>
                <a:spcPts val="0"/>
              </a:spcBef>
              <a:spcAft>
                <a:spcPts val="0"/>
              </a:spcAft>
              <a:buClr>
                <a:schemeClr val="lt1"/>
              </a:buClr>
              <a:buSzPts val="4200"/>
              <a:buNone/>
              <a:defRPr sz="5600">
                <a:solidFill>
                  <a:schemeClr val="lt1"/>
                </a:solidFill>
              </a:defRPr>
            </a:lvl5pPr>
            <a:lvl6pPr lvl="5" rtl="0">
              <a:spcBef>
                <a:spcPts val="0"/>
              </a:spcBef>
              <a:spcAft>
                <a:spcPts val="0"/>
              </a:spcAft>
              <a:buClr>
                <a:schemeClr val="lt1"/>
              </a:buClr>
              <a:buSzPts val="4200"/>
              <a:buNone/>
              <a:defRPr sz="5600">
                <a:solidFill>
                  <a:schemeClr val="lt1"/>
                </a:solidFill>
              </a:defRPr>
            </a:lvl6pPr>
            <a:lvl7pPr lvl="6" rtl="0">
              <a:spcBef>
                <a:spcPts val="0"/>
              </a:spcBef>
              <a:spcAft>
                <a:spcPts val="0"/>
              </a:spcAft>
              <a:buClr>
                <a:schemeClr val="lt1"/>
              </a:buClr>
              <a:buSzPts val="4200"/>
              <a:buNone/>
              <a:defRPr sz="5600">
                <a:solidFill>
                  <a:schemeClr val="lt1"/>
                </a:solidFill>
              </a:defRPr>
            </a:lvl7pPr>
            <a:lvl8pPr lvl="7" rtl="0">
              <a:spcBef>
                <a:spcPts val="0"/>
              </a:spcBef>
              <a:spcAft>
                <a:spcPts val="0"/>
              </a:spcAft>
              <a:buClr>
                <a:schemeClr val="lt1"/>
              </a:buClr>
              <a:buSzPts val="4200"/>
              <a:buNone/>
              <a:defRPr sz="5600">
                <a:solidFill>
                  <a:schemeClr val="lt1"/>
                </a:solidFill>
              </a:defRPr>
            </a:lvl8pPr>
            <a:lvl9pPr lvl="8" rtl="0">
              <a:spcBef>
                <a:spcPts val="0"/>
              </a:spcBef>
              <a:spcAft>
                <a:spcPts val="0"/>
              </a:spcAft>
              <a:buClr>
                <a:schemeClr val="lt1"/>
              </a:buClr>
              <a:buSzPts val="4200"/>
              <a:buNone/>
              <a:defRPr sz="5600">
                <a:solidFill>
                  <a:schemeClr val="lt1"/>
                </a:solidFill>
              </a:defRPr>
            </a:lvl9pPr>
          </a:lstStyle>
          <a:p>
            <a:endParaRPr/>
          </a:p>
        </p:txBody>
      </p:sp>
      <p:sp>
        <p:nvSpPr>
          <p:cNvPr id="131" name="Google Shape;131;p28"/>
          <p:cNvSpPr txBox="1">
            <a:spLocks noGrp="1"/>
          </p:cNvSpPr>
          <p:nvPr>
            <p:ph type="subTitle" idx="8"/>
          </p:nvPr>
        </p:nvSpPr>
        <p:spPr>
          <a:xfrm>
            <a:off x="6770884" y="4456235"/>
            <a:ext cx="3636800" cy="80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600"/>
              <a:buNone/>
              <a:defRPr sz="2133">
                <a:solidFill>
                  <a:schemeClr val="lt1"/>
                </a:solidFill>
              </a:defRPr>
            </a:lvl1pPr>
            <a:lvl2pPr lvl="1" rtl="0">
              <a:lnSpc>
                <a:spcPct val="100000"/>
              </a:lnSpc>
              <a:spcBef>
                <a:spcPts val="0"/>
              </a:spcBef>
              <a:spcAft>
                <a:spcPts val="0"/>
              </a:spcAft>
              <a:buClr>
                <a:schemeClr val="lt1"/>
              </a:buClr>
              <a:buSzPts val="1600"/>
              <a:buNone/>
              <a:defRPr sz="2133">
                <a:solidFill>
                  <a:schemeClr val="lt1"/>
                </a:solidFill>
              </a:defRPr>
            </a:lvl2pPr>
            <a:lvl3pPr lvl="2" rtl="0">
              <a:lnSpc>
                <a:spcPct val="100000"/>
              </a:lnSpc>
              <a:spcBef>
                <a:spcPts val="0"/>
              </a:spcBef>
              <a:spcAft>
                <a:spcPts val="0"/>
              </a:spcAft>
              <a:buClr>
                <a:schemeClr val="lt1"/>
              </a:buClr>
              <a:buSzPts val="1600"/>
              <a:buNone/>
              <a:defRPr sz="2133">
                <a:solidFill>
                  <a:schemeClr val="lt1"/>
                </a:solidFill>
              </a:defRPr>
            </a:lvl3pPr>
            <a:lvl4pPr lvl="3" rtl="0">
              <a:lnSpc>
                <a:spcPct val="100000"/>
              </a:lnSpc>
              <a:spcBef>
                <a:spcPts val="0"/>
              </a:spcBef>
              <a:spcAft>
                <a:spcPts val="0"/>
              </a:spcAft>
              <a:buClr>
                <a:schemeClr val="lt1"/>
              </a:buClr>
              <a:buSzPts val="1600"/>
              <a:buNone/>
              <a:defRPr sz="2133">
                <a:solidFill>
                  <a:schemeClr val="lt1"/>
                </a:solidFill>
              </a:defRPr>
            </a:lvl4pPr>
            <a:lvl5pPr lvl="4" rtl="0">
              <a:lnSpc>
                <a:spcPct val="100000"/>
              </a:lnSpc>
              <a:spcBef>
                <a:spcPts val="0"/>
              </a:spcBef>
              <a:spcAft>
                <a:spcPts val="0"/>
              </a:spcAft>
              <a:buClr>
                <a:schemeClr val="lt1"/>
              </a:buClr>
              <a:buSzPts val="1600"/>
              <a:buNone/>
              <a:defRPr sz="2133">
                <a:solidFill>
                  <a:schemeClr val="lt1"/>
                </a:solidFill>
              </a:defRPr>
            </a:lvl5pPr>
            <a:lvl6pPr lvl="5" rtl="0">
              <a:lnSpc>
                <a:spcPct val="100000"/>
              </a:lnSpc>
              <a:spcBef>
                <a:spcPts val="0"/>
              </a:spcBef>
              <a:spcAft>
                <a:spcPts val="0"/>
              </a:spcAft>
              <a:buClr>
                <a:schemeClr val="lt1"/>
              </a:buClr>
              <a:buSzPts val="1600"/>
              <a:buNone/>
              <a:defRPr sz="2133">
                <a:solidFill>
                  <a:schemeClr val="lt1"/>
                </a:solidFill>
              </a:defRPr>
            </a:lvl6pPr>
            <a:lvl7pPr lvl="6" rtl="0">
              <a:lnSpc>
                <a:spcPct val="100000"/>
              </a:lnSpc>
              <a:spcBef>
                <a:spcPts val="0"/>
              </a:spcBef>
              <a:spcAft>
                <a:spcPts val="0"/>
              </a:spcAft>
              <a:buClr>
                <a:schemeClr val="lt1"/>
              </a:buClr>
              <a:buSzPts val="1600"/>
              <a:buNone/>
              <a:defRPr sz="2133">
                <a:solidFill>
                  <a:schemeClr val="lt1"/>
                </a:solidFill>
              </a:defRPr>
            </a:lvl7pPr>
            <a:lvl8pPr lvl="7" rtl="0">
              <a:lnSpc>
                <a:spcPct val="100000"/>
              </a:lnSpc>
              <a:spcBef>
                <a:spcPts val="0"/>
              </a:spcBef>
              <a:spcAft>
                <a:spcPts val="0"/>
              </a:spcAft>
              <a:buClr>
                <a:schemeClr val="lt1"/>
              </a:buClr>
              <a:buSzPts val="1600"/>
              <a:buNone/>
              <a:defRPr sz="2133">
                <a:solidFill>
                  <a:schemeClr val="lt1"/>
                </a:solidFill>
              </a:defRPr>
            </a:lvl8pPr>
            <a:lvl9pPr lvl="8" rtl="0">
              <a:lnSpc>
                <a:spcPct val="100000"/>
              </a:lnSpc>
              <a:spcBef>
                <a:spcPts val="0"/>
              </a:spcBef>
              <a:spcAft>
                <a:spcPts val="0"/>
              </a:spcAft>
              <a:buClr>
                <a:schemeClr val="lt1"/>
              </a:buClr>
              <a:buSzPts val="1600"/>
              <a:buNone/>
              <a:defRPr sz="2133">
                <a:solidFill>
                  <a:schemeClr val="lt1"/>
                </a:solidFill>
              </a:defRPr>
            </a:lvl9pPr>
          </a:lstStyle>
          <a:p>
            <a:endParaRPr/>
          </a:p>
        </p:txBody>
      </p:sp>
    </p:spTree>
    <p:extLst>
      <p:ext uri="{BB962C8B-B14F-4D97-AF65-F5344CB8AC3E}">
        <p14:creationId xmlns:p14="http://schemas.microsoft.com/office/powerpoint/2010/main" val="367188682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 Text">
  <p:cSld name="Title + Text">
    <p:bg>
      <p:bgPr>
        <a:blipFill>
          <a:blip r:embed="rId2">
            <a:alphaModFix/>
          </a:blip>
          <a:stretch>
            <a:fillRect/>
          </a:stretch>
        </a:blipFill>
        <a:effectLst/>
      </p:bgPr>
    </p:bg>
    <p:spTree>
      <p:nvGrpSpPr>
        <p:cNvPr id="1" name="Shape 132"/>
        <p:cNvGrpSpPr/>
        <p:nvPr/>
      </p:nvGrpSpPr>
      <p:grpSpPr>
        <a:xfrm>
          <a:off x="0" y="0"/>
          <a:ext cx="0" cy="0"/>
          <a:chOff x="0" y="0"/>
          <a:chExt cx="0" cy="0"/>
        </a:xfrm>
      </p:grpSpPr>
      <p:sp>
        <p:nvSpPr>
          <p:cNvPr id="133" name="Google Shape;133;p29"/>
          <p:cNvSpPr txBox="1">
            <a:spLocks noGrp="1"/>
          </p:cNvSpPr>
          <p:nvPr>
            <p:ph type="subTitle" idx="1"/>
          </p:nvPr>
        </p:nvSpPr>
        <p:spPr>
          <a:xfrm>
            <a:off x="7756067" y="3247900"/>
            <a:ext cx="3408400" cy="273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800"/>
              <a:buNone/>
              <a:defRPr>
                <a:solidFill>
                  <a:schemeClr val="lt1"/>
                </a:solidFill>
              </a:defRPr>
            </a:lvl1pPr>
            <a:lvl2pPr lvl="1" algn="ctr" rtl="0">
              <a:lnSpc>
                <a:spcPct val="100000"/>
              </a:lnSpc>
              <a:spcBef>
                <a:spcPts val="0"/>
              </a:spcBef>
              <a:spcAft>
                <a:spcPts val="0"/>
              </a:spcAft>
              <a:buClr>
                <a:schemeClr val="lt1"/>
              </a:buClr>
              <a:buSzPts val="1800"/>
              <a:buNone/>
              <a:defRPr sz="2400">
                <a:solidFill>
                  <a:schemeClr val="lt1"/>
                </a:solidFill>
              </a:defRPr>
            </a:lvl2pPr>
            <a:lvl3pPr lvl="2" algn="ctr" rtl="0">
              <a:lnSpc>
                <a:spcPct val="100000"/>
              </a:lnSpc>
              <a:spcBef>
                <a:spcPts val="0"/>
              </a:spcBef>
              <a:spcAft>
                <a:spcPts val="0"/>
              </a:spcAft>
              <a:buClr>
                <a:schemeClr val="lt1"/>
              </a:buClr>
              <a:buSzPts val="1800"/>
              <a:buNone/>
              <a:defRPr sz="2400">
                <a:solidFill>
                  <a:schemeClr val="lt1"/>
                </a:solidFill>
              </a:defRPr>
            </a:lvl3pPr>
            <a:lvl4pPr lvl="3" algn="ctr" rtl="0">
              <a:lnSpc>
                <a:spcPct val="100000"/>
              </a:lnSpc>
              <a:spcBef>
                <a:spcPts val="0"/>
              </a:spcBef>
              <a:spcAft>
                <a:spcPts val="0"/>
              </a:spcAft>
              <a:buClr>
                <a:schemeClr val="lt1"/>
              </a:buClr>
              <a:buSzPts val="1800"/>
              <a:buNone/>
              <a:defRPr sz="2400">
                <a:solidFill>
                  <a:schemeClr val="lt1"/>
                </a:solidFill>
              </a:defRPr>
            </a:lvl4pPr>
            <a:lvl5pPr lvl="4" algn="ctr" rtl="0">
              <a:lnSpc>
                <a:spcPct val="100000"/>
              </a:lnSpc>
              <a:spcBef>
                <a:spcPts val="0"/>
              </a:spcBef>
              <a:spcAft>
                <a:spcPts val="0"/>
              </a:spcAft>
              <a:buClr>
                <a:schemeClr val="lt1"/>
              </a:buClr>
              <a:buSzPts val="1800"/>
              <a:buNone/>
              <a:defRPr sz="2400">
                <a:solidFill>
                  <a:schemeClr val="lt1"/>
                </a:solidFill>
              </a:defRPr>
            </a:lvl5pPr>
            <a:lvl6pPr lvl="5" algn="ctr" rtl="0">
              <a:lnSpc>
                <a:spcPct val="100000"/>
              </a:lnSpc>
              <a:spcBef>
                <a:spcPts val="0"/>
              </a:spcBef>
              <a:spcAft>
                <a:spcPts val="0"/>
              </a:spcAft>
              <a:buClr>
                <a:schemeClr val="lt1"/>
              </a:buClr>
              <a:buSzPts val="1800"/>
              <a:buNone/>
              <a:defRPr sz="2400">
                <a:solidFill>
                  <a:schemeClr val="lt1"/>
                </a:solidFill>
              </a:defRPr>
            </a:lvl6pPr>
            <a:lvl7pPr lvl="6" algn="ctr" rtl="0">
              <a:lnSpc>
                <a:spcPct val="100000"/>
              </a:lnSpc>
              <a:spcBef>
                <a:spcPts val="0"/>
              </a:spcBef>
              <a:spcAft>
                <a:spcPts val="0"/>
              </a:spcAft>
              <a:buClr>
                <a:schemeClr val="lt1"/>
              </a:buClr>
              <a:buSzPts val="1800"/>
              <a:buNone/>
              <a:defRPr sz="2400">
                <a:solidFill>
                  <a:schemeClr val="lt1"/>
                </a:solidFill>
              </a:defRPr>
            </a:lvl7pPr>
            <a:lvl8pPr lvl="7" algn="ctr" rtl="0">
              <a:lnSpc>
                <a:spcPct val="100000"/>
              </a:lnSpc>
              <a:spcBef>
                <a:spcPts val="0"/>
              </a:spcBef>
              <a:spcAft>
                <a:spcPts val="0"/>
              </a:spcAft>
              <a:buClr>
                <a:schemeClr val="lt1"/>
              </a:buClr>
              <a:buSzPts val="1800"/>
              <a:buNone/>
              <a:defRPr sz="2400">
                <a:solidFill>
                  <a:schemeClr val="lt1"/>
                </a:solidFill>
              </a:defRPr>
            </a:lvl8pPr>
            <a:lvl9pPr lvl="8" algn="ctr" rtl="0">
              <a:lnSpc>
                <a:spcPct val="100000"/>
              </a:lnSpc>
              <a:spcBef>
                <a:spcPts val="0"/>
              </a:spcBef>
              <a:spcAft>
                <a:spcPts val="0"/>
              </a:spcAft>
              <a:buClr>
                <a:schemeClr val="lt1"/>
              </a:buClr>
              <a:buSzPts val="1800"/>
              <a:buNone/>
              <a:defRPr sz="2400">
                <a:solidFill>
                  <a:schemeClr val="lt1"/>
                </a:solidFill>
              </a:defRPr>
            </a:lvl9pPr>
          </a:lstStyle>
          <a:p>
            <a:endParaRPr/>
          </a:p>
        </p:txBody>
      </p:sp>
      <p:sp>
        <p:nvSpPr>
          <p:cNvPr id="134" name="Google Shape;134;p29"/>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350086868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 Text 1">
  <p:cSld name="Title + Text 1">
    <p:bg>
      <p:bgPr>
        <a:blipFill>
          <a:blip r:embed="rId2">
            <a:alphaModFix/>
          </a:blip>
          <a:stretch>
            <a:fillRect/>
          </a:stretch>
        </a:blipFill>
        <a:effectLst/>
      </p:bgPr>
    </p:bg>
    <p:spTree>
      <p:nvGrpSpPr>
        <p:cNvPr id="1" name="Shape 135"/>
        <p:cNvGrpSpPr/>
        <p:nvPr/>
      </p:nvGrpSpPr>
      <p:grpSpPr>
        <a:xfrm>
          <a:off x="0" y="0"/>
          <a:ext cx="0" cy="0"/>
          <a:chOff x="0" y="0"/>
          <a:chExt cx="0" cy="0"/>
        </a:xfrm>
      </p:grpSpPr>
      <p:sp>
        <p:nvSpPr>
          <p:cNvPr id="136" name="Google Shape;136;p30"/>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37" name="Google Shape;137;p30"/>
          <p:cNvSpPr txBox="1">
            <a:spLocks noGrp="1"/>
          </p:cNvSpPr>
          <p:nvPr>
            <p:ph type="subTitle" idx="1"/>
          </p:nvPr>
        </p:nvSpPr>
        <p:spPr>
          <a:xfrm>
            <a:off x="1251333" y="3247900"/>
            <a:ext cx="3408400" cy="273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800"/>
              <a:buNone/>
              <a:defRPr>
                <a:solidFill>
                  <a:schemeClr val="lt1"/>
                </a:solidFill>
              </a:defRPr>
            </a:lvl1pPr>
            <a:lvl2pPr lvl="1" algn="ctr" rtl="0">
              <a:lnSpc>
                <a:spcPct val="100000"/>
              </a:lnSpc>
              <a:spcBef>
                <a:spcPts val="0"/>
              </a:spcBef>
              <a:spcAft>
                <a:spcPts val="0"/>
              </a:spcAft>
              <a:buClr>
                <a:schemeClr val="lt1"/>
              </a:buClr>
              <a:buSzPts val="1800"/>
              <a:buNone/>
              <a:defRPr sz="2400">
                <a:solidFill>
                  <a:schemeClr val="lt1"/>
                </a:solidFill>
              </a:defRPr>
            </a:lvl2pPr>
            <a:lvl3pPr lvl="2" algn="ctr" rtl="0">
              <a:lnSpc>
                <a:spcPct val="100000"/>
              </a:lnSpc>
              <a:spcBef>
                <a:spcPts val="0"/>
              </a:spcBef>
              <a:spcAft>
                <a:spcPts val="0"/>
              </a:spcAft>
              <a:buClr>
                <a:schemeClr val="lt1"/>
              </a:buClr>
              <a:buSzPts val="1800"/>
              <a:buNone/>
              <a:defRPr sz="2400">
                <a:solidFill>
                  <a:schemeClr val="lt1"/>
                </a:solidFill>
              </a:defRPr>
            </a:lvl3pPr>
            <a:lvl4pPr lvl="3" algn="ctr" rtl="0">
              <a:lnSpc>
                <a:spcPct val="100000"/>
              </a:lnSpc>
              <a:spcBef>
                <a:spcPts val="0"/>
              </a:spcBef>
              <a:spcAft>
                <a:spcPts val="0"/>
              </a:spcAft>
              <a:buClr>
                <a:schemeClr val="lt1"/>
              </a:buClr>
              <a:buSzPts val="1800"/>
              <a:buNone/>
              <a:defRPr sz="2400">
                <a:solidFill>
                  <a:schemeClr val="lt1"/>
                </a:solidFill>
              </a:defRPr>
            </a:lvl4pPr>
            <a:lvl5pPr lvl="4" algn="ctr" rtl="0">
              <a:lnSpc>
                <a:spcPct val="100000"/>
              </a:lnSpc>
              <a:spcBef>
                <a:spcPts val="0"/>
              </a:spcBef>
              <a:spcAft>
                <a:spcPts val="0"/>
              </a:spcAft>
              <a:buClr>
                <a:schemeClr val="lt1"/>
              </a:buClr>
              <a:buSzPts val="1800"/>
              <a:buNone/>
              <a:defRPr sz="2400">
                <a:solidFill>
                  <a:schemeClr val="lt1"/>
                </a:solidFill>
              </a:defRPr>
            </a:lvl5pPr>
            <a:lvl6pPr lvl="5" algn="ctr" rtl="0">
              <a:lnSpc>
                <a:spcPct val="100000"/>
              </a:lnSpc>
              <a:spcBef>
                <a:spcPts val="0"/>
              </a:spcBef>
              <a:spcAft>
                <a:spcPts val="0"/>
              </a:spcAft>
              <a:buClr>
                <a:schemeClr val="lt1"/>
              </a:buClr>
              <a:buSzPts val="1800"/>
              <a:buNone/>
              <a:defRPr sz="2400">
                <a:solidFill>
                  <a:schemeClr val="lt1"/>
                </a:solidFill>
              </a:defRPr>
            </a:lvl6pPr>
            <a:lvl7pPr lvl="6" algn="ctr" rtl="0">
              <a:lnSpc>
                <a:spcPct val="100000"/>
              </a:lnSpc>
              <a:spcBef>
                <a:spcPts val="0"/>
              </a:spcBef>
              <a:spcAft>
                <a:spcPts val="0"/>
              </a:spcAft>
              <a:buClr>
                <a:schemeClr val="lt1"/>
              </a:buClr>
              <a:buSzPts val="1800"/>
              <a:buNone/>
              <a:defRPr sz="2400">
                <a:solidFill>
                  <a:schemeClr val="lt1"/>
                </a:solidFill>
              </a:defRPr>
            </a:lvl7pPr>
            <a:lvl8pPr lvl="7" algn="ctr" rtl="0">
              <a:lnSpc>
                <a:spcPct val="100000"/>
              </a:lnSpc>
              <a:spcBef>
                <a:spcPts val="0"/>
              </a:spcBef>
              <a:spcAft>
                <a:spcPts val="0"/>
              </a:spcAft>
              <a:buClr>
                <a:schemeClr val="lt1"/>
              </a:buClr>
              <a:buSzPts val="1800"/>
              <a:buNone/>
              <a:defRPr sz="2400">
                <a:solidFill>
                  <a:schemeClr val="lt1"/>
                </a:solidFill>
              </a:defRPr>
            </a:lvl8pPr>
            <a:lvl9pPr lvl="8" algn="ctr" rtl="0">
              <a:lnSpc>
                <a:spcPct val="100000"/>
              </a:lnSpc>
              <a:spcBef>
                <a:spcPts val="0"/>
              </a:spcBef>
              <a:spcAft>
                <a:spcPts val="0"/>
              </a:spcAft>
              <a:buClr>
                <a:schemeClr val="lt1"/>
              </a:buClr>
              <a:buSzPts val="1800"/>
              <a:buNone/>
              <a:defRPr sz="2400">
                <a:solidFill>
                  <a:schemeClr val="lt1"/>
                </a:solidFill>
              </a:defRPr>
            </a:lvl9pPr>
          </a:lstStyle>
          <a:p>
            <a:endParaRPr/>
          </a:p>
        </p:txBody>
      </p:sp>
    </p:spTree>
    <p:extLst>
      <p:ext uri="{BB962C8B-B14F-4D97-AF65-F5344CB8AC3E}">
        <p14:creationId xmlns:p14="http://schemas.microsoft.com/office/powerpoint/2010/main" val="190394312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 Text 2">
  <p:cSld name="Title + Text 2">
    <p:bg>
      <p:bgPr>
        <a:blipFill>
          <a:blip r:embed="rId2">
            <a:alphaModFix/>
          </a:blip>
          <a:stretch>
            <a:fillRect/>
          </a:stretch>
        </a:blipFill>
        <a:effectLst/>
      </p:bgPr>
    </p:bg>
    <p:spTree>
      <p:nvGrpSpPr>
        <p:cNvPr id="1" name="Shape 138"/>
        <p:cNvGrpSpPr/>
        <p:nvPr/>
      </p:nvGrpSpPr>
      <p:grpSpPr>
        <a:xfrm>
          <a:off x="0" y="0"/>
          <a:ext cx="0" cy="0"/>
          <a:chOff x="0" y="0"/>
          <a:chExt cx="0" cy="0"/>
        </a:xfrm>
      </p:grpSpPr>
      <p:sp>
        <p:nvSpPr>
          <p:cNvPr id="139" name="Google Shape;139;p31"/>
          <p:cNvSpPr txBox="1">
            <a:spLocks noGrp="1"/>
          </p:cNvSpPr>
          <p:nvPr>
            <p:ph type="title"/>
          </p:nvPr>
        </p:nvSpPr>
        <p:spPr>
          <a:xfrm>
            <a:off x="1251333" y="593367"/>
            <a:ext cx="7647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40" name="Google Shape;140;p31"/>
          <p:cNvSpPr txBox="1">
            <a:spLocks noGrp="1"/>
          </p:cNvSpPr>
          <p:nvPr>
            <p:ph type="subTitle" idx="1"/>
          </p:nvPr>
        </p:nvSpPr>
        <p:spPr>
          <a:xfrm>
            <a:off x="7756067" y="3247900"/>
            <a:ext cx="3408400" cy="273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800"/>
              <a:buNone/>
              <a:defRPr>
                <a:solidFill>
                  <a:schemeClr val="lt1"/>
                </a:solidFill>
              </a:defRPr>
            </a:lvl1pPr>
            <a:lvl2pPr lvl="1" algn="ctr" rtl="0">
              <a:lnSpc>
                <a:spcPct val="100000"/>
              </a:lnSpc>
              <a:spcBef>
                <a:spcPts val="0"/>
              </a:spcBef>
              <a:spcAft>
                <a:spcPts val="0"/>
              </a:spcAft>
              <a:buClr>
                <a:schemeClr val="lt1"/>
              </a:buClr>
              <a:buSzPts val="1800"/>
              <a:buNone/>
              <a:defRPr sz="2400">
                <a:solidFill>
                  <a:schemeClr val="lt1"/>
                </a:solidFill>
              </a:defRPr>
            </a:lvl2pPr>
            <a:lvl3pPr lvl="2" algn="ctr" rtl="0">
              <a:lnSpc>
                <a:spcPct val="100000"/>
              </a:lnSpc>
              <a:spcBef>
                <a:spcPts val="0"/>
              </a:spcBef>
              <a:spcAft>
                <a:spcPts val="0"/>
              </a:spcAft>
              <a:buClr>
                <a:schemeClr val="lt1"/>
              </a:buClr>
              <a:buSzPts val="1800"/>
              <a:buNone/>
              <a:defRPr sz="2400">
                <a:solidFill>
                  <a:schemeClr val="lt1"/>
                </a:solidFill>
              </a:defRPr>
            </a:lvl3pPr>
            <a:lvl4pPr lvl="3" algn="ctr" rtl="0">
              <a:lnSpc>
                <a:spcPct val="100000"/>
              </a:lnSpc>
              <a:spcBef>
                <a:spcPts val="0"/>
              </a:spcBef>
              <a:spcAft>
                <a:spcPts val="0"/>
              </a:spcAft>
              <a:buClr>
                <a:schemeClr val="lt1"/>
              </a:buClr>
              <a:buSzPts val="1800"/>
              <a:buNone/>
              <a:defRPr sz="2400">
                <a:solidFill>
                  <a:schemeClr val="lt1"/>
                </a:solidFill>
              </a:defRPr>
            </a:lvl4pPr>
            <a:lvl5pPr lvl="4" algn="ctr" rtl="0">
              <a:lnSpc>
                <a:spcPct val="100000"/>
              </a:lnSpc>
              <a:spcBef>
                <a:spcPts val="0"/>
              </a:spcBef>
              <a:spcAft>
                <a:spcPts val="0"/>
              </a:spcAft>
              <a:buClr>
                <a:schemeClr val="lt1"/>
              </a:buClr>
              <a:buSzPts val="1800"/>
              <a:buNone/>
              <a:defRPr sz="2400">
                <a:solidFill>
                  <a:schemeClr val="lt1"/>
                </a:solidFill>
              </a:defRPr>
            </a:lvl5pPr>
            <a:lvl6pPr lvl="5" algn="ctr" rtl="0">
              <a:lnSpc>
                <a:spcPct val="100000"/>
              </a:lnSpc>
              <a:spcBef>
                <a:spcPts val="0"/>
              </a:spcBef>
              <a:spcAft>
                <a:spcPts val="0"/>
              </a:spcAft>
              <a:buClr>
                <a:schemeClr val="lt1"/>
              </a:buClr>
              <a:buSzPts val="1800"/>
              <a:buNone/>
              <a:defRPr sz="2400">
                <a:solidFill>
                  <a:schemeClr val="lt1"/>
                </a:solidFill>
              </a:defRPr>
            </a:lvl6pPr>
            <a:lvl7pPr lvl="6" algn="ctr" rtl="0">
              <a:lnSpc>
                <a:spcPct val="100000"/>
              </a:lnSpc>
              <a:spcBef>
                <a:spcPts val="0"/>
              </a:spcBef>
              <a:spcAft>
                <a:spcPts val="0"/>
              </a:spcAft>
              <a:buClr>
                <a:schemeClr val="lt1"/>
              </a:buClr>
              <a:buSzPts val="1800"/>
              <a:buNone/>
              <a:defRPr sz="2400">
                <a:solidFill>
                  <a:schemeClr val="lt1"/>
                </a:solidFill>
              </a:defRPr>
            </a:lvl7pPr>
            <a:lvl8pPr lvl="7" algn="ctr" rtl="0">
              <a:lnSpc>
                <a:spcPct val="100000"/>
              </a:lnSpc>
              <a:spcBef>
                <a:spcPts val="0"/>
              </a:spcBef>
              <a:spcAft>
                <a:spcPts val="0"/>
              </a:spcAft>
              <a:buClr>
                <a:schemeClr val="lt1"/>
              </a:buClr>
              <a:buSzPts val="1800"/>
              <a:buNone/>
              <a:defRPr sz="2400">
                <a:solidFill>
                  <a:schemeClr val="lt1"/>
                </a:solidFill>
              </a:defRPr>
            </a:lvl8pPr>
            <a:lvl9pPr lvl="8" algn="ctr" rtl="0">
              <a:lnSpc>
                <a:spcPct val="100000"/>
              </a:lnSpc>
              <a:spcBef>
                <a:spcPts val="0"/>
              </a:spcBef>
              <a:spcAft>
                <a:spcPts val="0"/>
              </a:spcAft>
              <a:buClr>
                <a:schemeClr val="lt1"/>
              </a:buClr>
              <a:buSzPts val="1800"/>
              <a:buNone/>
              <a:defRPr sz="2400">
                <a:solidFill>
                  <a:schemeClr val="lt1"/>
                </a:solidFill>
              </a:defRPr>
            </a:lvl9pPr>
          </a:lstStyle>
          <a:p>
            <a:endParaRPr/>
          </a:p>
        </p:txBody>
      </p:sp>
    </p:spTree>
    <p:extLst>
      <p:ext uri="{BB962C8B-B14F-4D97-AF65-F5344CB8AC3E}">
        <p14:creationId xmlns:p14="http://schemas.microsoft.com/office/powerpoint/2010/main" val="40795125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One Column">
  <p:cSld name="One Column">
    <p:bg>
      <p:bgPr>
        <a:blipFill>
          <a:blip r:embed="rId2">
            <a:alphaModFix/>
          </a:blip>
          <a:stretch>
            <a:fillRect/>
          </a:stretch>
        </a:blipFill>
        <a:effectLst/>
      </p:bgPr>
    </p:bg>
    <p:spTree>
      <p:nvGrpSpPr>
        <p:cNvPr id="1" name="Shape 141"/>
        <p:cNvGrpSpPr/>
        <p:nvPr/>
      </p:nvGrpSpPr>
      <p:grpSpPr>
        <a:xfrm>
          <a:off x="0" y="0"/>
          <a:ext cx="0" cy="0"/>
          <a:chOff x="0" y="0"/>
          <a:chExt cx="0" cy="0"/>
        </a:xfrm>
      </p:grpSpPr>
      <p:sp>
        <p:nvSpPr>
          <p:cNvPr id="142" name="Google Shape;142;p32"/>
          <p:cNvSpPr txBox="1">
            <a:spLocks noGrp="1"/>
          </p:cNvSpPr>
          <p:nvPr>
            <p:ph type="title"/>
          </p:nvPr>
        </p:nvSpPr>
        <p:spPr>
          <a:xfrm>
            <a:off x="2750400" y="3256067"/>
            <a:ext cx="6691200" cy="798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3600"/>
              <a:buNone/>
              <a:defRPr sz="4800">
                <a:solidFill>
                  <a:schemeClr val="lt1"/>
                </a:solidFill>
              </a:defRPr>
            </a:lvl2pPr>
            <a:lvl3pPr lvl="2" rtl="0">
              <a:spcBef>
                <a:spcPts val="0"/>
              </a:spcBef>
              <a:spcAft>
                <a:spcPts val="0"/>
              </a:spcAft>
              <a:buClr>
                <a:schemeClr val="lt1"/>
              </a:buClr>
              <a:buSzPts val="3600"/>
              <a:buNone/>
              <a:defRPr sz="4800">
                <a:solidFill>
                  <a:schemeClr val="lt1"/>
                </a:solidFill>
              </a:defRPr>
            </a:lvl3pPr>
            <a:lvl4pPr lvl="3" rtl="0">
              <a:spcBef>
                <a:spcPts val="0"/>
              </a:spcBef>
              <a:spcAft>
                <a:spcPts val="0"/>
              </a:spcAft>
              <a:buClr>
                <a:schemeClr val="lt1"/>
              </a:buClr>
              <a:buSzPts val="3600"/>
              <a:buNone/>
              <a:defRPr sz="4800">
                <a:solidFill>
                  <a:schemeClr val="lt1"/>
                </a:solidFill>
              </a:defRPr>
            </a:lvl4pPr>
            <a:lvl5pPr lvl="4" rtl="0">
              <a:spcBef>
                <a:spcPts val="0"/>
              </a:spcBef>
              <a:spcAft>
                <a:spcPts val="0"/>
              </a:spcAft>
              <a:buClr>
                <a:schemeClr val="lt1"/>
              </a:buClr>
              <a:buSzPts val="3600"/>
              <a:buNone/>
              <a:defRPr sz="4800">
                <a:solidFill>
                  <a:schemeClr val="lt1"/>
                </a:solidFill>
              </a:defRPr>
            </a:lvl5pPr>
            <a:lvl6pPr lvl="5" rtl="0">
              <a:spcBef>
                <a:spcPts val="0"/>
              </a:spcBef>
              <a:spcAft>
                <a:spcPts val="0"/>
              </a:spcAft>
              <a:buClr>
                <a:schemeClr val="lt1"/>
              </a:buClr>
              <a:buSzPts val="3600"/>
              <a:buNone/>
              <a:defRPr sz="4800">
                <a:solidFill>
                  <a:schemeClr val="lt1"/>
                </a:solidFill>
              </a:defRPr>
            </a:lvl6pPr>
            <a:lvl7pPr lvl="6" rtl="0">
              <a:spcBef>
                <a:spcPts val="0"/>
              </a:spcBef>
              <a:spcAft>
                <a:spcPts val="0"/>
              </a:spcAft>
              <a:buClr>
                <a:schemeClr val="lt1"/>
              </a:buClr>
              <a:buSzPts val="3600"/>
              <a:buNone/>
              <a:defRPr sz="4800">
                <a:solidFill>
                  <a:schemeClr val="lt1"/>
                </a:solidFill>
              </a:defRPr>
            </a:lvl7pPr>
            <a:lvl8pPr lvl="7" rtl="0">
              <a:spcBef>
                <a:spcPts val="0"/>
              </a:spcBef>
              <a:spcAft>
                <a:spcPts val="0"/>
              </a:spcAft>
              <a:buClr>
                <a:schemeClr val="lt1"/>
              </a:buClr>
              <a:buSzPts val="3600"/>
              <a:buNone/>
              <a:defRPr sz="4800">
                <a:solidFill>
                  <a:schemeClr val="lt1"/>
                </a:solidFill>
              </a:defRPr>
            </a:lvl8pPr>
            <a:lvl9pPr lvl="8" rtl="0">
              <a:spcBef>
                <a:spcPts val="0"/>
              </a:spcBef>
              <a:spcAft>
                <a:spcPts val="0"/>
              </a:spcAft>
              <a:buClr>
                <a:schemeClr val="lt1"/>
              </a:buClr>
              <a:buSzPts val="3600"/>
              <a:buNone/>
              <a:defRPr sz="4800">
                <a:solidFill>
                  <a:schemeClr val="lt1"/>
                </a:solidFill>
              </a:defRPr>
            </a:lvl9pPr>
          </a:lstStyle>
          <a:p>
            <a:endParaRPr/>
          </a:p>
        </p:txBody>
      </p:sp>
      <p:sp>
        <p:nvSpPr>
          <p:cNvPr id="143" name="Google Shape;143;p32"/>
          <p:cNvSpPr txBox="1">
            <a:spLocks noGrp="1"/>
          </p:cNvSpPr>
          <p:nvPr>
            <p:ph type="subTitle" idx="1"/>
          </p:nvPr>
        </p:nvSpPr>
        <p:spPr>
          <a:xfrm>
            <a:off x="3862000" y="4521767"/>
            <a:ext cx="4468000" cy="159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1400"/>
              <a:buNone/>
              <a:defRPr>
                <a:solidFill>
                  <a:schemeClr val="lt1"/>
                </a:solidFill>
              </a:defRPr>
            </a:lvl2pPr>
            <a:lvl3pPr lvl="2" algn="ctr" rtl="0">
              <a:lnSpc>
                <a:spcPct val="100000"/>
              </a:lnSpc>
              <a:spcBef>
                <a:spcPts val="0"/>
              </a:spcBef>
              <a:spcAft>
                <a:spcPts val="0"/>
              </a:spcAft>
              <a:buClr>
                <a:schemeClr val="lt1"/>
              </a:buClr>
              <a:buSzPts val="1400"/>
              <a:buNone/>
              <a:defRPr>
                <a:solidFill>
                  <a:schemeClr val="lt1"/>
                </a:solidFill>
              </a:defRPr>
            </a:lvl3pPr>
            <a:lvl4pPr lvl="3" algn="ctr" rtl="0">
              <a:lnSpc>
                <a:spcPct val="100000"/>
              </a:lnSpc>
              <a:spcBef>
                <a:spcPts val="0"/>
              </a:spcBef>
              <a:spcAft>
                <a:spcPts val="0"/>
              </a:spcAft>
              <a:buClr>
                <a:schemeClr val="lt1"/>
              </a:buClr>
              <a:buSzPts val="1400"/>
              <a:buNone/>
              <a:defRPr>
                <a:solidFill>
                  <a:schemeClr val="lt1"/>
                </a:solidFill>
              </a:defRPr>
            </a:lvl4pPr>
            <a:lvl5pPr lvl="4" algn="ctr" rtl="0">
              <a:lnSpc>
                <a:spcPct val="100000"/>
              </a:lnSpc>
              <a:spcBef>
                <a:spcPts val="0"/>
              </a:spcBef>
              <a:spcAft>
                <a:spcPts val="0"/>
              </a:spcAft>
              <a:buClr>
                <a:schemeClr val="lt1"/>
              </a:buClr>
              <a:buSzPts val="1400"/>
              <a:buNone/>
              <a:defRPr>
                <a:solidFill>
                  <a:schemeClr val="lt1"/>
                </a:solidFill>
              </a:defRPr>
            </a:lvl5pPr>
            <a:lvl6pPr lvl="5" algn="ctr" rtl="0">
              <a:lnSpc>
                <a:spcPct val="100000"/>
              </a:lnSpc>
              <a:spcBef>
                <a:spcPts val="0"/>
              </a:spcBef>
              <a:spcAft>
                <a:spcPts val="0"/>
              </a:spcAft>
              <a:buClr>
                <a:schemeClr val="lt1"/>
              </a:buClr>
              <a:buSzPts val="1400"/>
              <a:buNone/>
              <a:defRPr>
                <a:solidFill>
                  <a:schemeClr val="lt1"/>
                </a:solidFill>
              </a:defRPr>
            </a:lvl6pPr>
            <a:lvl7pPr lvl="6" algn="ctr" rtl="0">
              <a:lnSpc>
                <a:spcPct val="100000"/>
              </a:lnSpc>
              <a:spcBef>
                <a:spcPts val="0"/>
              </a:spcBef>
              <a:spcAft>
                <a:spcPts val="0"/>
              </a:spcAft>
              <a:buClr>
                <a:schemeClr val="lt1"/>
              </a:buClr>
              <a:buSzPts val="1400"/>
              <a:buNone/>
              <a:defRPr>
                <a:solidFill>
                  <a:schemeClr val="lt1"/>
                </a:solidFill>
              </a:defRPr>
            </a:lvl7pPr>
            <a:lvl8pPr lvl="7" algn="ctr" rtl="0">
              <a:lnSpc>
                <a:spcPct val="100000"/>
              </a:lnSpc>
              <a:spcBef>
                <a:spcPts val="0"/>
              </a:spcBef>
              <a:spcAft>
                <a:spcPts val="0"/>
              </a:spcAft>
              <a:buClr>
                <a:schemeClr val="lt1"/>
              </a:buClr>
              <a:buSzPts val="1400"/>
              <a:buNone/>
              <a:defRPr>
                <a:solidFill>
                  <a:schemeClr val="lt1"/>
                </a:solidFill>
              </a:defRPr>
            </a:lvl8pPr>
            <a:lvl9pPr lvl="8" algn="ctr" rtl="0">
              <a:lnSpc>
                <a:spcPct val="100000"/>
              </a:lnSpc>
              <a:spcBef>
                <a:spcPts val="0"/>
              </a:spcBef>
              <a:spcAft>
                <a:spcPts val="0"/>
              </a:spcAft>
              <a:buClr>
                <a:schemeClr val="lt1"/>
              </a:buClr>
              <a:buSzPts val="1400"/>
              <a:buNone/>
              <a:defRPr>
                <a:solidFill>
                  <a:schemeClr val="lt1"/>
                </a:solidFill>
              </a:defRPr>
            </a:lvl9pPr>
          </a:lstStyle>
          <a:p>
            <a:endParaRPr/>
          </a:p>
        </p:txBody>
      </p:sp>
    </p:spTree>
    <p:extLst>
      <p:ext uri="{BB962C8B-B14F-4D97-AF65-F5344CB8AC3E}">
        <p14:creationId xmlns:p14="http://schemas.microsoft.com/office/powerpoint/2010/main" val="307070602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hanks + Credits">
  <p:cSld name="Thanks + Credits">
    <p:bg>
      <p:bgPr>
        <a:blipFill>
          <a:blip r:embed="rId2">
            <a:alphaModFix/>
          </a:blip>
          <a:stretch>
            <a:fillRect/>
          </a:stretch>
        </a:blipFill>
        <a:effectLst/>
      </p:bgPr>
    </p:bg>
    <p:spTree>
      <p:nvGrpSpPr>
        <p:cNvPr id="1" name="Shape 144"/>
        <p:cNvGrpSpPr/>
        <p:nvPr/>
      </p:nvGrpSpPr>
      <p:grpSpPr>
        <a:xfrm>
          <a:off x="0" y="0"/>
          <a:ext cx="0" cy="0"/>
          <a:chOff x="0" y="0"/>
          <a:chExt cx="0" cy="0"/>
        </a:xfrm>
      </p:grpSpPr>
      <p:sp>
        <p:nvSpPr>
          <p:cNvPr id="145" name="Google Shape;145;p33"/>
          <p:cNvSpPr txBox="1">
            <a:spLocks noGrp="1"/>
          </p:cNvSpPr>
          <p:nvPr>
            <p:ph type="title"/>
          </p:nvPr>
        </p:nvSpPr>
        <p:spPr>
          <a:xfrm>
            <a:off x="1233160" y="1013833"/>
            <a:ext cx="4091600" cy="7984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600"/>
              <a:buNone/>
              <a:defRPr sz="4800">
                <a:solidFill>
                  <a:schemeClr val="lt1"/>
                </a:solidFill>
              </a:defRPr>
            </a:lvl1pPr>
            <a:lvl2pPr lvl="1" rtl="0">
              <a:spcBef>
                <a:spcPts val="0"/>
              </a:spcBef>
              <a:spcAft>
                <a:spcPts val="0"/>
              </a:spcAft>
              <a:buClr>
                <a:schemeClr val="lt1"/>
              </a:buClr>
              <a:buSzPts val="3600"/>
              <a:buNone/>
              <a:defRPr sz="4800">
                <a:solidFill>
                  <a:schemeClr val="lt1"/>
                </a:solidFill>
              </a:defRPr>
            </a:lvl2pPr>
            <a:lvl3pPr lvl="2" rtl="0">
              <a:spcBef>
                <a:spcPts val="0"/>
              </a:spcBef>
              <a:spcAft>
                <a:spcPts val="0"/>
              </a:spcAft>
              <a:buClr>
                <a:schemeClr val="lt1"/>
              </a:buClr>
              <a:buSzPts val="3600"/>
              <a:buNone/>
              <a:defRPr sz="4800">
                <a:solidFill>
                  <a:schemeClr val="lt1"/>
                </a:solidFill>
              </a:defRPr>
            </a:lvl3pPr>
            <a:lvl4pPr lvl="3" rtl="0">
              <a:spcBef>
                <a:spcPts val="0"/>
              </a:spcBef>
              <a:spcAft>
                <a:spcPts val="0"/>
              </a:spcAft>
              <a:buClr>
                <a:schemeClr val="lt1"/>
              </a:buClr>
              <a:buSzPts val="3600"/>
              <a:buNone/>
              <a:defRPr sz="4800">
                <a:solidFill>
                  <a:schemeClr val="lt1"/>
                </a:solidFill>
              </a:defRPr>
            </a:lvl4pPr>
            <a:lvl5pPr lvl="4" rtl="0">
              <a:spcBef>
                <a:spcPts val="0"/>
              </a:spcBef>
              <a:spcAft>
                <a:spcPts val="0"/>
              </a:spcAft>
              <a:buClr>
                <a:schemeClr val="lt1"/>
              </a:buClr>
              <a:buSzPts val="3600"/>
              <a:buNone/>
              <a:defRPr sz="4800">
                <a:solidFill>
                  <a:schemeClr val="lt1"/>
                </a:solidFill>
              </a:defRPr>
            </a:lvl5pPr>
            <a:lvl6pPr lvl="5" rtl="0">
              <a:spcBef>
                <a:spcPts val="0"/>
              </a:spcBef>
              <a:spcAft>
                <a:spcPts val="0"/>
              </a:spcAft>
              <a:buClr>
                <a:schemeClr val="lt1"/>
              </a:buClr>
              <a:buSzPts val="3600"/>
              <a:buNone/>
              <a:defRPr sz="4800">
                <a:solidFill>
                  <a:schemeClr val="lt1"/>
                </a:solidFill>
              </a:defRPr>
            </a:lvl6pPr>
            <a:lvl7pPr lvl="6" rtl="0">
              <a:spcBef>
                <a:spcPts val="0"/>
              </a:spcBef>
              <a:spcAft>
                <a:spcPts val="0"/>
              </a:spcAft>
              <a:buClr>
                <a:schemeClr val="lt1"/>
              </a:buClr>
              <a:buSzPts val="3600"/>
              <a:buNone/>
              <a:defRPr sz="4800">
                <a:solidFill>
                  <a:schemeClr val="lt1"/>
                </a:solidFill>
              </a:defRPr>
            </a:lvl7pPr>
            <a:lvl8pPr lvl="7" rtl="0">
              <a:spcBef>
                <a:spcPts val="0"/>
              </a:spcBef>
              <a:spcAft>
                <a:spcPts val="0"/>
              </a:spcAft>
              <a:buClr>
                <a:schemeClr val="lt1"/>
              </a:buClr>
              <a:buSzPts val="3600"/>
              <a:buNone/>
              <a:defRPr sz="4800">
                <a:solidFill>
                  <a:schemeClr val="lt1"/>
                </a:solidFill>
              </a:defRPr>
            </a:lvl8pPr>
            <a:lvl9pPr lvl="8" rtl="0">
              <a:spcBef>
                <a:spcPts val="0"/>
              </a:spcBef>
              <a:spcAft>
                <a:spcPts val="0"/>
              </a:spcAft>
              <a:buClr>
                <a:schemeClr val="lt1"/>
              </a:buClr>
              <a:buSzPts val="3600"/>
              <a:buNone/>
              <a:defRPr sz="4800">
                <a:solidFill>
                  <a:schemeClr val="lt1"/>
                </a:solidFill>
              </a:defRPr>
            </a:lvl9pPr>
          </a:lstStyle>
          <a:p>
            <a:endParaRPr/>
          </a:p>
        </p:txBody>
      </p:sp>
      <p:sp>
        <p:nvSpPr>
          <p:cNvPr id="146" name="Google Shape;146;p33"/>
          <p:cNvSpPr txBox="1">
            <a:spLocks noGrp="1"/>
          </p:cNvSpPr>
          <p:nvPr>
            <p:ph type="subTitle" idx="1"/>
          </p:nvPr>
        </p:nvSpPr>
        <p:spPr>
          <a:xfrm>
            <a:off x="1233167" y="2245700"/>
            <a:ext cx="4407200" cy="145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None/>
              <a:defRPr sz="1867">
                <a:solidFill>
                  <a:schemeClr val="accent1"/>
                </a:solidFill>
              </a:defRPr>
            </a:lvl1pPr>
            <a:lvl2pPr lvl="1" rtl="0">
              <a:lnSpc>
                <a:spcPct val="100000"/>
              </a:lnSpc>
              <a:spcBef>
                <a:spcPts val="0"/>
              </a:spcBef>
              <a:spcAft>
                <a:spcPts val="0"/>
              </a:spcAft>
              <a:buClr>
                <a:schemeClr val="accent1"/>
              </a:buClr>
              <a:buSzPts val="1400"/>
              <a:buNone/>
              <a:defRPr>
                <a:solidFill>
                  <a:schemeClr val="accent1"/>
                </a:solidFill>
              </a:defRPr>
            </a:lvl2pPr>
            <a:lvl3pPr lvl="2" rtl="0">
              <a:lnSpc>
                <a:spcPct val="100000"/>
              </a:lnSpc>
              <a:spcBef>
                <a:spcPts val="0"/>
              </a:spcBef>
              <a:spcAft>
                <a:spcPts val="0"/>
              </a:spcAft>
              <a:buClr>
                <a:schemeClr val="accent1"/>
              </a:buClr>
              <a:buSzPts val="1400"/>
              <a:buNone/>
              <a:defRPr>
                <a:solidFill>
                  <a:schemeClr val="accent1"/>
                </a:solidFill>
              </a:defRPr>
            </a:lvl3pPr>
            <a:lvl4pPr lvl="3" rtl="0">
              <a:lnSpc>
                <a:spcPct val="100000"/>
              </a:lnSpc>
              <a:spcBef>
                <a:spcPts val="0"/>
              </a:spcBef>
              <a:spcAft>
                <a:spcPts val="0"/>
              </a:spcAft>
              <a:buClr>
                <a:schemeClr val="accent1"/>
              </a:buClr>
              <a:buSzPts val="1400"/>
              <a:buNone/>
              <a:defRPr>
                <a:solidFill>
                  <a:schemeClr val="accent1"/>
                </a:solidFill>
              </a:defRPr>
            </a:lvl4pPr>
            <a:lvl5pPr lvl="4" rtl="0">
              <a:lnSpc>
                <a:spcPct val="100000"/>
              </a:lnSpc>
              <a:spcBef>
                <a:spcPts val="0"/>
              </a:spcBef>
              <a:spcAft>
                <a:spcPts val="0"/>
              </a:spcAft>
              <a:buClr>
                <a:schemeClr val="accent1"/>
              </a:buClr>
              <a:buSzPts val="1400"/>
              <a:buNone/>
              <a:defRPr>
                <a:solidFill>
                  <a:schemeClr val="accent1"/>
                </a:solidFill>
              </a:defRPr>
            </a:lvl5pPr>
            <a:lvl6pPr lvl="5" rtl="0">
              <a:lnSpc>
                <a:spcPct val="100000"/>
              </a:lnSpc>
              <a:spcBef>
                <a:spcPts val="0"/>
              </a:spcBef>
              <a:spcAft>
                <a:spcPts val="0"/>
              </a:spcAft>
              <a:buClr>
                <a:schemeClr val="accent1"/>
              </a:buClr>
              <a:buSzPts val="1400"/>
              <a:buNone/>
              <a:defRPr>
                <a:solidFill>
                  <a:schemeClr val="accent1"/>
                </a:solidFill>
              </a:defRPr>
            </a:lvl6pPr>
            <a:lvl7pPr lvl="6" rtl="0">
              <a:lnSpc>
                <a:spcPct val="100000"/>
              </a:lnSpc>
              <a:spcBef>
                <a:spcPts val="0"/>
              </a:spcBef>
              <a:spcAft>
                <a:spcPts val="0"/>
              </a:spcAft>
              <a:buClr>
                <a:schemeClr val="accent1"/>
              </a:buClr>
              <a:buSzPts val="1400"/>
              <a:buNone/>
              <a:defRPr>
                <a:solidFill>
                  <a:schemeClr val="accent1"/>
                </a:solidFill>
              </a:defRPr>
            </a:lvl7pPr>
            <a:lvl8pPr lvl="7" rtl="0">
              <a:lnSpc>
                <a:spcPct val="100000"/>
              </a:lnSpc>
              <a:spcBef>
                <a:spcPts val="0"/>
              </a:spcBef>
              <a:spcAft>
                <a:spcPts val="0"/>
              </a:spcAft>
              <a:buClr>
                <a:schemeClr val="accent1"/>
              </a:buClr>
              <a:buSzPts val="1400"/>
              <a:buNone/>
              <a:defRPr>
                <a:solidFill>
                  <a:schemeClr val="accent1"/>
                </a:solidFill>
              </a:defRPr>
            </a:lvl8pPr>
            <a:lvl9pPr lvl="8" rtl="0">
              <a:lnSpc>
                <a:spcPct val="100000"/>
              </a:lnSpc>
              <a:spcBef>
                <a:spcPts val="0"/>
              </a:spcBef>
              <a:spcAft>
                <a:spcPts val="0"/>
              </a:spcAft>
              <a:buClr>
                <a:schemeClr val="accent1"/>
              </a:buClr>
              <a:buSzPts val="1400"/>
              <a:buNone/>
              <a:defRPr>
                <a:solidFill>
                  <a:schemeClr val="accent1"/>
                </a:solidFill>
              </a:defRPr>
            </a:lvl9pPr>
          </a:lstStyle>
          <a:p>
            <a:endParaRPr/>
          </a:p>
        </p:txBody>
      </p:sp>
      <p:sp>
        <p:nvSpPr>
          <p:cNvPr id="147" name="Google Shape;147;p33"/>
          <p:cNvSpPr txBox="1"/>
          <p:nvPr/>
        </p:nvSpPr>
        <p:spPr>
          <a:xfrm>
            <a:off x="1233167" y="4760000"/>
            <a:ext cx="4407200" cy="889200"/>
          </a:xfrm>
          <a:prstGeom prst="rect">
            <a:avLst/>
          </a:prstGeom>
          <a:noFill/>
          <a:ln>
            <a:noFill/>
          </a:ln>
        </p:spPr>
        <p:txBody>
          <a:bodyPr spcFirstLastPara="1" wrap="square" lIns="121900" tIns="121900" rIns="121900" bIns="121900" anchor="t" anchorCtr="0">
            <a:noAutofit/>
          </a:bodyPr>
          <a:lstStyle/>
          <a:p>
            <a:pPr marL="0" lvl="0" indent="0" algn="l" rtl="0">
              <a:spcBef>
                <a:spcPts val="400"/>
              </a:spcBef>
              <a:spcAft>
                <a:spcPts val="0"/>
              </a:spcAft>
              <a:buNone/>
            </a:pPr>
            <a:r>
              <a:rPr lang="en" sz="1333">
                <a:solidFill>
                  <a:schemeClr val="accent1"/>
                </a:solidFill>
                <a:latin typeface="Montserrat Medium"/>
                <a:ea typeface="Montserrat Medium"/>
                <a:cs typeface="Montserrat Medium"/>
                <a:sym typeface="Montserrat Medium"/>
              </a:rPr>
              <a:t>CREDITS: This presentation template was created by </a:t>
            </a:r>
            <a:r>
              <a:rPr lang="en" sz="1333">
                <a:solidFill>
                  <a:schemeClr val="accent1"/>
                </a:solidFill>
                <a:uFill>
                  <a:noFill/>
                </a:uFill>
                <a:latin typeface="Montserrat Medium"/>
                <a:ea typeface="Montserrat Medium"/>
                <a:cs typeface="Montserrat Medium"/>
                <a:sym typeface="Montserrat Medium"/>
                <a:hlinkClick r:id="rId3">
                  <a:extLst>
                    <a:ext uri="{A12FA001-AC4F-418D-AE19-62706E023703}">
                      <ahyp:hlinkClr xmlns:ahyp="http://schemas.microsoft.com/office/drawing/2018/hyperlinkcolor" val="tx"/>
                    </a:ext>
                  </a:extLst>
                </a:hlinkClick>
              </a:rPr>
              <a:t>Slidesgo</a:t>
            </a:r>
            <a:r>
              <a:rPr lang="en" sz="1333">
                <a:solidFill>
                  <a:schemeClr val="accent1"/>
                </a:solidFill>
                <a:latin typeface="Montserrat Medium"/>
                <a:ea typeface="Montserrat Medium"/>
                <a:cs typeface="Montserrat Medium"/>
                <a:sym typeface="Montserrat Medium"/>
              </a:rPr>
              <a:t>, including icons by </a:t>
            </a:r>
            <a:r>
              <a:rPr lang="en" sz="1333">
                <a:solidFill>
                  <a:schemeClr val="accent1"/>
                </a:solidFill>
                <a:uFill>
                  <a:noFill/>
                </a:uFill>
                <a:latin typeface="Montserrat Medium"/>
                <a:ea typeface="Montserrat Medium"/>
                <a:cs typeface="Montserrat Medium"/>
                <a:sym typeface="Montserrat Medium"/>
                <a:hlinkClick r:id="rId4">
                  <a:extLst>
                    <a:ext uri="{A12FA001-AC4F-418D-AE19-62706E023703}">
                      <ahyp:hlinkClr xmlns:ahyp="http://schemas.microsoft.com/office/drawing/2018/hyperlinkcolor" val="tx"/>
                    </a:ext>
                  </a:extLst>
                </a:hlinkClick>
              </a:rPr>
              <a:t>Flaticon</a:t>
            </a:r>
            <a:r>
              <a:rPr lang="en" sz="1333">
                <a:solidFill>
                  <a:schemeClr val="accent1"/>
                </a:solidFill>
                <a:latin typeface="Montserrat Medium"/>
                <a:ea typeface="Montserrat Medium"/>
                <a:cs typeface="Montserrat Medium"/>
                <a:sym typeface="Montserrat Medium"/>
              </a:rPr>
              <a:t>, and infographics &amp; images by </a:t>
            </a:r>
            <a:r>
              <a:rPr lang="en" sz="1333">
                <a:solidFill>
                  <a:schemeClr val="accent1"/>
                </a:solidFill>
                <a:uFill>
                  <a:noFill/>
                </a:uFill>
                <a:latin typeface="Montserrat Medium"/>
                <a:ea typeface="Montserrat Medium"/>
                <a:cs typeface="Montserrat Medium"/>
                <a:sym typeface="Montserrat Medium"/>
                <a:hlinkClick r:id="rId5">
                  <a:extLst>
                    <a:ext uri="{A12FA001-AC4F-418D-AE19-62706E023703}">
                      <ahyp:hlinkClr xmlns:ahyp="http://schemas.microsoft.com/office/drawing/2018/hyperlinkcolor" val="tx"/>
                    </a:ext>
                  </a:extLst>
                </a:hlinkClick>
              </a:rPr>
              <a:t>Freepik</a:t>
            </a:r>
            <a:r>
              <a:rPr lang="en" sz="1333">
                <a:solidFill>
                  <a:schemeClr val="accent1"/>
                </a:solidFill>
                <a:latin typeface="Montserrat Medium"/>
                <a:ea typeface="Montserrat Medium"/>
                <a:cs typeface="Montserrat Medium"/>
                <a:sym typeface="Montserrat Medium"/>
              </a:rPr>
              <a:t>. </a:t>
            </a:r>
            <a:endParaRPr sz="1333">
              <a:solidFill>
                <a:schemeClr val="accent1"/>
              </a:solidFill>
              <a:latin typeface="Montserrat Medium"/>
              <a:ea typeface="Montserrat Medium"/>
              <a:cs typeface="Montserrat Medium"/>
              <a:sym typeface="Montserrat Medium"/>
            </a:endParaRPr>
          </a:p>
          <a:p>
            <a:pPr marL="0" lvl="0" indent="0" algn="l" rtl="0">
              <a:spcBef>
                <a:spcPts val="400"/>
              </a:spcBef>
              <a:spcAft>
                <a:spcPts val="0"/>
              </a:spcAft>
              <a:buNone/>
            </a:pPr>
            <a:endParaRPr sz="1333">
              <a:solidFill>
                <a:schemeClr val="accent1"/>
              </a:solidFill>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186585059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 Bullet points 1">
  <p:cSld name="Title + Bullet points 1">
    <p:bg>
      <p:bgPr>
        <a:blipFill>
          <a:blip r:embed="rId2">
            <a:alphaModFix/>
          </a:blip>
          <a:stretch>
            <a:fillRect/>
          </a:stretch>
        </a:blipFill>
        <a:effectLst/>
      </p:bgPr>
    </p:bg>
    <p:spTree>
      <p:nvGrpSpPr>
        <p:cNvPr id="1" name="Shape 148"/>
        <p:cNvGrpSpPr/>
        <p:nvPr/>
      </p:nvGrpSpPr>
      <p:grpSpPr>
        <a:xfrm>
          <a:off x="0" y="0"/>
          <a:ext cx="0" cy="0"/>
          <a:chOff x="0" y="0"/>
          <a:chExt cx="0" cy="0"/>
        </a:xfrm>
      </p:grpSpPr>
      <p:sp>
        <p:nvSpPr>
          <p:cNvPr id="149" name="Google Shape;149;p34"/>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50" name="Google Shape;150;p34"/>
          <p:cNvSpPr txBox="1">
            <a:spLocks noGrp="1"/>
          </p:cNvSpPr>
          <p:nvPr>
            <p:ph type="body" idx="1"/>
          </p:nvPr>
        </p:nvSpPr>
        <p:spPr>
          <a:xfrm>
            <a:off x="1251333" y="2212367"/>
            <a:ext cx="6595200" cy="36812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solidFill>
                  <a:schemeClr val="lt1"/>
                </a:solidFill>
              </a:defRPr>
            </a:lvl1pPr>
            <a:lvl2pPr marL="1219170" lvl="1" indent="-423323" rtl="0">
              <a:spcBef>
                <a:spcPts val="21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endParaRPr/>
          </a:p>
        </p:txBody>
      </p:sp>
    </p:spTree>
    <p:extLst>
      <p:ext uri="{BB962C8B-B14F-4D97-AF65-F5344CB8AC3E}">
        <p14:creationId xmlns:p14="http://schemas.microsoft.com/office/powerpoint/2010/main" val="170078151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 list">
  <p:cSld name="Title + list">
    <p:bg>
      <p:bgPr>
        <a:blipFill>
          <a:blip r:embed="rId2">
            <a:alphaModFix/>
          </a:blip>
          <a:stretch>
            <a:fillRect/>
          </a:stretch>
        </a:blipFill>
        <a:effectLst/>
      </p:bgPr>
    </p:bg>
    <p:spTree>
      <p:nvGrpSpPr>
        <p:cNvPr id="1" name="Shape 151"/>
        <p:cNvGrpSpPr/>
        <p:nvPr/>
      </p:nvGrpSpPr>
      <p:grpSpPr>
        <a:xfrm>
          <a:off x="0" y="0"/>
          <a:ext cx="0" cy="0"/>
          <a:chOff x="0" y="0"/>
          <a:chExt cx="0" cy="0"/>
        </a:xfrm>
      </p:grpSpPr>
      <p:sp>
        <p:nvSpPr>
          <p:cNvPr id="152" name="Google Shape;152;p35"/>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53" name="Google Shape;153;p35"/>
          <p:cNvSpPr txBox="1">
            <a:spLocks noGrp="1"/>
          </p:cNvSpPr>
          <p:nvPr>
            <p:ph type="body" idx="1"/>
          </p:nvPr>
        </p:nvSpPr>
        <p:spPr>
          <a:xfrm>
            <a:off x="6716700" y="2212367"/>
            <a:ext cx="4249200" cy="36812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solidFill>
                  <a:schemeClr val="lt1"/>
                </a:solidFill>
              </a:defRPr>
            </a:lvl1pPr>
            <a:lvl2pPr marL="1219170" lvl="1" indent="-423323" rtl="0">
              <a:spcBef>
                <a:spcPts val="21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endParaRPr/>
          </a:p>
        </p:txBody>
      </p:sp>
    </p:spTree>
    <p:extLst>
      <p:ext uri="{BB962C8B-B14F-4D97-AF65-F5344CB8AC3E}">
        <p14:creationId xmlns:p14="http://schemas.microsoft.com/office/powerpoint/2010/main" val="290878151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slideLayout" Target="../slideLayouts/slideLayout25.xml"/><Relationship Id="rId15" Type="http://schemas.openxmlformats.org/officeDocument/2006/relationships/slideLayout" Target="../slideLayouts/slideLayout26.xml"/><Relationship Id="rId16" Type="http://schemas.openxmlformats.org/officeDocument/2006/relationships/slideLayout" Target="../slideLayouts/slideLayout27.xml"/><Relationship Id="rId17" Type="http://schemas.openxmlformats.org/officeDocument/2006/relationships/slideLayout" Target="../slideLayouts/slideLayout28.xml"/><Relationship Id="rId18" Type="http://schemas.openxmlformats.org/officeDocument/2006/relationships/slideLayout" Target="../slideLayouts/slideLayout29.xml"/><Relationship Id="rId19" Type="http://schemas.openxmlformats.org/officeDocument/2006/relationships/slideLayout" Target="../slideLayouts/slideLayout30.xml"/><Relationship Id="rId20" Type="http://schemas.openxmlformats.org/officeDocument/2006/relationships/slideLayout" Target="../slideLayouts/slideLayout31.xml"/><Relationship Id="rId21" Type="http://schemas.openxmlformats.org/officeDocument/2006/relationships/slideLayout" Target="../slideLayouts/slideLayout32.xml"/><Relationship Id="rId22" Type="http://schemas.openxmlformats.org/officeDocument/2006/relationships/slideLayout" Target="../slideLayouts/slideLayout33.xml"/><Relationship Id="rId23" Type="http://schemas.openxmlformats.org/officeDocument/2006/relationships/slideLayout" Target="../slideLayouts/slideLayout34.xml"/><Relationship Id="rId24" Type="http://schemas.openxmlformats.org/officeDocument/2006/relationships/slideLayout" Target="../slideLayouts/slideLayout35.xml"/><Relationship Id="rId25" Type="http://schemas.openxmlformats.org/officeDocument/2006/relationships/slideLayout" Target="../slideLayouts/slideLayout36.xml"/><Relationship Id="rId26" Type="http://schemas.openxmlformats.org/officeDocument/2006/relationships/slideLayout" Target="../slideLayouts/slideLayout37.xml"/><Relationship Id="rId27" Type="http://schemas.openxmlformats.org/officeDocument/2006/relationships/slideLayout" Target="../slideLayouts/slideLayout38.xml"/><Relationship Id="rId28" Type="http://schemas.openxmlformats.org/officeDocument/2006/relationships/slideLayout" Target="../slideLayouts/slideLayout39.xml"/><Relationship Id="rId29" Type="http://schemas.openxmlformats.org/officeDocument/2006/relationships/slideLayout" Target="../slideLayouts/slideLayout40.xml"/><Relationship Id="rId30" Type="http://schemas.openxmlformats.org/officeDocument/2006/relationships/slideLayout" Target="../slideLayouts/slideLayout41.xml"/><Relationship Id="rId31" Type="http://schemas.openxmlformats.org/officeDocument/2006/relationships/slideLayout" Target="../slideLayouts/slideLayout42.xml"/><Relationship Id="rId32" Type="http://schemas.openxmlformats.org/officeDocument/2006/relationships/slideLayout" Target="../slideLayouts/slideLayout43.xml"/><Relationship Id="rId33" Type="http://schemas.openxmlformats.org/officeDocument/2006/relationships/slideLayout" Target="../slideLayouts/slideLayout44.xml"/><Relationship Id="rId34" Type="http://schemas.openxmlformats.org/officeDocument/2006/relationships/slideLayout" Target="../slideLayouts/slideLayout45.xml"/><Relationship Id="rId3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7629121-19DA-F768-5CFC-B107B5E571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DEED587A-86C9-0CB1-9E78-92A5B40A5A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37848B63-FCC0-1F0C-6FA0-E39236C4D9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72F0A0C-3F80-48F7-91EE-B33537999778}" type="datetimeFigureOut">
              <a:rPr lang="es-CL" smtClean="0"/>
              <a:t>17-10-26</a:t>
            </a:fld>
            <a:endParaRPr lang="es-CL"/>
          </a:p>
        </p:txBody>
      </p:sp>
      <p:sp>
        <p:nvSpPr>
          <p:cNvPr id="5" name="Marcador de pie de página 4">
            <a:extLst>
              <a:ext uri="{FF2B5EF4-FFF2-40B4-BE49-F238E27FC236}">
                <a16:creationId xmlns:a16="http://schemas.microsoft.com/office/drawing/2014/main" id="{FF5485DA-5959-B532-3F7A-88CB3767A1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L"/>
          </a:p>
        </p:txBody>
      </p:sp>
      <p:sp>
        <p:nvSpPr>
          <p:cNvPr id="6" name="Marcador de número de diapositiva 5">
            <a:extLst>
              <a:ext uri="{FF2B5EF4-FFF2-40B4-BE49-F238E27FC236}">
                <a16:creationId xmlns:a16="http://schemas.microsoft.com/office/drawing/2014/main" id="{8A00227E-72C4-001E-FC04-94BC34817A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6001BE-C829-45D8-A74C-DB7038EE08AC}" type="slidenum">
              <a:rPr lang="es-CL" smtClean="0"/>
              <a:t>‹Nº›</a:t>
            </a:fld>
            <a:endParaRPr lang="es-CL"/>
          </a:p>
        </p:txBody>
      </p:sp>
    </p:spTree>
    <p:extLst>
      <p:ext uri="{BB962C8B-B14F-4D97-AF65-F5344CB8AC3E}">
        <p14:creationId xmlns:p14="http://schemas.microsoft.com/office/powerpoint/2010/main" val="19536083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Montserrat ExtraBold"/>
              <a:buNone/>
              <a:defRPr sz="2800">
                <a:solidFill>
                  <a:schemeClr val="lt1"/>
                </a:solidFill>
                <a:latin typeface="Montserrat ExtraBold"/>
                <a:ea typeface="Montserrat ExtraBold"/>
                <a:cs typeface="Montserrat ExtraBold"/>
                <a:sym typeface="Montserrat ExtraBold"/>
              </a:defRPr>
            </a:lvl1pPr>
            <a:lvl2pPr lvl="1">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2pPr>
            <a:lvl3pPr lvl="2">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3pPr>
            <a:lvl4pPr lvl="3">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4pPr>
            <a:lvl5pPr lvl="4">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5pPr>
            <a:lvl6pPr lvl="5">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6pPr>
            <a:lvl7pPr lvl="6">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7pPr>
            <a:lvl8pPr lvl="7">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8pPr>
            <a:lvl9pPr lvl="8">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00000"/>
              </a:lnSpc>
              <a:spcBef>
                <a:spcPts val="1600"/>
              </a:spcBef>
              <a:spcAft>
                <a:spcPts val="160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604188862"/>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image" Target="../media/image37.png"/><Relationship Id="rId11" Type="http://schemas.openxmlformats.org/officeDocument/2006/relationships/image" Target="../media/image3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xml"/><Relationship Id="rId3" Type="http://schemas.openxmlformats.org/officeDocument/2006/relationships/image" Target="../media/image39.png"/><Relationship Id="rId4" Type="http://schemas.openxmlformats.org/officeDocument/2006/relationships/image" Target="../media/image40.jpg"/><Relationship Id="rId5" Type="http://schemas.openxmlformats.org/officeDocument/2006/relationships/image" Target="../media/image41.png"/><Relationship Id="rId6" Type="http://schemas.openxmlformats.org/officeDocument/2006/relationships/image" Target="../media/image4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xml"/><Relationship Id="rId3" Type="http://schemas.openxmlformats.org/officeDocument/2006/relationships/image" Target="../media/image3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xml"/><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7.xml"/><Relationship Id="rId3" Type="http://schemas.openxmlformats.org/officeDocument/2006/relationships/image" Target="../media/image41.png"/><Relationship Id="rId4" Type="http://schemas.openxmlformats.org/officeDocument/2006/relationships/image" Target="../media/image46.jpg"/><Relationship Id="rId5" Type="http://schemas.openxmlformats.org/officeDocument/2006/relationships/image" Target="../media/image47.jpg"/><Relationship Id="rId6" Type="http://schemas.openxmlformats.org/officeDocument/2006/relationships/image" Target="../media/image48.jpg"/><Relationship Id="rId7" Type="http://schemas.openxmlformats.org/officeDocument/2006/relationships/image" Target="../media/image49.jpg"/><Relationship Id="rId8" Type="http://schemas.openxmlformats.org/officeDocument/2006/relationships/image" Target="../media/image5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8.xml"/><Relationship Id="rId3" Type="http://schemas.openxmlformats.org/officeDocument/2006/relationships/image" Target="../media/image51.jpg"/><Relationship Id="rId4" Type="http://schemas.openxmlformats.org/officeDocument/2006/relationships/image" Target="../media/image52.jpg"/><Relationship Id="rId5" Type="http://schemas.openxmlformats.org/officeDocument/2006/relationships/image" Target="../media/image53.jpg"/><Relationship Id="rId6" Type="http://schemas.openxmlformats.org/officeDocument/2006/relationships/image" Target="../media/image54.jpg"/><Relationship Id="rId7" Type="http://schemas.openxmlformats.org/officeDocument/2006/relationships/image" Target="../media/image55.jpg"/><Relationship Id="rId8" Type="http://schemas.openxmlformats.org/officeDocument/2006/relationships/image" Target="../media/image5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xml"/><Relationship Id="rId3" Type="http://schemas.openxmlformats.org/officeDocument/2006/relationships/image" Target="../media/image57.jpg"/><Relationship Id="rId4" Type="http://schemas.openxmlformats.org/officeDocument/2006/relationships/image" Target="../media/image39.png"/><Relationship Id="rId5" Type="http://schemas.openxmlformats.org/officeDocument/2006/relationships/image" Target="../media/image58.jpg"/><Relationship Id="rId6" Type="http://schemas.openxmlformats.org/officeDocument/2006/relationships/image" Target="../media/image59.jpg"/><Relationship Id="rId7" Type="http://schemas.openxmlformats.org/officeDocument/2006/relationships/image" Target="../media/image60.png"/><Relationship Id="rId8" Type="http://schemas.openxmlformats.org/officeDocument/2006/relationships/image" Target="../media/image61.jpg"/><Relationship Id="rId9" Type="http://schemas.openxmlformats.org/officeDocument/2006/relationships/image" Target="../media/image6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0.xml"/><Relationship Id="rId3" Type="http://schemas.openxmlformats.org/officeDocument/2006/relationships/image" Target="../media/image44.png"/><Relationship Id="rId4" Type="http://schemas.openxmlformats.org/officeDocument/2006/relationships/image" Target="../media/image4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3.xml"/><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4.xml"/><Relationship Id="rId3" Type="http://schemas.openxmlformats.org/officeDocument/2006/relationships/image" Target="../media/image68.jpg"/><Relationship Id="rId4" Type="http://schemas.openxmlformats.org/officeDocument/2006/relationships/image" Target="../media/image60.png"/><Relationship Id="rId5" Type="http://schemas.openxmlformats.org/officeDocument/2006/relationships/image" Target="../media/image69.png"/><Relationship Id="rId6" Type="http://schemas.openxmlformats.org/officeDocument/2006/relationships/image" Target="../media/image3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5.xml"/><Relationship Id="rId3" Type="http://schemas.openxmlformats.org/officeDocument/2006/relationships/image" Target="../media/image58.jp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70.jpg"/><Relationship Id="rId7" Type="http://schemas.openxmlformats.org/officeDocument/2006/relationships/image" Target="../media/image46.jpg"/><Relationship Id="rId8" Type="http://schemas.openxmlformats.org/officeDocument/2006/relationships/image" Target="../media/image6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6.xml"/><Relationship Id="rId3" Type="http://schemas.openxmlformats.org/officeDocument/2006/relationships/image" Target="../media/image71.png"/><Relationship Id="rId4" Type="http://schemas.openxmlformats.org/officeDocument/2006/relationships/image" Target="../media/image67.png"/><Relationship Id="rId5" Type="http://schemas.openxmlformats.org/officeDocument/2006/relationships/image" Target="../media/image72.png"/><Relationship Id="rId6" Type="http://schemas.openxmlformats.org/officeDocument/2006/relationships/image" Target="../media/image73.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z="4400" b="1" i="0">
                <a:solidFill>
                  <a:srgbClr val="FFFFFF"/>
                </a:solidFill>
                <a:effectLst>
                  <a:glow rad="63500">
                    <a:srgbClr val="001633">
                      <a:alpha val="85000"/>
                    </a:srgbClr>
                  </a:glow>
                </a:effectLst>
                <a:latin typeface="Montserrat"/>
              </a:rPr>
              <a:t>Gemelos Digitales para Minería 4.0</a:t>
            </a:r>
          </a:p>
        </p:txBody>
      </p:sp>
      <p:sp>
        <p:nvSpPr>
          <p:cNvPr id="3" name="Subtítulo"/>
          <p:cNvSpPr txBox="1"/>
          <p:nvPr/>
        </p:nvSpPr>
        <p:spPr>
          <a:xfrm>
            <a:off x="1981047" y="4343400"/>
            <a:ext cx="8229600" cy="457200"/>
          </a:xfrm>
          <a:prstGeom prst="rect">
            <a:avLst/>
          </a:prstGeom>
          <a:noFill/>
        </p:spPr>
        <p:txBody>
          <a:bodyPr wrap="square" lIns="0" tIns="0" rIns="0" bIns="0" anchor="t">
            <a:spAutoFit/>
          </a:bodyPr>
          <a:lstStyle/>
          <a:p>
            <a:pPr algn="ctr">
              <a:spcAft>
                <a:spcPts val="600"/>
              </a:spcAft>
            </a:pPr>
            <a:r>
              <a:rPr sz="2600" b="1" i="0">
                <a:solidFill>
                  <a:srgbClr val="FFAB40"/>
                </a:solidFill>
                <a:effectLst>
                  <a:glow rad="63500">
                    <a:srgbClr val="001633">
                      <a:alpha val="85000"/>
                    </a:srgbClr>
                  </a:glow>
                </a:effectLst>
                <a:latin typeface="Montserrat"/>
              </a:rPr>
              <a:t>De la estrategia al impacto operacional</a:t>
            </a:r>
          </a:p>
        </p:txBody>
      </p:sp>
      <p:cxnSp>
        <p:nvCxnSpPr>
          <p:cNvPr id="4" name="Raya portada"/>
          <p:cNvCxnSpPr/>
          <p:nvPr/>
        </p:nvCxnSpPr>
        <p:spPr>
          <a:xfrm>
            <a:off x="5730087" y="4956048"/>
            <a:ext cx="731520" cy="0"/>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sp>
        <p:nvSpPr>
          <p:cNvPr id="5" name="Ejes"/>
          <p:cNvSpPr txBox="1"/>
          <p:nvPr/>
        </p:nvSpPr>
        <p:spPr>
          <a:xfrm>
            <a:off x="1981047" y="5102352"/>
            <a:ext cx="8229600" cy="365760"/>
          </a:xfrm>
          <a:prstGeom prst="rect">
            <a:avLst/>
          </a:prstGeom>
          <a:noFill/>
        </p:spPr>
        <p:txBody>
          <a:bodyPr wrap="square" lIns="0" tIns="0" rIns="0" bIns="0" anchor="t">
            <a:spAutoFit/>
          </a:bodyPr>
          <a:lstStyle/>
          <a:p>
            <a:pPr algn="ctr">
              <a:spcAft>
                <a:spcPts val="600"/>
              </a:spcAft>
            </a:pPr>
            <a:r>
              <a:rPr sz="1600" b="0" i="0">
                <a:solidFill>
                  <a:srgbClr val="FFFFFF"/>
                </a:solidFill>
                <a:effectLst>
                  <a:glow rad="63500">
                    <a:srgbClr val="001633">
                      <a:alpha val="85000"/>
                    </a:srgbClr>
                  </a:glow>
                </a:effectLst>
                <a:latin typeface="Montserrat"/>
              </a:rPr>
              <a:t>Modelamiento dinámico   |   Integración de datos   |   Decisión en tiempo real</a:t>
            </a:r>
          </a:p>
        </p:txBody>
      </p:sp>
      <p:sp>
        <p:nvSpPr>
          <p:cNvPr id="6" name="Autores"/>
          <p:cNvSpPr txBox="1"/>
          <p:nvPr/>
        </p:nvSpPr>
        <p:spPr>
          <a:xfrm>
            <a:off x="7315200" y="6172200"/>
            <a:ext cx="4389120" cy="365760"/>
          </a:xfrm>
          <a:prstGeom prst="rect">
            <a:avLst/>
          </a:prstGeom>
          <a:noFill/>
        </p:spPr>
        <p:txBody>
          <a:bodyPr wrap="square" lIns="0" tIns="0" rIns="0" bIns="0" anchor="t">
            <a:spAutoFit/>
          </a:bodyPr>
          <a:lstStyle/>
          <a:p>
            <a:pPr algn="r">
              <a:spcAft>
                <a:spcPts val="600"/>
              </a:spcAft>
            </a:pPr>
            <a:r>
              <a:rPr sz="1300" b="0" i="0">
                <a:solidFill>
                  <a:srgbClr val="FFFFFF"/>
                </a:solidFill>
                <a:effectLst>
                  <a:glow rad="63500">
                    <a:srgbClr val="001633">
                      <a:alpha val="85000"/>
                    </a:srgbClr>
                  </a:glow>
                </a:effectLst>
                <a:latin typeface="Montserrat"/>
              </a:rPr>
              <a:t>Luis Jaraquemada S.  ·  Andrés Venegas 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2728" y="502920"/>
            <a:ext cx="9692640" cy="1188720"/>
          </a:xfrm>
        </p:spPr>
        <p:txBody>
          <a:bodyPr wrap="square"/>
          <a:lstStyle/>
          <a:p>
            <a:r>
              <a:rPr sz="2600" b="1" i="0">
                <a:solidFill>
                  <a:srgbClr val="FFAB40"/>
                </a:solidFill>
                <a:effectLst>
                  <a:glow rad="63500">
                    <a:srgbClr val="001633">
                      <a:alpha val="85000"/>
                    </a:srgbClr>
                  </a:glow>
                </a:effectLst>
                <a:latin typeface="Montserrat"/>
              </a:rPr>
              <a:t>Quiénes somos</a:t>
            </a:r>
          </a:p>
          <a:p>
            <a:r>
              <a:rPr sz="2200" b="0" i="0">
                <a:solidFill>
                  <a:srgbClr val="FFFFFF"/>
                </a:solidFill>
                <a:effectLst>
                  <a:glow rad="63500">
                    <a:srgbClr val="001633">
                      <a:alpha val="85000"/>
                    </a:srgbClr>
                  </a:glow>
                </a:effectLst>
                <a:latin typeface="Montserrat"/>
              </a:rPr>
              <a:t>Diseñamos, construimos y presentamos gemelos digitales mineros</a:t>
            </a:r>
          </a:p>
        </p:txBody>
      </p:sp>
      <p:sp>
        <p:nvSpPr>
          <p:cNvPr id="3" name="Cifra años en software industrial minero"/>
          <p:cNvSpPr txBox="1"/>
          <p:nvPr/>
        </p:nvSpPr>
        <p:spPr>
          <a:xfrm>
            <a:off x="1252728" y="1691639"/>
            <a:ext cx="1371600" cy="914400"/>
          </a:xfrm>
          <a:prstGeom prst="rect">
            <a:avLst/>
          </a:prstGeom>
          <a:noFill/>
        </p:spPr>
        <p:txBody>
          <a:bodyPr wrap="square" lIns="0" tIns="0" rIns="0" bIns="0" anchor="ctr">
            <a:spAutoFit/>
          </a:bodyPr>
          <a:lstStyle/>
          <a:p>
            <a:pPr algn="l">
              <a:spcAft>
                <a:spcPts val="600"/>
              </a:spcAft>
            </a:pPr>
            <a:r>
              <a:rPr sz="5400" b="1" i="0">
                <a:solidFill>
                  <a:srgbClr val="FFAB40"/>
                </a:solidFill>
                <a:effectLst>
                  <a:glow rad="63500">
                    <a:srgbClr val="001633">
                      <a:alpha val="85000"/>
                    </a:srgbClr>
                  </a:glow>
                </a:effectLst>
                <a:latin typeface="Montserrat"/>
              </a:rPr>
              <a:t>+15</a:t>
            </a:r>
          </a:p>
        </p:txBody>
      </p:sp>
      <p:sp>
        <p:nvSpPr>
          <p:cNvPr id="4" name="TextBox 3"/>
          <p:cNvSpPr txBox="1"/>
          <p:nvPr/>
        </p:nvSpPr>
        <p:spPr>
          <a:xfrm>
            <a:off x="2715768" y="1691639"/>
            <a:ext cx="1737360" cy="914400"/>
          </a:xfrm>
          <a:prstGeom prst="rect">
            <a:avLst/>
          </a:prstGeom>
          <a:noFill/>
        </p:spPr>
        <p:txBody>
          <a:bodyPr wrap="square" lIns="0" tIns="0" rIns="0" bIns="0" anchor="ctr">
            <a:spAutoFit/>
          </a:bodyPr>
          <a:lstStyle/>
          <a:p>
            <a:pPr algn="l">
              <a:spcAft>
                <a:spcPts val="600"/>
              </a:spcAft>
            </a:pPr>
            <a:r>
              <a:rPr sz="1500" b="1" i="0">
                <a:solidFill>
                  <a:srgbClr val="FFFFFF"/>
                </a:solidFill>
                <a:effectLst>
                  <a:glow rad="63500">
                    <a:srgbClr val="001633">
                      <a:alpha val="85000"/>
                    </a:srgbClr>
                  </a:glow>
                </a:effectLst>
                <a:latin typeface="Montserrat"/>
              </a:rPr>
              <a:t>años en software industrial minero</a:t>
            </a:r>
          </a:p>
        </p:txBody>
      </p:sp>
      <p:sp>
        <p:nvSpPr>
          <p:cNvPr id="5" name="Cifra procesos mineros con gemelo digital"/>
          <p:cNvSpPr txBox="1"/>
          <p:nvPr/>
        </p:nvSpPr>
        <p:spPr>
          <a:xfrm>
            <a:off x="4590288" y="1691639"/>
            <a:ext cx="685800" cy="914400"/>
          </a:xfrm>
          <a:prstGeom prst="rect">
            <a:avLst/>
          </a:prstGeom>
          <a:noFill/>
        </p:spPr>
        <p:txBody>
          <a:bodyPr wrap="square" lIns="0" tIns="0" rIns="0" bIns="0" anchor="ctr">
            <a:spAutoFit/>
          </a:bodyPr>
          <a:lstStyle/>
          <a:p>
            <a:pPr algn="l">
              <a:spcAft>
                <a:spcPts val="600"/>
              </a:spcAft>
            </a:pPr>
            <a:r>
              <a:rPr sz="5400" b="1" i="0">
                <a:solidFill>
                  <a:srgbClr val="FFAB40"/>
                </a:solidFill>
                <a:effectLst>
                  <a:glow rad="63500">
                    <a:srgbClr val="001633">
                      <a:alpha val="85000"/>
                    </a:srgbClr>
                  </a:glow>
                </a:effectLst>
                <a:latin typeface="Montserrat"/>
              </a:rPr>
              <a:t>6</a:t>
            </a:r>
          </a:p>
        </p:txBody>
      </p:sp>
      <p:sp>
        <p:nvSpPr>
          <p:cNvPr id="6" name="TextBox 5"/>
          <p:cNvSpPr txBox="1"/>
          <p:nvPr/>
        </p:nvSpPr>
        <p:spPr>
          <a:xfrm>
            <a:off x="5367528" y="1691639"/>
            <a:ext cx="2423160" cy="914400"/>
          </a:xfrm>
          <a:prstGeom prst="rect">
            <a:avLst/>
          </a:prstGeom>
          <a:noFill/>
        </p:spPr>
        <p:txBody>
          <a:bodyPr wrap="square" lIns="0" tIns="0" rIns="0" bIns="0" anchor="ctr">
            <a:spAutoFit/>
          </a:bodyPr>
          <a:lstStyle/>
          <a:p>
            <a:pPr algn="l">
              <a:spcAft>
                <a:spcPts val="600"/>
              </a:spcAft>
            </a:pPr>
            <a:r>
              <a:rPr sz="1500" b="1" i="0">
                <a:solidFill>
                  <a:srgbClr val="FFFFFF"/>
                </a:solidFill>
                <a:effectLst>
                  <a:glow rad="63500">
                    <a:srgbClr val="001633">
                      <a:alpha val="85000"/>
                    </a:srgbClr>
                  </a:glow>
                </a:effectLst>
                <a:latin typeface="Montserrat"/>
              </a:rPr>
              <a:t>procesos mineros con gemelo digital</a:t>
            </a:r>
          </a:p>
        </p:txBody>
      </p:sp>
      <p:sp>
        <p:nvSpPr>
          <p:cNvPr id="7" name="Cifra trabajos en congresos, 2022–2025"/>
          <p:cNvSpPr txBox="1"/>
          <p:nvPr/>
        </p:nvSpPr>
        <p:spPr>
          <a:xfrm>
            <a:off x="7927848" y="1691639"/>
            <a:ext cx="685800" cy="914400"/>
          </a:xfrm>
          <a:prstGeom prst="rect">
            <a:avLst/>
          </a:prstGeom>
          <a:noFill/>
        </p:spPr>
        <p:txBody>
          <a:bodyPr wrap="square" lIns="0" tIns="0" rIns="0" bIns="0" anchor="ctr">
            <a:spAutoFit/>
          </a:bodyPr>
          <a:lstStyle/>
          <a:p>
            <a:pPr algn="l">
              <a:spcAft>
                <a:spcPts val="600"/>
              </a:spcAft>
            </a:pPr>
            <a:r>
              <a:rPr sz="5400" b="1" i="0">
                <a:solidFill>
                  <a:srgbClr val="FFAB40"/>
                </a:solidFill>
                <a:effectLst>
                  <a:glow rad="63500">
                    <a:srgbClr val="001633">
                      <a:alpha val="85000"/>
                    </a:srgbClr>
                  </a:glow>
                </a:effectLst>
                <a:latin typeface="Montserrat"/>
              </a:rPr>
              <a:t>5</a:t>
            </a:r>
          </a:p>
        </p:txBody>
      </p:sp>
      <p:sp>
        <p:nvSpPr>
          <p:cNvPr id="8" name="TextBox 7"/>
          <p:cNvSpPr txBox="1"/>
          <p:nvPr/>
        </p:nvSpPr>
        <p:spPr>
          <a:xfrm>
            <a:off x="8705088" y="1691639"/>
            <a:ext cx="2423160" cy="914400"/>
          </a:xfrm>
          <a:prstGeom prst="rect">
            <a:avLst/>
          </a:prstGeom>
          <a:noFill/>
        </p:spPr>
        <p:txBody>
          <a:bodyPr wrap="square" lIns="0" tIns="0" rIns="0" bIns="0" anchor="ctr">
            <a:spAutoFit/>
          </a:bodyPr>
          <a:lstStyle/>
          <a:p>
            <a:pPr algn="l">
              <a:spcAft>
                <a:spcPts val="600"/>
              </a:spcAft>
            </a:pPr>
            <a:r>
              <a:rPr sz="1500" b="1" i="0">
                <a:solidFill>
                  <a:srgbClr val="FFFFFF"/>
                </a:solidFill>
                <a:effectLst>
                  <a:glow rad="63500">
                    <a:srgbClr val="001633">
                      <a:alpha val="85000"/>
                    </a:srgbClr>
                  </a:glow>
                </a:effectLst>
                <a:latin typeface="Montserrat"/>
              </a:rPr>
              <a:t>trabajos en congresos, 2022–2025</a:t>
            </a:r>
          </a:p>
        </p:txBody>
      </p:sp>
      <p:sp>
        <p:nvSpPr>
          <p:cNvPr id="9" name="TextBox 8"/>
          <p:cNvSpPr txBox="1"/>
          <p:nvPr/>
        </p:nvSpPr>
        <p:spPr>
          <a:xfrm>
            <a:off x="1252728" y="2651759"/>
            <a:ext cx="10012680" cy="274320"/>
          </a:xfrm>
          <a:prstGeom prst="rect">
            <a:avLst/>
          </a:prstGeom>
          <a:noFill/>
        </p:spPr>
        <p:txBody>
          <a:bodyPr wrap="square" lIns="0" tIns="0" rIns="0" bIns="0" anchor="t">
            <a:spAutoFit/>
          </a:bodyPr>
          <a:lstStyle/>
          <a:p>
            <a:pPr algn="l">
              <a:spcAft>
                <a:spcPts val="600"/>
              </a:spcAft>
            </a:pPr>
            <a:r>
              <a:rPr sz="1200" b="0" i="0">
                <a:solidFill>
                  <a:srgbClr val="A9B8C9"/>
                </a:solidFill>
                <a:effectLst>
                  <a:glow rad="63500">
                    <a:srgbClr val="001633">
                      <a:alpha val="85000"/>
                    </a:srgbClr>
                  </a:glow>
                </a:effectLst>
                <a:latin typeface="Montserrat"/>
              </a:rPr>
              <a:t>Carguío y transporte · chancado · correas y tolvas · stockpiles · flotación · filtración</a:t>
            </a:r>
          </a:p>
        </p:txBody>
      </p:sp>
      <p:sp>
        <p:nvSpPr>
          <p:cNvPr id="10" name="Perfil Luis Jaraquemada S."/>
          <p:cNvSpPr/>
          <p:nvPr/>
        </p:nvSpPr>
        <p:spPr>
          <a:xfrm>
            <a:off x="1252728" y="3108959"/>
            <a:ext cx="4869180" cy="1874519"/>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Luis Jaraquemada S." descr="luis.png"/>
          <p:cNvPicPr>
            <a:picLocks noChangeAspect="1"/>
          </p:cNvPicPr>
          <p:nvPr/>
        </p:nvPicPr>
        <p:blipFill>
          <a:blip r:embed="rId3"/>
          <a:srcRect l="4777" r="4777"/>
          <a:stretch>
            <a:fillRect/>
          </a:stretch>
        </p:blipFill>
        <p:spPr>
          <a:xfrm>
            <a:off x="1527048" y="3337559"/>
            <a:ext cx="1417320" cy="1417320"/>
          </a:xfrm>
          <a:prstGeom prst="ellipse">
            <a:avLst/>
          </a:prstGeom>
        </p:spPr>
      </p:pic>
      <p:sp>
        <p:nvSpPr>
          <p:cNvPr id="12" name="Luis Jaraquemada S. anillo"/>
          <p:cNvSpPr/>
          <p:nvPr/>
        </p:nvSpPr>
        <p:spPr>
          <a:xfrm>
            <a:off x="1481328" y="3291839"/>
            <a:ext cx="1508760" cy="1508760"/>
          </a:xfrm>
          <a:prstGeom prst="ellipse">
            <a:avLst/>
          </a:prstGeom>
          <a:no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218688" y="3337559"/>
            <a:ext cx="2766060" cy="1463040"/>
          </a:xfrm>
          <a:prstGeom prst="rect">
            <a:avLst/>
          </a:prstGeom>
          <a:noFill/>
        </p:spPr>
        <p:txBody>
          <a:bodyPr wrap="square" lIns="0" tIns="0" rIns="0" bIns="0" anchor="ctr">
            <a:spAutoFit/>
          </a:bodyPr>
          <a:lstStyle/>
          <a:p>
            <a:pPr algn="l">
              <a:spcAft>
                <a:spcPts val="300"/>
              </a:spcAft>
            </a:pPr>
            <a:r>
              <a:rPr sz="2000" b="1" i="0">
                <a:solidFill>
                  <a:srgbClr val="FFFFFF"/>
                </a:solidFill>
                <a:effectLst>
                  <a:glow rad="63500">
                    <a:srgbClr val="001633">
                      <a:alpha val="85000"/>
                    </a:srgbClr>
                  </a:glow>
                </a:effectLst>
                <a:latin typeface="Montserrat"/>
              </a:rPr>
              <a:t>Luis Jaraquemada S.</a:t>
            </a:r>
          </a:p>
          <a:p>
            <a:pPr algn="l">
              <a:spcAft>
                <a:spcPts val="300"/>
              </a:spcAft>
            </a:pPr>
            <a:r>
              <a:rPr sz="1300" b="1" i="0">
                <a:solidFill>
                  <a:srgbClr val="FFAB40"/>
                </a:solidFill>
                <a:effectLst>
                  <a:glow rad="63500">
                    <a:srgbClr val="001633">
                      <a:alpha val="85000"/>
                    </a:srgbClr>
                  </a:glow>
                </a:effectLst>
                <a:latin typeface="Montserrat"/>
              </a:rPr>
              <a:t>Global R&amp;D Manager · Production Management</a:t>
            </a:r>
          </a:p>
          <a:p>
            <a:pPr algn="l">
              <a:spcAft>
                <a:spcPts val="300"/>
              </a:spcAft>
            </a:pPr>
            <a:r>
              <a:rPr sz="1200" b="0" i="0">
                <a:solidFill>
                  <a:srgbClr val="FFFFFF"/>
                </a:solidFill>
                <a:effectLst>
                  <a:glow rad="63500">
                    <a:srgbClr val="001633">
                      <a:alpha val="85000"/>
                    </a:srgbClr>
                  </a:glow>
                </a:effectLst>
                <a:latin typeface="Montserrat"/>
              </a:rPr>
              <a:t>Epiroc Digital Solutions Division</a:t>
            </a:r>
          </a:p>
          <a:p>
            <a:pPr algn="l">
              <a:spcAft>
                <a:spcPts val="300"/>
              </a:spcAft>
            </a:pPr>
            <a:r>
              <a:rPr sz="1100" b="0" i="0">
                <a:solidFill>
                  <a:srgbClr val="A9B8C9"/>
                </a:solidFill>
                <a:effectLst>
                  <a:glow rad="63500">
                    <a:srgbClr val="001633">
                      <a:alpha val="85000"/>
                    </a:srgbClr>
                  </a:glow>
                </a:effectLst>
                <a:latin typeface="Montserrat"/>
              </a:rPr>
              <a:t>Ing. Civil Eléctrico y MSc (USACH)</a:t>
            </a:r>
          </a:p>
        </p:txBody>
      </p:sp>
      <p:sp>
        <p:nvSpPr>
          <p:cNvPr id="14" name="Perfil Andrés Venegas G."/>
          <p:cNvSpPr/>
          <p:nvPr/>
        </p:nvSpPr>
        <p:spPr>
          <a:xfrm>
            <a:off x="6396228" y="3108959"/>
            <a:ext cx="4869180" cy="1874519"/>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Andrés Venegas G." descr="andres.png"/>
          <p:cNvPicPr>
            <a:picLocks noChangeAspect="1"/>
          </p:cNvPicPr>
          <p:nvPr/>
        </p:nvPicPr>
        <p:blipFill>
          <a:blip r:embed="rId4"/>
          <a:stretch>
            <a:fillRect/>
          </a:stretch>
        </p:blipFill>
        <p:spPr>
          <a:xfrm>
            <a:off x="6670548" y="3337559"/>
            <a:ext cx="1417320" cy="1417320"/>
          </a:xfrm>
          <a:prstGeom prst="ellipse">
            <a:avLst/>
          </a:prstGeom>
        </p:spPr>
      </p:pic>
      <p:sp>
        <p:nvSpPr>
          <p:cNvPr id="16" name="Andrés Venegas G. anillo"/>
          <p:cNvSpPr/>
          <p:nvPr/>
        </p:nvSpPr>
        <p:spPr>
          <a:xfrm>
            <a:off x="6624828" y="3291839"/>
            <a:ext cx="1508760" cy="1508760"/>
          </a:xfrm>
          <a:prstGeom prst="ellipse">
            <a:avLst/>
          </a:prstGeom>
          <a:no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362188" y="3480456"/>
            <a:ext cx="2766060" cy="1177245"/>
          </a:xfrm>
          <a:prstGeom prst="rect">
            <a:avLst/>
          </a:prstGeom>
          <a:noFill/>
        </p:spPr>
        <p:txBody>
          <a:bodyPr wrap="square" lIns="0" tIns="0" rIns="0" bIns="0" anchor="ctr">
            <a:spAutoFit/>
          </a:bodyPr>
          <a:lstStyle/>
          <a:p>
            <a:pPr algn="l">
              <a:spcAft>
                <a:spcPts val="300"/>
              </a:spcAft>
            </a:pPr>
            <a:r>
              <a:rPr sz="2000" b="1" i="0" dirty="0">
                <a:solidFill>
                  <a:srgbClr val="FFFFFF"/>
                </a:solidFill>
                <a:effectLst>
                  <a:glow rad="63500">
                    <a:srgbClr val="001633">
                      <a:alpha val="85000"/>
                    </a:srgbClr>
                  </a:glow>
                </a:effectLst>
                <a:latin typeface="Montserrat"/>
              </a:rPr>
              <a:t>Andrés Venegas G.</a:t>
            </a:r>
          </a:p>
          <a:p>
            <a:pPr algn="l">
              <a:spcAft>
                <a:spcPts val="300"/>
              </a:spcAft>
            </a:pPr>
            <a:r>
              <a:rPr sz="1300" b="1" i="0" dirty="0">
                <a:solidFill>
                  <a:srgbClr val="FFAB40"/>
                </a:solidFill>
                <a:effectLst>
                  <a:glow rad="63500">
                    <a:srgbClr val="001633">
                      <a:alpha val="85000"/>
                    </a:srgbClr>
                  </a:glow>
                </a:effectLst>
                <a:latin typeface="Montserrat"/>
              </a:rPr>
              <a:t>Process &amp; Data Modelling Manager</a:t>
            </a:r>
          </a:p>
          <a:p>
            <a:pPr algn="l">
              <a:spcAft>
                <a:spcPts val="300"/>
              </a:spcAft>
            </a:pPr>
            <a:r>
              <a:rPr sz="1200" b="0" i="0" dirty="0">
                <a:solidFill>
                  <a:srgbClr val="FFFFFF"/>
                </a:solidFill>
                <a:effectLst>
                  <a:glow rad="63500">
                    <a:srgbClr val="001633">
                      <a:alpha val="85000"/>
                    </a:srgbClr>
                  </a:glow>
                </a:effectLst>
                <a:latin typeface="Montserrat"/>
              </a:rPr>
              <a:t>Epiroc Digital Solutions Division</a:t>
            </a:r>
          </a:p>
          <a:p>
            <a:pPr algn="l">
              <a:spcAft>
                <a:spcPts val="300"/>
              </a:spcAft>
            </a:pPr>
            <a:r>
              <a:rPr sz="1100" b="0" i="0" dirty="0">
                <a:solidFill>
                  <a:srgbClr val="A9B8C9"/>
                </a:solidFill>
                <a:effectLst>
                  <a:glow rad="63500">
                    <a:srgbClr val="001633">
                      <a:alpha val="85000"/>
                    </a:srgbClr>
                  </a:glow>
                </a:effectLst>
                <a:latin typeface="Montserrat"/>
              </a:rPr>
              <a:t>Ing. Civil </a:t>
            </a:r>
            <a:r>
              <a:rPr sz="1100" b="0" i="0" dirty="0" err="1">
                <a:solidFill>
                  <a:srgbClr val="A9B8C9"/>
                </a:solidFill>
                <a:effectLst>
                  <a:glow rad="63500">
                    <a:srgbClr val="001633">
                      <a:alpha val="85000"/>
                    </a:srgbClr>
                  </a:glow>
                </a:effectLst>
                <a:latin typeface="Montserrat"/>
              </a:rPr>
              <a:t>Mecatrónico</a:t>
            </a:r>
            <a:endParaRPr sz="1100" b="0" i="0" dirty="0">
              <a:solidFill>
                <a:srgbClr val="A9B8C9"/>
              </a:solidFill>
              <a:effectLst>
                <a:glow rad="63500">
                  <a:srgbClr val="001633">
                    <a:alpha val="85000"/>
                  </a:srgbClr>
                </a:glow>
              </a:effectLst>
              <a:latin typeface="Montserrat"/>
            </a:endParaRPr>
          </a:p>
        </p:txBody>
      </p:sp>
      <p:sp>
        <p:nvSpPr>
          <p:cNvPr id="18" name="TextBox 17"/>
          <p:cNvSpPr txBox="1"/>
          <p:nvPr/>
        </p:nvSpPr>
        <p:spPr>
          <a:xfrm>
            <a:off x="1252728" y="5257800"/>
            <a:ext cx="1920240" cy="411480"/>
          </a:xfrm>
          <a:prstGeom prst="rect">
            <a:avLst/>
          </a:prstGeom>
          <a:noFill/>
        </p:spPr>
        <p:txBody>
          <a:bodyPr wrap="square" lIns="0" tIns="0" rIns="0" bIns="0" anchor="ctr">
            <a:spAutoFit/>
          </a:bodyPr>
          <a:lstStyle/>
          <a:p>
            <a:pPr algn="l">
              <a:spcAft>
                <a:spcPts val="600"/>
              </a:spcAft>
            </a:pPr>
            <a:r>
              <a:rPr sz="1300" b="1" i="0">
                <a:solidFill>
                  <a:srgbClr val="A9B8C9"/>
                </a:solidFill>
                <a:effectLst>
                  <a:glow rad="63500">
                    <a:srgbClr val="001633">
                      <a:alpha val="85000"/>
                    </a:srgbClr>
                  </a:glow>
                </a:effectLst>
                <a:latin typeface="Montserrat"/>
              </a:rPr>
              <a:t>Trayectoria en</a:t>
            </a:r>
          </a:p>
        </p:txBody>
      </p:sp>
      <p:pic>
        <p:nvPicPr>
          <p:cNvPr id="19" name="logo-epiroc.png" descr="logo-epiroc.png"/>
          <p:cNvPicPr>
            <a:picLocks noChangeAspect="1"/>
          </p:cNvPicPr>
          <p:nvPr/>
        </p:nvPicPr>
        <p:blipFill>
          <a:blip r:embed="rId5"/>
          <a:stretch>
            <a:fillRect/>
          </a:stretch>
        </p:blipFill>
        <p:spPr>
          <a:xfrm>
            <a:off x="2990088" y="5257800"/>
            <a:ext cx="740664" cy="411480"/>
          </a:xfrm>
          <a:prstGeom prst="rect">
            <a:avLst/>
          </a:prstGeom>
        </p:spPr>
      </p:pic>
      <p:pic>
        <p:nvPicPr>
          <p:cNvPr id="20" name="logo-siemens.png" descr="logo-siemens.png"/>
          <p:cNvPicPr>
            <a:picLocks noChangeAspect="1"/>
          </p:cNvPicPr>
          <p:nvPr/>
        </p:nvPicPr>
        <p:blipFill>
          <a:blip r:embed="rId6"/>
          <a:stretch>
            <a:fillRect/>
          </a:stretch>
        </p:blipFill>
        <p:spPr>
          <a:xfrm>
            <a:off x="3959352" y="5257800"/>
            <a:ext cx="1930790" cy="411480"/>
          </a:xfrm>
          <a:prstGeom prst="rect">
            <a:avLst/>
          </a:prstGeom>
        </p:spPr>
      </p:pic>
      <p:pic>
        <p:nvPicPr>
          <p:cNvPr id="21" name="logo-innomotics.png" descr="logo-innomotics.png"/>
          <p:cNvPicPr>
            <a:picLocks noChangeAspect="1"/>
          </p:cNvPicPr>
          <p:nvPr/>
        </p:nvPicPr>
        <p:blipFill>
          <a:blip r:embed="rId7"/>
          <a:stretch>
            <a:fillRect/>
          </a:stretch>
        </p:blipFill>
        <p:spPr>
          <a:xfrm>
            <a:off x="6118742" y="5257800"/>
            <a:ext cx="1379876" cy="411480"/>
          </a:xfrm>
          <a:prstGeom prst="rect">
            <a:avLst/>
          </a:prstGeom>
        </p:spPr>
      </p:pic>
      <p:pic>
        <p:nvPicPr>
          <p:cNvPr id="22" name="logo-huawei.png" descr="logo-huawei.png"/>
          <p:cNvPicPr>
            <a:picLocks noChangeAspect="1"/>
          </p:cNvPicPr>
          <p:nvPr/>
        </p:nvPicPr>
        <p:blipFill>
          <a:blip r:embed="rId8"/>
          <a:stretch>
            <a:fillRect/>
          </a:stretch>
        </p:blipFill>
        <p:spPr>
          <a:xfrm>
            <a:off x="7727218" y="5257800"/>
            <a:ext cx="1402177" cy="4114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2728" y="502920"/>
            <a:ext cx="9692640" cy="1188720"/>
          </a:xfrm>
        </p:spPr>
        <p:txBody>
          <a:bodyPr wrap="square"/>
          <a:lstStyle/>
          <a:p>
            <a:r>
              <a:rPr sz="2600" b="1" i="0">
                <a:solidFill>
                  <a:srgbClr val="FFAB40"/>
                </a:solidFill>
                <a:effectLst>
                  <a:glow rad="63500">
                    <a:srgbClr val="001633">
                      <a:alpha val="85000"/>
                    </a:srgbClr>
                  </a:glow>
                </a:effectLst>
                <a:latin typeface="Montserrat"/>
              </a:rPr>
              <a:t>Quiénes somos</a:t>
            </a:r>
          </a:p>
          <a:p>
            <a:r>
              <a:rPr sz="2200" b="0" i="0">
                <a:solidFill>
                  <a:srgbClr val="FFFFFF"/>
                </a:solidFill>
                <a:effectLst>
                  <a:glow rad="63500">
                    <a:srgbClr val="001633">
                      <a:alpha val="85000"/>
                    </a:srgbClr>
                  </a:glow>
                </a:effectLst>
                <a:latin typeface="Montserrat"/>
              </a:rPr>
              <a:t>Hablamos de gemelos digitales donde la minería decide</a:t>
            </a:r>
          </a:p>
        </p:txBody>
      </p:sp>
      <p:cxnSp>
        <p:nvCxnSpPr>
          <p:cNvPr id="3" name="Connector 2"/>
          <p:cNvCxnSpPr/>
          <p:nvPr/>
        </p:nvCxnSpPr>
        <p:spPr>
          <a:xfrm>
            <a:off x="1527048" y="2057399"/>
            <a:ext cx="0" cy="2487168"/>
          </a:xfrm>
          <a:prstGeom prst="line">
            <a:avLst/>
          </a:prstGeom>
          <a:ln w="25400">
            <a:solidFill>
              <a:srgbClr val="FFAB40"/>
            </a:solidFill>
          </a:ln>
        </p:spPr>
        <p:style>
          <a:lnRef idx="2">
            <a:schemeClr val="accent1"/>
          </a:lnRef>
          <a:fillRef idx="0">
            <a:schemeClr val="accent1"/>
          </a:fillRef>
          <a:effectRef idx="1">
            <a:schemeClr val="accent1"/>
          </a:effectRef>
          <a:fontRef idx="minor">
            <a:schemeClr val="tx1"/>
          </a:fontRef>
        </p:style>
      </p:cxnSp>
      <p:sp>
        <p:nvSpPr>
          <p:cNvPr id="4" name="Charla 1"/>
          <p:cNvSpPr/>
          <p:nvPr/>
        </p:nvSpPr>
        <p:spPr>
          <a:xfrm>
            <a:off x="1252728" y="1783079"/>
            <a:ext cx="548640" cy="548640"/>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Ícono mic" descr="mic-orange.png"/>
          <p:cNvPicPr>
            <a:picLocks noChangeAspect="1"/>
          </p:cNvPicPr>
          <p:nvPr/>
        </p:nvPicPr>
        <p:blipFill>
          <a:blip r:embed="rId2"/>
          <a:stretch>
            <a:fillRect/>
          </a:stretch>
        </p:blipFill>
        <p:spPr>
          <a:xfrm>
            <a:off x="1373429" y="1903780"/>
            <a:ext cx="307238" cy="307238"/>
          </a:xfrm>
          <a:prstGeom prst="rect">
            <a:avLst/>
          </a:prstGeom>
        </p:spPr>
      </p:pic>
      <p:sp>
        <p:nvSpPr>
          <p:cNvPr id="6" name="TextBox 5"/>
          <p:cNvSpPr txBox="1"/>
          <p:nvPr/>
        </p:nvSpPr>
        <p:spPr>
          <a:xfrm>
            <a:off x="1984248" y="1764791"/>
            <a:ext cx="5394960" cy="603504"/>
          </a:xfrm>
          <a:prstGeom prst="rect">
            <a:avLst/>
          </a:prstGeom>
          <a:noFill/>
        </p:spPr>
        <p:txBody>
          <a:bodyPr wrap="square" lIns="0" tIns="0" rIns="0" bIns="0" anchor="ctr">
            <a:spAutoFit/>
          </a:bodyPr>
          <a:lstStyle/>
          <a:p>
            <a:pPr algn="l">
              <a:spcAft>
                <a:spcPts val="100"/>
              </a:spcAft>
            </a:pPr>
            <a:r>
              <a:rPr sz="1300" b="1" i="0">
                <a:solidFill>
                  <a:srgbClr val="FFAB40"/>
                </a:solidFill>
                <a:effectLst>
                  <a:glow rad="63500">
                    <a:srgbClr val="001633">
                      <a:alpha val="85000"/>
                    </a:srgbClr>
                  </a:glow>
                </a:effectLst>
                <a:latin typeface="Montserrat"/>
              </a:rPr>
              <a:t>2022 · </a:t>
            </a:r>
            <a:r>
              <a:rPr sz="1300" b="1" i="0">
                <a:solidFill>
                  <a:srgbClr val="FFFFFF"/>
                </a:solidFill>
                <a:effectLst>
                  <a:glow rad="63500">
                    <a:srgbClr val="001633">
                      <a:alpha val="85000"/>
                    </a:srgbClr>
                  </a:glow>
                </a:effectLst>
                <a:latin typeface="Montserrat"/>
              </a:rPr>
              <a:t>Minería Digital</a:t>
            </a:r>
          </a:p>
          <a:p>
            <a:pPr algn="l">
              <a:spcAft>
                <a:spcPts val="100"/>
              </a:spcAft>
            </a:pPr>
            <a:r>
              <a:rPr sz="1100" b="0" i="0">
                <a:solidFill>
                  <a:srgbClr val="A9B8C9"/>
                </a:solidFill>
                <a:effectLst>
                  <a:glow rad="63500">
                    <a:srgbClr val="001633">
                      <a:alpha val="85000"/>
                    </a:srgbClr>
                  </a:glow>
                </a:effectLst>
                <a:latin typeface="Montserrat"/>
              </a:rPr>
              <a:t>Gemelos digitales en conminución y transporte</a:t>
            </a:r>
          </a:p>
        </p:txBody>
      </p:sp>
      <p:sp>
        <p:nvSpPr>
          <p:cNvPr id="7" name="Charla 2"/>
          <p:cNvSpPr/>
          <p:nvPr/>
        </p:nvSpPr>
        <p:spPr>
          <a:xfrm>
            <a:off x="1252728" y="2404871"/>
            <a:ext cx="548640" cy="548640"/>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Ícono mic" descr="mic-orange.png"/>
          <p:cNvPicPr>
            <a:picLocks noChangeAspect="1"/>
          </p:cNvPicPr>
          <p:nvPr/>
        </p:nvPicPr>
        <p:blipFill>
          <a:blip r:embed="rId2"/>
          <a:stretch>
            <a:fillRect/>
          </a:stretch>
        </p:blipFill>
        <p:spPr>
          <a:xfrm>
            <a:off x="1373429" y="2525572"/>
            <a:ext cx="307238" cy="307238"/>
          </a:xfrm>
          <a:prstGeom prst="rect">
            <a:avLst/>
          </a:prstGeom>
        </p:spPr>
      </p:pic>
      <p:sp>
        <p:nvSpPr>
          <p:cNvPr id="9" name="TextBox 8"/>
          <p:cNvSpPr txBox="1"/>
          <p:nvPr/>
        </p:nvSpPr>
        <p:spPr>
          <a:xfrm>
            <a:off x="1984248" y="2386583"/>
            <a:ext cx="5394960" cy="603504"/>
          </a:xfrm>
          <a:prstGeom prst="rect">
            <a:avLst/>
          </a:prstGeom>
          <a:noFill/>
        </p:spPr>
        <p:txBody>
          <a:bodyPr wrap="square" lIns="0" tIns="0" rIns="0" bIns="0" anchor="ctr">
            <a:spAutoFit/>
          </a:bodyPr>
          <a:lstStyle/>
          <a:p>
            <a:pPr algn="l">
              <a:spcAft>
                <a:spcPts val="100"/>
              </a:spcAft>
            </a:pPr>
            <a:r>
              <a:rPr sz="1300" b="1" i="0">
                <a:solidFill>
                  <a:srgbClr val="FFAB40"/>
                </a:solidFill>
                <a:effectLst>
                  <a:glow rad="63500">
                    <a:srgbClr val="001633">
                      <a:alpha val="85000"/>
                    </a:srgbClr>
                  </a:glow>
                </a:effectLst>
                <a:latin typeface="Montserrat"/>
              </a:rPr>
              <a:t>2022 · </a:t>
            </a:r>
            <a:r>
              <a:rPr sz="1300" b="1" i="0">
                <a:solidFill>
                  <a:srgbClr val="FFFFFF"/>
                </a:solidFill>
                <a:effectLst>
                  <a:glow rad="63500">
                    <a:srgbClr val="001633">
                      <a:alpha val="85000"/>
                    </a:srgbClr>
                  </a:glow>
                </a:effectLst>
                <a:latin typeface="Montserrat"/>
              </a:rPr>
              <a:t>MAPLA–MANTEMIN</a:t>
            </a:r>
          </a:p>
          <a:p>
            <a:pPr algn="l">
              <a:spcAft>
                <a:spcPts val="100"/>
              </a:spcAft>
            </a:pPr>
            <a:r>
              <a:rPr sz="1100" b="0" i="0">
                <a:solidFill>
                  <a:srgbClr val="A9B8C9"/>
                </a:solidFill>
                <a:effectLst>
                  <a:glow rad="63500">
                    <a:srgbClr val="001633">
                      <a:alpha val="85000"/>
                    </a:srgbClr>
                  </a:glow>
                </a:effectLst>
                <a:latin typeface="Montserrat"/>
              </a:rPr>
              <a:t>Gemelos digitales en chancado y transporte de material</a:t>
            </a:r>
          </a:p>
        </p:txBody>
      </p:sp>
      <p:sp>
        <p:nvSpPr>
          <p:cNvPr id="10" name="Charla 3"/>
          <p:cNvSpPr/>
          <p:nvPr/>
        </p:nvSpPr>
        <p:spPr>
          <a:xfrm>
            <a:off x="1252728" y="3026663"/>
            <a:ext cx="548640" cy="548640"/>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Ícono award" descr="award-orange.png"/>
          <p:cNvPicPr>
            <a:picLocks noChangeAspect="1"/>
          </p:cNvPicPr>
          <p:nvPr/>
        </p:nvPicPr>
        <p:blipFill>
          <a:blip r:embed="rId3"/>
          <a:stretch>
            <a:fillRect/>
          </a:stretch>
        </p:blipFill>
        <p:spPr>
          <a:xfrm>
            <a:off x="1373429" y="3147364"/>
            <a:ext cx="307238" cy="307238"/>
          </a:xfrm>
          <a:prstGeom prst="rect">
            <a:avLst/>
          </a:prstGeom>
        </p:spPr>
      </p:pic>
      <p:sp>
        <p:nvSpPr>
          <p:cNvPr id="12" name="TextBox 11"/>
          <p:cNvSpPr txBox="1"/>
          <p:nvPr/>
        </p:nvSpPr>
        <p:spPr>
          <a:xfrm>
            <a:off x="1984248" y="3008375"/>
            <a:ext cx="5394960" cy="603504"/>
          </a:xfrm>
          <a:prstGeom prst="rect">
            <a:avLst/>
          </a:prstGeom>
          <a:noFill/>
        </p:spPr>
        <p:txBody>
          <a:bodyPr wrap="square" lIns="0" tIns="0" rIns="0" bIns="0" anchor="ctr">
            <a:spAutoFit/>
          </a:bodyPr>
          <a:lstStyle/>
          <a:p>
            <a:pPr algn="l">
              <a:spcAft>
                <a:spcPts val="100"/>
              </a:spcAft>
            </a:pPr>
            <a:r>
              <a:rPr sz="1300" b="1" i="0">
                <a:solidFill>
                  <a:srgbClr val="FFAB40"/>
                </a:solidFill>
                <a:effectLst>
                  <a:glow rad="63500">
                    <a:srgbClr val="001633">
                      <a:alpha val="85000"/>
                    </a:srgbClr>
                  </a:glow>
                </a:effectLst>
                <a:latin typeface="Montserrat"/>
              </a:rPr>
              <a:t>2024 · </a:t>
            </a:r>
            <a:r>
              <a:rPr sz="1300" b="1" i="0">
                <a:solidFill>
                  <a:srgbClr val="FFFFFF"/>
                </a:solidFill>
                <a:effectLst>
                  <a:glow rad="63500">
                    <a:srgbClr val="001633">
                      <a:alpha val="85000"/>
                    </a:srgbClr>
                  </a:glow>
                </a:effectLst>
                <a:latin typeface="Montserrat"/>
              </a:rPr>
              <a:t>Minería Digital</a:t>
            </a:r>
          </a:p>
          <a:p>
            <a:pPr algn="l">
              <a:spcAft>
                <a:spcPts val="100"/>
              </a:spcAft>
            </a:pPr>
            <a:r>
              <a:rPr sz="1100" b="0" i="0">
                <a:solidFill>
                  <a:srgbClr val="A9B8C9"/>
                </a:solidFill>
                <a:effectLst>
                  <a:glow rad="63500">
                    <a:srgbClr val="001633">
                      <a:alpha val="85000"/>
                    </a:srgbClr>
                  </a:glow>
                </a:effectLst>
                <a:latin typeface="Montserrat"/>
              </a:rPr>
              <a:t>Gemelo digital y datos artificiales en chancado y correas</a:t>
            </a:r>
          </a:p>
        </p:txBody>
      </p:sp>
      <p:sp>
        <p:nvSpPr>
          <p:cNvPr id="13" name="Charla 4"/>
          <p:cNvSpPr/>
          <p:nvPr/>
        </p:nvSpPr>
        <p:spPr>
          <a:xfrm>
            <a:off x="1252728" y="3648455"/>
            <a:ext cx="548640" cy="548640"/>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Ícono cpu" descr="cpu-navy.png"/>
          <p:cNvPicPr>
            <a:picLocks noChangeAspect="1"/>
          </p:cNvPicPr>
          <p:nvPr/>
        </p:nvPicPr>
        <p:blipFill>
          <a:blip r:embed="rId4"/>
          <a:stretch>
            <a:fillRect/>
          </a:stretch>
        </p:blipFill>
        <p:spPr>
          <a:xfrm>
            <a:off x="1373429" y="3769156"/>
            <a:ext cx="307238" cy="307238"/>
          </a:xfrm>
          <a:prstGeom prst="rect">
            <a:avLst/>
          </a:prstGeom>
        </p:spPr>
      </p:pic>
      <p:sp>
        <p:nvSpPr>
          <p:cNvPr id="15" name="TextBox 14"/>
          <p:cNvSpPr txBox="1"/>
          <p:nvPr/>
        </p:nvSpPr>
        <p:spPr>
          <a:xfrm>
            <a:off x="1984248" y="3630167"/>
            <a:ext cx="5394960" cy="603504"/>
          </a:xfrm>
          <a:prstGeom prst="rect">
            <a:avLst/>
          </a:prstGeom>
          <a:noFill/>
        </p:spPr>
        <p:txBody>
          <a:bodyPr wrap="square" lIns="0" tIns="0" rIns="0" bIns="0" anchor="ctr">
            <a:spAutoFit/>
          </a:bodyPr>
          <a:lstStyle/>
          <a:p>
            <a:pPr algn="l">
              <a:spcAft>
                <a:spcPts val="100"/>
              </a:spcAft>
            </a:pPr>
            <a:r>
              <a:rPr sz="1300" b="1" i="0">
                <a:solidFill>
                  <a:srgbClr val="FFAB40"/>
                </a:solidFill>
                <a:effectLst>
                  <a:glow rad="63500">
                    <a:srgbClr val="001633">
                      <a:alpha val="85000"/>
                    </a:srgbClr>
                  </a:glow>
                </a:effectLst>
                <a:latin typeface="Montserrat"/>
              </a:rPr>
              <a:t>2025 · </a:t>
            </a:r>
            <a:r>
              <a:rPr sz="1300" b="1" i="0">
                <a:solidFill>
                  <a:srgbClr val="FFFFFF"/>
                </a:solidFill>
                <a:effectLst>
                  <a:glow rad="63500">
                    <a:srgbClr val="001633">
                      <a:alpha val="85000"/>
                    </a:srgbClr>
                  </a:glow>
                </a:effectLst>
                <a:latin typeface="Montserrat"/>
              </a:rPr>
              <a:t>Minería Digital</a:t>
            </a:r>
          </a:p>
          <a:p>
            <a:pPr algn="l">
              <a:spcAft>
                <a:spcPts val="100"/>
              </a:spcAft>
            </a:pPr>
            <a:r>
              <a:rPr sz="1100" b="0" i="0">
                <a:solidFill>
                  <a:srgbClr val="A9B8C9"/>
                </a:solidFill>
                <a:effectLst>
                  <a:glow rad="63500">
                    <a:srgbClr val="001633">
                      <a:alpha val="85000"/>
                    </a:srgbClr>
                  </a:glow>
                </a:effectLst>
                <a:latin typeface="Montserrat"/>
              </a:rPr>
              <a:t>Control de producción en minería subterránea con edge computing</a:t>
            </a:r>
          </a:p>
        </p:txBody>
      </p:sp>
      <p:sp>
        <p:nvSpPr>
          <p:cNvPr id="16" name="Charla 5"/>
          <p:cNvSpPr/>
          <p:nvPr/>
        </p:nvSpPr>
        <p:spPr>
          <a:xfrm>
            <a:off x="1252728" y="4270247"/>
            <a:ext cx="548640" cy="548640"/>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Ícono droplet" descr="droplet-navy.png"/>
          <p:cNvPicPr>
            <a:picLocks noChangeAspect="1"/>
          </p:cNvPicPr>
          <p:nvPr/>
        </p:nvPicPr>
        <p:blipFill>
          <a:blip r:embed="rId5"/>
          <a:stretch>
            <a:fillRect/>
          </a:stretch>
        </p:blipFill>
        <p:spPr>
          <a:xfrm>
            <a:off x="1373429" y="4390948"/>
            <a:ext cx="307238" cy="307238"/>
          </a:xfrm>
          <a:prstGeom prst="rect">
            <a:avLst/>
          </a:prstGeom>
        </p:spPr>
      </p:pic>
      <p:sp>
        <p:nvSpPr>
          <p:cNvPr id="18" name="TextBox 17"/>
          <p:cNvSpPr txBox="1"/>
          <p:nvPr/>
        </p:nvSpPr>
        <p:spPr>
          <a:xfrm>
            <a:off x="1984248" y="4251959"/>
            <a:ext cx="5394960" cy="603504"/>
          </a:xfrm>
          <a:prstGeom prst="rect">
            <a:avLst/>
          </a:prstGeom>
          <a:noFill/>
        </p:spPr>
        <p:txBody>
          <a:bodyPr wrap="square" lIns="0" tIns="0" rIns="0" bIns="0" anchor="ctr">
            <a:spAutoFit/>
          </a:bodyPr>
          <a:lstStyle/>
          <a:p>
            <a:pPr algn="l">
              <a:spcAft>
                <a:spcPts val="100"/>
              </a:spcAft>
            </a:pPr>
            <a:r>
              <a:rPr sz="1300" b="1" i="0">
                <a:solidFill>
                  <a:srgbClr val="FFAB40"/>
                </a:solidFill>
                <a:effectLst>
                  <a:glow rad="63500">
                    <a:srgbClr val="001633">
                      <a:alpha val="85000"/>
                    </a:srgbClr>
                  </a:glow>
                </a:effectLst>
                <a:latin typeface="Montserrat"/>
              </a:rPr>
              <a:t>2025 · </a:t>
            </a:r>
            <a:r>
              <a:rPr sz="1300" b="1" i="0">
                <a:solidFill>
                  <a:srgbClr val="FFFFFF"/>
                </a:solidFill>
                <a:effectLst>
                  <a:glow rad="63500">
                    <a:srgbClr val="001633">
                      <a:alpha val="85000"/>
                    </a:srgbClr>
                  </a:glow>
                </a:effectLst>
                <a:latin typeface="Montserrat"/>
              </a:rPr>
              <a:t>Procemin‑Geomet · Gecamin</a:t>
            </a:r>
          </a:p>
          <a:p>
            <a:pPr algn="l">
              <a:spcAft>
                <a:spcPts val="100"/>
              </a:spcAft>
            </a:pPr>
            <a:r>
              <a:rPr sz="1100" b="0" i="0">
                <a:solidFill>
                  <a:srgbClr val="A9B8C9"/>
                </a:solidFill>
                <a:effectLst>
                  <a:glow rad="63500">
                    <a:srgbClr val="001633">
                      <a:alpha val="85000"/>
                    </a:srgbClr>
                  </a:glow>
                </a:effectLst>
                <a:latin typeface="Montserrat"/>
              </a:rPr>
              <a:t>Intelligent Filtering: Digital Twins as a Tool for Future Mining</a:t>
            </a:r>
          </a:p>
        </p:txBody>
      </p:sp>
      <p:pic>
        <p:nvPicPr>
          <p:cNvPr id="19" name="Ícono tv" descr="tv-muted.png"/>
          <p:cNvPicPr>
            <a:picLocks noChangeAspect="1"/>
          </p:cNvPicPr>
          <p:nvPr/>
        </p:nvPicPr>
        <p:blipFill>
          <a:blip r:embed="rId6"/>
          <a:stretch>
            <a:fillRect/>
          </a:stretch>
        </p:blipFill>
        <p:spPr>
          <a:xfrm>
            <a:off x="7699248" y="1892807"/>
            <a:ext cx="256032" cy="256032"/>
          </a:xfrm>
          <a:prstGeom prst="rect">
            <a:avLst/>
          </a:prstGeom>
        </p:spPr>
      </p:pic>
      <p:sp>
        <p:nvSpPr>
          <p:cNvPr id="20" name="TextBox 19"/>
          <p:cNvSpPr txBox="1"/>
          <p:nvPr/>
        </p:nvSpPr>
        <p:spPr>
          <a:xfrm>
            <a:off x="8046720" y="1874519"/>
            <a:ext cx="3657600" cy="320040"/>
          </a:xfrm>
          <a:prstGeom prst="rect">
            <a:avLst/>
          </a:prstGeom>
          <a:noFill/>
        </p:spPr>
        <p:txBody>
          <a:bodyPr wrap="square" lIns="0" tIns="0" rIns="0" bIns="0" anchor="t">
            <a:spAutoFit/>
          </a:bodyPr>
          <a:lstStyle/>
          <a:p>
            <a:pPr algn="l">
              <a:spcAft>
                <a:spcPts val="600"/>
              </a:spcAft>
            </a:pPr>
            <a:r>
              <a:rPr sz="1300" b="1" i="0">
                <a:solidFill>
                  <a:srgbClr val="A9B8C9"/>
                </a:solidFill>
                <a:effectLst>
                  <a:glow rad="63500">
                    <a:srgbClr val="001633">
                      <a:alpha val="85000"/>
                    </a:srgbClr>
                  </a:glow>
                </a:effectLst>
                <a:latin typeface="Montserrat"/>
              </a:rPr>
              <a:t>En escenarios y medios</a:t>
            </a:r>
          </a:p>
        </p:txBody>
      </p:sp>
      <p:pic>
        <p:nvPicPr>
          <p:cNvPr id="21" name="Minería Digital 2024" descr="medio-mineria-digital-2024.png"/>
          <p:cNvPicPr>
            <a:picLocks noChangeAspect="1"/>
          </p:cNvPicPr>
          <p:nvPr/>
        </p:nvPicPr>
        <p:blipFill>
          <a:blip r:embed="rId7"/>
          <a:srcRect t="4915" b="4915"/>
          <a:stretch>
            <a:fillRect/>
          </a:stretch>
        </p:blipFill>
        <p:spPr>
          <a:xfrm>
            <a:off x="7699248" y="2285999"/>
            <a:ext cx="1691640" cy="1024128"/>
          </a:xfrm>
          <a:prstGeom prst="rect">
            <a:avLst/>
          </a:prstGeom>
          <a:ln>
            <a:solidFill>
              <a:srgbClr val="2A456B"/>
            </a:solidFill>
          </a:ln>
        </p:spPr>
      </p:pic>
      <p:sp>
        <p:nvSpPr>
          <p:cNvPr id="22" name="TextBox 21"/>
          <p:cNvSpPr txBox="1"/>
          <p:nvPr/>
        </p:nvSpPr>
        <p:spPr>
          <a:xfrm>
            <a:off x="7699248" y="3355847"/>
            <a:ext cx="1691640" cy="320040"/>
          </a:xfrm>
          <a:prstGeom prst="rect">
            <a:avLst/>
          </a:prstGeom>
          <a:noFill/>
        </p:spPr>
        <p:txBody>
          <a:bodyPr wrap="square" lIns="0" tIns="0" rIns="0" bIns="0" anchor="t">
            <a:spAutoFit/>
          </a:bodyPr>
          <a:lstStyle/>
          <a:p>
            <a:pPr algn="l">
              <a:spcAft>
                <a:spcPts val="600"/>
              </a:spcAft>
            </a:pPr>
            <a:r>
              <a:rPr sz="1100" b="0" i="0">
                <a:solidFill>
                  <a:srgbClr val="A9B8C9"/>
                </a:solidFill>
                <a:effectLst>
                  <a:glow rad="63500">
                    <a:srgbClr val="001633">
                      <a:alpha val="85000"/>
                    </a:srgbClr>
                  </a:glow>
                </a:effectLst>
                <a:latin typeface="Montserrat"/>
              </a:rPr>
              <a:t>Minería Digital 2024</a:t>
            </a:r>
          </a:p>
        </p:txBody>
      </p:sp>
      <p:pic>
        <p:nvPicPr>
          <p:cNvPr id="23" name="Siemens Minerals Week" descr="medio-siemens-minerals-week.png"/>
          <p:cNvPicPr>
            <a:picLocks noChangeAspect="1"/>
          </p:cNvPicPr>
          <p:nvPr/>
        </p:nvPicPr>
        <p:blipFill>
          <a:blip r:embed="rId8"/>
          <a:srcRect l="8202" r="8202"/>
          <a:stretch>
            <a:fillRect/>
          </a:stretch>
        </p:blipFill>
        <p:spPr>
          <a:xfrm>
            <a:off x="9509760" y="2285999"/>
            <a:ext cx="1691640" cy="1024128"/>
          </a:xfrm>
          <a:prstGeom prst="rect">
            <a:avLst/>
          </a:prstGeom>
          <a:ln>
            <a:solidFill>
              <a:srgbClr val="2A456B"/>
            </a:solidFill>
          </a:ln>
        </p:spPr>
      </p:pic>
      <p:sp>
        <p:nvSpPr>
          <p:cNvPr id="24" name="TextBox 23"/>
          <p:cNvSpPr txBox="1"/>
          <p:nvPr/>
        </p:nvSpPr>
        <p:spPr>
          <a:xfrm>
            <a:off x="9509760" y="3355847"/>
            <a:ext cx="1691640" cy="320040"/>
          </a:xfrm>
          <a:prstGeom prst="rect">
            <a:avLst/>
          </a:prstGeom>
          <a:noFill/>
        </p:spPr>
        <p:txBody>
          <a:bodyPr wrap="square" lIns="0" tIns="0" rIns="0" bIns="0" anchor="t">
            <a:spAutoFit/>
          </a:bodyPr>
          <a:lstStyle/>
          <a:p>
            <a:pPr algn="l">
              <a:spcAft>
                <a:spcPts val="600"/>
              </a:spcAft>
            </a:pPr>
            <a:r>
              <a:rPr sz="1100" b="0" i="0">
                <a:solidFill>
                  <a:srgbClr val="A9B8C9"/>
                </a:solidFill>
                <a:effectLst>
                  <a:glow rad="63500">
                    <a:srgbClr val="001633">
                      <a:alpha val="85000"/>
                    </a:srgbClr>
                  </a:glow>
                </a:effectLst>
                <a:latin typeface="Montserrat"/>
              </a:rPr>
              <a:t>Siemens Minerals Week</a:t>
            </a:r>
          </a:p>
        </p:txBody>
      </p:sp>
      <p:pic>
        <p:nvPicPr>
          <p:cNvPr id="25" name="Podcast América Minera" descr="medio-america-minera.png"/>
          <p:cNvPicPr>
            <a:picLocks noChangeAspect="1"/>
          </p:cNvPicPr>
          <p:nvPr/>
        </p:nvPicPr>
        <p:blipFill>
          <a:blip r:embed="rId9"/>
          <a:srcRect l="27635" r="27635"/>
          <a:stretch>
            <a:fillRect/>
          </a:stretch>
        </p:blipFill>
        <p:spPr>
          <a:xfrm>
            <a:off x="7699248" y="3858767"/>
            <a:ext cx="1691640" cy="1024128"/>
          </a:xfrm>
          <a:prstGeom prst="rect">
            <a:avLst/>
          </a:prstGeom>
          <a:ln>
            <a:solidFill>
              <a:srgbClr val="2A456B"/>
            </a:solidFill>
          </a:ln>
        </p:spPr>
      </p:pic>
      <p:sp>
        <p:nvSpPr>
          <p:cNvPr id="26" name="TextBox 25"/>
          <p:cNvSpPr txBox="1"/>
          <p:nvPr/>
        </p:nvSpPr>
        <p:spPr>
          <a:xfrm>
            <a:off x="7699248" y="4928615"/>
            <a:ext cx="1691640" cy="320040"/>
          </a:xfrm>
          <a:prstGeom prst="rect">
            <a:avLst/>
          </a:prstGeom>
          <a:noFill/>
        </p:spPr>
        <p:txBody>
          <a:bodyPr wrap="square" lIns="0" tIns="0" rIns="0" bIns="0" anchor="t">
            <a:spAutoFit/>
          </a:bodyPr>
          <a:lstStyle/>
          <a:p>
            <a:pPr algn="l">
              <a:spcAft>
                <a:spcPts val="600"/>
              </a:spcAft>
            </a:pPr>
            <a:r>
              <a:rPr sz="1100" b="0" i="0">
                <a:solidFill>
                  <a:srgbClr val="A9B8C9"/>
                </a:solidFill>
                <a:effectLst>
                  <a:glow rad="63500">
                    <a:srgbClr val="001633">
                      <a:alpha val="85000"/>
                    </a:srgbClr>
                  </a:glow>
                </a:effectLst>
                <a:latin typeface="Montserrat"/>
              </a:rPr>
              <a:t>Podcast América Minera</a:t>
            </a:r>
          </a:p>
        </p:txBody>
      </p:sp>
      <p:pic>
        <p:nvPicPr>
          <p:cNvPr id="27" name="Circle Digital · Siemens" descr="medio-circle-digital.png"/>
          <p:cNvPicPr>
            <a:picLocks noChangeAspect="1"/>
          </p:cNvPicPr>
          <p:nvPr/>
        </p:nvPicPr>
        <p:blipFill>
          <a:blip r:embed="rId10"/>
          <a:srcRect t="19136" b="19136"/>
          <a:stretch>
            <a:fillRect/>
          </a:stretch>
        </p:blipFill>
        <p:spPr>
          <a:xfrm>
            <a:off x="9509760" y="3858767"/>
            <a:ext cx="1691640" cy="1024128"/>
          </a:xfrm>
          <a:prstGeom prst="rect">
            <a:avLst/>
          </a:prstGeom>
          <a:ln>
            <a:solidFill>
              <a:srgbClr val="2A456B"/>
            </a:solidFill>
          </a:ln>
        </p:spPr>
      </p:pic>
      <p:sp>
        <p:nvSpPr>
          <p:cNvPr id="28" name="TextBox 27"/>
          <p:cNvSpPr txBox="1"/>
          <p:nvPr/>
        </p:nvSpPr>
        <p:spPr>
          <a:xfrm>
            <a:off x="9509760" y="4928615"/>
            <a:ext cx="1691640" cy="320040"/>
          </a:xfrm>
          <a:prstGeom prst="rect">
            <a:avLst/>
          </a:prstGeom>
          <a:noFill/>
        </p:spPr>
        <p:txBody>
          <a:bodyPr wrap="square" lIns="0" tIns="0" rIns="0" bIns="0" anchor="t">
            <a:spAutoFit/>
          </a:bodyPr>
          <a:lstStyle/>
          <a:p>
            <a:pPr algn="l">
              <a:spcAft>
                <a:spcPts val="600"/>
              </a:spcAft>
            </a:pPr>
            <a:r>
              <a:rPr sz="1100" b="0" i="0">
                <a:solidFill>
                  <a:srgbClr val="A9B8C9"/>
                </a:solidFill>
                <a:effectLst>
                  <a:glow rad="63500">
                    <a:srgbClr val="001633">
                      <a:alpha val="85000"/>
                    </a:srgbClr>
                  </a:glow>
                </a:effectLst>
                <a:latin typeface="Montserrat"/>
              </a:rPr>
              <a:t>Circle Digital · Siemens</a:t>
            </a:r>
          </a:p>
        </p:txBody>
      </p:sp>
      <p:sp>
        <p:nvSpPr>
          <p:cNvPr id="29" name="Mensaje trayectoria"/>
          <p:cNvSpPr/>
          <p:nvPr/>
        </p:nvSpPr>
        <p:spPr>
          <a:xfrm>
            <a:off x="1252728" y="5029199"/>
            <a:ext cx="6126480" cy="68580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0" name="Ícono layers" descr="layers-orange.png"/>
          <p:cNvPicPr>
            <a:picLocks noChangeAspect="1"/>
          </p:cNvPicPr>
          <p:nvPr/>
        </p:nvPicPr>
        <p:blipFill>
          <a:blip r:embed="rId11"/>
          <a:stretch>
            <a:fillRect/>
          </a:stretch>
        </p:blipFill>
        <p:spPr>
          <a:xfrm>
            <a:off x="1481328" y="5212079"/>
            <a:ext cx="329184" cy="329184"/>
          </a:xfrm>
          <a:prstGeom prst="rect">
            <a:avLst/>
          </a:prstGeom>
        </p:spPr>
      </p:pic>
      <p:sp>
        <p:nvSpPr>
          <p:cNvPr id="31" name="TextBox 30"/>
          <p:cNvSpPr txBox="1"/>
          <p:nvPr/>
        </p:nvSpPr>
        <p:spPr>
          <a:xfrm>
            <a:off x="1984248" y="5029199"/>
            <a:ext cx="5212080" cy="685800"/>
          </a:xfrm>
          <a:prstGeom prst="rect">
            <a:avLst/>
          </a:prstGeom>
          <a:noFill/>
        </p:spPr>
        <p:txBody>
          <a:bodyPr wrap="square" lIns="0" tIns="0" rIns="0" bIns="0" anchor="ctr">
            <a:spAutoFit/>
          </a:bodyPr>
          <a:lstStyle/>
          <a:p>
            <a:pPr algn="l">
              <a:spcAft>
                <a:spcPts val="600"/>
              </a:spcAft>
            </a:pPr>
            <a:r>
              <a:rPr sz="1600" b="0" i="0">
                <a:solidFill>
                  <a:srgbClr val="FFFFFF"/>
                </a:solidFill>
                <a:effectLst>
                  <a:glow rad="63500">
                    <a:srgbClr val="001633">
                      <a:alpha val="85000"/>
                    </a:srgbClr>
                  </a:glow>
                </a:effectLst>
                <a:latin typeface="Montserrat"/>
              </a:rPr>
              <a:t>Este curso reúne lo que hemos construido y presentado en la industria.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2728" y="502920"/>
            <a:ext cx="9692640" cy="1188720"/>
          </a:xfrm>
        </p:spPr>
        <p:txBody>
          <a:bodyPr wrap="square"/>
          <a:lstStyle/>
          <a:p>
            <a:r>
              <a:rPr sz="2600" b="1" i="0">
                <a:solidFill>
                  <a:srgbClr val="FFAB40"/>
                </a:solidFill>
                <a:effectLst>
                  <a:glow rad="63500">
                    <a:srgbClr val="001633">
                      <a:alpha val="85000"/>
                    </a:srgbClr>
                  </a:glow>
                </a:effectLst>
                <a:latin typeface="Montserrat"/>
              </a:rPr>
              <a:t>Mapa del curso</a:t>
            </a:r>
          </a:p>
          <a:p>
            <a:r>
              <a:rPr sz="2200" b="0" i="0">
                <a:solidFill>
                  <a:srgbClr val="FFFFFF"/>
                </a:solidFill>
                <a:effectLst>
                  <a:glow rad="63500">
                    <a:srgbClr val="001633">
                      <a:alpha val="85000"/>
                    </a:srgbClr>
                  </a:glow>
                </a:effectLst>
                <a:latin typeface="Montserrat"/>
              </a:rPr>
              <a:t>Cuatro capítulos, de lo general a lo particular</a:t>
            </a:r>
          </a:p>
        </p:txBody>
      </p:sp>
      <p:cxnSp>
        <p:nvCxnSpPr>
          <p:cNvPr id="3" name="General a particular"/>
          <p:cNvCxnSpPr/>
          <p:nvPr/>
        </p:nvCxnSpPr>
        <p:spPr>
          <a:xfrm>
            <a:off x="1252728" y="4050791"/>
            <a:ext cx="10012680" cy="0"/>
          </a:xfrm>
          <a:prstGeom prst="line">
            <a:avLst/>
          </a:prstGeom>
          <a:ln w="22225">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522208" y="4123943"/>
            <a:ext cx="2743200" cy="201168"/>
          </a:xfrm>
          <a:prstGeom prst="rect">
            <a:avLst/>
          </a:prstGeom>
          <a:noFill/>
        </p:spPr>
        <p:txBody>
          <a:bodyPr wrap="square" lIns="0" tIns="0" rIns="0" bIns="0" anchor="t">
            <a:spAutoFit/>
          </a:bodyPr>
          <a:lstStyle/>
          <a:p>
            <a:pPr algn="r">
              <a:spcAft>
                <a:spcPts val="600"/>
              </a:spcAft>
            </a:pPr>
            <a:r>
              <a:rPr sz="900" b="1" i="0">
                <a:solidFill>
                  <a:srgbClr val="A9B8C9"/>
                </a:solidFill>
                <a:effectLst>
                  <a:glow rad="63500">
                    <a:srgbClr val="001633">
                      <a:alpha val="85000"/>
                    </a:srgbClr>
                  </a:glow>
                </a:effectLst>
                <a:latin typeface="Montserrat"/>
              </a:rPr>
              <a:t>de lo general a lo particular</a:t>
            </a:r>
          </a:p>
        </p:txBody>
      </p:sp>
      <p:pic>
        <p:nvPicPr>
          <p:cNvPr id="5" name="Capítulo I imagen" descr="virtual-rajo-chuquicamata.png"/>
          <p:cNvPicPr>
            <a:picLocks noChangeAspect="1"/>
          </p:cNvPicPr>
          <p:nvPr/>
        </p:nvPicPr>
        <p:blipFill>
          <a:blip r:embed="rId3"/>
          <a:srcRect l="9356" r="9356"/>
          <a:stretch>
            <a:fillRect/>
          </a:stretch>
        </p:blipFill>
        <p:spPr>
          <a:xfrm>
            <a:off x="1252728" y="1783079"/>
            <a:ext cx="2274570" cy="1920240"/>
          </a:xfrm>
          <a:prstGeom prst="rect">
            <a:avLst/>
          </a:prstGeom>
        </p:spPr>
      </p:pic>
      <p:cxnSp>
        <p:nvCxnSpPr>
          <p:cNvPr id="6" name="Guía capítulo"/>
          <p:cNvCxnSpPr/>
          <p:nvPr/>
        </p:nvCxnSpPr>
        <p:spPr>
          <a:xfrm>
            <a:off x="2390013" y="3703319"/>
            <a:ext cx="0" cy="347472"/>
          </a:xfrm>
          <a:prstGeom prst="line">
            <a:avLst/>
          </a:prstGeom>
          <a:ln w="12700">
            <a:solidFill>
              <a:srgbClr val="2A456B"/>
            </a:solidFill>
          </a:ln>
        </p:spPr>
        <p:style>
          <a:lnRef idx="2">
            <a:schemeClr val="accent1"/>
          </a:lnRef>
          <a:fillRef idx="0">
            <a:schemeClr val="accent1"/>
          </a:fillRef>
          <a:effectRef idx="1">
            <a:schemeClr val="accent1"/>
          </a:effectRef>
          <a:fontRef idx="minor">
            <a:schemeClr val="tx1"/>
          </a:fontRef>
        </p:style>
      </p:cxnSp>
      <p:sp>
        <p:nvSpPr>
          <p:cNvPr id="7" name="Hito I"/>
          <p:cNvSpPr/>
          <p:nvPr/>
        </p:nvSpPr>
        <p:spPr>
          <a:xfrm>
            <a:off x="2307717" y="3968495"/>
            <a:ext cx="164592" cy="16459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252728" y="4416551"/>
            <a:ext cx="2274570" cy="365760"/>
          </a:xfrm>
          <a:prstGeom prst="rect">
            <a:avLst/>
          </a:prstGeom>
          <a:noFill/>
        </p:spPr>
        <p:txBody>
          <a:bodyPr wrap="square" lIns="0" tIns="0" rIns="0" bIns="0" anchor="t">
            <a:spAutoFit/>
          </a:bodyPr>
          <a:lstStyle/>
          <a:p>
            <a:pPr algn="l">
              <a:spcAft>
                <a:spcPts val="600"/>
              </a:spcAft>
            </a:pPr>
            <a:r>
              <a:rPr sz="1800" b="1" i="0">
                <a:solidFill>
                  <a:srgbClr val="FFAB40"/>
                </a:solidFill>
                <a:effectLst>
                  <a:glow rad="63500">
                    <a:srgbClr val="001633">
                      <a:alpha val="85000"/>
                    </a:srgbClr>
                  </a:glow>
                </a:effectLst>
                <a:latin typeface="Montserrat"/>
              </a:rPr>
              <a:t>I </a:t>
            </a:r>
            <a:r>
              <a:rPr sz="1800" b="1" i="0">
                <a:solidFill>
                  <a:srgbClr val="FFFFFF"/>
                </a:solidFill>
                <a:effectLst>
                  <a:glow rad="63500">
                    <a:srgbClr val="001633">
                      <a:alpha val="85000"/>
                    </a:srgbClr>
                  </a:glow>
                </a:effectLst>
                <a:latin typeface="Montserrat"/>
              </a:rPr>
              <a:t>Fundamentos</a:t>
            </a:r>
          </a:p>
        </p:txBody>
      </p:sp>
      <p:sp>
        <p:nvSpPr>
          <p:cNvPr id="9" name="TextBox 8"/>
          <p:cNvSpPr txBox="1"/>
          <p:nvPr/>
        </p:nvSpPr>
        <p:spPr>
          <a:xfrm>
            <a:off x="1252728" y="4828031"/>
            <a:ext cx="2274570" cy="548640"/>
          </a:xfrm>
          <a:prstGeom prst="rect">
            <a:avLst/>
          </a:prstGeom>
          <a:noFill/>
        </p:spPr>
        <p:txBody>
          <a:bodyPr wrap="square" lIns="0" tIns="0" rIns="0" bIns="0" anchor="t">
            <a:spAutoFit/>
          </a:bodyPr>
          <a:lstStyle/>
          <a:p>
            <a:pPr algn="l">
              <a:spcAft>
                <a:spcPts val="600"/>
              </a:spcAft>
            </a:pPr>
            <a:r>
              <a:rPr sz="1200" b="0" i="0">
                <a:solidFill>
                  <a:srgbClr val="A9B8C9"/>
                </a:solidFill>
                <a:effectLst>
                  <a:glow rad="63500">
                    <a:srgbClr val="001633">
                      <a:alpha val="85000"/>
                    </a:srgbClr>
                  </a:glow>
                </a:effectLst>
                <a:latin typeface="Montserrat"/>
              </a:rPr>
              <a:t>¿Qué es un gemelo digital y cómo se clasifica?</a:t>
            </a:r>
          </a:p>
        </p:txBody>
      </p:sp>
      <p:cxnSp>
        <p:nvCxnSpPr>
          <p:cNvPr id="10" name="Raya capítulo"/>
          <p:cNvCxnSpPr/>
          <p:nvPr/>
        </p:nvCxnSpPr>
        <p:spPr>
          <a:xfrm>
            <a:off x="1252728" y="5468111"/>
            <a:ext cx="36576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252728" y="5559551"/>
            <a:ext cx="227457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Definición, el cubo de IoT Analytics: niveles, fases y usos</a:t>
            </a:r>
          </a:p>
        </p:txBody>
      </p:sp>
      <p:pic>
        <p:nvPicPr>
          <p:cNvPr id="12" name="Capítulo II imagen" descr="sala-control-fundicion-mufulira.jpg"/>
          <p:cNvPicPr>
            <a:picLocks noChangeAspect="1"/>
          </p:cNvPicPr>
          <p:nvPr/>
        </p:nvPicPr>
        <p:blipFill>
          <a:blip r:embed="rId4">
            <a:duotone>
              <a:srgbClr val="001633"/>
              <a:srgbClr val="A9B8C9"/>
            </a:duotone>
          </a:blip>
          <a:srcRect l="10670" r="10670"/>
          <a:stretch>
            <a:fillRect/>
          </a:stretch>
        </p:blipFill>
        <p:spPr>
          <a:xfrm>
            <a:off x="3755898" y="1783079"/>
            <a:ext cx="2274570" cy="1920240"/>
          </a:xfrm>
          <a:prstGeom prst="rect">
            <a:avLst/>
          </a:prstGeom>
        </p:spPr>
      </p:pic>
      <p:cxnSp>
        <p:nvCxnSpPr>
          <p:cNvPr id="13" name="Guía capítulo"/>
          <p:cNvCxnSpPr/>
          <p:nvPr/>
        </p:nvCxnSpPr>
        <p:spPr>
          <a:xfrm>
            <a:off x="4893183" y="3703319"/>
            <a:ext cx="0" cy="347472"/>
          </a:xfrm>
          <a:prstGeom prst="line">
            <a:avLst/>
          </a:prstGeom>
          <a:ln w="12700">
            <a:solidFill>
              <a:srgbClr val="2A456B"/>
            </a:solidFill>
          </a:ln>
        </p:spPr>
        <p:style>
          <a:lnRef idx="2">
            <a:schemeClr val="accent1"/>
          </a:lnRef>
          <a:fillRef idx="0">
            <a:schemeClr val="accent1"/>
          </a:fillRef>
          <a:effectRef idx="1">
            <a:schemeClr val="accent1"/>
          </a:effectRef>
          <a:fontRef idx="minor">
            <a:schemeClr val="tx1"/>
          </a:fontRef>
        </p:style>
      </p:cxnSp>
      <p:sp>
        <p:nvSpPr>
          <p:cNvPr id="14" name="Hito II"/>
          <p:cNvSpPr/>
          <p:nvPr/>
        </p:nvSpPr>
        <p:spPr>
          <a:xfrm>
            <a:off x="4810887" y="3968495"/>
            <a:ext cx="164592" cy="16459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3755898" y="4416551"/>
            <a:ext cx="2274570" cy="365760"/>
          </a:xfrm>
          <a:prstGeom prst="rect">
            <a:avLst/>
          </a:prstGeom>
          <a:noFill/>
        </p:spPr>
        <p:txBody>
          <a:bodyPr wrap="square" lIns="0" tIns="0" rIns="0" bIns="0" anchor="t">
            <a:spAutoFit/>
          </a:bodyPr>
          <a:lstStyle/>
          <a:p>
            <a:pPr algn="l">
              <a:spcAft>
                <a:spcPts val="600"/>
              </a:spcAft>
            </a:pPr>
            <a:r>
              <a:rPr sz="1800" b="1" i="0">
                <a:solidFill>
                  <a:srgbClr val="FFAB40"/>
                </a:solidFill>
                <a:effectLst>
                  <a:glow rad="63500">
                    <a:srgbClr val="001633">
                      <a:alpha val="85000"/>
                    </a:srgbClr>
                  </a:glow>
                </a:effectLst>
                <a:latin typeface="Montserrat"/>
              </a:rPr>
              <a:t>II </a:t>
            </a:r>
            <a:r>
              <a:rPr sz="1800" b="1" i="0">
                <a:solidFill>
                  <a:srgbClr val="FFFFFF"/>
                </a:solidFill>
                <a:effectLst>
                  <a:glow rad="63500">
                    <a:srgbClr val="001633">
                      <a:alpha val="85000"/>
                    </a:srgbClr>
                  </a:glow>
                </a:effectLst>
                <a:latin typeface="Montserrat"/>
              </a:rPr>
              <a:t>Industria</a:t>
            </a:r>
          </a:p>
        </p:txBody>
      </p:sp>
      <p:sp>
        <p:nvSpPr>
          <p:cNvPr id="16" name="TextBox 15"/>
          <p:cNvSpPr txBox="1"/>
          <p:nvPr/>
        </p:nvSpPr>
        <p:spPr>
          <a:xfrm>
            <a:off x="3755898" y="4828031"/>
            <a:ext cx="2274570" cy="548640"/>
          </a:xfrm>
          <a:prstGeom prst="rect">
            <a:avLst/>
          </a:prstGeom>
          <a:noFill/>
        </p:spPr>
        <p:txBody>
          <a:bodyPr wrap="square" lIns="0" tIns="0" rIns="0" bIns="0" anchor="t">
            <a:spAutoFit/>
          </a:bodyPr>
          <a:lstStyle/>
          <a:p>
            <a:pPr algn="l">
              <a:spcAft>
                <a:spcPts val="600"/>
              </a:spcAft>
            </a:pPr>
            <a:r>
              <a:rPr sz="1200" b="0" i="0">
                <a:solidFill>
                  <a:srgbClr val="A9B8C9"/>
                </a:solidFill>
                <a:effectLst>
                  <a:glow rad="63500">
                    <a:srgbClr val="001633">
                      <a:alpha val="85000"/>
                    </a:srgbClr>
                  </a:glow>
                </a:effectLst>
                <a:latin typeface="Montserrat"/>
              </a:rPr>
              <a:t>¿Qué soluciones existen hoy en minería?</a:t>
            </a:r>
          </a:p>
        </p:txBody>
      </p:sp>
      <p:cxnSp>
        <p:nvCxnSpPr>
          <p:cNvPr id="17" name="Raya capítulo"/>
          <p:cNvCxnSpPr/>
          <p:nvPr/>
        </p:nvCxnSpPr>
        <p:spPr>
          <a:xfrm>
            <a:off x="3755898" y="5468111"/>
            <a:ext cx="36576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755898" y="5559551"/>
            <a:ext cx="227457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La cadena minera, seis procesos y el software del mercado</a:t>
            </a:r>
          </a:p>
        </p:txBody>
      </p:sp>
      <p:pic>
        <p:nvPicPr>
          <p:cNvPr id="19" name="Capítulo III imagen" descr="nivel1-plano-bomba.png"/>
          <p:cNvPicPr>
            <a:picLocks noChangeAspect="1"/>
          </p:cNvPicPr>
          <p:nvPr/>
        </p:nvPicPr>
        <p:blipFill>
          <a:blip r:embed="rId5"/>
          <a:srcRect l="11750" r="11750"/>
          <a:stretch>
            <a:fillRect/>
          </a:stretch>
        </p:blipFill>
        <p:spPr>
          <a:xfrm>
            <a:off x="6259068" y="1783079"/>
            <a:ext cx="2274570" cy="1920240"/>
          </a:xfrm>
          <a:prstGeom prst="rect">
            <a:avLst/>
          </a:prstGeom>
        </p:spPr>
      </p:pic>
      <p:cxnSp>
        <p:nvCxnSpPr>
          <p:cNvPr id="20" name="Guía capítulo"/>
          <p:cNvCxnSpPr/>
          <p:nvPr/>
        </p:nvCxnSpPr>
        <p:spPr>
          <a:xfrm>
            <a:off x="7396353" y="3703319"/>
            <a:ext cx="0" cy="347472"/>
          </a:xfrm>
          <a:prstGeom prst="line">
            <a:avLst/>
          </a:prstGeom>
          <a:ln w="12700">
            <a:solidFill>
              <a:srgbClr val="2A456B"/>
            </a:solidFill>
          </a:ln>
        </p:spPr>
        <p:style>
          <a:lnRef idx="2">
            <a:schemeClr val="accent1"/>
          </a:lnRef>
          <a:fillRef idx="0">
            <a:schemeClr val="accent1"/>
          </a:fillRef>
          <a:effectRef idx="1">
            <a:schemeClr val="accent1"/>
          </a:effectRef>
          <a:fontRef idx="minor">
            <a:schemeClr val="tx1"/>
          </a:fontRef>
        </p:style>
      </p:cxnSp>
      <p:sp>
        <p:nvSpPr>
          <p:cNvPr id="21" name="Hito III"/>
          <p:cNvSpPr/>
          <p:nvPr/>
        </p:nvSpPr>
        <p:spPr>
          <a:xfrm>
            <a:off x="7314057" y="3968495"/>
            <a:ext cx="164592" cy="16459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259068" y="4416551"/>
            <a:ext cx="2274570" cy="365760"/>
          </a:xfrm>
          <a:prstGeom prst="rect">
            <a:avLst/>
          </a:prstGeom>
          <a:noFill/>
        </p:spPr>
        <p:txBody>
          <a:bodyPr wrap="square" lIns="0" tIns="0" rIns="0" bIns="0" anchor="t">
            <a:spAutoFit/>
          </a:bodyPr>
          <a:lstStyle/>
          <a:p>
            <a:pPr algn="l">
              <a:spcAft>
                <a:spcPts val="600"/>
              </a:spcAft>
            </a:pPr>
            <a:r>
              <a:rPr sz="1800" b="1" i="0">
                <a:solidFill>
                  <a:srgbClr val="FFAB40"/>
                </a:solidFill>
                <a:effectLst>
                  <a:glow rad="63500">
                    <a:srgbClr val="001633">
                      <a:alpha val="85000"/>
                    </a:srgbClr>
                  </a:glow>
                </a:effectLst>
                <a:latin typeface="Montserrat"/>
              </a:rPr>
              <a:t>III </a:t>
            </a:r>
            <a:r>
              <a:rPr sz="1800" b="1" i="0">
                <a:solidFill>
                  <a:srgbClr val="FFFFFF"/>
                </a:solidFill>
                <a:effectLst>
                  <a:glow rad="63500">
                    <a:srgbClr val="001633">
                      <a:alpha val="85000"/>
                    </a:srgbClr>
                  </a:glow>
                </a:effectLst>
                <a:latin typeface="Montserrat"/>
              </a:rPr>
              <a:t>Construcción</a:t>
            </a:r>
          </a:p>
        </p:txBody>
      </p:sp>
      <p:sp>
        <p:nvSpPr>
          <p:cNvPr id="23" name="TextBox 22"/>
          <p:cNvSpPr txBox="1"/>
          <p:nvPr/>
        </p:nvSpPr>
        <p:spPr>
          <a:xfrm>
            <a:off x="6259068" y="4828031"/>
            <a:ext cx="2274570" cy="548640"/>
          </a:xfrm>
          <a:prstGeom prst="rect">
            <a:avLst/>
          </a:prstGeom>
          <a:noFill/>
        </p:spPr>
        <p:txBody>
          <a:bodyPr wrap="square" lIns="0" tIns="0" rIns="0" bIns="0" anchor="t">
            <a:spAutoFit/>
          </a:bodyPr>
          <a:lstStyle/>
          <a:p>
            <a:pPr algn="l">
              <a:spcAft>
                <a:spcPts val="600"/>
              </a:spcAft>
            </a:pPr>
            <a:r>
              <a:rPr sz="1200" b="0" i="0">
                <a:solidFill>
                  <a:srgbClr val="A9B8C9"/>
                </a:solidFill>
                <a:effectLst>
                  <a:glow rad="63500">
                    <a:srgbClr val="001633">
                      <a:alpha val="85000"/>
                    </a:srgbClr>
                  </a:glow>
                </a:effectLst>
                <a:latin typeface="Montserrat"/>
              </a:rPr>
              <a:t>¿Cómo se construye un gemelo y qué hay detrás del software?</a:t>
            </a:r>
          </a:p>
        </p:txBody>
      </p:sp>
      <p:cxnSp>
        <p:nvCxnSpPr>
          <p:cNvPr id="24" name="Raya capítulo"/>
          <p:cNvCxnSpPr/>
          <p:nvPr/>
        </p:nvCxnSpPr>
        <p:spPr>
          <a:xfrm>
            <a:off x="6259068" y="5468111"/>
            <a:ext cx="36576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259068" y="5559551"/>
            <a:ext cx="227457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Modelamiento, integración multiproveedor, ejecución en edge y nube</a:t>
            </a:r>
          </a:p>
        </p:txBody>
      </p:sp>
      <p:pic>
        <p:nvPicPr>
          <p:cNvPr id="26" name="Capítulo IV imagen" descr="haer-filtro-discos-denver.jpg"/>
          <p:cNvPicPr>
            <a:picLocks noChangeAspect="1"/>
          </p:cNvPicPr>
          <p:nvPr/>
        </p:nvPicPr>
        <p:blipFill>
          <a:blip r:embed="rId6">
            <a:duotone>
              <a:srgbClr val="001633"/>
              <a:srgbClr val="A9B8C9"/>
            </a:duotone>
          </a:blip>
          <a:srcRect l="12493" t="5000" r="12493" b="5000"/>
          <a:stretch>
            <a:fillRect/>
          </a:stretch>
        </p:blipFill>
        <p:spPr>
          <a:xfrm>
            <a:off x="8762238" y="1783079"/>
            <a:ext cx="2274570" cy="1920240"/>
          </a:xfrm>
          <a:prstGeom prst="rect">
            <a:avLst/>
          </a:prstGeom>
        </p:spPr>
      </p:pic>
      <p:cxnSp>
        <p:nvCxnSpPr>
          <p:cNvPr id="27" name="Guía capítulo"/>
          <p:cNvCxnSpPr/>
          <p:nvPr/>
        </p:nvCxnSpPr>
        <p:spPr>
          <a:xfrm>
            <a:off x="9899523" y="3703319"/>
            <a:ext cx="0" cy="347472"/>
          </a:xfrm>
          <a:prstGeom prst="line">
            <a:avLst/>
          </a:prstGeom>
          <a:ln w="12700">
            <a:solidFill>
              <a:srgbClr val="2A456B"/>
            </a:solidFill>
          </a:ln>
        </p:spPr>
        <p:style>
          <a:lnRef idx="2">
            <a:schemeClr val="accent1"/>
          </a:lnRef>
          <a:fillRef idx="0">
            <a:schemeClr val="accent1"/>
          </a:fillRef>
          <a:effectRef idx="1">
            <a:schemeClr val="accent1"/>
          </a:effectRef>
          <a:fontRef idx="minor">
            <a:schemeClr val="tx1"/>
          </a:fontRef>
        </p:style>
      </p:cxnSp>
      <p:sp>
        <p:nvSpPr>
          <p:cNvPr id="28" name="Hito IV"/>
          <p:cNvSpPr/>
          <p:nvPr/>
        </p:nvSpPr>
        <p:spPr>
          <a:xfrm>
            <a:off x="9817227" y="3968495"/>
            <a:ext cx="164592" cy="16459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762238" y="4416551"/>
            <a:ext cx="2274570" cy="365760"/>
          </a:xfrm>
          <a:prstGeom prst="rect">
            <a:avLst/>
          </a:prstGeom>
          <a:noFill/>
        </p:spPr>
        <p:txBody>
          <a:bodyPr wrap="square" lIns="0" tIns="0" rIns="0" bIns="0" anchor="t">
            <a:spAutoFit/>
          </a:bodyPr>
          <a:lstStyle/>
          <a:p>
            <a:pPr algn="l">
              <a:spcAft>
                <a:spcPts val="600"/>
              </a:spcAft>
            </a:pPr>
            <a:r>
              <a:rPr sz="1800" b="1" i="0">
                <a:solidFill>
                  <a:srgbClr val="FFAB40"/>
                </a:solidFill>
                <a:effectLst>
                  <a:glow rad="63500">
                    <a:srgbClr val="001633">
                      <a:alpha val="85000"/>
                    </a:srgbClr>
                  </a:glow>
                </a:effectLst>
                <a:latin typeface="Montserrat"/>
              </a:rPr>
              <a:t>IV </a:t>
            </a:r>
            <a:r>
              <a:rPr sz="1800" b="1" i="0">
                <a:solidFill>
                  <a:srgbClr val="FFFFFF"/>
                </a:solidFill>
                <a:effectLst>
                  <a:glow rad="63500">
                    <a:srgbClr val="001633">
                      <a:alpha val="85000"/>
                    </a:srgbClr>
                  </a:glow>
                </a:effectLst>
                <a:latin typeface="Montserrat"/>
              </a:rPr>
              <a:t>Caso práctico</a:t>
            </a:r>
          </a:p>
        </p:txBody>
      </p:sp>
      <p:sp>
        <p:nvSpPr>
          <p:cNvPr id="30" name="TextBox 29"/>
          <p:cNvSpPr txBox="1"/>
          <p:nvPr/>
        </p:nvSpPr>
        <p:spPr>
          <a:xfrm>
            <a:off x="8762238" y="4828031"/>
            <a:ext cx="2274570" cy="548640"/>
          </a:xfrm>
          <a:prstGeom prst="rect">
            <a:avLst/>
          </a:prstGeom>
          <a:noFill/>
        </p:spPr>
        <p:txBody>
          <a:bodyPr wrap="square" lIns="0" tIns="0" rIns="0" bIns="0" anchor="t">
            <a:spAutoFit/>
          </a:bodyPr>
          <a:lstStyle/>
          <a:p>
            <a:pPr algn="l">
              <a:spcAft>
                <a:spcPts val="600"/>
              </a:spcAft>
            </a:pPr>
            <a:r>
              <a:rPr sz="1200" b="0" i="0">
                <a:solidFill>
                  <a:srgbClr val="A9B8C9"/>
                </a:solidFill>
                <a:effectLst>
                  <a:glow rad="63500">
                    <a:srgbClr val="001633">
                      <a:alpha val="85000"/>
                    </a:srgbClr>
                  </a:glow>
                </a:effectLst>
                <a:latin typeface="Montserrat"/>
              </a:rPr>
              <a:t>¿Cómo se ve todo el curso en un solo equipo?</a:t>
            </a:r>
          </a:p>
        </p:txBody>
      </p:sp>
      <p:cxnSp>
        <p:nvCxnSpPr>
          <p:cNvPr id="31" name="Raya capítulo"/>
          <p:cNvCxnSpPr/>
          <p:nvPr/>
        </p:nvCxnSpPr>
        <p:spPr>
          <a:xfrm>
            <a:off x="8762238" y="5468111"/>
            <a:ext cx="36576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762238" y="5559551"/>
            <a:ext cx="227457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Todo el curso aplicado a un filtro hiperbárico, de la física a la demo en vivo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capítulo I" descr="virtual-rajo-chuquicamata.png"/>
          <p:cNvPicPr>
            <a:picLocks noChangeAspect="1"/>
          </p:cNvPicPr>
          <p:nvPr/>
        </p:nvPicPr>
        <p:blipFill>
          <a:blip r:embed="rId3"/>
          <a:srcRect l="19197" r="19197"/>
          <a:stretch>
            <a:fillRect/>
          </a:stretch>
        </p:blipFill>
        <p:spPr>
          <a:xfrm>
            <a:off x="6035040" y="0"/>
            <a:ext cx="6156655" cy="6858000"/>
          </a:xfrm>
          <a:prstGeom prst="rect">
            <a:avLst/>
          </a:prstGeom>
        </p:spPr>
      </p:pic>
      <p:sp>
        <p:nvSpPr>
          <p:cNvPr id="3" name="Fundido imagen"/>
          <p:cNvSpPr/>
          <p:nvPr/>
        </p:nvSpPr>
        <p:spPr>
          <a:xfrm>
            <a:off x="5989320" y="0"/>
            <a:ext cx="2926080" cy="6858000"/>
          </a:xfrm>
          <a:prstGeom prst="rect">
            <a:avLst/>
          </a:prstGeom>
          <a:gradFill rotWithShape="1">
            <a:gsLst>
              <a:gs pos="0">
                <a:srgbClr val="001633">
                  <a:alpha val="100000"/>
                </a:srgbClr>
              </a:gs>
              <a:gs pos="100000">
                <a:srgbClr val="001633">
                  <a:alpha val="0"/>
                </a:srgb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aya rótulo"/>
          <p:cNvSpPr/>
          <p:nvPr/>
        </p:nvSpPr>
        <p:spPr>
          <a:xfrm>
            <a:off x="1252728" y="12435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11430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CAPÍTULO I</a:t>
            </a:r>
          </a:p>
        </p:txBody>
      </p:sp>
      <p:sp>
        <p:nvSpPr>
          <p:cNvPr id="6" name="Nombre capítulo"/>
          <p:cNvSpPr txBox="1"/>
          <p:nvPr/>
        </p:nvSpPr>
        <p:spPr>
          <a:xfrm>
            <a:off x="1252728" y="1508760"/>
            <a:ext cx="5486400" cy="914400"/>
          </a:xfrm>
          <a:prstGeom prst="rect">
            <a:avLst/>
          </a:prstGeom>
          <a:noFill/>
        </p:spPr>
        <p:txBody>
          <a:bodyPr wrap="square" lIns="0" tIns="0" rIns="0" bIns="0" anchor="t">
            <a:spAutoFit/>
          </a:bodyPr>
          <a:lstStyle/>
          <a:p>
            <a:pPr algn="l">
              <a:spcAft>
                <a:spcPts val="600"/>
              </a:spcAft>
            </a:pPr>
            <a:r>
              <a:rPr sz="4400" b="1" i="0">
                <a:solidFill>
                  <a:srgbClr val="FFFFFF"/>
                </a:solidFill>
                <a:effectLst>
                  <a:glow rad="63500">
                    <a:srgbClr val="001633">
                      <a:alpha val="85000"/>
                    </a:srgbClr>
                  </a:glow>
                </a:effectLst>
                <a:latin typeface="Montserrat"/>
              </a:rPr>
              <a:t>Fundamentos</a:t>
            </a:r>
          </a:p>
        </p:txBody>
      </p:sp>
      <p:sp>
        <p:nvSpPr>
          <p:cNvPr id="7" name="Pregunta capítulo"/>
          <p:cNvSpPr txBox="1"/>
          <p:nvPr/>
        </p:nvSpPr>
        <p:spPr>
          <a:xfrm>
            <a:off x="1252728" y="2423160"/>
            <a:ext cx="5120640" cy="731520"/>
          </a:xfrm>
          <a:prstGeom prst="rect">
            <a:avLst/>
          </a:prstGeom>
          <a:noFill/>
        </p:spPr>
        <p:txBody>
          <a:bodyPr wrap="square" lIns="0" tIns="0" rIns="0" bIns="0" anchor="t">
            <a:spAutoFit/>
          </a:bodyPr>
          <a:lstStyle/>
          <a:p>
            <a:pPr algn="l">
              <a:spcAft>
                <a:spcPts val="600"/>
              </a:spcAft>
            </a:pPr>
            <a:r>
              <a:rPr sz="1800" b="0" i="0">
                <a:solidFill>
                  <a:srgbClr val="A9B8C9"/>
                </a:solidFill>
                <a:effectLst>
                  <a:glow rad="63500">
                    <a:srgbClr val="001633">
                      <a:alpha val="85000"/>
                    </a:srgbClr>
                  </a:glow>
                </a:effectLst>
                <a:latin typeface="Montserrat"/>
              </a:rPr>
              <a:t>¿Qué es un gemelo digital y cómo se clasifica?</a:t>
            </a:r>
          </a:p>
        </p:txBody>
      </p:sp>
      <p:cxnSp>
        <p:nvCxnSpPr>
          <p:cNvPr id="8" name="Raya temas"/>
          <p:cNvCxnSpPr/>
          <p:nvPr/>
        </p:nvCxnSpPr>
        <p:spPr>
          <a:xfrm>
            <a:off x="1252728" y="3337560"/>
            <a:ext cx="457200" cy="0"/>
          </a:xfrm>
          <a:prstGeom prst="line">
            <a:avLst/>
          </a:prstGeom>
          <a:ln w="25400">
            <a:solidFill>
              <a:srgbClr val="FFAB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252728" y="3566160"/>
            <a:ext cx="411480" cy="36576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01</a:t>
            </a:r>
          </a:p>
        </p:txBody>
      </p:sp>
      <p:sp>
        <p:nvSpPr>
          <p:cNvPr id="10" name="TextBox 9"/>
          <p:cNvSpPr txBox="1"/>
          <p:nvPr/>
        </p:nvSpPr>
        <p:spPr>
          <a:xfrm>
            <a:off x="1709928" y="3566160"/>
            <a:ext cx="4754880" cy="365760"/>
          </a:xfrm>
          <a:prstGeom prst="rect">
            <a:avLst/>
          </a:prstGeom>
          <a:noFill/>
        </p:spPr>
        <p:txBody>
          <a:bodyPr wrap="square" lIns="0" tIns="0" rIns="0" bIns="0" anchor="t">
            <a:spAutoFit/>
          </a:bodyPr>
          <a:lstStyle/>
          <a:p>
            <a:pPr algn="l">
              <a:spcAft>
                <a:spcPts val="600"/>
              </a:spcAft>
            </a:pPr>
            <a:r>
              <a:rPr sz="1400" b="0" i="0">
                <a:solidFill>
                  <a:srgbClr val="FFFFFF"/>
                </a:solidFill>
                <a:effectLst>
                  <a:glow rad="63500">
                    <a:srgbClr val="001633">
                      <a:alpha val="85000"/>
                    </a:srgbClr>
                  </a:glow>
                </a:effectLst>
                <a:latin typeface="Montserrat"/>
              </a:rPr>
              <a:t>Qué es un gemelo digital</a:t>
            </a:r>
          </a:p>
        </p:txBody>
      </p:sp>
      <p:sp>
        <p:nvSpPr>
          <p:cNvPr id="11" name="TextBox 10"/>
          <p:cNvSpPr txBox="1"/>
          <p:nvPr/>
        </p:nvSpPr>
        <p:spPr>
          <a:xfrm>
            <a:off x="1252728" y="3977640"/>
            <a:ext cx="411480" cy="36576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02</a:t>
            </a:r>
          </a:p>
        </p:txBody>
      </p:sp>
      <p:sp>
        <p:nvSpPr>
          <p:cNvPr id="12" name="TextBox 11"/>
          <p:cNvSpPr txBox="1"/>
          <p:nvPr/>
        </p:nvSpPr>
        <p:spPr>
          <a:xfrm>
            <a:off x="1709928" y="3977640"/>
            <a:ext cx="4754880" cy="365760"/>
          </a:xfrm>
          <a:prstGeom prst="rect">
            <a:avLst/>
          </a:prstGeom>
          <a:noFill/>
        </p:spPr>
        <p:txBody>
          <a:bodyPr wrap="square" lIns="0" tIns="0" rIns="0" bIns="0" anchor="t">
            <a:spAutoFit/>
          </a:bodyPr>
          <a:lstStyle/>
          <a:p>
            <a:pPr algn="l">
              <a:spcAft>
                <a:spcPts val="600"/>
              </a:spcAft>
            </a:pPr>
            <a:r>
              <a:rPr sz="1400" b="0" i="0">
                <a:solidFill>
                  <a:srgbClr val="FFFFFF"/>
                </a:solidFill>
                <a:effectLst>
                  <a:glow rad="63500">
                    <a:srgbClr val="001633">
                      <a:alpha val="85000"/>
                    </a:srgbClr>
                  </a:glow>
                </a:effectLst>
                <a:latin typeface="Montserrat"/>
              </a:rPr>
              <a:t>Modelo, sombra y gemelo</a:t>
            </a:r>
          </a:p>
        </p:txBody>
      </p:sp>
      <p:sp>
        <p:nvSpPr>
          <p:cNvPr id="13" name="TextBox 12"/>
          <p:cNvSpPr txBox="1"/>
          <p:nvPr/>
        </p:nvSpPr>
        <p:spPr>
          <a:xfrm>
            <a:off x="1252728" y="4389120"/>
            <a:ext cx="411480" cy="36576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03</a:t>
            </a:r>
          </a:p>
        </p:txBody>
      </p:sp>
      <p:sp>
        <p:nvSpPr>
          <p:cNvPr id="14" name="TextBox 13"/>
          <p:cNvSpPr txBox="1"/>
          <p:nvPr/>
        </p:nvSpPr>
        <p:spPr>
          <a:xfrm>
            <a:off x="1709928" y="4389120"/>
            <a:ext cx="4754880" cy="365760"/>
          </a:xfrm>
          <a:prstGeom prst="rect">
            <a:avLst/>
          </a:prstGeom>
          <a:noFill/>
        </p:spPr>
        <p:txBody>
          <a:bodyPr wrap="square" lIns="0" tIns="0" rIns="0" bIns="0" anchor="t">
            <a:spAutoFit/>
          </a:bodyPr>
          <a:lstStyle/>
          <a:p>
            <a:pPr algn="l">
              <a:spcAft>
                <a:spcPts val="600"/>
              </a:spcAft>
            </a:pPr>
            <a:r>
              <a:rPr sz="1400" b="0" i="0">
                <a:solidFill>
                  <a:srgbClr val="FFFFFF"/>
                </a:solidFill>
                <a:effectLst>
                  <a:glow rad="63500">
                    <a:srgbClr val="001633">
                      <a:alpha val="85000"/>
                    </a:srgbClr>
                  </a:glow>
                </a:effectLst>
                <a:latin typeface="Montserrat"/>
              </a:rPr>
              <a:t>El cubo: nivel, fase y uso</a:t>
            </a:r>
          </a:p>
        </p:txBody>
      </p:sp>
      <p:sp>
        <p:nvSpPr>
          <p:cNvPr id="15" name="TextBox 14"/>
          <p:cNvSpPr txBox="1"/>
          <p:nvPr/>
        </p:nvSpPr>
        <p:spPr>
          <a:xfrm>
            <a:off x="1252728" y="4800600"/>
            <a:ext cx="411480" cy="36576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04</a:t>
            </a:r>
          </a:p>
        </p:txBody>
      </p:sp>
      <p:sp>
        <p:nvSpPr>
          <p:cNvPr id="16" name="TextBox 15"/>
          <p:cNvSpPr txBox="1"/>
          <p:nvPr/>
        </p:nvSpPr>
        <p:spPr>
          <a:xfrm>
            <a:off x="1709928" y="4800600"/>
            <a:ext cx="4754880" cy="365760"/>
          </a:xfrm>
          <a:prstGeom prst="rect">
            <a:avLst/>
          </a:prstGeom>
          <a:noFill/>
        </p:spPr>
        <p:txBody>
          <a:bodyPr wrap="square" lIns="0" tIns="0" rIns="0" bIns="0" anchor="t">
            <a:spAutoFit/>
          </a:bodyPr>
          <a:lstStyle/>
          <a:p>
            <a:pPr algn="l">
              <a:spcAft>
                <a:spcPts val="600"/>
              </a:spcAft>
            </a:pPr>
            <a:r>
              <a:rPr sz="1400" b="0" i="0">
                <a:solidFill>
                  <a:srgbClr val="FFFFFF"/>
                </a:solidFill>
                <a:effectLst>
                  <a:glow rad="63500">
                    <a:srgbClr val="001633">
                      <a:alpha val="85000"/>
                    </a:srgbClr>
                  </a:glow>
                </a:effectLst>
                <a:latin typeface="Montserrat"/>
              </a:rPr>
              <a:t>Capacidades, tecnología y desafíos</a:t>
            </a:r>
          </a:p>
        </p:txBody>
      </p:sp>
      <p:sp>
        <p:nvSpPr>
          <p:cNvPr id="17" name="Avance I"/>
          <p:cNvSpPr txBox="1"/>
          <p:nvPr/>
        </p:nvSpPr>
        <p:spPr>
          <a:xfrm>
            <a:off x="1252728" y="5742432"/>
            <a:ext cx="13258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I · Fundamentos</a:t>
            </a:r>
          </a:p>
        </p:txBody>
      </p:sp>
      <p:sp>
        <p:nvSpPr>
          <p:cNvPr id="18" name="Avance I pista"/>
          <p:cNvSpPr/>
          <p:nvPr/>
        </p:nvSpPr>
        <p:spPr>
          <a:xfrm>
            <a:off x="1252728" y="5989320"/>
            <a:ext cx="132588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Avance II"/>
          <p:cNvSpPr txBox="1"/>
          <p:nvPr/>
        </p:nvSpPr>
        <p:spPr>
          <a:xfrm>
            <a:off x="2633472" y="5742432"/>
            <a:ext cx="13258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 · Industria</a:t>
            </a:r>
          </a:p>
        </p:txBody>
      </p:sp>
      <p:sp>
        <p:nvSpPr>
          <p:cNvPr id="20" name="Avance II pista"/>
          <p:cNvSpPr/>
          <p:nvPr/>
        </p:nvSpPr>
        <p:spPr>
          <a:xfrm>
            <a:off x="2633472" y="5989320"/>
            <a:ext cx="1325880" cy="54864"/>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Avance III"/>
          <p:cNvSpPr txBox="1"/>
          <p:nvPr/>
        </p:nvSpPr>
        <p:spPr>
          <a:xfrm>
            <a:off x="4014216" y="5742432"/>
            <a:ext cx="13258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III · Construcción</a:t>
            </a:r>
          </a:p>
        </p:txBody>
      </p:sp>
      <p:sp>
        <p:nvSpPr>
          <p:cNvPr id="22" name="Avance III pista"/>
          <p:cNvSpPr/>
          <p:nvPr/>
        </p:nvSpPr>
        <p:spPr>
          <a:xfrm>
            <a:off x="4014216" y="5989320"/>
            <a:ext cx="1325880" cy="54864"/>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Avance IV"/>
          <p:cNvSpPr txBox="1"/>
          <p:nvPr/>
        </p:nvSpPr>
        <p:spPr>
          <a:xfrm>
            <a:off x="5394960" y="5742432"/>
            <a:ext cx="13258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24" name="Avance IV pista"/>
          <p:cNvSpPr/>
          <p:nvPr/>
        </p:nvSpPr>
        <p:spPr>
          <a:xfrm>
            <a:off x="5394960" y="5989320"/>
            <a:ext cx="1325880" cy="54864"/>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¿Qué es un gemelo digital?</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 · FUNDAMENTOS — DEFINICIÓN</a:t>
            </a:r>
          </a:p>
        </p:txBody>
      </p:sp>
      <p:pic>
        <p:nvPicPr>
          <p:cNvPr id="6" name="Filtro hiperbárico real y virtual" descr="gemelo-filtro-real-virtual.png"/>
          <p:cNvPicPr>
            <a:picLocks noChangeAspect="1"/>
          </p:cNvPicPr>
          <p:nvPr/>
        </p:nvPicPr>
        <p:blipFill>
          <a:blip r:embed="rId3"/>
          <a:srcRect l="130" r="130"/>
          <a:stretch>
            <a:fillRect/>
          </a:stretch>
        </p:blipFill>
        <p:spPr>
          <a:xfrm>
            <a:off x="5870448" y="1371600"/>
            <a:ext cx="5394960" cy="3011749"/>
          </a:xfrm>
          <a:prstGeom prst="rect">
            <a:avLst/>
          </a:prstGeom>
        </p:spPr>
      </p:pic>
      <p:cxnSp>
        <p:nvCxnSpPr>
          <p:cNvPr id="7" name="Esquina"/>
          <p:cNvCxnSpPr/>
          <p:nvPr/>
        </p:nvCxnSpPr>
        <p:spPr>
          <a:xfrm>
            <a:off x="5815584" y="1316736"/>
            <a:ext cx="201168" cy="0"/>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cxnSp>
        <p:nvCxnSpPr>
          <p:cNvPr id="8" name="Esquina"/>
          <p:cNvCxnSpPr/>
          <p:nvPr/>
        </p:nvCxnSpPr>
        <p:spPr>
          <a:xfrm>
            <a:off x="5815584" y="1316736"/>
            <a:ext cx="0" cy="201168"/>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cxnSp>
        <p:nvCxnSpPr>
          <p:cNvPr id="9" name="Esquina"/>
          <p:cNvCxnSpPr/>
          <p:nvPr/>
        </p:nvCxnSpPr>
        <p:spPr>
          <a:xfrm flipH="1">
            <a:off x="11119104" y="1316736"/>
            <a:ext cx="201168" cy="0"/>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cxnSp>
        <p:nvCxnSpPr>
          <p:cNvPr id="10" name="Esquina"/>
          <p:cNvCxnSpPr/>
          <p:nvPr/>
        </p:nvCxnSpPr>
        <p:spPr>
          <a:xfrm>
            <a:off x="11320272" y="1316736"/>
            <a:ext cx="0" cy="201168"/>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cxnSp>
        <p:nvCxnSpPr>
          <p:cNvPr id="11" name="Esquina"/>
          <p:cNvCxnSpPr/>
          <p:nvPr/>
        </p:nvCxnSpPr>
        <p:spPr>
          <a:xfrm>
            <a:off x="5815584" y="4438213"/>
            <a:ext cx="201168" cy="0"/>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cxnSp>
        <p:nvCxnSpPr>
          <p:cNvPr id="12" name="Esquina"/>
          <p:cNvCxnSpPr/>
          <p:nvPr/>
        </p:nvCxnSpPr>
        <p:spPr>
          <a:xfrm flipV="1">
            <a:off x="5815584" y="4237045"/>
            <a:ext cx="0" cy="201168"/>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cxnSp>
        <p:nvCxnSpPr>
          <p:cNvPr id="13" name="Esquina"/>
          <p:cNvCxnSpPr/>
          <p:nvPr/>
        </p:nvCxnSpPr>
        <p:spPr>
          <a:xfrm flipH="1">
            <a:off x="11119104" y="4438213"/>
            <a:ext cx="201168" cy="0"/>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cxnSp>
        <p:nvCxnSpPr>
          <p:cNvPr id="14" name="Esquina"/>
          <p:cNvCxnSpPr/>
          <p:nvPr/>
        </p:nvCxnSpPr>
        <p:spPr>
          <a:xfrm flipV="1">
            <a:off x="11320272" y="4237045"/>
            <a:ext cx="0" cy="201168"/>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sp>
        <p:nvSpPr>
          <p:cNvPr id="15" name="Rótulo REAL"/>
          <p:cNvSpPr/>
          <p:nvPr/>
        </p:nvSpPr>
        <p:spPr>
          <a:xfrm>
            <a:off x="5980176" y="1481328"/>
            <a:ext cx="868680" cy="274320"/>
          </a:xfrm>
          <a:prstGeom prst="rect">
            <a:avLst/>
          </a:prstGeom>
          <a:solidFill>
            <a:srgbClr val="0016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980176" y="1481328"/>
            <a:ext cx="868680" cy="274320"/>
          </a:xfrm>
          <a:prstGeom prst="rect">
            <a:avLst/>
          </a:prstGeom>
          <a:noFill/>
        </p:spPr>
        <p:txBody>
          <a:bodyPr wrap="square" lIns="0" tIns="0" rIns="0" bIns="0" anchor="ctr">
            <a:spAutoFit/>
          </a:bodyPr>
          <a:lstStyle/>
          <a:p>
            <a:pPr algn="ctr">
              <a:spcAft>
                <a:spcPts val="600"/>
              </a:spcAft>
            </a:pPr>
            <a:r>
              <a:rPr sz="1000" b="1" i="0">
                <a:solidFill>
                  <a:srgbClr val="FFFFFF"/>
                </a:solidFill>
                <a:effectLst>
                  <a:glow rad="63500">
                    <a:srgbClr val="001633">
                      <a:alpha val="85000"/>
                    </a:srgbClr>
                  </a:glow>
                </a:effectLst>
                <a:latin typeface="Montserrat"/>
              </a:rPr>
              <a:t>REAL</a:t>
            </a:r>
          </a:p>
        </p:txBody>
      </p:sp>
      <p:sp>
        <p:nvSpPr>
          <p:cNvPr id="17" name="Rótulo VIRTUAL"/>
          <p:cNvSpPr/>
          <p:nvPr/>
        </p:nvSpPr>
        <p:spPr>
          <a:xfrm>
            <a:off x="8677656" y="1481328"/>
            <a:ext cx="868680" cy="274320"/>
          </a:xfrm>
          <a:prstGeom prst="rect">
            <a:avLst/>
          </a:prstGeom>
          <a:solidFill>
            <a:srgbClr val="0016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677656" y="1481328"/>
            <a:ext cx="868680" cy="274320"/>
          </a:xfrm>
          <a:prstGeom prst="rect">
            <a:avLst/>
          </a:prstGeom>
          <a:noFill/>
        </p:spPr>
        <p:txBody>
          <a:bodyPr wrap="square" lIns="0" tIns="0" rIns="0" bIns="0" anchor="ctr">
            <a:spAutoFit/>
          </a:bodyPr>
          <a:lstStyle/>
          <a:p>
            <a:pPr algn="ctr">
              <a:spcAft>
                <a:spcPts val="600"/>
              </a:spcAft>
            </a:pPr>
            <a:r>
              <a:rPr sz="1000" b="1" i="0">
                <a:solidFill>
                  <a:srgbClr val="85D5E6"/>
                </a:solidFill>
                <a:effectLst>
                  <a:glow rad="63500">
                    <a:srgbClr val="001633">
                      <a:alpha val="85000"/>
                    </a:srgbClr>
                  </a:glow>
                </a:effectLst>
                <a:latin typeface="Montserrat"/>
              </a:rPr>
              <a:t>VIRTUAL</a:t>
            </a:r>
          </a:p>
        </p:txBody>
      </p:sp>
      <p:sp>
        <p:nvSpPr>
          <p:cNvPr id="19" name="TextBox 18"/>
          <p:cNvSpPr txBox="1"/>
          <p:nvPr/>
        </p:nvSpPr>
        <p:spPr>
          <a:xfrm>
            <a:off x="5870448" y="4438213"/>
            <a:ext cx="539496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Filtro de disco hiperbárico: el equipo y su réplica virtual · representación 3D propia (caso del capítulo IV)</a:t>
            </a:r>
          </a:p>
        </p:txBody>
      </p:sp>
      <p:sp>
        <p:nvSpPr>
          <p:cNvPr id="20" name="TextBox 19"/>
          <p:cNvSpPr txBox="1"/>
          <p:nvPr/>
        </p:nvSpPr>
        <p:spPr>
          <a:xfrm>
            <a:off x="1252728" y="1920239"/>
            <a:ext cx="4251960" cy="1417320"/>
          </a:xfrm>
          <a:prstGeom prst="rect">
            <a:avLst/>
          </a:prstGeom>
          <a:noFill/>
        </p:spPr>
        <p:txBody>
          <a:bodyPr wrap="square" lIns="0" tIns="0" rIns="0" bIns="0" anchor="t">
            <a:spAutoFit/>
          </a:bodyPr>
          <a:lstStyle/>
          <a:p>
            <a:pPr algn="l">
              <a:spcAft>
                <a:spcPts val="600"/>
              </a:spcAft>
            </a:pPr>
            <a:r>
              <a:rPr sz="1800" b="1" i="0">
                <a:solidFill>
                  <a:srgbClr val="FFFFFF"/>
                </a:solidFill>
                <a:effectLst>
                  <a:glow rad="63500">
                    <a:srgbClr val="001633">
                      <a:alpha val="85000"/>
                    </a:srgbClr>
                  </a:glow>
                </a:effectLst>
                <a:latin typeface="Montserrat"/>
              </a:rPr>
              <a:t>«Un modelo virtual que replica el comportamiento de un activo, proceso, sistema o grupo de sistemas del mundo real, existente o potencial.»</a:t>
            </a:r>
          </a:p>
        </p:txBody>
      </p:sp>
      <p:sp>
        <p:nvSpPr>
          <p:cNvPr id="21" name="TextBox 20"/>
          <p:cNvSpPr txBox="1"/>
          <p:nvPr/>
        </p:nvSpPr>
        <p:spPr>
          <a:xfrm>
            <a:off x="1252728" y="3337559"/>
            <a:ext cx="4251960" cy="9144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IoT Analytics [1]</a:t>
            </a:r>
          </a:p>
        </p:txBody>
      </p:sp>
      <p:sp>
        <p:nvSpPr>
          <p:cNvPr id="22" name="TextBox 21"/>
          <p:cNvSpPr txBox="1"/>
          <p:nvPr/>
        </p:nvSpPr>
        <p:spPr>
          <a:xfrm>
            <a:off x="1252728" y="4681728"/>
            <a:ext cx="5943600" cy="274320"/>
          </a:xfrm>
          <a:prstGeom prst="rect">
            <a:avLst/>
          </a:prstGeom>
          <a:noFill/>
        </p:spPr>
        <p:txBody>
          <a:bodyPr wrap="square" lIns="0" tIns="0" rIns="0" bIns="0" anchor="t">
            <a:spAutoFit/>
          </a:bodyPr>
          <a:lstStyle/>
          <a:p>
            <a:pPr algn="l">
              <a:spcAft>
                <a:spcPts val="600"/>
              </a:spcAft>
            </a:pPr>
            <a:r>
              <a:rPr sz="1500" b="1" i="0">
                <a:solidFill>
                  <a:srgbClr val="FFAB40"/>
                </a:solidFill>
                <a:effectLst>
                  <a:glow rad="63500">
                    <a:srgbClr val="001633">
                      <a:alpha val="85000"/>
                    </a:srgbClr>
                  </a:glow>
                </a:effectLst>
                <a:latin typeface="Montserrat"/>
              </a:rPr>
              <a:t>¿Cuán conectado? Modelo, sombra y gemelo</a:t>
            </a:r>
          </a:p>
        </p:txBody>
      </p:sp>
      <p:sp>
        <p:nvSpPr>
          <p:cNvPr id="23" name="TextBox 22"/>
          <p:cNvSpPr txBox="1"/>
          <p:nvPr/>
        </p:nvSpPr>
        <p:spPr>
          <a:xfrm>
            <a:off x="7196328" y="4727448"/>
            <a:ext cx="4069080" cy="274320"/>
          </a:xfrm>
          <a:prstGeom prst="rect">
            <a:avLst/>
          </a:prstGeom>
          <a:noFill/>
        </p:spPr>
        <p:txBody>
          <a:bodyPr wrap="square" lIns="0" tIns="0" rIns="0" bIns="0" anchor="t">
            <a:spAutoFit/>
          </a:bodyPr>
          <a:lstStyle/>
          <a:p>
            <a:pPr algn="r">
              <a:spcAft>
                <a:spcPts val="600"/>
              </a:spcAft>
            </a:pPr>
            <a:r>
              <a:rPr sz="900" b="0" i="0">
                <a:solidFill>
                  <a:srgbClr val="A9B8C9"/>
                </a:solidFill>
                <a:effectLst>
                  <a:glow rad="63500">
                    <a:srgbClr val="001633">
                      <a:alpha val="85000"/>
                    </a:srgbClr>
                  </a:glow>
                </a:effectLst>
                <a:latin typeface="Montserrat"/>
              </a:rPr>
              <a:t>Clasificación por integración de datos: Kritzinger et al. (2018) [2]</a:t>
            </a:r>
          </a:p>
        </p:txBody>
      </p:sp>
      <p:sp>
        <p:nvSpPr>
          <p:cNvPr id="24" name="Clase Modelo"/>
          <p:cNvSpPr/>
          <p:nvPr/>
        </p:nvSpPr>
        <p:spPr>
          <a:xfrm>
            <a:off x="1252728" y="5065776"/>
            <a:ext cx="3246120" cy="74980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Bloque mini"/>
          <p:cNvSpPr/>
          <p:nvPr/>
        </p:nvSpPr>
        <p:spPr>
          <a:xfrm>
            <a:off x="1389888" y="5248656"/>
            <a:ext cx="457200" cy="384048"/>
          </a:xfrm>
          <a:prstGeom prst="roundRect">
            <a:avLst/>
          </a:prstGeom>
          <a:solidFill>
            <a:srgbClr val="001633"/>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Ícono factory" descr="factory-white.png"/>
          <p:cNvPicPr>
            <a:picLocks noChangeAspect="1"/>
          </p:cNvPicPr>
          <p:nvPr/>
        </p:nvPicPr>
        <p:blipFill>
          <a:blip r:embed="rId4"/>
          <a:stretch>
            <a:fillRect/>
          </a:stretch>
        </p:blipFill>
        <p:spPr>
          <a:xfrm>
            <a:off x="1490472" y="5312664"/>
            <a:ext cx="256032" cy="256032"/>
          </a:xfrm>
          <a:prstGeom prst="rect">
            <a:avLst/>
          </a:prstGeom>
        </p:spPr>
      </p:pic>
      <p:sp>
        <p:nvSpPr>
          <p:cNvPr id="27" name="Bloque mini"/>
          <p:cNvSpPr/>
          <p:nvPr/>
        </p:nvSpPr>
        <p:spPr>
          <a:xfrm>
            <a:off x="2167128" y="5248656"/>
            <a:ext cx="457200" cy="384048"/>
          </a:xfrm>
          <a:prstGeom prst="roundRect">
            <a:avLst/>
          </a:prstGeom>
          <a:solidFill>
            <a:srgbClr val="001633"/>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Ícono monitor" descr="monitor-white.png"/>
          <p:cNvPicPr>
            <a:picLocks noChangeAspect="1"/>
          </p:cNvPicPr>
          <p:nvPr/>
        </p:nvPicPr>
        <p:blipFill>
          <a:blip r:embed="rId5"/>
          <a:stretch>
            <a:fillRect/>
          </a:stretch>
        </p:blipFill>
        <p:spPr>
          <a:xfrm>
            <a:off x="2267712" y="5312664"/>
            <a:ext cx="256032" cy="256032"/>
          </a:xfrm>
          <a:prstGeom prst="rect">
            <a:avLst/>
          </a:prstGeom>
        </p:spPr>
      </p:pic>
      <p:cxnSp>
        <p:nvCxnSpPr>
          <p:cNvPr id="29" name="Connector 28"/>
          <p:cNvCxnSpPr/>
          <p:nvPr/>
        </p:nvCxnSpPr>
        <p:spPr>
          <a:xfrm>
            <a:off x="1847088" y="5367528"/>
            <a:ext cx="320040" cy="0"/>
          </a:xfrm>
          <a:prstGeom prst="line">
            <a:avLst/>
          </a:prstGeom>
          <a:ln w="15875">
            <a:solidFill>
              <a:srgbClr val="FFFFFF"/>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1847088" y="5522976"/>
            <a:ext cx="320040" cy="0"/>
          </a:xfrm>
          <a:prstGeom prst="line">
            <a:avLst/>
          </a:prstGeom>
          <a:ln w="15875">
            <a:solidFill>
              <a:srgbClr val="FFFFF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2807208" y="5065776"/>
            <a:ext cx="1600200" cy="749808"/>
          </a:xfrm>
          <a:prstGeom prst="rect">
            <a:avLst/>
          </a:prstGeom>
          <a:noFill/>
        </p:spPr>
        <p:txBody>
          <a:bodyPr wrap="square" lIns="0" tIns="0" rIns="0" bIns="0" anchor="ctr">
            <a:spAutoFit/>
          </a:bodyPr>
          <a:lstStyle/>
          <a:p>
            <a:pPr algn="l">
              <a:spcAft>
                <a:spcPts val="0"/>
              </a:spcAft>
            </a:pPr>
            <a:r>
              <a:rPr sz="1400" b="1" i="0">
                <a:solidFill>
                  <a:srgbClr val="FFFFFF"/>
                </a:solidFill>
                <a:effectLst>
                  <a:glow rad="63500">
                    <a:srgbClr val="001633">
                      <a:alpha val="85000"/>
                    </a:srgbClr>
                  </a:glow>
                </a:effectLst>
                <a:latin typeface="Montserrat"/>
              </a:rPr>
              <a:t>Modelo</a:t>
            </a:r>
          </a:p>
          <a:p>
            <a:pPr algn="l">
              <a:spcAft>
                <a:spcPts val="0"/>
              </a:spcAft>
            </a:pPr>
            <a:r>
              <a:rPr sz="1000" b="0" i="0">
                <a:solidFill>
                  <a:srgbClr val="A9B8C9"/>
                </a:solidFill>
                <a:effectLst>
                  <a:glow rad="63500">
                    <a:srgbClr val="001633">
                      <a:alpha val="85000"/>
                    </a:srgbClr>
                  </a:glow>
                </a:effectLst>
                <a:latin typeface="Montserrat"/>
              </a:rPr>
              <a:t>sin flujo automático de datos</a:t>
            </a:r>
          </a:p>
        </p:txBody>
      </p:sp>
      <p:sp>
        <p:nvSpPr>
          <p:cNvPr id="32" name="Clase Sombra"/>
          <p:cNvSpPr/>
          <p:nvPr/>
        </p:nvSpPr>
        <p:spPr>
          <a:xfrm>
            <a:off x="4636008" y="5065776"/>
            <a:ext cx="3246120" cy="74980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Bloque mini"/>
          <p:cNvSpPr/>
          <p:nvPr/>
        </p:nvSpPr>
        <p:spPr>
          <a:xfrm>
            <a:off x="4773168" y="5248656"/>
            <a:ext cx="457200" cy="384048"/>
          </a:xfrm>
          <a:prstGeom prst="roundRect">
            <a:avLst/>
          </a:prstGeom>
          <a:solidFill>
            <a:srgbClr val="001633"/>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4" name="Ícono factory" descr="factory-white.png"/>
          <p:cNvPicPr>
            <a:picLocks noChangeAspect="1"/>
          </p:cNvPicPr>
          <p:nvPr/>
        </p:nvPicPr>
        <p:blipFill>
          <a:blip r:embed="rId4"/>
          <a:stretch>
            <a:fillRect/>
          </a:stretch>
        </p:blipFill>
        <p:spPr>
          <a:xfrm>
            <a:off x="4873752" y="5312664"/>
            <a:ext cx="256032" cy="256032"/>
          </a:xfrm>
          <a:prstGeom prst="rect">
            <a:avLst/>
          </a:prstGeom>
        </p:spPr>
      </p:pic>
      <p:sp>
        <p:nvSpPr>
          <p:cNvPr id="35" name="Bloque mini"/>
          <p:cNvSpPr/>
          <p:nvPr/>
        </p:nvSpPr>
        <p:spPr>
          <a:xfrm>
            <a:off x="5550408" y="5248656"/>
            <a:ext cx="457200" cy="384048"/>
          </a:xfrm>
          <a:prstGeom prst="roundRect">
            <a:avLst/>
          </a:prstGeom>
          <a:solidFill>
            <a:srgbClr val="001633"/>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6" name="Ícono monitor" descr="monitor-white.png"/>
          <p:cNvPicPr>
            <a:picLocks noChangeAspect="1"/>
          </p:cNvPicPr>
          <p:nvPr/>
        </p:nvPicPr>
        <p:blipFill>
          <a:blip r:embed="rId5"/>
          <a:stretch>
            <a:fillRect/>
          </a:stretch>
        </p:blipFill>
        <p:spPr>
          <a:xfrm>
            <a:off x="5650992" y="5312664"/>
            <a:ext cx="256032" cy="256032"/>
          </a:xfrm>
          <a:prstGeom prst="rect">
            <a:avLst/>
          </a:prstGeom>
        </p:spPr>
      </p:pic>
      <p:cxnSp>
        <p:nvCxnSpPr>
          <p:cNvPr id="37" name="Connector 36"/>
          <p:cNvCxnSpPr/>
          <p:nvPr/>
        </p:nvCxnSpPr>
        <p:spPr>
          <a:xfrm>
            <a:off x="5230368" y="5367528"/>
            <a:ext cx="320040" cy="0"/>
          </a:xfrm>
          <a:prstGeom prst="line">
            <a:avLst/>
          </a:prstGeom>
          <a:ln w="2857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5230368" y="5522976"/>
            <a:ext cx="320040" cy="0"/>
          </a:xfrm>
          <a:prstGeom prst="line">
            <a:avLst/>
          </a:prstGeom>
          <a:ln w="15875">
            <a:solidFill>
              <a:srgbClr val="FFFFF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190488" y="5065776"/>
            <a:ext cx="1600200" cy="749808"/>
          </a:xfrm>
          <a:prstGeom prst="rect">
            <a:avLst/>
          </a:prstGeom>
          <a:noFill/>
        </p:spPr>
        <p:txBody>
          <a:bodyPr wrap="square" lIns="0" tIns="0" rIns="0" bIns="0" anchor="ctr">
            <a:spAutoFit/>
          </a:bodyPr>
          <a:lstStyle/>
          <a:p>
            <a:pPr algn="l">
              <a:spcAft>
                <a:spcPts val="0"/>
              </a:spcAft>
            </a:pPr>
            <a:r>
              <a:rPr sz="1400" b="1" i="0">
                <a:solidFill>
                  <a:srgbClr val="FFFFFF"/>
                </a:solidFill>
                <a:effectLst>
                  <a:glow rad="63500">
                    <a:srgbClr val="001633">
                      <a:alpha val="85000"/>
                    </a:srgbClr>
                  </a:glow>
                </a:effectLst>
                <a:latin typeface="Montserrat"/>
              </a:rPr>
              <a:t>Sombra</a:t>
            </a:r>
          </a:p>
          <a:p>
            <a:pPr algn="l">
              <a:spcAft>
                <a:spcPts val="0"/>
              </a:spcAft>
            </a:pPr>
            <a:r>
              <a:rPr sz="1000" b="0" i="0">
                <a:solidFill>
                  <a:srgbClr val="A9B8C9"/>
                </a:solidFill>
                <a:effectLst>
                  <a:glow rad="63500">
                    <a:srgbClr val="001633">
                      <a:alpha val="85000"/>
                    </a:srgbClr>
                  </a:glow>
                </a:effectLst>
                <a:latin typeface="Montserrat"/>
              </a:rPr>
              <a:t>los datos llegan solos; la acción vuelve a mano</a:t>
            </a:r>
          </a:p>
        </p:txBody>
      </p:sp>
      <p:sp>
        <p:nvSpPr>
          <p:cNvPr id="40" name="Clase Gemelo"/>
          <p:cNvSpPr/>
          <p:nvPr/>
        </p:nvSpPr>
        <p:spPr>
          <a:xfrm>
            <a:off x="8019288" y="5065776"/>
            <a:ext cx="3246120" cy="749808"/>
          </a:xfrm>
          <a:prstGeom prst="rect">
            <a:avLst/>
          </a:prstGeom>
          <a:solidFill>
            <a:srgbClr val="12335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Bloque mini"/>
          <p:cNvSpPr/>
          <p:nvPr/>
        </p:nvSpPr>
        <p:spPr>
          <a:xfrm>
            <a:off x="8156448" y="5248656"/>
            <a:ext cx="457200" cy="384048"/>
          </a:xfrm>
          <a:prstGeom prst="roundRect">
            <a:avLst/>
          </a:prstGeom>
          <a:solidFill>
            <a:srgbClr val="001633"/>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2" name="Ícono factory" descr="factory-white.png"/>
          <p:cNvPicPr>
            <a:picLocks noChangeAspect="1"/>
          </p:cNvPicPr>
          <p:nvPr/>
        </p:nvPicPr>
        <p:blipFill>
          <a:blip r:embed="rId4"/>
          <a:stretch>
            <a:fillRect/>
          </a:stretch>
        </p:blipFill>
        <p:spPr>
          <a:xfrm>
            <a:off x="8257032" y="5312664"/>
            <a:ext cx="256032" cy="256032"/>
          </a:xfrm>
          <a:prstGeom prst="rect">
            <a:avLst/>
          </a:prstGeom>
        </p:spPr>
      </p:pic>
      <p:sp>
        <p:nvSpPr>
          <p:cNvPr id="43" name="Bloque mini"/>
          <p:cNvSpPr/>
          <p:nvPr/>
        </p:nvSpPr>
        <p:spPr>
          <a:xfrm>
            <a:off x="8933688" y="5248656"/>
            <a:ext cx="457200" cy="384048"/>
          </a:xfrm>
          <a:prstGeom prst="roundRect">
            <a:avLst/>
          </a:prstGeom>
          <a:solidFill>
            <a:srgbClr val="001633"/>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4" name="Ícono monitor" descr="monitor-white.png"/>
          <p:cNvPicPr>
            <a:picLocks noChangeAspect="1"/>
          </p:cNvPicPr>
          <p:nvPr/>
        </p:nvPicPr>
        <p:blipFill>
          <a:blip r:embed="rId5"/>
          <a:stretch>
            <a:fillRect/>
          </a:stretch>
        </p:blipFill>
        <p:spPr>
          <a:xfrm>
            <a:off x="9034272" y="5312664"/>
            <a:ext cx="256032" cy="256032"/>
          </a:xfrm>
          <a:prstGeom prst="rect">
            <a:avLst/>
          </a:prstGeom>
        </p:spPr>
      </p:pic>
      <p:cxnSp>
        <p:nvCxnSpPr>
          <p:cNvPr id="45" name="Connector 44"/>
          <p:cNvCxnSpPr/>
          <p:nvPr/>
        </p:nvCxnSpPr>
        <p:spPr>
          <a:xfrm>
            <a:off x="8613648" y="5367528"/>
            <a:ext cx="320040" cy="0"/>
          </a:xfrm>
          <a:prstGeom prst="line">
            <a:avLst/>
          </a:prstGeom>
          <a:ln w="28575">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8613648" y="5522976"/>
            <a:ext cx="320040" cy="0"/>
          </a:xfrm>
          <a:prstGeom prst="line">
            <a:avLst/>
          </a:prstGeom>
          <a:ln w="28575">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9573768" y="5065776"/>
            <a:ext cx="1600200" cy="749808"/>
          </a:xfrm>
          <a:prstGeom prst="rect">
            <a:avLst/>
          </a:prstGeom>
          <a:noFill/>
        </p:spPr>
        <p:txBody>
          <a:bodyPr wrap="square" lIns="0" tIns="0" rIns="0" bIns="0" anchor="ctr">
            <a:spAutoFit/>
          </a:bodyPr>
          <a:lstStyle/>
          <a:p>
            <a:pPr algn="l">
              <a:spcAft>
                <a:spcPts val="0"/>
              </a:spcAft>
            </a:pPr>
            <a:r>
              <a:rPr sz="1400" b="1" i="0">
                <a:solidFill>
                  <a:srgbClr val="FFAB40"/>
                </a:solidFill>
                <a:effectLst>
                  <a:glow rad="63500">
                    <a:srgbClr val="001633">
                      <a:alpha val="85000"/>
                    </a:srgbClr>
                  </a:glow>
                </a:effectLst>
                <a:latin typeface="Montserrat"/>
              </a:rPr>
              <a:t>Gemelo</a:t>
            </a:r>
          </a:p>
          <a:p>
            <a:pPr algn="l">
              <a:spcAft>
                <a:spcPts val="0"/>
              </a:spcAft>
            </a:pPr>
            <a:r>
              <a:rPr sz="1000" b="0" i="0">
                <a:solidFill>
                  <a:srgbClr val="A9B8C9"/>
                </a:solidFill>
                <a:effectLst>
                  <a:glow rad="63500">
                    <a:srgbClr val="001633">
                      <a:alpha val="85000"/>
                    </a:srgbClr>
                  </a:glow>
                </a:effectLst>
                <a:latin typeface="Montserrat"/>
              </a:rPr>
              <a:t>datos y acción en ida y vuelta automáticas</a:t>
            </a:r>
          </a:p>
        </p:txBody>
      </p:sp>
      <p:sp>
        <p:nvSpPr>
          <p:cNvPr id="48"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 · Fundamentos</a:t>
            </a:r>
          </a:p>
        </p:txBody>
      </p:sp>
      <p:sp>
        <p:nvSpPr>
          <p:cNvPr id="49"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Avance I actual"/>
          <p:cNvSpPr/>
          <p:nvPr/>
        </p:nvSpPr>
        <p:spPr>
          <a:xfrm>
            <a:off x="1252728" y="6510528"/>
            <a:ext cx="14859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 · Industria</a:t>
            </a:r>
          </a:p>
        </p:txBody>
      </p:sp>
      <p:sp>
        <p:nvSpPr>
          <p:cNvPr id="52"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III · Construcción</a:t>
            </a:r>
          </a:p>
        </p:txBody>
      </p:sp>
      <p:sp>
        <p:nvSpPr>
          <p:cNvPr id="54"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56"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1/12 </a:t>
            </a:r>
            <a:r>
              <a:rPr sz="1000" b="0" i="0">
                <a:solidFill>
                  <a:srgbClr val="A9B8C9"/>
                </a:solidFill>
                <a:effectLst>
                  <a:glow rad="63500">
                    <a:srgbClr val="001633">
                      <a:alpha val="85000"/>
                    </a:srgbClr>
                  </a:glow>
                </a:effectLst>
                <a:latin typeface="Montserrat"/>
              </a:rPr>
              <a:t>· Gemelos Digitales para Minería 4.0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Tres preguntas ubican cualquier gemelo: de qué, cuándo y para qué</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 · FUNDAMENTOS — EL CUBO</a:t>
            </a:r>
          </a:p>
        </p:txBody>
      </p:sp>
      <p:sp>
        <p:nvSpPr>
          <p:cNvPr id="6" name="Velo 252"/>
          <p:cNvSpPr/>
          <p:nvPr/>
        </p:nvSpPr>
        <p:spPr>
          <a:xfrm>
            <a:off x="7818120" y="1508759"/>
            <a:ext cx="3840480" cy="1188720"/>
          </a:xfrm>
          <a:prstGeom prst="rect">
            <a:avLst/>
          </a:prstGeom>
          <a:gradFill rotWithShape="1">
            <a:gsLst>
              <a:gs pos="0">
                <a:srgbClr val="001633">
                  <a:alpha val="100000"/>
                </a:srgbClr>
              </a:gs>
              <a:gs pos="65000">
                <a:srgbClr val="001633">
                  <a:alpha val="100000"/>
                </a:srgbClr>
              </a:gs>
              <a:gs pos="100000">
                <a:srgbClr val="001633">
                  <a:alpha val="0"/>
                </a:srgbClr>
              </a:gs>
            </a:gsLst>
            <a:path path="rect">
              <a:fillToRect t="50000" r="35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Cubo arriba"/>
          <p:cNvSpPr/>
          <p:nvPr/>
        </p:nvSpPr>
        <p:spPr>
          <a:xfrm>
            <a:off x="2926080" y="300380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ubo arriba"/>
          <p:cNvSpPr/>
          <p:nvPr/>
        </p:nvSpPr>
        <p:spPr>
          <a:xfrm>
            <a:off x="3511296" y="300380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ubo arriba"/>
          <p:cNvSpPr/>
          <p:nvPr/>
        </p:nvSpPr>
        <p:spPr>
          <a:xfrm>
            <a:off x="4096512" y="300380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ubo arriba"/>
          <p:cNvSpPr/>
          <p:nvPr/>
        </p:nvSpPr>
        <p:spPr>
          <a:xfrm>
            <a:off x="4681728" y="300380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ubo arriba"/>
          <p:cNvSpPr/>
          <p:nvPr/>
        </p:nvSpPr>
        <p:spPr>
          <a:xfrm>
            <a:off x="5266944" y="300380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Cubo arriba"/>
          <p:cNvSpPr/>
          <p:nvPr/>
        </p:nvSpPr>
        <p:spPr>
          <a:xfrm>
            <a:off x="5852160" y="300380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Cubo lado"/>
          <p:cNvSpPr/>
          <p:nvPr/>
        </p:nvSpPr>
        <p:spPr>
          <a:xfrm>
            <a:off x="6437376" y="4558284"/>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Cubo lado"/>
          <p:cNvSpPr/>
          <p:nvPr/>
        </p:nvSpPr>
        <p:spPr>
          <a:xfrm>
            <a:off x="6437376" y="4247388"/>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Cubo lado"/>
          <p:cNvSpPr/>
          <p:nvPr/>
        </p:nvSpPr>
        <p:spPr>
          <a:xfrm>
            <a:off x="6437376" y="3936492"/>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Cubo lado"/>
          <p:cNvSpPr/>
          <p:nvPr/>
        </p:nvSpPr>
        <p:spPr>
          <a:xfrm>
            <a:off x="6437376" y="3625596"/>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Cubo lado"/>
          <p:cNvSpPr/>
          <p:nvPr/>
        </p:nvSpPr>
        <p:spPr>
          <a:xfrm>
            <a:off x="6437376" y="3314700"/>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Cubo lado"/>
          <p:cNvSpPr/>
          <p:nvPr/>
        </p:nvSpPr>
        <p:spPr>
          <a:xfrm>
            <a:off x="6437376" y="3003804"/>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Cubo arriba"/>
          <p:cNvSpPr/>
          <p:nvPr/>
        </p:nvSpPr>
        <p:spPr>
          <a:xfrm>
            <a:off x="3127248" y="284378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Cubo arriba"/>
          <p:cNvSpPr/>
          <p:nvPr/>
        </p:nvSpPr>
        <p:spPr>
          <a:xfrm>
            <a:off x="3712464" y="284378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Cubo arriba"/>
          <p:cNvSpPr/>
          <p:nvPr/>
        </p:nvSpPr>
        <p:spPr>
          <a:xfrm>
            <a:off x="4297680" y="284378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ubo arriba"/>
          <p:cNvSpPr/>
          <p:nvPr/>
        </p:nvSpPr>
        <p:spPr>
          <a:xfrm>
            <a:off x="4882896" y="284378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ubo arriba"/>
          <p:cNvSpPr/>
          <p:nvPr/>
        </p:nvSpPr>
        <p:spPr>
          <a:xfrm>
            <a:off x="5468112" y="284378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Cubo arriba"/>
          <p:cNvSpPr/>
          <p:nvPr/>
        </p:nvSpPr>
        <p:spPr>
          <a:xfrm>
            <a:off x="6053328" y="284378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ubo lado"/>
          <p:cNvSpPr/>
          <p:nvPr/>
        </p:nvSpPr>
        <p:spPr>
          <a:xfrm>
            <a:off x="6638544" y="4398264"/>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ubo lado"/>
          <p:cNvSpPr/>
          <p:nvPr/>
        </p:nvSpPr>
        <p:spPr>
          <a:xfrm>
            <a:off x="6638544" y="4087368"/>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ubo lado"/>
          <p:cNvSpPr/>
          <p:nvPr/>
        </p:nvSpPr>
        <p:spPr>
          <a:xfrm>
            <a:off x="6638544" y="3776472"/>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ubo lado"/>
          <p:cNvSpPr/>
          <p:nvPr/>
        </p:nvSpPr>
        <p:spPr>
          <a:xfrm>
            <a:off x="6638544" y="3465576"/>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ubo lado"/>
          <p:cNvSpPr/>
          <p:nvPr/>
        </p:nvSpPr>
        <p:spPr>
          <a:xfrm>
            <a:off x="6638544" y="3154680"/>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Cubo lado"/>
          <p:cNvSpPr/>
          <p:nvPr/>
        </p:nvSpPr>
        <p:spPr>
          <a:xfrm>
            <a:off x="6638544" y="2843784"/>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ubo arriba"/>
          <p:cNvSpPr/>
          <p:nvPr/>
        </p:nvSpPr>
        <p:spPr>
          <a:xfrm>
            <a:off x="3328416" y="268376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FFAB40">
              <a:alpha val="75000"/>
            </a:srgbClr>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Cubo arriba"/>
          <p:cNvSpPr/>
          <p:nvPr/>
        </p:nvSpPr>
        <p:spPr>
          <a:xfrm>
            <a:off x="3913632" y="268376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Cubo arriba"/>
          <p:cNvSpPr/>
          <p:nvPr/>
        </p:nvSpPr>
        <p:spPr>
          <a:xfrm>
            <a:off x="4498848" y="268376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Cubo arriba"/>
          <p:cNvSpPr/>
          <p:nvPr/>
        </p:nvSpPr>
        <p:spPr>
          <a:xfrm>
            <a:off x="5084064" y="268376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Cubo arriba"/>
          <p:cNvSpPr/>
          <p:nvPr/>
        </p:nvSpPr>
        <p:spPr>
          <a:xfrm>
            <a:off x="5669280" y="268376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Cubo arriba"/>
          <p:cNvSpPr/>
          <p:nvPr/>
        </p:nvSpPr>
        <p:spPr>
          <a:xfrm>
            <a:off x="6254496" y="268376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Cubo lado"/>
          <p:cNvSpPr/>
          <p:nvPr/>
        </p:nvSpPr>
        <p:spPr>
          <a:xfrm>
            <a:off x="6839712" y="4238244"/>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Cubo lado"/>
          <p:cNvSpPr/>
          <p:nvPr/>
        </p:nvSpPr>
        <p:spPr>
          <a:xfrm>
            <a:off x="6839712" y="3927348"/>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Cubo lado"/>
          <p:cNvSpPr/>
          <p:nvPr/>
        </p:nvSpPr>
        <p:spPr>
          <a:xfrm>
            <a:off x="6839712" y="3616452"/>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Cubo lado"/>
          <p:cNvSpPr/>
          <p:nvPr/>
        </p:nvSpPr>
        <p:spPr>
          <a:xfrm>
            <a:off x="6839712" y="3305556"/>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Cubo lado"/>
          <p:cNvSpPr/>
          <p:nvPr/>
        </p:nvSpPr>
        <p:spPr>
          <a:xfrm>
            <a:off x="6839712" y="2994660"/>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FFAB40">
              <a:alpha val="75000"/>
            </a:srgbClr>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Cubo lado"/>
          <p:cNvSpPr/>
          <p:nvPr/>
        </p:nvSpPr>
        <p:spPr>
          <a:xfrm>
            <a:off x="6839712" y="2683764"/>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Cubo arriba"/>
          <p:cNvSpPr/>
          <p:nvPr/>
        </p:nvSpPr>
        <p:spPr>
          <a:xfrm>
            <a:off x="3529584" y="252374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Cubo arriba"/>
          <p:cNvSpPr/>
          <p:nvPr/>
        </p:nvSpPr>
        <p:spPr>
          <a:xfrm>
            <a:off x="4114800" y="252374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Cubo arriba"/>
          <p:cNvSpPr/>
          <p:nvPr/>
        </p:nvSpPr>
        <p:spPr>
          <a:xfrm>
            <a:off x="4700016" y="252374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Cubo arriba"/>
          <p:cNvSpPr/>
          <p:nvPr/>
        </p:nvSpPr>
        <p:spPr>
          <a:xfrm>
            <a:off x="5285232" y="252374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Cubo arriba"/>
          <p:cNvSpPr/>
          <p:nvPr/>
        </p:nvSpPr>
        <p:spPr>
          <a:xfrm>
            <a:off x="5870448" y="252374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Cubo arriba"/>
          <p:cNvSpPr/>
          <p:nvPr/>
        </p:nvSpPr>
        <p:spPr>
          <a:xfrm>
            <a:off x="6455664" y="252374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Cubo lado"/>
          <p:cNvSpPr/>
          <p:nvPr/>
        </p:nvSpPr>
        <p:spPr>
          <a:xfrm>
            <a:off x="7040880" y="4078224"/>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Cubo lado"/>
          <p:cNvSpPr/>
          <p:nvPr/>
        </p:nvSpPr>
        <p:spPr>
          <a:xfrm>
            <a:off x="7040880" y="3767328"/>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Cubo lado"/>
          <p:cNvSpPr/>
          <p:nvPr/>
        </p:nvSpPr>
        <p:spPr>
          <a:xfrm>
            <a:off x="7040880" y="3456432"/>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Cubo lado"/>
          <p:cNvSpPr/>
          <p:nvPr/>
        </p:nvSpPr>
        <p:spPr>
          <a:xfrm>
            <a:off x="7040880" y="3145536"/>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Cubo lado"/>
          <p:cNvSpPr/>
          <p:nvPr/>
        </p:nvSpPr>
        <p:spPr>
          <a:xfrm>
            <a:off x="7040880" y="2834640"/>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Cubo lado"/>
          <p:cNvSpPr/>
          <p:nvPr/>
        </p:nvSpPr>
        <p:spPr>
          <a:xfrm>
            <a:off x="7040880" y="2523744"/>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Cubo arriba"/>
          <p:cNvSpPr/>
          <p:nvPr/>
        </p:nvSpPr>
        <p:spPr>
          <a:xfrm>
            <a:off x="3730752" y="236372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Cubo arriba"/>
          <p:cNvSpPr/>
          <p:nvPr/>
        </p:nvSpPr>
        <p:spPr>
          <a:xfrm>
            <a:off x="4315968" y="236372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Cubo arriba"/>
          <p:cNvSpPr/>
          <p:nvPr/>
        </p:nvSpPr>
        <p:spPr>
          <a:xfrm>
            <a:off x="4901184" y="236372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Cubo arriba"/>
          <p:cNvSpPr/>
          <p:nvPr/>
        </p:nvSpPr>
        <p:spPr>
          <a:xfrm>
            <a:off x="5486400" y="236372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Cubo arriba"/>
          <p:cNvSpPr/>
          <p:nvPr/>
        </p:nvSpPr>
        <p:spPr>
          <a:xfrm>
            <a:off x="6071616" y="236372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Cubo arriba"/>
          <p:cNvSpPr/>
          <p:nvPr/>
        </p:nvSpPr>
        <p:spPr>
          <a:xfrm>
            <a:off x="6656832" y="236372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Cubo lado"/>
          <p:cNvSpPr/>
          <p:nvPr/>
        </p:nvSpPr>
        <p:spPr>
          <a:xfrm>
            <a:off x="7242048" y="3918204"/>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Cubo lado"/>
          <p:cNvSpPr/>
          <p:nvPr/>
        </p:nvSpPr>
        <p:spPr>
          <a:xfrm>
            <a:off x="7242048" y="3607308"/>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Cubo lado"/>
          <p:cNvSpPr/>
          <p:nvPr/>
        </p:nvSpPr>
        <p:spPr>
          <a:xfrm>
            <a:off x="7242048" y="3296412"/>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Cubo lado"/>
          <p:cNvSpPr/>
          <p:nvPr/>
        </p:nvSpPr>
        <p:spPr>
          <a:xfrm>
            <a:off x="7242048" y="2985516"/>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Cubo lado"/>
          <p:cNvSpPr/>
          <p:nvPr/>
        </p:nvSpPr>
        <p:spPr>
          <a:xfrm>
            <a:off x="7242048" y="2674620"/>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Cubo lado"/>
          <p:cNvSpPr/>
          <p:nvPr/>
        </p:nvSpPr>
        <p:spPr>
          <a:xfrm>
            <a:off x="7242048" y="2363724"/>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Cubo arriba"/>
          <p:cNvSpPr/>
          <p:nvPr/>
        </p:nvSpPr>
        <p:spPr>
          <a:xfrm>
            <a:off x="3931920" y="220370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Cubo arriba"/>
          <p:cNvSpPr/>
          <p:nvPr/>
        </p:nvSpPr>
        <p:spPr>
          <a:xfrm>
            <a:off x="4517136" y="220370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Cubo arriba"/>
          <p:cNvSpPr/>
          <p:nvPr/>
        </p:nvSpPr>
        <p:spPr>
          <a:xfrm>
            <a:off x="5102352" y="220370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Cubo arriba"/>
          <p:cNvSpPr/>
          <p:nvPr/>
        </p:nvSpPr>
        <p:spPr>
          <a:xfrm>
            <a:off x="5687568" y="220370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Cubo arriba"/>
          <p:cNvSpPr/>
          <p:nvPr/>
        </p:nvSpPr>
        <p:spPr>
          <a:xfrm>
            <a:off x="6272784" y="220370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Cubo arriba"/>
          <p:cNvSpPr/>
          <p:nvPr/>
        </p:nvSpPr>
        <p:spPr>
          <a:xfrm>
            <a:off x="6858000" y="220370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Cubo lado"/>
          <p:cNvSpPr/>
          <p:nvPr/>
        </p:nvSpPr>
        <p:spPr>
          <a:xfrm>
            <a:off x="7443216" y="3758184"/>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Cubo lado"/>
          <p:cNvSpPr/>
          <p:nvPr/>
        </p:nvSpPr>
        <p:spPr>
          <a:xfrm>
            <a:off x="7443216" y="3447288"/>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Cubo lado"/>
          <p:cNvSpPr/>
          <p:nvPr/>
        </p:nvSpPr>
        <p:spPr>
          <a:xfrm>
            <a:off x="7443216" y="3136392"/>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Cubo lado"/>
          <p:cNvSpPr/>
          <p:nvPr/>
        </p:nvSpPr>
        <p:spPr>
          <a:xfrm>
            <a:off x="7443216" y="2825496"/>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Cubo lado"/>
          <p:cNvSpPr/>
          <p:nvPr/>
        </p:nvSpPr>
        <p:spPr>
          <a:xfrm>
            <a:off x="7443216" y="2514600"/>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Cubo lado"/>
          <p:cNvSpPr/>
          <p:nvPr/>
        </p:nvSpPr>
        <p:spPr>
          <a:xfrm>
            <a:off x="7443216" y="2203704"/>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Cubo arriba"/>
          <p:cNvSpPr/>
          <p:nvPr/>
        </p:nvSpPr>
        <p:spPr>
          <a:xfrm>
            <a:off x="4133088" y="204368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Cubo arriba"/>
          <p:cNvSpPr/>
          <p:nvPr/>
        </p:nvSpPr>
        <p:spPr>
          <a:xfrm>
            <a:off x="4718304" y="204368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Cubo arriba"/>
          <p:cNvSpPr/>
          <p:nvPr/>
        </p:nvSpPr>
        <p:spPr>
          <a:xfrm>
            <a:off x="5303520" y="204368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85D5E6">
              <a:alpha val="75000"/>
            </a:srgbClr>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Cubo arriba"/>
          <p:cNvSpPr/>
          <p:nvPr/>
        </p:nvSpPr>
        <p:spPr>
          <a:xfrm>
            <a:off x="5888736" y="204368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Cubo arriba"/>
          <p:cNvSpPr/>
          <p:nvPr/>
        </p:nvSpPr>
        <p:spPr>
          <a:xfrm>
            <a:off x="6473952" y="204368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Cubo arriba"/>
          <p:cNvSpPr/>
          <p:nvPr/>
        </p:nvSpPr>
        <p:spPr>
          <a:xfrm>
            <a:off x="7059168" y="2043684"/>
            <a:ext cx="786384" cy="160020"/>
          </a:xfrm>
          <a:custGeom>
            <a:avLst/>
            <a:gdLst/>
            <a:ahLst/>
            <a:cxnLst/>
            <a:rect l="l" t="t" r="r" b="b"/>
            <a:pathLst>
              <a:path w="786384" h="160020">
                <a:moveTo>
                  <a:pt x="0" y="160020"/>
                </a:moveTo>
                <a:lnTo>
                  <a:pt x="585216" y="160020"/>
                </a:lnTo>
                <a:lnTo>
                  <a:pt x="786384" y="0"/>
                </a:lnTo>
                <a:lnTo>
                  <a:pt x="201168" y="0"/>
                </a:lnTo>
                <a:close/>
              </a:path>
            </a:pathLst>
          </a:custGeom>
          <a:solidFill>
            <a:srgbClr val="1B407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Cubo lado"/>
          <p:cNvSpPr/>
          <p:nvPr/>
        </p:nvSpPr>
        <p:spPr>
          <a:xfrm>
            <a:off x="7644384" y="3598164"/>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Cubo lado"/>
          <p:cNvSpPr/>
          <p:nvPr/>
        </p:nvSpPr>
        <p:spPr>
          <a:xfrm>
            <a:off x="7644384" y="3287268"/>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85D5E6">
              <a:alpha val="75000"/>
            </a:srgbClr>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Cubo lado"/>
          <p:cNvSpPr/>
          <p:nvPr/>
        </p:nvSpPr>
        <p:spPr>
          <a:xfrm>
            <a:off x="7644384" y="2976372"/>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Cubo lado"/>
          <p:cNvSpPr/>
          <p:nvPr/>
        </p:nvSpPr>
        <p:spPr>
          <a:xfrm>
            <a:off x="7644384" y="2665476"/>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Cubo lado"/>
          <p:cNvSpPr/>
          <p:nvPr/>
        </p:nvSpPr>
        <p:spPr>
          <a:xfrm>
            <a:off x="7644384" y="2354580"/>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Cubo lado"/>
          <p:cNvSpPr/>
          <p:nvPr/>
        </p:nvSpPr>
        <p:spPr>
          <a:xfrm>
            <a:off x="7644384" y="2043684"/>
            <a:ext cx="201168" cy="470916"/>
          </a:xfrm>
          <a:custGeom>
            <a:avLst/>
            <a:gdLst/>
            <a:ahLst/>
            <a:cxnLst/>
            <a:rect l="l" t="t" r="r" b="b"/>
            <a:pathLst>
              <a:path w="201168" h="470916">
                <a:moveTo>
                  <a:pt x="0" y="470916"/>
                </a:moveTo>
                <a:lnTo>
                  <a:pt x="201168" y="310896"/>
                </a:lnTo>
                <a:lnTo>
                  <a:pt x="201168" y="0"/>
                </a:lnTo>
                <a:lnTo>
                  <a:pt x="0" y="160020"/>
                </a:lnTo>
                <a:close/>
              </a:path>
            </a:pathLst>
          </a:custGeom>
          <a:solidFill>
            <a:srgbClr val="061D3B"/>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Cubo frente"/>
          <p:cNvSpPr/>
          <p:nvPr/>
        </p:nvSpPr>
        <p:spPr>
          <a:xfrm>
            <a:off x="2926080" y="4718304"/>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 name="Cubo frente"/>
          <p:cNvSpPr/>
          <p:nvPr/>
        </p:nvSpPr>
        <p:spPr>
          <a:xfrm>
            <a:off x="3511296" y="4718304"/>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Cubo frente"/>
          <p:cNvSpPr/>
          <p:nvPr/>
        </p:nvSpPr>
        <p:spPr>
          <a:xfrm>
            <a:off x="4096512" y="4718304"/>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4" name="Cubo frente"/>
          <p:cNvSpPr/>
          <p:nvPr/>
        </p:nvSpPr>
        <p:spPr>
          <a:xfrm>
            <a:off x="4681728" y="4718304"/>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5" name="Cubo frente"/>
          <p:cNvSpPr/>
          <p:nvPr/>
        </p:nvSpPr>
        <p:spPr>
          <a:xfrm>
            <a:off x="5266944" y="4718304"/>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6" name="Cubo frente"/>
          <p:cNvSpPr/>
          <p:nvPr/>
        </p:nvSpPr>
        <p:spPr>
          <a:xfrm>
            <a:off x="5852160" y="4718304"/>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7" name="Cubo frente"/>
          <p:cNvSpPr/>
          <p:nvPr/>
        </p:nvSpPr>
        <p:spPr>
          <a:xfrm>
            <a:off x="2926080" y="4407408"/>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8" name="Cubo frente"/>
          <p:cNvSpPr/>
          <p:nvPr/>
        </p:nvSpPr>
        <p:spPr>
          <a:xfrm>
            <a:off x="3511296" y="4407408"/>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9" name="Cubo frente"/>
          <p:cNvSpPr/>
          <p:nvPr/>
        </p:nvSpPr>
        <p:spPr>
          <a:xfrm>
            <a:off x="4096512" y="4407408"/>
            <a:ext cx="585216" cy="310896"/>
          </a:xfrm>
          <a:prstGeom prst="rect">
            <a:avLst/>
          </a:prstGeom>
          <a:solidFill>
            <a:srgbClr val="85D5E6"/>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TextBox 99"/>
          <p:cNvSpPr txBox="1"/>
          <p:nvPr/>
        </p:nvSpPr>
        <p:spPr>
          <a:xfrm>
            <a:off x="4096512" y="4407408"/>
            <a:ext cx="585216" cy="310896"/>
          </a:xfrm>
          <a:prstGeom prst="rect">
            <a:avLst/>
          </a:prstGeom>
          <a:noFill/>
        </p:spPr>
        <p:txBody>
          <a:bodyPr wrap="square" lIns="0" tIns="0" rIns="0" bIns="0" anchor="ctr">
            <a:spAutoFit/>
          </a:bodyPr>
          <a:lstStyle/>
          <a:p>
            <a:pPr algn="ctr">
              <a:spcAft>
                <a:spcPts val="600"/>
              </a:spcAft>
            </a:pPr>
            <a:r>
              <a:rPr sz="1400" b="1" i="0">
                <a:solidFill>
                  <a:srgbClr val="001633"/>
                </a:solidFill>
                <a:latin typeface="Montserrat"/>
              </a:rPr>
              <a:t>B</a:t>
            </a:r>
          </a:p>
        </p:txBody>
      </p:sp>
      <p:sp>
        <p:nvSpPr>
          <p:cNvPr id="101" name="Cubo frente"/>
          <p:cNvSpPr/>
          <p:nvPr/>
        </p:nvSpPr>
        <p:spPr>
          <a:xfrm>
            <a:off x="4681728" y="4407408"/>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 name="Cubo frente"/>
          <p:cNvSpPr/>
          <p:nvPr/>
        </p:nvSpPr>
        <p:spPr>
          <a:xfrm>
            <a:off x="5266944" y="4407408"/>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3" name="Cubo frente"/>
          <p:cNvSpPr/>
          <p:nvPr/>
        </p:nvSpPr>
        <p:spPr>
          <a:xfrm>
            <a:off x="5852160" y="4407408"/>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4" name="Cubo frente"/>
          <p:cNvSpPr/>
          <p:nvPr/>
        </p:nvSpPr>
        <p:spPr>
          <a:xfrm>
            <a:off x="2926080" y="4096512"/>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5" name="Cubo frente"/>
          <p:cNvSpPr/>
          <p:nvPr/>
        </p:nvSpPr>
        <p:spPr>
          <a:xfrm>
            <a:off x="3511296" y="4096512"/>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Cubo frente"/>
          <p:cNvSpPr/>
          <p:nvPr/>
        </p:nvSpPr>
        <p:spPr>
          <a:xfrm>
            <a:off x="4096512" y="4096512"/>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7" name="Cubo frente"/>
          <p:cNvSpPr/>
          <p:nvPr/>
        </p:nvSpPr>
        <p:spPr>
          <a:xfrm>
            <a:off x="4681728" y="4096512"/>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8" name="Cubo frente"/>
          <p:cNvSpPr/>
          <p:nvPr/>
        </p:nvSpPr>
        <p:spPr>
          <a:xfrm>
            <a:off x="5266944" y="4096512"/>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9" name="Cubo frente"/>
          <p:cNvSpPr/>
          <p:nvPr/>
        </p:nvSpPr>
        <p:spPr>
          <a:xfrm>
            <a:off x="5852160" y="4096512"/>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0" name="Cubo frente"/>
          <p:cNvSpPr/>
          <p:nvPr/>
        </p:nvSpPr>
        <p:spPr>
          <a:xfrm>
            <a:off x="2926080" y="3785616"/>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1" name="Cubo frente"/>
          <p:cNvSpPr/>
          <p:nvPr/>
        </p:nvSpPr>
        <p:spPr>
          <a:xfrm>
            <a:off x="3511296" y="3785616"/>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2" name="Cubo frente"/>
          <p:cNvSpPr/>
          <p:nvPr/>
        </p:nvSpPr>
        <p:spPr>
          <a:xfrm>
            <a:off x="4096512" y="3785616"/>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3" name="Cubo frente"/>
          <p:cNvSpPr/>
          <p:nvPr/>
        </p:nvSpPr>
        <p:spPr>
          <a:xfrm>
            <a:off x="4681728" y="3785616"/>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4" name="Cubo frente"/>
          <p:cNvSpPr/>
          <p:nvPr/>
        </p:nvSpPr>
        <p:spPr>
          <a:xfrm>
            <a:off x="5266944" y="3785616"/>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5" name="Cubo frente"/>
          <p:cNvSpPr/>
          <p:nvPr/>
        </p:nvSpPr>
        <p:spPr>
          <a:xfrm>
            <a:off x="5852160" y="3785616"/>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6" name="Cubo frente"/>
          <p:cNvSpPr/>
          <p:nvPr/>
        </p:nvSpPr>
        <p:spPr>
          <a:xfrm>
            <a:off x="2926080" y="3474720"/>
            <a:ext cx="585216" cy="310896"/>
          </a:xfrm>
          <a:prstGeom prst="rect">
            <a:avLst/>
          </a:prstGeom>
          <a:solidFill>
            <a:srgbClr val="FFAB40"/>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7" name="TextBox 116"/>
          <p:cNvSpPr txBox="1"/>
          <p:nvPr/>
        </p:nvSpPr>
        <p:spPr>
          <a:xfrm>
            <a:off x="2926080" y="3474720"/>
            <a:ext cx="585216" cy="310896"/>
          </a:xfrm>
          <a:prstGeom prst="rect">
            <a:avLst/>
          </a:prstGeom>
          <a:noFill/>
        </p:spPr>
        <p:txBody>
          <a:bodyPr wrap="square" lIns="0" tIns="0" rIns="0" bIns="0" anchor="ctr">
            <a:spAutoFit/>
          </a:bodyPr>
          <a:lstStyle/>
          <a:p>
            <a:pPr algn="ctr">
              <a:spcAft>
                <a:spcPts val="600"/>
              </a:spcAft>
            </a:pPr>
            <a:r>
              <a:rPr sz="1400" b="1" i="0">
                <a:solidFill>
                  <a:srgbClr val="001633"/>
                </a:solidFill>
                <a:latin typeface="Montserrat"/>
              </a:rPr>
              <a:t>A</a:t>
            </a:r>
          </a:p>
        </p:txBody>
      </p:sp>
      <p:sp>
        <p:nvSpPr>
          <p:cNvPr id="118" name="Cubo frente"/>
          <p:cNvSpPr/>
          <p:nvPr/>
        </p:nvSpPr>
        <p:spPr>
          <a:xfrm>
            <a:off x="3511296" y="3474720"/>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9" name="Cubo frente"/>
          <p:cNvSpPr/>
          <p:nvPr/>
        </p:nvSpPr>
        <p:spPr>
          <a:xfrm>
            <a:off x="4096512" y="3474720"/>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0" name="Cubo frente"/>
          <p:cNvSpPr/>
          <p:nvPr/>
        </p:nvSpPr>
        <p:spPr>
          <a:xfrm>
            <a:off x="4681728" y="3474720"/>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1" name="Cubo frente"/>
          <p:cNvSpPr/>
          <p:nvPr/>
        </p:nvSpPr>
        <p:spPr>
          <a:xfrm>
            <a:off x="5266944" y="3474720"/>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2" name="Cubo frente"/>
          <p:cNvSpPr/>
          <p:nvPr/>
        </p:nvSpPr>
        <p:spPr>
          <a:xfrm>
            <a:off x="5852160" y="3474720"/>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 name="Cubo frente"/>
          <p:cNvSpPr/>
          <p:nvPr/>
        </p:nvSpPr>
        <p:spPr>
          <a:xfrm>
            <a:off x="2926080" y="3163824"/>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4" name="Cubo frente"/>
          <p:cNvSpPr/>
          <p:nvPr/>
        </p:nvSpPr>
        <p:spPr>
          <a:xfrm>
            <a:off x="3511296" y="3163824"/>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5" name="Cubo frente"/>
          <p:cNvSpPr/>
          <p:nvPr/>
        </p:nvSpPr>
        <p:spPr>
          <a:xfrm>
            <a:off x="4096512" y="3163824"/>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6" name="Cubo frente"/>
          <p:cNvSpPr/>
          <p:nvPr/>
        </p:nvSpPr>
        <p:spPr>
          <a:xfrm>
            <a:off x="4681728" y="3163824"/>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7" name="Cubo frente"/>
          <p:cNvSpPr/>
          <p:nvPr/>
        </p:nvSpPr>
        <p:spPr>
          <a:xfrm>
            <a:off x="5266944" y="3163824"/>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8" name="Cubo frente"/>
          <p:cNvSpPr/>
          <p:nvPr/>
        </p:nvSpPr>
        <p:spPr>
          <a:xfrm>
            <a:off x="5852160" y="3163824"/>
            <a:ext cx="585216" cy="310896"/>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129" name="Arista"/>
          <p:cNvCxnSpPr/>
          <p:nvPr/>
        </p:nvCxnSpPr>
        <p:spPr>
          <a:xfrm>
            <a:off x="2926080" y="5029200"/>
            <a:ext cx="3511296" cy="0"/>
          </a:xfrm>
          <a:prstGeom prst="line">
            <a:avLst/>
          </a:prstGeom>
          <a:ln w="19050">
            <a:solidFill>
              <a:srgbClr val="5B7FAE"/>
            </a:solidFill>
          </a:ln>
        </p:spPr>
        <p:style>
          <a:lnRef idx="2">
            <a:schemeClr val="accent1"/>
          </a:lnRef>
          <a:fillRef idx="0">
            <a:schemeClr val="accent1"/>
          </a:fillRef>
          <a:effectRef idx="1">
            <a:schemeClr val="accent1"/>
          </a:effectRef>
          <a:fontRef idx="minor">
            <a:schemeClr val="tx1"/>
          </a:fontRef>
        </p:style>
      </p:cxnSp>
      <p:cxnSp>
        <p:nvCxnSpPr>
          <p:cNvPr id="130" name="Arista"/>
          <p:cNvCxnSpPr/>
          <p:nvPr/>
        </p:nvCxnSpPr>
        <p:spPr>
          <a:xfrm flipV="1">
            <a:off x="2926080" y="3163824"/>
            <a:ext cx="0" cy="1865376"/>
          </a:xfrm>
          <a:prstGeom prst="line">
            <a:avLst/>
          </a:prstGeom>
          <a:ln w="19050">
            <a:solidFill>
              <a:srgbClr val="5B7FAE"/>
            </a:solidFill>
          </a:ln>
        </p:spPr>
        <p:style>
          <a:lnRef idx="2">
            <a:schemeClr val="accent1"/>
          </a:lnRef>
          <a:fillRef idx="0">
            <a:schemeClr val="accent1"/>
          </a:fillRef>
          <a:effectRef idx="1">
            <a:schemeClr val="accent1"/>
          </a:effectRef>
          <a:fontRef idx="minor">
            <a:schemeClr val="tx1"/>
          </a:fontRef>
        </p:style>
      </p:cxnSp>
      <p:cxnSp>
        <p:nvCxnSpPr>
          <p:cNvPr id="131" name="Arista"/>
          <p:cNvCxnSpPr/>
          <p:nvPr/>
        </p:nvCxnSpPr>
        <p:spPr>
          <a:xfrm>
            <a:off x="2926080" y="3163824"/>
            <a:ext cx="3511296" cy="0"/>
          </a:xfrm>
          <a:prstGeom prst="line">
            <a:avLst/>
          </a:prstGeom>
          <a:ln w="19050">
            <a:solidFill>
              <a:srgbClr val="5B7FAE"/>
            </a:solidFill>
          </a:ln>
        </p:spPr>
        <p:style>
          <a:lnRef idx="2">
            <a:schemeClr val="accent1"/>
          </a:lnRef>
          <a:fillRef idx="0">
            <a:schemeClr val="accent1"/>
          </a:fillRef>
          <a:effectRef idx="1">
            <a:schemeClr val="accent1"/>
          </a:effectRef>
          <a:fontRef idx="minor">
            <a:schemeClr val="tx1"/>
          </a:fontRef>
        </p:style>
      </p:cxnSp>
      <p:cxnSp>
        <p:nvCxnSpPr>
          <p:cNvPr id="132" name="Arista"/>
          <p:cNvCxnSpPr/>
          <p:nvPr/>
        </p:nvCxnSpPr>
        <p:spPr>
          <a:xfrm flipV="1">
            <a:off x="6437376" y="3163824"/>
            <a:ext cx="0" cy="1865376"/>
          </a:xfrm>
          <a:prstGeom prst="line">
            <a:avLst/>
          </a:prstGeom>
          <a:ln w="19050">
            <a:solidFill>
              <a:srgbClr val="5B7FAE"/>
            </a:solidFill>
          </a:ln>
        </p:spPr>
        <p:style>
          <a:lnRef idx="2">
            <a:schemeClr val="accent1"/>
          </a:lnRef>
          <a:fillRef idx="0">
            <a:schemeClr val="accent1"/>
          </a:fillRef>
          <a:effectRef idx="1">
            <a:schemeClr val="accent1"/>
          </a:effectRef>
          <a:fontRef idx="minor">
            <a:schemeClr val="tx1"/>
          </a:fontRef>
        </p:style>
      </p:cxnSp>
      <p:cxnSp>
        <p:nvCxnSpPr>
          <p:cNvPr id="133" name="Arista"/>
          <p:cNvCxnSpPr/>
          <p:nvPr/>
        </p:nvCxnSpPr>
        <p:spPr>
          <a:xfrm flipV="1">
            <a:off x="2926080" y="2043684"/>
            <a:ext cx="1408176" cy="1120140"/>
          </a:xfrm>
          <a:prstGeom prst="line">
            <a:avLst/>
          </a:prstGeom>
          <a:ln w="19050">
            <a:solidFill>
              <a:srgbClr val="5B7FAE"/>
            </a:solidFill>
          </a:ln>
        </p:spPr>
        <p:style>
          <a:lnRef idx="2">
            <a:schemeClr val="accent1"/>
          </a:lnRef>
          <a:fillRef idx="0">
            <a:schemeClr val="accent1"/>
          </a:fillRef>
          <a:effectRef idx="1">
            <a:schemeClr val="accent1"/>
          </a:effectRef>
          <a:fontRef idx="minor">
            <a:schemeClr val="tx1"/>
          </a:fontRef>
        </p:style>
      </p:cxnSp>
      <p:cxnSp>
        <p:nvCxnSpPr>
          <p:cNvPr id="134" name="Arista"/>
          <p:cNvCxnSpPr/>
          <p:nvPr/>
        </p:nvCxnSpPr>
        <p:spPr>
          <a:xfrm flipV="1">
            <a:off x="6437376" y="2043684"/>
            <a:ext cx="1408176" cy="1120140"/>
          </a:xfrm>
          <a:prstGeom prst="line">
            <a:avLst/>
          </a:prstGeom>
          <a:ln w="19050">
            <a:solidFill>
              <a:srgbClr val="5B7FAE"/>
            </a:solidFill>
          </a:ln>
        </p:spPr>
        <p:style>
          <a:lnRef idx="2">
            <a:schemeClr val="accent1"/>
          </a:lnRef>
          <a:fillRef idx="0">
            <a:schemeClr val="accent1"/>
          </a:fillRef>
          <a:effectRef idx="1">
            <a:schemeClr val="accent1"/>
          </a:effectRef>
          <a:fontRef idx="minor">
            <a:schemeClr val="tx1"/>
          </a:fontRef>
        </p:style>
      </p:cxnSp>
      <p:cxnSp>
        <p:nvCxnSpPr>
          <p:cNvPr id="135" name="Arista"/>
          <p:cNvCxnSpPr/>
          <p:nvPr/>
        </p:nvCxnSpPr>
        <p:spPr>
          <a:xfrm flipV="1">
            <a:off x="6437376" y="3909060"/>
            <a:ext cx="1408176" cy="1120140"/>
          </a:xfrm>
          <a:prstGeom prst="line">
            <a:avLst/>
          </a:prstGeom>
          <a:ln w="19050">
            <a:solidFill>
              <a:srgbClr val="5B7FAE"/>
            </a:solidFill>
          </a:ln>
        </p:spPr>
        <p:style>
          <a:lnRef idx="2">
            <a:schemeClr val="accent1"/>
          </a:lnRef>
          <a:fillRef idx="0">
            <a:schemeClr val="accent1"/>
          </a:fillRef>
          <a:effectRef idx="1">
            <a:schemeClr val="accent1"/>
          </a:effectRef>
          <a:fontRef idx="minor">
            <a:schemeClr val="tx1"/>
          </a:fontRef>
        </p:style>
      </p:cxnSp>
      <p:cxnSp>
        <p:nvCxnSpPr>
          <p:cNvPr id="136" name="Arista"/>
          <p:cNvCxnSpPr/>
          <p:nvPr/>
        </p:nvCxnSpPr>
        <p:spPr>
          <a:xfrm>
            <a:off x="4334256" y="2043684"/>
            <a:ext cx="3511296" cy="0"/>
          </a:xfrm>
          <a:prstGeom prst="line">
            <a:avLst/>
          </a:prstGeom>
          <a:ln w="19050">
            <a:solidFill>
              <a:srgbClr val="5B7FAE"/>
            </a:solidFill>
          </a:ln>
        </p:spPr>
        <p:style>
          <a:lnRef idx="2">
            <a:schemeClr val="accent1"/>
          </a:lnRef>
          <a:fillRef idx="0">
            <a:schemeClr val="accent1"/>
          </a:fillRef>
          <a:effectRef idx="1">
            <a:schemeClr val="accent1"/>
          </a:effectRef>
          <a:fontRef idx="minor">
            <a:schemeClr val="tx1"/>
          </a:fontRef>
        </p:style>
      </p:cxnSp>
      <p:cxnSp>
        <p:nvCxnSpPr>
          <p:cNvPr id="137" name="Arista"/>
          <p:cNvCxnSpPr/>
          <p:nvPr/>
        </p:nvCxnSpPr>
        <p:spPr>
          <a:xfrm>
            <a:off x="7845552" y="2043684"/>
            <a:ext cx="0" cy="1865376"/>
          </a:xfrm>
          <a:prstGeom prst="line">
            <a:avLst/>
          </a:prstGeom>
          <a:ln w="19050">
            <a:solidFill>
              <a:srgbClr val="5B7FAE"/>
            </a:solidFill>
          </a:ln>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1691640" y="4718304"/>
            <a:ext cx="1124712" cy="310896"/>
          </a:xfrm>
          <a:prstGeom prst="rect">
            <a:avLst/>
          </a:prstGeom>
          <a:noFill/>
        </p:spPr>
        <p:txBody>
          <a:bodyPr wrap="square" lIns="0" tIns="0" rIns="0" bIns="0" anchor="ctr">
            <a:spAutoFit/>
          </a:bodyPr>
          <a:lstStyle/>
          <a:p>
            <a:pPr algn="r">
              <a:spcAft>
                <a:spcPts val="600"/>
              </a:spcAft>
            </a:pPr>
            <a:r>
              <a:rPr sz="1000" b="1" i="0">
                <a:solidFill>
                  <a:srgbClr val="FFAB40"/>
                </a:solidFill>
                <a:effectLst>
                  <a:glow rad="63500">
                    <a:srgbClr val="001633">
                      <a:alpha val="85000"/>
                    </a:srgbClr>
                  </a:glow>
                </a:effectLst>
                <a:latin typeface="Montserrat"/>
              </a:rPr>
              <a:t>1 </a:t>
            </a:r>
            <a:r>
              <a:rPr sz="1000" b="0" i="0">
                <a:solidFill>
                  <a:srgbClr val="FFFFFF"/>
                </a:solidFill>
                <a:effectLst>
                  <a:glow rad="63500">
                    <a:srgbClr val="001633">
                      <a:alpha val="85000"/>
                    </a:srgbClr>
                  </a:glow>
                </a:effectLst>
                <a:latin typeface="Montserrat"/>
              </a:rPr>
              <a:t>Informacional</a:t>
            </a:r>
          </a:p>
        </p:txBody>
      </p:sp>
      <p:sp>
        <p:nvSpPr>
          <p:cNvPr id="139" name="TextBox 138"/>
          <p:cNvSpPr txBox="1"/>
          <p:nvPr/>
        </p:nvSpPr>
        <p:spPr>
          <a:xfrm>
            <a:off x="1691640" y="4407408"/>
            <a:ext cx="1124712" cy="310896"/>
          </a:xfrm>
          <a:prstGeom prst="rect">
            <a:avLst/>
          </a:prstGeom>
          <a:noFill/>
        </p:spPr>
        <p:txBody>
          <a:bodyPr wrap="square" lIns="0" tIns="0" rIns="0" bIns="0" anchor="ctr">
            <a:spAutoFit/>
          </a:bodyPr>
          <a:lstStyle/>
          <a:p>
            <a:pPr algn="r">
              <a:spcAft>
                <a:spcPts val="600"/>
              </a:spcAft>
            </a:pPr>
            <a:r>
              <a:rPr sz="1000" b="1" i="0">
                <a:solidFill>
                  <a:srgbClr val="FFAB40"/>
                </a:solidFill>
                <a:effectLst>
                  <a:glow rad="63500">
                    <a:srgbClr val="001633">
                      <a:alpha val="85000"/>
                    </a:srgbClr>
                  </a:glow>
                </a:effectLst>
                <a:latin typeface="Montserrat"/>
              </a:rPr>
              <a:t>2 </a:t>
            </a:r>
            <a:r>
              <a:rPr sz="1000" b="0" i="0">
                <a:solidFill>
                  <a:srgbClr val="FFFFFF"/>
                </a:solidFill>
                <a:effectLst>
                  <a:glow rad="63500">
                    <a:srgbClr val="001633">
                      <a:alpha val="85000"/>
                    </a:srgbClr>
                  </a:glow>
                </a:effectLst>
                <a:latin typeface="Montserrat"/>
              </a:rPr>
              <a:t>Componente</a:t>
            </a:r>
          </a:p>
        </p:txBody>
      </p:sp>
      <p:sp>
        <p:nvSpPr>
          <p:cNvPr id="140" name="TextBox 139"/>
          <p:cNvSpPr txBox="1"/>
          <p:nvPr/>
        </p:nvSpPr>
        <p:spPr>
          <a:xfrm>
            <a:off x="1691640" y="4096512"/>
            <a:ext cx="1124712" cy="310896"/>
          </a:xfrm>
          <a:prstGeom prst="rect">
            <a:avLst/>
          </a:prstGeom>
          <a:noFill/>
        </p:spPr>
        <p:txBody>
          <a:bodyPr wrap="square" lIns="0" tIns="0" rIns="0" bIns="0" anchor="ctr">
            <a:spAutoFit/>
          </a:bodyPr>
          <a:lstStyle/>
          <a:p>
            <a:pPr algn="r">
              <a:spcAft>
                <a:spcPts val="600"/>
              </a:spcAft>
            </a:pPr>
            <a:r>
              <a:rPr sz="1000" b="1" i="0">
                <a:solidFill>
                  <a:srgbClr val="FFAB40"/>
                </a:solidFill>
                <a:effectLst>
                  <a:glow rad="63500">
                    <a:srgbClr val="001633">
                      <a:alpha val="85000"/>
                    </a:srgbClr>
                  </a:glow>
                </a:effectLst>
                <a:latin typeface="Montserrat"/>
              </a:rPr>
              <a:t>3 </a:t>
            </a:r>
            <a:r>
              <a:rPr sz="1000" b="0" i="0">
                <a:solidFill>
                  <a:srgbClr val="FFFFFF"/>
                </a:solidFill>
                <a:effectLst>
                  <a:glow rad="63500">
                    <a:srgbClr val="001633">
                      <a:alpha val="85000"/>
                    </a:srgbClr>
                  </a:glow>
                </a:effectLst>
                <a:latin typeface="Montserrat"/>
              </a:rPr>
              <a:t>Producto</a:t>
            </a:r>
          </a:p>
        </p:txBody>
      </p:sp>
      <p:sp>
        <p:nvSpPr>
          <p:cNvPr id="141" name="TextBox 140"/>
          <p:cNvSpPr txBox="1"/>
          <p:nvPr/>
        </p:nvSpPr>
        <p:spPr>
          <a:xfrm>
            <a:off x="1691640" y="3785616"/>
            <a:ext cx="1124712" cy="310896"/>
          </a:xfrm>
          <a:prstGeom prst="rect">
            <a:avLst/>
          </a:prstGeom>
          <a:noFill/>
        </p:spPr>
        <p:txBody>
          <a:bodyPr wrap="square" lIns="0" tIns="0" rIns="0" bIns="0" anchor="ctr">
            <a:spAutoFit/>
          </a:bodyPr>
          <a:lstStyle/>
          <a:p>
            <a:pPr algn="r">
              <a:spcAft>
                <a:spcPts val="600"/>
              </a:spcAft>
            </a:pPr>
            <a:r>
              <a:rPr sz="1000" b="1" i="0">
                <a:solidFill>
                  <a:srgbClr val="FFAB40"/>
                </a:solidFill>
                <a:effectLst>
                  <a:glow rad="63500">
                    <a:srgbClr val="001633">
                      <a:alpha val="85000"/>
                    </a:srgbClr>
                  </a:glow>
                </a:effectLst>
                <a:latin typeface="Montserrat"/>
              </a:rPr>
              <a:t>4 </a:t>
            </a:r>
            <a:r>
              <a:rPr sz="1000" b="0" i="0">
                <a:solidFill>
                  <a:srgbClr val="FFFFFF"/>
                </a:solidFill>
                <a:effectLst>
                  <a:glow rad="63500">
                    <a:srgbClr val="001633">
                      <a:alpha val="85000"/>
                    </a:srgbClr>
                  </a:glow>
                </a:effectLst>
                <a:latin typeface="Montserrat"/>
              </a:rPr>
              <a:t>Proceso</a:t>
            </a:r>
          </a:p>
        </p:txBody>
      </p:sp>
      <p:sp>
        <p:nvSpPr>
          <p:cNvPr id="142" name="TextBox 141"/>
          <p:cNvSpPr txBox="1"/>
          <p:nvPr/>
        </p:nvSpPr>
        <p:spPr>
          <a:xfrm>
            <a:off x="1691640" y="3474720"/>
            <a:ext cx="1124712" cy="310896"/>
          </a:xfrm>
          <a:prstGeom prst="rect">
            <a:avLst/>
          </a:prstGeom>
          <a:noFill/>
        </p:spPr>
        <p:txBody>
          <a:bodyPr wrap="square" lIns="0" tIns="0" rIns="0" bIns="0" anchor="ctr">
            <a:spAutoFit/>
          </a:bodyPr>
          <a:lstStyle/>
          <a:p>
            <a:pPr algn="r">
              <a:spcAft>
                <a:spcPts val="600"/>
              </a:spcAft>
            </a:pPr>
            <a:r>
              <a:rPr sz="1000" b="1" i="0">
                <a:solidFill>
                  <a:srgbClr val="FFAB40"/>
                </a:solidFill>
                <a:effectLst>
                  <a:glow rad="63500">
                    <a:srgbClr val="001633">
                      <a:alpha val="85000"/>
                    </a:srgbClr>
                  </a:glow>
                </a:effectLst>
                <a:latin typeface="Montserrat"/>
              </a:rPr>
              <a:t>5 </a:t>
            </a:r>
            <a:r>
              <a:rPr sz="1000" b="0" i="0">
                <a:solidFill>
                  <a:srgbClr val="FFFFFF"/>
                </a:solidFill>
                <a:effectLst>
                  <a:glow rad="63500">
                    <a:srgbClr val="001633">
                      <a:alpha val="85000"/>
                    </a:srgbClr>
                  </a:glow>
                </a:effectLst>
                <a:latin typeface="Montserrat"/>
              </a:rPr>
              <a:t>Sistema</a:t>
            </a:r>
          </a:p>
        </p:txBody>
      </p:sp>
      <p:sp>
        <p:nvSpPr>
          <p:cNvPr id="143" name="TextBox 142"/>
          <p:cNvSpPr txBox="1"/>
          <p:nvPr/>
        </p:nvSpPr>
        <p:spPr>
          <a:xfrm>
            <a:off x="1691640" y="3163824"/>
            <a:ext cx="1124712" cy="310896"/>
          </a:xfrm>
          <a:prstGeom prst="rect">
            <a:avLst/>
          </a:prstGeom>
          <a:noFill/>
        </p:spPr>
        <p:txBody>
          <a:bodyPr wrap="square" lIns="0" tIns="0" rIns="0" bIns="0" anchor="ctr">
            <a:spAutoFit/>
          </a:bodyPr>
          <a:lstStyle/>
          <a:p>
            <a:pPr algn="r">
              <a:spcAft>
                <a:spcPts val="600"/>
              </a:spcAft>
            </a:pPr>
            <a:r>
              <a:rPr sz="1000" b="1" i="0">
                <a:solidFill>
                  <a:srgbClr val="FFAB40"/>
                </a:solidFill>
                <a:effectLst>
                  <a:glow rad="63500">
                    <a:srgbClr val="001633">
                      <a:alpha val="85000"/>
                    </a:srgbClr>
                  </a:glow>
                </a:effectLst>
                <a:latin typeface="Montserrat"/>
              </a:rPr>
              <a:t>6 </a:t>
            </a:r>
            <a:r>
              <a:rPr sz="1000" b="0" i="0">
                <a:solidFill>
                  <a:srgbClr val="FFFFFF"/>
                </a:solidFill>
                <a:effectLst>
                  <a:glow rad="63500">
                    <a:srgbClr val="001633">
                      <a:alpha val="85000"/>
                    </a:srgbClr>
                  </a:glow>
                </a:effectLst>
                <a:latin typeface="Montserrat"/>
              </a:rPr>
              <a:t>Multisistema</a:t>
            </a:r>
          </a:p>
        </p:txBody>
      </p:sp>
      <p:sp>
        <p:nvSpPr>
          <p:cNvPr id="144" name="Eje nivel"/>
          <p:cNvSpPr txBox="1"/>
          <p:nvPr/>
        </p:nvSpPr>
        <p:spPr>
          <a:xfrm rot="16200000">
            <a:off x="155448" y="3849624"/>
            <a:ext cx="2560320" cy="493776"/>
          </a:xfrm>
          <a:prstGeom prst="rect">
            <a:avLst/>
          </a:prstGeom>
          <a:noFill/>
        </p:spPr>
        <p:txBody>
          <a:bodyPr wrap="square" lIns="0" tIns="0" rIns="0" bIns="0" anchor="t">
            <a:spAutoFit/>
          </a:bodyPr>
          <a:lstStyle/>
          <a:p>
            <a:pPr algn="ctr">
              <a:spcAft>
                <a:spcPts val="0"/>
              </a:spcAft>
            </a:pPr>
            <a:r>
              <a:rPr sz="1100" b="1" i="0">
                <a:solidFill>
                  <a:srgbClr val="FFAB40"/>
                </a:solidFill>
                <a:effectLst>
                  <a:glow rad="63500">
                    <a:srgbClr val="001633">
                      <a:alpha val="85000"/>
                    </a:srgbClr>
                  </a:glow>
                </a:effectLst>
                <a:latin typeface="Montserrat"/>
              </a:rPr>
              <a:t>¿DE QUÉ? · NIVEL</a:t>
            </a:r>
          </a:p>
          <a:p>
            <a:pPr algn="ctr">
              <a:spcAft>
                <a:spcPts val="0"/>
              </a:spcAft>
            </a:pPr>
            <a:r>
              <a:rPr sz="800" b="0" i="0">
                <a:solidFill>
                  <a:srgbClr val="A9B8C9"/>
                </a:solidFill>
                <a:effectLst>
                  <a:glow rad="63500">
                    <a:srgbClr val="001633">
                      <a:alpha val="85000"/>
                    </a:srgbClr>
                  </a:glow>
                </a:effectLst>
                <a:latin typeface="Montserrat"/>
              </a:rPr>
              <a:t>de una pieza o un documento a varios sistemas que operan como uno</a:t>
            </a:r>
          </a:p>
        </p:txBody>
      </p:sp>
      <p:sp>
        <p:nvSpPr>
          <p:cNvPr id="145" name="TextBox 144"/>
          <p:cNvSpPr txBox="1"/>
          <p:nvPr/>
        </p:nvSpPr>
        <p:spPr>
          <a:xfrm>
            <a:off x="2926080" y="5084064"/>
            <a:ext cx="585216" cy="384048"/>
          </a:xfrm>
          <a:prstGeom prst="rect">
            <a:avLst/>
          </a:prstGeom>
          <a:noFill/>
        </p:spPr>
        <p:txBody>
          <a:bodyPr wrap="square" lIns="0" tIns="0" rIns="0" bIns="0" anchor="t">
            <a:spAutoFit/>
          </a:bodyPr>
          <a:lstStyle/>
          <a:p>
            <a:pPr algn="ctr">
              <a:spcAft>
                <a:spcPts val="0"/>
              </a:spcAft>
            </a:pPr>
            <a:r>
              <a:rPr sz="1000" b="1" i="0">
                <a:solidFill>
                  <a:srgbClr val="FFAB40"/>
                </a:solidFill>
                <a:effectLst>
                  <a:glow rad="63500">
                    <a:srgbClr val="001633">
                      <a:alpha val="85000"/>
                    </a:srgbClr>
                  </a:glow>
                </a:effectLst>
                <a:latin typeface="Montserrat"/>
              </a:rPr>
              <a:t>1</a:t>
            </a:r>
          </a:p>
          <a:p>
            <a:pPr algn="ctr">
              <a:spcAft>
                <a:spcPts val="0"/>
              </a:spcAft>
            </a:pPr>
            <a:r>
              <a:rPr sz="800" b="0" i="0">
                <a:solidFill>
                  <a:srgbClr val="FFFFFF"/>
                </a:solidFill>
                <a:effectLst>
                  <a:glow rad="63500">
                    <a:srgbClr val="001633">
                      <a:alpha val="85000"/>
                    </a:srgbClr>
                  </a:glow>
                </a:effectLst>
                <a:latin typeface="Montserrat"/>
              </a:rPr>
              <a:t>Diseñar</a:t>
            </a:r>
          </a:p>
        </p:txBody>
      </p:sp>
      <p:sp>
        <p:nvSpPr>
          <p:cNvPr id="146" name="TextBox 145"/>
          <p:cNvSpPr txBox="1"/>
          <p:nvPr/>
        </p:nvSpPr>
        <p:spPr>
          <a:xfrm>
            <a:off x="3511296" y="5084064"/>
            <a:ext cx="585216" cy="384048"/>
          </a:xfrm>
          <a:prstGeom prst="rect">
            <a:avLst/>
          </a:prstGeom>
          <a:noFill/>
        </p:spPr>
        <p:txBody>
          <a:bodyPr wrap="square" lIns="0" tIns="0" rIns="0" bIns="0" anchor="t">
            <a:spAutoFit/>
          </a:bodyPr>
          <a:lstStyle/>
          <a:p>
            <a:pPr algn="ctr">
              <a:spcAft>
                <a:spcPts val="0"/>
              </a:spcAft>
            </a:pPr>
            <a:r>
              <a:rPr sz="1000" b="1" i="0">
                <a:solidFill>
                  <a:srgbClr val="FFAB40"/>
                </a:solidFill>
                <a:effectLst>
                  <a:glow rad="63500">
                    <a:srgbClr val="001633">
                      <a:alpha val="85000"/>
                    </a:srgbClr>
                  </a:glow>
                </a:effectLst>
                <a:latin typeface="Montserrat"/>
              </a:rPr>
              <a:t>2</a:t>
            </a:r>
          </a:p>
          <a:p>
            <a:pPr algn="ctr">
              <a:spcAft>
                <a:spcPts val="0"/>
              </a:spcAft>
            </a:pPr>
            <a:r>
              <a:rPr sz="800" b="0" i="0">
                <a:solidFill>
                  <a:srgbClr val="FFFFFF"/>
                </a:solidFill>
                <a:effectLst>
                  <a:glow rad="63500">
                    <a:srgbClr val="001633">
                      <a:alpha val="85000"/>
                    </a:srgbClr>
                  </a:glow>
                </a:effectLst>
                <a:latin typeface="Montserrat"/>
              </a:rPr>
              <a:t>Construir</a:t>
            </a:r>
          </a:p>
        </p:txBody>
      </p:sp>
      <p:sp>
        <p:nvSpPr>
          <p:cNvPr id="147" name="TextBox 146"/>
          <p:cNvSpPr txBox="1"/>
          <p:nvPr/>
        </p:nvSpPr>
        <p:spPr>
          <a:xfrm>
            <a:off x="4096512" y="5084064"/>
            <a:ext cx="585216" cy="384048"/>
          </a:xfrm>
          <a:prstGeom prst="rect">
            <a:avLst/>
          </a:prstGeom>
          <a:noFill/>
        </p:spPr>
        <p:txBody>
          <a:bodyPr wrap="square" lIns="0" tIns="0" rIns="0" bIns="0" anchor="t">
            <a:spAutoFit/>
          </a:bodyPr>
          <a:lstStyle/>
          <a:p>
            <a:pPr algn="ctr">
              <a:spcAft>
                <a:spcPts val="0"/>
              </a:spcAft>
            </a:pPr>
            <a:r>
              <a:rPr sz="1000" b="1" i="0">
                <a:solidFill>
                  <a:srgbClr val="FFAB40"/>
                </a:solidFill>
                <a:effectLst>
                  <a:glow rad="63500">
                    <a:srgbClr val="001633">
                      <a:alpha val="85000"/>
                    </a:srgbClr>
                  </a:glow>
                </a:effectLst>
                <a:latin typeface="Montserrat"/>
              </a:rPr>
              <a:t>3</a:t>
            </a:r>
          </a:p>
          <a:p>
            <a:pPr algn="ctr">
              <a:spcAft>
                <a:spcPts val="0"/>
              </a:spcAft>
            </a:pPr>
            <a:r>
              <a:rPr sz="800" b="0" i="0">
                <a:solidFill>
                  <a:srgbClr val="FFFFFF"/>
                </a:solidFill>
                <a:effectLst>
                  <a:glow rad="63500">
                    <a:srgbClr val="001633">
                      <a:alpha val="85000"/>
                    </a:srgbClr>
                  </a:glow>
                </a:effectLst>
                <a:latin typeface="Montserrat"/>
              </a:rPr>
              <a:t>Operar</a:t>
            </a:r>
          </a:p>
        </p:txBody>
      </p:sp>
      <p:sp>
        <p:nvSpPr>
          <p:cNvPr id="148" name="TextBox 147"/>
          <p:cNvSpPr txBox="1"/>
          <p:nvPr/>
        </p:nvSpPr>
        <p:spPr>
          <a:xfrm>
            <a:off x="4681728" y="5084064"/>
            <a:ext cx="585216" cy="384048"/>
          </a:xfrm>
          <a:prstGeom prst="rect">
            <a:avLst/>
          </a:prstGeom>
          <a:noFill/>
        </p:spPr>
        <p:txBody>
          <a:bodyPr wrap="square" lIns="0" tIns="0" rIns="0" bIns="0" anchor="t">
            <a:spAutoFit/>
          </a:bodyPr>
          <a:lstStyle/>
          <a:p>
            <a:pPr algn="ctr">
              <a:spcAft>
                <a:spcPts val="0"/>
              </a:spcAft>
            </a:pPr>
            <a:r>
              <a:rPr sz="1000" b="1" i="0">
                <a:solidFill>
                  <a:srgbClr val="FFAB40"/>
                </a:solidFill>
                <a:effectLst>
                  <a:glow rad="63500">
                    <a:srgbClr val="001633">
                      <a:alpha val="85000"/>
                    </a:srgbClr>
                  </a:glow>
                </a:effectLst>
                <a:latin typeface="Montserrat"/>
              </a:rPr>
              <a:t>4</a:t>
            </a:r>
          </a:p>
          <a:p>
            <a:pPr algn="ctr">
              <a:spcAft>
                <a:spcPts val="0"/>
              </a:spcAft>
            </a:pPr>
            <a:r>
              <a:rPr sz="800" b="0" i="0">
                <a:solidFill>
                  <a:srgbClr val="FFFFFF"/>
                </a:solidFill>
                <a:effectLst>
                  <a:glow rad="63500">
                    <a:srgbClr val="001633">
                      <a:alpha val="85000"/>
                    </a:srgbClr>
                  </a:glow>
                </a:effectLst>
                <a:latin typeface="Montserrat"/>
              </a:rPr>
              <a:t>Mantener</a:t>
            </a:r>
          </a:p>
        </p:txBody>
      </p:sp>
      <p:sp>
        <p:nvSpPr>
          <p:cNvPr id="149" name="TextBox 148"/>
          <p:cNvSpPr txBox="1"/>
          <p:nvPr/>
        </p:nvSpPr>
        <p:spPr>
          <a:xfrm>
            <a:off x="5266944" y="5084064"/>
            <a:ext cx="585216" cy="384048"/>
          </a:xfrm>
          <a:prstGeom prst="rect">
            <a:avLst/>
          </a:prstGeom>
          <a:noFill/>
        </p:spPr>
        <p:txBody>
          <a:bodyPr wrap="square" lIns="0" tIns="0" rIns="0" bIns="0" anchor="t">
            <a:spAutoFit/>
          </a:bodyPr>
          <a:lstStyle/>
          <a:p>
            <a:pPr algn="ctr">
              <a:spcAft>
                <a:spcPts val="0"/>
              </a:spcAft>
            </a:pPr>
            <a:r>
              <a:rPr sz="1000" b="1" i="0">
                <a:solidFill>
                  <a:srgbClr val="FFAB40"/>
                </a:solidFill>
                <a:effectLst>
                  <a:glow rad="63500">
                    <a:srgbClr val="001633">
                      <a:alpha val="85000"/>
                    </a:srgbClr>
                  </a:glow>
                </a:effectLst>
                <a:latin typeface="Montserrat"/>
              </a:rPr>
              <a:t>5</a:t>
            </a:r>
          </a:p>
          <a:p>
            <a:pPr algn="ctr">
              <a:spcAft>
                <a:spcPts val="0"/>
              </a:spcAft>
            </a:pPr>
            <a:r>
              <a:rPr sz="800" b="0" i="0">
                <a:solidFill>
                  <a:srgbClr val="FFFFFF"/>
                </a:solidFill>
                <a:effectLst>
                  <a:glow rad="63500">
                    <a:srgbClr val="001633">
                      <a:alpha val="85000"/>
                    </a:srgbClr>
                  </a:glow>
                </a:effectLst>
                <a:latin typeface="Montserrat"/>
              </a:rPr>
              <a:t>Optimizar</a:t>
            </a:r>
          </a:p>
        </p:txBody>
      </p:sp>
      <p:sp>
        <p:nvSpPr>
          <p:cNvPr id="150" name="TextBox 149"/>
          <p:cNvSpPr txBox="1"/>
          <p:nvPr/>
        </p:nvSpPr>
        <p:spPr>
          <a:xfrm>
            <a:off x="5852160" y="5084064"/>
            <a:ext cx="585216" cy="384048"/>
          </a:xfrm>
          <a:prstGeom prst="rect">
            <a:avLst/>
          </a:prstGeom>
          <a:noFill/>
        </p:spPr>
        <p:txBody>
          <a:bodyPr wrap="square" lIns="0" tIns="0" rIns="0" bIns="0" anchor="t">
            <a:spAutoFit/>
          </a:bodyPr>
          <a:lstStyle/>
          <a:p>
            <a:pPr algn="ctr">
              <a:spcAft>
                <a:spcPts val="0"/>
              </a:spcAft>
            </a:pPr>
            <a:r>
              <a:rPr sz="1000" b="1" i="0">
                <a:solidFill>
                  <a:srgbClr val="FFAB40"/>
                </a:solidFill>
                <a:effectLst>
                  <a:glow rad="63500">
                    <a:srgbClr val="001633">
                      <a:alpha val="85000"/>
                    </a:srgbClr>
                  </a:glow>
                </a:effectLst>
                <a:latin typeface="Montserrat"/>
              </a:rPr>
              <a:t>6</a:t>
            </a:r>
          </a:p>
          <a:p>
            <a:pPr algn="ctr">
              <a:spcAft>
                <a:spcPts val="0"/>
              </a:spcAft>
            </a:pPr>
            <a:r>
              <a:rPr sz="800" b="0" i="0">
                <a:solidFill>
                  <a:srgbClr val="FFFFFF"/>
                </a:solidFill>
                <a:effectLst>
                  <a:glow rad="63500">
                    <a:srgbClr val="001633">
                      <a:alpha val="85000"/>
                    </a:srgbClr>
                  </a:glow>
                </a:effectLst>
                <a:latin typeface="Montserrat"/>
              </a:rPr>
              <a:t>Cerrar</a:t>
            </a:r>
          </a:p>
        </p:txBody>
      </p:sp>
      <p:sp>
        <p:nvSpPr>
          <p:cNvPr id="151" name="Eje fase"/>
          <p:cNvSpPr txBox="1"/>
          <p:nvPr/>
        </p:nvSpPr>
        <p:spPr>
          <a:xfrm>
            <a:off x="2377440" y="5504688"/>
            <a:ext cx="4608576" cy="256032"/>
          </a:xfrm>
          <a:prstGeom prst="rect">
            <a:avLst/>
          </a:prstGeom>
          <a:noFill/>
        </p:spPr>
        <p:txBody>
          <a:bodyPr wrap="square" lIns="0" tIns="0" rIns="0" bIns="0" anchor="t">
            <a:spAutoFit/>
          </a:bodyPr>
          <a:lstStyle/>
          <a:p>
            <a:pPr algn="ctr">
              <a:spcAft>
                <a:spcPts val="600"/>
              </a:spcAft>
            </a:pPr>
            <a:r>
              <a:rPr sz="1100" b="1" i="0">
                <a:solidFill>
                  <a:srgbClr val="FFAB40"/>
                </a:solidFill>
                <a:effectLst>
                  <a:glow rad="63500">
                    <a:srgbClr val="001633">
                      <a:alpha val="85000"/>
                    </a:srgbClr>
                  </a:glow>
                </a:effectLst>
                <a:latin typeface="Montserrat"/>
              </a:rPr>
              <a:t>¿CUÁNDO? · FASE </a:t>
            </a:r>
            <a:r>
              <a:rPr sz="900" b="0" i="0">
                <a:solidFill>
                  <a:srgbClr val="A9B8C9"/>
                </a:solidFill>
                <a:effectLst>
                  <a:glow rad="63500">
                    <a:srgbClr val="001633">
                      <a:alpha val="85000"/>
                    </a:srgbClr>
                  </a:glow>
                </a:effectLst>
                <a:latin typeface="Montserrat"/>
              </a:rPr>
              <a:t>del ciclo de vida del activo, del diseño al cierre</a:t>
            </a:r>
          </a:p>
        </p:txBody>
      </p:sp>
      <p:sp>
        <p:nvSpPr>
          <p:cNvPr id="152" name="TextBox 151"/>
          <p:cNvSpPr txBox="1"/>
          <p:nvPr/>
        </p:nvSpPr>
        <p:spPr>
          <a:xfrm>
            <a:off x="1600200" y="3003804"/>
            <a:ext cx="1371600" cy="160020"/>
          </a:xfrm>
          <a:prstGeom prst="rect">
            <a:avLst/>
          </a:prstGeom>
          <a:noFill/>
        </p:spPr>
        <p:txBody>
          <a:bodyPr wrap="square" lIns="0" tIns="0" rIns="0" bIns="0" anchor="ctr">
            <a:spAutoFit/>
          </a:bodyPr>
          <a:lstStyle/>
          <a:p>
            <a:pPr algn="r">
              <a:spcAft>
                <a:spcPts val="600"/>
              </a:spcAft>
            </a:pPr>
            <a:r>
              <a:rPr sz="900" b="1" i="0">
                <a:solidFill>
                  <a:srgbClr val="FFAB40"/>
                </a:solidFill>
                <a:effectLst>
                  <a:glow rad="63500">
                    <a:srgbClr val="001633">
                      <a:alpha val="85000"/>
                    </a:srgbClr>
                  </a:glow>
                </a:effectLst>
                <a:latin typeface="Montserrat"/>
              </a:rPr>
              <a:t>1 </a:t>
            </a:r>
            <a:r>
              <a:rPr sz="900" b="0" i="0">
                <a:solidFill>
                  <a:srgbClr val="FFFFFF"/>
                </a:solidFill>
                <a:effectLst>
                  <a:glow rad="63500">
                    <a:srgbClr val="001633">
                      <a:alpha val="85000"/>
                    </a:srgbClr>
                  </a:glow>
                </a:effectLst>
                <a:latin typeface="Montserrat"/>
              </a:rPr>
              <a:t>Digitalizar</a:t>
            </a:r>
          </a:p>
        </p:txBody>
      </p:sp>
      <p:sp>
        <p:nvSpPr>
          <p:cNvPr id="153" name="TextBox 152"/>
          <p:cNvSpPr txBox="1"/>
          <p:nvPr/>
        </p:nvSpPr>
        <p:spPr>
          <a:xfrm>
            <a:off x="1801368" y="2843784"/>
            <a:ext cx="1371600" cy="160020"/>
          </a:xfrm>
          <a:prstGeom prst="rect">
            <a:avLst/>
          </a:prstGeom>
          <a:noFill/>
        </p:spPr>
        <p:txBody>
          <a:bodyPr wrap="square" lIns="0" tIns="0" rIns="0" bIns="0" anchor="ctr">
            <a:spAutoFit/>
          </a:bodyPr>
          <a:lstStyle/>
          <a:p>
            <a:pPr algn="r">
              <a:spcAft>
                <a:spcPts val="600"/>
              </a:spcAft>
            </a:pPr>
            <a:r>
              <a:rPr sz="900" b="1" i="0">
                <a:solidFill>
                  <a:srgbClr val="FFAB40"/>
                </a:solidFill>
                <a:effectLst>
                  <a:glow rad="63500">
                    <a:srgbClr val="001633">
                      <a:alpha val="85000"/>
                    </a:srgbClr>
                  </a:glow>
                </a:effectLst>
                <a:latin typeface="Montserrat"/>
              </a:rPr>
              <a:t>2 </a:t>
            </a:r>
            <a:r>
              <a:rPr sz="900" b="0" i="0">
                <a:solidFill>
                  <a:srgbClr val="FFFFFF"/>
                </a:solidFill>
                <a:effectLst>
                  <a:glow rad="63500">
                    <a:srgbClr val="001633">
                      <a:alpha val="85000"/>
                    </a:srgbClr>
                  </a:glow>
                </a:effectLst>
                <a:latin typeface="Montserrat"/>
              </a:rPr>
              <a:t>Visualizar</a:t>
            </a:r>
          </a:p>
        </p:txBody>
      </p:sp>
      <p:sp>
        <p:nvSpPr>
          <p:cNvPr id="154" name="TextBox 153"/>
          <p:cNvSpPr txBox="1"/>
          <p:nvPr/>
        </p:nvSpPr>
        <p:spPr>
          <a:xfrm>
            <a:off x="2002536" y="2683764"/>
            <a:ext cx="1371600" cy="160020"/>
          </a:xfrm>
          <a:prstGeom prst="rect">
            <a:avLst/>
          </a:prstGeom>
          <a:noFill/>
        </p:spPr>
        <p:txBody>
          <a:bodyPr wrap="square" lIns="0" tIns="0" rIns="0" bIns="0" anchor="ctr">
            <a:spAutoFit/>
          </a:bodyPr>
          <a:lstStyle/>
          <a:p>
            <a:pPr algn="r">
              <a:spcAft>
                <a:spcPts val="600"/>
              </a:spcAft>
            </a:pPr>
            <a:r>
              <a:rPr sz="900" b="1" i="0">
                <a:solidFill>
                  <a:srgbClr val="FFAB40"/>
                </a:solidFill>
                <a:effectLst>
                  <a:glow rad="63500">
                    <a:srgbClr val="001633">
                      <a:alpha val="85000"/>
                    </a:srgbClr>
                  </a:glow>
                </a:effectLst>
                <a:latin typeface="Montserrat"/>
              </a:rPr>
              <a:t>3 </a:t>
            </a:r>
            <a:r>
              <a:rPr sz="900" b="0" i="0">
                <a:solidFill>
                  <a:srgbClr val="FFFFFF"/>
                </a:solidFill>
                <a:effectLst>
                  <a:glow rad="63500">
                    <a:srgbClr val="001633">
                      <a:alpha val="85000"/>
                    </a:srgbClr>
                  </a:glow>
                </a:effectLst>
                <a:latin typeface="Montserrat"/>
              </a:rPr>
              <a:t>Simular</a:t>
            </a:r>
          </a:p>
        </p:txBody>
      </p:sp>
      <p:sp>
        <p:nvSpPr>
          <p:cNvPr id="155" name="TextBox 154"/>
          <p:cNvSpPr txBox="1"/>
          <p:nvPr/>
        </p:nvSpPr>
        <p:spPr>
          <a:xfrm>
            <a:off x="2203704" y="2523744"/>
            <a:ext cx="1371600" cy="160020"/>
          </a:xfrm>
          <a:prstGeom prst="rect">
            <a:avLst/>
          </a:prstGeom>
          <a:noFill/>
        </p:spPr>
        <p:txBody>
          <a:bodyPr wrap="square" lIns="0" tIns="0" rIns="0" bIns="0" anchor="ctr">
            <a:spAutoFit/>
          </a:bodyPr>
          <a:lstStyle/>
          <a:p>
            <a:pPr algn="r">
              <a:spcAft>
                <a:spcPts val="600"/>
              </a:spcAft>
            </a:pPr>
            <a:r>
              <a:rPr sz="900" b="1" i="0">
                <a:solidFill>
                  <a:srgbClr val="FFAB40"/>
                </a:solidFill>
                <a:effectLst>
                  <a:glow rad="63500">
                    <a:srgbClr val="001633">
                      <a:alpha val="85000"/>
                    </a:srgbClr>
                  </a:glow>
                </a:effectLst>
                <a:latin typeface="Montserrat"/>
              </a:rPr>
              <a:t>4 </a:t>
            </a:r>
            <a:r>
              <a:rPr sz="900" b="0" i="0">
                <a:solidFill>
                  <a:srgbClr val="FFFFFF"/>
                </a:solidFill>
                <a:effectLst>
                  <a:glow rad="63500">
                    <a:srgbClr val="001633">
                      <a:alpha val="85000"/>
                    </a:srgbClr>
                  </a:glow>
                </a:effectLst>
                <a:latin typeface="Montserrat"/>
              </a:rPr>
              <a:t>Emular</a:t>
            </a:r>
          </a:p>
        </p:txBody>
      </p:sp>
      <p:sp>
        <p:nvSpPr>
          <p:cNvPr id="156" name="TextBox 155"/>
          <p:cNvSpPr txBox="1"/>
          <p:nvPr/>
        </p:nvSpPr>
        <p:spPr>
          <a:xfrm>
            <a:off x="2404872" y="2363724"/>
            <a:ext cx="1371600" cy="160020"/>
          </a:xfrm>
          <a:prstGeom prst="rect">
            <a:avLst/>
          </a:prstGeom>
          <a:noFill/>
        </p:spPr>
        <p:txBody>
          <a:bodyPr wrap="square" lIns="0" tIns="0" rIns="0" bIns="0" anchor="ctr">
            <a:spAutoFit/>
          </a:bodyPr>
          <a:lstStyle/>
          <a:p>
            <a:pPr algn="r">
              <a:spcAft>
                <a:spcPts val="600"/>
              </a:spcAft>
            </a:pPr>
            <a:r>
              <a:rPr sz="900" b="1" i="0">
                <a:solidFill>
                  <a:srgbClr val="FFAB40"/>
                </a:solidFill>
                <a:effectLst>
                  <a:glow rad="63500">
                    <a:srgbClr val="001633">
                      <a:alpha val="85000"/>
                    </a:srgbClr>
                  </a:glow>
                </a:effectLst>
                <a:latin typeface="Montserrat"/>
              </a:rPr>
              <a:t>5 </a:t>
            </a:r>
            <a:r>
              <a:rPr sz="900" b="0" i="0">
                <a:solidFill>
                  <a:srgbClr val="FFFFFF"/>
                </a:solidFill>
                <a:effectLst>
                  <a:glow rad="63500">
                    <a:srgbClr val="001633">
                      <a:alpha val="85000"/>
                    </a:srgbClr>
                  </a:glow>
                </a:effectLst>
                <a:latin typeface="Montserrat"/>
              </a:rPr>
              <a:t>Extraer</a:t>
            </a:r>
          </a:p>
        </p:txBody>
      </p:sp>
      <p:sp>
        <p:nvSpPr>
          <p:cNvPr id="157" name="TextBox 156"/>
          <p:cNvSpPr txBox="1"/>
          <p:nvPr/>
        </p:nvSpPr>
        <p:spPr>
          <a:xfrm>
            <a:off x="2606040" y="2203704"/>
            <a:ext cx="1371600" cy="160020"/>
          </a:xfrm>
          <a:prstGeom prst="rect">
            <a:avLst/>
          </a:prstGeom>
          <a:noFill/>
        </p:spPr>
        <p:txBody>
          <a:bodyPr wrap="square" lIns="0" tIns="0" rIns="0" bIns="0" anchor="ctr">
            <a:spAutoFit/>
          </a:bodyPr>
          <a:lstStyle/>
          <a:p>
            <a:pPr algn="r">
              <a:spcAft>
                <a:spcPts val="600"/>
              </a:spcAft>
            </a:pPr>
            <a:r>
              <a:rPr sz="900" b="1" i="0">
                <a:solidFill>
                  <a:srgbClr val="FFAB40"/>
                </a:solidFill>
                <a:effectLst>
                  <a:glow rad="63500">
                    <a:srgbClr val="001633">
                      <a:alpha val="85000"/>
                    </a:srgbClr>
                  </a:glow>
                </a:effectLst>
                <a:latin typeface="Montserrat"/>
              </a:rPr>
              <a:t>6 </a:t>
            </a:r>
            <a:r>
              <a:rPr sz="900" b="0" i="0">
                <a:solidFill>
                  <a:srgbClr val="FFFFFF"/>
                </a:solidFill>
                <a:effectLst>
                  <a:glow rad="63500">
                    <a:srgbClr val="001633">
                      <a:alpha val="85000"/>
                    </a:srgbClr>
                  </a:glow>
                </a:effectLst>
                <a:latin typeface="Montserrat"/>
              </a:rPr>
              <a:t>Orquestar</a:t>
            </a:r>
          </a:p>
        </p:txBody>
      </p:sp>
      <p:sp>
        <p:nvSpPr>
          <p:cNvPr id="158" name="TextBox 157"/>
          <p:cNvSpPr txBox="1"/>
          <p:nvPr/>
        </p:nvSpPr>
        <p:spPr>
          <a:xfrm>
            <a:off x="2807208" y="2043684"/>
            <a:ext cx="1371600" cy="160020"/>
          </a:xfrm>
          <a:prstGeom prst="rect">
            <a:avLst/>
          </a:prstGeom>
          <a:noFill/>
        </p:spPr>
        <p:txBody>
          <a:bodyPr wrap="square" lIns="0" tIns="0" rIns="0" bIns="0" anchor="ctr">
            <a:spAutoFit/>
          </a:bodyPr>
          <a:lstStyle/>
          <a:p>
            <a:pPr algn="r">
              <a:spcAft>
                <a:spcPts val="600"/>
              </a:spcAft>
            </a:pPr>
            <a:r>
              <a:rPr sz="900" b="1" i="0">
                <a:solidFill>
                  <a:srgbClr val="FFAB40"/>
                </a:solidFill>
                <a:effectLst>
                  <a:glow rad="63500">
                    <a:srgbClr val="001633">
                      <a:alpha val="85000"/>
                    </a:srgbClr>
                  </a:glow>
                </a:effectLst>
                <a:latin typeface="Montserrat"/>
              </a:rPr>
              <a:t>7 </a:t>
            </a:r>
            <a:r>
              <a:rPr sz="900" b="0" i="0">
                <a:solidFill>
                  <a:srgbClr val="FFFFFF"/>
                </a:solidFill>
                <a:effectLst>
                  <a:glow rad="63500">
                    <a:srgbClr val="001633">
                      <a:alpha val="85000"/>
                    </a:srgbClr>
                  </a:glow>
                </a:effectLst>
                <a:latin typeface="Montserrat"/>
              </a:rPr>
              <a:t>Predecir</a:t>
            </a:r>
          </a:p>
        </p:txBody>
      </p:sp>
      <p:sp>
        <p:nvSpPr>
          <p:cNvPr id="159" name="Eje uso"/>
          <p:cNvSpPr txBox="1"/>
          <p:nvPr/>
        </p:nvSpPr>
        <p:spPr>
          <a:xfrm>
            <a:off x="1252728" y="1787652"/>
            <a:ext cx="1920240" cy="548640"/>
          </a:xfrm>
          <a:prstGeom prst="rect">
            <a:avLst/>
          </a:prstGeom>
          <a:noFill/>
        </p:spPr>
        <p:txBody>
          <a:bodyPr wrap="square" lIns="0" tIns="0" rIns="0" bIns="0" anchor="t">
            <a:spAutoFit/>
          </a:bodyPr>
          <a:lstStyle/>
          <a:p>
            <a:pPr algn="r">
              <a:spcAft>
                <a:spcPts val="0"/>
              </a:spcAft>
            </a:pPr>
            <a:r>
              <a:rPr sz="1100" b="1" i="0">
                <a:solidFill>
                  <a:srgbClr val="FFAB40"/>
                </a:solidFill>
                <a:effectLst>
                  <a:glow rad="63500">
                    <a:srgbClr val="001633">
                      <a:alpha val="85000"/>
                    </a:srgbClr>
                  </a:glow>
                </a:effectLst>
                <a:latin typeface="Montserrat"/>
              </a:rPr>
              <a:t>¿PARA QUÉ? · USO</a:t>
            </a:r>
          </a:p>
          <a:p>
            <a:pPr algn="r">
              <a:spcAft>
                <a:spcPts val="0"/>
              </a:spcAft>
            </a:pPr>
            <a:r>
              <a:rPr sz="800" b="0" i="0">
                <a:solidFill>
                  <a:srgbClr val="A9B8C9"/>
                </a:solidFill>
                <a:effectLst>
                  <a:glow rad="63500">
                    <a:srgbClr val="001633">
                      <a:alpha val="85000"/>
                    </a:srgbClr>
                  </a:glow>
                </a:effectLst>
                <a:latin typeface="Montserrat"/>
              </a:rPr>
              <a:t>de digitalizar a predecir; la lista queda abierta (… N)</a:t>
            </a:r>
          </a:p>
        </p:txBody>
      </p:sp>
      <p:sp>
        <p:nvSpPr>
          <p:cNvPr id="160" name="TextBox 159"/>
          <p:cNvSpPr txBox="1"/>
          <p:nvPr/>
        </p:nvSpPr>
        <p:spPr>
          <a:xfrm>
            <a:off x="8092440" y="1783079"/>
            <a:ext cx="1234440" cy="685800"/>
          </a:xfrm>
          <a:prstGeom prst="rect">
            <a:avLst/>
          </a:prstGeom>
          <a:noFill/>
        </p:spPr>
        <p:txBody>
          <a:bodyPr wrap="square" lIns="0" tIns="0" rIns="0" bIns="0" anchor="ctr">
            <a:spAutoFit/>
          </a:bodyPr>
          <a:lstStyle/>
          <a:p>
            <a:pPr algn="l">
              <a:spcAft>
                <a:spcPts val="600"/>
              </a:spcAft>
            </a:pPr>
            <a:r>
              <a:rPr sz="4000" b="1" i="0">
                <a:solidFill>
                  <a:srgbClr val="FFAB40"/>
                </a:solidFill>
                <a:effectLst>
                  <a:glow rad="63500">
                    <a:srgbClr val="001633">
                      <a:alpha val="85000"/>
                    </a:srgbClr>
                  </a:glow>
                </a:effectLst>
                <a:latin typeface="Montserrat"/>
              </a:rPr>
              <a:t>252</a:t>
            </a:r>
          </a:p>
        </p:txBody>
      </p:sp>
      <p:sp>
        <p:nvSpPr>
          <p:cNvPr id="161" name="TextBox 160"/>
          <p:cNvSpPr txBox="1"/>
          <p:nvPr/>
        </p:nvSpPr>
        <p:spPr>
          <a:xfrm>
            <a:off x="9372600" y="1783079"/>
            <a:ext cx="1892808" cy="685800"/>
          </a:xfrm>
          <a:prstGeom prst="rect">
            <a:avLst/>
          </a:prstGeom>
          <a:noFill/>
        </p:spPr>
        <p:txBody>
          <a:bodyPr wrap="square" lIns="0" tIns="0" rIns="0" bIns="0" anchor="ctr">
            <a:spAutoFit/>
          </a:bodyPr>
          <a:lstStyle/>
          <a:p>
            <a:pPr algn="l">
              <a:spcAft>
                <a:spcPts val="0"/>
              </a:spcAft>
            </a:pPr>
            <a:r>
              <a:rPr sz="1200" b="1" i="0">
                <a:solidFill>
                  <a:srgbClr val="FFFFFF"/>
                </a:solidFill>
                <a:effectLst>
                  <a:glow rad="63500">
                    <a:srgbClr val="001633">
                      <a:alpha val="85000"/>
                    </a:srgbClr>
                  </a:glow>
                </a:effectLst>
                <a:latin typeface="Montserrat"/>
              </a:rPr>
              <a:t>tipos de gemelo</a:t>
            </a:r>
          </a:p>
          <a:p>
            <a:pPr algn="l">
              <a:spcAft>
                <a:spcPts val="0"/>
              </a:spcAft>
            </a:pPr>
            <a:r>
              <a:rPr sz="1000" b="0" i="0">
                <a:solidFill>
                  <a:srgbClr val="A9B8C9"/>
                </a:solidFill>
                <a:effectLst>
                  <a:glow rad="63500">
                    <a:srgbClr val="001633">
                      <a:alpha val="85000"/>
                    </a:srgbClr>
                  </a:glow>
                </a:effectLst>
                <a:latin typeface="Montserrat"/>
              </a:rPr>
              <a:t>6 niveles × 6 fases × 7 usos</a:t>
            </a:r>
          </a:p>
        </p:txBody>
      </p:sp>
      <p:sp>
        <p:nvSpPr>
          <p:cNvPr id="162" name="Ejemplo A"/>
          <p:cNvSpPr/>
          <p:nvPr/>
        </p:nvSpPr>
        <p:spPr>
          <a:xfrm>
            <a:off x="8092440" y="2651759"/>
            <a:ext cx="3172968" cy="1444752"/>
          </a:xfrm>
          <a:prstGeom prst="rect">
            <a:avLst/>
          </a:prstGeom>
          <a:solidFill>
            <a:srgbClr val="0B264A"/>
          </a:solidFill>
          <a:ln w="127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3" name="Celda A"/>
          <p:cNvSpPr/>
          <p:nvPr/>
        </p:nvSpPr>
        <p:spPr>
          <a:xfrm>
            <a:off x="8229600" y="2779775"/>
            <a:ext cx="347472" cy="34747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4" name="TextBox 163"/>
          <p:cNvSpPr txBox="1"/>
          <p:nvPr/>
        </p:nvSpPr>
        <p:spPr>
          <a:xfrm>
            <a:off x="8229600" y="2779775"/>
            <a:ext cx="347472" cy="347472"/>
          </a:xfrm>
          <a:prstGeom prst="rect">
            <a:avLst/>
          </a:prstGeom>
          <a:noFill/>
        </p:spPr>
        <p:txBody>
          <a:bodyPr wrap="square" lIns="0" tIns="0" rIns="0" bIns="0" anchor="ctr">
            <a:spAutoFit/>
          </a:bodyPr>
          <a:lstStyle/>
          <a:p>
            <a:pPr algn="ctr">
              <a:spcAft>
                <a:spcPts val="600"/>
              </a:spcAft>
            </a:pPr>
            <a:r>
              <a:rPr sz="1300" b="1" i="0">
                <a:solidFill>
                  <a:srgbClr val="001633"/>
                </a:solidFill>
                <a:latin typeface="Montserrat"/>
              </a:rPr>
              <a:t>A</a:t>
            </a:r>
          </a:p>
        </p:txBody>
      </p:sp>
      <p:sp>
        <p:nvSpPr>
          <p:cNvPr id="165" name="TextBox 164"/>
          <p:cNvSpPr txBox="1"/>
          <p:nvPr/>
        </p:nvSpPr>
        <p:spPr>
          <a:xfrm>
            <a:off x="8686800" y="2779775"/>
            <a:ext cx="2441448" cy="347472"/>
          </a:xfrm>
          <a:prstGeom prst="rect">
            <a:avLst/>
          </a:prstGeom>
          <a:noFill/>
        </p:spPr>
        <p:txBody>
          <a:bodyPr wrap="square" lIns="0" tIns="0" rIns="0" bIns="0" anchor="ctr">
            <a:spAutoFit/>
          </a:bodyPr>
          <a:lstStyle/>
          <a:p>
            <a:pPr algn="l">
              <a:spcAft>
                <a:spcPts val="600"/>
              </a:spcAft>
            </a:pPr>
            <a:r>
              <a:rPr sz="1400" b="1" i="0">
                <a:solidFill>
                  <a:srgbClr val="FFFFFF"/>
                </a:solidFill>
                <a:effectLst>
                  <a:glow rad="63500">
                    <a:srgbClr val="001633">
                      <a:alpha val="85000"/>
                    </a:srgbClr>
                  </a:glow>
                </a:effectLst>
                <a:latin typeface="Montserrat"/>
              </a:rPr>
              <a:t>Depósito de relaves</a:t>
            </a:r>
          </a:p>
        </p:txBody>
      </p:sp>
      <p:sp>
        <p:nvSpPr>
          <p:cNvPr id="166" name="Coordenada NIVEL"/>
          <p:cNvSpPr/>
          <p:nvPr/>
        </p:nvSpPr>
        <p:spPr>
          <a:xfrm>
            <a:off x="8229600" y="3236975"/>
            <a:ext cx="929640" cy="384048"/>
          </a:xfrm>
          <a:prstGeom prst="rect">
            <a:avLst/>
          </a:prstGeom>
          <a:solidFill>
            <a:srgbClr val="001633"/>
          </a:solidFill>
          <a:ln w="95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7" name="TextBox 166"/>
          <p:cNvSpPr txBox="1"/>
          <p:nvPr/>
        </p:nvSpPr>
        <p:spPr>
          <a:xfrm>
            <a:off x="8229600" y="3255263"/>
            <a:ext cx="929640" cy="365760"/>
          </a:xfrm>
          <a:prstGeom prst="rect">
            <a:avLst/>
          </a:prstGeom>
          <a:noFill/>
        </p:spPr>
        <p:txBody>
          <a:bodyPr wrap="square" lIns="0" tIns="0" rIns="0" bIns="0" anchor="t">
            <a:spAutoFit/>
          </a:bodyPr>
          <a:lstStyle/>
          <a:p>
            <a:pPr algn="ctr">
              <a:spcAft>
                <a:spcPts val="0"/>
              </a:spcAft>
            </a:pPr>
            <a:r>
              <a:rPr sz="700" b="1" i="0">
                <a:solidFill>
                  <a:srgbClr val="A9B8C9"/>
                </a:solidFill>
                <a:effectLst>
                  <a:glow rad="63500">
                    <a:srgbClr val="001633">
                      <a:alpha val="85000"/>
                    </a:srgbClr>
                  </a:glow>
                </a:effectLst>
                <a:latin typeface="Montserrat"/>
              </a:rPr>
              <a:t>NIVEL</a:t>
            </a:r>
          </a:p>
          <a:p>
            <a:pPr algn="ctr">
              <a:spcAft>
                <a:spcPts val="0"/>
              </a:spcAft>
            </a:pPr>
            <a:r>
              <a:rPr sz="1000" b="1" i="0">
                <a:solidFill>
                  <a:srgbClr val="FFAB40"/>
                </a:solidFill>
                <a:effectLst>
                  <a:glow rad="63500">
                    <a:srgbClr val="001633">
                      <a:alpha val="85000"/>
                    </a:srgbClr>
                  </a:glow>
                </a:effectLst>
                <a:latin typeface="Montserrat"/>
              </a:rPr>
              <a:t>Sistema</a:t>
            </a:r>
          </a:p>
        </p:txBody>
      </p:sp>
      <p:sp>
        <p:nvSpPr>
          <p:cNvPr id="168" name="Coordenada FASE"/>
          <p:cNvSpPr/>
          <p:nvPr/>
        </p:nvSpPr>
        <p:spPr>
          <a:xfrm>
            <a:off x="9214104" y="3236975"/>
            <a:ext cx="929640" cy="384048"/>
          </a:xfrm>
          <a:prstGeom prst="rect">
            <a:avLst/>
          </a:prstGeom>
          <a:solidFill>
            <a:srgbClr val="001633"/>
          </a:solidFill>
          <a:ln w="95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9" name="TextBox 168"/>
          <p:cNvSpPr txBox="1"/>
          <p:nvPr/>
        </p:nvSpPr>
        <p:spPr>
          <a:xfrm>
            <a:off x="9214104" y="3255263"/>
            <a:ext cx="929640" cy="365760"/>
          </a:xfrm>
          <a:prstGeom prst="rect">
            <a:avLst/>
          </a:prstGeom>
          <a:noFill/>
        </p:spPr>
        <p:txBody>
          <a:bodyPr wrap="square" lIns="0" tIns="0" rIns="0" bIns="0" anchor="t">
            <a:spAutoFit/>
          </a:bodyPr>
          <a:lstStyle/>
          <a:p>
            <a:pPr algn="ctr">
              <a:spcAft>
                <a:spcPts val="0"/>
              </a:spcAft>
            </a:pPr>
            <a:r>
              <a:rPr sz="700" b="1" i="0">
                <a:solidFill>
                  <a:srgbClr val="A9B8C9"/>
                </a:solidFill>
                <a:effectLst>
                  <a:glow rad="63500">
                    <a:srgbClr val="001633">
                      <a:alpha val="85000"/>
                    </a:srgbClr>
                  </a:glow>
                </a:effectLst>
                <a:latin typeface="Montserrat"/>
              </a:rPr>
              <a:t>FASE</a:t>
            </a:r>
          </a:p>
          <a:p>
            <a:pPr algn="ctr">
              <a:spcAft>
                <a:spcPts val="0"/>
              </a:spcAft>
            </a:pPr>
            <a:r>
              <a:rPr sz="1000" b="1" i="0">
                <a:solidFill>
                  <a:srgbClr val="FFAB40"/>
                </a:solidFill>
                <a:effectLst>
                  <a:glow rad="63500">
                    <a:srgbClr val="001633">
                      <a:alpha val="85000"/>
                    </a:srgbClr>
                  </a:glow>
                </a:effectLst>
                <a:latin typeface="Montserrat"/>
              </a:rPr>
              <a:t>Diseñar</a:t>
            </a:r>
          </a:p>
        </p:txBody>
      </p:sp>
      <p:sp>
        <p:nvSpPr>
          <p:cNvPr id="170" name="Coordenada USO"/>
          <p:cNvSpPr/>
          <p:nvPr/>
        </p:nvSpPr>
        <p:spPr>
          <a:xfrm>
            <a:off x="10198608" y="3236975"/>
            <a:ext cx="929640" cy="384048"/>
          </a:xfrm>
          <a:prstGeom prst="rect">
            <a:avLst/>
          </a:prstGeom>
          <a:solidFill>
            <a:srgbClr val="001633"/>
          </a:solidFill>
          <a:ln w="95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1" name="TextBox 170"/>
          <p:cNvSpPr txBox="1"/>
          <p:nvPr/>
        </p:nvSpPr>
        <p:spPr>
          <a:xfrm>
            <a:off x="10198608" y="3255263"/>
            <a:ext cx="929640" cy="365760"/>
          </a:xfrm>
          <a:prstGeom prst="rect">
            <a:avLst/>
          </a:prstGeom>
          <a:noFill/>
        </p:spPr>
        <p:txBody>
          <a:bodyPr wrap="square" lIns="0" tIns="0" rIns="0" bIns="0" anchor="t">
            <a:spAutoFit/>
          </a:bodyPr>
          <a:lstStyle/>
          <a:p>
            <a:pPr algn="ctr">
              <a:spcAft>
                <a:spcPts val="0"/>
              </a:spcAft>
            </a:pPr>
            <a:r>
              <a:rPr sz="700" b="1" i="0">
                <a:solidFill>
                  <a:srgbClr val="A9B8C9"/>
                </a:solidFill>
                <a:effectLst>
                  <a:glow rad="63500">
                    <a:srgbClr val="001633">
                      <a:alpha val="85000"/>
                    </a:srgbClr>
                  </a:glow>
                </a:effectLst>
                <a:latin typeface="Montserrat"/>
              </a:rPr>
              <a:t>USO</a:t>
            </a:r>
          </a:p>
          <a:p>
            <a:pPr algn="ctr">
              <a:spcAft>
                <a:spcPts val="0"/>
              </a:spcAft>
            </a:pPr>
            <a:r>
              <a:rPr sz="1000" b="1" i="0">
                <a:solidFill>
                  <a:srgbClr val="FFAB40"/>
                </a:solidFill>
                <a:effectLst>
                  <a:glow rad="63500">
                    <a:srgbClr val="001633">
                      <a:alpha val="85000"/>
                    </a:srgbClr>
                  </a:glow>
                </a:effectLst>
                <a:latin typeface="Montserrat"/>
              </a:rPr>
              <a:t>Simular</a:t>
            </a:r>
          </a:p>
        </p:txBody>
      </p:sp>
      <p:sp>
        <p:nvSpPr>
          <p:cNvPr id="172" name="TextBox 171"/>
          <p:cNvSpPr txBox="1"/>
          <p:nvPr/>
        </p:nvSpPr>
        <p:spPr>
          <a:xfrm>
            <a:off x="8229600" y="3675887"/>
            <a:ext cx="2898648" cy="384048"/>
          </a:xfrm>
          <a:prstGeom prst="rect">
            <a:avLst/>
          </a:prstGeom>
          <a:noFill/>
        </p:spPr>
        <p:txBody>
          <a:bodyPr wrap="square" lIns="0" tIns="0" rIns="0" bIns="0" anchor="t">
            <a:spAutoFit/>
          </a:bodyPr>
          <a:lstStyle/>
          <a:p>
            <a:pPr algn="l">
              <a:spcAft>
                <a:spcPts val="600"/>
              </a:spcAft>
            </a:pPr>
            <a:r>
              <a:rPr sz="1000" b="0" i="0">
                <a:solidFill>
                  <a:srgbClr val="FFFFFF"/>
                </a:solidFill>
                <a:effectLst>
                  <a:glow rad="63500">
                    <a:srgbClr val="001633">
                      <a:alpha val="85000"/>
                    </a:srgbClr>
                  </a:glow>
                </a:effectLst>
                <a:latin typeface="Montserrat"/>
              </a:rPr>
              <a:t>Se modela antes de construirlo para comparar diseños [3]</a:t>
            </a:r>
          </a:p>
        </p:txBody>
      </p:sp>
      <p:sp>
        <p:nvSpPr>
          <p:cNvPr id="173" name="Ejemplo B"/>
          <p:cNvSpPr/>
          <p:nvPr/>
        </p:nvSpPr>
        <p:spPr>
          <a:xfrm>
            <a:off x="8092440" y="4224527"/>
            <a:ext cx="3172968" cy="1444752"/>
          </a:xfrm>
          <a:prstGeom prst="rect">
            <a:avLst/>
          </a:prstGeom>
          <a:solidFill>
            <a:srgbClr val="0B264A"/>
          </a:solidFill>
          <a:ln w="1270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 name="Celda B"/>
          <p:cNvSpPr/>
          <p:nvPr/>
        </p:nvSpPr>
        <p:spPr>
          <a:xfrm>
            <a:off x="8229600" y="4352543"/>
            <a:ext cx="347472" cy="347472"/>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5" name="TextBox 174"/>
          <p:cNvSpPr txBox="1"/>
          <p:nvPr/>
        </p:nvSpPr>
        <p:spPr>
          <a:xfrm>
            <a:off x="8229600" y="4352543"/>
            <a:ext cx="347472" cy="347472"/>
          </a:xfrm>
          <a:prstGeom prst="rect">
            <a:avLst/>
          </a:prstGeom>
          <a:noFill/>
        </p:spPr>
        <p:txBody>
          <a:bodyPr wrap="square" lIns="0" tIns="0" rIns="0" bIns="0" anchor="ctr">
            <a:spAutoFit/>
          </a:bodyPr>
          <a:lstStyle/>
          <a:p>
            <a:pPr algn="ctr">
              <a:spcAft>
                <a:spcPts val="600"/>
              </a:spcAft>
            </a:pPr>
            <a:r>
              <a:rPr sz="1300" b="1" i="0">
                <a:solidFill>
                  <a:srgbClr val="001633"/>
                </a:solidFill>
                <a:latin typeface="Montserrat"/>
              </a:rPr>
              <a:t>B</a:t>
            </a:r>
          </a:p>
        </p:txBody>
      </p:sp>
      <p:sp>
        <p:nvSpPr>
          <p:cNvPr id="176" name="TextBox 175"/>
          <p:cNvSpPr txBox="1"/>
          <p:nvPr/>
        </p:nvSpPr>
        <p:spPr>
          <a:xfrm>
            <a:off x="8686800" y="4352543"/>
            <a:ext cx="2441448" cy="347472"/>
          </a:xfrm>
          <a:prstGeom prst="rect">
            <a:avLst/>
          </a:prstGeom>
          <a:noFill/>
        </p:spPr>
        <p:txBody>
          <a:bodyPr wrap="square" lIns="0" tIns="0" rIns="0" bIns="0" anchor="ctr">
            <a:spAutoFit/>
          </a:bodyPr>
          <a:lstStyle/>
          <a:p>
            <a:pPr algn="l">
              <a:spcAft>
                <a:spcPts val="600"/>
              </a:spcAft>
            </a:pPr>
            <a:r>
              <a:rPr sz="1400" b="1" i="0">
                <a:solidFill>
                  <a:srgbClr val="FFFFFF"/>
                </a:solidFill>
                <a:effectLst>
                  <a:glow rad="63500">
                    <a:srgbClr val="001633">
                      <a:alpha val="85000"/>
                    </a:srgbClr>
                  </a:glow>
                </a:effectLst>
                <a:latin typeface="Montserrat"/>
              </a:rPr>
              <a:t>Neumático de camión</a:t>
            </a:r>
          </a:p>
        </p:txBody>
      </p:sp>
      <p:sp>
        <p:nvSpPr>
          <p:cNvPr id="177" name="Coordenada NIVEL"/>
          <p:cNvSpPr/>
          <p:nvPr/>
        </p:nvSpPr>
        <p:spPr>
          <a:xfrm>
            <a:off x="8229600" y="4809743"/>
            <a:ext cx="929640" cy="384048"/>
          </a:xfrm>
          <a:prstGeom prst="rect">
            <a:avLst/>
          </a:prstGeom>
          <a:solidFill>
            <a:srgbClr val="001633"/>
          </a:solidFill>
          <a:ln w="952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8" name="TextBox 177"/>
          <p:cNvSpPr txBox="1"/>
          <p:nvPr/>
        </p:nvSpPr>
        <p:spPr>
          <a:xfrm>
            <a:off x="8229600" y="4828031"/>
            <a:ext cx="929640" cy="365760"/>
          </a:xfrm>
          <a:prstGeom prst="rect">
            <a:avLst/>
          </a:prstGeom>
          <a:noFill/>
        </p:spPr>
        <p:txBody>
          <a:bodyPr wrap="square" lIns="0" tIns="0" rIns="0" bIns="0" anchor="t">
            <a:spAutoFit/>
          </a:bodyPr>
          <a:lstStyle/>
          <a:p>
            <a:pPr algn="ctr">
              <a:spcAft>
                <a:spcPts val="0"/>
              </a:spcAft>
            </a:pPr>
            <a:r>
              <a:rPr sz="700" b="1" i="0">
                <a:solidFill>
                  <a:srgbClr val="A9B8C9"/>
                </a:solidFill>
                <a:effectLst>
                  <a:glow rad="63500">
                    <a:srgbClr val="001633">
                      <a:alpha val="85000"/>
                    </a:srgbClr>
                  </a:glow>
                </a:effectLst>
                <a:latin typeface="Montserrat"/>
              </a:rPr>
              <a:t>NIVEL</a:t>
            </a:r>
          </a:p>
          <a:p>
            <a:pPr algn="ctr">
              <a:spcAft>
                <a:spcPts val="0"/>
              </a:spcAft>
            </a:pPr>
            <a:r>
              <a:rPr sz="1000" b="1" i="0">
                <a:solidFill>
                  <a:srgbClr val="85D5E6"/>
                </a:solidFill>
                <a:effectLst>
                  <a:glow rad="63500">
                    <a:srgbClr val="001633">
                      <a:alpha val="85000"/>
                    </a:srgbClr>
                  </a:glow>
                </a:effectLst>
                <a:latin typeface="Montserrat"/>
              </a:rPr>
              <a:t>Componente</a:t>
            </a:r>
          </a:p>
        </p:txBody>
      </p:sp>
      <p:sp>
        <p:nvSpPr>
          <p:cNvPr id="179" name="Coordenada FASE"/>
          <p:cNvSpPr/>
          <p:nvPr/>
        </p:nvSpPr>
        <p:spPr>
          <a:xfrm>
            <a:off x="9214104" y="4809743"/>
            <a:ext cx="929640" cy="384048"/>
          </a:xfrm>
          <a:prstGeom prst="rect">
            <a:avLst/>
          </a:prstGeom>
          <a:solidFill>
            <a:srgbClr val="001633"/>
          </a:solidFill>
          <a:ln w="952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0" name="TextBox 179"/>
          <p:cNvSpPr txBox="1"/>
          <p:nvPr/>
        </p:nvSpPr>
        <p:spPr>
          <a:xfrm>
            <a:off x="9214104" y="4828031"/>
            <a:ext cx="929640" cy="365760"/>
          </a:xfrm>
          <a:prstGeom prst="rect">
            <a:avLst/>
          </a:prstGeom>
          <a:noFill/>
        </p:spPr>
        <p:txBody>
          <a:bodyPr wrap="square" lIns="0" tIns="0" rIns="0" bIns="0" anchor="t">
            <a:spAutoFit/>
          </a:bodyPr>
          <a:lstStyle/>
          <a:p>
            <a:pPr algn="ctr">
              <a:spcAft>
                <a:spcPts val="0"/>
              </a:spcAft>
            </a:pPr>
            <a:r>
              <a:rPr sz="700" b="1" i="0">
                <a:solidFill>
                  <a:srgbClr val="A9B8C9"/>
                </a:solidFill>
                <a:effectLst>
                  <a:glow rad="63500">
                    <a:srgbClr val="001633">
                      <a:alpha val="85000"/>
                    </a:srgbClr>
                  </a:glow>
                </a:effectLst>
                <a:latin typeface="Montserrat"/>
              </a:rPr>
              <a:t>FASE</a:t>
            </a:r>
          </a:p>
          <a:p>
            <a:pPr algn="ctr">
              <a:spcAft>
                <a:spcPts val="0"/>
              </a:spcAft>
            </a:pPr>
            <a:r>
              <a:rPr sz="1000" b="1" i="0">
                <a:solidFill>
                  <a:srgbClr val="85D5E6"/>
                </a:solidFill>
                <a:effectLst>
                  <a:glow rad="63500">
                    <a:srgbClr val="001633">
                      <a:alpha val="85000"/>
                    </a:srgbClr>
                  </a:glow>
                </a:effectLst>
                <a:latin typeface="Montserrat"/>
              </a:rPr>
              <a:t>Operar</a:t>
            </a:r>
          </a:p>
        </p:txBody>
      </p:sp>
      <p:sp>
        <p:nvSpPr>
          <p:cNvPr id="181" name="Coordenada USO"/>
          <p:cNvSpPr/>
          <p:nvPr/>
        </p:nvSpPr>
        <p:spPr>
          <a:xfrm>
            <a:off x="10198608" y="4809743"/>
            <a:ext cx="929640" cy="384048"/>
          </a:xfrm>
          <a:prstGeom prst="rect">
            <a:avLst/>
          </a:prstGeom>
          <a:solidFill>
            <a:srgbClr val="001633"/>
          </a:solidFill>
          <a:ln w="952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2" name="TextBox 181"/>
          <p:cNvSpPr txBox="1"/>
          <p:nvPr/>
        </p:nvSpPr>
        <p:spPr>
          <a:xfrm>
            <a:off x="10198608" y="4828031"/>
            <a:ext cx="929640" cy="365760"/>
          </a:xfrm>
          <a:prstGeom prst="rect">
            <a:avLst/>
          </a:prstGeom>
          <a:noFill/>
        </p:spPr>
        <p:txBody>
          <a:bodyPr wrap="square" lIns="0" tIns="0" rIns="0" bIns="0" anchor="t">
            <a:spAutoFit/>
          </a:bodyPr>
          <a:lstStyle/>
          <a:p>
            <a:pPr algn="ctr">
              <a:spcAft>
                <a:spcPts val="0"/>
              </a:spcAft>
            </a:pPr>
            <a:r>
              <a:rPr sz="700" b="1" i="0">
                <a:solidFill>
                  <a:srgbClr val="A9B8C9"/>
                </a:solidFill>
                <a:effectLst>
                  <a:glow rad="63500">
                    <a:srgbClr val="001633">
                      <a:alpha val="85000"/>
                    </a:srgbClr>
                  </a:glow>
                </a:effectLst>
                <a:latin typeface="Montserrat"/>
              </a:rPr>
              <a:t>USO</a:t>
            </a:r>
          </a:p>
          <a:p>
            <a:pPr algn="ctr">
              <a:spcAft>
                <a:spcPts val="0"/>
              </a:spcAft>
            </a:pPr>
            <a:r>
              <a:rPr sz="1000" b="1" i="0">
                <a:solidFill>
                  <a:srgbClr val="85D5E6"/>
                </a:solidFill>
                <a:effectLst>
                  <a:glow rad="63500">
                    <a:srgbClr val="001633">
                      <a:alpha val="85000"/>
                    </a:srgbClr>
                  </a:glow>
                </a:effectLst>
                <a:latin typeface="Montserrat"/>
              </a:rPr>
              <a:t>Predecir</a:t>
            </a:r>
          </a:p>
        </p:txBody>
      </p:sp>
      <p:sp>
        <p:nvSpPr>
          <p:cNvPr id="183" name="TextBox 182"/>
          <p:cNvSpPr txBox="1"/>
          <p:nvPr/>
        </p:nvSpPr>
        <p:spPr>
          <a:xfrm>
            <a:off x="8229600" y="5248655"/>
            <a:ext cx="2898648" cy="384048"/>
          </a:xfrm>
          <a:prstGeom prst="rect">
            <a:avLst/>
          </a:prstGeom>
          <a:noFill/>
        </p:spPr>
        <p:txBody>
          <a:bodyPr wrap="square" lIns="0" tIns="0" rIns="0" bIns="0" anchor="t">
            <a:spAutoFit/>
          </a:bodyPr>
          <a:lstStyle/>
          <a:p>
            <a:pPr algn="l">
              <a:spcAft>
                <a:spcPts val="600"/>
              </a:spcAft>
            </a:pPr>
            <a:r>
              <a:rPr sz="1000" b="0" i="0">
                <a:solidFill>
                  <a:srgbClr val="FFFFFF"/>
                </a:solidFill>
                <a:effectLst>
                  <a:glow rad="63500">
                    <a:srgbClr val="001633">
                      <a:alpha val="85000"/>
                    </a:srgbClr>
                  </a:glow>
                </a:effectLst>
                <a:latin typeface="Montserrat"/>
              </a:rPr>
              <a:t>Su desgaste se compara con la curva de vida para anticipar el cambio</a:t>
            </a:r>
          </a:p>
        </p:txBody>
      </p:sp>
      <p:sp>
        <p:nvSpPr>
          <p:cNvPr id="184" name="Fuente"/>
          <p:cNvSpPr txBox="1"/>
          <p:nvPr/>
        </p:nvSpPr>
        <p:spPr>
          <a:xfrm>
            <a:off x="1252728" y="5916168"/>
            <a:ext cx="10012680" cy="228600"/>
          </a:xfrm>
          <a:prstGeom prst="rect">
            <a:avLst/>
          </a:prstGeom>
          <a:noFill/>
        </p:spPr>
        <p:txBody>
          <a:bodyPr wrap="square" lIns="0" tIns="0" rIns="0" bIns="0" anchor="t">
            <a:spAutoFit/>
          </a:bodyPr>
          <a:lstStyle/>
          <a:p>
            <a:pPr algn="l">
              <a:spcAft>
                <a:spcPts val="600"/>
              </a:spcAft>
            </a:pPr>
            <a:r>
              <a:rPr sz="900" b="0" i="0">
                <a:solidFill>
                  <a:srgbClr val="A9B8C9"/>
                </a:solidFill>
                <a:effectLst>
                  <a:glow rad="63500">
                    <a:srgbClr val="001633">
                      <a:alpha val="85000"/>
                    </a:srgbClr>
                  </a:glow>
                </a:effectLst>
                <a:latin typeface="Montserrat"/>
              </a:rPr>
              <a:t>IoT Analytics (2026) [1]</a:t>
            </a:r>
          </a:p>
        </p:txBody>
      </p:sp>
      <p:sp>
        <p:nvSpPr>
          <p:cNvPr id="185"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 · Fundamentos</a:t>
            </a:r>
          </a:p>
        </p:txBody>
      </p:sp>
      <p:sp>
        <p:nvSpPr>
          <p:cNvPr id="186"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7" name="Avance I actual"/>
          <p:cNvSpPr/>
          <p:nvPr/>
        </p:nvSpPr>
        <p:spPr>
          <a:xfrm>
            <a:off x="1252728" y="6510528"/>
            <a:ext cx="29718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8"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 · Industria</a:t>
            </a:r>
          </a:p>
        </p:txBody>
      </p:sp>
      <p:sp>
        <p:nvSpPr>
          <p:cNvPr id="189"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0"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III · Construcción</a:t>
            </a:r>
          </a:p>
        </p:txBody>
      </p:sp>
      <p:sp>
        <p:nvSpPr>
          <p:cNvPr id="191"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2"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193"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4"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2/12 </a:t>
            </a:r>
            <a:r>
              <a:rPr sz="1000" b="0" i="0">
                <a:solidFill>
                  <a:srgbClr val="A9B8C9"/>
                </a:solidFill>
                <a:effectLst>
                  <a:glow rad="63500">
                    <a:srgbClr val="001633">
                      <a:alpha val="85000"/>
                    </a:srgbClr>
                  </a:glow>
                </a:effectLst>
                <a:latin typeface="Montserrat"/>
              </a:rPr>
              <a:t>· Gemelos Digitales para Minería 4.0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De una pieza a toda la cadena: el nivel define qué se modela</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 · FUNDAMENTOS — EJE 1 · NIVEL JERÁRQUICO</a:t>
            </a:r>
          </a:p>
        </p:txBody>
      </p:sp>
      <p:sp>
        <p:nvSpPr>
          <p:cNvPr id="6" name="TextBox 5"/>
          <p:cNvSpPr txBox="1"/>
          <p:nvPr/>
        </p:nvSpPr>
        <p:spPr>
          <a:xfrm>
            <a:off x="1252728" y="1801367"/>
            <a:ext cx="8138160" cy="45720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El nivel responde de qué es el gemelo. Cada nivel contiene al anterior y, al subir, crecen los datos que integrar y cuesta más cerrar el lazo automáticamente.</a:t>
            </a:r>
          </a:p>
        </p:txBody>
      </p:sp>
      <p:sp>
        <p:nvSpPr>
          <p:cNvPr id="7" name="Macizo"/>
          <p:cNvSpPr/>
          <p:nvPr/>
        </p:nvSpPr>
        <p:spPr>
          <a:xfrm>
            <a:off x="1252728" y="3383280"/>
            <a:ext cx="9902952" cy="841248"/>
          </a:xfrm>
          <a:custGeom>
            <a:avLst/>
            <a:gdLst/>
            <a:ahLst/>
            <a:cxnLst/>
            <a:rect l="l" t="t" r="r" b="b"/>
            <a:pathLst>
              <a:path w="9902952" h="841248">
                <a:moveTo>
                  <a:pt x="0" y="841248"/>
                </a:moveTo>
                <a:lnTo>
                  <a:pt x="0" y="731520"/>
                </a:lnTo>
                <a:lnTo>
                  <a:pt x="0" y="731520"/>
                </a:lnTo>
                <a:lnTo>
                  <a:pt x="1559052" y="731520"/>
                </a:lnTo>
                <a:lnTo>
                  <a:pt x="1668780" y="585216"/>
                </a:lnTo>
                <a:lnTo>
                  <a:pt x="3227832" y="585216"/>
                </a:lnTo>
                <a:lnTo>
                  <a:pt x="3337560" y="438912"/>
                </a:lnTo>
                <a:lnTo>
                  <a:pt x="4896612" y="438912"/>
                </a:lnTo>
                <a:lnTo>
                  <a:pt x="5006340" y="292608"/>
                </a:lnTo>
                <a:lnTo>
                  <a:pt x="6565392" y="292608"/>
                </a:lnTo>
                <a:lnTo>
                  <a:pt x="6675120" y="146304"/>
                </a:lnTo>
                <a:lnTo>
                  <a:pt x="8234172" y="146304"/>
                </a:lnTo>
                <a:lnTo>
                  <a:pt x="8343900" y="0"/>
                </a:lnTo>
                <a:lnTo>
                  <a:pt x="9902952" y="0"/>
                </a:lnTo>
                <a:lnTo>
                  <a:pt x="9902952" y="841248"/>
                </a:lnTo>
                <a:close/>
              </a:path>
            </a:pathLst>
          </a:custGeom>
          <a:solidFill>
            <a:srgbClr val="0B264A">
              <a:alpha val="70000"/>
            </a:srgbClr>
          </a:solidFill>
          <a:ln w="9525">
            <a:solidFill>
              <a:srgbClr val="0B2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Bancos"/>
          <p:cNvSpPr/>
          <p:nvPr/>
        </p:nvSpPr>
        <p:spPr>
          <a:xfrm>
            <a:off x="1252728" y="3383280"/>
            <a:ext cx="9902952" cy="731520"/>
          </a:xfrm>
          <a:custGeom>
            <a:avLst/>
            <a:gdLst/>
            <a:ahLst/>
            <a:cxnLst/>
            <a:rect l="l" t="t" r="r" b="b"/>
            <a:pathLst>
              <a:path w="9902952" h="731520">
                <a:moveTo>
                  <a:pt x="0" y="731520"/>
                </a:moveTo>
                <a:lnTo>
                  <a:pt x="1559052" y="731520"/>
                </a:lnTo>
                <a:lnTo>
                  <a:pt x="1668780" y="585216"/>
                </a:lnTo>
                <a:lnTo>
                  <a:pt x="3227832" y="585216"/>
                </a:lnTo>
                <a:lnTo>
                  <a:pt x="3337560" y="438912"/>
                </a:lnTo>
                <a:lnTo>
                  <a:pt x="4896612" y="438912"/>
                </a:lnTo>
                <a:lnTo>
                  <a:pt x="5006340" y="292608"/>
                </a:lnTo>
                <a:lnTo>
                  <a:pt x="6565392" y="292608"/>
                </a:lnTo>
                <a:lnTo>
                  <a:pt x="6675120" y="146304"/>
                </a:lnTo>
                <a:lnTo>
                  <a:pt x="8234172" y="146304"/>
                </a:lnTo>
                <a:lnTo>
                  <a:pt x="8343900" y="0"/>
                </a:lnTo>
                <a:lnTo>
                  <a:pt x="9902952" y="0"/>
                </a:lnTo>
              </a:path>
            </a:pathLst>
          </a:custGeom>
          <a:no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lano bomba" descr="nivel1-plano-bomba.png"/>
          <p:cNvPicPr>
            <a:picLocks noChangeAspect="1"/>
          </p:cNvPicPr>
          <p:nvPr/>
        </p:nvPicPr>
        <p:blipFill>
          <a:blip r:embed="rId3"/>
          <a:srcRect l="25" r="25"/>
          <a:stretch>
            <a:fillRect/>
          </a:stretch>
        </p:blipFill>
        <p:spPr>
          <a:xfrm>
            <a:off x="1289304" y="3090672"/>
            <a:ext cx="1485900" cy="960120"/>
          </a:xfrm>
          <a:prstGeom prst="rect">
            <a:avLst/>
          </a:prstGeom>
        </p:spPr>
      </p:pic>
      <p:sp>
        <p:nvSpPr>
          <p:cNvPr id="10" name="Marco plano"/>
          <p:cNvSpPr/>
          <p:nvPr/>
        </p:nvSpPr>
        <p:spPr>
          <a:xfrm>
            <a:off x="1289304" y="3090672"/>
            <a:ext cx="1485900" cy="960120"/>
          </a:xfrm>
          <a:prstGeom prst="rect">
            <a:avLst/>
          </a:prstGeom>
          <a:no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252728" y="4343400"/>
            <a:ext cx="1559052" cy="27432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1 </a:t>
            </a:r>
            <a:r>
              <a:rPr sz="1400" b="1" i="0">
                <a:solidFill>
                  <a:srgbClr val="FFFFFF"/>
                </a:solidFill>
                <a:effectLst>
                  <a:glow rad="63500">
                    <a:srgbClr val="001633">
                      <a:alpha val="85000"/>
                    </a:srgbClr>
                  </a:glow>
                </a:effectLst>
                <a:latin typeface="Montserrat"/>
              </a:rPr>
              <a:t>Informacional</a:t>
            </a:r>
          </a:p>
        </p:txBody>
      </p:sp>
      <p:sp>
        <p:nvSpPr>
          <p:cNvPr id="12" name="TextBox 11"/>
          <p:cNvSpPr txBox="1"/>
          <p:nvPr/>
        </p:nvSpPr>
        <p:spPr>
          <a:xfrm>
            <a:off x="1252728" y="4681728"/>
            <a:ext cx="1513332" cy="457200"/>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Información del activo en formato digital</a:t>
            </a:r>
          </a:p>
        </p:txBody>
      </p:sp>
      <p:cxnSp>
        <p:nvCxnSpPr>
          <p:cNvPr id="13" name="Raya ejemplo"/>
          <p:cNvCxnSpPr/>
          <p:nvPr/>
        </p:nvCxnSpPr>
        <p:spPr>
          <a:xfrm>
            <a:off x="1252728" y="5193792"/>
            <a:ext cx="32004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252728" y="5266944"/>
            <a:ext cx="1513332" cy="457200"/>
          </a:xfrm>
          <a:prstGeom prst="rect">
            <a:avLst/>
          </a:prstGeom>
          <a:noFill/>
        </p:spPr>
        <p:txBody>
          <a:bodyPr wrap="square" lIns="0" tIns="0" rIns="0" bIns="0" anchor="t">
            <a:spAutoFit/>
          </a:bodyPr>
          <a:lstStyle/>
          <a:p>
            <a:pPr algn="l">
              <a:spcAft>
                <a:spcPts val="600"/>
              </a:spcAft>
            </a:pPr>
            <a:r>
              <a:rPr sz="1000" b="0" i="0">
                <a:solidFill>
                  <a:srgbClr val="FFFFFF"/>
                </a:solidFill>
                <a:effectLst>
                  <a:glow rad="63500">
                    <a:srgbClr val="001633">
                      <a:alpha val="85000"/>
                    </a:srgbClr>
                  </a:glow>
                </a:effectLst>
                <a:latin typeface="Montserrat"/>
              </a:rPr>
              <a:t>Planos y fichas técnicas de una bomba</a:t>
            </a:r>
          </a:p>
        </p:txBody>
      </p:sp>
      <p:pic>
        <p:nvPicPr>
          <p:cNvPr id="15" name="nivel2-neumatico-michelin" descr="nivel2-neumatico-michelin.jpg"/>
          <p:cNvPicPr>
            <a:picLocks noChangeAspect="1"/>
          </p:cNvPicPr>
          <p:nvPr/>
        </p:nvPicPr>
        <p:blipFill>
          <a:blip r:embed="rId4">
            <a:duotone>
              <a:srgbClr val="001633"/>
              <a:srgbClr val="A9B8C9"/>
            </a:duotone>
          </a:blip>
          <a:srcRect l="25" r="25"/>
          <a:stretch>
            <a:fillRect/>
          </a:stretch>
        </p:blipFill>
        <p:spPr>
          <a:xfrm>
            <a:off x="2958084" y="2944368"/>
            <a:ext cx="1485900" cy="960120"/>
          </a:xfrm>
          <a:prstGeom prst="rect">
            <a:avLst/>
          </a:prstGeom>
        </p:spPr>
      </p:pic>
      <p:sp>
        <p:nvSpPr>
          <p:cNvPr id="16" name="TextBox 15"/>
          <p:cNvSpPr txBox="1"/>
          <p:nvPr/>
        </p:nvSpPr>
        <p:spPr>
          <a:xfrm>
            <a:off x="2921508" y="4343400"/>
            <a:ext cx="1559052" cy="27432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2 </a:t>
            </a:r>
            <a:r>
              <a:rPr sz="1400" b="1" i="0">
                <a:solidFill>
                  <a:srgbClr val="FFFFFF"/>
                </a:solidFill>
                <a:effectLst>
                  <a:glow rad="63500">
                    <a:srgbClr val="001633">
                      <a:alpha val="85000"/>
                    </a:srgbClr>
                  </a:glow>
                </a:effectLst>
                <a:latin typeface="Montserrat"/>
              </a:rPr>
              <a:t>Componente</a:t>
            </a:r>
          </a:p>
        </p:txBody>
      </p:sp>
      <p:sp>
        <p:nvSpPr>
          <p:cNvPr id="17" name="TextBox 16"/>
          <p:cNvSpPr txBox="1"/>
          <p:nvPr/>
        </p:nvSpPr>
        <p:spPr>
          <a:xfrm>
            <a:off x="2921508" y="4681728"/>
            <a:ext cx="1513332" cy="457200"/>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Una pieza del equipo y su condición</a:t>
            </a:r>
          </a:p>
        </p:txBody>
      </p:sp>
      <p:cxnSp>
        <p:nvCxnSpPr>
          <p:cNvPr id="18" name="Raya ejemplo"/>
          <p:cNvCxnSpPr/>
          <p:nvPr/>
        </p:nvCxnSpPr>
        <p:spPr>
          <a:xfrm>
            <a:off x="2921508" y="5193792"/>
            <a:ext cx="32004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921508" y="5266944"/>
            <a:ext cx="1513332" cy="457200"/>
          </a:xfrm>
          <a:prstGeom prst="rect">
            <a:avLst/>
          </a:prstGeom>
          <a:noFill/>
        </p:spPr>
        <p:txBody>
          <a:bodyPr wrap="square" lIns="0" tIns="0" rIns="0" bIns="0" anchor="t">
            <a:spAutoFit/>
          </a:bodyPr>
          <a:lstStyle/>
          <a:p>
            <a:pPr algn="l">
              <a:spcAft>
                <a:spcPts val="600"/>
              </a:spcAft>
            </a:pPr>
            <a:r>
              <a:rPr sz="1000" b="0" i="0">
                <a:solidFill>
                  <a:srgbClr val="FFFFFF"/>
                </a:solidFill>
                <a:effectLst>
                  <a:glow rad="63500">
                    <a:srgbClr val="001633">
                      <a:alpha val="85000"/>
                    </a:srgbClr>
                  </a:glow>
                </a:effectLst>
                <a:latin typeface="Montserrat"/>
              </a:rPr>
              <a:t>Neumático de un camión de extracción</a:t>
            </a:r>
          </a:p>
        </p:txBody>
      </p:sp>
      <p:pic>
        <p:nvPicPr>
          <p:cNvPr id="20" name="nivel3-lhd-subterraneo" descr="nivel3-lhd-subterraneo.jpg"/>
          <p:cNvPicPr>
            <a:picLocks noChangeAspect="1"/>
          </p:cNvPicPr>
          <p:nvPr/>
        </p:nvPicPr>
        <p:blipFill>
          <a:blip r:embed="rId5">
            <a:duotone>
              <a:srgbClr val="001633"/>
              <a:srgbClr val="A9B8C9"/>
            </a:duotone>
          </a:blip>
          <a:srcRect l="25" r="25"/>
          <a:stretch>
            <a:fillRect/>
          </a:stretch>
        </p:blipFill>
        <p:spPr>
          <a:xfrm>
            <a:off x="4626864" y="2798064"/>
            <a:ext cx="1485900" cy="960120"/>
          </a:xfrm>
          <a:prstGeom prst="rect">
            <a:avLst/>
          </a:prstGeom>
        </p:spPr>
      </p:pic>
      <p:sp>
        <p:nvSpPr>
          <p:cNvPr id="21" name="TextBox 20"/>
          <p:cNvSpPr txBox="1"/>
          <p:nvPr/>
        </p:nvSpPr>
        <p:spPr>
          <a:xfrm>
            <a:off x="4590288" y="4343400"/>
            <a:ext cx="1559052" cy="27432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3 </a:t>
            </a:r>
            <a:r>
              <a:rPr sz="1400" b="1" i="0">
                <a:solidFill>
                  <a:srgbClr val="FFFFFF"/>
                </a:solidFill>
                <a:effectLst>
                  <a:glow rad="63500">
                    <a:srgbClr val="001633">
                      <a:alpha val="85000"/>
                    </a:srgbClr>
                  </a:glow>
                </a:effectLst>
                <a:latin typeface="Montserrat"/>
              </a:rPr>
              <a:t>Producto</a:t>
            </a:r>
          </a:p>
        </p:txBody>
      </p:sp>
      <p:sp>
        <p:nvSpPr>
          <p:cNvPr id="22" name="TextBox 21"/>
          <p:cNvSpPr txBox="1"/>
          <p:nvPr/>
        </p:nvSpPr>
        <p:spPr>
          <a:xfrm>
            <a:off x="4590288" y="4681728"/>
            <a:ext cx="1513332" cy="457200"/>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Un equipo completo y sus piezas</a:t>
            </a:r>
          </a:p>
        </p:txBody>
      </p:sp>
      <p:cxnSp>
        <p:nvCxnSpPr>
          <p:cNvPr id="23" name="Raya ejemplo"/>
          <p:cNvCxnSpPr/>
          <p:nvPr/>
        </p:nvCxnSpPr>
        <p:spPr>
          <a:xfrm>
            <a:off x="4590288" y="5193792"/>
            <a:ext cx="32004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590288" y="5266944"/>
            <a:ext cx="1513332" cy="457200"/>
          </a:xfrm>
          <a:prstGeom prst="rect">
            <a:avLst/>
          </a:prstGeom>
          <a:noFill/>
        </p:spPr>
        <p:txBody>
          <a:bodyPr wrap="square" lIns="0" tIns="0" rIns="0" bIns="0" anchor="t">
            <a:spAutoFit/>
          </a:bodyPr>
          <a:lstStyle/>
          <a:p>
            <a:pPr algn="l">
              <a:spcAft>
                <a:spcPts val="600"/>
              </a:spcAft>
            </a:pPr>
            <a:r>
              <a:rPr sz="1000" b="0" i="0">
                <a:solidFill>
                  <a:srgbClr val="FFFFFF"/>
                </a:solidFill>
                <a:effectLst>
                  <a:glow rad="63500">
                    <a:srgbClr val="001633">
                      <a:alpha val="85000"/>
                    </a:srgbClr>
                  </a:glow>
                </a:effectLst>
                <a:latin typeface="Montserrat"/>
              </a:rPr>
              <a:t>Cargador LHD en su ciclo de carga</a:t>
            </a:r>
          </a:p>
        </p:txBody>
      </p:sp>
      <p:pic>
        <p:nvPicPr>
          <p:cNvPr id="25" name="flotacion-celdas-delkor" descr="flotacion-celdas-delkor.jpg"/>
          <p:cNvPicPr>
            <a:picLocks noChangeAspect="1"/>
          </p:cNvPicPr>
          <p:nvPr/>
        </p:nvPicPr>
        <p:blipFill>
          <a:blip r:embed="rId6">
            <a:duotone>
              <a:srgbClr val="001633"/>
              <a:srgbClr val="A9B8C9"/>
            </a:duotone>
          </a:blip>
          <a:srcRect t="6923" b="6923"/>
          <a:stretch>
            <a:fillRect/>
          </a:stretch>
        </p:blipFill>
        <p:spPr>
          <a:xfrm>
            <a:off x="6295644" y="2651760"/>
            <a:ext cx="1485900" cy="960120"/>
          </a:xfrm>
          <a:prstGeom prst="rect">
            <a:avLst/>
          </a:prstGeom>
        </p:spPr>
      </p:pic>
      <p:sp>
        <p:nvSpPr>
          <p:cNvPr id="26" name="TextBox 25"/>
          <p:cNvSpPr txBox="1"/>
          <p:nvPr/>
        </p:nvSpPr>
        <p:spPr>
          <a:xfrm>
            <a:off x="6259068" y="4343400"/>
            <a:ext cx="1559052" cy="27432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4 </a:t>
            </a:r>
            <a:r>
              <a:rPr sz="1400" b="1" i="0">
                <a:solidFill>
                  <a:srgbClr val="FFFFFF"/>
                </a:solidFill>
                <a:effectLst>
                  <a:glow rad="63500">
                    <a:srgbClr val="001633">
                      <a:alpha val="85000"/>
                    </a:srgbClr>
                  </a:glow>
                </a:effectLst>
                <a:latin typeface="Montserrat"/>
              </a:rPr>
              <a:t>Proceso</a:t>
            </a:r>
          </a:p>
        </p:txBody>
      </p:sp>
      <p:sp>
        <p:nvSpPr>
          <p:cNvPr id="27" name="TextBox 26"/>
          <p:cNvSpPr txBox="1"/>
          <p:nvPr/>
        </p:nvSpPr>
        <p:spPr>
          <a:xfrm>
            <a:off x="6259068" y="4681728"/>
            <a:ext cx="1513332" cy="457200"/>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Equipos distintos que logran un resultado</a:t>
            </a:r>
          </a:p>
        </p:txBody>
      </p:sp>
      <p:cxnSp>
        <p:nvCxnSpPr>
          <p:cNvPr id="28" name="Raya ejemplo"/>
          <p:cNvCxnSpPr/>
          <p:nvPr/>
        </p:nvCxnSpPr>
        <p:spPr>
          <a:xfrm>
            <a:off x="6259068" y="5193792"/>
            <a:ext cx="32004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259068" y="5266944"/>
            <a:ext cx="1513332" cy="457200"/>
          </a:xfrm>
          <a:prstGeom prst="rect">
            <a:avLst/>
          </a:prstGeom>
          <a:noFill/>
        </p:spPr>
        <p:txBody>
          <a:bodyPr wrap="square" lIns="0" tIns="0" rIns="0" bIns="0" anchor="t">
            <a:spAutoFit/>
          </a:bodyPr>
          <a:lstStyle/>
          <a:p>
            <a:pPr algn="l">
              <a:spcAft>
                <a:spcPts val="600"/>
              </a:spcAft>
            </a:pPr>
            <a:r>
              <a:rPr sz="1000" b="0" i="0">
                <a:solidFill>
                  <a:srgbClr val="FFFFFF"/>
                </a:solidFill>
                <a:effectLst>
                  <a:glow rad="63500">
                    <a:srgbClr val="001633">
                      <a:alpha val="85000"/>
                    </a:srgbClr>
                  </a:glow>
                </a:effectLst>
                <a:latin typeface="Montserrat"/>
              </a:rPr>
              <a:t>Circuito de flotación de cobre</a:t>
            </a:r>
          </a:p>
        </p:txBody>
      </p:sp>
      <p:pic>
        <p:nvPicPr>
          <p:cNvPr id="30" name="nivel5-planta-colon" descr="nivel5-planta-colon.jpg"/>
          <p:cNvPicPr>
            <a:picLocks noChangeAspect="1"/>
          </p:cNvPicPr>
          <p:nvPr/>
        </p:nvPicPr>
        <p:blipFill>
          <a:blip r:embed="rId7">
            <a:duotone>
              <a:srgbClr val="001633"/>
              <a:srgbClr val="A9B8C9"/>
            </a:duotone>
          </a:blip>
          <a:srcRect l="25" r="25"/>
          <a:stretch>
            <a:fillRect/>
          </a:stretch>
        </p:blipFill>
        <p:spPr>
          <a:xfrm>
            <a:off x="7964424" y="2505456"/>
            <a:ext cx="1485900" cy="960120"/>
          </a:xfrm>
          <a:prstGeom prst="rect">
            <a:avLst/>
          </a:prstGeom>
        </p:spPr>
      </p:pic>
      <p:sp>
        <p:nvSpPr>
          <p:cNvPr id="31" name="TextBox 30"/>
          <p:cNvSpPr txBox="1"/>
          <p:nvPr/>
        </p:nvSpPr>
        <p:spPr>
          <a:xfrm>
            <a:off x="7927848" y="4343400"/>
            <a:ext cx="1559052" cy="27432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5 </a:t>
            </a:r>
            <a:r>
              <a:rPr sz="1400" b="1" i="0">
                <a:solidFill>
                  <a:srgbClr val="FFFFFF"/>
                </a:solidFill>
                <a:effectLst>
                  <a:glow rad="63500">
                    <a:srgbClr val="001633">
                      <a:alpha val="85000"/>
                    </a:srgbClr>
                  </a:glow>
                </a:effectLst>
                <a:latin typeface="Montserrat"/>
              </a:rPr>
              <a:t>Sistema</a:t>
            </a:r>
          </a:p>
        </p:txBody>
      </p:sp>
      <p:sp>
        <p:nvSpPr>
          <p:cNvPr id="32" name="TextBox 31"/>
          <p:cNvSpPr txBox="1"/>
          <p:nvPr/>
        </p:nvSpPr>
        <p:spPr>
          <a:xfrm>
            <a:off x="7927848" y="4681728"/>
            <a:ext cx="1513332" cy="457200"/>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Procesos de una operación completa</a:t>
            </a:r>
          </a:p>
        </p:txBody>
      </p:sp>
      <p:cxnSp>
        <p:nvCxnSpPr>
          <p:cNvPr id="33" name="Raya ejemplo"/>
          <p:cNvCxnSpPr/>
          <p:nvPr/>
        </p:nvCxnSpPr>
        <p:spPr>
          <a:xfrm>
            <a:off x="7927848" y="5193792"/>
            <a:ext cx="32004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927848" y="5266944"/>
            <a:ext cx="1513332" cy="457200"/>
          </a:xfrm>
          <a:prstGeom prst="rect">
            <a:avLst/>
          </a:prstGeom>
          <a:noFill/>
        </p:spPr>
        <p:txBody>
          <a:bodyPr wrap="square" lIns="0" tIns="0" rIns="0" bIns="0" anchor="t">
            <a:spAutoFit/>
          </a:bodyPr>
          <a:lstStyle/>
          <a:p>
            <a:pPr algn="l">
              <a:spcAft>
                <a:spcPts val="600"/>
              </a:spcAft>
            </a:pPr>
            <a:r>
              <a:rPr sz="1000" b="0" i="0">
                <a:solidFill>
                  <a:srgbClr val="FFFFFF"/>
                </a:solidFill>
                <a:effectLst>
                  <a:glow rad="63500">
                    <a:srgbClr val="001633">
                      <a:alpha val="85000"/>
                    </a:srgbClr>
                  </a:glow>
                </a:effectLst>
                <a:latin typeface="Montserrat"/>
              </a:rPr>
              <a:t>Planta concentradora completa</a:t>
            </a:r>
          </a:p>
        </p:txBody>
      </p:sp>
      <p:pic>
        <p:nvPicPr>
          <p:cNvPr id="35" name="nivel6-mina-planta-puerto" descr="nivel6-mina-planta-puerto.jpg"/>
          <p:cNvPicPr>
            <a:picLocks noChangeAspect="1"/>
          </p:cNvPicPr>
          <p:nvPr/>
        </p:nvPicPr>
        <p:blipFill>
          <a:blip r:embed="rId8">
            <a:duotone>
              <a:srgbClr val="001633"/>
              <a:srgbClr val="A9B8C9"/>
            </a:duotone>
          </a:blip>
          <a:srcRect l="25" r="25"/>
          <a:stretch>
            <a:fillRect/>
          </a:stretch>
        </p:blipFill>
        <p:spPr>
          <a:xfrm>
            <a:off x="9633204" y="2359152"/>
            <a:ext cx="1485900" cy="960120"/>
          </a:xfrm>
          <a:prstGeom prst="rect">
            <a:avLst/>
          </a:prstGeom>
        </p:spPr>
      </p:pic>
      <p:sp>
        <p:nvSpPr>
          <p:cNvPr id="36" name="Rótulo MINA"/>
          <p:cNvSpPr/>
          <p:nvPr/>
        </p:nvSpPr>
        <p:spPr>
          <a:xfrm>
            <a:off x="9660636" y="3099816"/>
            <a:ext cx="440436" cy="182880"/>
          </a:xfrm>
          <a:prstGeom prst="rect">
            <a:avLst/>
          </a:prstGeom>
          <a:solidFill>
            <a:srgbClr val="0016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9633204" y="3099816"/>
            <a:ext cx="495300" cy="182880"/>
          </a:xfrm>
          <a:prstGeom prst="rect">
            <a:avLst/>
          </a:prstGeom>
          <a:noFill/>
        </p:spPr>
        <p:txBody>
          <a:bodyPr wrap="square" lIns="0" tIns="0" rIns="0" bIns="0" anchor="ctr">
            <a:spAutoFit/>
          </a:bodyPr>
          <a:lstStyle/>
          <a:p>
            <a:pPr algn="ctr">
              <a:spcAft>
                <a:spcPts val="600"/>
              </a:spcAft>
            </a:pPr>
            <a:r>
              <a:rPr sz="700" b="1" i="0">
                <a:solidFill>
                  <a:srgbClr val="FFFFFF"/>
                </a:solidFill>
                <a:effectLst>
                  <a:glow rad="63500">
                    <a:srgbClr val="001633">
                      <a:alpha val="85000"/>
                    </a:srgbClr>
                  </a:glow>
                </a:effectLst>
                <a:latin typeface="Montserrat"/>
              </a:rPr>
              <a:t>MINA</a:t>
            </a:r>
          </a:p>
        </p:txBody>
      </p:sp>
      <p:sp>
        <p:nvSpPr>
          <p:cNvPr id="38" name="Rótulo PLANTA"/>
          <p:cNvSpPr/>
          <p:nvPr/>
        </p:nvSpPr>
        <p:spPr>
          <a:xfrm>
            <a:off x="10155936" y="3099816"/>
            <a:ext cx="440436" cy="182880"/>
          </a:xfrm>
          <a:prstGeom prst="rect">
            <a:avLst/>
          </a:prstGeom>
          <a:solidFill>
            <a:srgbClr val="0016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10128504" y="3099816"/>
            <a:ext cx="495300" cy="182880"/>
          </a:xfrm>
          <a:prstGeom prst="rect">
            <a:avLst/>
          </a:prstGeom>
          <a:noFill/>
        </p:spPr>
        <p:txBody>
          <a:bodyPr wrap="square" lIns="0" tIns="0" rIns="0" bIns="0" anchor="ctr">
            <a:spAutoFit/>
          </a:bodyPr>
          <a:lstStyle/>
          <a:p>
            <a:pPr algn="ctr">
              <a:spcAft>
                <a:spcPts val="600"/>
              </a:spcAft>
            </a:pPr>
            <a:r>
              <a:rPr sz="700" b="1" i="0">
                <a:solidFill>
                  <a:srgbClr val="FFFFFF"/>
                </a:solidFill>
                <a:effectLst>
                  <a:glow rad="63500">
                    <a:srgbClr val="001633">
                      <a:alpha val="85000"/>
                    </a:srgbClr>
                  </a:glow>
                </a:effectLst>
                <a:latin typeface="Montserrat"/>
              </a:rPr>
              <a:t>PLANTA</a:t>
            </a:r>
          </a:p>
        </p:txBody>
      </p:sp>
      <p:sp>
        <p:nvSpPr>
          <p:cNvPr id="40" name="Rótulo PUERTO"/>
          <p:cNvSpPr/>
          <p:nvPr/>
        </p:nvSpPr>
        <p:spPr>
          <a:xfrm>
            <a:off x="10651236" y="3099816"/>
            <a:ext cx="440436" cy="182880"/>
          </a:xfrm>
          <a:prstGeom prst="rect">
            <a:avLst/>
          </a:prstGeom>
          <a:solidFill>
            <a:srgbClr val="0016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10623804" y="3099816"/>
            <a:ext cx="495300" cy="182880"/>
          </a:xfrm>
          <a:prstGeom prst="rect">
            <a:avLst/>
          </a:prstGeom>
          <a:noFill/>
        </p:spPr>
        <p:txBody>
          <a:bodyPr wrap="square" lIns="0" tIns="0" rIns="0" bIns="0" anchor="ctr">
            <a:spAutoFit/>
          </a:bodyPr>
          <a:lstStyle/>
          <a:p>
            <a:pPr algn="ctr">
              <a:spcAft>
                <a:spcPts val="600"/>
              </a:spcAft>
            </a:pPr>
            <a:r>
              <a:rPr sz="700" b="1" i="0">
                <a:solidFill>
                  <a:srgbClr val="FFFFFF"/>
                </a:solidFill>
                <a:effectLst>
                  <a:glow rad="63500">
                    <a:srgbClr val="001633">
                      <a:alpha val="85000"/>
                    </a:srgbClr>
                  </a:glow>
                </a:effectLst>
                <a:latin typeface="Montserrat"/>
              </a:rPr>
              <a:t>PUERTO</a:t>
            </a:r>
          </a:p>
        </p:txBody>
      </p:sp>
      <p:sp>
        <p:nvSpPr>
          <p:cNvPr id="42" name="TextBox 41"/>
          <p:cNvSpPr txBox="1"/>
          <p:nvPr/>
        </p:nvSpPr>
        <p:spPr>
          <a:xfrm>
            <a:off x="9596628" y="4343400"/>
            <a:ext cx="1559052" cy="27432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6 </a:t>
            </a:r>
            <a:r>
              <a:rPr sz="1400" b="1" i="0">
                <a:solidFill>
                  <a:srgbClr val="FFFFFF"/>
                </a:solidFill>
                <a:effectLst>
                  <a:glow rad="63500">
                    <a:srgbClr val="001633">
                      <a:alpha val="85000"/>
                    </a:srgbClr>
                  </a:glow>
                </a:effectLst>
                <a:latin typeface="Montserrat"/>
              </a:rPr>
              <a:t>Multisistema</a:t>
            </a:r>
          </a:p>
        </p:txBody>
      </p:sp>
      <p:sp>
        <p:nvSpPr>
          <p:cNvPr id="43" name="TextBox 42"/>
          <p:cNvSpPr txBox="1"/>
          <p:nvPr/>
        </p:nvSpPr>
        <p:spPr>
          <a:xfrm>
            <a:off x="9596628" y="4681728"/>
            <a:ext cx="1513332" cy="457200"/>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Sistemas que operan como uno solo</a:t>
            </a:r>
          </a:p>
        </p:txBody>
      </p:sp>
      <p:cxnSp>
        <p:nvCxnSpPr>
          <p:cNvPr id="44" name="Raya ejemplo"/>
          <p:cNvCxnSpPr/>
          <p:nvPr/>
        </p:nvCxnSpPr>
        <p:spPr>
          <a:xfrm>
            <a:off x="9596628" y="5193792"/>
            <a:ext cx="32004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9596628" y="5266944"/>
            <a:ext cx="1513332" cy="457200"/>
          </a:xfrm>
          <a:prstGeom prst="rect">
            <a:avLst/>
          </a:prstGeom>
          <a:noFill/>
        </p:spPr>
        <p:txBody>
          <a:bodyPr wrap="square" lIns="0" tIns="0" rIns="0" bIns="0" anchor="t">
            <a:spAutoFit/>
          </a:bodyPr>
          <a:lstStyle/>
          <a:p>
            <a:pPr algn="l">
              <a:spcAft>
                <a:spcPts val="600"/>
              </a:spcAft>
            </a:pPr>
            <a:r>
              <a:rPr sz="1000" b="0" i="0">
                <a:solidFill>
                  <a:srgbClr val="FFFFFF"/>
                </a:solidFill>
                <a:effectLst>
                  <a:glow rad="63500">
                    <a:srgbClr val="001633">
                      <a:alpha val="85000"/>
                    </a:srgbClr>
                  </a:glow>
                </a:effectLst>
                <a:latin typeface="Montserrat"/>
              </a:rPr>
              <a:t>Cadena mina–planta–puerto</a:t>
            </a:r>
          </a:p>
        </p:txBody>
      </p:sp>
      <p:sp>
        <p:nvSpPr>
          <p:cNvPr id="46" name="TextBox 45"/>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Niveles: IoT Analytics (2020) [4] · ejemplos ilustrativos · imágenes: Wikimedia Commons (CC BY-SA, CC BY y dominio público; autores en las notas)</a:t>
            </a:r>
          </a:p>
        </p:txBody>
      </p:sp>
      <p:sp>
        <p:nvSpPr>
          <p:cNvPr id="47"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 · Fundamentos</a:t>
            </a:r>
          </a:p>
        </p:txBody>
      </p:sp>
      <p:sp>
        <p:nvSpPr>
          <p:cNvPr id="48"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Avance I actual"/>
          <p:cNvSpPr/>
          <p:nvPr/>
        </p:nvSpPr>
        <p:spPr>
          <a:xfrm>
            <a:off x="1252728" y="6510528"/>
            <a:ext cx="44577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 · Industria</a:t>
            </a:r>
          </a:p>
        </p:txBody>
      </p:sp>
      <p:sp>
        <p:nvSpPr>
          <p:cNvPr id="51"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III · Construcción</a:t>
            </a:r>
          </a:p>
        </p:txBody>
      </p:sp>
      <p:sp>
        <p:nvSpPr>
          <p:cNvPr id="53"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55"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3/12 </a:t>
            </a:r>
            <a:r>
              <a:rPr sz="1000" b="0" i="0">
                <a:solidFill>
                  <a:srgbClr val="A9B8C9"/>
                </a:solidFill>
                <a:effectLst>
                  <a:glow rad="63500">
                    <a:srgbClr val="001633">
                      <a:alpha val="85000"/>
                    </a:srgbClr>
                  </a:glow>
                </a:effectLst>
                <a:latin typeface="Montserrat"/>
              </a:rPr>
              <a:t>· Gemelos Digitales para Minería 4.0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El gemelo acompaña al activo desde el diseño hasta el cierre</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 · FUNDAMENTOS — EJE 2 · CICLO DE VIDA</a:t>
            </a:r>
          </a:p>
        </p:txBody>
      </p:sp>
      <p:sp>
        <p:nvSpPr>
          <p:cNvPr id="6" name="TextBox 5"/>
          <p:cNvSpPr txBox="1"/>
          <p:nvPr/>
        </p:nvSpPr>
        <p:spPr>
          <a:xfrm>
            <a:off x="1252728" y="1801367"/>
            <a:ext cx="8138160" cy="45720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La fase responde cuándo se usa el gemelo. En minería se lee como la vida del activo, del proyecto al cierre de faena; en diseño y construcción todavía no hay un activo físico que entregue datos.</a:t>
            </a:r>
          </a:p>
        </p:txBody>
      </p:sp>
      <p:cxnSp>
        <p:nvCxnSpPr>
          <p:cNvPr id="7" name="Vida del activo"/>
          <p:cNvCxnSpPr/>
          <p:nvPr/>
        </p:nvCxnSpPr>
        <p:spPr>
          <a:xfrm>
            <a:off x="1252728" y="3959352"/>
            <a:ext cx="10012680" cy="0"/>
          </a:xfrm>
          <a:prstGeom prst="line">
            <a:avLst/>
          </a:prstGeom>
          <a:ln w="22225">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979408" y="4032504"/>
            <a:ext cx="2286000" cy="201168"/>
          </a:xfrm>
          <a:prstGeom prst="rect">
            <a:avLst/>
          </a:prstGeom>
          <a:noFill/>
        </p:spPr>
        <p:txBody>
          <a:bodyPr wrap="square" lIns="0" tIns="0" rIns="0" bIns="0" anchor="t">
            <a:spAutoFit/>
          </a:bodyPr>
          <a:lstStyle/>
          <a:p>
            <a:pPr algn="r">
              <a:spcAft>
                <a:spcPts val="600"/>
              </a:spcAft>
            </a:pPr>
            <a:r>
              <a:rPr sz="900" b="1" i="0">
                <a:solidFill>
                  <a:srgbClr val="A9B8C9"/>
                </a:solidFill>
                <a:effectLst>
                  <a:glow rad="63500">
                    <a:srgbClr val="001633">
                      <a:alpha val="85000"/>
                    </a:srgbClr>
                  </a:glow>
                </a:effectLst>
                <a:latin typeface="Montserrat"/>
              </a:rPr>
              <a:t>vida del activo</a:t>
            </a:r>
          </a:p>
        </p:txBody>
      </p:sp>
      <p:pic>
        <p:nvPicPr>
          <p:cNvPr id="9" name="relaves-tranque-las-tortolas" descr="relaves-tranque-las-tortolas.jpg"/>
          <p:cNvPicPr>
            <a:picLocks noChangeAspect="1"/>
          </p:cNvPicPr>
          <p:nvPr/>
        </p:nvPicPr>
        <p:blipFill>
          <a:blip r:embed="rId3">
            <a:duotone>
              <a:srgbClr val="001633"/>
              <a:srgbClr val="A9B8C9"/>
            </a:duotone>
          </a:blip>
          <a:srcRect t="5533" b="5533"/>
          <a:stretch>
            <a:fillRect/>
          </a:stretch>
        </p:blipFill>
        <p:spPr>
          <a:xfrm>
            <a:off x="1289304" y="2697480"/>
            <a:ext cx="1485900" cy="960120"/>
          </a:xfrm>
          <a:prstGeom prst="rect">
            <a:avLst/>
          </a:prstGeom>
        </p:spPr>
      </p:pic>
      <p:cxnSp>
        <p:nvCxnSpPr>
          <p:cNvPr id="10" name="Guía fase"/>
          <p:cNvCxnSpPr/>
          <p:nvPr/>
        </p:nvCxnSpPr>
        <p:spPr>
          <a:xfrm>
            <a:off x="2032254" y="3657600"/>
            <a:ext cx="0" cy="301752"/>
          </a:xfrm>
          <a:prstGeom prst="line">
            <a:avLst/>
          </a:prstGeom>
          <a:ln w="12700">
            <a:solidFill>
              <a:srgbClr val="2A456B"/>
            </a:solidFill>
          </a:ln>
        </p:spPr>
        <p:style>
          <a:lnRef idx="2">
            <a:schemeClr val="accent1"/>
          </a:lnRef>
          <a:fillRef idx="0">
            <a:schemeClr val="accent1"/>
          </a:fillRef>
          <a:effectRef idx="1">
            <a:schemeClr val="accent1"/>
          </a:effectRef>
          <a:fontRef idx="minor">
            <a:schemeClr val="tx1"/>
          </a:fontRef>
        </p:style>
      </p:cxnSp>
      <p:sp>
        <p:nvSpPr>
          <p:cNvPr id="11" name="Hito 1"/>
          <p:cNvSpPr/>
          <p:nvPr/>
        </p:nvSpPr>
        <p:spPr>
          <a:xfrm>
            <a:off x="1959102" y="3886200"/>
            <a:ext cx="146304" cy="146304"/>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252728" y="4343400"/>
            <a:ext cx="1559052" cy="27432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1 </a:t>
            </a:r>
            <a:r>
              <a:rPr sz="1400" b="1" i="0">
                <a:solidFill>
                  <a:srgbClr val="FFFFFF"/>
                </a:solidFill>
                <a:effectLst>
                  <a:glow rad="63500">
                    <a:srgbClr val="001633">
                      <a:alpha val="85000"/>
                    </a:srgbClr>
                  </a:glow>
                </a:effectLst>
                <a:latin typeface="Montserrat"/>
              </a:rPr>
              <a:t>Diseñar</a:t>
            </a:r>
          </a:p>
        </p:txBody>
      </p:sp>
      <p:sp>
        <p:nvSpPr>
          <p:cNvPr id="13" name="TextBox 12"/>
          <p:cNvSpPr txBox="1"/>
          <p:nvPr/>
        </p:nvSpPr>
        <p:spPr>
          <a:xfrm>
            <a:off x="1252728" y="4681728"/>
            <a:ext cx="1513332" cy="457200"/>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Se definen requisitos y se comparan diseños</a:t>
            </a:r>
          </a:p>
        </p:txBody>
      </p:sp>
      <p:cxnSp>
        <p:nvCxnSpPr>
          <p:cNvPr id="14" name="Raya ejemplo"/>
          <p:cNvCxnSpPr/>
          <p:nvPr/>
        </p:nvCxnSpPr>
        <p:spPr>
          <a:xfrm>
            <a:off x="1252728" y="5193792"/>
            <a:ext cx="32004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252728" y="5266944"/>
            <a:ext cx="1513332" cy="457200"/>
          </a:xfrm>
          <a:prstGeom prst="rect">
            <a:avLst/>
          </a:prstGeom>
          <a:noFill/>
        </p:spPr>
        <p:txBody>
          <a:bodyPr wrap="square" lIns="0" tIns="0" rIns="0" bIns="0" anchor="t">
            <a:spAutoFit/>
          </a:bodyPr>
          <a:lstStyle/>
          <a:p>
            <a:pPr algn="l">
              <a:spcAft>
                <a:spcPts val="600"/>
              </a:spcAft>
            </a:pPr>
            <a:r>
              <a:rPr sz="1000" b="0" i="0">
                <a:solidFill>
                  <a:srgbClr val="FFFFFF"/>
                </a:solidFill>
                <a:effectLst>
                  <a:glow rad="63500">
                    <a:srgbClr val="001633">
                      <a:alpha val="85000"/>
                    </a:srgbClr>
                  </a:glow>
                </a:effectLst>
                <a:latin typeface="Montserrat"/>
              </a:rPr>
              <a:t>Comparar diseños de un tranque de relaves</a:t>
            </a:r>
          </a:p>
        </p:txBody>
      </p:sp>
      <p:pic>
        <p:nvPicPr>
          <p:cNvPr id="16" name="fase2-construccion-concentradora" descr="fase2-construccion-concentradora.jpg"/>
          <p:cNvPicPr>
            <a:picLocks noChangeAspect="1"/>
          </p:cNvPicPr>
          <p:nvPr/>
        </p:nvPicPr>
        <p:blipFill>
          <a:blip r:embed="rId4">
            <a:duotone>
              <a:srgbClr val="001633"/>
              <a:srgbClr val="A9B8C9"/>
            </a:duotone>
          </a:blip>
          <a:srcRect l="25" r="25"/>
          <a:stretch>
            <a:fillRect/>
          </a:stretch>
        </p:blipFill>
        <p:spPr>
          <a:xfrm>
            <a:off x="2958084" y="2697480"/>
            <a:ext cx="1485900" cy="960120"/>
          </a:xfrm>
          <a:prstGeom prst="rect">
            <a:avLst/>
          </a:prstGeom>
        </p:spPr>
      </p:pic>
      <p:cxnSp>
        <p:nvCxnSpPr>
          <p:cNvPr id="17" name="Guía fase"/>
          <p:cNvCxnSpPr/>
          <p:nvPr/>
        </p:nvCxnSpPr>
        <p:spPr>
          <a:xfrm>
            <a:off x="3701034" y="3657600"/>
            <a:ext cx="0" cy="301752"/>
          </a:xfrm>
          <a:prstGeom prst="line">
            <a:avLst/>
          </a:prstGeom>
          <a:ln w="12700">
            <a:solidFill>
              <a:srgbClr val="2A456B"/>
            </a:solidFill>
          </a:ln>
        </p:spPr>
        <p:style>
          <a:lnRef idx="2">
            <a:schemeClr val="accent1"/>
          </a:lnRef>
          <a:fillRef idx="0">
            <a:schemeClr val="accent1"/>
          </a:fillRef>
          <a:effectRef idx="1">
            <a:schemeClr val="accent1"/>
          </a:effectRef>
          <a:fontRef idx="minor">
            <a:schemeClr val="tx1"/>
          </a:fontRef>
        </p:style>
      </p:cxnSp>
      <p:sp>
        <p:nvSpPr>
          <p:cNvPr id="18" name="Hito 2"/>
          <p:cNvSpPr/>
          <p:nvPr/>
        </p:nvSpPr>
        <p:spPr>
          <a:xfrm>
            <a:off x="3627882" y="3886200"/>
            <a:ext cx="146304" cy="146304"/>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2921508" y="4343400"/>
            <a:ext cx="1559052" cy="27432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2 </a:t>
            </a:r>
            <a:r>
              <a:rPr sz="1400" b="1" i="0">
                <a:solidFill>
                  <a:srgbClr val="FFFFFF"/>
                </a:solidFill>
                <a:effectLst>
                  <a:glow rad="63500">
                    <a:srgbClr val="001633">
                      <a:alpha val="85000"/>
                    </a:srgbClr>
                  </a:glow>
                </a:effectLst>
                <a:latin typeface="Montserrat"/>
              </a:rPr>
              <a:t>Construir</a:t>
            </a:r>
          </a:p>
        </p:txBody>
      </p:sp>
      <p:sp>
        <p:nvSpPr>
          <p:cNvPr id="20" name="TextBox 19"/>
          <p:cNvSpPr txBox="1"/>
          <p:nvPr/>
        </p:nvSpPr>
        <p:spPr>
          <a:xfrm>
            <a:off x="2921508" y="4681728"/>
            <a:ext cx="1513332" cy="457200"/>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Se construye y prueba antes de operar</a:t>
            </a:r>
          </a:p>
        </p:txBody>
      </p:sp>
      <p:cxnSp>
        <p:nvCxnSpPr>
          <p:cNvPr id="21" name="Raya ejemplo"/>
          <p:cNvCxnSpPr/>
          <p:nvPr/>
        </p:nvCxnSpPr>
        <p:spPr>
          <a:xfrm>
            <a:off x="2921508" y="5193792"/>
            <a:ext cx="32004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921508" y="5266944"/>
            <a:ext cx="1513332" cy="457200"/>
          </a:xfrm>
          <a:prstGeom prst="rect">
            <a:avLst/>
          </a:prstGeom>
          <a:noFill/>
        </p:spPr>
        <p:txBody>
          <a:bodyPr wrap="square" lIns="0" tIns="0" rIns="0" bIns="0" anchor="t">
            <a:spAutoFit/>
          </a:bodyPr>
          <a:lstStyle/>
          <a:p>
            <a:pPr algn="l">
              <a:spcAft>
                <a:spcPts val="600"/>
              </a:spcAft>
            </a:pPr>
            <a:r>
              <a:rPr sz="1000" b="0" i="0">
                <a:solidFill>
                  <a:srgbClr val="FFFFFF"/>
                </a:solidFill>
                <a:effectLst>
                  <a:glow rad="63500">
                    <a:srgbClr val="001633">
                      <a:alpha val="85000"/>
                    </a:srgbClr>
                  </a:glow>
                </a:effectLst>
                <a:latin typeface="Montserrat"/>
              </a:rPr>
              <a:t>Probar el control de la molienda</a:t>
            </a:r>
          </a:p>
        </p:txBody>
      </p:sp>
      <p:pic>
        <p:nvPicPr>
          <p:cNvPr id="23" name="carguio-pala-cables-ph-4100" descr="carguio-pala-cables-ph-4100.jpg"/>
          <p:cNvPicPr>
            <a:picLocks noChangeAspect="1"/>
          </p:cNvPicPr>
          <p:nvPr/>
        </p:nvPicPr>
        <p:blipFill>
          <a:blip r:embed="rId5">
            <a:duotone>
              <a:srgbClr val="001633"/>
              <a:srgbClr val="A9B8C9"/>
            </a:duotone>
          </a:blip>
          <a:srcRect t="1689" b="1689"/>
          <a:stretch>
            <a:fillRect/>
          </a:stretch>
        </p:blipFill>
        <p:spPr>
          <a:xfrm>
            <a:off x="4626864" y="2697480"/>
            <a:ext cx="1485900" cy="960120"/>
          </a:xfrm>
          <a:prstGeom prst="rect">
            <a:avLst/>
          </a:prstGeom>
        </p:spPr>
      </p:pic>
      <p:cxnSp>
        <p:nvCxnSpPr>
          <p:cNvPr id="24" name="Guía fase"/>
          <p:cNvCxnSpPr/>
          <p:nvPr/>
        </p:nvCxnSpPr>
        <p:spPr>
          <a:xfrm>
            <a:off x="5369814" y="3657600"/>
            <a:ext cx="0" cy="301752"/>
          </a:xfrm>
          <a:prstGeom prst="line">
            <a:avLst/>
          </a:prstGeom>
          <a:ln w="12700">
            <a:solidFill>
              <a:srgbClr val="2A456B"/>
            </a:solidFill>
          </a:ln>
        </p:spPr>
        <p:style>
          <a:lnRef idx="2">
            <a:schemeClr val="accent1"/>
          </a:lnRef>
          <a:fillRef idx="0">
            <a:schemeClr val="accent1"/>
          </a:fillRef>
          <a:effectRef idx="1">
            <a:schemeClr val="accent1"/>
          </a:effectRef>
          <a:fontRef idx="minor">
            <a:schemeClr val="tx1"/>
          </a:fontRef>
        </p:style>
      </p:cxnSp>
      <p:sp>
        <p:nvSpPr>
          <p:cNvPr id="25" name="Hito 3"/>
          <p:cNvSpPr/>
          <p:nvPr/>
        </p:nvSpPr>
        <p:spPr>
          <a:xfrm>
            <a:off x="5296662" y="3886200"/>
            <a:ext cx="146304" cy="146304"/>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4590288" y="4343400"/>
            <a:ext cx="1559052" cy="27432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3 </a:t>
            </a:r>
            <a:r>
              <a:rPr sz="1400" b="1" i="0">
                <a:solidFill>
                  <a:srgbClr val="FFFFFF"/>
                </a:solidFill>
                <a:effectLst>
                  <a:glow rad="63500">
                    <a:srgbClr val="001633">
                      <a:alpha val="85000"/>
                    </a:srgbClr>
                  </a:glow>
                </a:effectLst>
                <a:latin typeface="Montserrat"/>
              </a:rPr>
              <a:t>Operar</a:t>
            </a:r>
          </a:p>
        </p:txBody>
      </p:sp>
      <p:sp>
        <p:nvSpPr>
          <p:cNvPr id="27" name="TextBox 26"/>
          <p:cNvSpPr txBox="1"/>
          <p:nvPr/>
        </p:nvSpPr>
        <p:spPr>
          <a:xfrm>
            <a:off x="4590288" y="4681728"/>
            <a:ext cx="1513332" cy="457200"/>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Uso diario con datos del activo en línea</a:t>
            </a:r>
          </a:p>
        </p:txBody>
      </p:sp>
      <p:cxnSp>
        <p:nvCxnSpPr>
          <p:cNvPr id="28" name="Raya ejemplo"/>
          <p:cNvCxnSpPr/>
          <p:nvPr/>
        </p:nvCxnSpPr>
        <p:spPr>
          <a:xfrm>
            <a:off x="4590288" y="5193792"/>
            <a:ext cx="32004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90288" y="5266944"/>
            <a:ext cx="1513332" cy="457200"/>
          </a:xfrm>
          <a:prstGeom prst="rect">
            <a:avLst/>
          </a:prstGeom>
          <a:noFill/>
        </p:spPr>
        <p:txBody>
          <a:bodyPr wrap="square" lIns="0" tIns="0" rIns="0" bIns="0" anchor="t">
            <a:spAutoFit/>
          </a:bodyPr>
          <a:lstStyle/>
          <a:p>
            <a:pPr algn="l">
              <a:spcAft>
                <a:spcPts val="600"/>
              </a:spcAft>
            </a:pPr>
            <a:r>
              <a:rPr sz="1000" b="0" i="0">
                <a:solidFill>
                  <a:srgbClr val="FFFFFF"/>
                </a:solidFill>
                <a:effectLst>
                  <a:glow rad="63500">
                    <a:srgbClr val="001633">
                      <a:alpha val="85000"/>
                    </a:srgbClr>
                  </a:glow>
                </a:effectLst>
                <a:latin typeface="Montserrat"/>
              </a:rPr>
              <a:t>Seguir el carguío de palas y camiones</a:t>
            </a:r>
          </a:p>
        </p:txBody>
      </p:sp>
      <p:pic>
        <p:nvPicPr>
          <p:cNvPr id="30" name="mantencion-camion-taller-brockman4" descr="mantencion-camion-taller-brockman4.jpg"/>
          <p:cNvPicPr>
            <a:picLocks noChangeAspect="1"/>
          </p:cNvPicPr>
          <p:nvPr/>
        </p:nvPicPr>
        <p:blipFill>
          <a:blip r:embed="rId6">
            <a:duotone>
              <a:srgbClr val="001633"/>
              <a:srgbClr val="A9B8C9"/>
            </a:duotone>
          </a:blip>
          <a:srcRect t="6923" b="6923"/>
          <a:stretch>
            <a:fillRect/>
          </a:stretch>
        </p:blipFill>
        <p:spPr>
          <a:xfrm>
            <a:off x="6295644" y="2697480"/>
            <a:ext cx="1485900" cy="960120"/>
          </a:xfrm>
          <a:prstGeom prst="rect">
            <a:avLst/>
          </a:prstGeom>
        </p:spPr>
      </p:pic>
      <p:cxnSp>
        <p:nvCxnSpPr>
          <p:cNvPr id="31" name="Guía fase"/>
          <p:cNvCxnSpPr/>
          <p:nvPr/>
        </p:nvCxnSpPr>
        <p:spPr>
          <a:xfrm>
            <a:off x="7038594" y="3657600"/>
            <a:ext cx="0" cy="301752"/>
          </a:xfrm>
          <a:prstGeom prst="line">
            <a:avLst/>
          </a:prstGeom>
          <a:ln w="12700">
            <a:solidFill>
              <a:srgbClr val="2A456B"/>
            </a:solidFill>
          </a:ln>
        </p:spPr>
        <p:style>
          <a:lnRef idx="2">
            <a:schemeClr val="accent1"/>
          </a:lnRef>
          <a:fillRef idx="0">
            <a:schemeClr val="accent1"/>
          </a:fillRef>
          <a:effectRef idx="1">
            <a:schemeClr val="accent1"/>
          </a:effectRef>
          <a:fontRef idx="minor">
            <a:schemeClr val="tx1"/>
          </a:fontRef>
        </p:style>
      </p:cxnSp>
      <p:sp>
        <p:nvSpPr>
          <p:cNvPr id="32" name="Hito 4"/>
          <p:cNvSpPr/>
          <p:nvPr/>
        </p:nvSpPr>
        <p:spPr>
          <a:xfrm>
            <a:off x="6965442" y="3886200"/>
            <a:ext cx="146304" cy="146304"/>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6259068" y="4343400"/>
            <a:ext cx="1559052" cy="27432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4 </a:t>
            </a:r>
            <a:r>
              <a:rPr sz="1400" b="1" i="0">
                <a:solidFill>
                  <a:srgbClr val="FFFFFF"/>
                </a:solidFill>
                <a:effectLst>
                  <a:glow rad="63500">
                    <a:srgbClr val="001633">
                      <a:alpha val="85000"/>
                    </a:srgbClr>
                  </a:glow>
                </a:effectLst>
                <a:latin typeface="Montserrat"/>
              </a:rPr>
              <a:t>Mantener</a:t>
            </a:r>
          </a:p>
        </p:txBody>
      </p:sp>
      <p:sp>
        <p:nvSpPr>
          <p:cNvPr id="34" name="TextBox 33"/>
          <p:cNvSpPr txBox="1"/>
          <p:nvPr/>
        </p:nvSpPr>
        <p:spPr>
          <a:xfrm>
            <a:off x="6259068" y="4681728"/>
            <a:ext cx="1513332" cy="457200"/>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Cambios para sostener la disponibilidad</a:t>
            </a:r>
          </a:p>
        </p:txBody>
      </p:sp>
      <p:cxnSp>
        <p:nvCxnSpPr>
          <p:cNvPr id="35" name="Raya ejemplo"/>
          <p:cNvCxnSpPr/>
          <p:nvPr/>
        </p:nvCxnSpPr>
        <p:spPr>
          <a:xfrm>
            <a:off x="6259068" y="5193792"/>
            <a:ext cx="32004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259068" y="5266944"/>
            <a:ext cx="1513332" cy="457200"/>
          </a:xfrm>
          <a:prstGeom prst="rect">
            <a:avLst/>
          </a:prstGeom>
          <a:noFill/>
        </p:spPr>
        <p:txBody>
          <a:bodyPr wrap="square" lIns="0" tIns="0" rIns="0" bIns="0" anchor="t">
            <a:spAutoFit/>
          </a:bodyPr>
          <a:lstStyle/>
          <a:p>
            <a:pPr algn="l">
              <a:spcAft>
                <a:spcPts val="600"/>
              </a:spcAft>
            </a:pPr>
            <a:r>
              <a:rPr sz="1000" b="0" i="0">
                <a:solidFill>
                  <a:srgbClr val="FFFFFF"/>
                </a:solidFill>
                <a:effectLst>
                  <a:glow rad="63500">
                    <a:srgbClr val="001633">
                      <a:alpha val="85000"/>
                    </a:srgbClr>
                  </a:glow>
                </a:effectLst>
                <a:latin typeface="Montserrat"/>
              </a:rPr>
              <a:t>Mantener un camión según su condición</a:t>
            </a:r>
          </a:p>
        </p:txBody>
      </p:sp>
      <p:pic>
        <p:nvPicPr>
          <p:cNvPr id="37" name="sala-control-moderna" descr="sala-control-moderna.jpg"/>
          <p:cNvPicPr>
            <a:picLocks noChangeAspect="1"/>
          </p:cNvPicPr>
          <p:nvPr/>
        </p:nvPicPr>
        <p:blipFill>
          <a:blip r:embed="rId7">
            <a:duotone>
              <a:srgbClr val="001633"/>
              <a:srgbClr val="A9B8C9"/>
            </a:duotone>
          </a:blip>
          <a:srcRect l="7320" r="7320"/>
          <a:stretch>
            <a:fillRect/>
          </a:stretch>
        </p:blipFill>
        <p:spPr>
          <a:xfrm>
            <a:off x="7964424" y="2697480"/>
            <a:ext cx="1485900" cy="960120"/>
          </a:xfrm>
          <a:prstGeom prst="rect">
            <a:avLst/>
          </a:prstGeom>
        </p:spPr>
      </p:pic>
      <p:cxnSp>
        <p:nvCxnSpPr>
          <p:cNvPr id="38" name="Guía fase"/>
          <p:cNvCxnSpPr/>
          <p:nvPr/>
        </p:nvCxnSpPr>
        <p:spPr>
          <a:xfrm>
            <a:off x="8707374" y="3657600"/>
            <a:ext cx="0" cy="301752"/>
          </a:xfrm>
          <a:prstGeom prst="line">
            <a:avLst/>
          </a:prstGeom>
          <a:ln w="12700">
            <a:solidFill>
              <a:srgbClr val="2A456B"/>
            </a:solidFill>
          </a:ln>
        </p:spPr>
        <p:style>
          <a:lnRef idx="2">
            <a:schemeClr val="accent1"/>
          </a:lnRef>
          <a:fillRef idx="0">
            <a:schemeClr val="accent1"/>
          </a:fillRef>
          <a:effectRef idx="1">
            <a:schemeClr val="accent1"/>
          </a:effectRef>
          <a:fontRef idx="minor">
            <a:schemeClr val="tx1"/>
          </a:fontRef>
        </p:style>
      </p:cxnSp>
      <p:sp>
        <p:nvSpPr>
          <p:cNvPr id="39" name="Hito 5"/>
          <p:cNvSpPr/>
          <p:nvPr/>
        </p:nvSpPr>
        <p:spPr>
          <a:xfrm>
            <a:off x="8634222" y="3886200"/>
            <a:ext cx="146304" cy="146304"/>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7927848" y="4343400"/>
            <a:ext cx="1559052" cy="27432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5 </a:t>
            </a:r>
            <a:r>
              <a:rPr sz="1400" b="1" i="0">
                <a:solidFill>
                  <a:srgbClr val="FFFFFF"/>
                </a:solidFill>
                <a:effectLst>
                  <a:glow rad="63500">
                    <a:srgbClr val="001633">
                      <a:alpha val="85000"/>
                    </a:srgbClr>
                  </a:glow>
                </a:effectLst>
                <a:latin typeface="Montserrat"/>
              </a:rPr>
              <a:t>Optimizar</a:t>
            </a:r>
          </a:p>
        </p:txBody>
      </p:sp>
      <p:sp>
        <p:nvSpPr>
          <p:cNvPr id="41" name="TextBox 40"/>
          <p:cNvSpPr txBox="1"/>
          <p:nvPr/>
        </p:nvSpPr>
        <p:spPr>
          <a:xfrm>
            <a:off x="7927848" y="4681728"/>
            <a:ext cx="1513332" cy="457200"/>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Escenarios para mejorar el desempeño</a:t>
            </a:r>
          </a:p>
        </p:txBody>
      </p:sp>
      <p:cxnSp>
        <p:nvCxnSpPr>
          <p:cNvPr id="42" name="Raya ejemplo"/>
          <p:cNvCxnSpPr/>
          <p:nvPr/>
        </p:nvCxnSpPr>
        <p:spPr>
          <a:xfrm>
            <a:off x="7927848" y="5193792"/>
            <a:ext cx="32004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7927848" y="5266944"/>
            <a:ext cx="1513332" cy="457200"/>
          </a:xfrm>
          <a:prstGeom prst="rect">
            <a:avLst/>
          </a:prstGeom>
          <a:noFill/>
        </p:spPr>
        <p:txBody>
          <a:bodyPr wrap="square" lIns="0" tIns="0" rIns="0" bIns="0" anchor="t">
            <a:spAutoFit/>
          </a:bodyPr>
          <a:lstStyle/>
          <a:p>
            <a:pPr algn="l">
              <a:spcAft>
                <a:spcPts val="600"/>
              </a:spcAft>
            </a:pPr>
            <a:r>
              <a:rPr sz="1000" b="0" i="0">
                <a:solidFill>
                  <a:srgbClr val="FFFFFF"/>
                </a:solidFill>
                <a:effectLst>
                  <a:glow rad="63500">
                    <a:srgbClr val="001633">
                      <a:alpha val="85000"/>
                    </a:srgbClr>
                  </a:glow>
                </a:effectLst>
                <a:latin typeface="Montserrat"/>
              </a:rPr>
              <a:t>Comparar consignas de la planta</a:t>
            </a:r>
          </a:p>
        </p:txBody>
      </p:sp>
      <p:pic>
        <p:nvPicPr>
          <p:cNvPr id="44" name="fase6-cierre-mount-polley" descr="fase6-cierre-mount-polley.jpg"/>
          <p:cNvPicPr>
            <a:picLocks noChangeAspect="1"/>
          </p:cNvPicPr>
          <p:nvPr/>
        </p:nvPicPr>
        <p:blipFill>
          <a:blip r:embed="rId8">
            <a:duotone>
              <a:srgbClr val="001633"/>
              <a:srgbClr val="A9B8C9"/>
            </a:duotone>
          </a:blip>
          <a:srcRect l="25" r="25"/>
          <a:stretch>
            <a:fillRect/>
          </a:stretch>
        </p:blipFill>
        <p:spPr>
          <a:xfrm>
            <a:off x="9633204" y="2697480"/>
            <a:ext cx="1485900" cy="960120"/>
          </a:xfrm>
          <a:prstGeom prst="rect">
            <a:avLst/>
          </a:prstGeom>
        </p:spPr>
      </p:pic>
      <p:cxnSp>
        <p:nvCxnSpPr>
          <p:cNvPr id="45" name="Guía fase"/>
          <p:cNvCxnSpPr/>
          <p:nvPr/>
        </p:nvCxnSpPr>
        <p:spPr>
          <a:xfrm>
            <a:off x="10376154" y="3657600"/>
            <a:ext cx="0" cy="301752"/>
          </a:xfrm>
          <a:prstGeom prst="line">
            <a:avLst/>
          </a:prstGeom>
          <a:ln w="12700">
            <a:solidFill>
              <a:srgbClr val="2A456B"/>
            </a:solidFill>
          </a:ln>
        </p:spPr>
        <p:style>
          <a:lnRef idx="2">
            <a:schemeClr val="accent1"/>
          </a:lnRef>
          <a:fillRef idx="0">
            <a:schemeClr val="accent1"/>
          </a:fillRef>
          <a:effectRef idx="1">
            <a:schemeClr val="accent1"/>
          </a:effectRef>
          <a:fontRef idx="minor">
            <a:schemeClr val="tx1"/>
          </a:fontRef>
        </p:style>
      </p:cxnSp>
      <p:sp>
        <p:nvSpPr>
          <p:cNvPr id="46" name="Hito 6"/>
          <p:cNvSpPr/>
          <p:nvPr/>
        </p:nvSpPr>
        <p:spPr>
          <a:xfrm>
            <a:off x="10303002" y="3886200"/>
            <a:ext cx="146304" cy="146304"/>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9596628" y="4343400"/>
            <a:ext cx="1559052" cy="27432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6 </a:t>
            </a:r>
            <a:r>
              <a:rPr sz="1400" b="1" i="0">
                <a:solidFill>
                  <a:srgbClr val="FFFFFF"/>
                </a:solidFill>
                <a:effectLst>
                  <a:glow rad="63500">
                    <a:srgbClr val="001633">
                      <a:alpha val="85000"/>
                    </a:srgbClr>
                  </a:glow>
                </a:effectLst>
                <a:latin typeface="Montserrat"/>
              </a:rPr>
              <a:t>Cerrar</a:t>
            </a:r>
          </a:p>
        </p:txBody>
      </p:sp>
      <p:sp>
        <p:nvSpPr>
          <p:cNvPr id="48" name="TextBox 47"/>
          <p:cNvSpPr txBox="1"/>
          <p:nvPr/>
        </p:nvSpPr>
        <p:spPr>
          <a:xfrm>
            <a:off x="9596628" y="4681728"/>
            <a:ext cx="1513332" cy="457200"/>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Retiro del activo y de su gemelo</a:t>
            </a:r>
          </a:p>
        </p:txBody>
      </p:sp>
      <p:cxnSp>
        <p:nvCxnSpPr>
          <p:cNvPr id="49" name="Raya ejemplo"/>
          <p:cNvCxnSpPr/>
          <p:nvPr/>
        </p:nvCxnSpPr>
        <p:spPr>
          <a:xfrm>
            <a:off x="9596628" y="5193792"/>
            <a:ext cx="32004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9596628" y="5266944"/>
            <a:ext cx="1513332" cy="457200"/>
          </a:xfrm>
          <a:prstGeom prst="rect">
            <a:avLst/>
          </a:prstGeom>
          <a:noFill/>
        </p:spPr>
        <p:txBody>
          <a:bodyPr wrap="square" lIns="0" tIns="0" rIns="0" bIns="0" anchor="t">
            <a:spAutoFit/>
          </a:bodyPr>
          <a:lstStyle/>
          <a:p>
            <a:pPr algn="l">
              <a:spcAft>
                <a:spcPts val="600"/>
              </a:spcAft>
            </a:pPr>
            <a:r>
              <a:rPr sz="1000" b="0" i="0">
                <a:solidFill>
                  <a:srgbClr val="FFFFFF"/>
                </a:solidFill>
                <a:effectLst>
                  <a:glow rad="63500">
                    <a:srgbClr val="001633">
                      <a:alpha val="85000"/>
                    </a:srgbClr>
                  </a:glow>
                </a:effectLst>
                <a:latin typeface="Montserrat"/>
              </a:rPr>
              <a:t>Seguir la recuperación ambiental tras el cierre</a:t>
            </a:r>
          </a:p>
        </p:txBody>
      </p:sp>
      <p:sp>
        <p:nvSpPr>
          <p:cNvPr id="51" name="TextBox 50"/>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Fases: IoT Analytics (2020) [4], con lectura minera · ejemplos ilustrativos · imágenes: Wikimedia Commons (CC BY-SA, CC0 y dominio público; autores en las notas)</a:t>
            </a:r>
          </a:p>
        </p:txBody>
      </p:sp>
      <p:sp>
        <p:nvSpPr>
          <p:cNvPr id="52"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 · Fundamentos</a:t>
            </a:r>
          </a:p>
        </p:txBody>
      </p:sp>
      <p:sp>
        <p:nvSpPr>
          <p:cNvPr id="53"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Avance I actual"/>
          <p:cNvSpPr/>
          <p:nvPr/>
        </p:nvSpPr>
        <p:spPr>
          <a:xfrm>
            <a:off x="1252728" y="6510528"/>
            <a:ext cx="59436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 · Industria</a:t>
            </a:r>
          </a:p>
        </p:txBody>
      </p:sp>
      <p:sp>
        <p:nvSpPr>
          <p:cNvPr id="56"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III · Construcción</a:t>
            </a:r>
          </a:p>
        </p:txBody>
      </p:sp>
      <p:sp>
        <p:nvSpPr>
          <p:cNvPr id="58"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60"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4/12 </a:t>
            </a:r>
            <a:r>
              <a:rPr sz="1000" b="0" i="0">
                <a:solidFill>
                  <a:srgbClr val="A9B8C9"/>
                </a:solidFill>
                <a:effectLst>
                  <a:glow rad="63500">
                    <a:srgbClr val="001633">
                      <a:alpha val="85000"/>
                    </a:srgbClr>
                  </a:glow>
                </a:effectLst>
                <a:latin typeface="Montserrat"/>
              </a:rPr>
              <a:t>· Gemelos Digitales para Minería 4.0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Siete usos frecuentes, de digitalizar a predecir, y la lista sigue abierta</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 · FUNDAMENTOS — EJE 3 · USO</a:t>
            </a:r>
          </a:p>
        </p:txBody>
      </p:sp>
      <p:sp>
        <p:nvSpPr>
          <p:cNvPr id="6" name="TextBox 5"/>
          <p:cNvSpPr txBox="1"/>
          <p:nvPr/>
        </p:nvSpPr>
        <p:spPr>
          <a:xfrm>
            <a:off x="1252728" y="1801367"/>
            <a:ext cx="8138160" cy="45720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El uso responde para qué sirve el gemelo. Los cuatro primeros viven solo en software; desde «extraer» hay un activo real conectado, con sensores, comunicaciones e integración al control.</a:t>
            </a:r>
          </a:p>
        </p:txBody>
      </p:sp>
      <p:cxnSp>
        <p:nvCxnSpPr>
          <p:cNvPr id="7" name="Divisoria"/>
          <p:cNvCxnSpPr/>
          <p:nvPr/>
        </p:nvCxnSpPr>
        <p:spPr>
          <a:xfrm>
            <a:off x="6954665" y="2423160"/>
            <a:ext cx="0" cy="3154680"/>
          </a:xfrm>
          <a:prstGeom prst="line">
            <a:avLst/>
          </a:prstGeom>
          <a:ln w="25400">
            <a:solidFill>
              <a:srgbClr val="85D5E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252728" y="2432304"/>
            <a:ext cx="5473337" cy="219456"/>
          </a:xfrm>
          <a:prstGeom prst="rect">
            <a:avLst/>
          </a:prstGeom>
          <a:noFill/>
        </p:spPr>
        <p:txBody>
          <a:bodyPr wrap="square" lIns="0" tIns="0" rIns="0" bIns="0" anchor="t">
            <a:spAutoFit/>
          </a:bodyPr>
          <a:lstStyle/>
          <a:p>
            <a:pPr algn="ctr">
              <a:spcAft>
                <a:spcPts val="600"/>
              </a:spcAft>
            </a:pPr>
            <a:r>
              <a:rPr sz="900" b="1" i="0">
                <a:solidFill>
                  <a:srgbClr val="A9B8C9"/>
                </a:solidFill>
                <a:effectLst>
                  <a:glow rad="63500">
                    <a:srgbClr val="001633">
                      <a:alpha val="85000"/>
                    </a:srgbClr>
                  </a:glow>
                </a:effectLst>
                <a:latin typeface="Montserrat"/>
              </a:rPr>
              <a:t>SOLO SOFTWARE</a:t>
            </a:r>
          </a:p>
        </p:txBody>
      </p:sp>
      <p:cxnSp>
        <p:nvCxnSpPr>
          <p:cNvPr id="9" name="Grupo SOLO SOFTWARE"/>
          <p:cNvCxnSpPr/>
          <p:nvPr/>
        </p:nvCxnSpPr>
        <p:spPr>
          <a:xfrm>
            <a:off x="1252728" y="2679192"/>
            <a:ext cx="5473337" cy="0"/>
          </a:xfrm>
          <a:prstGeom prst="line">
            <a:avLst/>
          </a:prstGeom>
          <a:ln w="12700">
            <a:solidFill>
              <a:srgbClr val="A9B8C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091825" y="2432304"/>
            <a:ext cx="4082142" cy="219456"/>
          </a:xfrm>
          <a:prstGeom prst="rect">
            <a:avLst/>
          </a:prstGeom>
          <a:noFill/>
        </p:spPr>
        <p:txBody>
          <a:bodyPr wrap="square" lIns="0" tIns="0" rIns="0" bIns="0" anchor="t">
            <a:spAutoFit/>
          </a:bodyPr>
          <a:lstStyle/>
          <a:p>
            <a:pPr algn="ctr">
              <a:spcAft>
                <a:spcPts val="600"/>
              </a:spcAft>
            </a:pPr>
            <a:r>
              <a:rPr sz="900" b="1" i="0">
                <a:solidFill>
                  <a:srgbClr val="85D5E6"/>
                </a:solidFill>
                <a:effectLst>
                  <a:glow rad="63500">
                    <a:srgbClr val="001633">
                      <a:alpha val="85000"/>
                    </a:srgbClr>
                  </a:glow>
                </a:effectLst>
                <a:latin typeface="Montserrat"/>
              </a:rPr>
              <a:t>SOFTWARE + EQUIPO FÍSICO CONECTADO</a:t>
            </a:r>
          </a:p>
        </p:txBody>
      </p:sp>
      <p:cxnSp>
        <p:nvCxnSpPr>
          <p:cNvPr id="11" name="Grupo SOFTWARE + EQUIPO FÍSICO CONECTADO"/>
          <p:cNvCxnSpPr/>
          <p:nvPr/>
        </p:nvCxnSpPr>
        <p:spPr>
          <a:xfrm>
            <a:off x="7091825" y="2679192"/>
            <a:ext cx="4082143" cy="0"/>
          </a:xfrm>
          <a:prstGeom prst="line">
            <a:avLst/>
          </a:prstGeom>
          <a:ln w="12700">
            <a:solidFill>
              <a:srgbClr val="85D5E6"/>
            </a:solidFill>
          </a:ln>
        </p:spPr>
        <p:style>
          <a:lnRef idx="2">
            <a:schemeClr val="accent1"/>
          </a:lnRef>
          <a:fillRef idx="0">
            <a:schemeClr val="accent1"/>
          </a:fillRef>
          <a:effectRef idx="1">
            <a:schemeClr val="accent1"/>
          </a:effectRef>
          <a:fontRef idx="minor">
            <a:schemeClr val="tx1"/>
          </a:fontRef>
        </p:style>
      </p:cxnSp>
      <p:pic>
        <p:nvPicPr>
          <p:cNvPr id="12" name="uso1-plano-antiguo-mina" descr="uso1-plano-antiguo-mina.jpg"/>
          <p:cNvPicPr>
            <a:picLocks noChangeAspect="1"/>
          </p:cNvPicPr>
          <p:nvPr/>
        </p:nvPicPr>
        <p:blipFill>
          <a:blip r:embed="rId3">
            <a:duotone>
              <a:srgbClr val="001633"/>
              <a:srgbClr val="A9B8C9"/>
            </a:duotone>
          </a:blip>
          <a:srcRect l="7357" r="7357"/>
          <a:stretch>
            <a:fillRect/>
          </a:stretch>
        </p:blipFill>
        <p:spPr>
          <a:xfrm>
            <a:off x="1252728" y="2816352"/>
            <a:ext cx="1299754" cy="1188720"/>
          </a:xfrm>
          <a:prstGeom prst="rect">
            <a:avLst/>
          </a:prstGeom>
        </p:spPr>
      </p:pic>
      <p:sp>
        <p:nvSpPr>
          <p:cNvPr id="13" name="TextBox 12"/>
          <p:cNvSpPr txBox="1"/>
          <p:nvPr/>
        </p:nvSpPr>
        <p:spPr>
          <a:xfrm>
            <a:off x="1252728" y="4178808"/>
            <a:ext cx="1299754" cy="274320"/>
          </a:xfrm>
          <a:prstGeom prst="rect">
            <a:avLst/>
          </a:prstGeom>
          <a:noFill/>
        </p:spPr>
        <p:txBody>
          <a:bodyPr wrap="square" lIns="0" tIns="0" rIns="0" bIns="0" anchor="t">
            <a:spAutoFit/>
          </a:bodyPr>
          <a:lstStyle/>
          <a:p>
            <a:pPr algn="l">
              <a:spcAft>
                <a:spcPts val="600"/>
              </a:spcAft>
            </a:pPr>
            <a:r>
              <a:rPr sz="1300" b="1" i="0">
                <a:solidFill>
                  <a:srgbClr val="FFAB40"/>
                </a:solidFill>
                <a:effectLst>
                  <a:glow rad="63500">
                    <a:srgbClr val="001633">
                      <a:alpha val="85000"/>
                    </a:srgbClr>
                  </a:glow>
                </a:effectLst>
                <a:latin typeface="Montserrat"/>
              </a:rPr>
              <a:t>1 </a:t>
            </a:r>
            <a:r>
              <a:rPr sz="1300" b="1" i="0">
                <a:solidFill>
                  <a:srgbClr val="FFFFFF"/>
                </a:solidFill>
                <a:effectLst>
                  <a:glow rad="63500">
                    <a:srgbClr val="001633">
                      <a:alpha val="85000"/>
                    </a:srgbClr>
                  </a:glow>
                </a:effectLst>
                <a:latin typeface="Montserrat"/>
              </a:rPr>
              <a:t>Digitalizar</a:t>
            </a:r>
          </a:p>
        </p:txBody>
      </p:sp>
      <p:sp>
        <p:nvSpPr>
          <p:cNvPr id="14" name="TextBox 13"/>
          <p:cNvSpPr txBox="1"/>
          <p:nvPr/>
        </p:nvSpPr>
        <p:spPr>
          <a:xfrm>
            <a:off x="1252728" y="4507992"/>
            <a:ext cx="1299754" cy="457200"/>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Información pasada a formato digital</a:t>
            </a:r>
          </a:p>
        </p:txBody>
      </p:sp>
      <p:cxnSp>
        <p:nvCxnSpPr>
          <p:cNvPr id="15" name="Raya ejemplo"/>
          <p:cNvCxnSpPr/>
          <p:nvPr/>
        </p:nvCxnSpPr>
        <p:spPr>
          <a:xfrm>
            <a:off x="1252728" y="5020056"/>
            <a:ext cx="32004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252728" y="5093208"/>
            <a:ext cx="1299754" cy="457200"/>
          </a:xfrm>
          <a:prstGeom prst="rect">
            <a:avLst/>
          </a:prstGeom>
          <a:noFill/>
        </p:spPr>
        <p:txBody>
          <a:bodyPr wrap="square" lIns="0" tIns="0" rIns="0" bIns="0" anchor="t">
            <a:spAutoFit/>
          </a:bodyPr>
          <a:lstStyle/>
          <a:p>
            <a:pPr algn="l">
              <a:spcAft>
                <a:spcPts val="600"/>
              </a:spcAft>
            </a:pPr>
            <a:r>
              <a:rPr sz="1000" b="0" i="0">
                <a:solidFill>
                  <a:srgbClr val="FFFFFF"/>
                </a:solidFill>
                <a:effectLst>
                  <a:glow rad="63500">
                    <a:srgbClr val="001633">
                      <a:alpha val="85000"/>
                    </a:srgbClr>
                  </a:glow>
                </a:effectLst>
                <a:latin typeface="Montserrat"/>
              </a:rPr>
              <a:t>Planos antiguos de labores escaneados</a:t>
            </a:r>
          </a:p>
        </p:txBody>
      </p:sp>
      <p:pic>
        <p:nvPicPr>
          <p:cNvPr id="17" name="Uso Visualizar (virtual)" descr="virtual-rajo-chuquicamata.png"/>
          <p:cNvPicPr>
            <a:picLocks noChangeAspect="1"/>
          </p:cNvPicPr>
          <p:nvPr/>
        </p:nvPicPr>
        <p:blipFill>
          <a:blip r:embed="rId4"/>
          <a:srcRect l="12482" r="12482"/>
          <a:stretch>
            <a:fillRect/>
          </a:stretch>
        </p:blipFill>
        <p:spPr>
          <a:xfrm>
            <a:off x="2643922" y="2816352"/>
            <a:ext cx="1299754" cy="1188720"/>
          </a:xfrm>
          <a:prstGeom prst="rect">
            <a:avLst/>
          </a:prstGeom>
        </p:spPr>
      </p:pic>
      <p:sp>
        <p:nvSpPr>
          <p:cNvPr id="18" name="TextBox 17"/>
          <p:cNvSpPr txBox="1"/>
          <p:nvPr/>
        </p:nvSpPr>
        <p:spPr>
          <a:xfrm>
            <a:off x="2643922" y="4178808"/>
            <a:ext cx="1299754" cy="274320"/>
          </a:xfrm>
          <a:prstGeom prst="rect">
            <a:avLst/>
          </a:prstGeom>
          <a:noFill/>
        </p:spPr>
        <p:txBody>
          <a:bodyPr wrap="square" lIns="0" tIns="0" rIns="0" bIns="0" anchor="t">
            <a:spAutoFit/>
          </a:bodyPr>
          <a:lstStyle/>
          <a:p>
            <a:pPr algn="l">
              <a:spcAft>
                <a:spcPts val="600"/>
              </a:spcAft>
            </a:pPr>
            <a:r>
              <a:rPr sz="1300" b="1" i="0">
                <a:solidFill>
                  <a:srgbClr val="FFAB40"/>
                </a:solidFill>
                <a:effectLst>
                  <a:glow rad="63500">
                    <a:srgbClr val="001633">
                      <a:alpha val="85000"/>
                    </a:srgbClr>
                  </a:glow>
                </a:effectLst>
                <a:latin typeface="Montserrat"/>
              </a:rPr>
              <a:t>2 </a:t>
            </a:r>
            <a:r>
              <a:rPr sz="1300" b="1" i="0">
                <a:solidFill>
                  <a:srgbClr val="FFFFFF"/>
                </a:solidFill>
                <a:effectLst>
                  <a:glow rad="63500">
                    <a:srgbClr val="001633">
                      <a:alpha val="85000"/>
                    </a:srgbClr>
                  </a:glow>
                </a:effectLst>
                <a:latin typeface="Montserrat"/>
              </a:rPr>
              <a:t>Visualizar</a:t>
            </a:r>
          </a:p>
        </p:txBody>
      </p:sp>
      <p:sp>
        <p:nvSpPr>
          <p:cNvPr id="19" name="TextBox 18"/>
          <p:cNvSpPr txBox="1"/>
          <p:nvPr/>
        </p:nvSpPr>
        <p:spPr>
          <a:xfrm>
            <a:off x="2643922" y="4507992"/>
            <a:ext cx="1299754" cy="457200"/>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Representación digital del objeto</a:t>
            </a:r>
          </a:p>
        </p:txBody>
      </p:sp>
      <p:cxnSp>
        <p:nvCxnSpPr>
          <p:cNvPr id="20" name="Raya ejemplo"/>
          <p:cNvCxnSpPr/>
          <p:nvPr/>
        </p:nvCxnSpPr>
        <p:spPr>
          <a:xfrm>
            <a:off x="2643922" y="5020056"/>
            <a:ext cx="32004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643922" y="5093208"/>
            <a:ext cx="1299754" cy="457200"/>
          </a:xfrm>
          <a:prstGeom prst="rect">
            <a:avLst/>
          </a:prstGeom>
          <a:noFill/>
        </p:spPr>
        <p:txBody>
          <a:bodyPr wrap="square" lIns="0" tIns="0" rIns="0" bIns="0" anchor="t">
            <a:spAutoFit/>
          </a:bodyPr>
          <a:lstStyle/>
          <a:p>
            <a:pPr algn="l">
              <a:spcAft>
                <a:spcPts val="600"/>
              </a:spcAft>
            </a:pPr>
            <a:r>
              <a:rPr sz="1000" b="0" i="0">
                <a:solidFill>
                  <a:srgbClr val="FFFFFF"/>
                </a:solidFill>
                <a:effectLst>
                  <a:glow rad="63500">
                    <a:srgbClr val="001633">
                      <a:alpha val="85000"/>
                    </a:srgbClr>
                  </a:glow>
                </a:effectLst>
                <a:latin typeface="Montserrat"/>
              </a:rPr>
              <a:t>Ver el rajo en 3D desde la oficina</a:t>
            </a:r>
          </a:p>
        </p:txBody>
      </p:sp>
      <p:pic>
        <p:nvPicPr>
          <p:cNvPr id="22" name="camion-cat797-escondida" descr="camion-cat797-escondida.jpg"/>
          <p:cNvPicPr>
            <a:picLocks noChangeAspect="1"/>
          </p:cNvPicPr>
          <p:nvPr/>
        </p:nvPicPr>
        <p:blipFill>
          <a:blip r:embed="rId5">
            <a:duotone>
              <a:srgbClr val="001633"/>
              <a:srgbClr val="A9B8C9"/>
            </a:duotone>
          </a:blip>
          <a:srcRect l="8997" r="8997"/>
          <a:stretch>
            <a:fillRect/>
          </a:stretch>
        </p:blipFill>
        <p:spPr>
          <a:xfrm>
            <a:off x="4035116" y="2816352"/>
            <a:ext cx="1299754" cy="1188720"/>
          </a:xfrm>
          <a:prstGeom prst="rect">
            <a:avLst/>
          </a:prstGeom>
        </p:spPr>
      </p:pic>
      <p:sp>
        <p:nvSpPr>
          <p:cNvPr id="23" name="TextBox 22"/>
          <p:cNvSpPr txBox="1"/>
          <p:nvPr/>
        </p:nvSpPr>
        <p:spPr>
          <a:xfrm>
            <a:off x="4035116" y="4178808"/>
            <a:ext cx="1299754" cy="274320"/>
          </a:xfrm>
          <a:prstGeom prst="rect">
            <a:avLst/>
          </a:prstGeom>
          <a:noFill/>
        </p:spPr>
        <p:txBody>
          <a:bodyPr wrap="square" lIns="0" tIns="0" rIns="0" bIns="0" anchor="t">
            <a:spAutoFit/>
          </a:bodyPr>
          <a:lstStyle/>
          <a:p>
            <a:pPr algn="l">
              <a:spcAft>
                <a:spcPts val="600"/>
              </a:spcAft>
            </a:pPr>
            <a:r>
              <a:rPr sz="1300" b="1" i="0">
                <a:solidFill>
                  <a:srgbClr val="FFAB40"/>
                </a:solidFill>
                <a:effectLst>
                  <a:glow rad="63500">
                    <a:srgbClr val="001633">
                      <a:alpha val="85000"/>
                    </a:srgbClr>
                  </a:glow>
                </a:effectLst>
                <a:latin typeface="Montserrat"/>
              </a:rPr>
              <a:t>3 </a:t>
            </a:r>
            <a:r>
              <a:rPr sz="1300" b="1" i="0">
                <a:solidFill>
                  <a:srgbClr val="FFFFFF"/>
                </a:solidFill>
                <a:effectLst>
                  <a:glow rad="63500">
                    <a:srgbClr val="001633">
                      <a:alpha val="85000"/>
                    </a:srgbClr>
                  </a:glow>
                </a:effectLst>
                <a:latin typeface="Montserrat"/>
              </a:rPr>
              <a:t>Simular</a:t>
            </a:r>
          </a:p>
        </p:txBody>
      </p:sp>
      <p:sp>
        <p:nvSpPr>
          <p:cNvPr id="24" name="TextBox 23"/>
          <p:cNvSpPr txBox="1"/>
          <p:nvPr/>
        </p:nvSpPr>
        <p:spPr>
          <a:xfrm>
            <a:off x="4035116" y="4507992"/>
            <a:ext cx="1299754" cy="457200"/>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Modelo del sistema en su entorno</a:t>
            </a:r>
          </a:p>
        </p:txBody>
      </p:sp>
      <p:cxnSp>
        <p:nvCxnSpPr>
          <p:cNvPr id="25" name="Raya ejemplo"/>
          <p:cNvCxnSpPr/>
          <p:nvPr/>
        </p:nvCxnSpPr>
        <p:spPr>
          <a:xfrm>
            <a:off x="4035116" y="5020056"/>
            <a:ext cx="32004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035116" y="5093208"/>
            <a:ext cx="1299754" cy="457200"/>
          </a:xfrm>
          <a:prstGeom prst="rect">
            <a:avLst/>
          </a:prstGeom>
          <a:noFill/>
        </p:spPr>
        <p:txBody>
          <a:bodyPr wrap="square" lIns="0" tIns="0" rIns="0" bIns="0" anchor="t">
            <a:spAutoFit/>
          </a:bodyPr>
          <a:lstStyle/>
          <a:p>
            <a:pPr algn="l">
              <a:spcAft>
                <a:spcPts val="600"/>
              </a:spcAft>
            </a:pPr>
            <a:r>
              <a:rPr sz="1000" b="0" i="0">
                <a:solidFill>
                  <a:srgbClr val="FFFFFF"/>
                </a:solidFill>
                <a:effectLst>
                  <a:glow rad="63500">
                    <a:srgbClr val="001633">
                      <a:alpha val="85000"/>
                    </a:srgbClr>
                  </a:glow>
                </a:effectLst>
                <a:latin typeface="Montserrat"/>
              </a:rPr>
              <a:t>Dimensionar la flota de camiones</a:t>
            </a:r>
          </a:p>
        </p:txBody>
      </p:sp>
      <p:pic>
        <p:nvPicPr>
          <p:cNvPr id="27" name="uso4-simulador-operadores" descr="uso4-simulador-operadores.jpg"/>
          <p:cNvPicPr>
            <a:picLocks noChangeAspect="1"/>
          </p:cNvPicPr>
          <p:nvPr/>
        </p:nvPicPr>
        <p:blipFill>
          <a:blip r:embed="rId6">
            <a:duotone>
              <a:srgbClr val="001633"/>
              <a:srgbClr val="A9B8C9"/>
            </a:duotone>
          </a:blip>
          <a:srcRect l="7357" r="7357"/>
          <a:stretch>
            <a:fillRect/>
          </a:stretch>
        </p:blipFill>
        <p:spPr>
          <a:xfrm>
            <a:off x="5426310" y="2816352"/>
            <a:ext cx="1299754" cy="1188720"/>
          </a:xfrm>
          <a:prstGeom prst="rect">
            <a:avLst/>
          </a:prstGeom>
        </p:spPr>
      </p:pic>
      <p:sp>
        <p:nvSpPr>
          <p:cNvPr id="28" name="TextBox 27"/>
          <p:cNvSpPr txBox="1"/>
          <p:nvPr/>
        </p:nvSpPr>
        <p:spPr>
          <a:xfrm>
            <a:off x="5426310" y="4178808"/>
            <a:ext cx="1299754" cy="274320"/>
          </a:xfrm>
          <a:prstGeom prst="rect">
            <a:avLst/>
          </a:prstGeom>
          <a:noFill/>
        </p:spPr>
        <p:txBody>
          <a:bodyPr wrap="square" lIns="0" tIns="0" rIns="0" bIns="0" anchor="t">
            <a:spAutoFit/>
          </a:bodyPr>
          <a:lstStyle/>
          <a:p>
            <a:pPr algn="l">
              <a:spcAft>
                <a:spcPts val="600"/>
              </a:spcAft>
            </a:pPr>
            <a:r>
              <a:rPr sz="1300" b="1" i="0">
                <a:solidFill>
                  <a:srgbClr val="FFAB40"/>
                </a:solidFill>
                <a:effectLst>
                  <a:glow rad="63500">
                    <a:srgbClr val="001633">
                      <a:alpha val="85000"/>
                    </a:srgbClr>
                  </a:glow>
                </a:effectLst>
                <a:latin typeface="Montserrat"/>
              </a:rPr>
              <a:t>4 </a:t>
            </a:r>
            <a:r>
              <a:rPr sz="1300" b="1" i="0">
                <a:solidFill>
                  <a:srgbClr val="FFFFFF"/>
                </a:solidFill>
                <a:effectLst>
                  <a:glow rad="63500">
                    <a:srgbClr val="001633">
                      <a:alpha val="85000"/>
                    </a:srgbClr>
                  </a:glow>
                </a:effectLst>
                <a:latin typeface="Montserrat"/>
              </a:rPr>
              <a:t>Emular</a:t>
            </a:r>
          </a:p>
        </p:txBody>
      </p:sp>
      <p:sp>
        <p:nvSpPr>
          <p:cNvPr id="29" name="TextBox 28"/>
          <p:cNvSpPr txBox="1"/>
          <p:nvPr/>
        </p:nvSpPr>
        <p:spPr>
          <a:xfrm>
            <a:off x="5426310" y="4507992"/>
            <a:ext cx="1299754" cy="457200"/>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Modelo con el control real</a:t>
            </a:r>
          </a:p>
        </p:txBody>
      </p:sp>
      <p:cxnSp>
        <p:nvCxnSpPr>
          <p:cNvPr id="30" name="Raya ejemplo"/>
          <p:cNvCxnSpPr/>
          <p:nvPr/>
        </p:nvCxnSpPr>
        <p:spPr>
          <a:xfrm>
            <a:off x="5426310" y="5020056"/>
            <a:ext cx="32004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426310" y="5093208"/>
            <a:ext cx="1299754" cy="457200"/>
          </a:xfrm>
          <a:prstGeom prst="rect">
            <a:avLst/>
          </a:prstGeom>
          <a:noFill/>
        </p:spPr>
        <p:txBody>
          <a:bodyPr wrap="square" lIns="0" tIns="0" rIns="0" bIns="0" anchor="t">
            <a:spAutoFit/>
          </a:bodyPr>
          <a:lstStyle/>
          <a:p>
            <a:pPr algn="l">
              <a:spcAft>
                <a:spcPts val="600"/>
              </a:spcAft>
            </a:pPr>
            <a:r>
              <a:rPr sz="1000" b="0" i="0">
                <a:solidFill>
                  <a:srgbClr val="FFFFFF"/>
                </a:solidFill>
                <a:effectLst>
                  <a:glow rad="63500">
                    <a:srgbClr val="001633">
                      <a:alpha val="85000"/>
                    </a:srgbClr>
                  </a:glow>
                </a:effectLst>
                <a:latin typeface="Montserrat"/>
              </a:rPr>
              <a:t>Operadores en simulador</a:t>
            </a:r>
          </a:p>
        </p:txBody>
      </p:sp>
      <p:pic>
        <p:nvPicPr>
          <p:cNvPr id="32" name="Uso Extraer (virtual)" descr="lidar-nube-puntos-correa.png"/>
          <p:cNvPicPr>
            <a:picLocks noChangeAspect="1"/>
          </p:cNvPicPr>
          <p:nvPr/>
        </p:nvPicPr>
        <p:blipFill>
          <a:blip r:embed="rId7"/>
          <a:srcRect l="19248" r="19248"/>
          <a:stretch>
            <a:fillRect/>
          </a:stretch>
        </p:blipFill>
        <p:spPr>
          <a:xfrm>
            <a:off x="7091825" y="2816352"/>
            <a:ext cx="1299754" cy="1188720"/>
          </a:xfrm>
          <a:prstGeom prst="rect">
            <a:avLst/>
          </a:prstGeom>
        </p:spPr>
      </p:pic>
      <p:sp>
        <p:nvSpPr>
          <p:cNvPr id="33" name="TextBox 32"/>
          <p:cNvSpPr txBox="1"/>
          <p:nvPr/>
        </p:nvSpPr>
        <p:spPr>
          <a:xfrm>
            <a:off x="7091825" y="4178808"/>
            <a:ext cx="1299754" cy="274320"/>
          </a:xfrm>
          <a:prstGeom prst="rect">
            <a:avLst/>
          </a:prstGeom>
          <a:noFill/>
        </p:spPr>
        <p:txBody>
          <a:bodyPr wrap="square" lIns="0" tIns="0" rIns="0" bIns="0" anchor="t">
            <a:spAutoFit/>
          </a:bodyPr>
          <a:lstStyle/>
          <a:p>
            <a:pPr algn="l">
              <a:spcAft>
                <a:spcPts val="600"/>
              </a:spcAft>
            </a:pPr>
            <a:r>
              <a:rPr sz="1300" b="1" i="0">
                <a:solidFill>
                  <a:srgbClr val="85D5E6"/>
                </a:solidFill>
                <a:effectLst>
                  <a:glow rad="63500">
                    <a:srgbClr val="001633">
                      <a:alpha val="85000"/>
                    </a:srgbClr>
                  </a:glow>
                </a:effectLst>
                <a:latin typeface="Montserrat"/>
              </a:rPr>
              <a:t>5 </a:t>
            </a:r>
            <a:r>
              <a:rPr sz="1300" b="1" i="0">
                <a:solidFill>
                  <a:srgbClr val="FFFFFF"/>
                </a:solidFill>
                <a:effectLst>
                  <a:glow rad="63500">
                    <a:srgbClr val="001633">
                      <a:alpha val="85000"/>
                    </a:srgbClr>
                  </a:glow>
                </a:effectLst>
                <a:latin typeface="Montserrat"/>
              </a:rPr>
              <a:t>Extraer</a:t>
            </a:r>
          </a:p>
        </p:txBody>
      </p:sp>
      <p:sp>
        <p:nvSpPr>
          <p:cNvPr id="34" name="TextBox 33"/>
          <p:cNvSpPr txBox="1"/>
          <p:nvPr/>
        </p:nvSpPr>
        <p:spPr>
          <a:xfrm>
            <a:off x="7091825" y="4507992"/>
            <a:ext cx="1299754" cy="457200"/>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Datos en línea del activo al modelo</a:t>
            </a:r>
          </a:p>
        </p:txBody>
      </p:sp>
      <p:cxnSp>
        <p:nvCxnSpPr>
          <p:cNvPr id="35" name="Raya ejemplo"/>
          <p:cNvCxnSpPr/>
          <p:nvPr/>
        </p:nvCxnSpPr>
        <p:spPr>
          <a:xfrm>
            <a:off x="7091825" y="5020056"/>
            <a:ext cx="320040" cy="0"/>
          </a:xfrm>
          <a:prstGeom prst="line">
            <a:avLst/>
          </a:prstGeom>
          <a:ln w="15875">
            <a:solidFill>
              <a:srgbClr val="85D5E6"/>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091825" y="5093208"/>
            <a:ext cx="1299754" cy="457200"/>
          </a:xfrm>
          <a:prstGeom prst="rect">
            <a:avLst/>
          </a:prstGeom>
          <a:noFill/>
        </p:spPr>
        <p:txBody>
          <a:bodyPr wrap="square" lIns="0" tIns="0" rIns="0" bIns="0" anchor="t">
            <a:spAutoFit/>
          </a:bodyPr>
          <a:lstStyle/>
          <a:p>
            <a:pPr algn="l">
              <a:spcAft>
                <a:spcPts val="600"/>
              </a:spcAft>
            </a:pPr>
            <a:r>
              <a:rPr sz="1000" b="0" i="0">
                <a:solidFill>
                  <a:srgbClr val="FFFFFF"/>
                </a:solidFill>
                <a:effectLst>
                  <a:glow rad="63500">
                    <a:srgbClr val="001633">
                      <a:alpha val="85000"/>
                    </a:srgbClr>
                  </a:glow>
                </a:effectLst>
                <a:latin typeface="Montserrat"/>
              </a:rPr>
              <a:t>LiDAR que mide la carga de una correa</a:t>
            </a:r>
          </a:p>
        </p:txBody>
      </p:sp>
      <p:pic>
        <p:nvPicPr>
          <p:cNvPr id="37" name="uso6-ventilador-mina" descr="uso6-ventilador-mina.jpg"/>
          <p:cNvPicPr>
            <a:picLocks noChangeAspect="1"/>
          </p:cNvPicPr>
          <p:nvPr/>
        </p:nvPicPr>
        <p:blipFill>
          <a:blip r:embed="rId8">
            <a:duotone>
              <a:srgbClr val="001633"/>
              <a:srgbClr val="A9B8C9"/>
            </a:duotone>
          </a:blip>
          <a:srcRect l="7357" r="7357"/>
          <a:stretch>
            <a:fillRect/>
          </a:stretch>
        </p:blipFill>
        <p:spPr>
          <a:xfrm>
            <a:off x="8483019" y="2816352"/>
            <a:ext cx="1299754" cy="1188720"/>
          </a:xfrm>
          <a:prstGeom prst="rect">
            <a:avLst/>
          </a:prstGeom>
        </p:spPr>
      </p:pic>
      <p:sp>
        <p:nvSpPr>
          <p:cNvPr id="38" name="TextBox 37"/>
          <p:cNvSpPr txBox="1"/>
          <p:nvPr/>
        </p:nvSpPr>
        <p:spPr>
          <a:xfrm>
            <a:off x="8483019" y="4178808"/>
            <a:ext cx="1299754" cy="274320"/>
          </a:xfrm>
          <a:prstGeom prst="rect">
            <a:avLst/>
          </a:prstGeom>
          <a:noFill/>
        </p:spPr>
        <p:txBody>
          <a:bodyPr wrap="square" lIns="0" tIns="0" rIns="0" bIns="0" anchor="t">
            <a:spAutoFit/>
          </a:bodyPr>
          <a:lstStyle/>
          <a:p>
            <a:pPr algn="l">
              <a:spcAft>
                <a:spcPts val="600"/>
              </a:spcAft>
            </a:pPr>
            <a:r>
              <a:rPr sz="1300" b="1" i="0">
                <a:solidFill>
                  <a:srgbClr val="85D5E6"/>
                </a:solidFill>
                <a:effectLst>
                  <a:glow rad="63500">
                    <a:srgbClr val="001633">
                      <a:alpha val="85000"/>
                    </a:srgbClr>
                  </a:glow>
                </a:effectLst>
                <a:latin typeface="Montserrat"/>
              </a:rPr>
              <a:t>6 </a:t>
            </a:r>
            <a:r>
              <a:rPr sz="1300" b="1" i="0">
                <a:solidFill>
                  <a:srgbClr val="FFFFFF"/>
                </a:solidFill>
                <a:effectLst>
                  <a:glow rad="63500">
                    <a:srgbClr val="001633">
                      <a:alpha val="85000"/>
                    </a:srgbClr>
                  </a:glow>
                </a:effectLst>
                <a:latin typeface="Montserrat"/>
              </a:rPr>
              <a:t>Orquestar</a:t>
            </a:r>
          </a:p>
        </p:txBody>
      </p:sp>
      <p:sp>
        <p:nvSpPr>
          <p:cNvPr id="39" name="TextBox 38"/>
          <p:cNvSpPr txBox="1"/>
          <p:nvPr/>
        </p:nvSpPr>
        <p:spPr>
          <a:xfrm>
            <a:off x="8483019" y="4507992"/>
            <a:ext cx="1299754" cy="457200"/>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Control remoto desde el modelo</a:t>
            </a:r>
          </a:p>
        </p:txBody>
      </p:sp>
      <p:cxnSp>
        <p:nvCxnSpPr>
          <p:cNvPr id="40" name="Raya ejemplo"/>
          <p:cNvCxnSpPr/>
          <p:nvPr/>
        </p:nvCxnSpPr>
        <p:spPr>
          <a:xfrm>
            <a:off x="8483019" y="5020056"/>
            <a:ext cx="320040" cy="0"/>
          </a:xfrm>
          <a:prstGeom prst="line">
            <a:avLst/>
          </a:prstGeom>
          <a:ln w="15875">
            <a:solidFill>
              <a:srgbClr val="85D5E6"/>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8483019" y="5093208"/>
            <a:ext cx="1299754" cy="457200"/>
          </a:xfrm>
          <a:prstGeom prst="rect">
            <a:avLst/>
          </a:prstGeom>
          <a:noFill/>
        </p:spPr>
        <p:txBody>
          <a:bodyPr wrap="square" lIns="0" tIns="0" rIns="0" bIns="0" anchor="t">
            <a:spAutoFit/>
          </a:bodyPr>
          <a:lstStyle/>
          <a:p>
            <a:pPr algn="l">
              <a:spcAft>
                <a:spcPts val="600"/>
              </a:spcAft>
            </a:pPr>
            <a:r>
              <a:rPr sz="1000" b="0" i="0">
                <a:solidFill>
                  <a:srgbClr val="FFFFFF"/>
                </a:solidFill>
                <a:effectLst>
                  <a:glow rad="63500">
                    <a:srgbClr val="001633">
                      <a:alpha val="85000"/>
                    </a:srgbClr>
                  </a:glow>
                </a:effectLst>
                <a:latin typeface="Montserrat"/>
              </a:rPr>
              <a:t>Ventilación bajo demanda</a:t>
            </a:r>
          </a:p>
        </p:txBody>
      </p:sp>
      <p:pic>
        <p:nvPicPr>
          <p:cNvPr id="42" name="uso7-bomba-pulpa" descr="uso7-bomba-pulpa.jpg"/>
          <p:cNvPicPr>
            <a:picLocks noChangeAspect="1"/>
          </p:cNvPicPr>
          <p:nvPr/>
        </p:nvPicPr>
        <p:blipFill>
          <a:blip r:embed="rId9">
            <a:duotone>
              <a:srgbClr val="001633"/>
              <a:srgbClr val="A9B8C9"/>
            </a:duotone>
          </a:blip>
          <a:srcRect l="7357" r="7357"/>
          <a:stretch>
            <a:fillRect/>
          </a:stretch>
        </p:blipFill>
        <p:spPr>
          <a:xfrm>
            <a:off x="9874213" y="2816352"/>
            <a:ext cx="1299754" cy="1188720"/>
          </a:xfrm>
          <a:prstGeom prst="rect">
            <a:avLst/>
          </a:prstGeom>
        </p:spPr>
      </p:pic>
      <p:sp>
        <p:nvSpPr>
          <p:cNvPr id="43" name="TextBox 42"/>
          <p:cNvSpPr txBox="1"/>
          <p:nvPr/>
        </p:nvSpPr>
        <p:spPr>
          <a:xfrm>
            <a:off x="9874213" y="4178808"/>
            <a:ext cx="1299754" cy="274320"/>
          </a:xfrm>
          <a:prstGeom prst="rect">
            <a:avLst/>
          </a:prstGeom>
          <a:noFill/>
        </p:spPr>
        <p:txBody>
          <a:bodyPr wrap="square" lIns="0" tIns="0" rIns="0" bIns="0" anchor="t">
            <a:spAutoFit/>
          </a:bodyPr>
          <a:lstStyle/>
          <a:p>
            <a:pPr algn="l">
              <a:spcAft>
                <a:spcPts val="600"/>
              </a:spcAft>
            </a:pPr>
            <a:r>
              <a:rPr sz="1300" b="1" i="0">
                <a:solidFill>
                  <a:srgbClr val="85D5E6"/>
                </a:solidFill>
                <a:effectLst>
                  <a:glow rad="63500">
                    <a:srgbClr val="001633">
                      <a:alpha val="85000"/>
                    </a:srgbClr>
                  </a:glow>
                </a:effectLst>
                <a:latin typeface="Montserrat"/>
              </a:rPr>
              <a:t>7 </a:t>
            </a:r>
            <a:r>
              <a:rPr sz="1300" b="1" i="0">
                <a:solidFill>
                  <a:srgbClr val="FFFFFF"/>
                </a:solidFill>
                <a:effectLst>
                  <a:glow rad="63500">
                    <a:srgbClr val="001633">
                      <a:alpha val="85000"/>
                    </a:srgbClr>
                  </a:glow>
                </a:effectLst>
                <a:latin typeface="Montserrat"/>
              </a:rPr>
              <a:t>Predecir</a:t>
            </a:r>
          </a:p>
        </p:txBody>
      </p:sp>
      <p:sp>
        <p:nvSpPr>
          <p:cNvPr id="44" name="TextBox 43"/>
          <p:cNvSpPr txBox="1"/>
          <p:nvPr/>
        </p:nvSpPr>
        <p:spPr>
          <a:xfrm>
            <a:off x="9874213" y="4507992"/>
            <a:ext cx="1299754" cy="457200"/>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Comportamiento futuro del sistema</a:t>
            </a:r>
          </a:p>
        </p:txBody>
      </p:sp>
      <p:cxnSp>
        <p:nvCxnSpPr>
          <p:cNvPr id="45" name="Raya ejemplo"/>
          <p:cNvCxnSpPr/>
          <p:nvPr/>
        </p:nvCxnSpPr>
        <p:spPr>
          <a:xfrm>
            <a:off x="9874213" y="5020056"/>
            <a:ext cx="320040" cy="0"/>
          </a:xfrm>
          <a:prstGeom prst="line">
            <a:avLst/>
          </a:prstGeom>
          <a:ln w="15875">
            <a:solidFill>
              <a:srgbClr val="85D5E6"/>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9874213" y="5093208"/>
            <a:ext cx="1299754" cy="457200"/>
          </a:xfrm>
          <a:prstGeom prst="rect">
            <a:avLst/>
          </a:prstGeom>
          <a:noFill/>
        </p:spPr>
        <p:txBody>
          <a:bodyPr wrap="square" lIns="0" tIns="0" rIns="0" bIns="0" anchor="t">
            <a:spAutoFit/>
          </a:bodyPr>
          <a:lstStyle/>
          <a:p>
            <a:pPr algn="l">
              <a:spcAft>
                <a:spcPts val="600"/>
              </a:spcAft>
            </a:pPr>
            <a:r>
              <a:rPr sz="1000" b="0" i="0">
                <a:solidFill>
                  <a:srgbClr val="FFFFFF"/>
                </a:solidFill>
                <a:effectLst>
                  <a:glow rad="63500">
                    <a:srgbClr val="001633">
                      <a:alpha val="85000"/>
                    </a:srgbClr>
                  </a:glow>
                </a:effectLst>
                <a:latin typeface="Montserrat"/>
              </a:rPr>
              <a:t>Vida útil remanente de una bomba</a:t>
            </a:r>
          </a:p>
        </p:txBody>
      </p:sp>
      <p:sp>
        <p:nvSpPr>
          <p:cNvPr id="47" name="TextBox 46"/>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Usos y divisoria software / equipo: IoT Analytics (2020) [4] · ejemplos ilustrativos · imágenes: Wikimedia Commons (CC BY-SA, CC BY y dominio público; autores en las notas)</a:t>
            </a:r>
          </a:p>
        </p:txBody>
      </p:sp>
      <p:sp>
        <p:nvSpPr>
          <p:cNvPr id="48"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 · Fundamentos</a:t>
            </a:r>
          </a:p>
        </p:txBody>
      </p:sp>
      <p:sp>
        <p:nvSpPr>
          <p:cNvPr id="49"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Avance I actual"/>
          <p:cNvSpPr/>
          <p:nvPr/>
        </p:nvSpPr>
        <p:spPr>
          <a:xfrm>
            <a:off x="1252728" y="6510528"/>
            <a:ext cx="74295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 · Industria</a:t>
            </a:r>
          </a:p>
        </p:txBody>
      </p:sp>
      <p:sp>
        <p:nvSpPr>
          <p:cNvPr id="52"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III · Construcción</a:t>
            </a:r>
          </a:p>
        </p:txBody>
      </p:sp>
      <p:sp>
        <p:nvSpPr>
          <p:cNvPr id="54"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56"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5/12 </a:t>
            </a:r>
            <a:r>
              <a:rPr sz="1000" b="0" i="0">
                <a:solidFill>
                  <a:srgbClr val="A9B8C9"/>
                </a:solidFill>
                <a:effectLst>
                  <a:glow rad="63500">
                    <a:srgbClr val="001633">
                      <a:alpha val="85000"/>
                    </a:srgbClr>
                  </a:glow>
                </a:effectLst>
                <a:latin typeface="Montserrat"/>
              </a:rPr>
              <a:t>· Gemelos Digitales para Minería 4.0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El cubo dice dónde y para qué; la integración dice cuán gemelo es</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 · FUNDAMENTOS — CUÁN CONECTADO</a:t>
            </a:r>
          </a:p>
        </p:txBody>
      </p:sp>
      <p:sp>
        <p:nvSpPr>
          <p:cNvPr id="6" name="Encabezado Modelo"/>
          <p:cNvSpPr/>
          <p:nvPr/>
        </p:nvSpPr>
        <p:spPr>
          <a:xfrm>
            <a:off x="2852928" y="1783079"/>
            <a:ext cx="1463040" cy="914400"/>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Bloque mini"/>
          <p:cNvSpPr/>
          <p:nvPr/>
        </p:nvSpPr>
        <p:spPr>
          <a:xfrm>
            <a:off x="2962656" y="1874519"/>
            <a:ext cx="457200" cy="384048"/>
          </a:xfrm>
          <a:prstGeom prst="roundRect">
            <a:avLst/>
          </a:prstGeom>
          <a:solidFill>
            <a:srgbClr val="001633"/>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Ícono factory" descr="factory-white.png"/>
          <p:cNvPicPr>
            <a:picLocks noChangeAspect="1"/>
          </p:cNvPicPr>
          <p:nvPr/>
        </p:nvPicPr>
        <p:blipFill>
          <a:blip r:embed="rId3"/>
          <a:stretch>
            <a:fillRect/>
          </a:stretch>
        </p:blipFill>
        <p:spPr>
          <a:xfrm>
            <a:off x="3063240" y="1938527"/>
            <a:ext cx="256032" cy="256032"/>
          </a:xfrm>
          <a:prstGeom prst="rect">
            <a:avLst/>
          </a:prstGeom>
        </p:spPr>
      </p:pic>
      <p:sp>
        <p:nvSpPr>
          <p:cNvPr id="9" name="Bloque mini"/>
          <p:cNvSpPr/>
          <p:nvPr/>
        </p:nvSpPr>
        <p:spPr>
          <a:xfrm>
            <a:off x="3749040" y="1874519"/>
            <a:ext cx="457200" cy="384048"/>
          </a:xfrm>
          <a:prstGeom prst="roundRect">
            <a:avLst/>
          </a:prstGeom>
          <a:solidFill>
            <a:srgbClr val="001633"/>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Ícono monitor" descr="monitor-white.png"/>
          <p:cNvPicPr>
            <a:picLocks noChangeAspect="1"/>
          </p:cNvPicPr>
          <p:nvPr/>
        </p:nvPicPr>
        <p:blipFill>
          <a:blip r:embed="rId4"/>
          <a:stretch>
            <a:fillRect/>
          </a:stretch>
        </p:blipFill>
        <p:spPr>
          <a:xfrm>
            <a:off x="3849624" y="1938527"/>
            <a:ext cx="256032" cy="256032"/>
          </a:xfrm>
          <a:prstGeom prst="rect">
            <a:avLst/>
          </a:prstGeom>
        </p:spPr>
      </p:pic>
      <p:cxnSp>
        <p:nvCxnSpPr>
          <p:cNvPr id="11" name="Connector 10"/>
          <p:cNvCxnSpPr/>
          <p:nvPr/>
        </p:nvCxnSpPr>
        <p:spPr>
          <a:xfrm>
            <a:off x="3419856" y="1993391"/>
            <a:ext cx="329184" cy="0"/>
          </a:xfrm>
          <a:prstGeom prst="line">
            <a:avLst/>
          </a:prstGeom>
          <a:ln w="15875">
            <a:solidFill>
              <a:srgbClr val="FFFFFF"/>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3419856" y="2148839"/>
            <a:ext cx="329184" cy="0"/>
          </a:xfrm>
          <a:prstGeom prst="line">
            <a:avLst/>
          </a:prstGeom>
          <a:ln w="15875">
            <a:solidFill>
              <a:srgbClr val="FFFFF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852928" y="2285999"/>
            <a:ext cx="1463040" cy="384048"/>
          </a:xfrm>
          <a:prstGeom prst="rect">
            <a:avLst/>
          </a:prstGeom>
          <a:noFill/>
        </p:spPr>
        <p:txBody>
          <a:bodyPr wrap="square" lIns="0" tIns="0" rIns="0" bIns="0" anchor="t">
            <a:spAutoFit/>
          </a:bodyPr>
          <a:lstStyle/>
          <a:p>
            <a:pPr algn="ctr">
              <a:spcAft>
                <a:spcPts val="0"/>
              </a:spcAft>
            </a:pPr>
            <a:r>
              <a:rPr sz="1300" b="1" i="0">
                <a:solidFill>
                  <a:srgbClr val="FFFFFF"/>
                </a:solidFill>
                <a:effectLst>
                  <a:glow rad="63500">
                    <a:srgbClr val="001633">
                      <a:alpha val="85000"/>
                    </a:srgbClr>
                  </a:glow>
                </a:effectLst>
                <a:latin typeface="Montserrat"/>
              </a:rPr>
              <a:t>Modelo</a:t>
            </a:r>
          </a:p>
          <a:p>
            <a:pPr algn="ctr">
              <a:spcAft>
                <a:spcPts val="0"/>
              </a:spcAft>
            </a:pPr>
            <a:r>
              <a:rPr sz="850" b="0" i="0">
                <a:solidFill>
                  <a:srgbClr val="A9B8C9"/>
                </a:solidFill>
                <a:effectLst>
                  <a:glow rad="63500">
                    <a:srgbClr val="001633">
                      <a:alpha val="85000"/>
                    </a:srgbClr>
                  </a:glow>
                </a:effectLst>
                <a:latin typeface="Montserrat"/>
              </a:rPr>
              <a:t>sin flujo automático</a:t>
            </a:r>
          </a:p>
        </p:txBody>
      </p:sp>
      <p:sp>
        <p:nvSpPr>
          <p:cNvPr id="14" name="Encabezado Sombra"/>
          <p:cNvSpPr/>
          <p:nvPr/>
        </p:nvSpPr>
        <p:spPr>
          <a:xfrm>
            <a:off x="4370832" y="1783079"/>
            <a:ext cx="1463040" cy="914400"/>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Bloque mini"/>
          <p:cNvSpPr/>
          <p:nvPr/>
        </p:nvSpPr>
        <p:spPr>
          <a:xfrm>
            <a:off x="4480560" y="1874519"/>
            <a:ext cx="457200" cy="384048"/>
          </a:xfrm>
          <a:prstGeom prst="roundRect">
            <a:avLst/>
          </a:prstGeom>
          <a:solidFill>
            <a:srgbClr val="001633"/>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Ícono factory" descr="factory-white.png"/>
          <p:cNvPicPr>
            <a:picLocks noChangeAspect="1"/>
          </p:cNvPicPr>
          <p:nvPr/>
        </p:nvPicPr>
        <p:blipFill>
          <a:blip r:embed="rId3"/>
          <a:stretch>
            <a:fillRect/>
          </a:stretch>
        </p:blipFill>
        <p:spPr>
          <a:xfrm>
            <a:off x="4581144" y="1938527"/>
            <a:ext cx="256032" cy="256032"/>
          </a:xfrm>
          <a:prstGeom prst="rect">
            <a:avLst/>
          </a:prstGeom>
        </p:spPr>
      </p:pic>
      <p:sp>
        <p:nvSpPr>
          <p:cNvPr id="17" name="Bloque mini"/>
          <p:cNvSpPr/>
          <p:nvPr/>
        </p:nvSpPr>
        <p:spPr>
          <a:xfrm>
            <a:off x="5266944" y="1874519"/>
            <a:ext cx="457200" cy="384048"/>
          </a:xfrm>
          <a:prstGeom prst="roundRect">
            <a:avLst/>
          </a:prstGeom>
          <a:solidFill>
            <a:srgbClr val="001633"/>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Ícono monitor" descr="monitor-white.png"/>
          <p:cNvPicPr>
            <a:picLocks noChangeAspect="1"/>
          </p:cNvPicPr>
          <p:nvPr/>
        </p:nvPicPr>
        <p:blipFill>
          <a:blip r:embed="rId4"/>
          <a:stretch>
            <a:fillRect/>
          </a:stretch>
        </p:blipFill>
        <p:spPr>
          <a:xfrm>
            <a:off x="5367528" y="1938527"/>
            <a:ext cx="256032" cy="256032"/>
          </a:xfrm>
          <a:prstGeom prst="rect">
            <a:avLst/>
          </a:prstGeom>
        </p:spPr>
      </p:pic>
      <p:cxnSp>
        <p:nvCxnSpPr>
          <p:cNvPr id="19" name="Connector 18"/>
          <p:cNvCxnSpPr/>
          <p:nvPr/>
        </p:nvCxnSpPr>
        <p:spPr>
          <a:xfrm>
            <a:off x="4937760" y="1993391"/>
            <a:ext cx="329184" cy="0"/>
          </a:xfrm>
          <a:prstGeom prst="line">
            <a:avLst/>
          </a:prstGeom>
          <a:ln w="2857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4937760" y="2148839"/>
            <a:ext cx="329184" cy="0"/>
          </a:xfrm>
          <a:prstGeom prst="line">
            <a:avLst/>
          </a:prstGeom>
          <a:ln w="15875">
            <a:solidFill>
              <a:srgbClr val="FFFFF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370832" y="2285999"/>
            <a:ext cx="1463040" cy="384048"/>
          </a:xfrm>
          <a:prstGeom prst="rect">
            <a:avLst/>
          </a:prstGeom>
          <a:noFill/>
        </p:spPr>
        <p:txBody>
          <a:bodyPr wrap="square" lIns="0" tIns="0" rIns="0" bIns="0" anchor="t">
            <a:spAutoFit/>
          </a:bodyPr>
          <a:lstStyle/>
          <a:p>
            <a:pPr algn="ctr">
              <a:spcAft>
                <a:spcPts val="0"/>
              </a:spcAft>
            </a:pPr>
            <a:r>
              <a:rPr sz="1300" b="1" i="0">
                <a:solidFill>
                  <a:srgbClr val="FFFFFF"/>
                </a:solidFill>
                <a:effectLst>
                  <a:glow rad="63500">
                    <a:srgbClr val="001633">
                      <a:alpha val="85000"/>
                    </a:srgbClr>
                  </a:glow>
                </a:effectLst>
                <a:latin typeface="Montserrat"/>
              </a:rPr>
              <a:t>Sombra</a:t>
            </a:r>
          </a:p>
          <a:p>
            <a:pPr algn="ctr">
              <a:spcAft>
                <a:spcPts val="0"/>
              </a:spcAft>
            </a:pPr>
            <a:r>
              <a:rPr sz="850" b="0" i="0">
                <a:solidFill>
                  <a:srgbClr val="A9B8C9"/>
                </a:solidFill>
                <a:effectLst>
                  <a:glow rad="63500">
                    <a:srgbClr val="001633">
                      <a:alpha val="85000"/>
                    </a:srgbClr>
                  </a:glow>
                </a:effectLst>
                <a:latin typeface="Montserrat"/>
              </a:rPr>
              <a:t>los datos llegan solos</a:t>
            </a:r>
          </a:p>
        </p:txBody>
      </p:sp>
      <p:sp>
        <p:nvSpPr>
          <p:cNvPr id="22" name="Encabezado Gemelo"/>
          <p:cNvSpPr/>
          <p:nvPr/>
        </p:nvSpPr>
        <p:spPr>
          <a:xfrm>
            <a:off x="5888736" y="1783079"/>
            <a:ext cx="1463040" cy="914400"/>
          </a:xfrm>
          <a:prstGeom prst="rect">
            <a:avLst/>
          </a:prstGeom>
          <a:solidFill>
            <a:srgbClr val="12335E"/>
          </a:solidFill>
          <a:ln w="190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Bloque mini"/>
          <p:cNvSpPr/>
          <p:nvPr/>
        </p:nvSpPr>
        <p:spPr>
          <a:xfrm>
            <a:off x="5998464" y="1874519"/>
            <a:ext cx="457200" cy="384048"/>
          </a:xfrm>
          <a:prstGeom prst="roundRect">
            <a:avLst/>
          </a:prstGeom>
          <a:solidFill>
            <a:srgbClr val="001633"/>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4" name="Ícono factory" descr="factory-white.png"/>
          <p:cNvPicPr>
            <a:picLocks noChangeAspect="1"/>
          </p:cNvPicPr>
          <p:nvPr/>
        </p:nvPicPr>
        <p:blipFill>
          <a:blip r:embed="rId3"/>
          <a:stretch>
            <a:fillRect/>
          </a:stretch>
        </p:blipFill>
        <p:spPr>
          <a:xfrm>
            <a:off x="6099048" y="1938527"/>
            <a:ext cx="256032" cy="256032"/>
          </a:xfrm>
          <a:prstGeom prst="rect">
            <a:avLst/>
          </a:prstGeom>
        </p:spPr>
      </p:pic>
      <p:sp>
        <p:nvSpPr>
          <p:cNvPr id="25" name="Bloque mini"/>
          <p:cNvSpPr/>
          <p:nvPr/>
        </p:nvSpPr>
        <p:spPr>
          <a:xfrm>
            <a:off x="6784848" y="1874519"/>
            <a:ext cx="457200" cy="384048"/>
          </a:xfrm>
          <a:prstGeom prst="roundRect">
            <a:avLst/>
          </a:prstGeom>
          <a:solidFill>
            <a:srgbClr val="001633"/>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Ícono monitor" descr="monitor-white.png"/>
          <p:cNvPicPr>
            <a:picLocks noChangeAspect="1"/>
          </p:cNvPicPr>
          <p:nvPr/>
        </p:nvPicPr>
        <p:blipFill>
          <a:blip r:embed="rId4"/>
          <a:stretch>
            <a:fillRect/>
          </a:stretch>
        </p:blipFill>
        <p:spPr>
          <a:xfrm>
            <a:off x="6885432" y="1938527"/>
            <a:ext cx="256032" cy="256032"/>
          </a:xfrm>
          <a:prstGeom prst="rect">
            <a:avLst/>
          </a:prstGeom>
        </p:spPr>
      </p:pic>
      <p:cxnSp>
        <p:nvCxnSpPr>
          <p:cNvPr id="27" name="Connector 26"/>
          <p:cNvCxnSpPr/>
          <p:nvPr/>
        </p:nvCxnSpPr>
        <p:spPr>
          <a:xfrm>
            <a:off x="6455664" y="1993391"/>
            <a:ext cx="329184" cy="0"/>
          </a:xfrm>
          <a:prstGeom prst="line">
            <a:avLst/>
          </a:prstGeom>
          <a:ln w="28575">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6455664" y="2148839"/>
            <a:ext cx="329184" cy="0"/>
          </a:xfrm>
          <a:prstGeom prst="line">
            <a:avLst/>
          </a:prstGeom>
          <a:ln w="28575">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888736" y="2285999"/>
            <a:ext cx="1463040" cy="384048"/>
          </a:xfrm>
          <a:prstGeom prst="rect">
            <a:avLst/>
          </a:prstGeom>
          <a:noFill/>
        </p:spPr>
        <p:txBody>
          <a:bodyPr wrap="square" lIns="0" tIns="0" rIns="0" bIns="0" anchor="t">
            <a:spAutoFit/>
          </a:bodyPr>
          <a:lstStyle/>
          <a:p>
            <a:pPr algn="ctr">
              <a:spcAft>
                <a:spcPts val="0"/>
              </a:spcAft>
            </a:pPr>
            <a:r>
              <a:rPr sz="1300" b="1" i="0">
                <a:solidFill>
                  <a:srgbClr val="FFAB40"/>
                </a:solidFill>
                <a:effectLst>
                  <a:glow rad="63500">
                    <a:srgbClr val="001633">
                      <a:alpha val="85000"/>
                    </a:srgbClr>
                  </a:glow>
                </a:effectLst>
                <a:latin typeface="Montserrat"/>
              </a:rPr>
              <a:t>Gemelo</a:t>
            </a:r>
          </a:p>
          <a:p>
            <a:pPr algn="ctr">
              <a:spcAft>
                <a:spcPts val="0"/>
              </a:spcAft>
            </a:pPr>
            <a:r>
              <a:rPr sz="850" b="0" i="0">
                <a:solidFill>
                  <a:srgbClr val="A9B8C9"/>
                </a:solidFill>
                <a:effectLst>
                  <a:glow rad="63500">
                    <a:srgbClr val="001633">
                      <a:alpha val="85000"/>
                    </a:srgbClr>
                  </a:glow>
                </a:effectLst>
                <a:latin typeface="Montserrat"/>
              </a:rPr>
              <a:t>ida y vuelta automática</a:t>
            </a:r>
          </a:p>
        </p:txBody>
      </p:sp>
      <p:sp>
        <p:nvSpPr>
          <p:cNvPr id="30" name="TextBox 29"/>
          <p:cNvSpPr txBox="1"/>
          <p:nvPr/>
        </p:nvSpPr>
        <p:spPr>
          <a:xfrm>
            <a:off x="7626096" y="2285999"/>
            <a:ext cx="3657600" cy="384048"/>
          </a:xfrm>
          <a:prstGeom prst="rect">
            <a:avLst/>
          </a:prstGeom>
          <a:noFill/>
        </p:spPr>
        <p:txBody>
          <a:bodyPr wrap="square" lIns="0" tIns="0" rIns="0" bIns="0" anchor="t">
            <a:spAutoFit/>
          </a:bodyPr>
          <a:lstStyle/>
          <a:p>
            <a:pPr algn="l">
              <a:spcAft>
                <a:spcPts val="600"/>
              </a:spcAft>
            </a:pPr>
            <a:r>
              <a:rPr sz="1300" b="1" i="0">
                <a:solidFill>
                  <a:srgbClr val="A9B8C9"/>
                </a:solidFill>
                <a:effectLst>
                  <a:glow rad="63500">
                    <a:srgbClr val="001633">
                      <a:alpha val="85000"/>
                    </a:srgbClr>
                  </a:glow>
                </a:effectLst>
                <a:latin typeface="Montserrat"/>
              </a:rPr>
              <a:t>Por qué</a:t>
            </a:r>
          </a:p>
        </p:txBody>
      </p:sp>
      <p:sp>
        <p:nvSpPr>
          <p:cNvPr id="31" name="TextBox 30"/>
          <p:cNvSpPr txBox="1"/>
          <p:nvPr/>
        </p:nvSpPr>
        <p:spPr>
          <a:xfrm>
            <a:off x="1252728" y="2788919"/>
            <a:ext cx="1508760" cy="347472"/>
          </a:xfrm>
          <a:prstGeom prst="rect">
            <a:avLst/>
          </a:prstGeom>
          <a:noFill/>
        </p:spPr>
        <p:txBody>
          <a:bodyPr wrap="square" lIns="0" tIns="0" rIns="0" bIns="0" anchor="ctr">
            <a:spAutoFit/>
          </a:bodyPr>
          <a:lstStyle/>
          <a:p>
            <a:pPr algn="l">
              <a:spcAft>
                <a:spcPts val="600"/>
              </a:spcAft>
            </a:pPr>
            <a:r>
              <a:rPr sz="1200" b="1" i="0">
                <a:solidFill>
                  <a:srgbClr val="FFAB40"/>
                </a:solidFill>
                <a:effectLst>
                  <a:glow rad="63500">
                    <a:srgbClr val="001633">
                      <a:alpha val="85000"/>
                    </a:srgbClr>
                  </a:glow>
                </a:effectLst>
                <a:latin typeface="Montserrat"/>
              </a:rPr>
              <a:t>1 </a:t>
            </a:r>
            <a:r>
              <a:rPr sz="1200" b="1" i="0">
                <a:solidFill>
                  <a:srgbClr val="FFFFFF"/>
                </a:solidFill>
                <a:effectLst>
                  <a:glow rad="63500">
                    <a:srgbClr val="001633">
                      <a:alpha val="85000"/>
                    </a:srgbClr>
                  </a:glow>
                </a:effectLst>
                <a:latin typeface="Montserrat"/>
              </a:rPr>
              <a:t>Digitalizar</a:t>
            </a:r>
          </a:p>
        </p:txBody>
      </p:sp>
      <p:sp>
        <p:nvSpPr>
          <p:cNvPr id="32" name="Celda"/>
          <p:cNvSpPr/>
          <p:nvPr/>
        </p:nvSpPr>
        <p:spPr>
          <a:xfrm>
            <a:off x="2852928" y="2816351"/>
            <a:ext cx="1463040" cy="29260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Marca"/>
          <p:cNvSpPr/>
          <p:nvPr/>
        </p:nvSpPr>
        <p:spPr>
          <a:xfrm>
            <a:off x="3493008" y="2871215"/>
            <a:ext cx="182880" cy="182880"/>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Celda"/>
          <p:cNvSpPr/>
          <p:nvPr/>
        </p:nvSpPr>
        <p:spPr>
          <a:xfrm>
            <a:off x="4370832" y="2816351"/>
            <a:ext cx="1463040" cy="29260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Celda"/>
          <p:cNvSpPr/>
          <p:nvPr/>
        </p:nvSpPr>
        <p:spPr>
          <a:xfrm>
            <a:off x="5888736" y="2816351"/>
            <a:ext cx="1463040" cy="292608"/>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7626096" y="2788919"/>
            <a:ext cx="3639312" cy="347472"/>
          </a:xfrm>
          <a:prstGeom prst="rect">
            <a:avLst/>
          </a:prstGeom>
          <a:noFill/>
        </p:spPr>
        <p:txBody>
          <a:bodyPr wrap="square" lIns="0" tIns="0" rIns="0" bIns="0" anchor="ctr">
            <a:spAutoFit/>
          </a:bodyPr>
          <a:lstStyle/>
          <a:p>
            <a:pPr algn="l">
              <a:spcAft>
                <a:spcPts val="600"/>
              </a:spcAft>
            </a:pPr>
            <a:r>
              <a:rPr sz="1100" b="0" i="0">
                <a:solidFill>
                  <a:srgbClr val="FFFFFF"/>
                </a:solidFill>
                <a:effectLst>
                  <a:glow rad="63500">
                    <a:srgbClr val="001633">
                      <a:alpha val="85000"/>
                    </a:srgbClr>
                  </a:glow>
                </a:effectLst>
                <a:latin typeface="Montserrat"/>
              </a:rPr>
              <a:t>documentos y datos estáticos</a:t>
            </a:r>
          </a:p>
        </p:txBody>
      </p:sp>
      <p:sp>
        <p:nvSpPr>
          <p:cNvPr id="37" name="TextBox 36"/>
          <p:cNvSpPr txBox="1"/>
          <p:nvPr/>
        </p:nvSpPr>
        <p:spPr>
          <a:xfrm>
            <a:off x="1252728" y="3136391"/>
            <a:ext cx="1508760" cy="347472"/>
          </a:xfrm>
          <a:prstGeom prst="rect">
            <a:avLst/>
          </a:prstGeom>
          <a:noFill/>
        </p:spPr>
        <p:txBody>
          <a:bodyPr wrap="square" lIns="0" tIns="0" rIns="0" bIns="0" anchor="ctr">
            <a:spAutoFit/>
          </a:bodyPr>
          <a:lstStyle/>
          <a:p>
            <a:pPr algn="l">
              <a:spcAft>
                <a:spcPts val="600"/>
              </a:spcAft>
            </a:pPr>
            <a:r>
              <a:rPr sz="1200" b="1" i="0">
                <a:solidFill>
                  <a:srgbClr val="FFAB40"/>
                </a:solidFill>
                <a:effectLst>
                  <a:glow rad="63500">
                    <a:srgbClr val="001633">
                      <a:alpha val="85000"/>
                    </a:srgbClr>
                  </a:glow>
                </a:effectLst>
                <a:latin typeface="Montserrat"/>
              </a:rPr>
              <a:t>2 </a:t>
            </a:r>
            <a:r>
              <a:rPr sz="1200" b="1" i="0">
                <a:solidFill>
                  <a:srgbClr val="FFFFFF"/>
                </a:solidFill>
                <a:effectLst>
                  <a:glow rad="63500">
                    <a:srgbClr val="001633">
                      <a:alpha val="85000"/>
                    </a:srgbClr>
                  </a:glow>
                </a:effectLst>
                <a:latin typeface="Montserrat"/>
              </a:rPr>
              <a:t>Visualizar</a:t>
            </a:r>
          </a:p>
        </p:txBody>
      </p:sp>
      <p:sp>
        <p:nvSpPr>
          <p:cNvPr id="38" name="Celda"/>
          <p:cNvSpPr/>
          <p:nvPr/>
        </p:nvSpPr>
        <p:spPr>
          <a:xfrm>
            <a:off x="2852928" y="3163823"/>
            <a:ext cx="1463040" cy="29260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Marca"/>
          <p:cNvSpPr/>
          <p:nvPr/>
        </p:nvSpPr>
        <p:spPr>
          <a:xfrm>
            <a:off x="3493008" y="3218687"/>
            <a:ext cx="182880" cy="182880"/>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Celda"/>
          <p:cNvSpPr/>
          <p:nvPr/>
        </p:nvSpPr>
        <p:spPr>
          <a:xfrm>
            <a:off x="4370832" y="3163823"/>
            <a:ext cx="1463040" cy="29260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Celda"/>
          <p:cNvSpPr/>
          <p:nvPr/>
        </p:nvSpPr>
        <p:spPr>
          <a:xfrm>
            <a:off x="5888736" y="3163823"/>
            <a:ext cx="1463040" cy="292608"/>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7626096" y="3136391"/>
            <a:ext cx="3639312" cy="347472"/>
          </a:xfrm>
          <a:prstGeom prst="rect">
            <a:avLst/>
          </a:prstGeom>
          <a:noFill/>
        </p:spPr>
        <p:txBody>
          <a:bodyPr wrap="square" lIns="0" tIns="0" rIns="0" bIns="0" anchor="ctr">
            <a:spAutoFit/>
          </a:bodyPr>
          <a:lstStyle/>
          <a:p>
            <a:pPr algn="l">
              <a:spcAft>
                <a:spcPts val="600"/>
              </a:spcAft>
            </a:pPr>
            <a:r>
              <a:rPr sz="1100" b="0" i="0">
                <a:solidFill>
                  <a:srgbClr val="FFFFFF"/>
                </a:solidFill>
                <a:effectLst>
                  <a:glow rad="63500">
                    <a:srgbClr val="001633">
                      <a:alpha val="85000"/>
                    </a:srgbClr>
                  </a:glow>
                </a:effectLst>
                <a:latin typeface="Montserrat"/>
              </a:rPr>
              <a:t>3D estático; con el estado en vivo pasa a sombra</a:t>
            </a:r>
          </a:p>
        </p:txBody>
      </p:sp>
      <p:sp>
        <p:nvSpPr>
          <p:cNvPr id="43" name="TextBox 42"/>
          <p:cNvSpPr txBox="1"/>
          <p:nvPr/>
        </p:nvSpPr>
        <p:spPr>
          <a:xfrm>
            <a:off x="1252728" y="3483863"/>
            <a:ext cx="1508760" cy="347472"/>
          </a:xfrm>
          <a:prstGeom prst="rect">
            <a:avLst/>
          </a:prstGeom>
          <a:noFill/>
        </p:spPr>
        <p:txBody>
          <a:bodyPr wrap="square" lIns="0" tIns="0" rIns="0" bIns="0" anchor="ctr">
            <a:spAutoFit/>
          </a:bodyPr>
          <a:lstStyle/>
          <a:p>
            <a:pPr algn="l">
              <a:spcAft>
                <a:spcPts val="600"/>
              </a:spcAft>
            </a:pPr>
            <a:r>
              <a:rPr sz="1200" b="1" i="0">
                <a:solidFill>
                  <a:srgbClr val="FFAB40"/>
                </a:solidFill>
                <a:effectLst>
                  <a:glow rad="63500">
                    <a:srgbClr val="001633">
                      <a:alpha val="85000"/>
                    </a:srgbClr>
                  </a:glow>
                </a:effectLst>
                <a:latin typeface="Montserrat"/>
              </a:rPr>
              <a:t>3 </a:t>
            </a:r>
            <a:r>
              <a:rPr sz="1200" b="1" i="0">
                <a:solidFill>
                  <a:srgbClr val="FFFFFF"/>
                </a:solidFill>
                <a:effectLst>
                  <a:glow rad="63500">
                    <a:srgbClr val="001633">
                      <a:alpha val="85000"/>
                    </a:srgbClr>
                  </a:glow>
                </a:effectLst>
                <a:latin typeface="Montserrat"/>
              </a:rPr>
              <a:t>Simular</a:t>
            </a:r>
          </a:p>
        </p:txBody>
      </p:sp>
      <p:sp>
        <p:nvSpPr>
          <p:cNvPr id="44" name="Celda"/>
          <p:cNvSpPr/>
          <p:nvPr/>
        </p:nvSpPr>
        <p:spPr>
          <a:xfrm>
            <a:off x="2852928" y="3511295"/>
            <a:ext cx="1463040" cy="29260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Marca"/>
          <p:cNvSpPr/>
          <p:nvPr/>
        </p:nvSpPr>
        <p:spPr>
          <a:xfrm>
            <a:off x="3493008" y="3566159"/>
            <a:ext cx="182880" cy="182880"/>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Celda"/>
          <p:cNvSpPr/>
          <p:nvPr/>
        </p:nvSpPr>
        <p:spPr>
          <a:xfrm>
            <a:off x="4370832" y="3511295"/>
            <a:ext cx="1463040" cy="29260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Celda"/>
          <p:cNvSpPr/>
          <p:nvPr/>
        </p:nvSpPr>
        <p:spPr>
          <a:xfrm>
            <a:off x="5888736" y="3511295"/>
            <a:ext cx="1463040" cy="292608"/>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7626096" y="3483863"/>
            <a:ext cx="3639312" cy="347472"/>
          </a:xfrm>
          <a:prstGeom prst="rect">
            <a:avLst/>
          </a:prstGeom>
          <a:noFill/>
        </p:spPr>
        <p:txBody>
          <a:bodyPr wrap="square" lIns="0" tIns="0" rIns="0" bIns="0" anchor="ctr">
            <a:spAutoFit/>
          </a:bodyPr>
          <a:lstStyle/>
          <a:p>
            <a:pPr algn="l">
              <a:spcAft>
                <a:spcPts val="600"/>
              </a:spcAft>
            </a:pPr>
            <a:r>
              <a:rPr sz="1100" b="0" i="0">
                <a:solidFill>
                  <a:srgbClr val="FFFFFF"/>
                </a:solidFill>
                <a:effectLst>
                  <a:glow rad="63500">
                    <a:srgbClr val="001633">
                      <a:alpha val="85000"/>
                    </a:srgbClr>
                  </a:glow>
                </a:effectLst>
                <a:latin typeface="Montserrat"/>
              </a:rPr>
              <a:t>fuera de línea, con datos históricos o de prueba</a:t>
            </a:r>
          </a:p>
        </p:txBody>
      </p:sp>
      <p:sp>
        <p:nvSpPr>
          <p:cNvPr id="49" name="TextBox 48"/>
          <p:cNvSpPr txBox="1"/>
          <p:nvPr/>
        </p:nvSpPr>
        <p:spPr>
          <a:xfrm>
            <a:off x="1252728" y="3831335"/>
            <a:ext cx="1508760" cy="347472"/>
          </a:xfrm>
          <a:prstGeom prst="rect">
            <a:avLst/>
          </a:prstGeom>
          <a:noFill/>
        </p:spPr>
        <p:txBody>
          <a:bodyPr wrap="square" lIns="0" tIns="0" rIns="0" bIns="0" anchor="ctr">
            <a:spAutoFit/>
          </a:bodyPr>
          <a:lstStyle/>
          <a:p>
            <a:pPr algn="l">
              <a:spcAft>
                <a:spcPts val="600"/>
              </a:spcAft>
            </a:pPr>
            <a:r>
              <a:rPr sz="1200" b="1" i="0">
                <a:solidFill>
                  <a:srgbClr val="FFAB40"/>
                </a:solidFill>
                <a:effectLst>
                  <a:glow rad="63500">
                    <a:srgbClr val="001633">
                      <a:alpha val="85000"/>
                    </a:srgbClr>
                  </a:glow>
                </a:effectLst>
                <a:latin typeface="Montserrat"/>
              </a:rPr>
              <a:t>4 </a:t>
            </a:r>
            <a:r>
              <a:rPr sz="1200" b="1" i="0">
                <a:solidFill>
                  <a:srgbClr val="FFFFFF"/>
                </a:solidFill>
                <a:effectLst>
                  <a:glow rad="63500">
                    <a:srgbClr val="001633">
                      <a:alpha val="85000"/>
                    </a:srgbClr>
                  </a:glow>
                </a:effectLst>
                <a:latin typeface="Montserrat"/>
              </a:rPr>
              <a:t>Emular</a:t>
            </a:r>
          </a:p>
        </p:txBody>
      </p:sp>
      <p:sp>
        <p:nvSpPr>
          <p:cNvPr id="50" name="Celda"/>
          <p:cNvSpPr/>
          <p:nvPr/>
        </p:nvSpPr>
        <p:spPr>
          <a:xfrm>
            <a:off x="2852928" y="3858767"/>
            <a:ext cx="1463040" cy="29260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Marca"/>
          <p:cNvSpPr/>
          <p:nvPr/>
        </p:nvSpPr>
        <p:spPr>
          <a:xfrm>
            <a:off x="3493008" y="3913631"/>
            <a:ext cx="182880" cy="182880"/>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Celda"/>
          <p:cNvSpPr/>
          <p:nvPr/>
        </p:nvSpPr>
        <p:spPr>
          <a:xfrm>
            <a:off x="4370832" y="3858767"/>
            <a:ext cx="1463040" cy="29260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Celda"/>
          <p:cNvSpPr/>
          <p:nvPr/>
        </p:nvSpPr>
        <p:spPr>
          <a:xfrm>
            <a:off x="5888736" y="3858767"/>
            <a:ext cx="1463040" cy="292608"/>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7626096" y="3831335"/>
            <a:ext cx="3639312" cy="347472"/>
          </a:xfrm>
          <a:prstGeom prst="rect">
            <a:avLst/>
          </a:prstGeom>
          <a:noFill/>
        </p:spPr>
        <p:txBody>
          <a:bodyPr wrap="square" lIns="0" tIns="0" rIns="0" bIns="0" anchor="ctr">
            <a:spAutoFit/>
          </a:bodyPr>
          <a:lstStyle/>
          <a:p>
            <a:pPr algn="l">
              <a:spcAft>
                <a:spcPts val="600"/>
              </a:spcAft>
            </a:pPr>
            <a:r>
              <a:rPr sz="1100" b="0" i="0">
                <a:solidFill>
                  <a:srgbClr val="FFFFFF"/>
                </a:solidFill>
                <a:effectLst>
                  <a:glow rad="63500">
                    <a:srgbClr val="001633">
                      <a:alpha val="85000"/>
                    </a:srgbClr>
                  </a:glow>
                </a:effectLst>
                <a:latin typeface="Montserrat"/>
              </a:rPr>
              <a:t>control real conectado a una planta virtual</a:t>
            </a:r>
          </a:p>
        </p:txBody>
      </p:sp>
      <p:sp>
        <p:nvSpPr>
          <p:cNvPr id="55" name="TextBox 54"/>
          <p:cNvSpPr txBox="1"/>
          <p:nvPr/>
        </p:nvSpPr>
        <p:spPr>
          <a:xfrm>
            <a:off x="1252728" y="4453127"/>
            <a:ext cx="1508760" cy="347472"/>
          </a:xfrm>
          <a:prstGeom prst="rect">
            <a:avLst/>
          </a:prstGeom>
          <a:noFill/>
        </p:spPr>
        <p:txBody>
          <a:bodyPr wrap="square" lIns="0" tIns="0" rIns="0" bIns="0" anchor="ctr">
            <a:spAutoFit/>
          </a:bodyPr>
          <a:lstStyle/>
          <a:p>
            <a:pPr algn="l">
              <a:spcAft>
                <a:spcPts val="600"/>
              </a:spcAft>
            </a:pPr>
            <a:r>
              <a:rPr sz="1200" b="1" i="0">
                <a:solidFill>
                  <a:srgbClr val="85D5E6"/>
                </a:solidFill>
                <a:effectLst>
                  <a:glow rad="63500">
                    <a:srgbClr val="001633">
                      <a:alpha val="85000"/>
                    </a:srgbClr>
                  </a:glow>
                </a:effectLst>
                <a:latin typeface="Montserrat"/>
              </a:rPr>
              <a:t>5 </a:t>
            </a:r>
            <a:r>
              <a:rPr sz="1200" b="1" i="0">
                <a:solidFill>
                  <a:srgbClr val="FFFFFF"/>
                </a:solidFill>
                <a:effectLst>
                  <a:glow rad="63500">
                    <a:srgbClr val="001633">
                      <a:alpha val="85000"/>
                    </a:srgbClr>
                  </a:glow>
                </a:effectLst>
                <a:latin typeface="Montserrat"/>
              </a:rPr>
              <a:t>Extraer</a:t>
            </a:r>
          </a:p>
        </p:txBody>
      </p:sp>
      <p:sp>
        <p:nvSpPr>
          <p:cNvPr id="56" name="Celda"/>
          <p:cNvSpPr/>
          <p:nvPr/>
        </p:nvSpPr>
        <p:spPr>
          <a:xfrm>
            <a:off x="2852928" y="4480559"/>
            <a:ext cx="1463040" cy="29260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Celda"/>
          <p:cNvSpPr/>
          <p:nvPr/>
        </p:nvSpPr>
        <p:spPr>
          <a:xfrm>
            <a:off x="4370832" y="4480559"/>
            <a:ext cx="1463040" cy="29260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Marca"/>
          <p:cNvSpPr/>
          <p:nvPr/>
        </p:nvSpPr>
        <p:spPr>
          <a:xfrm>
            <a:off x="5010912" y="4535423"/>
            <a:ext cx="182880" cy="182880"/>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Celda"/>
          <p:cNvSpPr/>
          <p:nvPr/>
        </p:nvSpPr>
        <p:spPr>
          <a:xfrm>
            <a:off x="5888736" y="4480559"/>
            <a:ext cx="1463040" cy="292608"/>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Box 59"/>
          <p:cNvSpPr txBox="1"/>
          <p:nvPr/>
        </p:nvSpPr>
        <p:spPr>
          <a:xfrm>
            <a:off x="7626096" y="4453127"/>
            <a:ext cx="3639312" cy="347472"/>
          </a:xfrm>
          <a:prstGeom prst="rect">
            <a:avLst/>
          </a:prstGeom>
          <a:noFill/>
        </p:spPr>
        <p:txBody>
          <a:bodyPr wrap="square" lIns="0" tIns="0" rIns="0" bIns="0" anchor="ctr">
            <a:spAutoFit/>
          </a:bodyPr>
          <a:lstStyle/>
          <a:p>
            <a:pPr algn="l">
              <a:spcAft>
                <a:spcPts val="600"/>
              </a:spcAft>
            </a:pPr>
            <a:r>
              <a:rPr sz="1100" b="0" i="0">
                <a:solidFill>
                  <a:srgbClr val="FFFFFF"/>
                </a:solidFill>
                <a:effectLst>
                  <a:glow rad="63500">
                    <a:srgbClr val="001633">
                      <a:alpha val="85000"/>
                    </a:srgbClr>
                  </a:glow>
                </a:effectLst>
                <a:latin typeface="Montserrat"/>
              </a:rPr>
              <a:t>datos automáticos de lo real a lo virtual</a:t>
            </a:r>
          </a:p>
        </p:txBody>
      </p:sp>
      <p:sp>
        <p:nvSpPr>
          <p:cNvPr id="61" name="TextBox 60"/>
          <p:cNvSpPr txBox="1"/>
          <p:nvPr/>
        </p:nvSpPr>
        <p:spPr>
          <a:xfrm>
            <a:off x="1252728" y="4800599"/>
            <a:ext cx="1508760" cy="347472"/>
          </a:xfrm>
          <a:prstGeom prst="rect">
            <a:avLst/>
          </a:prstGeom>
          <a:noFill/>
        </p:spPr>
        <p:txBody>
          <a:bodyPr wrap="square" lIns="0" tIns="0" rIns="0" bIns="0" anchor="ctr">
            <a:spAutoFit/>
          </a:bodyPr>
          <a:lstStyle/>
          <a:p>
            <a:pPr algn="l">
              <a:spcAft>
                <a:spcPts val="600"/>
              </a:spcAft>
            </a:pPr>
            <a:r>
              <a:rPr sz="1200" b="1" i="0">
                <a:solidFill>
                  <a:srgbClr val="85D5E6"/>
                </a:solidFill>
                <a:effectLst>
                  <a:glow rad="63500">
                    <a:srgbClr val="001633">
                      <a:alpha val="85000"/>
                    </a:srgbClr>
                  </a:glow>
                </a:effectLst>
                <a:latin typeface="Montserrat"/>
              </a:rPr>
              <a:t>6 </a:t>
            </a:r>
            <a:r>
              <a:rPr sz="1200" b="1" i="0">
                <a:solidFill>
                  <a:srgbClr val="FFFFFF"/>
                </a:solidFill>
                <a:effectLst>
                  <a:glow rad="63500">
                    <a:srgbClr val="001633">
                      <a:alpha val="85000"/>
                    </a:srgbClr>
                  </a:glow>
                </a:effectLst>
                <a:latin typeface="Montserrat"/>
              </a:rPr>
              <a:t>Orquestar</a:t>
            </a:r>
          </a:p>
        </p:txBody>
      </p:sp>
      <p:sp>
        <p:nvSpPr>
          <p:cNvPr id="62" name="Celda"/>
          <p:cNvSpPr/>
          <p:nvPr/>
        </p:nvSpPr>
        <p:spPr>
          <a:xfrm>
            <a:off x="2852928" y="4828031"/>
            <a:ext cx="1463040" cy="29260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Celda"/>
          <p:cNvSpPr/>
          <p:nvPr/>
        </p:nvSpPr>
        <p:spPr>
          <a:xfrm>
            <a:off x="4370832" y="4828031"/>
            <a:ext cx="1463040" cy="29260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Celda"/>
          <p:cNvSpPr/>
          <p:nvPr/>
        </p:nvSpPr>
        <p:spPr>
          <a:xfrm>
            <a:off x="5888736" y="4828031"/>
            <a:ext cx="1463040" cy="292608"/>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Marca"/>
          <p:cNvSpPr/>
          <p:nvPr/>
        </p:nvSpPr>
        <p:spPr>
          <a:xfrm>
            <a:off x="6528816" y="4882895"/>
            <a:ext cx="182880" cy="182880"/>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Box 65"/>
          <p:cNvSpPr txBox="1"/>
          <p:nvPr/>
        </p:nvSpPr>
        <p:spPr>
          <a:xfrm>
            <a:off x="7626096" y="4800599"/>
            <a:ext cx="3639312" cy="347472"/>
          </a:xfrm>
          <a:prstGeom prst="rect">
            <a:avLst/>
          </a:prstGeom>
          <a:noFill/>
        </p:spPr>
        <p:txBody>
          <a:bodyPr wrap="square" lIns="0" tIns="0" rIns="0" bIns="0" anchor="ctr">
            <a:spAutoFit/>
          </a:bodyPr>
          <a:lstStyle/>
          <a:p>
            <a:pPr algn="l">
              <a:spcAft>
                <a:spcPts val="600"/>
              </a:spcAft>
            </a:pPr>
            <a:r>
              <a:rPr sz="1100" b="0" i="0">
                <a:solidFill>
                  <a:srgbClr val="FFFFFF"/>
                </a:solidFill>
                <a:effectLst>
                  <a:glow rad="63500">
                    <a:srgbClr val="001633">
                      <a:alpha val="85000"/>
                    </a:srgbClr>
                  </a:glow>
                </a:effectLst>
                <a:latin typeface="Montserrat"/>
              </a:rPr>
              <a:t>el único uso que exige la vuelta automática</a:t>
            </a:r>
          </a:p>
        </p:txBody>
      </p:sp>
      <p:sp>
        <p:nvSpPr>
          <p:cNvPr id="67" name="TextBox 66"/>
          <p:cNvSpPr txBox="1"/>
          <p:nvPr/>
        </p:nvSpPr>
        <p:spPr>
          <a:xfrm>
            <a:off x="1252728" y="5148071"/>
            <a:ext cx="1508760" cy="347472"/>
          </a:xfrm>
          <a:prstGeom prst="rect">
            <a:avLst/>
          </a:prstGeom>
          <a:noFill/>
        </p:spPr>
        <p:txBody>
          <a:bodyPr wrap="square" lIns="0" tIns="0" rIns="0" bIns="0" anchor="ctr">
            <a:spAutoFit/>
          </a:bodyPr>
          <a:lstStyle/>
          <a:p>
            <a:pPr algn="l">
              <a:spcAft>
                <a:spcPts val="600"/>
              </a:spcAft>
            </a:pPr>
            <a:r>
              <a:rPr sz="1200" b="1" i="0">
                <a:solidFill>
                  <a:srgbClr val="85D5E6"/>
                </a:solidFill>
                <a:effectLst>
                  <a:glow rad="63500">
                    <a:srgbClr val="001633">
                      <a:alpha val="85000"/>
                    </a:srgbClr>
                  </a:glow>
                </a:effectLst>
                <a:latin typeface="Montserrat"/>
              </a:rPr>
              <a:t>7 </a:t>
            </a:r>
            <a:r>
              <a:rPr sz="1200" b="1" i="0">
                <a:solidFill>
                  <a:srgbClr val="FFFFFF"/>
                </a:solidFill>
                <a:effectLst>
                  <a:glow rad="63500">
                    <a:srgbClr val="001633">
                      <a:alpha val="85000"/>
                    </a:srgbClr>
                  </a:glow>
                </a:effectLst>
                <a:latin typeface="Montserrat"/>
              </a:rPr>
              <a:t>Predecir</a:t>
            </a:r>
          </a:p>
        </p:txBody>
      </p:sp>
      <p:sp>
        <p:nvSpPr>
          <p:cNvPr id="68" name="Celda"/>
          <p:cNvSpPr/>
          <p:nvPr/>
        </p:nvSpPr>
        <p:spPr>
          <a:xfrm>
            <a:off x="2852928" y="5175503"/>
            <a:ext cx="1463040" cy="29260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Marca"/>
          <p:cNvSpPr/>
          <p:nvPr/>
        </p:nvSpPr>
        <p:spPr>
          <a:xfrm>
            <a:off x="3493008" y="5230367"/>
            <a:ext cx="182880" cy="182880"/>
          </a:xfrm>
          <a:prstGeom prst="ellipse">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Celda"/>
          <p:cNvSpPr/>
          <p:nvPr/>
        </p:nvSpPr>
        <p:spPr>
          <a:xfrm>
            <a:off x="4370832" y="5175503"/>
            <a:ext cx="1463040" cy="29260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Marca"/>
          <p:cNvSpPr/>
          <p:nvPr/>
        </p:nvSpPr>
        <p:spPr>
          <a:xfrm>
            <a:off x="5010912" y="5230367"/>
            <a:ext cx="182880" cy="182880"/>
          </a:xfrm>
          <a:prstGeom prst="ellipse">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Celda"/>
          <p:cNvSpPr/>
          <p:nvPr/>
        </p:nvSpPr>
        <p:spPr>
          <a:xfrm>
            <a:off x="5888736" y="5175503"/>
            <a:ext cx="1463040" cy="292608"/>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Marca"/>
          <p:cNvSpPr/>
          <p:nvPr/>
        </p:nvSpPr>
        <p:spPr>
          <a:xfrm>
            <a:off x="6528816" y="5230367"/>
            <a:ext cx="182880" cy="182880"/>
          </a:xfrm>
          <a:prstGeom prst="ellipse">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TextBox 73"/>
          <p:cNvSpPr txBox="1"/>
          <p:nvPr/>
        </p:nvSpPr>
        <p:spPr>
          <a:xfrm>
            <a:off x="7626096" y="5148071"/>
            <a:ext cx="3639312" cy="347472"/>
          </a:xfrm>
          <a:prstGeom prst="rect">
            <a:avLst/>
          </a:prstGeom>
          <a:noFill/>
        </p:spPr>
        <p:txBody>
          <a:bodyPr wrap="square" lIns="0" tIns="0" rIns="0" bIns="0" anchor="ctr">
            <a:spAutoFit/>
          </a:bodyPr>
          <a:lstStyle/>
          <a:p>
            <a:pPr algn="l">
              <a:spcAft>
                <a:spcPts val="600"/>
              </a:spcAft>
            </a:pPr>
            <a:r>
              <a:rPr sz="1100" b="0" i="0">
                <a:solidFill>
                  <a:srgbClr val="85D5E6"/>
                </a:solidFill>
                <a:effectLst>
                  <a:glow rad="63500">
                    <a:srgbClr val="001633">
                      <a:alpha val="85000"/>
                    </a:srgbClr>
                  </a:glow>
                </a:effectLst>
                <a:latin typeface="Montserrat"/>
              </a:rPr>
              <a:t>depende de si usa datos en vivo y si actúa</a:t>
            </a:r>
          </a:p>
        </p:txBody>
      </p:sp>
      <p:cxnSp>
        <p:nvCxnSpPr>
          <p:cNvPr id="75" name="Divisoria equipo conectado"/>
          <p:cNvCxnSpPr/>
          <p:nvPr/>
        </p:nvCxnSpPr>
        <p:spPr>
          <a:xfrm>
            <a:off x="1252728" y="4315967"/>
            <a:ext cx="6236208" cy="0"/>
          </a:xfrm>
          <a:prstGeom prst="line">
            <a:avLst/>
          </a:prstGeom>
          <a:ln w="12700">
            <a:solidFill>
              <a:srgbClr val="85D5E6"/>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626096" y="4215383"/>
            <a:ext cx="3657600" cy="201168"/>
          </a:xfrm>
          <a:prstGeom prst="rect">
            <a:avLst/>
          </a:prstGeom>
          <a:noFill/>
        </p:spPr>
        <p:txBody>
          <a:bodyPr wrap="square" lIns="0" tIns="0" rIns="0" bIns="0" anchor="ctr">
            <a:spAutoFit/>
          </a:bodyPr>
          <a:lstStyle/>
          <a:p>
            <a:pPr algn="l">
              <a:spcAft>
                <a:spcPts val="600"/>
              </a:spcAft>
            </a:pPr>
            <a:r>
              <a:rPr sz="900" b="1" i="0">
                <a:solidFill>
                  <a:srgbClr val="85D5E6"/>
                </a:solidFill>
                <a:effectLst>
                  <a:glow rad="63500">
                    <a:srgbClr val="001633">
                      <a:alpha val="85000"/>
                    </a:srgbClr>
                  </a:glow>
                </a:effectLst>
                <a:latin typeface="Montserrat"/>
              </a:rPr>
              <a:t>↓ desde aquí, equipo físico conectado</a:t>
            </a:r>
          </a:p>
        </p:txBody>
      </p:sp>
      <p:sp>
        <p:nvSpPr>
          <p:cNvPr id="77" name="TextBox 76"/>
          <p:cNvSpPr txBox="1"/>
          <p:nvPr/>
        </p:nvSpPr>
        <p:spPr>
          <a:xfrm>
            <a:off x="1252728" y="5596128"/>
            <a:ext cx="10012680" cy="274320"/>
          </a:xfrm>
          <a:prstGeom prst="rect">
            <a:avLst/>
          </a:prstGeom>
          <a:noFill/>
        </p:spPr>
        <p:txBody>
          <a:bodyPr wrap="square" lIns="0" tIns="0" rIns="0" bIns="0" anchor="t">
            <a:spAutoFit/>
          </a:bodyPr>
          <a:lstStyle/>
          <a:p>
            <a:pPr algn="l">
              <a:spcAft>
                <a:spcPts val="600"/>
              </a:spcAft>
            </a:pPr>
            <a:r>
              <a:rPr sz="1050" b="0" i="0">
                <a:solidFill>
                  <a:srgbClr val="A9B8C9"/>
                </a:solidFill>
                <a:effectLst>
                  <a:glow rad="63500">
                    <a:srgbClr val="001633">
                      <a:alpha val="85000"/>
                    </a:srgbClr>
                  </a:glow>
                </a:effectLst>
                <a:latin typeface="Montserrat"/>
              </a:rPr>
              <a:t>En diseño y construcción solo cabe el modelo; cuanto más alto el nivel, más se decide con una persona en el lazo.</a:t>
            </a:r>
          </a:p>
        </p:txBody>
      </p:sp>
      <p:sp>
        <p:nvSpPr>
          <p:cNvPr id="78"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Modelo, sombra y gemelo: Kritzinger et al. (2018) [2] · cruce con los usos del cubo: elaboración propia</a:t>
            </a:r>
          </a:p>
        </p:txBody>
      </p:sp>
      <p:sp>
        <p:nvSpPr>
          <p:cNvPr id="79"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 · Fundamentos</a:t>
            </a:r>
          </a:p>
        </p:txBody>
      </p:sp>
      <p:sp>
        <p:nvSpPr>
          <p:cNvPr id="80"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Avance I actual"/>
          <p:cNvSpPr/>
          <p:nvPr/>
        </p:nvSpPr>
        <p:spPr>
          <a:xfrm>
            <a:off x="1252728" y="6510528"/>
            <a:ext cx="89154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 · Industria</a:t>
            </a:r>
          </a:p>
        </p:txBody>
      </p:sp>
      <p:sp>
        <p:nvSpPr>
          <p:cNvPr id="83"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4"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III · Construcción</a:t>
            </a:r>
          </a:p>
        </p:txBody>
      </p:sp>
      <p:sp>
        <p:nvSpPr>
          <p:cNvPr id="85"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6"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87"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8"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6/12 </a:t>
            </a:r>
            <a:r>
              <a:rPr sz="1000" b="0" i="0">
                <a:solidFill>
                  <a:srgbClr val="A9B8C9"/>
                </a:solidFill>
                <a:effectLst>
                  <a:glow rad="63500">
                    <a:srgbClr val="001633">
                      <a:alpha val="85000"/>
                    </a:srgbClr>
                  </a:glow>
                </a:effectLst>
                <a:latin typeface="Montserrat"/>
              </a:rPr>
              <a:t>· Gemelos Digitales para Minería 4.0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Seis familias de capacidades: cada gemelo necesita una combinación distinta</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 · FUNDAMENTOS — CAPACIDADES</a:t>
            </a:r>
          </a:p>
        </p:txBody>
      </p:sp>
      <p:sp>
        <p:nvSpPr>
          <p:cNvPr id="6" name="TextBox 5"/>
          <p:cNvSpPr txBox="1"/>
          <p:nvPr/>
        </p:nvSpPr>
        <p:spPr>
          <a:xfrm>
            <a:off x="1252728" y="1801367"/>
            <a:ext cx="6949440" cy="68580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El Digital Twin Consortium ordena 62 capacidades en seis familias. Se usan como lista de chequeo: se marcan las que exige cada caso y se comparan con las que ofrece cada solución.</a:t>
            </a:r>
          </a:p>
        </p:txBody>
      </p:sp>
      <p:sp>
        <p:nvSpPr>
          <p:cNvPr id="7" name="Velo leyenda"/>
          <p:cNvSpPr/>
          <p:nvPr/>
        </p:nvSpPr>
        <p:spPr>
          <a:xfrm>
            <a:off x="8229600" y="1600199"/>
            <a:ext cx="3931920" cy="1005840"/>
          </a:xfrm>
          <a:prstGeom prst="rect">
            <a:avLst/>
          </a:prstGeom>
          <a:gradFill rotWithShape="1">
            <a:gsLst>
              <a:gs pos="0">
                <a:srgbClr val="001633">
                  <a:alpha val="100000"/>
                </a:srgbClr>
              </a:gs>
              <a:gs pos="65000">
                <a:srgbClr val="001633">
                  <a:alpha val="100000"/>
                </a:srgbClr>
              </a:gs>
              <a:gs pos="100000">
                <a:srgbClr val="001633">
                  <a:alpha val="0"/>
                </a:srgbClr>
              </a:gs>
            </a:gsLst>
            <a:path path="rect">
              <a:fillToRect t="50000" r="35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Caso A"/>
          <p:cNvSpPr/>
          <p:nvPr/>
        </p:nvSpPr>
        <p:spPr>
          <a:xfrm>
            <a:off x="8503920" y="1819655"/>
            <a:ext cx="182880" cy="18288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503920" y="1819655"/>
            <a:ext cx="182880" cy="182880"/>
          </a:xfrm>
          <a:prstGeom prst="rect">
            <a:avLst/>
          </a:prstGeom>
          <a:noFill/>
        </p:spPr>
        <p:txBody>
          <a:bodyPr wrap="square" lIns="0" tIns="0" rIns="0" bIns="0" anchor="ctr">
            <a:spAutoFit/>
          </a:bodyPr>
          <a:lstStyle/>
          <a:p>
            <a:pPr algn="ctr">
              <a:spcAft>
                <a:spcPts val="600"/>
              </a:spcAft>
            </a:pPr>
            <a:r>
              <a:rPr sz="850" b="1" i="0">
                <a:solidFill>
                  <a:srgbClr val="001633"/>
                </a:solidFill>
                <a:latin typeface="Montserrat"/>
              </a:rPr>
              <a:t>A</a:t>
            </a:r>
          </a:p>
        </p:txBody>
      </p:sp>
      <p:sp>
        <p:nvSpPr>
          <p:cNvPr id="10" name="TextBox 9"/>
          <p:cNvSpPr txBox="1"/>
          <p:nvPr/>
        </p:nvSpPr>
        <p:spPr>
          <a:xfrm>
            <a:off x="8778240" y="1801367"/>
            <a:ext cx="3017520" cy="228600"/>
          </a:xfrm>
          <a:prstGeom prst="rect">
            <a:avLst/>
          </a:prstGeom>
          <a:noFill/>
        </p:spPr>
        <p:txBody>
          <a:bodyPr wrap="square" lIns="0" tIns="0" rIns="0" bIns="0" anchor="ctr">
            <a:spAutoFit/>
          </a:bodyPr>
          <a:lstStyle/>
          <a:p>
            <a:pPr algn="l">
              <a:spcAft>
                <a:spcPts val="600"/>
              </a:spcAft>
            </a:pPr>
            <a:r>
              <a:rPr sz="950" b="1" i="0">
                <a:solidFill>
                  <a:srgbClr val="FFFFFF"/>
                </a:solidFill>
                <a:effectLst>
                  <a:glow rad="63500">
                    <a:srgbClr val="001633">
                      <a:alpha val="85000"/>
                    </a:srgbClr>
                  </a:glow>
                </a:effectLst>
                <a:latin typeface="Montserrat"/>
              </a:rPr>
              <a:t>Ventilación bajo demanda  </a:t>
            </a:r>
            <a:r>
              <a:rPr sz="850" b="0" i="0">
                <a:solidFill>
                  <a:srgbClr val="A9B8C9"/>
                </a:solidFill>
                <a:effectLst>
                  <a:glow rad="63500">
                    <a:srgbClr val="001633">
                      <a:alpha val="85000"/>
                    </a:srgbClr>
                  </a:glow>
                </a:effectLst>
                <a:latin typeface="Montserrat"/>
              </a:rPr>
              <a:t>15 marcadas</a:t>
            </a:r>
          </a:p>
        </p:txBody>
      </p:sp>
      <p:sp>
        <p:nvSpPr>
          <p:cNvPr id="11" name="Caso B"/>
          <p:cNvSpPr/>
          <p:nvPr/>
        </p:nvSpPr>
        <p:spPr>
          <a:xfrm>
            <a:off x="8503920" y="2066543"/>
            <a:ext cx="182880" cy="182880"/>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503920" y="2066543"/>
            <a:ext cx="182880" cy="182880"/>
          </a:xfrm>
          <a:prstGeom prst="rect">
            <a:avLst/>
          </a:prstGeom>
          <a:noFill/>
        </p:spPr>
        <p:txBody>
          <a:bodyPr wrap="square" lIns="0" tIns="0" rIns="0" bIns="0" anchor="ctr">
            <a:spAutoFit/>
          </a:bodyPr>
          <a:lstStyle/>
          <a:p>
            <a:pPr algn="ctr">
              <a:spcAft>
                <a:spcPts val="600"/>
              </a:spcAft>
            </a:pPr>
            <a:r>
              <a:rPr sz="850" b="1" i="0">
                <a:solidFill>
                  <a:srgbClr val="001633"/>
                </a:solidFill>
                <a:latin typeface="Montserrat"/>
              </a:rPr>
              <a:t>B</a:t>
            </a:r>
          </a:p>
        </p:txBody>
      </p:sp>
      <p:sp>
        <p:nvSpPr>
          <p:cNvPr id="13" name="TextBox 12"/>
          <p:cNvSpPr txBox="1"/>
          <p:nvPr/>
        </p:nvSpPr>
        <p:spPr>
          <a:xfrm>
            <a:off x="8778240" y="2048255"/>
            <a:ext cx="3017520" cy="228600"/>
          </a:xfrm>
          <a:prstGeom prst="rect">
            <a:avLst/>
          </a:prstGeom>
          <a:noFill/>
        </p:spPr>
        <p:txBody>
          <a:bodyPr wrap="square" lIns="0" tIns="0" rIns="0" bIns="0" anchor="ctr">
            <a:spAutoFit/>
          </a:bodyPr>
          <a:lstStyle/>
          <a:p>
            <a:pPr algn="l">
              <a:spcAft>
                <a:spcPts val="600"/>
              </a:spcAft>
            </a:pPr>
            <a:r>
              <a:rPr sz="950" b="1" i="0">
                <a:solidFill>
                  <a:srgbClr val="FFFFFF"/>
                </a:solidFill>
                <a:effectLst>
                  <a:glow rad="63500">
                    <a:srgbClr val="001633">
                      <a:alpha val="85000"/>
                    </a:srgbClr>
                  </a:glow>
                </a:effectLst>
                <a:latin typeface="Montserrat"/>
              </a:rPr>
              <a:t>Visor 3D de planta para mantención  </a:t>
            </a:r>
            <a:r>
              <a:rPr sz="850" b="0" i="0">
                <a:solidFill>
                  <a:srgbClr val="A9B8C9"/>
                </a:solidFill>
                <a:effectLst>
                  <a:glow rad="63500">
                    <a:srgbClr val="001633">
                      <a:alpha val="85000"/>
                    </a:srgbClr>
                  </a:glow>
                </a:effectLst>
                <a:latin typeface="Montserrat"/>
              </a:rPr>
              <a:t>9 marcadas</a:t>
            </a:r>
          </a:p>
        </p:txBody>
      </p:sp>
      <p:sp>
        <p:nvSpPr>
          <p:cNvPr id="14" name="Caso C"/>
          <p:cNvSpPr/>
          <p:nvPr/>
        </p:nvSpPr>
        <p:spPr>
          <a:xfrm>
            <a:off x="8503920" y="2313431"/>
            <a:ext cx="182880" cy="182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503920" y="2313431"/>
            <a:ext cx="182880" cy="182880"/>
          </a:xfrm>
          <a:prstGeom prst="rect">
            <a:avLst/>
          </a:prstGeom>
          <a:noFill/>
        </p:spPr>
        <p:txBody>
          <a:bodyPr wrap="square" lIns="0" tIns="0" rIns="0" bIns="0" anchor="ctr">
            <a:spAutoFit/>
          </a:bodyPr>
          <a:lstStyle/>
          <a:p>
            <a:pPr algn="ctr">
              <a:spcAft>
                <a:spcPts val="600"/>
              </a:spcAft>
            </a:pPr>
            <a:r>
              <a:rPr sz="850" b="1" i="0">
                <a:solidFill>
                  <a:srgbClr val="001633"/>
                </a:solidFill>
                <a:latin typeface="Montserrat"/>
              </a:rPr>
              <a:t>C</a:t>
            </a:r>
          </a:p>
        </p:txBody>
      </p:sp>
      <p:sp>
        <p:nvSpPr>
          <p:cNvPr id="16" name="TextBox 15"/>
          <p:cNvSpPr txBox="1"/>
          <p:nvPr/>
        </p:nvSpPr>
        <p:spPr>
          <a:xfrm>
            <a:off x="8778240" y="2295143"/>
            <a:ext cx="3017520" cy="228600"/>
          </a:xfrm>
          <a:prstGeom prst="rect">
            <a:avLst/>
          </a:prstGeom>
          <a:noFill/>
        </p:spPr>
        <p:txBody>
          <a:bodyPr wrap="square" lIns="0" tIns="0" rIns="0" bIns="0" anchor="ctr">
            <a:spAutoFit/>
          </a:bodyPr>
          <a:lstStyle/>
          <a:p>
            <a:pPr algn="l">
              <a:spcAft>
                <a:spcPts val="600"/>
              </a:spcAft>
            </a:pPr>
            <a:r>
              <a:rPr sz="950" b="1" i="0">
                <a:solidFill>
                  <a:srgbClr val="FFFFFF"/>
                </a:solidFill>
                <a:effectLst>
                  <a:glow rad="63500">
                    <a:srgbClr val="001633">
                      <a:alpha val="85000"/>
                    </a:srgbClr>
                  </a:glow>
                </a:effectLst>
                <a:latin typeface="Montserrat"/>
              </a:rPr>
              <a:t>Predicción de fallas de camiones  </a:t>
            </a:r>
            <a:r>
              <a:rPr sz="850" b="0" i="0">
                <a:solidFill>
                  <a:srgbClr val="A9B8C9"/>
                </a:solidFill>
                <a:effectLst>
                  <a:glow rad="63500">
                    <a:srgbClr val="001633">
                      <a:alpha val="85000"/>
                    </a:srgbClr>
                  </a:glow>
                </a:effectLst>
                <a:latin typeface="Montserrat"/>
              </a:rPr>
              <a:t>15 marcadas</a:t>
            </a:r>
          </a:p>
        </p:txBody>
      </p:sp>
      <p:sp>
        <p:nvSpPr>
          <p:cNvPr id="17" name="Familia Datos"/>
          <p:cNvSpPr/>
          <p:nvPr/>
        </p:nvSpPr>
        <p:spPr>
          <a:xfrm>
            <a:off x="1252728" y="2697480"/>
            <a:ext cx="1554480" cy="64008"/>
          </a:xfrm>
          <a:prstGeom prst="rect">
            <a:avLst/>
          </a:prstGeom>
          <a:solidFill>
            <a:srgbClr val="3D8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1252728" y="2807208"/>
            <a:ext cx="1554480" cy="292608"/>
          </a:xfrm>
          <a:prstGeom prst="rect">
            <a:avLst/>
          </a:prstGeom>
          <a:noFill/>
        </p:spPr>
        <p:txBody>
          <a:bodyPr wrap="square" lIns="0" tIns="0" rIns="0" bIns="0" anchor="t">
            <a:spAutoFit/>
          </a:bodyPr>
          <a:lstStyle/>
          <a:p>
            <a:pPr algn="l">
              <a:spcAft>
                <a:spcPts val="600"/>
              </a:spcAft>
            </a:pPr>
            <a:r>
              <a:rPr sz="1250" b="1" i="0">
                <a:solidFill>
                  <a:srgbClr val="FFFFFF"/>
                </a:solidFill>
                <a:effectLst>
                  <a:glow rad="63500">
                    <a:srgbClr val="001633">
                      <a:alpha val="85000"/>
                    </a:srgbClr>
                  </a:glow>
                </a:effectLst>
                <a:latin typeface="Montserrat"/>
              </a:rPr>
              <a:t>Datos</a:t>
            </a:r>
          </a:p>
        </p:txBody>
      </p:sp>
      <p:sp>
        <p:nvSpPr>
          <p:cNvPr id="19" name="TextBox 18"/>
          <p:cNvSpPr txBox="1"/>
          <p:nvPr/>
        </p:nvSpPr>
        <p:spPr>
          <a:xfrm>
            <a:off x="1252728" y="3108960"/>
            <a:ext cx="1554480" cy="384048"/>
          </a:xfrm>
          <a:prstGeom prst="rect">
            <a:avLst/>
          </a:prstGeom>
          <a:noFill/>
        </p:spPr>
        <p:txBody>
          <a:bodyPr wrap="square" lIns="0" tIns="0" rIns="0" bIns="0" anchor="t">
            <a:spAutoFit/>
          </a:bodyPr>
          <a:lstStyle/>
          <a:p>
            <a:pPr algn="l">
              <a:spcAft>
                <a:spcPts val="600"/>
              </a:spcAft>
            </a:pPr>
            <a:r>
              <a:rPr sz="900" b="1" i="0">
                <a:solidFill>
                  <a:srgbClr val="3D8BD8"/>
                </a:solidFill>
                <a:effectLst>
                  <a:glow rad="63500">
                    <a:srgbClr val="001633">
                      <a:alpha val="85000"/>
                    </a:srgbClr>
                  </a:glow>
                </a:effectLst>
                <a:latin typeface="Montserrat"/>
              </a:rPr>
              <a:t>16 capacidades · </a:t>
            </a:r>
            <a:r>
              <a:rPr sz="900" b="0" i="0">
                <a:solidFill>
                  <a:srgbClr val="A9B8C9"/>
                </a:solidFill>
                <a:effectLst>
                  <a:glow rad="63500">
                    <a:srgbClr val="001633">
                      <a:alpha val="85000"/>
                    </a:srgbClr>
                  </a:glow>
                </a:effectLst>
                <a:latin typeface="Montserrat"/>
              </a:rPr>
              <a:t>captura, procesa y guarda los datos</a:t>
            </a:r>
          </a:p>
        </p:txBody>
      </p:sp>
      <p:sp>
        <p:nvSpPr>
          <p:cNvPr id="20" name="Capacidad Adquisición"/>
          <p:cNvSpPr/>
          <p:nvPr/>
        </p:nvSpPr>
        <p:spPr>
          <a:xfrm>
            <a:off x="1252728" y="3593592"/>
            <a:ext cx="1554480" cy="301752"/>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1325880" y="3593592"/>
            <a:ext cx="1463040" cy="301752"/>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Adquisición</a:t>
            </a:r>
          </a:p>
        </p:txBody>
      </p:sp>
      <p:sp>
        <p:nvSpPr>
          <p:cNvPr id="22" name="Marca C"/>
          <p:cNvSpPr/>
          <p:nvPr/>
        </p:nvSpPr>
        <p:spPr>
          <a:xfrm>
            <a:off x="2601468" y="3675888"/>
            <a:ext cx="137160" cy="137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2601468" y="367588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C</a:t>
            </a:r>
          </a:p>
        </p:txBody>
      </p:sp>
      <p:sp>
        <p:nvSpPr>
          <p:cNvPr id="24" name="Marca A"/>
          <p:cNvSpPr/>
          <p:nvPr/>
        </p:nvSpPr>
        <p:spPr>
          <a:xfrm>
            <a:off x="2441448" y="3675888"/>
            <a:ext cx="137160" cy="13716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2441448" y="367588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A</a:t>
            </a:r>
          </a:p>
        </p:txBody>
      </p:sp>
      <p:sp>
        <p:nvSpPr>
          <p:cNvPr id="26" name="Capacidad Tiempo real"/>
          <p:cNvSpPr/>
          <p:nvPr/>
        </p:nvSpPr>
        <p:spPr>
          <a:xfrm>
            <a:off x="1252728" y="3959352"/>
            <a:ext cx="1554480" cy="301752"/>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1325880" y="3959352"/>
            <a:ext cx="1463040" cy="301752"/>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Tiempo real</a:t>
            </a:r>
          </a:p>
        </p:txBody>
      </p:sp>
      <p:sp>
        <p:nvSpPr>
          <p:cNvPr id="28" name="Marca A"/>
          <p:cNvSpPr/>
          <p:nvPr/>
        </p:nvSpPr>
        <p:spPr>
          <a:xfrm>
            <a:off x="2601468" y="4041648"/>
            <a:ext cx="137160" cy="13716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2601468" y="404164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A</a:t>
            </a:r>
          </a:p>
        </p:txBody>
      </p:sp>
      <p:sp>
        <p:nvSpPr>
          <p:cNvPr id="30" name="Capacidad Series de tiempo"/>
          <p:cNvSpPr/>
          <p:nvPr/>
        </p:nvSpPr>
        <p:spPr>
          <a:xfrm>
            <a:off x="1252728" y="4325112"/>
            <a:ext cx="1554480" cy="301752"/>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1325880" y="4325112"/>
            <a:ext cx="1463040" cy="301752"/>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Series de tiempo</a:t>
            </a:r>
          </a:p>
        </p:txBody>
      </p:sp>
      <p:sp>
        <p:nvSpPr>
          <p:cNvPr id="32" name="Marca C"/>
          <p:cNvSpPr/>
          <p:nvPr/>
        </p:nvSpPr>
        <p:spPr>
          <a:xfrm>
            <a:off x="2601468" y="4407408"/>
            <a:ext cx="137160" cy="137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2601468" y="440740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C</a:t>
            </a:r>
          </a:p>
        </p:txBody>
      </p:sp>
      <p:sp>
        <p:nvSpPr>
          <p:cNvPr id="34" name="Marca A"/>
          <p:cNvSpPr/>
          <p:nvPr/>
        </p:nvSpPr>
        <p:spPr>
          <a:xfrm>
            <a:off x="2441448" y="4407408"/>
            <a:ext cx="137160" cy="13716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2441448" y="440740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A</a:t>
            </a:r>
          </a:p>
        </p:txBody>
      </p:sp>
      <p:sp>
        <p:nvSpPr>
          <p:cNvPr id="36" name="Capacidad Contextualización"/>
          <p:cNvSpPr/>
          <p:nvPr/>
        </p:nvSpPr>
        <p:spPr>
          <a:xfrm>
            <a:off x="1252728" y="4690872"/>
            <a:ext cx="1554480" cy="301752"/>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1325880" y="4690872"/>
            <a:ext cx="1463040" cy="301752"/>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Contextualización</a:t>
            </a:r>
          </a:p>
        </p:txBody>
      </p:sp>
      <p:sp>
        <p:nvSpPr>
          <p:cNvPr id="38" name="Marca B"/>
          <p:cNvSpPr/>
          <p:nvPr/>
        </p:nvSpPr>
        <p:spPr>
          <a:xfrm>
            <a:off x="2601468" y="4773168"/>
            <a:ext cx="137160" cy="137160"/>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2601468" y="477316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B</a:t>
            </a:r>
          </a:p>
        </p:txBody>
      </p:sp>
      <p:sp>
        <p:nvSpPr>
          <p:cNvPr id="40" name="Capacidad Almacenamiento"/>
          <p:cNvSpPr/>
          <p:nvPr/>
        </p:nvSpPr>
        <p:spPr>
          <a:xfrm>
            <a:off x="1252728" y="5056632"/>
            <a:ext cx="1554480" cy="301752"/>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1325880" y="5056632"/>
            <a:ext cx="1463040" cy="301752"/>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Almacenamiento</a:t>
            </a:r>
          </a:p>
        </p:txBody>
      </p:sp>
      <p:sp>
        <p:nvSpPr>
          <p:cNvPr id="42" name="Marca C"/>
          <p:cNvSpPr/>
          <p:nvPr/>
        </p:nvSpPr>
        <p:spPr>
          <a:xfrm>
            <a:off x="2601468" y="5138928"/>
            <a:ext cx="137160" cy="137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2601468" y="513892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C</a:t>
            </a:r>
          </a:p>
        </p:txBody>
      </p:sp>
      <p:sp>
        <p:nvSpPr>
          <p:cNvPr id="44" name="Marca B"/>
          <p:cNvSpPr/>
          <p:nvPr/>
        </p:nvSpPr>
        <p:spPr>
          <a:xfrm>
            <a:off x="2441448" y="5138928"/>
            <a:ext cx="137160" cy="137160"/>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2441448" y="513892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B</a:t>
            </a:r>
          </a:p>
        </p:txBody>
      </p:sp>
      <p:sp>
        <p:nvSpPr>
          <p:cNvPr id="46" name="TextBox 45"/>
          <p:cNvSpPr txBox="1"/>
          <p:nvPr/>
        </p:nvSpPr>
        <p:spPr>
          <a:xfrm>
            <a:off x="1325880" y="5422392"/>
            <a:ext cx="1554480" cy="256032"/>
          </a:xfrm>
          <a:prstGeom prst="rect">
            <a:avLst/>
          </a:prstGeom>
          <a:noFill/>
        </p:spPr>
        <p:txBody>
          <a:bodyPr wrap="square" lIns="0" tIns="0" rIns="0" bIns="0" anchor="ctr">
            <a:spAutoFit/>
          </a:bodyPr>
          <a:lstStyle/>
          <a:p>
            <a:pPr algn="l">
              <a:spcAft>
                <a:spcPts val="600"/>
              </a:spcAft>
            </a:pPr>
            <a:r>
              <a:rPr sz="900" b="0" i="0">
                <a:solidFill>
                  <a:srgbClr val="A9B8C9"/>
                </a:solidFill>
                <a:effectLst>
                  <a:glow rad="63500">
                    <a:srgbClr val="001633">
                      <a:alpha val="85000"/>
                    </a:srgbClr>
                  </a:glow>
                </a:effectLst>
                <a:latin typeface="Montserrat"/>
              </a:rPr>
              <a:t>+ 11 más</a:t>
            </a:r>
          </a:p>
        </p:txBody>
      </p:sp>
      <p:sp>
        <p:nvSpPr>
          <p:cNvPr id="47" name="Familia Integración"/>
          <p:cNvSpPr/>
          <p:nvPr/>
        </p:nvSpPr>
        <p:spPr>
          <a:xfrm>
            <a:off x="2944368" y="2697480"/>
            <a:ext cx="1554480" cy="64008"/>
          </a:xfrm>
          <a:prstGeom prst="rect">
            <a:avLst/>
          </a:prstGeom>
          <a:solidFill>
            <a:srgbClr val="F08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2944368" y="2807208"/>
            <a:ext cx="1554480" cy="292608"/>
          </a:xfrm>
          <a:prstGeom prst="rect">
            <a:avLst/>
          </a:prstGeom>
          <a:noFill/>
        </p:spPr>
        <p:txBody>
          <a:bodyPr wrap="square" lIns="0" tIns="0" rIns="0" bIns="0" anchor="t">
            <a:spAutoFit/>
          </a:bodyPr>
          <a:lstStyle/>
          <a:p>
            <a:pPr algn="l">
              <a:spcAft>
                <a:spcPts val="600"/>
              </a:spcAft>
            </a:pPr>
            <a:r>
              <a:rPr sz="1250" b="1" i="0">
                <a:solidFill>
                  <a:srgbClr val="FFFFFF"/>
                </a:solidFill>
                <a:effectLst>
                  <a:glow rad="63500">
                    <a:srgbClr val="001633">
                      <a:alpha val="85000"/>
                    </a:srgbClr>
                  </a:glow>
                </a:effectLst>
                <a:latin typeface="Montserrat"/>
              </a:rPr>
              <a:t>Integración</a:t>
            </a:r>
          </a:p>
        </p:txBody>
      </p:sp>
      <p:sp>
        <p:nvSpPr>
          <p:cNvPr id="49" name="TextBox 48"/>
          <p:cNvSpPr txBox="1"/>
          <p:nvPr/>
        </p:nvSpPr>
        <p:spPr>
          <a:xfrm>
            <a:off x="2944368" y="3108960"/>
            <a:ext cx="1554480" cy="384048"/>
          </a:xfrm>
          <a:prstGeom prst="rect">
            <a:avLst/>
          </a:prstGeom>
          <a:noFill/>
        </p:spPr>
        <p:txBody>
          <a:bodyPr wrap="square" lIns="0" tIns="0" rIns="0" bIns="0" anchor="t">
            <a:spAutoFit/>
          </a:bodyPr>
          <a:lstStyle/>
          <a:p>
            <a:pPr algn="l">
              <a:spcAft>
                <a:spcPts val="600"/>
              </a:spcAft>
            </a:pPr>
            <a:r>
              <a:rPr sz="900" b="1" i="0">
                <a:solidFill>
                  <a:srgbClr val="F08A24"/>
                </a:solidFill>
                <a:effectLst>
                  <a:glow rad="63500">
                    <a:srgbClr val="001633">
                      <a:alpha val="85000"/>
                    </a:srgbClr>
                  </a:glow>
                </a:effectLst>
                <a:latin typeface="Montserrat"/>
              </a:rPr>
              <a:t>6 capacidades · </a:t>
            </a:r>
            <a:r>
              <a:rPr sz="900" b="0" i="0">
                <a:solidFill>
                  <a:srgbClr val="A9B8C9"/>
                </a:solidFill>
                <a:effectLst>
                  <a:glow rad="63500">
                    <a:srgbClr val="001633">
                      <a:alpha val="85000"/>
                    </a:srgbClr>
                  </a:glow>
                </a:effectLst>
                <a:latin typeface="Montserrat"/>
              </a:rPr>
              <a:t>conecta con otros sistemas y gemelos</a:t>
            </a:r>
          </a:p>
        </p:txBody>
      </p:sp>
      <p:sp>
        <p:nvSpPr>
          <p:cNvPr id="50" name="Capacidad OT e IoT"/>
          <p:cNvSpPr/>
          <p:nvPr/>
        </p:nvSpPr>
        <p:spPr>
          <a:xfrm>
            <a:off x="2944368" y="3593592"/>
            <a:ext cx="1554480" cy="301752"/>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3017520" y="3593592"/>
            <a:ext cx="1463040" cy="301752"/>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OT e IoT</a:t>
            </a:r>
          </a:p>
        </p:txBody>
      </p:sp>
      <p:sp>
        <p:nvSpPr>
          <p:cNvPr id="52" name="Marca C"/>
          <p:cNvSpPr/>
          <p:nvPr/>
        </p:nvSpPr>
        <p:spPr>
          <a:xfrm>
            <a:off x="4293108" y="3675888"/>
            <a:ext cx="137160" cy="137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4293108" y="367588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C</a:t>
            </a:r>
          </a:p>
        </p:txBody>
      </p:sp>
      <p:sp>
        <p:nvSpPr>
          <p:cNvPr id="54" name="Marca A"/>
          <p:cNvSpPr/>
          <p:nvPr/>
        </p:nvSpPr>
        <p:spPr>
          <a:xfrm>
            <a:off x="4133088" y="3675888"/>
            <a:ext cx="137160" cy="13716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TextBox 54"/>
          <p:cNvSpPr txBox="1"/>
          <p:nvPr/>
        </p:nvSpPr>
        <p:spPr>
          <a:xfrm>
            <a:off x="4133088" y="367588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A</a:t>
            </a:r>
          </a:p>
        </p:txBody>
      </p:sp>
      <p:sp>
        <p:nvSpPr>
          <p:cNvPr id="56" name="Capacidad Empresa (ERP)"/>
          <p:cNvSpPr/>
          <p:nvPr/>
        </p:nvSpPr>
        <p:spPr>
          <a:xfrm>
            <a:off x="2944368" y="3959352"/>
            <a:ext cx="1554480" cy="301752"/>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Box 56"/>
          <p:cNvSpPr txBox="1"/>
          <p:nvPr/>
        </p:nvSpPr>
        <p:spPr>
          <a:xfrm>
            <a:off x="3017520" y="3959352"/>
            <a:ext cx="1463040" cy="301752"/>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Empresa (ERP)</a:t>
            </a:r>
          </a:p>
        </p:txBody>
      </p:sp>
      <p:sp>
        <p:nvSpPr>
          <p:cNvPr id="58" name="Marca C"/>
          <p:cNvSpPr/>
          <p:nvPr/>
        </p:nvSpPr>
        <p:spPr>
          <a:xfrm>
            <a:off x="4293108" y="4041648"/>
            <a:ext cx="137160" cy="137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Box 58"/>
          <p:cNvSpPr txBox="1"/>
          <p:nvPr/>
        </p:nvSpPr>
        <p:spPr>
          <a:xfrm>
            <a:off x="4293108" y="404164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C</a:t>
            </a:r>
          </a:p>
        </p:txBody>
      </p:sp>
      <p:sp>
        <p:nvSpPr>
          <p:cNvPr id="60" name="Marca B"/>
          <p:cNvSpPr/>
          <p:nvPr/>
        </p:nvSpPr>
        <p:spPr>
          <a:xfrm>
            <a:off x="4133088" y="4041648"/>
            <a:ext cx="137160" cy="137160"/>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Box 60"/>
          <p:cNvSpPr txBox="1"/>
          <p:nvPr/>
        </p:nvSpPr>
        <p:spPr>
          <a:xfrm>
            <a:off x="4133088" y="404164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B</a:t>
            </a:r>
          </a:p>
        </p:txBody>
      </p:sp>
      <p:sp>
        <p:nvSpPr>
          <p:cNvPr id="62" name="Capacidad Ingeniería"/>
          <p:cNvSpPr/>
          <p:nvPr/>
        </p:nvSpPr>
        <p:spPr>
          <a:xfrm>
            <a:off x="2944368" y="4325112"/>
            <a:ext cx="1554480" cy="301752"/>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Box 62"/>
          <p:cNvSpPr txBox="1"/>
          <p:nvPr/>
        </p:nvSpPr>
        <p:spPr>
          <a:xfrm>
            <a:off x="3017520" y="4325112"/>
            <a:ext cx="1463040" cy="301752"/>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Ingeniería</a:t>
            </a:r>
          </a:p>
        </p:txBody>
      </p:sp>
      <p:sp>
        <p:nvSpPr>
          <p:cNvPr id="64" name="Marca B"/>
          <p:cNvSpPr/>
          <p:nvPr/>
        </p:nvSpPr>
        <p:spPr>
          <a:xfrm>
            <a:off x="4293108" y="4407408"/>
            <a:ext cx="137160" cy="137160"/>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TextBox 64"/>
          <p:cNvSpPr txBox="1"/>
          <p:nvPr/>
        </p:nvSpPr>
        <p:spPr>
          <a:xfrm>
            <a:off x="4293108" y="440740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B</a:t>
            </a:r>
          </a:p>
        </p:txBody>
      </p:sp>
      <p:sp>
        <p:nvSpPr>
          <p:cNvPr id="66" name="Capacidad Otros gemelos"/>
          <p:cNvSpPr/>
          <p:nvPr/>
        </p:nvSpPr>
        <p:spPr>
          <a:xfrm>
            <a:off x="2944368" y="4690872"/>
            <a:ext cx="1554480" cy="301752"/>
          </a:xfrm>
          <a:prstGeom prst="rect">
            <a:avLst/>
          </a:prstGeom>
          <a:solidFill>
            <a:srgbClr val="0B264A"/>
          </a:solidFill>
          <a:ln w="635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TextBox 66"/>
          <p:cNvSpPr txBox="1"/>
          <p:nvPr/>
        </p:nvSpPr>
        <p:spPr>
          <a:xfrm>
            <a:off x="3017520" y="4690872"/>
            <a:ext cx="1463040" cy="30175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Otros gemelos</a:t>
            </a:r>
          </a:p>
        </p:txBody>
      </p:sp>
      <p:sp>
        <p:nvSpPr>
          <p:cNvPr id="68" name="Capacidad Servicios API"/>
          <p:cNvSpPr/>
          <p:nvPr/>
        </p:nvSpPr>
        <p:spPr>
          <a:xfrm>
            <a:off x="2944368" y="5056632"/>
            <a:ext cx="1554480" cy="301752"/>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TextBox 68"/>
          <p:cNvSpPr txBox="1"/>
          <p:nvPr/>
        </p:nvSpPr>
        <p:spPr>
          <a:xfrm>
            <a:off x="3017520" y="5056632"/>
            <a:ext cx="1463040" cy="301752"/>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Servicios API</a:t>
            </a:r>
          </a:p>
        </p:txBody>
      </p:sp>
      <p:sp>
        <p:nvSpPr>
          <p:cNvPr id="70" name="Marca C"/>
          <p:cNvSpPr/>
          <p:nvPr/>
        </p:nvSpPr>
        <p:spPr>
          <a:xfrm>
            <a:off x="4293108" y="5138928"/>
            <a:ext cx="137160" cy="137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TextBox 70"/>
          <p:cNvSpPr txBox="1"/>
          <p:nvPr/>
        </p:nvSpPr>
        <p:spPr>
          <a:xfrm>
            <a:off x="4293108" y="513892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C</a:t>
            </a:r>
          </a:p>
        </p:txBody>
      </p:sp>
      <p:sp>
        <p:nvSpPr>
          <p:cNvPr id="72" name="TextBox 71"/>
          <p:cNvSpPr txBox="1"/>
          <p:nvPr/>
        </p:nvSpPr>
        <p:spPr>
          <a:xfrm>
            <a:off x="3017520" y="5422392"/>
            <a:ext cx="1554480" cy="256032"/>
          </a:xfrm>
          <a:prstGeom prst="rect">
            <a:avLst/>
          </a:prstGeom>
          <a:noFill/>
        </p:spPr>
        <p:txBody>
          <a:bodyPr wrap="square" lIns="0" tIns="0" rIns="0" bIns="0" anchor="ctr">
            <a:spAutoFit/>
          </a:bodyPr>
          <a:lstStyle/>
          <a:p>
            <a:pPr algn="l">
              <a:spcAft>
                <a:spcPts val="600"/>
              </a:spcAft>
            </a:pPr>
            <a:r>
              <a:rPr sz="900" b="0" i="0">
                <a:solidFill>
                  <a:srgbClr val="A9B8C9"/>
                </a:solidFill>
                <a:effectLst>
                  <a:glow rad="63500">
                    <a:srgbClr val="001633">
                      <a:alpha val="85000"/>
                    </a:srgbClr>
                  </a:glow>
                </a:effectLst>
                <a:latin typeface="Montserrat"/>
              </a:rPr>
              <a:t>+ 1 más</a:t>
            </a:r>
          </a:p>
        </p:txBody>
      </p:sp>
      <p:sp>
        <p:nvSpPr>
          <p:cNvPr id="73" name="Familia Inteligencia"/>
          <p:cNvSpPr/>
          <p:nvPr/>
        </p:nvSpPr>
        <p:spPr>
          <a:xfrm>
            <a:off x="4636008" y="2697480"/>
            <a:ext cx="1554480" cy="64008"/>
          </a:xfrm>
          <a:prstGeom prst="rect">
            <a:avLst/>
          </a:prstGeom>
          <a:solidFill>
            <a:srgbClr val="9B6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TextBox 73"/>
          <p:cNvSpPr txBox="1"/>
          <p:nvPr/>
        </p:nvSpPr>
        <p:spPr>
          <a:xfrm>
            <a:off x="4636008" y="2807208"/>
            <a:ext cx="1554480" cy="292608"/>
          </a:xfrm>
          <a:prstGeom prst="rect">
            <a:avLst/>
          </a:prstGeom>
          <a:noFill/>
        </p:spPr>
        <p:txBody>
          <a:bodyPr wrap="square" lIns="0" tIns="0" rIns="0" bIns="0" anchor="t">
            <a:spAutoFit/>
          </a:bodyPr>
          <a:lstStyle/>
          <a:p>
            <a:pPr algn="l">
              <a:spcAft>
                <a:spcPts val="600"/>
              </a:spcAft>
            </a:pPr>
            <a:r>
              <a:rPr sz="1250" b="1" i="0">
                <a:solidFill>
                  <a:srgbClr val="FFFFFF"/>
                </a:solidFill>
                <a:effectLst>
                  <a:glow rad="63500">
                    <a:srgbClr val="001633">
                      <a:alpha val="85000"/>
                    </a:srgbClr>
                  </a:glow>
                </a:effectLst>
                <a:latin typeface="Montserrat"/>
              </a:rPr>
              <a:t>Inteligencia</a:t>
            </a:r>
          </a:p>
        </p:txBody>
      </p:sp>
      <p:sp>
        <p:nvSpPr>
          <p:cNvPr id="75" name="TextBox 74"/>
          <p:cNvSpPr txBox="1"/>
          <p:nvPr/>
        </p:nvSpPr>
        <p:spPr>
          <a:xfrm>
            <a:off x="4636008" y="3108960"/>
            <a:ext cx="1554480" cy="384048"/>
          </a:xfrm>
          <a:prstGeom prst="rect">
            <a:avLst/>
          </a:prstGeom>
          <a:noFill/>
        </p:spPr>
        <p:txBody>
          <a:bodyPr wrap="square" lIns="0" tIns="0" rIns="0" bIns="0" anchor="t">
            <a:spAutoFit/>
          </a:bodyPr>
          <a:lstStyle/>
          <a:p>
            <a:pPr algn="l">
              <a:spcAft>
                <a:spcPts val="600"/>
              </a:spcAft>
            </a:pPr>
            <a:r>
              <a:rPr sz="900" b="1" i="0">
                <a:solidFill>
                  <a:srgbClr val="9B6BD6"/>
                </a:solidFill>
                <a:effectLst>
                  <a:glow rad="63500">
                    <a:srgbClr val="001633">
                      <a:alpha val="85000"/>
                    </a:srgbClr>
                  </a:glow>
                </a:effectLst>
                <a:latin typeface="Montserrat"/>
              </a:rPr>
              <a:t>16 capacidades · </a:t>
            </a:r>
            <a:r>
              <a:rPr sz="900" b="0" i="0">
                <a:solidFill>
                  <a:srgbClr val="A9B8C9"/>
                </a:solidFill>
                <a:effectLst>
                  <a:glow rad="63500">
                    <a:srgbClr val="001633">
                      <a:alpha val="85000"/>
                    </a:srgbClr>
                  </a:glow>
                </a:effectLst>
                <a:latin typeface="Montserrat"/>
              </a:rPr>
              <a:t>analiza, simula, predice y controla</a:t>
            </a:r>
          </a:p>
        </p:txBody>
      </p:sp>
      <p:sp>
        <p:nvSpPr>
          <p:cNvPr id="76" name="Capacidad Comando y control"/>
          <p:cNvSpPr/>
          <p:nvPr/>
        </p:nvSpPr>
        <p:spPr>
          <a:xfrm>
            <a:off x="4636008" y="3593592"/>
            <a:ext cx="1554480" cy="301752"/>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TextBox 76"/>
          <p:cNvSpPr txBox="1"/>
          <p:nvPr/>
        </p:nvSpPr>
        <p:spPr>
          <a:xfrm>
            <a:off x="4709160" y="3593592"/>
            <a:ext cx="1463040" cy="301752"/>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Comando y control</a:t>
            </a:r>
          </a:p>
        </p:txBody>
      </p:sp>
      <p:sp>
        <p:nvSpPr>
          <p:cNvPr id="78" name="Marca A"/>
          <p:cNvSpPr/>
          <p:nvPr/>
        </p:nvSpPr>
        <p:spPr>
          <a:xfrm>
            <a:off x="5984748" y="3675888"/>
            <a:ext cx="137160" cy="13716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9" name="TextBox 78"/>
          <p:cNvSpPr txBox="1"/>
          <p:nvPr/>
        </p:nvSpPr>
        <p:spPr>
          <a:xfrm>
            <a:off x="5984748" y="367588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A</a:t>
            </a:r>
          </a:p>
        </p:txBody>
      </p:sp>
      <p:sp>
        <p:nvSpPr>
          <p:cNvPr id="80" name="Capacidad Orquestación"/>
          <p:cNvSpPr/>
          <p:nvPr/>
        </p:nvSpPr>
        <p:spPr>
          <a:xfrm>
            <a:off x="4636008" y="3959352"/>
            <a:ext cx="1554480" cy="301752"/>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TextBox 80"/>
          <p:cNvSpPr txBox="1"/>
          <p:nvPr/>
        </p:nvSpPr>
        <p:spPr>
          <a:xfrm>
            <a:off x="4709160" y="3959352"/>
            <a:ext cx="1463040" cy="301752"/>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Orquestación</a:t>
            </a:r>
          </a:p>
        </p:txBody>
      </p:sp>
      <p:sp>
        <p:nvSpPr>
          <p:cNvPr id="82" name="Marca A"/>
          <p:cNvSpPr/>
          <p:nvPr/>
        </p:nvSpPr>
        <p:spPr>
          <a:xfrm>
            <a:off x="5984748" y="4041648"/>
            <a:ext cx="137160" cy="13716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TextBox 82"/>
          <p:cNvSpPr txBox="1"/>
          <p:nvPr/>
        </p:nvSpPr>
        <p:spPr>
          <a:xfrm>
            <a:off x="5984748" y="404164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A</a:t>
            </a:r>
          </a:p>
        </p:txBody>
      </p:sp>
      <p:sp>
        <p:nvSpPr>
          <p:cNvPr id="84" name="Capacidad Alertas"/>
          <p:cNvSpPr/>
          <p:nvPr/>
        </p:nvSpPr>
        <p:spPr>
          <a:xfrm>
            <a:off x="4636008" y="4325112"/>
            <a:ext cx="1554480" cy="301752"/>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5" name="TextBox 84"/>
          <p:cNvSpPr txBox="1"/>
          <p:nvPr/>
        </p:nvSpPr>
        <p:spPr>
          <a:xfrm>
            <a:off x="4709160" y="4325112"/>
            <a:ext cx="1463040" cy="301752"/>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Alertas</a:t>
            </a:r>
          </a:p>
        </p:txBody>
      </p:sp>
      <p:sp>
        <p:nvSpPr>
          <p:cNvPr id="86" name="Marca C"/>
          <p:cNvSpPr/>
          <p:nvPr/>
        </p:nvSpPr>
        <p:spPr>
          <a:xfrm>
            <a:off x="5984748" y="4407408"/>
            <a:ext cx="137160" cy="137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7" name="TextBox 86"/>
          <p:cNvSpPr txBox="1"/>
          <p:nvPr/>
        </p:nvSpPr>
        <p:spPr>
          <a:xfrm>
            <a:off x="5984748" y="440740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C</a:t>
            </a:r>
          </a:p>
        </p:txBody>
      </p:sp>
      <p:sp>
        <p:nvSpPr>
          <p:cNvPr id="88" name="Marca A"/>
          <p:cNvSpPr/>
          <p:nvPr/>
        </p:nvSpPr>
        <p:spPr>
          <a:xfrm>
            <a:off x="5824728" y="4407408"/>
            <a:ext cx="137160" cy="13716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9" name="TextBox 88"/>
          <p:cNvSpPr txBox="1"/>
          <p:nvPr/>
        </p:nvSpPr>
        <p:spPr>
          <a:xfrm>
            <a:off x="5824728" y="440740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A</a:t>
            </a:r>
          </a:p>
        </p:txBody>
      </p:sp>
      <p:sp>
        <p:nvSpPr>
          <p:cNvPr id="90" name="Capacidad Predicción"/>
          <p:cNvSpPr/>
          <p:nvPr/>
        </p:nvSpPr>
        <p:spPr>
          <a:xfrm>
            <a:off x="4636008" y="4690872"/>
            <a:ext cx="1554480" cy="301752"/>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 name="TextBox 90"/>
          <p:cNvSpPr txBox="1"/>
          <p:nvPr/>
        </p:nvSpPr>
        <p:spPr>
          <a:xfrm>
            <a:off x="4709160" y="4690872"/>
            <a:ext cx="1463040" cy="301752"/>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Predicción</a:t>
            </a:r>
          </a:p>
        </p:txBody>
      </p:sp>
      <p:sp>
        <p:nvSpPr>
          <p:cNvPr id="92" name="Marca C"/>
          <p:cNvSpPr/>
          <p:nvPr/>
        </p:nvSpPr>
        <p:spPr>
          <a:xfrm>
            <a:off x="5984748" y="4773168"/>
            <a:ext cx="137160" cy="137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TextBox 92"/>
          <p:cNvSpPr txBox="1"/>
          <p:nvPr/>
        </p:nvSpPr>
        <p:spPr>
          <a:xfrm>
            <a:off x="5984748" y="477316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C</a:t>
            </a:r>
          </a:p>
        </p:txBody>
      </p:sp>
      <p:sp>
        <p:nvSpPr>
          <p:cNvPr id="94" name="Capacidad Aprendizaje"/>
          <p:cNvSpPr/>
          <p:nvPr/>
        </p:nvSpPr>
        <p:spPr>
          <a:xfrm>
            <a:off x="4636008" y="5056632"/>
            <a:ext cx="1554480" cy="301752"/>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5" name="TextBox 94"/>
          <p:cNvSpPr txBox="1"/>
          <p:nvPr/>
        </p:nvSpPr>
        <p:spPr>
          <a:xfrm>
            <a:off x="4709160" y="5056632"/>
            <a:ext cx="1463040" cy="301752"/>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Aprendizaje</a:t>
            </a:r>
          </a:p>
        </p:txBody>
      </p:sp>
      <p:sp>
        <p:nvSpPr>
          <p:cNvPr id="96" name="Marca C"/>
          <p:cNvSpPr/>
          <p:nvPr/>
        </p:nvSpPr>
        <p:spPr>
          <a:xfrm>
            <a:off x="5984748" y="5138928"/>
            <a:ext cx="137160" cy="137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7" name="TextBox 96"/>
          <p:cNvSpPr txBox="1"/>
          <p:nvPr/>
        </p:nvSpPr>
        <p:spPr>
          <a:xfrm>
            <a:off x="5984748" y="513892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C</a:t>
            </a:r>
          </a:p>
        </p:txBody>
      </p:sp>
      <p:sp>
        <p:nvSpPr>
          <p:cNvPr id="98" name="TextBox 97"/>
          <p:cNvSpPr txBox="1"/>
          <p:nvPr/>
        </p:nvSpPr>
        <p:spPr>
          <a:xfrm>
            <a:off x="4709160" y="5422392"/>
            <a:ext cx="1554480" cy="256032"/>
          </a:xfrm>
          <a:prstGeom prst="rect">
            <a:avLst/>
          </a:prstGeom>
          <a:noFill/>
        </p:spPr>
        <p:txBody>
          <a:bodyPr wrap="square" lIns="0" tIns="0" rIns="0" bIns="0" anchor="ctr">
            <a:spAutoFit/>
          </a:bodyPr>
          <a:lstStyle/>
          <a:p>
            <a:pPr algn="l">
              <a:spcAft>
                <a:spcPts val="600"/>
              </a:spcAft>
            </a:pPr>
            <a:r>
              <a:rPr sz="900" b="0" i="0">
                <a:solidFill>
                  <a:srgbClr val="A9B8C9"/>
                </a:solidFill>
                <a:effectLst>
                  <a:glow rad="63500">
                    <a:srgbClr val="001633">
                      <a:alpha val="85000"/>
                    </a:srgbClr>
                  </a:glow>
                </a:effectLst>
                <a:latin typeface="Montserrat"/>
              </a:rPr>
              <a:t>+ 11 más</a:t>
            </a:r>
          </a:p>
        </p:txBody>
      </p:sp>
      <p:sp>
        <p:nvSpPr>
          <p:cNvPr id="99" name="Familia Experiencia (UX)"/>
          <p:cNvSpPr/>
          <p:nvPr/>
        </p:nvSpPr>
        <p:spPr>
          <a:xfrm>
            <a:off x="6327648" y="2697480"/>
            <a:ext cx="1554480" cy="64008"/>
          </a:xfrm>
          <a:prstGeom prst="rect">
            <a:avLst/>
          </a:prstGeom>
          <a:solidFill>
            <a:srgbClr val="2BA8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TextBox 99"/>
          <p:cNvSpPr txBox="1"/>
          <p:nvPr/>
        </p:nvSpPr>
        <p:spPr>
          <a:xfrm>
            <a:off x="6327648" y="2807208"/>
            <a:ext cx="1554480" cy="292608"/>
          </a:xfrm>
          <a:prstGeom prst="rect">
            <a:avLst/>
          </a:prstGeom>
          <a:noFill/>
        </p:spPr>
        <p:txBody>
          <a:bodyPr wrap="square" lIns="0" tIns="0" rIns="0" bIns="0" anchor="t">
            <a:spAutoFit/>
          </a:bodyPr>
          <a:lstStyle/>
          <a:p>
            <a:pPr algn="l">
              <a:spcAft>
                <a:spcPts val="600"/>
              </a:spcAft>
            </a:pPr>
            <a:r>
              <a:rPr sz="1250" b="1" i="0">
                <a:solidFill>
                  <a:srgbClr val="FFFFFF"/>
                </a:solidFill>
                <a:effectLst>
                  <a:glow rad="63500">
                    <a:srgbClr val="001633">
                      <a:alpha val="85000"/>
                    </a:srgbClr>
                  </a:glow>
                </a:effectLst>
                <a:latin typeface="Montserrat"/>
              </a:rPr>
              <a:t>Experiencia (UX)</a:t>
            </a:r>
          </a:p>
        </p:txBody>
      </p:sp>
      <p:sp>
        <p:nvSpPr>
          <p:cNvPr id="101" name="TextBox 100"/>
          <p:cNvSpPr txBox="1"/>
          <p:nvPr/>
        </p:nvSpPr>
        <p:spPr>
          <a:xfrm>
            <a:off x="6327648" y="3108960"/>
            <a:ext cx="1554480" cy="384048"/>
          </a:xfrm>
          <a:prstGeom prst="rect">
            <a:avLst/>
          </a:prstGeom>
          <a:noFill/>
        </p:spPr>
        <p:txBody>
          <a:bodyPr wrap="square" lIns="0" tIns="0" rIns="0" bIns="0" anchor="t">
            <a:spAutoFit/>
          </a:bodyPr>
          <a:lstStyle/>
          <a:p>
            <a:pPr algn="l">
              <a:spcAft>
                <a:spcPts val="600"/>
              </a:spcAft>
            </a:pPr>
            <a:r>
              <a:rPr sz="900" b="1" i="0">
                <a:solidFill>
                  <a:srgbClr val="2BA88A"/>
                </a:solidFill>
                <a:effectLst>
                  <a:glow rad="63500">
                    <a:srgbClr val="001633">
                      <a:alpha val="85000"/>
                    </a:srgbClr>
                  </a:glow>
                </a:effectLst>
                <a:latin typeface="Montserrat"/>
              </a:rPr>
              <a:t>13 capacidades · </a:t>
            </a:r>
            <a:r>
              <a:rPr sz="900" b="0" i="0">
                <a:solidFill>
                  <a:srgbClr val="A9B8C9"/>
                </a:solidFill>
                <a:effectLst>
                  <a:glow rad="63500">
                    <a:srgbClr val="001633">
                      <a:alpha val="85000"/>
                    </a:srgbClr>
                  </a:glow>
                </a:effectLst>
                <a:latin typeface="Montserrat"/>
              </a:rPr>
              <a:t>muestra el gemelo a las personas</a:t>
            </a:r>
          </a:p>
        </p:txBody>
      </p:sp>
      <p:sp>
        <p:nvSpPr>
          <p:cNvPr id="102" name="Capacidad Monitoreo en línea"/>
          <p:cNvSpPr/>
          <p:nvPr/>
        </p:nvSpPr>
        <p:spPr>
          <a:xfrm>
            <a:off x="6327648" y="3593592"/>
            <a:ext cx="1554480" cy="301752"/>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3" name="TextBox 102"/>
          <p:cNvSpPr txBox="1"/>
          <p:nvPr/>
        </p:nvSpPr>
        <p:spPr>
          <a:xfrm>
            <a:off x="6400800" y="3593592"/>
            <a:ext cx="1463040" cy="301752"/>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Monitoreo en línea</a:t>
            </a:r>
          </a:p>
        </p:txBody>
      </p:sp>
      <p:sp>
        <p:nvSpPr>
          <p:cNvPr id="104" name="Marca A"/>
          <p:cNvSpPr/>
          <p:nvPr/>
        </p:nvSpPr>
        <p:spPr>
          <a:xfrm>
            <a:off x="7676388" y="3675888"/>
            <a:ext cx="137160" cy="13716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5" name="TextBox 104"/>
          <p:cNvSpPr txBox="1"/>
          <p:nvPr/>
        </p:nvSpPr>
        <p:spPr>
          <a:xfrm>
            <a:off x="7676388" y="367588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A</a:t>
            </a:r>
          </a:p>
        </p:txBody>
      </p:sp>
      <p:sp>
        <p:nvSpPr>
          <p:cNvPr id="106" name="Capacidad Tableros"/>
          <p:cNvSpPr/>
          <p:nvPr/>
        </p:nvSpPr>
        <p:spPr>
          <a:xfrm>
            <a:off x="6327648" y="3959352"/>
            <a:ext cx="1554480" cy="301752"/>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7" name="TextBox 106"/>
          <p:cNvSpPr txBox="1"/>
          <p:nvPr/>
        </p:nvSpPr>
        <p:spPr>
          <a:xfrm>
            <a:off x="6400800" y="3959352"/>
            <a:ext cx="1463040" cy="301752"/>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Tableros</a:t>
            </a:r>
          </a:p>
        </p:txBody>
      </p:sp>
      <p:sp>
        <p:nvSpPr>
          <p:cNvPr id="108" name="Marca C"/>
          <p:cNvSpPr/>
          <p:nvPr/>
        </p:nvSpPr>
        <p:spPr>
          <a:xfrm>
            <a:off x="7676388" y="4041648"/>
            <a:ext cx="137160" cy="137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9" name="TextBox 108"/>
          <p:cNvSpPr txBox="1"/>
          <p:nvPr/>
        </p:nvSpPr>
        <p:spPr>
          <a:xfrm>
            <a:off x="7676388" y="404164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C</a:t>
            </a:r>
          </a:p>
        </p:txBody>
      </p:sp>
      <p:sp>
        <p:nvSpPr>
          <p:cNvPr id="110" name="Marca A"/>
          <p:cNvSpPr/>
          <p:nvPr/>
        </p:nvSpPr>
        <p:spPr>
          <a:xfrm>
            <a:off x="7516368" y="4041648"/>
            <a:ext cx="137160" cy="13716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1" name="TextBox 110"/>
          <p:cNvSpPr txBox="1"/>
          <p:nvPr/>
        </p:nvSpPr>
        <p:spPr>
          <a:xfrm>
            <a:off x="7516368" y="404164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A</a:t>
            </a:r>
          </a:p>
        </p:txBody>
      </p:sp>
      <p:sp>
        <p:nvSpPr>
          <p:cNvPr id="112" name="Capacidad Visualización 3D"/>
          <p:cNvSpPr/>
          <p:nvPr/>
        </p:nvSpPr>
        <p:spPr>
          <a:xfrm>
            <a:off x="6327648" y="4325112"/>
            <a:ext cx="1554480" cy="301752"/>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3" name="TextBox 112"/>
          <p:cNvSpPr txBox="1"/>
          <p:nvPr/>
        </p:nvSpPr>
        <p:spPr>
          <a:xfrm>
            <a:off x="6400800" y="4325112"/>
            <a:ext cx="1463040" cy="301752"/>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Visualización 3D</a:t>
            </a:r>
          </a:p>
        </p:txBody>
      </p:sp>
      <p:sp>
        <p:nvSpPr>
          <p:cNvPr id="114" name="Marca B"/>
          <p:cNvSpPr/>
          <p:nvPr/>
        </p:nvSpPr>
        <p:spPr>
          <a:xfrm>
            <a:off x="7676388" y="4407408"/>
            <a:ext cx="137160" cy="137160"/>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5" name="TextBox 114"/>
          <p:cNvSpPr txBox="1"/>
          <p:nvPr/>
        </p:nvSpPr>
        <p:spPr>
          <a:xfrm>
            <a:off x="7676388" y="440740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B</a:t>
            </a:r>
          </a:p>
        </p:txBody>
      </p:sp>
      <p:sp>
        <p:nvSpPr>
          <p:cNvPr id="116" name="Capacidad Realidad mixta"/>
          <p:cNvSpPr/>
          <p:nvPr/>
        </p:nvSpPr>
        <p:spPr>
          <a:xfrm>
            <a:off x="6327648" y="4690872"/>
            <a:ext cx="1554480" cy="301752"/>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7" name="TextBox 116"/>
          <p:cNvSpPr txBox="1"/>
          <p:nvPr/>
        </p:nvSpPr>
        <p:spPr>
          <a:xfrm>
            <a:off x="6400800" y="4690872"/>
            <a:ext cx="1463040" cy="301752"/>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Realidad mixta</a:t>
            </a:r>
          </a:p>
        </p:txBody>
      </p:sp>
      <p:sp>
        <p:nvSpPr>
          <p:cNvPr id="118" name="Marca B"/>
          <p:cNvSpPr/>
          <p:nvPr/>
        </p:nvSpPr>
        <p:spPr>
          <a:xfrm>
            <a:off x="7676388" y="4773168"/>
            <a:ext cx="137160" cy="137160"/>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9" name="TextBox 118"/>
          <p:cNvSpPr txBox="1"/>
          <p:nvPr/>
        </p:nvSpPr>
        <p:spPr>
          <a:xfrm>
            <a:off x="7676388" y="477316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B</a:t>
            </a:r>
          </a:p>
        </p:txBody>
      </p:sp>
      <p:sp>
        <p:nvSpPr>
          <p:cNvPr id="120" name="Capacidad Flujos de trabajo"/>
          <p:cNvSpPr/>
          <p:nvPr/>
        </p:nvSpPr>
        <p:spPr>
          <a:xfrm>
            <a:off x="6327648" y="5056632"/>
            <a:ext cx="1554480" cy="301752"/>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1" name="TextBox 120"/>
          <p:cNvSpPr txBox="1"/>
          <p:nvPr/>
        </p:nvSpPr>
        <p:spPr>
          <a:xfrm>
            <a:off x="6400800" y="5056632"/>
            <a:ext cx="1463040" cy="301752"/>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Flujos de trabajo</a:t>
            </a:r>
          </a:p>
        </p:txBody>
      </p:sp>
      <p:sp>
        <p:nvSpPr>
          <p:cNvPr id="122" name="Marca C"/>
          <p:cNvSpPr/>
          <p:nvPr/>
        </p:nvSpPr>
        <p:spPr>
          <a:xfrm>
            <a:off x="7676388" y="5138928"/>
            <a:ext cx="137160" cy="137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 name="TextBox 122"/>
          <p:cNvSpPr txBox="1"/>
          <p:nvPr/>
        </p:nvSpPr>
        <p:spPr>
          <a:xfrm>
            <a:off x="7676388" y="513892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C</a:t>
            </a:r>
          </a:p>
        </p:txBody>
      </p:sp>
      <p:sp>
        <p:nvSpPr>
          <p:cNvPr id="124" name="Marca B"/>
          <p:cNvSpPr/>
          <p:nvPr/>
        </p:nvSpPr>
        <p:spPr>
          <a:xfrm>
            <a:off x="7516368" y="5138928"/>
            <a:ext cx="137160" cy="137160"/>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5" name="TextBox 124"/>
          <p:cNvSpPr txBox="1"/>
          <p:nvPr/>
        </p:nvSpPr>
        <p:spPr>
          <a:xfrm>
            <a:off x="7516368" y="513892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B</a:t>
            </a:r>
          </a:p>
        </p:txBody>
      </p:sp>
      <p:sp>
        <p:nvSpPr>
          <p:cNvPr id="126" name="TextBox 125"/>
          <p:cNvSpPr txBox="1"/>
          <p:nvPr/>
        </p:nvSpPr>
        <p:spPr>
          <a:xfrm>
            <a:off x="6400800" y="5422392"/>
            <a:ext cx="1554480" cy="256032"/>
          </a:xfrm>
          <a:prstGeom prst="rect">
            <a:avLst/>
          </a:prstGeom>
          <a:noFill/>
        </p:spPr>
        <p:txBody>
          <a:bodyPr wrap="square" lIns="0" tIns="0" rIns="0" bIns="0" anchor="ctr">
            <a:spAutoFit/>
          </a:bodyPr>
          <a:lstStyle/>
          <a:p>
            <a:pPr algn="l">
              <a:spcAft>
                <a:spcPts val="600"/>
              </a:spcAft>
            </a:pPr>
            <a:r>
              <a:rPr sz="900" b="0" i="0">
                <a:solidFill>
                  <a:srgbClr val="A9B8C9"/>
                </a:solidFill>
                <a:effectLst>
                  <a:glow rad="63500">
                    <a:srgbClr val="001633">
                      <a:alpha val="85000"/>
                    </a:srgbClr>
                  </a:glow>
                </a:effectLst>
                <a:latin typeface="Montserrat"/>
              </a:rPr>
              <a:t>+ 8 más</a:t>
            </a:r>
          </a:p>
        </p:txBody>
      </p:sp>
      <p:sp>
        <p:nvSpPr>
          <p:cNvPr id="127" name="Familia Gestión"/>
          <p:cNvSpPr/>
          <p:nvPr/>
        </p:nvSpPr>
        <p:spPr>
          <a:xfrm>
            <a:off x="8019288" y="2697480"/>
            <a:ext cx="1554480" cy="64008"/>
          </a:xfrm>
          <a:prstGeom prst="rect">
            <a:avLst/>
          </a:prstGeom>
          <a:solidFill>
            <a:srgbClr val="8A99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8" name="TextBox 127"/>
          <p:cNvSpPr txBox="1"/>
          <p:nvPr/>
        </p:nvSpPr>
        <p:spPr>
          <a:xfrm>
            <a:off x="8019288" y="2807208"/>
            <a:ext cx="1554480" cy="292608"/>
          </a:xfrm>
          <a:prstGeom prst="rect">
            <a:avLst/>
          </a:prstGeom>
          <a:noFill/>
        </p:spPr>
        <p:txBody>
          <a:bodyPr wrap="square" lIns="0" tIns="0" rIns="0" bIns="0" anchor="t">
            <a:spAutoFit/>
          </a:bodyPr>
          <a:lstStyle/>
          <a:p>
            <a:pPr algn="l">
              <a:spcAft>
                <a:spcPts val="600"/>
              </a:spcAft>
            </a:pPr>
            <a:r>
              <a:rPr sz="1250" b="1" i="0">
                <a:solidFill>
                  <a:srgbClr val="FFFFFF"/>
                </a:solidFill>
                <a:effectLst>
                  <a:glow rad="63500">
                    <a:srgbClr val="001633">
                      <a:alpha val="85000"/>
                    </a:srgbClr>
                  </a:glow>
                </a:effectLst>
                <a:latin typeface="Montserrat"/>
              </a:rPr>
              <a:t>Gestión</a:t>
            </a:r>
          </a:p>
        </p:txBody>
      </p:sp>
      <p:sp>
        <p:nvSpPr>
          <p:cNvPr id="129" name="TextBox 128"/>
          <p:cNvSpPr txBox="1"/>
          <p:nvPr/>
        </p:nvSpPr>
        <p:spPr>
          <a:xfrm>
            <a:off x="8019288" y="3108960"/>
            <a:ext cx="1554480" cy="384048"/>
          </a:xfrm>
          <a:prstGeom prst="rect">
            <a:avLst/>
          </a:prstGeom>
          <a:noFill/>
        </p:spPr>
        <p:txBody>
          <a:bodyPr wrap="square" lIns="0" tIns="0" rIns="0" bIns="0" anchor="t">
            <a:spAutoFit/>
          </a:bodyPr>
          <a:lstStyle/>
          <a:p>
            <a:pPr algn="l">
              <a:spcAft>
                <a:spcPts val="600"/>
              </a:spcAft>
            </a:pPr>
            <a:r>
              <a:rPr sz="900" b="1" i="0">
                <a:solidFill>
                  <a:srgbClr val="8A99AD"/>
                </a:solidFill>
                <a:effectLst>
                  <a:glow rad="63500">
                    <a:srgbClr val="001633">
                      <a:alpha val="85000"/>
                    </a:srgbClr>
                  </a:glow>
                </a:effectLst>
                <a:latin typeface="Montserrat"/>
              </a:rPr>
              <a:t>4 capacidades · </a:t>
            </a:r>
            <a:r>
              <a:rPr sz="900" b="0" i="0">
                <a:solidFill>
                  <a:srgbClr val="A9B8C9"/>
                </a:solidFill>
                <a:effectLst>
                  <a:glow rad="63500">
                    <a:srgbClr val="001633">
                      <a:alpha val="85000"/>
                    </a:srgbClr>
                  </a:glow>
                </a:effectLst>
                <a:latin typeface="Montserrat"/>
              </a:rPr>
              <a:t>administra equipos, registros y datos</a:t>
            </a:r>
          </a:p>
        </p:txBody>
      </p:sp>
      <p:sp>
        <p:nvSpPr>
          <p:cNvPr id="130" name="Capacidad Dispositivos"/>
          <p:cNvSpPr/>
          <p:nvPr/>
        </p:nvSpPr>
        <p:spPr>
          <a:xfrm>
            <a:off x="8019288" y="3593592"/>
            <a:ext cx="1554480" cy="301752"/>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1" name="TextBox 130"/>
          <p:cNvSpPr txBox="1"/>
          <p:nvPr/>
        </p:nvSpPr>
        <p:spPr>
          <a:xfrm>
            <a:off x="8092440" y="3593592"/>
            <a:ext cx="1463040" cy="301752"/>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Dispositivos</a:t>
            </a:r>
          </a:p>
        </p:txBody>
      </p:sp>
      <p:sp>
        <p:nvSpPr>
          <p:cNvPr id="132" name="Marca C"/>
          <p:cNvSpPr/>
          <p:nvPr/>
        </p:nvSpPr>
        <p:spPr>
          <a:xfrm>
            <a:off x="9368028" y="3675888"/>
            <a:ext cx="137160" cy="137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3" name="TextBox 132"/>
          <p:cNvSpPr txBox="1"/>
          <p:nvPr/>
        </p:nvSpPr>
        <p:spPr>
          <a:xfrm>
            <a:off x="9368028" y="367588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C</a:t>
            </a:r>
          </a:p>
        </p:txBody>
      </p:sp>
      <p:sp>
        <p:nvSpPr>
          <p:cNvPr id="134" name="Marca A"/>
          <p:cNvSpPr/>
          <p:nvPr/>
        </p:nvSpPr>
        <p:spPr>
          <a:xfrm>
            <a:off x="9208008" y="3675888"/>
            <a:ext cx="137160" cy="13716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5" name="TextBox 134"/>
          <p:cNvSpPr txBox="1"/>
          <p:nvPr/>
        </p:nvSpPr>
        <p:spPr>
          <a:xfrm>
            <a:off x="9208008" y="367588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A</a:t>
            </a:r>
          </a:p>
        </p:txBody>
      </p:sp>
      <p:sp>
        <p:nvSpPr>
          <p:cNvPr id="136" name="Capacidad Monitoreo"/>
          <p:cNvSpPr/>
          <p:nvPr/>
        </p:nvSpPr>
        <p:spPr>
          <a:xfrm>
            <a:off x="8019288" y="3959352"/>
            <a:ext cx="1554480" cy="301752"/>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7" name="TextBox 136"/>
          <p:cNvSpPr txBox="1"/>
          <p:nvPr/>
        </p:nvSpPr>
        <p:spPr>
          <a:xfrm>
            <a:off x="8092440" y="3959352"/>
            <a:ext cx="1463040" cy="301752"/>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Monitoreo</a:t>
            </a:r>
          </a:p>
        </p:txBody>
      </p:sp>
      <p:sp>
        <p:nvSpPr>
          <p:cNvPr id="138" name="Marca A"/>
          <p:cNvSpPr/>
          <p:nvPr/>
        </p:nvSpPr>
        <p:spPr>
          <a:xfrm>
            <a:off x="9368028" y="4041648"/>
            <a:ext cx="137160" cy="13716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9" name="TextBox 138"/>
          <p:cNvSpPr txBox="1"/>
          <p:nvPr/>
        </p:nvSpPr>
        <p:spPr>
          <a:xfrm>
            <a:off x="9368028" y="404164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A</a:t>
            </a:r>
          </a:p>
        </p:txBody>
      </p:sp>
      <p:sp>
        <p:nvSpPr>
          <p:cNvPr id="140" name="Capacidad Registros"/>
          <p:cNvSpPr/>
          <p:nvPr/>
        </p:nvSpPr>
        <p:spPr>
          <a:xfrm>
            <a:off x="8019288" y="4325112"/>
            <a:ext cx="1554480" cy="301752"/>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1" name="TextBox 140"/>
          <p:cNvSpPr txBox="1"/>
          <p:nvPr/>
        </p:nvSpPr>
        <p:spPr>
          <a:xfrm>
            <a:off x="8092440" y="4325112"/>
            <a:ext cx="1463040" cy="301752"/>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Registros</a:t>
            </a:r>
          </a:p>
        </p:txBody>
      </p:sp>
      <p:sp>
        <p:nvSpPr>
          <p:cNvPr id="142" name="Marca C"/>
          <p:cNvSpPr/>
          <p:nvPr/>
        </p:nvSpPr>
        <p:spPr>
          <a:xfrm>
            <a:off x="9368028" y="4407408"/>
            <a:ext cx="137160" cy="137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3" name="TextBox 142"/>
          <p:cNvSpPr txBox="1"/>
          <p:nvPr/>
        </p:nvSpPr>
        <p:spPr>
          <a:xfrm>
            <a:off x="9368028" y="440740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C</a:t>
            </a:r>
          </a:p>
        </p:txBody>
      </p:sp>
      <p:sp>
        <p:nvSpPr>
          <p:cNvPr id="144" name="Capacidad Gobierno datos"/>
          <p:cNvSpPr/>
          <p:nvPr/>
        </p:nvSpPr>
        <p:spPr>
          <a:xfrm>
            <a:off x="8019288" y="4690872"/>
            <a:ext cx="1554480" cy="301752"/>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5" name="TextBox 144"/>
          <p:cNvSpPr txBox="1"/>
          <p:nvPr/>
        </p:nvSpPr>
        <p:spPr>
          <a:xfrm>
            <a:off x="8092440" y="4690872"/>
            <a:ext cx="1463040" cy="301752"/>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Gobierno datos</a:t>
            </a:r>
          </a:p>
        </p:txBody>
      </p:sp>
      <p:sp>
        <p:nvSpPr>
          <p:cNvPr id="146" name="Marca C"/>
          <p:cNvSpPr/>
          <p:nvPr/>
        </p:nvSpPr>
        <p:spPr>
          <a:xfrm>
            <a:off x="9368028" y="4773168"/>
            <a:ext cx="137160" cy="137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7" name="TextBox 146"/>
          <p:cNvSpPr txBox="1"/>
          <p:nvPr/>
        </p:nvSpPr>
        <p:spPr>
          <a:xfrm>
            <a:off x="9368028" y="477316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C</a:t>
            </a:r>
          </a:p>
        </p:txBody>
      </p:sp>
      <p:sp>
        <p:nvSpPr>
          <p:cNvPr id="148" name="Marca B"/>
          <p:cNvSpPr/>
          <p:nvPr/>
        </p:nvSpPr>
        <p:spPr>
          <a:xfrm>
            <a:off x="9208008" y="4773168"/>
            <a:ext cx="137160" cy="137160"/>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9" name="TextBox 148"/>
          <p:cNvSpPr txBox="1"/>
          <p:nvPr/>
        </p:nvSpPr>
        <p:spPr>
          <a:xfrm>
            <a:off x="9208008" y="477316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B</a:t>
            </a:r>
          </a:p>
        </p:txBody>
      </p:sp>
      <p:sp>
        <p:nvSpPr>
          <p:cNvPr id="150" name="Familia Confiabilidad"/>
          <p:cNvSpPr/>
          <p:nvPr/>
        </p:nvSpPr>
        <p:spPr>
          <a:xfrm>
            <a:off x="9710928" y="2697480"/>
            <a:ext cx="1554480" cy="64008"/>
          </a:xfrm>
          <a:prstGeom prst="rect">
            <a:avLst/>
          </a:prstGeom>
          <a:solidFill>
            <a:srgbClr val="E056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1" name="TextBox 150"/>
          <p:cNvSpPr txBox="1"/>
          <p:nvPr/>
        </p:nvSpPr>
        <p:spPr>
          <a:xfrm>
            <a:off x="9710928" y="2807208"/>
            <a:ext cx="1554480" cy="292608"/>
          </a:xfrm>
          <a:prstGeom prst="rect">
            <a:avLst/>
          </a:prstGeom>
          <a:noFill/>
        </p:spPr>
        <p:txBody>
          <a:bodyPr wrap="square" lIns="0" tIns="0" rIns="0" bIns="0" anchor="t">
            <a:spAutoFit/>
          </a:bodyPr>
          <a:lstStyle/>
          <a:p>
            <a:pPr algn="l">
              <a:spcAft>
                <a:spcPts val="600"/>
              </a:spcAft>
            </a:pPr>
            <a:r>
              <a:rPr sz="1250" b="1" i="0">
                <a:solidFill>
                  <a:srgbClr val="FFFFFF"/>
                </a:solidFill>
                <a:effectLst>
                  <a:glow rad="63500">
                    <a:srgbClr val="001633">
                      <a:alpha val="85000"/>
                    </a:srgbClr>
                  </a:glow>
                </a:effectLst>
                <a:latin typeface="Montserrat"/>
              </a:rPr>
              <a:t>Confiabilidad</a:t>
            </a:r>
          </a:p>
        </p:txBody>
      </p:sp>
      <p:sp>
        <p:nvSpPr>
          <p:cNvPr id="152" name="TextBox 151"/>
          <p:cNvSpPr txBox="1"/>
          <p:nvPr/>
        </p:nvSpPr>
        <p:spPr>
          <a:xfrm>
            <a:off x="9710928" y="3108960"/>
            <a:ext cx="1554480" cy="384048"/>
          </a:xfrm>
          <a:prstGeom prst="rect">
            <a:avLst/>
          </a:prstGeom>
          <a:noFill/>
        </p:spPr>
        <p:txBody>
          <a:bodyPr wrap="square" lIns="0" tIns="0" rIns="0" bIns="0" anchor="t">
            <a:spAutoFit/>
          </a:bodyPr>
          <a:lstStyle/>
          <a:p>
            <a:pPr algn="l">
              <a:spcAft>
                <a:spcPts val="600"/>
              </a:spcAft>
            </a:pPr>
            <a:r>
              <a:rPr sz="900" b="1" i="0">
                <a:solidFill>
                  <a:srgbClr val="E0565B"/>
                </a:solidFill>
                <a:effectLst>
                  <a:glow rad="63500">
                    <a:srgbClr val="001633">
                      <a:alpha val="85000"/>
                    </a:srgbClr>
                  </a:glow>
                </a:effectLst>
                <a:latin typeface="Montserrat"/>
              </a:rPr>
              <a:t>7 capacidades · </a:t>
            </a:r>
            <a:r>
              <a:rPr sz="900" b="0" i="0">
                <a:solidFill>
                  <a:srgbClr val="A9B8C9"/>
                </a:solidFill>
                <a:effectLst>
                  <a:glow rad="63500">
                    <a:srgbClr val="001633">
                      <a:alpha val="85000"/>
                    </a:srgbClr>
                  </a:glow>
                </a:effectLst>
                <a:latin typeface="Montserrat"/>
              </a:rPr>
              <a:t>lo hace seguro y robusto</a:t>
            </a:r>
          </a:p>
        </p:txBody>
      </p:sp>
      <p:sp>
        <p:nvSpPr>
          <p:cNvPr id="153" name="Capacidad Ciberseguridad"/>
          <p:cNvSpPr/>
          <p:nvPr/>
        </p:nvSpPr>
        <p:spPr>
          <a:xfrm>
            <a:off x="9710928" y="3593592"/>
            <a:ext cx="1554480" cy="301752"/>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4" name="TextBox 153"/>
          <p:cNvSpPr txBox="1"/>
          <p:nvPr/>
        </p:nvSpPr>
        <p:spPr>
          <a:xfrm>
            <a:off x="9784080" y="3593592"/>
            <a:ext cx="1463040" cy="301752"/>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Ciberseguridad</a:t>
            </a:r>
          </a:p>
        </p:txBody>
      </p:sp>
      <p:sp>
        <p:nvSpPr>
          <p:cNvPr id="155" name="Marca C"/>
          <p:cNvSpPr/>
          <p:nvPr/>
        </p:nvSpPr>
        <p:spPr>
          <a:xfrm>
            <a:off x="11059668" y="3675888"/>
            <a:ext cx="137160" cy="137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6" name="TextBox 155"/>
          <p:cNvSpPr txBox="1"/>
          <p:nvPr/>
        </p:nvSpPr>
        <p:spPr>
          <a:xfrm>
            <a:off x="11059668" y="367588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C</a:t>
            </a:r>
          </a:p>
        </p:txBody>
      </p:sp>
      <p:sp>
        <p:nvSpPr>
          <p:cNvPr id="157" name="Marca B"/>
          <p:cNvSpPr/>
          <p:nvPr/>
        </p:nvSpPr>
        <p:spPr>
          <a:xfrm>
            <a:off x="10899648" y="3675888"/>
            <a:ext cx="137160" cy="137160"/>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8" name="TextBox 157"/>
          <p:cNvSpPr txBox="1"/>
          <p:nvPr/>
        </p:nvSpPr>
        <p:spPr>
          <a:xfrm>
            <a:off x="10899648" y="367588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B</a:t>
            </a:r>
          </a:p>
        </p:txBody>
      </p:sp>
      <p:sp>
        <p:nvSpPr>
          <p:cNvPr id="159" name="Marca A"/>
          <p:cNvSpPr/>
          <p:nvPr/>
        </p:nvSpPr>
        <p:spPr>
          <a:xfrm>
            <a:off x="10739628" y="3675888"/>
            <a:ext cx="137160" cy="13716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0" name="TextBox 159"/>
          <p:cNvSpPr txBox="1"/>
          <p:nvPr/>
        </p:nvSpPr>
        <p:spPr>
          <a:xfrm>
            <a:off x="10739628" y="367588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A</a:t>
            </a:r>
          </a:p>
        </p:txBody>
      </p:sp>
      <p:sp>
        <p:nvSpPr>
          <p:cNvPr id="161" name="Capacidad Seguridad"/>
          <p:cNvSpPr/>
          <p:nvPr/>
        </p:nvSpPr>
        <p:spPr>
          <a:xfrm>
            <a:off x="9710928" y="3959352"/>
            <a:ext cx="1554480" cy="301752"/>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2" name="TextBox 161"/>
          <p:cNvSpPr txBox="1"/>
          <p:nvPr/>
        </p:nvSpPr>
        <p:spPr>
          <a:xfrm>
            <a:off x="9784080" y="3959352"/>
            <a:ext cx="1463040" cy="301752"/>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Seguridad</a:t>
            </a:r>
          </a:p>
        </p:txBody>
      </p:sp>
      <p:sp>
        <p:nvSpPr>
          <p:cNvPr id="163" name="Marca A"/>
          <p:cNvSpPr/>
          <p:nvPr/>
        </p:nvSpPr>
        <p:spPr>
          <a:xfrm>
            <a:off x="11059668" y="4041648"/>
            <a:ext cx="137160" cy="13716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4" name="TextBox 163"/>
          <p:cNvSpPr txBox="1"/>
          <p:nvPr/>
        </p:nvSpPr>
        <p:spPr>
          <a:xfrm>
            <a:off x="11059668" y="404164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A</a:t>
            </a:r>
          </a:p>
        </p:txBody>
      </p:sp>
      <p:sp>
        <p:nvSpPr>
          <p:cNvPr id="165" name="Capacidad Confiabilidad"/>
          <p:cNvSpPr/>
          <p:nvPr/>
        </p:nvSpPr>
        <p:spPr>
          <a:xfrm>
            <a:off x="9710928" y="4325112"/>
            <a:ext cx="1554480" cy="301752"/>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6" name="TextBox 165"/>
          <p:cNvSpPr txBox="1"/>
          <p:nvPr/>
        </p:nvSpPr>
        <p:spPr>
          <a:xfrm>
            <a:off x="9784080" y="4325112"/>
            <a:ext cx="1463040" cy="301752"/>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Confiabilidad</a:t>
            </a:r>
          </a:p>
        </p:txBody>
      </p:sp>
      <p:sp>
        <p:nvSpPr>
          <p:cNvPr id="167" name="Marca A"/>
          <p:cNvSpPr/>
          <p:nvPr/>
        </p:nvSpPr>
        <p:spPr>
          <a:xfrm>
            <a:off x="11059668" y="4407408"/>
            <a:ext cx="137160" cy="13716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8" name="TextBox 167"/>
          <p:cNvSpPr txBox="1"/>
          <p:nvPr/>
        </p:nvSpPr>
        <p:spPr>
          <a:xfrm>
            <a:off x="11059668" y="440740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A</a:t>
            </a:r>
          </a:p>
        </p:txBody>
      </p:sp>
      <p:sp>
        <p:nvSpPr>
          <p:cNvPr id="169" name="Capacidad Privacidad"/>
          <p:cNvSpPr/>
          <p:nvPr/>
        </p:nvSpPr>
        <p:spPr>
          <a:xfrm>
            <a:off x="9710928" y="4690872"/>
            <a:ext cx="1554480" cy="301752"/>
          </a:xfrm>
          <a:prstGeom prst="rect">
            <a:avLst/>
          </a:prstGeom>
          <a:solidFill>
            <a:srgbClr val="0B264A"/>
          </a:solidFill>
          <a:ln w="635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0" name="TextBox 169"/>
          <p:cNvSpPr txBox="1"/>
          <p:nvPr/>
        </p:nvSpPr>
        <p:spPr>
          <a:xfrm>
            <a:off x="9784080" y="4690872"/>
            <a:ext cx="1463040" cy="301752"/>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Privacidad</a:t>
            </a:r>
          </a:p>
        </p:txBody>
      </p:sp>
      <p:sp>
        <p:nvSpPr>
          <p:cNvPr id="171" name="Capacidad Resiliencia"/>
          <p:cNvSpPr/>
          <p:nvPr/>
        </p:nvSpPr>
        <p:spPr>
          <a:xfrm>
            <a:off x="9710928" y="5056632"/>
            <a:ext cx="1554480" cy="301752"/>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2" name="TextBox 171"/>
          <p:cNvSpPr txBox="1"/>
          <p:nvPr/>
        </p:nvSpPr>
        <p:spPr>
          <a:xfrm>
            <a:off x="9784080" y="5056632"/>
            <a:ext cx="1463040" cy="301752"/>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Resiliencia</a:t>
            </a:r>
          </a:p>
        </p:txBody>
      </p:sp>
      <p:sp>
        <p:nvSpPr>
          <p:cNvPr id="173" name="Marca A"/>
          <p:cNvSpPr/>
          <p:nvPr/>
        </p:nvSpPr>
        <p:spPr>
          <a:xfrm>
            <a:off x="11059668" y="5138928"/>
            <a:ext cx="137160" cy="13716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 name="TextBox 173"/>
          <p:cNvSpPr txBox="1"/>
          <p:nvPr/>
        </p:nvSpPr>
        <p:spPr>
          <a:xfrm>
            <a:off x="11059668" y="5138928"/>
            <a:ext cx="137160" cy="137160"/>
          </a:xfrm>
          <a:prstGeom prst="rect">
            <a:avLst/>
          </a:prstGeom>
          <a:noFill/>
        </p:spPr>
        <p:txBody>
          <a:bodyPr wrap="square" lIns="0" tIns="0" rIns="0" bIns="0" anchor="ctr">
            <a:spAutoFit/>
          </a:bodyPr>
          <a:lstStyle/>
          <a:p>
            <a:pPr algn="ctr">
              <a:spcAft>
                <a:spcPts val="600"/>
              </a:spcAft>
            </a:pPr>
            <a:r>
              <a:rPr sz="650" b="1" i="0">
                <a:solidFill>
                  <a:srgbClr val="001633"/>
                </a:solidFill>
                <a:latin typeface="Montserrat"/>
              </a:rPr>
              <a:t>A</a:t>
            </a:r>
          </a:p>
        </p:txBody>
      </p:sp>
      <p:sp>
        <p:nvSpPr>
          <p:cNvPr id="175" name="TextBox 174"/>
          <p:cNvSpPr txBox="1"/>
          <p:nvPr/>
        </p:nvSpPr>
        <p:spPr>
          <a:xfrm>
            <a:off x="9784080" y="5422392"/>
            <a:ext cx="1554480" cy="256032"/>
          </a:xfrm>
          <a:prstGeom prst="rect">
            <a:avLst/>
          </a:prstGeom>
          <a:noFill/>
        </p:spPr>
        <p:txBody>
          <a:bodyPr wrap="square" lIns="0" tIns="0" rIns="0" bIns="0" anchor="ctr">
            <a:spAutoFit/>
          </a:bodyPr>
          <a:lstStyle/>
          <a:p>
            <a:pPr algn="l">
              <a:spcAft>
                <a:spcPts val="600"/>
              </a:spcAft>
            </a:pPr>
            <a:r>
              <a:rPr sz="900" b="0" i="0">
                <a:solidFill>
                  <a:srgbClr val="A9B8C9"/>
                </a:solidFill>
                <a:effectLst>
                  <a:glow rad="63500">
                    <a:srgbClr val="001633">
                      <a:alpha val="85000"/>
                    </a:srgbClr>
                  </a:glow>
                </a:effectLst>
                <a:latin typeface="Montserrat"/>
              </a:rPr>
              <a:t>+ 2 más</a:t>
            </a:r>
          </a:p>
        </p:txBody>
      </p:sp>
      <p:sp>
        <p:nvSpPr>
          <p:cNvPr id="176"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Digital Twin Capabilities Periodic Table, Digital Twin Consortium (2022) [5] · selección de capacidades, traducción y casos A, B y C: elaboración propia</a:t>
            </a:r>
          </a:p>
        </p:txBody>
      </p:sp>
      <p:sp>
        <p:nvSpPr>
          <p:cNvPr id="177"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 · Fundamentos</a:t>
            </a:r>
          </a:p>
        </p:txBody>
      </p:sp>
      <p:sp>
        <p:nvSpPr>
          <p:cNvPr id="178"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9" name="Avance I actual"/>
          <p:cNvSpPr/>
          <p:nvPr/>
        </p:nvSpPr>
        <p:spPr>
          <a:xfrm>
            <a:off x="1252728" y="6510528"/>
            <a:ext cx="104013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0"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 · Industria</a:t>
            </a:r>
          </a:p>
        </p:txBody>
      </p:sp>
      <p:sp>
        <p:nvSpPr>
          <p:cNvPr id="181"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2"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III · Construcción</a:t>
            </a:r>
          </a:p>
        </p:txBody>
      </p:sp>
      <p:sp>
        <p:nvSpPr>
          <p:cNvPr id="183"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4"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185"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6"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7/12 </a:t>
            </a:r>
            <a:r>
              <a:rPr sz="1000" b="0" i="0">
                <a:solidFill>
                  <a:srgbClr val="A9B8C9"/>
                </a:solidFill>
                <a:effectLst>
                  <a:glow rad="63500">
                    <a:srgbClr val="001633">
                      <a:alpha val="85000"/>
                    </a:srgbClr>
                  </a:glow>
                </a:effectLst>
                <a:latin typeface="Montserrat"/>
              </a:rPr>
              <a:t>· Gemelos Digitales para Minería 4.0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Un gemelo se justifica por la decisión que mejora</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 · FUNDAMENTOS — CUÁNDO CONVIENE</a:t>
            </a:r>
          </a:p>
        </p:txBody>
      </p:sp>
      <p:sp>
        <p:nvSpPr>
          <p:cNvPr id="6" name="TextBox 5"/>
          <p:cNvSpPr txBox="1"/>
          <p:nvPr/>
        </p:nvSpPr>
        <p:spPr>
          <a:xfrm>
            <a:off x="1252728" y="1801367"/>
            <a:ext cx="8229600" cy="50292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Antes de construir un gemelo, dos preguntas: ¿duele no tenerlo? y ¿el problema se presta para un gemelo? Solo cuando ambas respuestas son sí, el gemelo rinde.</a:t>
            </a:r>
          </a:p>
        </p:txBody>
      </p:sp>
      <p:sp>
        <p:nvSpPr>
          <p:cNvPr id="7" name="Cuadrante Rinde"/>
          <p:cNvSpPr/>
          <p:nvPr/>
        </p:nvSpPr>
        <p:spPr>
          <a:xfrm>
            <a:off x="7123176" y="2578608"/>
            <a:ext cx="4160520" cy="1234440"/>
          </a:xfrm>
          <a:prstGeom prst="rect">
            <a:avLst/>
          </a:prstGeom>
          <a:solidFill>
            <a:srgbClr val="12335E"/>
          </a:solidFill>
          <a:ln w="254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306056" y="2688336"/>
            <a:ext cx="3794760" cy="292608"/>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Rinde</a:t>
            </a:r>
          </a:p>
        </p:txBody>
      </p:sp>
      <p:sp>
        <p:nvSpPr>
          <p:cNvPr id="9" name="Veredicto Rinde"/>
          <p:cNvSpPr/>
          <p:nvPr/>
        </p:nvSpPr>
        <p:spPr>
          <a:xfrm>
            <a:off x="9592056" y="3429000"/>
            <a:ext cx="1554480" cy="2743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592056" y="3429000"/>
            <a:ext cx="1554480" cy="274320"/>
          </a:xfrm>
          <a:prstGeom prst="rect">
            <a:avLst/>
          </a:prstGeom>
          <a:noFill/>
        </p:spPr>
        <p:txBody>
          <a:bodyPr wrap="square" lIns="0" tIns="0" rIns="0" bIns="0" anchor="ctr">
            <a:spAutoFit/>
          </a:bodyPr>
          <a:lstStyle/>
          <a:p>
            <a:pPr algn="ctr">
              <a:spcAft>
                <a:spcPts val="600"/>
              </a:spcAft>
            </a:pPr>
            <a:r>
              <a:rPr sz="900" b="1" i="0">
                <a:solidFill>
                  <a:srgbClr val="001633"/>
                </a:solidFill>
                <a:latin typeface="Montserrat"/>
              </a:rPr>
              <a:t>Construir el gemelo</a:t>
            </a:r>
          </a:p>
        </p:txBody>
      </p:sp>
      <p:sp>
        <p:nvSpPr>
          <p:cNvPr id="11" name="TextBox 10"/>
          <p:cNvSpPr txBox="1"/>
          <p:nvPr/>
        </p:nvSpPr>
        <p:spPr>
          <a:xfrm>
            <a:off x="7306056" y="3017520"/>
            <a:ext cx="3794760" cy="320040"/>
          </a:xfrm>
          <a:prstGeom prst="rect">
            <a:avLst/>
          </a:prstGeom>
          <a:noFill/>
        </p:spPr>
        <p:txBody>
          <a:bodyPr wrap="square" lIns="0" tIns="0" rIns="0" bIns="0" anchor="t">
            <a:spAutoFit/>
          </a:bodyPr>
          <a:lstStyle/>
          <a:p>
            <a:pPr algn="l">
              <a:spcAft>
                <a:spcPts val="600"/>
              </a:spcAft>
            </a:pPr>
            <a:r>
              <a:rPr sz="1050" b="0" i="0">
                <a:solidFill>
                  <a:srgbClr val="FFFFFF"/>
                </a:solidFill>
                <a:effectLst>
                  <a:glow rad="63500">
                    <a:srgbClr val="001633">
                      <a:alpha val="85000"/>
                    </a:srgbClr>
                  </a:glow>
                </a:effectLst>
                <a:latin typeface="Montserrat"/>
              </a:rPr>
              <a:t>Decisión cara y frecuente, con datos para modelarla</a:t>
            </a:r>
          </a:p>
        </p:txBody>
      </p:sp>
      <p:cxnSp>
        <p:nvCxnSpPr>
          <p:cNvPr id="12" name="Raya ejemplo"/>
          <p:cNvCxnSpPr/>
          <p:nvPr/>
        </p:nvCxnSpPr>
        <p:spPr>
          <a:xfrm>
            <a:off x="7306056" y="3383280"/>
            <a:ext cx="32004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306056" y="3429000"/>
            <a:ext cx="2194560" cy="274320"/>
          </a:xfrm>
          <a:prstGeom prst="rect">
            <a:avLst/>
          </a:prstGeom>
          <a:noFill/>
        </p:spPr>
        <p:txBody>
          <a:bodyPr wrap="square" lIns="0" tIns="0" rIns="0" bIns="0" anchor="t">
            <a:spAutoFit/>
          </a:bodyPr>
          <a:lstStyle/>
          <a:p>
            <a:pPr algn="l">
              <a:spcAft>
                <a:spcPts val="600"/>
              </a:spcAft>
            </a:pPr>
            <a:r>
              <a:rPr sz="1050" b="1" i="0">
                <a:solidFill>
                  <a:srgbClr val="FFAB40"/>
                </a:solidFill>
                <a:effectLst>
                  <a:glow rad="63500">
                    <a:srgbClr val="001633">
                      <a:alpha val="85000"/>
                    </a:srgbClr>
                  </a:glow>
                </a:effectLst>
                <a:latin typeface="Montserrat"/>
              </a:rPr>
              <a:t>Ej.: </a:t>
            </a:r>
            <a:r>
              <a:rPr sz="1050" b="0" i="0">
                <a:solidFill>
                  <a:srgbClr val="FFFFFF"/>
                </a:solidFill>
                <a:effectLst>
                  <a:glow rad="63500">
                    <a:srgbClr val="001633">
                      <a:alpha val="85000"/>
                    </a:srgbClr>
                  </a:glow>
                </a:effectLst>
                <a:latin typeface="Montserrat"/>
              </a:rPr>
              <a:t>Despacho de camiones</a:t>
            </a:r>
          </a:p>
        </p:txBody>
      </p:sp>
      <p:sp>
        <p:nvSpPr>
          <p:cNvPr id="14" name="Cuadrante Urgente, pero no encaja"/>
          <p:cNvSpPr/>
          <p:nvPr/>
        </p:nvSpPr>
        <p:spPr>
          <a:xfrm>
            <a:off x="2852928" y="2578608"/>
            <a:ext cx="4160520" cy="12344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3035808" y="2688336"/>
            <a:ext cx="3794760" cy="292608"/>
          </a:xfrm>
          <a:prstGeom prst="rect">
            <a:avLst/>
          </a:prstGeom>
          <a:noFill/>
        </p:spPr>
        <p:txBody>
          <a:bodyPr wrap="square" lIns="0" tIns="0" rIns="0" bIns="0" anchor="t">
            <a:spAutoFit/>
          </a:bodyPr>
          <a:lstStyle/>
          <a:p>
            <a:pPr algn="l">
              <a:spcAft>
                <a:spcPts val="600"/>
              </a:spcAft>
            </a:pPr>
            <a:r>
              <a:rPr sz="1400" b="1" i="0">
                <a:solidFill>
                  <a:srgbClr val="FFFFFF"/>
                </a:solidFill>
                <a:effectLst>
                  <a:glow rad="63500">
                    <a:srgbClr val="001633">
                      <a:alpha val="85000"/>
                    </a:srgbClr>
                  </a:glow>
                </a:effectLst>
                <a:latin typeface="Montserrat"/>
              </a:rPr>
              <a:t>Urgente, pero no encaja</a:t>
            </a:r>
          </a:p>
        </p:txBody>
      </p:sp>
      <p:sp>
        <p:nvSpPr>
          <p:cNvPr id="16" name="Veredicto Urgente, pero no encaja"/>
          <p:cNvSpPr/>
          <p:nvPr/>
        </p:nvSpPr>
        <p:spPr>
          <a:xfrm>
            <a:off x="5321808" y="3429000"/>
            <a:ext cx="1554480" cy="2743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321808" y="3429000"/>
            <a:ext cx="1554480" cy="274320"/>
          </a:xfrm>
          <a:prstGeom prst="rect">
            <a:avLst/>
          </a:prstGeom>
          <a:noFill/>
        </p:spPr>
        <p:txBody>
          <a:bodyPr wrap="square" lIns="0" tIns="0" rIns="0" bIns="0" anchor="ctr">
            <a:spAutoFit/>
          </a:bodyPr>
          <a:lstStyle/>
          <a:p>
            <a:pPr algn="ctr">
              <a:spcAft>
                <a:spcPts val="600"/>
              </a:spcAft>
            </a:pPr>
            <a:r>
              <a:rPr sz="900" b="1" i="0">
                <a:solidFill>
                  <a:srgbClr val="FFFFFF"/>
                </a:solidFill>
                <a:effectLst>
                  <a:glow rad="63500">
                    <a:srgbClr val="001633">
                      <a:alpha val="85000"/>
                    </a:srgbClr>
                  </a:glow>
                </a:effectLst>
                <a:latin typeface="Montserrat"/>
              </a:rPr>
              <a:t>Resolverlo de otra forma</a:t>
            </a:r>
          </a:p>
        </p:txBody>
      </p:sp>
      <p:sp>
        <p:nvSpPr>
          <p:cNvPr id="18" name="TextBox 17"/>
          <p:cNvSpPr txBox="1"/>
          <p:nvPr/>
        </p:nvSpPr>
        <p:spPr>
          <a:xfrm>
            <a:off x="3035808" y="3017520"/>
            <a:ext cx="3794760" cy="320040"/>
          </a:xfrm>
          <a:prstGeom prst="rect">
            <a:avLst/>
          </a:prstGeom>
          <a:noFill/>
        </p:spPr>
        <p:txBody>
          <a:bodyPr wrap="square" lIns="0" tIns="0" rIns="0" bIns="0" anchor="t">
            <a:spAutoFit/>
          </a:bodyPr>
          <a:lstStyle/>
          <a:p>
            <a:pPr algn="l">
              <a:spcAft>
                <a:spcPts val="600"/>
              </a:spcAft>
            </a:pPr>
            <a:r>
              <a:rPr sz="1050" b="0" i="0">
                <a:solidFill>
                  <a:srgbClr val="A9B8C9"/>
                </a:solidFill>
                <a:effectLst>
                  <a:glow rad="63500">
                    <a:srgbClr val="001633">
                      <a:alpha val="85000"/>
                    </a:srgbClr>
                  </a:glow>
                </a:effectLst>
                <a:latin typeface="Montserrat"/>
              </a:rPr>
              <a:t>Duele, pero faltan datos o el caso no se repite</a:t>
            </a:r>
          </a:p>
        </p:txBody>
      </p:sp>
      <p:cxnSp>
        <p:nvCxnSpPr>
          <p:cNvPr id="19" name="Raya ejemplo"/>
          <p:cNvCxnSpPr/>
          <p:nvPr/>
        </p:nvCxnSpPr>
        <p:spPr>
          <a:xfrm>
            <a:off x="3035808" y="3383280"/>
            <a:ext cx="32004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035808" y="3429000"/>
            <a:ext cx="2194560" cy="323165"/>
          </a:xfrm>
          <a:prstGeom prst="rect">
            <a:avLst/>
          </a:prstGeom>
          <a:noFill/>
        </p:spPr>
        <p:txBody>
          <a:bodyPr wrap="square" lIns="0" tIns="0" rIns="0" bIns="0" anchor="t">
            <a:spAutoFit/>
          </a:bodyPr>
          <a:lstStyle/>
          <a:p>
            <a:pPr algn="l">
              <a:spcAft>
                <a:spcPts val="600"/>
              </a:spcAft>
            </a:pPr>
            <a:r>
              <a:rPr sz="1050" b="1" i="0" dirty="0" err="1">
                <a:solidFill>
                  <a:srgbClr val="FFAB40"/>
                </a:solidFill>
                <a:effectLst>
                  <a:glow rad="63500">
                    <a:srgbClr val="001633">
                      <a:alpha val="85000"/>
                    </a:srgbClr>
                  </a:glow>
                </a:effectLst>
                <a:latin typeface="Montserrat"/>
              </a:rPr>
              <a:t>Ej</a:t>
            </a:r>
            <a:r>
              <a:rPr sz="1050" b="1" i="0" dirty="0">
                <a:solidFill>
                  <a:srgbClr val="FFAB40"/>
                </a:solidFill>
                <a:effectLst>
                  <a:glow rad="63500">
                    <a:srgbClr val="001633">
                      <a:alpha val="85000"/>
                    </a:srgbClr>
                  </a:glow>
                </a:effectLst>
                <a:latin typeface="Montserrat"/>
              </a:rPr>
              <a:t>.: </a:t>
            </a:r>
            <a:r>
              <a:rPr lang="es-CL" sz="1050" b="0" i="0" dirty="0">
                <a:solidFill>
                  <a:srgbClr val="FFFFFF"/>
                </a:solidFill>
                <a:effectLst>
                  <a:glow rad="63500">
                    <a:srgbClr val="001633">
                      <a:alpha val="85000"/>
                    </a:srgbClr>
                  </a:glow>
                </a:effectLst>
                <a:latin typeface="Montserrat"/>
              </a:rPr>
              <a:t>Equipo detenido por falta de repuesto</a:t>
            </a:r>
            <a:endParaRPr sz="1050" b="0" i="0" dirty="0">
              <a:solidFill>
                <a:srgbClr val="FFFFFF"/>
              </a:solidFill>
              <a:effectLst>
                <a:glow rad="63500">
                  <a:srgbClr val="001633">
                    <a:alpha val="85000"/>
                  </a:srgbClr>
                </a:glow>
              </a:effectLst>
              <a:latin typeface="Montserrat"/>
            </a:endParaRPr>
          </a:p>
        </p:txBody>
      </p:sp>
      <p:sp>
        <p:nvSpPr>
          <p:cNvPr id="21" name="Cuadrante Encaja, pero sin urgencia"/>
          <p:cNvSpPr/>
          <p:nvPr/>
        </p:nvSpPr>
        <p:spPr>
          <a:xfrm>
            <a:off x="7123176" y="3922776"/>
            <a:ext cx="4160520" cy="12344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306056" y="4032504"/>
            <a:ext cx="3794760" cy="292608"/>
          </a:xfrm>
          <a:prstGeom prst="rect">
            <a:avLst/>
          </a:prstGeom>
          <a:noFill/>
        </p:spPr>
        <p:txBody>
          <a:bodyPr wrap="square" lIns="0" tIns="0" rIns="0" bIns="0" anchor="t">
            <a:spAutoFit/>
          </a:bodyPr>
          <a:lstStyle/>
          <a:p>
            <a:pPr algn="l">
              <a:spcAft>
                <a:spcPts val="600"/>
              </a:spcAft>
            </a:pPr>
            <a:r>
              <a:rPr sz="1400" b="1" i="0">
                <a:solidFill>
                  <a:srgbClr val="FFFFFF"/>
                </a:solidFill>
                <a:effectLst>
                  <a:glow rad="63500">
                    <a:srgbClr val="001633">
                      <a:alpha val="85000"/>
                    </a:srgbClr>
                  </a:glow>
                </a:effectLst>
                <a:latin typeface="Montserrat"/>
              </a:rPr>
              <a:t>Encaja, pero sin urgencia</a:t>
            </a:r>
          </a:p>
        </p:txBody>
      </p:sp>
      <p:sp>
        <p:nvSpPr>
          <p:cNvPr id="23" name="Veredicto Encaja, pero sin urgencia"/>
          <p:cNvSpPr/>
          <p:nvPr/>
        </p:nvSpPr>
        <p:spPr>
          <a:xfrm>
            <a:off x="9592056" y="4773168"/>
            <a:ext cx="1554480" cy="2743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9592056" y="4773168"/>
            <a:ext cx="1554480" cy="274320"/>
          </a:xfrm>
          <a:prstGeom prst="rect">
            <a:avLst/>
          </a:prstGeom>
          <a:noFill/>
        </p:spPr>
        <p:txBody>
          <a:bodyPr wrap="square" lIns="0" tIns="0" rIns="0" bIns="0" anchor="ctr">
            <a:spAutoFit/>
          </a:bodyPr>
          <a:lstStyle/>
          <a:p>
            <a:pPr algn="ctr">
              <a:spcAft>
                <a:spcPts val="600"/>
              </a:spcAft>
            </a:pPr>
            <a:r>
              <a:rPr sz="900" b="1" i="0">
                <a:solidFill>
                  <a:srgbClr val="FFFFFF"/>
                </a:solidFill>
                <a:effectLst>
                  <a:glow rad="63500">
                    <a:srgbClr val="001633">
                      <a:alpha val="85000"/>
                    </a:srgbClr>
                  </a:glow>
                </a:effectLst>
                <a:latin typeface="Montserrat"/>
              </a:rPr>
              <a:t>Postergar</a:t>
            </a:r>
          </a:p>
        </p:txBody>
      </p:sp>
      <p:sp>
        <p:nvSpPr>
          <p:cNvPr id="25" name="TextBox 24"/>
          <p:cNvSpPr txBox="1"/>
          <p:nvPr/>
        </p:nvSpPr>
        <p:spPr>
          <a:xfrm>
            <a:off x="7306056" y="4361688"/>
            <a:ext cx="3794760" cy="320040"/>
          </a:xfrm>
          <a:prstGeom prst="rect">
            <a:avLst/>
          </a:prstGeom>
          <a:noFill/>
        </p:spPr>
        <p:txBody>
          <a:bodyPr wrap="square" lIns="0" tIns="0" rIns="0" bIns="0" anchor="t">
            <a:spAutoFit/>
          </a:bodyPr>
          <a:lstStyle/>
          <a:p>
            <a:pPr algn="l">
              <a:spcAft>
                <a:spcPts val="600"/>
              </a:spcAft>
            </a:pPr>
            <a:r>
              <a:rPr sz="1050" b="0" i="0">
                <a:solidFill>
                  <a:srgbClr val="A9B8C9"/>
                </a:solidFill>
                <a:effectLst>
                  <a:glow rad="63500">
                    <a:srgbClr val="001633">
                      <a:alpha val="85000"/>
                    </a:srgbClr>
                  </a:glow>
                </a:effectLst>
                <a:latin typeface="Montserrat"/>
              </a:rPr>
              <a:t>Se podría hacer, pero hoy nadie lo necesita</a:t>
            </a:r>
          </a:p>
        </p:txBody>
      </p:sp>
      <p:cxnSp>
        <p:nvCxnSpPr>
          <p:cNvPr id="26" name="Raya ejemplo"/>
          <p:cNvCxnSpPr/>
          <p:nvPr/>
        </p:nvCxnSpPr>
        <p:spPr>
          <a:xfrm>
            <a:off x="7306056" y="4727448"/>
            <a:ext cx="32004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306056" y="4773168"/>
            <a:ext cx="2194560" cy="274320"/>
          </a:xfrm>
          <a:prstGeom prst="rect">
            <a:avLst/>
          </a:prstGeom>
          <a:noFill/>
        </p:spPr>
        <p:txBody>
          <a:bodyPr wrap="square" lIns="0" tIns="0" rIns="0" bIns="0" anchor="t">
            <a:spAutoFit/>
          </a:bodyPr>
          <a:lstStyle/>
          <a:p>
            <a:pPr algn="l">
              <a:spcAft>
                <a:spcPts val="600"/>
              </a:spcAft>
            </a:pPr>
            <a:r>
              <a:rPr sz="1050" b="1" i="0">
                <a:solidFill>
                  <a:srgbClr val="FFAB40"/>
                </a:solidFill>
                <a:effectLst>
                  <a:glow rad="63500">
                    <a:srgbClr val="001633">
                      <a:alpha val="85000"/>
                    </a:srgbClr>
                  </a:glow>
                </a:effectLst>
                <a:latin typeface="Montserrat"/>
              </a:rPr>
              <a:t>Ej.: </a:t>
            </a:r>
            <a:r>
              <a:rPr sz="1050" b="0" i="0">
                <a:solidFill>
                  <a:srgbClr val="FFFFFF"/>
                </a:solidFill>
                <a:effectLst>
                  <a:glow rad="63500">
                    <a:srgbClr val="001633">
                      <a:alpha val="85000"/>
                    </a:srgbClr>
                  </a:glow>
                </a:effectLst>
                <a:latin typeface="Montserrat"/>
              </a:rPr>
              <a:t>Chancado ya estable</a:t>
            </a:r>
          </a:p>
        </p:txBody>
      </p:sp>
      <p:sp>
        <p:nvSpPr>
          <p:cNvPr id="28" name="Cuadrante Piloto permanente"/>
          <p:cNvSpPr/>
          <p:nvPr/>
        </p:nvSpPr>
        <p:spPr>
          <a:xfrm>
            <a:off x="2852928" y="3922776"/>
            <a:ext cx="4160520" cy="12344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3035808" y="4032504"/>
            <a:ext cx="3794760" cy="292608"/>
          </a:xfrm>
          <a:prstGeom prst="rect">
            <a:avLst/>
          </a:prstGeom>
          <a:noFill/>
        </p:spPr>
        <p:txBody>
          <a:bodyPr wrap="square" lIns="0" tIns="0" rIns="0" bIns="0" anchor="t">
            <a:spAutoFit/>
          </a:bodyPr>
          <a:lstStyle/>
          <a:p>
            <a:pPr algn="l">
              <a:spcAft>
                <a:spcPts val="600"/>
              </a:spcAft>
            </a:pPr>
            <a:r>
              <a:rPr sz="1400" b="1" i="0">
                <a:solidFill>
                  <a:srgbClr val="FFFFFF"/>
                </a:solidFill>
                <a:effectLst>
                  <a:glow rad="63500">
                    <a:srgbClr val="001633">
                      <a:alpha val="85000"/>
                    </a:srgbClr>
                  </a:glow>
                </a:effectLst>
                <a:latin typeface="Montserrat"/>
              </a:rPr>
              <a:t>Piloto permanente</a:t>
            </a:r>
          </a:p>
        </p:txBody>
      </p:sp>
      <p:sp>
        <p:nvSpPr>
          <p:cNvPr id="30" name="Veredicto Piloto permanente"/>
          <p:cNvSpPr/>
          <p:nvPr/>
        </p:nvSpPr>
        <p:spPr>
          <a:xfrm>
            <a:off x="5321808" y="4773168"/>
            <a:ext cx="1554480" cy="2743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5321808" y="4773168"/>
            <a:ext cx="1554480" cy="274320"/>
          </a:xfrm>
          <a:prstGeom prst="rect">
            <a:avLst/>
          </a:prstGeom>
          <a:noFill/>
        </p:spPr>
        <p:txBody>
          <a:bodyPr wrap="square" lIns="0" tIns="0" rIns="0" bIns="0" anchor="ctr">
            <a:spAutoFit/>
          </a:bodyPr>
          <a:lstStyle/>
          <a:p>
            <a:pPr algn="ctr">
              <a:spcAft>
                <a:spcPts val="600"/>
              </a:spcAft>
            </a:pPr>
            <a:r>
              <a:rPr sz="900" b="1" i="0">
                <a:solidFill>
                  <a:srgbClr val="FFFFFF"/>
                </a:solidFill>
                <a:effectLst>
                  <a:glow rad="63500">
                    <a:srgbClr val="001633">
                      <a:alpha val="85000"/>
                    </a:srgbClr>
                  </a:glow>
                </a:effectLst>
                <a:latin typeface="Montserrat"/>
              </a:rPr>
              <a:t>Evitar</a:t>
            </a:r>
          </a:p>
        </p:txBody>
      </p:sp>
      <p:sp>
        <p:nvSpPr>
          <p:cNvPr id="32" name="TextBox 31"/>
          <p:cNvSpPr txBox="1"/>
          <p:nvPr/>
        </p:nvSpPr>
        <p:spPr>
          <a:xfrm>
            <a:off x="3035808" y="4361688"/>
            <a:ext cx="3794760" cy="320040"/>
          </a:xfrm>
          <a:prstGeom prst="rect">
            <a:avLst/>
          </a:prstGeom>
          <a:noFill/>
        </p:spPr>
        <p:txBody>
          <a:bodyPr wrap="square" lIns="0" tIns="0" rIns="0" bIns="0" anchor="t">
            <a:spAutoFit/>
          </a:bodyPr>
          <a:lstStyle/>
          <a:p>
            <a:pPr algn="l">
              <a:spcAft>
                <a:spcPts val="600"/>
              </a:spcAft>
            </a:pPr>
            <a:r>
              <a:rPr sz="1050" b="0" i="0">
                <a:solidFill>
                  <a:srgbClr val="A9B8C9"/>
                </a:solidFill>
                <a:effectLst>
                  <a:glow rad="63500">
                    <a:srgbClr val="001633">
                      <a:alpha val="85000"/>
                    </a:srgbClr>
                  </a:glow>
                </a:effectLst>
                <a:latin typeface="Montserrat"/>
              </a:rPr>
              <a:t>Ni urge ni encaja: se queda en demostración</a:t>
            </a:r>
          </a:p>
        </p:txBody>
      </p:sp>
      <p:cxnSp>
        <p:nvCxnSpPr>
          <p:cNvPr id="33" name="Raya ejemplo"/>
          <p:cNvCxnSpPr/>
          <p:nvPr/>
        </p:nvCxnSpPr>
        <p:spPr>
          <a:xfrm>
            <a:off x="3035808" y="4727448"/>
            <a:ext cx="32004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3035808" y="4773168"/>
            <a:ext cx="2194560" cy="274320"/>
          </a:xfrm>
          <a:prstGeom prst="rect">
            <a:avLst/>
          </a:prstGeom>
          <a:noFill/>
        </p:spPr>
        <p:txBody>
          <a:bodyPr wrap="square" lIns="0" tIns="0" rIns="0" bIns="0" anchor="t">
            <a:spAutoFit/>
          </a:bodyPr>
          <a:lstStyle/>
          <a:p>
            <a:pPr algn="l">
              <a:spcAft>
                <a:spcPts val="600"/>
              </a:spcAft>
            </a:pPr>
            <a:r>
              <a:rPr sz="1050" b="1" i="0">
                <a:solidFill>
                  <a:srgbClr val="FFAB40"/>
                </a:solidFill>
                <a:effectLst>
                  <a:glow rad="63500">
                    <a:srgbClr val="001633">
                      <a:alpha val="85000"/>
                    </a:srgbClr>
                  </a:glow>
                </a:effectLst>
                <a:latin typeface="Montserrat"/>
              </a:rPr>
              <a:t>Ej.: </a:t>
            </a:r>
            <a:r>
              <a:rPr sz="1050" b="0" i="0">
                <a:solidFill>
                  <a:srgbClr val="FFFFFF"/>
                </a:solidFill>
                <a:effectLst>
                  <a:glow rad="63500">
                    <a:srgbClr val="001633">
                      <a:alpha val="85000"/>
                    </a:srgbClr>
                  </a:glow>
                </a:effectLst>
                <a:latin typeface="Montserrat"/>
              </a:rPr>
              <a:t>3D de toda la mina</a:t>
            </a:r>
          </a:p>
        </p:txBody>
      </p:sp>
      <p:cxnSp>
        <p:nvCxnSpPr>
          <p:cNvPr id="35" name="Eje urgencia"/>
          <p:cNvCxnSpPr/>
          <p:nvPr/>
        </p:nvCxnSpPr>
        <p:spPr>
          <a:xfrm flipV="1">
            <a:off x="2688336" y="2578608"/>
            <a:ext cx="0" cy="2578608"/>
          </a:xfrm>
          <a:prstGeom prst="line">
            <a:avLst/>
          </a:prstGeom>
          <a:ln w="19050">
            <a:solidFill>
              <a:srgbClr val="A9B8C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932688" y="2670048"/>
            <a:ext cx="1600200" cy="822960"/>
          </a:xfrm>
          <a:prstGeom prst="rect">
            <a:avLst/>
          </a:prstGeom>
          <a:noFill/>
        </p:spPr>
        <p:txBody>
          <a:bodyPr wrap="square" lIns="0" tIns="0" rIns="0" bIns="0" anchor="t">
            <a:spAutoFit/>
          </a:bodyPr>
          <a:lstStyle/>
          <a:p>
            <a:pPr algn="r">
              <a:spcAft>
                <a:spcPts val="100"/>
              </a:spcAft>
            </a:pPr>
            <a:r>
              <a:rPr sz="1100" b="1" i="0">
                <a:solidFill>
                  <a:srgbClr val="FFAB40"/>
                </a:solidFill>
                <a:effectLst>
                  <a:glow rad="63500">
                    <a:srgbClr val="001633">
                      <a:alpha val="85000"/>
                    </a:srgbClr>
                  </a:glow>
                </a:effectLst>
                <a:latin typeface="Montserrat"/>
              </a:rPr>
              <a:t>¿Duele no tenerlo?</a:t>
            </a:r>
          </a:p>
          <a:p>
            <a:pPr algn="r">
              <a:spcAft>
                <a:spcPts val="100"/>
              </a:spcAft>
            </a:pPr>
            <a:r>
              <a:rPr sz="850" b="0" i="0">
                <a:solidFill>
                  <a:srgbClr val="A9B8C9"/>
                </a:solidFill>
                <a:effectLst>
                  <a:glow rad="63500">
                    <a:srgbClr val="001633">
                      <a:alpha val="85000"/>
                    </a:srgbClr>
                  </a:glow>
                </a:effectLst>
                <a:latin typeface="Montserrat"/>
              </a:rPr>
              <a:t>urgencia: error caro o plazos apretados</a:t>
            </a:r>
          </a:p>
        </p:txBody>
      </p:sp>
      <p:sp>
        <p:nvSpPr>
          <p:cNvPr id="37" name="TextBox 36"/>
          <p:cNvSpPr txBox="1"/>
          <p:nvPr/>
        </p:nvSpPr>
        <p:spPr>
          <a:xfrm>
            <a:off x="1115568" y="4288536"/>
            <a:ext cx="1325880" cy="365760"/>
          </a:xfrm>
          <a:prstGeom prst="rect">
            <a:avLst/>
          </a:prstGeom>
          <a:noFill/>
        </p:spPr>
        <p:txBody>
          <a:bodyPr wrap="square" lIns="0" tIns="0" rIns="0" bIns="0" anchor="t">
            <a:spAutoFit/>
          </a:bodyPr>
          <a:lstStyle/>
          <a:p>
            <a:pPr algn="r">
              <a:spcAft>
                <a:spcPts val="600"/>
              </a:spcAft>
            </a:pPr>
            <a:r>
              <a:rPr sz="900" b="0" i="0">
                <a:solidFill>
                  <a:srgbClr val="A9B8C9"/>
                </a:solidFill>
                <a:effectLst>
                  <a:glow rad="63500">
                    <a:srgbClr val="001633">
                      <a:alpha val="85000"/>
                    </a:srgbClr>
                  </a:glow>
                </a:effectLst>
                <a:latin typeface="Montserrat"/>
              </a:rPr>
              <a:t>no duele</a:t>
            </a:r>
          </a:p>
        </p:txBody>
      </p:sp>
      <p:cxnSp>
        <p:nvCxnSpPr>
          <p:cNvPr id="38" name="Eje encaje"/>
          <p:cNvCxnSpPr/>
          <p:nvPr/>
        </p:nvCxnSpPr>
        <p:spPr>
          <a:xfrm>
            <a:off x="2852928" y="5294376"/>
            <a:ext cx="8430768" cy="0"/>
          </a:xfrm>
          <a:prstGeom prst="line">
            <a:avLst/>
          </a:prstGeom>
          <a:ln w="19050">
            <a:solidFill>
              <a:srgbClr val="A9B8C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852928" y="5340096"/>
            <a:ext cx="4160520" cy="274320"/>
          </a:xfrm>
          <a:prstGeom prst="rect">
            <a:avLst/>
          </a:prstGeom>
          <a:noFill/>
        </p:spPr>
        <p:txBody>
          <a:bodyPr wrap="square" lIns="0" tIns="0" rIns="0" bIns="0" anchor="t">
            <a:spAutoFit/>
          </a:bodyPr>
          <a:lstStyle/>
          <a:p>
            <a:pPr algn="l">
              <a:spcAft>
                <a:spcPts val="600"/>
              </a:spcAft>
            </a:pPr>
            <a:r>
              <a:rPr sz="900" b="0" i="0">
                <a:solidFill>
                  <a:srgbClr val="A9B8C9"/>
                </a:solidFill>
                <a:effectLst>
                  <a:glow rad="63500">
                    <a:srgbClr val="001633">
                      <a:alpha val="85000"/>
                    </a:srgbClr>
                  </a:glow>
                </a:effectLst>
                <a:latin typeface="Montserrat"/>
              </a:rPr>
              <a:t>no se presta</a:t>
            </a:r>
          </a:p>
        </p:txBody>
      </p:sp>
      <p:sp>
        <p:nvSpPr>
          <p:cNvPr id="40" name="TextBox 39"/>
          <p:cNvSpPr txBox="1"/>
          <p:nvPr/>
        </p:nvSpPr>
        <p:spPr>
          <a:xfrm>
            <a:off x="7123176" y="5340096"/>
            <a:ext cx="4160520" cy="457200"/>
          </a:xfrm>
          <a:prstGeom prst="rect">
            <a:avLst/>
          </a:prstGeom>
          <a:noFill/>
        </p:spPr>
        <p:txBody>
          <a:bodyPr wrap="square" lIns="0" tIns="0" rIns="0" bIns="0" anchor="t">
            <a:spAutoFit/>
          </a:bodyPr>
          <a:lstStyle/>
          <a:p>
            <a:pPr algn="r">
              <a:spcAft>
                <a:spcPts val="0"/>
              </a:spcAft>
            </a:pPr>
            <a:r>
              <a:rPr sz="1100" b="1" i="0">
                <a:solidFill>
                  <a:srgbClr val="FFAB40"/>
                </a:solidFill>
                <a:effectLst>
                  <a:glow rad="63500">
                    <a:srgbClr val="001633">
                      <a:alpha val="85000"/>
                    </a:srgbClr>
                  </a:glow>
                </a:effectLst>
                <a:latin typeface="Montserrat"/>
              </a:rPr>
              <a:t>¿Se presta para un gemelo?</a:t>
            </a:r>
          </a:p>
          <a:p>
            <a:pPr algn="r">
              <a:spcAft>
                <a:spcPts val="0"/>
              </a:spcAft>
            </a:pPr>
            <a:r>
              <a:rPr sz="850" b="0" i="0">
                <a:solidFill>
                  <a:srgbClr val="A9B8C9"/>
                </a:solidFill>
                <a:effectLst>
                  <a:glow rad="63500">
                    <a:srgbClr val="001633">
                      <a:alpha val="85000"/>
                    </a:srgbClr>
                  </a:glow>
                </a:effectLst>
                <a:latin typeface="Montserrat"/>
              </a:rPr>
              <a:t>encaje: hay datos, se repite y simular evita pruebas reales</a:t>
            </a:r>
          </a:p>
        </p:txBody>
      </p:sp>
      <p:sp>
        <p:nvSpPr>
          <p:cNvPr id="41"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Urgencia × encaje y «empezar por la decisión»: IoT Analytics (2026) [1] · ejemplos mineros: elaboración propia</a:t>
            </a:r>
          </a:p>
        </p:txBody>
      </p:sp>
      <p:sp>
        <p:nvSpPr>
          <p:cNvPr id="42"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 · Fundamentos</a:t>
            </a:r>
          </a:p>
        </p:txBody>
      </p:sp>
      <p:sp>
        <p:nvSpPr>
          <p:cNvPr id="43"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Avance I actual"/>
          <p:cNvSpPr/>
          <p:nvPr/>
        </p:nvSpPr>
        <p:spPr>
          <a:xfrm>
            <a:off x="1252728" y="6510528"/>
            <a:ext cx="118872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 · Industria</a:t>
            </a:r>
          </a:p>
        </p:txBody>
      </p:sp>
      <p:sp>
        <p:nvSpPr>
          <p:cNvPr id="46"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III · Construcción</a:t>
            </a:r>
          </a:p>
        </p:txBody>
      </p:sp>
      <p:sp>
        <p:nvSpPr>
          <p:cNvPr id="48"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50"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8/12 </a:t>
            </a:r>
            <a:r>
              <a:rPr sz="1000" b="0" i="0">
                <a:solidFill>
                  <a:srgbClr val="A9B8C9"/>
                </a:solidFill>
                <a:effectLst>
                  <a:glow rad="63500">
                    <a:srgbClr val="001633">
                      <a:alpha val="85000"/>
                    </a:srgbClr>
                  </a:glow>
                </a:effectLst>
                <a:latin typeface="Montserrat"/>
              </a:rPr>
              <a:t>· Gemelos Digitales para Minería 4.0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Lo difícil no es construir el modelo: es que siga siendo confiable</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 · FUNDAMENTOS — DESAFÍOS</a:t>
            </a:r>
          </a:p>
        </p:txBody>
      </p:sp>
      <p:sp>
        <p:nvSpPr>
          <p:cNvPr id="6" name="TextBox 5"/>
          <p:cNvSpPr txBox="1"/>
          <p:nvPr/>
        </p:nvSpPr>
        <p:spPr>
          <a:xfrm>
            <a:off x="1252728" y="1801367"/>
            <a:ext cx="5486400" cy="50292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La faena cambia: el mineral, el desgaste y los equipos. Si el gemelo no se recalibra, se aleja de la realidad sin avisar.</a:t>
            </a:r>
          </a:p>
        </p:txBody>
      </p:sp>
      <p:sp>
        <p:nvSpPr>
          <p:cNvPr id="7" name="Área gráfico"/>
          <p:cNvSpPr/>
          <p:nvPr/>
        </p:nvSpPr>
        <p:spPr>
          <a:xfrm>
            <a:off x="1527048" y="2606040"/>
            <a:ext cx="5029200" cy="246888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Error"/>
          <p:cNvSpPr/>
          <p:nvPr/>
        </p:nvSpPr>
        <p:spPr>
          <a:xfrm>
            <a:off x="1527048" y="3247948"/>
            <a:ext cx="2112264" cy="592532"/>
          </a:xfrm>
          <a:custGeom>
            <a:avLst/>
            <a:gdLst/>
            <a:ahLst/>
            <a:cxnLst/>
            <a:rect l="l" t="t" r="r" b="b"/>
            <a:pathLst>
              <a:path w="2112264" h="592532">
                <a:moveTo>
                  <a:pt x="0" y="592532"/>
                </a:moveTo>
                <a:lnTo>
                  <a:pt x="0" y="592532"/>
                </a:lnTo>
                <a:lnTo>
                  <a:pt x="0" y="592532"/>
                </a:lnTo>
                <a:lnTo>
                  <a:pt x="603504" y="543154"/>
                </a:lnTo>
                <a:lnTo>
                  <a:pt x="1106424" y="444399"/>
                </a:lnTo>
                <a:lnTo>
                  <a:pt x="1508760" y="98756"/>
                </a:lnTo>
                <a:lnTo>
                  <a:pt x="2112264" y="0"/>
                </a:lnTo>
                <a:lnTo>
                  <a:pt x="2112264" y="0"/>
                </a:lnTo>
                <a:lnTo>
                  <a:pt x="2112264" y="592532"/>
                </a:lnTo>
                <a:close/>
              </a:path>
            </a:pathLst>
          </a:custGeom>
          <a:solidFill>
            <a:srgbClr val="FFAB40">
              <a:alpha val="40000"/>
            </a:srgbClr>
          </a:solidFill>
          <a:ln w="3175">
            <a:solidFill>
              <a:srgbClr val="0B2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Error"/>
          <p:cNvSpPr/>
          <p:nvPr/>
        </p:nvSpPr>
        <p:spPr>
          <a:xfrm>
            <a:off x="3639312" y="3247948"/>
            <a:ext cx="2011680" cy="674828"/>
          </a:xfrm>
          <a:custGeom>
            <a:avLst/>
            <a:gdLst/>
            <a:ahLst/>
            <a:cxnLst/>
            <a:rect l="l" t="t" r="r" b="b"/>
            <a:pathLst>
              <a:path w="2011680" h="674828">
                <a:moveTo>
                  <a:pt x="0" y="0"/>
                </a:moveTo>
                <a:lnTo>
                  <a:pt x="0" y="0"/>
                </a:lnTo>
                <a:lnTo>
                  <a:pt x="0" y="0"/>
                </a:lnTo>
                <a:lnTo>
                  <a:pt x="653796" y="49378"/>
                </a:lnTo>
                <a:lnTo>
                  <a:pt x="1156716" y="296266"/>
                </a:lnTo>
                <a:lnTo>
                  <a:pt x="1810512" y="592532"/>
                </a:lnTo>
                <a:lnTo>
                  <a:pt x="2011680" y="674828"/>
                </a:lnTo>
                <a:lnTo>
                  <a:pt x="2011680" y="0"/>
                </a:lnTo>
                <a:close/>
              </a:path>
            </a:pathLst>
          </a:custGeom>
          <a:solidFill>
            <a:srgbClr val="FFAB40">
              <a:alpha val="40000"/>
            </a:srgbClr>
          </a:solidFill>
          <a:ln w="3175">
            <a:solidFill>
              <a:srgbClr val="0B2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Error"/>
          <p:cNvSpPr/>
          <p:nvPr/>
        </p:nvSpPr>
        <p:spPr>
          <a:xfrm>
            <a:off x="5650992" y="3914546"/>
            <a:ext cx="905256" cy="271577"/>
          </a:xfrm>
          <a:custGeom>
            <a:avLst/>
            <a:gdLst/>
            <a:ahLst/>
            <a:cxnLst/>
            <a:rect l="l" t="t" r="r" b="b"/>
            <a:pathLst>
              <a:path w="905256" h="271577">
                <a:moveTo>
                  <a:pt x="0" y="0"/>
                </a:moveTo>
                <a:lnTo>
                  <a:pt x="0" y="8230"/>
                </a:lnTo>
                <a:lnTo>
                  <a:pt x="402336" y="172822"/>
                </a:lnTo>
                <a:lnTo>
                  <a:pt x="905256" y="271577"/>
                </a:lnTo>
                <a:lnTo>
                  <a:pt x="905256" y="271577"/>
                </a:lnTo>
                <a:lnTo>
                  <a:pt x="905256" y="0"/>
                </a:lnTo>
                <a:close/>
              </a:path>
            </a:pathLst>
          </a:custGeom>
          <a:solidFill>
            <a:srgbClr val="FFAB40">
              <a:alpha val="40000"/>
            </a:srgbClr>
          </a:solidFill>
          <a:ln w="3175">
            <a:solidFill>
              <a:srgbClr val="0B2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Planta real"/>
          <p:cNvSpPr/>
          <p:nvPr/>
        </p:nvSpPr>
        <p:spPr>
          <a:xfrm>
            <a:off x="1527048" y="3247948"/>
            <a:ext cx="5029200" cy="938175"/>
          </a:xfrm>
          <a:custGeom>
            <a:avLst/>
            <a:gdLst/>
            <a:ahLst/>
            <a:cxnLst/>
            <a:rect l="l" t="t" r="r" b="b"/>
            <a:pathLst>
              <a:path w="5029200" h="938175">
                <a:moveTo>
                  <a:pt x="0" y="592532"/>
                </a:moveTo>
                <a:lnTo>
                  <a:pt x="603504" y="543154"/>
                </a:lnTo>
                <a:lnTo>
                  <a:pt x="1106424" y="444399"/>
                </a:lnTo>
                <a:lnTo>
                  <a:pt x="1508760" y="98756"/>
                </a:lnTo>
                <a:lnTo>
                  <a:pt x="2112264" y="0"/>
                </a:lnTo>
                <a:lnTo>
                  <a:pt x="2766060" y="49378"/>
                </a:lnTo>
                <a:lnTo>
                  <a:pt x="3268980" y="296266"/>
                </a:lnTo>
                <a:lnTo>
                  <a:pt x="3922776" y="592532"/>
                </a:lnTo>
                <a:lnTo>
                  <a:pt x="4526280" y="839420"/>
                </a:lnTo>
                <a:lnTo>
                  <a:pt x="5029200" y="938175"/>
                </a:lnTo>
              </a:path>
            </a:pathLst>
          </a:cu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emelo tramo 1"/>
          <p:cNvSpPr/>
          <p:nvPr/>
        </p:nvSpPr>
        <p:spPr>
          <a:xfrm>
            <a:off x="1527048" y="3840480"/>
            <a:ext cx="2112264" cy="0"/>
          </a:xfrm>
          <a:custGeom>
            <a:avLst/>
            <a:gdLst/>
            <a:ahLst/>
            <a:cxnLst/>
            <a:rect l="l" t="t" r="r" b="b"/>
            <a:pathLst>
              <a:path w="2112264">
                <a:moveTo>
                  <a:pt x="0" y="0"/>
                </a:moveTo>
                <a:lnTo>
                  <a:pt x="2112264" y="0"/>
                </a:lnTo>
              </a:path>
            </a:pathLst>
          </a:custGeom>
          <a:noFill/>
          <a:ln w="31750">
            <a:solidFill>
              <a:srgbClr val="FFAB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emelo tramo 2"/>
          <p:cNvSpPr/>
          <p:nvPr/>
        </p:nvSpPr>
        <p:spPr>
          <a:xfrm>
            <a:off x="3639312" y="3247948"/>
            <a:ext cx="2011680" cy="0"/>
          </a:xfrm>
          <a:custGeom>
            <a:avLst/>
            <a:gdLst/>
            <a:ahLst/>
            <a:cxnLst/>
            <a:rect l="l" t="t" r="r" b="b"/>
            <a:pathLst>
              <a:path w="2011680">
                <a:moveTo>
                  <a:pt x="0" y="0"/>
                </a:moveTo>
                <a:lnTo>
                  <a:pt x="2011680" y="0"/>
                </a:lnTo>
              </a:path>
            </a:pathLst>
          </a:custGeom>
          <a:noFill/>
          <a:ln w="31750">
            <a:solidFill>
              <a:srgbClr val="FFAB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Gemelo tramo 3"/>
          <p:cNvSpPr/>
          <p:nvPr/>
        </p:nvSpPr>
        <p:spPr>
          <a:xfrm>
            <a:off x="5650992" y="3914546"/>
            <a:ext cx="905256" cy="0"/>
          </a:xfrm>
          <a:custGeom>
            <a:avLst/>
            <a:gdLst/>
            <a:ahLst/>
            <a:cxnLst/>
            <a:rect l="l" t="t" r="r" b="b"/>
            <a:pathLst>
              <a:path w="905256">
                <a:moveTo>
                  <a:pt x="0" y="0"/>
                </a:moveTo>
                <a:lnTo>
                  <a:pt x="905256" y="0"/>
                </a:lnTo>
              </a:path>
            </a:pathLst>
          </a:custGeom>
          <a:noFill/>
          <a:ln w="31750">
            <a:solidFill>
              <a:srgbClr val="FFAB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Recalibración"/>
          <p:cNvCxnSpPr/>
          <p:nvPr/>
        </p:nvCxnSpPr>
        <p:spPr>
          <a:xfrm>
            <a:off x="3639312" y="2606040"/>
            <a:ext cx="0" cy="2468880"/>
          </a:xfrm>
          <a:prstGeom prst="line">
            <a:avLst/>
          </a:prstGeom>
          <a:ln w="12700">
            <a:solidFill>
              <a:srgbClr val="85D5E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090672" y="5111496"/>
            <a:ext cx="1097280" cy="201168"/>
          </a:xfrm>
          <a:prstGeom prst="rect">
            <a:avLst/>
          </a:prstGeom>
          <a:noFill/>
        </p:spPr>
        <p:txBody>
          <a:bodyPr wrap="square" lIns="0" tIns="0" rIns="0" bIns="0" anchor="t">
            <a:spAutoFit/>
          </a:bodyPr>
          <a:lstStyle/>
          <a:p>
            <a:pPr algn="ctr">
              <a:spcAft>
                <a:spcPts val="600"/>
              </a:spcAft>
            </a:pPr>
            <a:r>
              <a:rPr sz="850" b="1" i="0">
                <a:solidFill>
                  <a:srgbClr val="85D5E6"/>
                </a:solidFill>
                <a:effectLst>
                  <a:glow rad="63500">
                    <a:srgbClr val="001633">
                      <a:alpha val="85000"/>
                    </a:srgbClr>
                  </a:glow>
                </a:effectLst>
                <a:latin typeface="Montserrat"/>
              </a:rPr>
              <a:t>recalibración</a:t>
            </a:r>
          </a:p>
        </p:txBody>
      </p:sp>
      <p:cxnSp>
        <p:nvCxnSpPr>
          <p:cNvPr id="17" name="Recalibración"/>
          <p:cNvCxnSpPr/>
          <p:nvPr/>
        </p:nvCxnSpPr>
        <p:spPr>
          <a:xfrm>
            <a:off x="5650992" y="2606040"/>
            <a:ext cx="0" cy="2468880"/>
          </a:xfrm>
          <a:prstGeom prst="line">
            <a:avLst/>
          </a:prstGeom>
          <a:ln w="12700">
            <a:solidFill>
              <a:srgbClr val="85D5E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102352" y="5111496"/>
            <a:ext cx="1097280" cy="201168"/>
          </a:xfrm>
          <a:prstGeom prst="rect">
            <a:avLst/>
          </a:prstGeom>
          <a:noFill/>
        </p:spPr>
        <p:txBody>
          <a:bodyPr wrap="square" lIns="0" tIns="0" rIns="0" bIns="0" anchor="t">
            <a:spAutoFit/>
          </a:bodyPr>
          <a:lstStyle/>
          <a:p>
            <a:pPr algn="ctr">
              <a:spcAft>
                <a:spcPts val="600"/>
              </a:spcAft>
            </a:pPr>
            <a:r>
              <a:rPr sz="850" b="1" i="0">
                <a:solidFill>
                  <a:srgbClr val="85D5E6"/>
                </a:solidFill>
                <a:effectLst>
                  <a:glow rad="63500">
                    <a:srgbClr val="001633">
                      <a:alpha val="85000"/>
                    </a:srgbClr>
                  </a:glow>
                </a:effectLst>
                <a:latin typeface="Montserrat"/>
              </a:rPr>
              <a:t>recalibración</a:t>
            </a:r>
          </a:p>
        </p:txBody>
      </p:sp>
      <p:sp>
        <p:nvSpPr>
          <p:cNvPr id="19" name="TextBox 18"/>
          <p:cNvSpPr txBox="1"/>
          <p:nvPr/>
        </p:nvSpPr>
        <p:spPr>
          <a:xfrm>
            <a:off x="1421892" y="3143707"/>
            <a:ext cx="1417320" cy="219456"/>
          </a:xfrm>
          <a:prstGeom prst="rect">
            <a:avLst/>
          </a:prstGeom>
          <a:noFill/>
        </p:spPr>
        <p:txBody>
          <a:bodyPr wrap="square" lIns="0" tIns="0" rIns="0" bIns="0" anchor="t">
            <a:spAutoFit/>
          </a:bodyPr>
          <a:lstStyle/>
          <a:p>
            <a:pPr algn="r">
              <a:spcAft>
                <a:spcPts val="600"/>
              </a:spcAft>
            </a:pPr>
            <a:r>
              <a:rPr sz="850" b="0" i="0">
                <a:solidFill>
                  <a:srgbClr val="FFFFFF"/>
                </a:solidFill>
                <a:effectLst>
                  <a:glow rad="63500">
                    <a:srgbClr val="001633">
                      <a:alpha val="85000"/>
                    </a:srgbClr>
                  </a:glow>
                </a:effectLst>
                <a:latin typeface="Montserrat"/>
              </a:rPr>
              <a:t>cambia el mineral ▸</a:t>
            </a:r>
          </a:p>
        </p:txBody>
      </p:sp>
      <p:sp>
        <p:nvSpPr>
          <p:cNvPr id="20" name="TextBox 19"/>
          <p:cNvSpPr txBox="1"/>
          <p:nvPr/>
        </p:nvSpPr>
        <p:spPr>
          <a:xfrm>
            <a:off x="3986784" y="4037990"/>
            <a:ext cx="1828800" cy="219456"/>
          </a:xfrm>
          <a:prstGeom prst="rect">
            <a:avLst/>
          </a:prstGeom>
          <a:noFill/>
        </p:spPr>
        <p:txBody>
          <a:bodyPr wrap="square" lIns="0" tIns="0" rIns="0" bIns="0" anchor="t">
            <a:spAutoFit/>
          </a:bodyPr>
          <a:lstStyle/>
          <a:p>
            <a:pPr algn="l">
              <a:spcAft>
                <a:spcPts val="600"/>
              </a:spcAft>
            </a:pPr>
            <a:r>
              <a:rPr sz="850" b="0" i="0">
                <a:solidFill>
                  <a:srgbClr val="FFFFFF"/>
                </a:solidFill>
                <a:effectLst>
                  <a:glow rad="63500">
                    <a:srgbClr val="001633">
                      <a:alpha val="85000"/>
                    </a:srgbClr>
                  </a:glow>
                </a:effectLst>
                <a:latin typeface="Montserrat"/>
              </a:rPr>
              <a:t>se gastan los revestimientos ▸</a:t>
            </a:r>
          </a:p>
        </p:txBody>
      </p:sp>
      <p:sp>
        <p:nvSpPr>
          <p:cNvPr id="21" name="TextBox 20"/>
          <p:cNvSpPr txBox="1"/>
          <p:nvPr/>
        </p:nvSpPr>
        <p:spPr>
          <a:xfrm>
            <a:off x="1618488" y="2679192"/>
            <a:ext cx="2377440" cy="365760"/>
          </a:xfrm>
          <a:prstGeom prst="rect">
            <a:avLst/>
          </a:prstGeom>
          <a:noFill/>
        </p:spPr>
        <p:txBody>
          <a:bodyPr wrap="square" lIns="0" tIns="0" rIns="0" bIns="0" anchor="t">
            <a:spAutoFit/>
          </a:bodyPr>
          <a:lstStyle/>
          <a:p>
            <a:pPr algn="l">
              <a:spcAft>
                <a:spcPts val="600"/>
              </a:spcAft>
            </a:pPr>
            <a:r>
              <a:rPr sz="1000" b="1" i="0">
                <a:solidFill>
                  <a:srgbClr val="FFFFFF"/>
                </a:solidFill>
                <a:effectLst>
                  <a:glow rad="63500">
                    <a:srgbClr val="001633">
                      <a:alpha val="85000"/>
                    </a:srgbClr>
                  </a:glow>
                </a:effectLst>
                <a:latin typeface="Montserrat"/>
              </a:rPr>
              <a:t>━ </a:t>
            </a:r>
            <a:r>
              <a:rPr sz="900" b="0" i="0">
                <a:solidFill>
                  <a:srgbClr val="FFFFFF"/>
                </a:solidFill>
                <a:effectLst>
                  <a:glow rad="63500">
                    <a:srgbClr val="001633">
                      <a:alpha val="85000"/>
                    </a:srgbClr>
                  </a:glow>
                </a:effectLst>
                <a:latin typeface="Montserrat"/>
              </a:rPr>
              <a:t>planta real   </a:t>
            </a:r>
            <a:r>
              <a:rPr sz="1000" b="1" i="0">
                <a:solidFill>
                  <a:srgbClr val="FFAB40"/>
                </a:solidFill>
                <a:effectLst>
                  <a:glow rad="63500">
                    <a:srgbClr val="001633">
                      <a:alpha val="85000"/>
                    </a:srgbClr>
                  </a:glow>
                </a:effectLst>
                <a:latin typeface="Montserrat"/>
              </a:rPr>
              <a:t>┅ </a:t>
            </a:r>
            <a:r>
              <a:rPr sz="900" b="0" i="0">
                <a:solidFill>
                  <a:srgbClr val="FFAB40"/>
                </a:solidFill>
                <a:effectLst>
                  <a:glow rad="63500">
                    <a:srgbClr val="001633">
                      <a:alpha val="85000"/>
                    </a:srgbClr>
                  </a:glow>
                </a:effectLst>
                <a:latin typeface="Montserrat"/>
              </a:rPr>
              <a:t>gemelo</a:t>
            </a:r>
          </a:p>
        </p:txBody>
      </p:sp>
      <p:sp>
        <p:nvSpPr>
          <p:cNvPr id="22" name="TextBox 21"/>
          <p:cNvSpPr txBox="1"/>
          <p:nvPr/>
        </p:nvSpPr>
        <p:spPr>
          <a:xfrm>
            <a:off x="1527048" y="5349240"/>
            <a:ext cx="5029200" cy="274320"/>
          </a:xfrm>
          <a:prstGeom prst="rect">
            <a:avLst/>
          </a:prstGeom>
          <a:noFill/>
        </p:spPr>
        <p:txBody>
          <a:bodyPr wrap="square" lIns="0" tIns="0" rIns="0" bIns="0" anchor="t">
            <a:spAutoFit/>
          </a:bodyPr>
          <a:lstStyle/>
          <a:p>
            <a:pPr algn="l">
              <a:spcAft>
                <a:spcPts val="600"/>
              </a:spcAft>
            </a:pPr>
            <a:r>
              <a:rPr sz="850" b="0" i="0">
                <a:solidFill>
                  <a:srgbClr val="A9B8C9"/>
                </a:solidFill>
                <a:effectLst>
                  <a:glow rad="63500">
                    <a:srgbClr val="001633">
                      <a:alpha val="85000"/>
                    </a:srgbClr>
                  </a:glow>
                </a:effectLst>
                <a:latin typeface="Montserrat"/>
              </a:rPr>
              <a:t>rendimiento de molienda en el tiempo · </a:t>
            </a:r>
            <a:r>
              <a:rPr sz="850" b="1" i="0">
                <a:solidFill>
                  <a:srgbClr val="FFAB40"/>
                </a:solidFill>
                <a:effectLst>
                  <a:glow rad="63500">
                    <a:srgbClr val="001633">
                      <a:alpha val="85000"/>
                    </a:srgbClr>
                  </a:glow>
                </a:effectLst>
                <a:latin typeface="Montserrat"/>
              </a:rPr>
              <a:t>zona naranja: error que crece en silencio</a:t>
            </a:r>
          </a:p>
        </p:txBody>
      </p:sp>
      <p:sp>
        <p:nvSpPr>
          <p:cNvPr id="23" name="TextBox 22"/>
          <p:cNvSpPr txBox="1"/>
          <p:nvPr/>
        </p:nvSpPr>
        <p:spPr>
          <a:xfrm>
            <a:off x="7086600" y="2331720"/>
            <a:ext cx="4178808" cy="274320"/>
          </a:xfrm>
          <a:prstGeom prst="rect">
            <a:avLst/>
          </a:prstGeom>
          <a:noFill/>
        </p:spPr>
        <p:txBody>
          <a:bodyPr wrap="square" lIns="0" tIns="0" rIns="0" bIns="0" anchor="t">
            <a:spAutoFit/>
          </a:bodyPr>
          <a:lstStyle/>
          <a:p>
            <a:pPr algn="l">
              <a:spcAft>
                <a:spcPts val="600"/>
              </a:spcAft>
            </a:pPr>
            <a:r>
              <a:rPr sz="900" b="1" i="0">
                <a:solidFill>
                  <a:srgbClr val="A9B8C9"/>
                </a:solidFill>
                <a:effectLst>
                  <a:glow rad="63500">
                    <a:srgbClr val="001633">
                      <a:alpha val="85000"/>
                    </a:srgbClr>
                  </a:glow>
                </a:effectLst>
                <a:latin typeface="Montserrat"/>
              </a:rPr>
              <a:t>POR QUÉ UN GEMELO DEJA DE SER CONFIABLE</a:t>
            </a:r>
          </a:p>
        </p:txBody>
      </p:sp>
      <p:pic>
        <p:nvPicPr>
          <p:cNvPr id="24" name="Ícono refresh-cw" descr="refresh-cw-orange.png"/>
          <p:cNvPicPr>
            <a:picLocks noChangeAspect="1"/>
          </p:cNvPicPr>
          <p:nvPr/>
        </p:nvPicPr>
        <p:blipFill>
          <a:blip r:embed="rId3"/>
          <a:stretch>
            <a:fillRect/>
          </a:stretch>
        </p:blipFill>
        <p:spPr>
          <a:xfrm>
            <a:off x="7086600" y="2688336"/>
            <a:ext cx="274320" cy="274320"/>
          </a:xfrm>
          <a:prstGeom prst="rect">
            <a:avLst/>
          </a:prstGeom>
        </p:spPr>
      </p:pic>
      <p:sp>
        <p:nvSpPr>
          <p:cNvPr id="25" name="TextBox 24"/>
          <p:cNvSpPr txBox="1"/>
          <p:nvPr/>
        </p:nvSpPr>
        <p:spPr>
          <a:xfrm>
            <a:off x="7498080" y="2651760"/>
            <a:ext cx="3767328" cy="603504"/>
          </a:xfrm>
          <a:prstGeom prst="rect">
            <a:avLst/>
          </a:prstGeom>
          <a:noFill/>
        </p:spPr>
        <p:txBody>
          <a:bodyPr wrap="square" lIns="0" tIns="0" rIns="0" bIns="0" anchor="t">
            <a:spAutoFit/>
          </a:bodyPr>
          <a:lstStyle/>
          <a:p>
            <a:pPr algn="l">
              <a:spcAft>
                <a:spcPts val="100"/>
              </a:spcAft>
            </a:pPr>
            <a:r>
              <a:rPr sz="1150" b="1" i="0">
                <a:solidFill>
                  <a:srgbClr val="FFFFFF"/>
                </a:solidFill>
                <a:effectLst>
                  <a:glow rad="63500">
                    <a:srgbClr val="001633">
                      <a:alpha val="85000"/>
                    </a:srgbClr>
                  </a:glow>
                </a:effectLst>
                <a:latin typeface="Montserrat"/>
              </a:rPr>
              <a:t>La faena cambia · </a:t>
            </a:r>
            <a:r>
              <a:rPr sz="950" b="0" i="0">
                <a:solidFill>
                  <a:srgbClr val="A9B8C9"/>
                </a:solidFill>
                <a:effectLst>
                  <a:glow rad="63500">
                    <a:srgbClr val="001633">
                      <a:alpha val="85000"/>
                    </a:srgbClr>
                  </a:glow>
                </a:effectLst>
                <a:latin typeface="Montserrat"/>
              </a:rPr>
              <a:t>mineral, desgaste, equipos nuevos</a:t>
            </a:r>
          </a:p>
          <a:p>
            <a:pPr algn="l">
              <a:spcAft>
                <a:spcPts val="100"/>
              </a:spcAft>
            </a:pPr>
            <a:r>
              <a:rPr sz="950" b="1" i="0">
                <a:solidFill>
                  <a:srgbClr val="FFAB40"/>
                </a:solidFill>
                <a:effectLst>
                  <a:glow rad="63500">
                    <a:srgbClr val="001633">
                      <a:alpha val="85000"/>
                    </a:srgbClr>
                  </a:glow>
                </a:effectLst>
                <a:latin typeface="Montserrat"/>
              </a:rPr>
              <a:t>→ </a:t>
            </a:r>
            <a:r>
              <a:rPr sz="950" b="0" i="0">
                <a:solidFill>
                  <a:srgbClr val="FFAB40"/>
                </a:solidFill>
                <a:effectLst>
                  <a:glow rad="63500">
                    <a:srgbClr val="001633">
                      <a:alpha val="85000"/>
                    </a:srgbClr>
                  </a:glow>
                </a:effectLst>
                <a:latin typeface="Montserrat"/>
              </a:rPr>
              <a:t>recalibrarlo de forma periódica</a:t>
            </a:r>
          </a:p>
        </p:txBody>
      </p:sp>
      <p:pic>
        <p:nvPicPr>
          <p:cNvPr id="26" name="Ícono database" descr="database-orange.png"/>
          <p:cNvPicPr>
            <a:picLocks noChangeAspect="1"/>
          </p:cNvPicPr>
          <p:nvPr/>
        </p:nvPicPr>
        <p:blipFill>
          <a:blip r:embed="rId4"/>
          <a:stretch>
            <a:fillRect/>
          </a:stretch>
        </p:blipFill>
        <p:spPr>
          <a:xfrm>
            <a:off x="7086600" y="3310128"/>
            <a:ext cx="274320" cy="274320"/>
          </a:xfrm>
          <a:prstGeom prst="rect">
            <a:avLst/>
          </a:prstGeom>
        </p:spPr>
      </p:pic>
      <p:sp>
        <p:nvSpPr>
          <p:cNvPr id="27" name="TextBox 26"/>
          <p:cNvSpPr txBox="1"/>
          <p:nvPr/>
        </p:nvSpPr>
        <p:spPr>
          <a:xfrm>
            <a:off x="7498080" y="3273552"/>
            <a:ext cx="3767328" cy="603504"/>
          </a:xfrm>
          <a:prstGeom prst="rect">
            <a:avLst/>
          </a:prstGeom>
          <a:noFill/>
        </p:spPr>
        <p:txBody>
          <a:bodyPr wrap="square" lIns="0" tIns="0" rIns="0" bIns="0" anchor="t">
            <a:spAutoFit/>
          </a:bodyPr>
          <a:lstStyle/>
          <a:p>
            <a:pPr algn="l">
              <a:spcAft>
                <a:spcPts val="100"/>
              </a:spcAft>
            </a:pPr>
            <a:r>
              <a:rPr sz="1150" b="1" i="0">
                <a:solidFill>
                  <a:srgbClr val="FFFFFF"/>
                </a:solidFill>
                <a:effectLst>
                  <a:glow rad="63500">
                    <a:srgbClr val="001633">
                      <a:alpha val="85000"/>
                    </a:srgbClr>
                  </a:glow>
                </a:effectLst>
                <a:latin typeface="Montserrat"/>
              </a:rPr>
              <a:t>Los datos fallan · </a:t>
            </a:r>
            <a:r>
              <a:rPr sz="950" b="0" i="0">
                <a:solidFill>
                  <a:srgbClr val="A9B8C9"/>
                </a:solidFill>
                <a:effectLst>
                  <a:glow rad="63500">
                    <a:srgbClr val="001633">
                      <a:alpha val="85000"/>
                    </a:srgbClr>
                  </a:glow>
                </a:effectLst>
                <a:latin typeface="Montserrat"/>
              </a:rPr>
              <a:t>sensores sucios o descalibrados</a:t>
            </a:r>
          </a:p>
          <a:p>
            <a:pPr algn="l">
              <a:spcAft>
                <a:spcPts val="100"/>
              </a:spcAft>
            </a:pPr>
            <a:r>
              <a:rPr sz="950" b="1" i="0">
                <a:solidFill>
                  <a:srgbClr val="FFAB40"/>
                </a:solidFill>
                <a:effectLst>
                  <a:glow rad="63500">
                    <a:srgbClr val="001633">
                      <a:alpha val="85000"/>
                    </a:srgbClr>
                  </a:glow>
                </a:effectLst>
                <a:latin typeface="Montserrat"/>
              </a:rPr>
              <a:t>→ </a:t>
            </a:r>
            <a:r>
              <a:rPr sz="950" b="0" i="0">
                <a:solidFill>
                  <a:srgbClr val="FFAB40"/>
                </a:solidFill>
                <a:effectLst>
                  <a:glow rad="63500">
                    <a:srgbClr val="001633">
                      <a:alpha val="85000"/>
                    </a:srgbClr>
                  </a:glow>
                </a:effectLst>
                <a:latin typeface="Montserrat"/>
              </a:rPr>
              <a:t>vigilar la calidad del dato</a:t>
            </a:r>
          </a:p>
        </p:txBody>
      </p:sp>
      <p:pic>
        <p:nvPicPr>
          <p:cNvPr id="28" name="Ícono gauge" descr="gauge-orange.png"/>
          <p:cNvPicPr>
            <a:picLocks noChangeAspect="1"/>
          </p:cNvPicPr>
          <p:nvPr/>
        </p:nvPicPr>
        <p:blipFill>
          <a:blip r:embed="rId5"/>
          <a:stretch>
            <a:fillRect/>
          </a:stretch>
        </p:blipFill>
        <p:spPr>
          <a:xfrm>
            <a:off x="7086600" y="3931920"/>
            <a:ext cx="274320" cy="274320"/>
          </a:xfrm>
          <a:prstGeom prst="rect">
            <a:avLst/>
          </a:prstGeom>
        </p:spPr>
      </p:pic>
      <p:sp>
        <p:nvSpPr>
          <p:cNvPr id="29" name="TextBox 28"/>
          <p:cNvSpPr txBox="1"/>
          <p:nvPr/>
        </p:nvSpPr>
        <p:spPr>
          <a:xfrm>
            <a:off x="7498080" y="3895344"/>
            <a:ext cx="3767328" cy="603504"/>
          </a:xfrm>
          <a:prstGeom prst="rect">
            <a:avLst/>
          </a:prstGeom>
          <a:noFill/>
        </p:spPr>
        <p:txBody>
          <a:bodyPr wrap="square" lIns="0" tIns="0" rIns="0" bIns="0" anchor="t">
            <a:spAutoFit/>
          </a:bodyPr>
          <a:lstStyle/>
          <a:p>
            <a:pPr algn="l">
              <a:spcAft>
                <a:spcPts val="100"/>
              </a:spcAft>
            </a:pPr>
            <a:r>
              <a:rPr sz="1150" b="1" i="0">
                <a:solidFill>
                  <a:srgbClr val="FFFFFF"/>
                </a:solidFill>
                <a:effectLst>
                  <a:glow rad="63500">
                    <a:srgbClr val="001633">
                      <a:alpha val="85000"/>
                    </a:srgbClr>
                  </a:glow>
                </a:effectLst>
                <a:latin typeface="Montserrat"/>
              </a:rPr>
              <a:t>No dice cuánto confiar · </a:t>
            </a:r>
            <a:r>
              <a:rPr sz="950" b="0" i="0">
                <a:solidFill>
                  <a:srgbClr val="A9B8C9"/>
                </a:solidFill>
                <a:effectLst>
                  <a:glow rad="63500">
                    <a:srgbClr val="001633">
                      <a:alpha val="85000"/>
                    </a:srgbClr>
                  </a:glow>
                </a:effectLst>
                <a:latin typeface="Montserrat"/>
              </a:rPr>
              <a:t>un número sin margen</a:t>
            </a:r>
          </a:p>
          <a:p>
            <a:pPr algn="l">
              <a:spcAft>
                <a:spcPts val="100"/>
              </a:spcAft>
            </a:pPr>
            <a:r>
              <a:rPr sz="950" b="1" i="0">
                <a:solidFill>
                  <a:srgbClr val="FFAB40"/>
                </a:solidFill>
                <a:effectLst>
                  <a:glow rad="63500">
                    <a:srgbClr val="001633">
                      <a:alpha val="85000"/>
                    </a:srgbClr>
                  </a:glow>
                </a:effectLst>
                <a:latin typeface="Montserrat"/>
              </a:rPr>
              <a:t>→ </a:t>
            </a:r>
            <a:r>
              <a:rPr sz="950" b="0" i="0">
                <a:solidFill>
                  <a:srgbClr val="FFAB40"/>
                </a:solidFill>
                <a:effectLst>
                  <a:glow rad="63500">
                    <a:srgbClr val="001633">
                      <a:alpha val="85000"/>
                    </a:srgbClr>
                  </a:glow>
                </a:effectLst>
                <a:latin typeface="Montserrat"/>
              </a:rPr>
              <a:t>dar rangos, no un valor único</a:t>
            </a:r>
          </a:p>
        </p:txBody>
      </p:sp>
      <p:pic>
        <p:nvPicPr>
          <p:cNvPr id="30" name="Ícono scale" descr="scale-orange.png"/>
          <p:cNvPicPr>
            <a:picLocks noChangeAspect="1"/>
          </p:cNvPicPr>
          <p:nvPr/>
        </p:nvPicPr>
        <p:blipFill>
          <a:blip r:embed="rId6"/>
          <a:stretch>
            <a:fillRect/>
          </a:stretch>
        </p:blipFill>
        <p:spPr>
          <a:xfrm>
            <a:off x="7086600" y="4553712"/>
            <a:ext cx="274320" cy="274320"/>
          </a:xfrm>
          <a:prstGeom prst="rect">
            <a:avLst/>
          </a:prstGeom>
        </p:spPr>
      </p:pic>
      <p:sp>
        <p:nvSpPr>
          <p:cNvPr id="31" name="TextBox 30"/>
          <p:cNvSpPr txBox="1"/>
          <p:nvPr/>
        </p:nvSpPr>
        <p:spPr>
          <a:xfrm>
            <a:off x="7498080" y="4517136"/>
            <a:ext cx="3767328" cy="603504"/>
          </a:xfrm>
          <a:prstGeom prst="rect">
            <a:avLst/>
          </a:prstGeom>
          <a:noFill/>
        </p:spPr>
        <p:txBody>
          <a:bodyPr wrap="square" lIns="0" tIns="0" rIns="0" bIns="0" anchor="t">
            <a:spAutoFit/>
          </a:bodyPr>
          <a:lstStyle/>
          <a:p>
            <a:pPr algn="l">
              <a:spcAft>
                <a:spcPts val="100"/>
              </a:spcAft>
            </a:pPr>
            <a:r>
              <a:rPr sz="1150" b="1" i="0">
                <a:solidFill>
                  <a:srgbClr val="FFFFFF"/>
                </a:solidFill>
                <a:effectLst>
                  <a:glow rad="63500">
                    <a:srgbClr val="001633">
                      <a:alpha val="85000"/>
                    </a:srgbClr>
                  </a:glow>
                </a:effectLst>
                <a:latin typeface="Montserrat"/>
              </a:rPr>
              <a:t>Sobra detalle · </a:t>
            </a:r>
            <a:r>
              <a:rPr sz="950" b="0" i="0">
                <a:solidFill>
                  <a:srgbClr val="A9B8C9"/>
                </a:solidFill>
                <a:effectLst>
                  <a:glow rad="63500">
                    <a:srgbClr val="001633">
                      <a:alpha val="85000"/>
                    </a:srgbClr>
                  </a:glow>
                </a:effectLst>
                <a:latin typeface="Montserrat"/>
              </a:rPr>
              <a:t>cuesta mantenerlo al día</a:t>
            </a:r>
          </a:p>
          <a:p>
            <a:pPr algn="l">
              <a:spcAft>
                <a:spcPts val="100"/>
              </a:spcAft>
            </a:pPr>
            <a:r>
              <a:rPr sz="950" b="1" i="0">
                <a:solidFill>
                  <a:srgbClr val="FFAB40"/>
                </a:solidFill>
                <a:effectLst>
                  <a:glow rad="63500">
                    <a:srgbClr val="001633">
                      <a:alpha val="85000"/>
                    </a:srgbClr>
                  </a:glow>
                </a:effectLst>
                <a:latin typeface="Montserrat"/>
              </a:rPr>
              <a:t>→ </a:t>
            </a:r>
            <a:r>
              <a:rPr sz="950" b="0" i="0">
                <a:solidFill>
                  <a:srgbClr val="FFAB40"/>
                </a:solidFill>
                <a:effectLst>
                  <a:glow rad="63500">
                    <a:srgbClr val="001633">
                      <a:alpha val="85000"/>
                    </a:srgbClr>
                  </a:glow>
                </a:effectLst>
                <a:latin typeface="Montserrat"/>
              </a:rPr>
              <a:t>ajustar la fidelidad al propósito</a:t>
            </a:r>
          </a:p>
        </p:txBody>
      </p:sp>
      <p:pic>
        <p:nvPicPr>
          <p:cNvPr id="32" name="Ícono link" descr="link-orange.png"/>
          <p:cNvPicPr>
            <a:picLocks noChangeAspect="1"/>
          </p:cNvPicPr>
          <p:nvPr/>
        </p:nvPicPr>
        <p:blipFill>
          <a:blip r:embed="rId7"/>
          <a:stretch>
            <a:fillRect/>
          </a:stretch>
        </p:blipFill>
        <p:spPr>
          <a:xfrm>
            <a:off x="7086600" y="5175504"/>
            <a:ext cx="274320" cy="274320"/>
          </a:xfrm>
          <a:prstGeom prst="rect">
            <a:avLst/>
          </a:prstGeom>
        </p:spPr>
      </p:pic>
      <p:sp>
        <p:nvSpPr>
          <p:cNvPr id="33" name="TextBox 32"/>
          <p:cNvSpPr txBox="1"/>
          <p:nvPr/>
        </p:nvSpPr>
        <p:spPr>
          <a:xfrm>
            <a:off x="7498080" y="5138928"/>
            <a:ext cx="3767328" cy="603504"/>
          </a:xfrm>
          <a:prstGeom prst="rect">
            <a:avLst/>
          </a:prstGeom>
          <a:noFill/>
        </p:spPr>
        <p:txBody>
          <a:bodyPr wrap="square" lIns="0" tIns="0" rIns="0" bIns="0" anchor="t">
            <a:spAutoFit/>
          </a:bodyPr>
          <a:lstStyle/>
          <a:p>
            <a:pPr algn="l">
              <a:spcAft>
                <a:spcPts val="100"/>
              </a:spcAft>
            </a:pPr>
            <a:r>
              <a:rPr sz="1150" b="1" i="0">
                <a:solidFill>
                  <a:srgbClr val="FFFFFF"/>
                </a:solidFill>
                <a:effectLst>
                  <a:glow rad="63500">
                    <a:srgbClr val="001633">
                      <a:alpha val="85000"/>
                    </a:srgbClr>
                  </a:glow>
                </a:effectLst>
                <a:latin typeface="Montserrat"/>
              </a:rPr>
              <a:t>Las partes no conversan · </a:t>
            </a:r>
            <a:r>
              <a:rPr sz="950" b="0" i="0">
                <a:solidFill>
                  <a:srgbClr val="A9B8C9"/>
                </a:solidFill>
                <a:effectLst>
                  <a:glow rad="63500">
                    <a:srgbClr val="001633">
                      <a:alpha val="85000"/>
                    </a:srgbClr>
                  </a:glow>
                </a:effectLst>
                <a:latin typeface="Montserrat"/>
              </a:rPr>
              <a:t>proveedores distintos</a:t>
            </a:r>
          </a:p>
          <a:p>
            <a:pPr algn="l">
              <a:spcAft>
                <a:spcPts val="100"/>
              </a:spcAft>
            </a:pPr>
            <a:r>
              <a:rPr sz="950" b="1" i="0">
                <a:solidFill>
                  <a:srgbClr val="FFAB40"/>
                </a:solidFill>
                <a:effectLst>
                  <a:glow rad="63500">
                    <a:srgbClr val="001633">
                      <a:alpha val="85000"/>
                    </a:srgbClr>
                  </a:glow>
                </a:effectLst>
                <a:latin typeface="Montserrat"/>
              </a:rPr>
              <a:t>→ </a:t>
            </a:r>
            <a:r>
              <a:rPr sz="950" b="0" i="0">
                <a:solidFill>
                  <a:srgbClr val="FFAB40"/>
                </a:solidFill>
                <a:effectLst>
                  <a:glow rad="63500">
                    <a:srgbClr val="001633">
                      <a:alpha val="85000"/>
                    </a:srgbClr>
                  </a:glow>
                </a:effectLst>
                <a:latin typeface="Montserrat"/>
              </a:rPr>
              <a:t>acordar estándares de intercambio</a:t>
            </a:r>
          </a:p>
        </p:txBody>
      </p:sp>
      <p:sp>
        <p:nvSpPr>
          <p:cNvPr id="34"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Desafíos y validación continua (VVUQ): National Academies (2024) [6] · gráfico y ejemplos mineros: ilustrativos</a:t>
            </a:r>
          </a:p>
        </p:txBody>
      </p:sp>
      <p:sp>
        <p:nvSpPr>
          <p:cNvPr id="35"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 · Fundamentos</a:t>
            </a:r>
          </a:p>
        </p:txBody>
      </p:sp>
      <p:sp>
        <p:nvSpPr>
          <p:cNvPr id="36"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Avance I actual"/>
          <p:cNvSpPr/>
          <p:nvPr/>
        </p:nvSpPr>
        <p:spPr>
          <a:xfrm>
            <a:off x="1252728" y="6510528"/>
            <a:ext cx="133731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 · Industria</a:t>
            </a:r>
          </a:p>
        </p:txBody>
      </p:sp>
      <p:sp>
        <p:nvSpPr>
          <p:cNvPr id="39"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III · Construcción</a:t>
            </a:r>
          </a:p>
        </p:txBody>
      </p:sp>
      <p:sp>
        <p:nvSpPr>
          <p:cNvPr id="41"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43"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9/12 </a:t>
            </a:r>
            <a:r>
              <a:rPr sz="1000" b="0" i="0">
                <a:solidFill>
                  <a:srgbClr val="A9B8C9"/>
                </a:solidFill>
                <a:effectLst>
                  <a:glow rad="63500">
                    <a:srgbClr val="001633">
                      <a:alpha val="85000"/>
                    </a:srgbClr>
                  </a:glow>
                </a:effectLst>
                <a:latin typeface="Montserrat"/>
              </a:rPr>
              <a:t>· Gemelos Digitales para Minería 4.0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Todo gemelo tiene cinco partes, y el modelo es solo una</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 · FUNDAMENTOS — ANATOMÍA</a:t>
            </a:r>
          </a:p>
        </p:txBody>
      </p:sp>
      <p:sp>
        <p:nvSpPr>
          <p:cNvPr id="6" name="TextBox 5"/>
          <p:cNvSpPr txBox="1"/>
          <p:nvPr/>
        </p:nvSpPr>
        <p:spPr>
          <a:xfrm>
            <a:off x="1252728" y="1801367"/>
            <a:ext cx="8229600" cy="50292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Ejemplo: una correa transportadora. Si falta una parte, el gemelo queda cojo: sin datos el modelo envejece, sin conexiones no hay sincronía y sin servicios nadie obtiene valor.</a:t>
            </a:r>
          </a:p>
        </p:txBody>
      </p:sp>
      <p:pic>
        <p:nvPicPr>
          <p:cNvPr id="7" name="correa-overland-takraf" descr="correa-overland-takraf.jpg"/>
          <p:cNvPicPr>
            <a:picLocks noChangeAspect="1"/>
          </p:cNvPicPr>
          <p:nvPr/>
        </p:nvPicPr>
        <p:blipFill>
          <a:blip r:embed="rId3">
            <a:duotone>
              <a:srgbClr val="001633"/>
              <a:srgbClr val="A9B8C9"/>
            </a:duotone>
          </a:blip>
          <a:srcRect t="11039" b="11039"/>
          <a:stretch>
            <a:fillRect/>
          </a:stretch>
        </p:blipFill>
        <p:spPr>
          <a:xfrm>
            <a:off x="1252728" y="2606040"/>
            <a:ext cx="2926080" cy="1280160"/>
          </a:xfrm>
          <a:prstGeom prst="rect">
            <a:avLst/>
          </a:prstGeom>
        </p:spPr>
      </p:pic>
      <p:sp>
        <p:nvSpPr>
          <p:cNvPr id="8" name="TextBox 7"/>
          <p:cNvSpPr txBox="1"/>
          <p:nvPr/>
        </p:nvSpPr>
        <p:spPr>
          <a:xfrm>
            <a:off x="1252728" y="3977640"/>
            <a:ext cx="2926080" cy="27432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1 </a:t>
            </a:r>
            <a:r>
              <a:rPr sz="1400" b="1" i="0">
                <a:solidFill>
                  <a:srgbClr val="FFFFFF"/>
                </a:solidFill>
                <a:effectLst>
                  <a:glow rad="63500">
                    <a:srgbClr val="001633">
                      <a:alpha val="85000"/>
                    </a:srgbClr>
                  </a:glow>
                </a:effectLst>
                <a:latin typeface="Montserrat"/>
              </a:rPr>
              <a:t>Entidad física</a:t>
            </a:r>
          </a:p>
        </p:txBody>
      </p:sp>
      <p:sp>
        <p:nvSpPr>
          <p:cNvPr id="9" name="TextBox 8"/>
          <p:cNvSpPr txBox="1"/>
          <p:nvPr/>
        </p:nvSpPr>
        <p:spPr>
          <a:xfrm>
            <a:off x="1252728" y="4297680"/>
            <a:ext cx="2926080" cy="274320"/>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la correa, sus polines, motores y carga</a:t>
            </a:r>
          </a:p>
        </p:txBody>
      </p:sp>
      <p:pic>
        <p:nvPicPr>
          <p:cNvPr id="10" name="Entidad virtual" descr="lidar-nube-puntos-correa.png"/>
          <p:cNvPicPr>
            <a:picLocks noChangeAspect="1"/>
          </p:cNvPicPr>
          <p:nvPr/>
        </p:nvPicPr>
        <p:blipFill>
          <a:blip r:embed="rId4"/>
          <a:srcRect t="11111" b="11111"/>
          <a:stretch>
            <a:fillRect/>
          </a:stretch>
        </p:blipFill>
        <p:spPr>
          <a:xfrm>
            <a:off x="8339328" y="2606040"/>
            <a:ext cx="2926080" cy="1280160"/>
          </a:xfrm>
          <a:prstGeom prst="rect">
            <a:avLst/>
          </a:prstGeom>
        </p:spPr>
      </p:pic>
      <p:sp>
        <p:nvSpPr>
          <p:cNvPr id="11" name="Marco virtual"/>
          <p:cNvSpPr/>
          <p:nvPr/>
        </p:nvSpPr>
        <p:spPr>
          <a:xfrm>
            <a:off x="8339328" y="2606040"/>
            <a:ext cx="2926080" cy="1280160"/>
          </a:xfrm>
          <a:prstGeom prst="rect">
            <a:avLst/>
          </a:prstGeom>
          <a:noFill/>
          <a:ln w="1270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339328" y="3977640"/>
            <a:ext cx="2926080" cy="27432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2 </a:t>
            </a:r>
            <a:r>
              <a:rPr sz="1400" b="1" i="0">
                <a:solidFill>
                  <a:srgbClr val="85D5E6"/>
                </a:solidFill>
                <a:effectLst>
                  <a:glow rad="63500">
                    <a:srgbClr val="001633">
                      <a:alpha val="85000"/>
                    </a:srgbClr>
                  </a:glow>
                </a:effectLst>
                <a:latin typeface="Montserrat"/>
              </a:rPr>
              <a:t>Entidad virtual</a:t>
            </a:r>
          </a:p>
        </p:txBody>
      </p:sp>
      <p:sp>
        <p:nvSpPr>
          <p:cNvPr id="13" name="TextBox 12"/>
          <p:cNvSpPr txBox="1"/>
          <p:nvPr/>
        </p:nvSpPr>
        <p:spPr>
          <a:xfrm>
            <a:off x="8339328" y="4297680"/>
            <a:ext cx="2926080" cy="274320"/>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perfil de carga y modelo de desgaste</a:t>
            </a:r>
          </a:p>
        </p:txBody>
      </p:sp>
      <p:sp>
        <p:nvSpPr>
          <p:cNvPr id="14" name="Datos"/>
          <p:cNvSpPr/>
          <p:nvPr/>
        </p:nvSpPr>
        <p:spPr>
          <a:xfrm>
            <a:off x="5138928" y="2606040"/>
            <a:ext cx="2240280" cy="1280160"/>
          </a:xfrm>
          <a:prstGeom prst="rect">
            <a:avLst/>
          </a:prstGeom>
          <a:solidFill>
            <a:srgbClr val="12335E"/>
          </a:solidFill>
          <a:ln w="190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Datos"/>
          <p:cNvSpPr/>
          <p:nvPr/>
        </p:nvSpPr>
        <p:spPr>
          <a:xfrm>
            <a:off x="5984748" y="2715768"/>
            <a:ext cx="548640" cy="548640"/>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Ícono database" descr="database-navy.png"/>
          <p:cNvPicPr>
            <a:picLocks noChangeAspect="1"/>
          </p:cNvPicPr>
          <p:nvPr/>
        </p:nvPicPr>
        <p:blipFill>
          <a:blip r:embed="rId5"/>
          <a:stretch>
            <a:fillRect/>
          </a:stretch>
        </p:blipFill>
        <p:spPr>
          <a:xfrm>
            <a:off x="6105449" y="2836469"/>
            <a:ext cx="307238" cy="307238"/>
          </a:xfrm>
          <a:prstGeom prst="rect">
            <a:avLst/>
          </a:prstGeom>
        </p:spPr>
      </p:pic>
      <p:sp>
        <p:nvSpPr>
          <p:cNvPr id="17" name="TextBox 16"/>
          <p:cNvSpPr txBox="1"/>
          <p:nvPr/>
        </p:nvSpPr>
        <p:spPr>
          <a:xfrm>
            <a:off x="5230368" y="3337560"/>
            <a:ext cx="2057400" cy="502920"/>
          </a:xfrm>
          <a:prstGeom prst="rect">
            <a:avLst/>
          </a:prstGeom>
          <a:noFill/>
        </p:spPr>
        <p:txBody>
          <a:bodyPr wrap="square" lIns="0" tIns="0" rIns="0" bIns="0" anchor="t">
            <a:spAutoFit/>
          </a:bodyPr>
          <a:lstStyle/>
          <a:p>
            <a:pPr algn="ctr">
              <a:spcAft>
                <a:spcPts val="600"/>
              </a:spcAft>
            </a:pPr>
            <a:r>
              <a:rPr sz="950" b="0" i="0">
                <a:solidFill>
                  <a:srgbClr val="FFFFFF"/>
                </a:solidFill>
                <a:effectLst>
                  <a:glow rad="63500">
                    <a:srgbClr val="001633">
                      <a:alpha val="85000"/>
                    </a:srgbClr>
                  </a:glow>
                </a:effectLst>
                <a:latin typeface="Montserrat"/>
              </a:rPr>
              <a:t>vibración de polines, corriente de motores, LiDAR de carga</a:t>
            </a:r>
          </a:p>
        </p:txBody>
      </p:sp>
      <p:sp>
        <p:nvSpPr>
          <p:cNvPr id="18" name="TextBox 17"/>
          <p:cNvSpPr txBox="1"/>
          <p:nvPr/>
        </p:nvSpPr>
        <p:spPr>
          <a:xfrm>
            <a:off x="5138928" y="3977640"/>
            <a:ext cx="2240280" cy="274320"/>
          </a:xfrm>
          <a:prstGeom prst="rect">
            <a:avLst/>
          </a:prstGeom>
          <a:noFill/>
        </p:spPr>
        <p:txBody>
          <a:bodyPr wrap="square" lIns="0" tIns="0" rIns="0" bIns="0" anchor="t">
            <a:spAutoFit/>
          </a:bodyPr>
          <a:lstStyle/>
          <a:p>
            <a:pPr algn="ctr">
              <a:spcAft>
                <a:spcPts val="600"/>
              </a:spcAft>
            </a:pPr>
            <a:r>
              <a:rPr sz="1400" b="1" i="0">
                <a:solidFill>
                  <a:srgbClr val="FFAB40"/>
                </a:solidFill>
                <a:effectLst>
                  <a:glow rad="63500">
                    <a:srgbClr val="001633">
                      <a:alpha val="85000"/>
                    </a:srgbClr>
                  </a:glow>
                </a:effectLst>
                <a:latin typeface="Montserrat"/>
              </a:rPr>
              <a:t>3 </a:t>
            </a:r>
            <a:r>
              <a:rPr sz="1400" b="1" i="0">
                <a:solidFill>
                  <a:srgbClr val="FFFFFF"/>
                </a:solidFill>
                <a:effectLst>
                  <a:glow rad="63500">
                    <a:srgbClr val="001633">
                      <a:alpha val="85000"/>
                    </a:srgbClr>
                  </a:glow>
                </a:effectLst>
                <a:latin typeface="Montserrat"/>
              </a:rPr>
              <a:t>Datos</a:t>
            </a:r>
          </a:p>
        </p:txBody>
      </p:sp>
      <p:sp>
        <p:nvSpPr>
          <p:cNvPr id="19" name="TextBox 18"/>
          <p:cNvSpPr txBox="1"/>
          <p:nvPr/>
        </p:nvSpPr>
        <p:spPr>
          <a:xfrm>
            <a:off x="5138928" y="4297680"/>
            <a:ext cx="2240280" cy="274320"/>
          </a:xfrm>
          <a:prstGeom prst="rect">
            <a:avLst/>
          </a:prstGeom>
          <a:noFill/>
        </p:spPr>
        <p:txBody>
          <a:bodyPr wrap="square" lIns="0" tIns="0" rIns="0" bIns="0" anchor="t">
            <a:spAutoFit/>
          </a:bodyPr>
          <a:lstStyle/>
          <a:p>
            <a:pPr algn="ctr">
              <a:spcAft>
                <a:spcPts val="600"/>
              </a:spcAft>
            </a:pPr>
            <a:r>
              <a:rPr sz="1000" b="0" i="0">
                <a:solidFill>
                  <a:srgbClr val="A9B8C9"/>
                </a:solidFill>
                <a:effectLst>
                  <a:glow rad="63500">
                    <a:srgbClr val="001633">
                      <a:alpha val="85000"/>
                    </a:srgbClr>
                  </a:glow>
                </a:effectLst>
                <a:latin typeface="Montserrat"/>
              </a:rPr>
              <a:t>lo que se mide y se guarda</a:t>
            </a:r>
          </a:p>
        </p:txBody>
      </p:sp>
      <p:cxnSp>
        <p:nvCxnSpPr>
          <p:cNvPr id="20" name="Conexión ida"/>
          <p:cNvCxnSpPr/>
          <p:nvPr/>
        </p:nvCxnSpPr>
        <p:spPr>
          <a:xfrm>
            <a:off x="4251960" y="3154680"/>
            <a:ext cx="813816" cy="0"/>
          </a:xfrm>
          <a:prstGeom prst="line">
            <a:avLst/>
          </a:prstGeom>
          <a:ln w="28575">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exión vuelta"/>
          <p:cNvCxnSpPr/>
          <p:nvPr/>
        </p:nvCxnSpPr>
        <p:spPr>
          <a:xfrm flipH="1">
            <a:off x="4251960" y="3337560"/>
            <a:ext cx="813816" cy="0"/>
          </a:xfrm>
          <a:prstGeom prst="line">
            <a:avLst/>
          </a:prstGeom>
          <a:ln w="28575">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178808" y="2807208"/>
            <a:ext cx="960120" cy="274320"/>
          </a:xfrm>
          <a:prstGeom prst="rect">
            <a:avLst/>
          </a:prstGeom>
          <a:noFill/>
        </p:spPr>
        <p:txBody>
          <a:bodyPr wrap="square" lIns="0" tIns="0" rIns="0" bIns="0" anchor="t">
            <a:spAutoFit/>
          </a:bodyPr>
          <a:lstStyle/>
          <a:p>
            <a:pPr algn="ctr">
              <a:spcAft>
                <a:spcPts val="600"/>
              </a:spcAft>
            </a:pPr>
            <a:r>
              <a:rPr sz="1300" b="1" i="0">
                <a:solidFill>
                  <a:srgbClr val="FFAB40"/>
                </a:solidFill>
                <a:effectLst>
                  <a:glow rad="63500">
                    <a:srgbClr val="001633">
                      <a:alpha val="85000"/>
                    </a:srgbClr>
                  </a:glow>
                </a:effectLst>
                <a:latin typeface="Montserrat"/>
              </a:rPr>
              <a:t>4</a:t>
            </a:r>
          </a:p>
        </p:txBody>
      </p:sp>
      <p:cxnSp>
        <p:nvCxnSpPr>
          <p:cNvPr id="23" name="Conexión ida"/>
          <p:cNvCxnSpPr/>
          <p:nvPr/>
        </p:nvCxnSpPr>
        <p:spPr>
          <a:xfrm>
            <a:off x="7452360" y="3154680"/>
            <a:ext cx="813816" cy="0"/>
          </a:xfrm>
          <a:prstGeom prst="line">
            <a:avLst/>
          </a:prstGeom>
          <a:ln w="28575">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exión vuelta"/>
          <p:cNvCxnSpPr/>
          <p:nvPr/>
        </p:nvCxnSpPr>
        <p:spPr>
          <a:xfrm flipH="1">
            <a:off x="7452360" y="3337560"/>
            <a:ext cx="813816" cy="0"/>
          </a:xfrm>
          <a:prstGeom prst="line">
            <a:avLst/>
          </a:prstGeom>
          <a:ln w="28575">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379208" y="2807208"/>
            <a:ext cx="960120" cy="274320"/>
          </a:xfrm>
          <a:prstGeom prst="rect">
            <a:avLst/>
          </a:prstGeom>
          <a:noFill/>
        </p:spPr>
        <p:txBody>
          <a:bodyPr wrap="square" lIns="0" tIns="0" rIns="0" bIns="0" anchor="t">
            <a:spAutoFit/>
          </a:bodyPr>
          <a:lstStyle/>
          <a:p>
            <a:pPr algn="ctr">
              <a:spcAft>
                <a:spcPts val="600"/>
              </a:spcAft>
            </a:pPr>
            <a:r>
              <a:rPr sz="1300" b="1" i="0">
                <a:solidFill>
                  <a:srgbClr val="FFAB40"/>
                </a:solidFill>
                <a:effectLst>
                  <a:glow rad="63500">
                    <a:srgbClr val="001633">
                      <a:alpha val="85000"/>
                    </a:srgbClr>
                  </a:glow>
                </a:effectLst>
                <a:latin typeface="Montserrat"/>
              </a:rPr>
              <a:t>4</a:t>
            </a:r>
          </a:p>
        </p:txBody>
      </p:sp>
      <p:sp>
        <p:nvSpPr>
          <p:cNvPr id="26" name="TextBox 25"/>
          <p:cNvSpPr txBox="1"/>
          <p:nvPr/>
        </p:nvSpPr>
        <p:spPr>
          <a:xfrm>
            <a:off x="4178808" y="4636008"/>
            <a:ext cx="4160520" cy="274320"/>
          </a:xfrm>
          <a:prstGeom prst="rect">
            <a:avLst/>
          </a:prstGeom>
          <a:noFill/>
        </p:spPr>
        <p:txBody>
          <a:bodyPr wrap="square" lIns="0" tIns="0" rIns="0" bIns="0" anchor="t">
            <a:spAutoFit/>
          </a:bodyPr>
          <a:lstStyle/>
          <a:p>
            <a:pPr algn="ctr">
              <a:spcAft>
                <a:spcPts val="600"/>
              </a:spcAft>
            </a:pPr>
            <a:r>
              <a:rPr sz="1100" b="1" i="0">
                <a:solidFill>
                  <a:srgbClr val="FFAB40"/>
                </a:solidFill>
                <a:effectLst>
                  <a:glow rad="63500">
                    <a:srgbClr val="001633">
                      <a:alpha val="85000"/>
                    </a:srgbClr>
                  </a:glow>
                </a:effectLst>
                <a:latin typeface="Montserrat"/>
              </a:rPr>
              <a:t>4 Conexiones · </a:t>
            </a:r>
            <a:r>
              <a:rPr sz="1000" b="0" i="0">
                <a:solidFill>
                  <a:srgbClr val="A9B8C9"/>
                </a:solidFill>
                <a:effectLst>
                  <a:glow rad="63500">
                    <a:srgbClr val="001633">
                      <a:alpha val="85000"/>
                    </a:srgbClr>
                  </a:glow>
                </a:effectLst>
                <a:latin typeface="Montserrat"/>
              </a:rPr>
              <a:t>las flechas: red de planta, OPC UA o MQTT</a:t>
            </a:r>
          </a:p>
        </p:txBody>
      </p:sp>
      <p:sp>
        <p:nvSpPr>
          <p:cNvPr id="27" name="Servicios"/>
          <p:cNvSpPr/>
          <p:nvPr/>
        </p:nvSpPr>
        <p:spPr>
          <a:xfrm>
            <a:off x="1252728" y="4983480"/>
            <a:ext cx="10012680" cy="713232"/>
          </a:xfrm>
          <a:prstGeom prst="rect">
            <a:avLst/>
          </a:prstGeom>
          <a:solidFill>
            <a:srgbClr val="0B264A"/>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Ícono layers" descr="layers-orange.png"/>
          <p:cNvPicPr>
            <a:picLocks noChangeAspect="1"/>
          </p:cNvPicPr>
          <p:nvPr/>
        </p:nvPicPr>
        <p:blipFill>
          <a:blip r:embed="rId6"/>
          <a:stretch>
            <a:fillRect/>
          </a:stretch>
        </p:blipFill>
        <p:spPr>
          <a:xfrm>
            <a:off x="1453896" y="5166360"/>
            <a:ext cx="347472" cy="347472"/>
          </a:xfrm>
          <a:prstGeom prst="rect">
            <a:avLst/>
          </a:prstGeom>
        </p:spPr>
      </p:pic>
      <p:sp>
        <p:nvSpPr>
          <p:cNvPr id="29" name="TextBox 28"/>
          <p:cNvSpPr txBox="1"/>
          <p:nvPr/>
        </p:nvSpPr>
        <p:spPr>
          <a:xfrm>
            <a:off x="1984248" y="4983480"/>
            <a:ext cx="2194560" cy="713232"/>
          </a:xfrm>
          <a:prstGeom prst="rect">
            <a:avLst/>
          </a:prstGeom>
          <a:noFill/>
        </p:spPr>
        <p:txBody>
          <a:bodyPr wrap="square" lIns="0" tIns="0" rIns="0" bIns="0" anchor="ctr">
            <a:spAutoFit/>
          </a:bodyPr>
          <a:lstStyle/>
          <a:p>
            <a:pPr algn="l">
              <a:spcAft>
                <a:spcPts val="0"/>
              </a:spcAft>
            </a:pPr>
            <a:r>
              <a:rPr sz="1400" b="1" i="0">
                <a:solidFill>
                  <a:srgbClr val="FFAB40"/>
                </a:solidFill>
                <a:effectLst>
                  <a:glow rad="63500">
                    <a:srgbClr val="001633">
                      <a:alpha val="85000"/>
                    </a:srgbClr>
                  </a:glow>
                </a:effectLst>
                <a:latin typeface="Montserrat"/>
              </a:rPr>
              <a:t>5 </a:t>
            </a:r>
            <a:r>
              <a:rPr sz="1400" b="1" i="0">
                <a:solidFill>
                  <a:srgbClr val="FFFFFF"/>
                </a:solidFill>
                <a:effectLst>
                  <a:glow rad="63500">
                    <a:srgbClr val="001633">
                      <a:alpha val="85000"/>
                    </a:srgbClr>
                  </a:glow>
                </a:effectLst>
                <a:latin typeface="Montserrat"/>
              </a:rPr>
              <a:t>Servicios</a:t>
            </a:r>
          </a:p>
          <a:p>
            <a:pPr algn="l">
              <a:spcAft>
                <a:spcPts val="0"/>
              </a:spcAft>
            </a:pPr>
            <a:r>
              <a:rPr sz="950" b="0" i="0">
                <a:solidFill>
                  <a:srgbClr val="A9B8C9"/>
                </a:solidFill>
                <a:effectLst>
                  <a:glow rad="63500">
                    <a:srgbClr val="001633">
                      <a:alpha val="85000"/>
                    </a:srgbClr>
                  </a:glow>
                </a:effectLst>
                <a:latin typeface="Montserrat"/>
              </a:rPr>
              <a:t>lo que recibe la operación</a:t>
            </a:r>
          </a:p>
        </p:txBody>
      </p:sp>
      <p:sp>
        <p:nvSpPr>
          <p:cNvPr id="30" name="Servicio 1"/>
          <p:cNvSpPr/>
          <p:nvPr/>
        </p:nvSpPr>
        <p:spPr>
          <a:xfrm>
            <a:off x="4270248" y="5138928"/>
            <a:ext cx="2197608" cy="402336"/>
          </a:xfrm>
          <a:prstGeom prst="rect">
            <a:avLst/>
          </a:prstGeom>
          <a:solidFill>
            <a:srgbClr val="001633"/>
          </a:solidFill>
          <a:ln w="95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4343400" y="5138928"/>
            <a:ext cx="2051304" cy="402336"/>
          </a:xfrm>
          <a:prstGeom prst="rect">
            <a:avLst/>
          </a:prstGeom>
          <a:noFill/>
        </p:spPr>
        <p:txBody>
          <a:bodyPr wrap="square" lIns="0" tIns="0" rIns="0" bIns="0" anchor="ctr">
            <a:spAutoFit/>
          </a:bodyPr>
          <a:lstStyle/>
          <a:p>
            <a:pPr algn="ctr">
              <a:spcAft>
                <a:spcPts val="600"/>
              </a:spcAft>
            </a:pPr>
            <a:r>
              <a:rPr sz="950" b="0" i="0">
                <a:solidFill>
                  <a:srgbClr val="FFFFFF"/>
                </a:solidFill>
                <a:effectLst>
                  <a:glow rad="63500">
                    <a:srgbClr val="001633">
                      <a:alpha val="85000"/>
                    </a:srgbClr>
                  </a:glow>
                </a:effectLst>
                <a:latin typeface="Montserrat"/>
              </a:rPr>
              <a:t>Aviso temprano de polín dañado</a:t>
            </a:r>
          </a:p>
        </p:txBody>
      </p:sp>
      <p:sp>
        <p:nvSpPr>
          <p:cNvPr id="32" name="Servicio 2"/>
          <p:cNvSpPr/>
          <p:nvPr/>
        </p:nvSpPr>
        <p:spPr>
          <a:xfrm>
            <a:off x="6577584" y="5138928"/>
            <a:ext cx="2197608" cy="402336"/>
          </a:xfrm>
          <a:prstGeom prst="rect">
            <a:avLst/>
          </a:prstGeom>
          <a:solidFill>
            <a:srgbClr val="001633"/>
          </a:solidFill>
          <a:ln w="95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6650736" y="5138928"/>
            <a:ext cx="2051304" cy="402336"/>
          </a:xfrm>
          <a:prstGeom prst="rect">
            <a:avLst/>
          </a:prstGeom>
          <a:noFill/>
        </p:spPr>
        <p:txBody>
          <a:bodyPr wrap="square" lIns="0" tIns="0" rIns="0" bIns="0" anchor="ctr">
            <a:spAutoFit/>
          </a:bodyPr>
          <a:lstStyle/>
          <a:p>
            <a:pPr algn="ctr">
              <a:spcAft>
                <a:spcPts val="600"/>
              </a:spcAft>
            </a:pPr>
            <a:r>
              <a:rPr sz="950" b="0" i="0">
                <a:solidFill>
                  <a:srgbClr val="FFFFFF"/>
                </a:solidFill>
                <a:effectLst>
                  <a:glow rad="63500">
                    <a:srgbClr val="001633">
                      <a:alpha val="85000"/>
                    </a:srgbClr>
                  </a:glow>
                </a:effectLst>
                <a:latin typeface="Montserrat"/>
              </a:rPr>
              <a:t>Alerta de sobrecarga o derrame</a:t>
            </a:r>
          </a:p>
        </p:txBody>
      </p:sp>
      <p:sp>
        <p:nvSpPr>
          <p:cNvPr id="34" name="Servicio 3"/>
          <p:cNvSpPr/>
          <p:nvPr/>
        </p:nvSpPr>
        <p:spPr>
          <a:xfrm>
            <a:off x="8884920" y="5138928"/>
            <a:ext cx="2197608" cy="402336"/>
          </a:xfrm>
          <a:prstGeom prst="rect">
            <a:avLst/>
          </a:prstGeom>
          <a:solidFill>
            <a:srgbClr val="001633"/>
          </a:solidFill>
          <a:ln w="95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8958072" y="5138928"/>
            <a:ext cx="2051304" cy="402336"/>
          </a:xfrm>
          <a:prstGeom prst="rect">
            <a:avLst/>
          </a:prstGeom>
          <a:noFill/>
        </p:spPr>
        <p:txBody>
          <a:bodyPr wrap="square" lIns="0" tIns="0" rIns="0" bIns="0" anchor="ctr">
            <a:spAutoFit/>
          </a:bodyPr>
          <a:lstStyle/>
          <a:p>
            <a:pPr algn="ctr">
              <a:spcAft>
                <a:spcPts val="600"/>
              </a:spcAft>
            </a:pPr>
            <a:r>
              <a:rPr sz="950" b="0" i="0">
                <a:solidFill>
                  <a:srgbClr val="FFFFFF"/>
                </a:solidFill>
                <a:effectLst>
                  <a:glow rad="63500">
                    <a:srgbClr val="001633">
                      <a:alpha val="85000"/>
                    </a:srgbClr>
                  </a:glow>
                </a:effectLst>
                <a:latin typeface="Montserrat"/>
              </a:rPr>
              <a:t>Plan de cambio en la próxima detención</a:t>
            </a:r>
          </a:p>
        </p:txBody>
      </p:sp>
      <p:sp>
        <p:nvSpPr>
          <p:cNvPr id="36"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Modelo de cinco dimensiones: Tao et al. (2019) [7] · ejemplo de correa: elaboración propia · imágenes: correa overland, LComms; perfil LiDAR, Mweaver89 (CC BY-SA 4.0)</a:t>
            </a:r>
          </a:p>
        </p:txBody>
      </p:sp>
      <p:sp>
        <p:nvSpPr>
          <p:cNvPr id="37"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 · Fundamentos</a:t>
            </a:r>
          </a:p>
        </p:txBody>
      </p:sp>
      <p:sp>
        <p:nvSpPr>
          <p:cNvPr id="38"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Avance I actual"/>
          <p:cNvSpPr/>
          <p:nvPr/>
        </p:nvSpPr>
        <p:spPr>
          <a:xfrm>
            <a:off x="1252728" y="6510528"/>
            <a:ext cx="148590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 · Industria</a:t>
            </a:r>
          </a:p>
        </p:txBody>
      </p:sp>
      <p:sp>
        <p:nvSpPr>
          <p:cNvPr id="41"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III · Construcción</a:t>
            </a:r>
          </a:p>
        </p:txBody>
      </p:sp>
      <p:sp>
        <p:nvSpPr>
          <p:cNvPr id="43"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45"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10/12 </a:t>
            </a:r>
            <a:r>
              <a:rPr sz="1000" b="0" i="0">
                <a:solidFill>
                  <a:srgbClr val="A9B8C9"/>
                </a:solidFill>
                <a:effectLst>
                  <a:glow rad="63500">
                    <a:srgbClr val="001633">
                      <a:alpha val="85000"/>
                    </a:srgbClr>
                  </a:glow>
                </a:effectLst>
                <a:latin typeface="Montserrat"/>
              </a:rPr>
              <a:t>· Gemelos Digitales para Minería 4.0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Cuatro gemelos con el mismo nombre y casi nada en común</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 · FUNDAMENTOS — TIPOS DE GEMELO</a:t>
            </a:r>
          </a:p>
        </p:txBody>
      </p:sp>
      <p:sp>
        <p:nvSpPr>
          <p:cNvPr id="6" name="TextBox 5"/>
          <p:cNvSpPr txBox="1"/>
          <p:nvPr/>
        </p:nvSpPr>
        <p:spPr>
          <a:xfrm>
            <a:off x="1252728" y="1801367"/>
            <a:ext cx="8412480" cy="50292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Cuatro ejemplos de una misma faena de cobre. No comparten ni nivel, ni fase, ni uso, y cada uno está conectado a la operación de una forma distinta.</a:t>
            </a:r>
          </a:p>
        </p:txBody>
      </p:sp>
      <p:pic>
        <p:nvPicPr>
          <p:cNvPr id="7" name="camion-cat797-escondida" descr="camion-cat797-escondida.jpg"/>
          <p:cNvPicPr>
            <a:picLocks noChangeAspect="1"/>
          </p:cNvPicPr>
          <p:nvPr/>
        </p:nvPicPr>
        <p:blipFill>
          <a:blip r:embed="rId3">
            <a:duotone>
              <a:srgbClr val="001633"/>
              <a:srgbClr val="A9B8C9"/>
            </a:duotone>
          </a:blip>
          <a:srcRect t="23856" b="23856"/>
          <a:stretch>
            <a:fillRect/>
          </a:stretch>
        </p:blipFill>
        <p:spPr>
          <a:xfrm>
            <a:off x="1252728" y="2514600"/>
            <a:ext cx="2331720" cy="914400"/>
          </a:xfrm>
          <a:prstGeom prst="rect">
            <a:avLst/>
          </a:prstGeom>
        </p:spPr>
      </p:pic>
      <p:sp>
        <p:nvSpPr>
          <p:cNvPr id="8" name="TextBox 7"/>
          <p:cNvSpPr txBox="1"/>
          <p:nvPr/>
        </p:nvSpPr>
        <p:spPr>
          <a:xfrm>
            <a:off x="1252728" y="3502152"/>
            <a:ext cx="2331720" cy="274320"/>
          </a:xfrm>
          <a:prstGeom prst="rect">
            <a:avLst/>
          </a:prstGeom>
          <a:noFill/>
        </p:spPr>
        <p:txBody>
          <a:bodyPr wrap="square" lIns="0" tIns="0" rIns="0" bIns="0" anchor="t">
            <a:spAutoFit/>
          </a:bodyPr>
          <a:lstStyle/>
          <a:p>
            <a:pPr algn="l">
              <a:spcAft>
                <a:spcPts val="600"/>
              </a:spcAft>
            </a:pPr>
            <a:r>
              <a:rPr sz="1300" b="1" i="0">
                <a:solidFill>
                  <a:srgbClr val="FFFFFF"/>
                </a:solidFill>
                <a:effectLst>
                  <a:glow rad="63500">
                    <a:srgbClr val="001633">
                      <a:alpha val="85000"/>
                    </a:srgbClr>
                  </a:glow>
                </a:effectLst>
                <a:latin typeface="Montserrat"/>
              </a:rPr>
              <a:t>Flota para una expansión</a:t>
            </a:r>
          </a:p>
        </p:txBody>
      </p:sp>
      <p:sp>
        <p:nvSpPr>
          <p:cNvPr id="9" name="TextBox 8"/>
          <p:cNvSpPr txBox="1"/>
          <p:nvPr/>
        </p:nvSpPr>
        <p:spPr>
          <a:xfrm>
            <a:off x="1252728" y="3785615"/>
            <a:ext cx="2331720" cy="438912"/>
          </a:xfrm>
          <a:prstGeom prst="rect">
            <a:avLst/>
          </a:prstGeom>
          <a:noFill/>
        </p:spPr>
        <p:txBody>
          <a:bodyPr wrap="square" lIns="0" tIns="0" rIns="0" bIns="0" anchor="t">
            <a:spAutoFit/>
          </a:bodyPr>
          <a:lstStyle/>
          <a:p>
            <a:pPr algn="l">
              <a:spcAft>
                <a:spcPts val="600"/>
              </a:spcAft>
            </a:pPr>
            <a:r>
              <a:rPr sz="950" b="0" i="0">
                <a:solidFill>
                  <a:srgbClr val="85D5E6"/>
                </a:solidFill>
                <a:effectLst>
                  <a:glow rad="63500">
                    <a:srgbClr val="001633">
                      <a:alpha val="85000"/>
                    </a:srgbClr>
                  </a:glow>
                </a:effectLst>
                <a:latin typeface="Montserrat"/>
              </a:rPr>
              <a:t>¿Cuántos camiones y palas hacen falta para el nuevo plan minero?</a:t>
            </a:r>
          </a:p>
        </p:txBody>
      </p:sp>
      <p:sp>
        <p:nvSpPr>
          <p:cNvPr id="10" name="Coordenada NIVEL"/>
          <p:cNvSpPr/>
          <p:nvPr/>
        </p:nvSpPr>
        <p:spPr>
          <a:xfrm>
            <a:off x="1252728" y="4279392"/>
            <a:ext cx="746760" cy="384048"/>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252728" y="4297680"/>
            <a:ext cx="746760" cy="365760"/>
          </a:xfrm>
          <a:prstGeom prst="rect">
            <a:avLst/>
          </a:prstGeom>
          <a:noFill/>
        </p:spPr>
        <p:txBody>
          <a:bodyPr wrap="square" lIns="0" tIns="0" rIns="0" bIns="0" anchor="t">
            <a:spAutoFit/>
          </a:bodyPr>
          <a:lstStyle/>
          <a:p>
            <a:pPr algn="ctr">
              <a:spcAft>
                <a:spcPts val="0"/>
              </a:spcAft>
            </a:pPr>
            <a:r>
              <a:rPr sz="650" b="1" i="0">
                <a:solidFill>
                  <a:srgbClr val="A9B8C9"/>
                </a:solidFill>
                <a:effectLst>
                  <a:glow rad="63500">
                    <a:srgbClr val="001633">
                      <a:alpha val="85000"/>
                    </a:srgbClr>
                  </a:glow>
                </a:effectLst>
                <a:latin typeface="Montserrat"/>
              </a:rPr>
              <a:t>NIVEL</a:t>
            </a:r>
          </a:p>
          <a:p>
            <a:pPr algn="ctr">
              <a:spcAft>
                <a:spcPts val="0"/>
              </a:spcAft>
            </a:pPr>
            <a:r>
              <a:rPr sz="800" b="1" i="0">
                <a:solidFill>
                  <a:srgbClr val="FFAB40"/>
                </a:solidFill>
                <a:effectLst>
                  <a:glow rad="63500">
                    <a:srgbClr val="001633">
                      <a:alpha val="85000"/>
                    </a:srgbClr>
                  </a:glow>
                </a:effectLst>
                <a:latin typeface="Montserrat"/>
              </a:rPr>
              <a:t>Sistema</a:t>
            </a:r>
          </a:p>
        </p:txBody>
      </p:sp>
      <p:sp>
        <p:nvSpPr>
          <p:cNvPr id="12" name="Coordenada FASE"/>
          <p:cNvSpPr/>
          <p:nvPr/>
        </p:nvSpPr>
        <p:spPr>
          <a:xfrm>
            <a:off x="2045208" y="4279392"/>
            <a:ext cx="746760" cy="384048"/>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2045208" y="4297680"/>
            <a:ext cx="746760" cy="365760"/>
          </a:xfrm>
          <a:prstGeom prst="rect">
            <a:avLst/>
          </a:prstGeom>
          <a:noFill/>
        </p:spPr>
        <p:txBody>
          <a:bodyPr wrap="square" lIns="0" tIns="0" rIns="0" bIns="0" anchor="t">
            <a:spAutoFit/>
          </a:bodyPr>
          <a:lstStyle/>
          <a:p>
            <a:pPr algn="ctr">
              <a:spcAft>
                <a:spcPts val="0"/>
              </a:spcAft>
            </a:pPr>
            <a:r>
              <a:rPr sz="650" b="1" i="0">
                <a:solidFill>
                  <a:srgbClr val="A9B8C9"/>
                </a:solidFill>
                <a:effectLst>
                  <a:glow rad="63500">
                    <a:srgbClr val="001633">
                      <a:alpha val="85000"/>
                    </a:srgbClr>
                  </a:glow>
                </a:effectLst>
                <a:latin typeface="Montserrat"/>
              </a:rPr>
              <a:t>FASE</a:t>
            </a:r>
          </a:p>
          <a:p>
            <a:pPr algn="ctr">
              <a:spcAft>
                <a:spcPts val="0"/>
              </a:spcAft>
            </a:pPr>
            <a:r>
              <a:rPr sz="800" b="1" i="0">
                <a:solidFill>
                  <a:srgbClr val="FFAB40"/>
                </a:solidFill>
                <a:effectLst>
                  <a:glow rad="63500">
                    <a:srgbClr val="001633">
                      <a:alpha val="85000"/>
                    </a:srgbClr>
                  </a:glow>
                </a:effectLst>
                <a:latin typeface="Montserrat"/>
              </a:rPr>
              <a:t>Diseñar</a:t>
            </a:r>
          </a:p>
        </p:txBody>
      </p:sp>
      <p:sp>
        <p:nvSpPr>
          <p:cNvPr id="14" name="Coordenada USO"/>
          <p:cNvSpPr/>
          <p:nvPr/>
        </p:nvSpPr>
        <p:spPr>
          <a:xfrm>
            <a:off x="2837688" y="4279392"/>
            <a:ext cx="746760" cy="384048"/>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2837688" y="4297680"/>
            <a:ext cx="746760" cy="365760"/>
          </a:xfrm>
          <a:prstGeom prst="rect">
            <a:avLst/>
          </a:prstGeom>
          <a:noFill/>
        </p:spPr>
        <p:txBody>
          <a:bodyPr wrap="square" lIns="0" tIns="0" rIns="0" bIns="0" anchor="t">
            <a:spAutoFit/>
          </a:bodyPr>
          <a:lstStyle/>
          <a:p>
            <a:pPr algn="ctr">
              <a:spcAft>
                <a:spcPts val="0"/>
              </a:spcAft>
            </a:pPr>
            <a:r>
              <a:rPr sz="650" b="1" i="0">
                <a:solidFill>
                  <a:srgbClr val="A9B8C9"/>
                </a:solidFill>
                <a:effectLst>
                  <a:glow rad="63500">
                    <a:srgbClr val="001633">
                      <a:alpha val="85000"/>
                    </a:srgbClr>
                  </a:glow>
                </a:effectLst>
                <a:latin typeface="Montserrat"/>
              </a:rPr>
              <a:t>USO</a:t>
            </a:r>
          </a:p>
          <a:p>
            <a:pPr algn="ctr">
              <a:spcAft>
                <a:spcPts val="0"/>
              </a:spcAft>
            </a:pPr>
            <a:r>
              <a:rPr sz="800" b="1" i="0">
                <a:solidFill>
                  <a:srgbClr val="FFAB40"/>
                </a:solidFill>
                <a:effectLst>
                  <a:glow rad="63500">
                    <a:srgbClr val="001633">
                      <a:alpha val="85000"/>
                    </a:srgbClr>
                  </a:glow>
                </a:effectLst>
                <a:latin typeface="Montserrat"/>
              </a:rPr>
              <a:t>Simular</a:t>
            </a:r>
          </a:p>
        </p:txBody>
      </p:sp>
      <p:sp>
        <p:nvSpPr>
          <p:cNvPr id="16" name="Bloque mini"/>
          <p:cNvSpPr/>
          <p:nvPr/>
        </p:nvSpPr>
        <p:spPr>
          <a:xfrm>
            <a:off x="1252728" y="4754880"/>
            <a:ext cx="457200" cy="384048"/>
          </a:xfrm>
          <a:prstGeom prst="roundRect">
            <a:avLst/>
          </a:prstGeom>
          <a:solidFill>
            <a:srgbClr val="001633"/>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Ícono factory" descr="factory-white.png"/>
          <p:cNvPicPr>
            <a:picLocks noChangeAspect="1"/>
          </p:cNvPicPr>
          <p:nvPr/>
        </p:nvPicPr>
        <p:blipFill>
          <a:blip r:embed="rId4"/>
          <a:stretch>
            <a:fillRect/>
          </a:stretch>
        </p:blipFill>
        <p:spPr>
          <a:xfrm>
            <a:off x="1353312" y="4818888"/>
            <a:ext cx="256032" cy="256032"/>
          </a:xfrm>
          <a:prstGeom prst="rect">
            <a:avLst/>
          </a:prstGeom>
        </p:spPr>
      </p:pic>
      <p:sp>
        <p:nvSpPr>
          <p:cNvPr id="18" name="Bloque mini"/>
          <p:cNvSpPr/>
          <p:nvPr/>
        </p:nvSpPr>
        <p:spPr>
          <a:xfrm>
            <a:off x="1892808" y="4754880"/>
            <a:ext cx="457200" cy="384048"/>
          </a:xfrm>
          <a:prstGeom prst="roundRect">
            <a:avLst/>
          </a:prstGeom>
          <a:solidFill>
            <a:srgbClr val="001633"/>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Ícono monitor" descr="monitor-white.png"/>
          <p:cNvPicPr>
            <a:picLocks noChangeAspect="1"/>
          </p:cNvPicPr>
          <p:nvPr/>
        </p:nvPicPr>
        <p:blipFill>
          <a:blip r:embed="rId5"/>
          <a:stretch>
            <a:fillRect/>
          </a:stretch>
        </p:blipFill>
        <p:spPr>
          <a:xfrm>
            <a:off x="1993392" y="4818888"/>
            <a:ext cx="256032" cy="256032"/>
          </a:xfrm>
          <a:prstGeom prst="rect">
            <a:avLst/>
          </a:prstGeom>
        </p:spPr>
      </p:pic>
      <p:cxnSp>
        <p:nvCxnSpPr>
          <p:cNvPr id="20" name="Connector 19"/>
          <p:cNvCxnSpPr/>
          <p:nvPr/>
        </p:nvCxnSpPr>
        <p:spPr>
          <a:xfrm>
            <a:off x="1709928" y="4873752"/>
            <a:ext cx="182880" cy="0"/>
          </a:xfrm>
          <a:prstGeom prst="line">
            <a:avLst/>
          </a:prstGeom>
          <a:ln w="15875">
            <a:solidFill>
              <a:srgbClr val="FFFFFF"/>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1709928" y="5029200"/>
            <a:ext cx="182880" cy="0"/>
          </a:xfrm>
          <a:prstGeom prst="line">
            <a:avLst/>
          </a:prstGeom>
          <a:ln w="15875">
            <a:solidFill>
              <a:srgbClr val="FFFFF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459736" y="4754880"/>
            <a:ext cx="1124712" cy="384048"/>
          </a:xfrm>
          <a:prstGeom prst="rect">
            <a:avLst/>
          </a:prstGeom>
          <a:noFill/>
        </p:spPr>
        <p:txBody>
          <a:bodyPr wrap="square" lIns="0" tIns="0" rIns="0" bIns="0" anchor="ctr">
            <a:spAutoFit/>
          </a:bodyPr>
          <a:lstStyle/>
          <a:p>
            <a:pPr algn="l">
              <a:spcAft>
                <a:spcPts val="600"/>
              </a:spcAft>
            </a:pPr>
            <a:r>
              <a:rPr sz="1200" b="1" i="0">
                <a:solidFill>
                  <a:srgbClr val="FFFFFF"/>
                </a:solidFill>
                <a:effectLst>
                  <a:glow rad="63500">
                    <a:srgbClr val="001633">
                      <a:alpha val="85000"/>
                    </a:srgbClr>
                  </a:glow>
                </a:effectLst>
                <a:latin typeface="Montserrat"/>
              </a:rPr>
              <a:t>Modelo</a:t>
            </a:r>
          </a:p>
        </p:txBody>
      </p:sp>
      <p:sp>
        <p:nvSpPr>
          <p:cNvPr id="23" name="TextBox 22"/>
          <p:cNvSpPr txBox="1"/>
          <p:nvPr/>
        </p:nvSpPr>
        <p:spPr>
          <a:xfrm>
            <a:off x="1252728" y="5212080"/>
            <a:ext cx="2331720" cy="457200"/>
          </a:xfrm>
          <a:prstGeom prst="rect">
            <a:avLst/>
          </a:prstGeom>
          <a:noFill/>
        </p:spPr>
        <p:txBody>
          <a:bodyPr wrap="square" lIns="0" tIns="0" rIns="0" bIns="0" anchor="t">
            <a:spAutoFit/>
          </a:bodyPr>
          <a:lstStyle/>
          <a:p>
            <a:pPr algn="l">
              <a:spcAft>
                <a:spcPts val="600"/>
              </a:spcAft>
            </a:pPr>
            <a:r>
              <a:rPr sz="900" b="0" i="0">
                <a:solidFill>
                  <a:srgbClr val="A9B8C9"/>
                </a:solidFill>
                <a:effectLst>
                  <a:glow rad="63500">
                    <a:srgbClr val="001633">
                      <a:alpha val="85000"/>
                    </a:srgbClr>
                  </a:glow>
                </a:effectLst>
                <a:latin typeface="Montserrat"/>
              </a:rPr>
              <a:t>Simula carguío y transporte con el plan. La flota aún no existe: no llegan datos.</a:t>
            </a:r>
          </a:p>
        </p:txBody>
      </p:sp>
      <p:pic>
        <p:nvPicPr>
          <p:cNvPr id="24" name="molino-bolas-planta" descr="molino-bolas-planta.jpg"/>
          <p:cNvPicPr>
            <a:picLocks noChangeAspect="1"/>
          </p:cNvPicPr>
          <p:nvPr/>
        </p:nvPicPr>
        <p:blipFill>
          <a:blip r:embed="rId6">
            <a:duotone>
              <a:srgbClr val="001633"/>
              <a:srgbClr val="A9B8C9"/>
            </a:duotone>
          </a:blip>
          <a:srcRect t="23856" b="23856"/>
          <a:stretch>
            <a:fillRect/>
          </a:stretch>
        </p:blipFill>
        <p:spPr>
          <a:xfrm>
            <a:off x="3813048" y="2514600"/>
            <a:ext cx="2331720" cy="914400"/>
          </a:xfrm>
          <a:prstGeom prst="rect">
            <a:avLst/>
          </a:prstGeom>
        </p:spPr>
      </p:pic>
      <p:sp>
        <p:nvSpPr>
          <p:cNvPr id="25" name="TextBox 24"/>
          <p:cNvSpPr txBox="1"/>
          <p:nvPr/>
        </p:nvSpPr>
        <p:spPr>
          <a:xfrm>
            <a:off x="3813048" y="3502152"/>
            <a:ext cx="2331720" cy="274320"/>
          </a:xfrm>
          <a:prstGeom prst="rect">
            <a:avLst/>
          </a:prstGeom>
          <a:noFill/>
        </p:spPr>
        <p:txBody>
          <a:bodyPr wrap="square" lIns="0" tIns="0" rIns="0" bIns="0" anchor="t">
            <a:spAutoFit/>
          </a:bodyPr>
          <a:lstStyle/>
          <a:p>
            <a:pPr algn="l">
              <a:spcAft>
                <a:spcPts val="600"/>
              </a:spcAft>
            </a:pPr>
            <a:r>
              <a:rPr sz="1300" b="1" i="0">
                <a:solidFill>
                  <a:srgbClr val="FFFFFF"/>
                </a:solidFill>
                <a:effectLst>
                  <a:glow rad="63500">
                    <a:srgbClr val="001633">
                      <a:alpha val="85000"/>
                    </a:srgbClr>
                  </a:glow>
                </a:effectLst>
                <a:latin typeface="Montserrat"/>
              </a:rPr>
              <a:t>Molino nuevo</a:t>
            </a:r>
          </a:p>
        </p:txBody>
      </p:sp>
      <p:sp>
        <p:nvSpPr>
          <p:cNvPr id="26" name="TextBox 25"/>
          <p:cNvSpPr txBox="1"/>
          <p:nvPr/>
        </p:nvSpPr>
        <p:spPr>
          <a:xfrm>
            <a:off x="3813048" y="3785615"/>
            <a:ext cx="2331720" cy="438912"/>
          </a:xfrm>
          <a:prstGeom prst="rect">
            <a:avLst/>
          </a:prstGeom>
          <a:noFill/>
        </p:spPr>
        <p:txBody>
          <a:bodyPr wrap="square" lIns="0" tIns="0" rIns="0" bIns="0" anchor="t">
            <a:spAutoFit/>
          </a:bodyPr>
          <a:lstStyle/>
          <a:p>
            <a:pPr algn="l">
              <a:spcAft>
                <a:spcPts val="600"/>
              </a:spcAft>
            </a:pPr>
            <a:r>
              <a:rPr sz="950" b="0" i="0">
                <a:solidFill>
                  <a:srgbClr val="85D5E6"/>
                </a:solidFill>
                <a:effectLst>
                  <a:glow rad="63500">
                    <a:srgbClr val="001633">
                      <a:alpha val="85000"/>
                    </a:srgbClr>
                  </a:glow>
                </a:effectLst>
                <a:latin typeface="Montserrat"/>
              </a:rPr>
              <a:t>¿Funciona el control antes de la puesta en marcha?</a:t>
            </a:r>
          </a:p>
        </p:txBody>
      </p:sp>
      <p:sp>
        <p:nvSpPr>
          <p:cNvPr id="27" name="Coordenada NIVEL"/>
          <p:cNvSpPr/>
          <p:nvPr/>
        </p:nvSpPr>
        <p:spPr>
          <a:xfrm>
            <a:off x="3813048" y="4279392"/>
            <a:ext cx="746760" cy="384048"/>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3813048" y="4297680"/>
            <a:ext cx="746760" cy="365760"/>
          </a:xfrm>
          <a:prstGeom prst="rect">
            <a:avLst/>
          </a:prstGeom>
          <a:noFill/>
        </p:spPr>
        <p:txBody>
          <a:bodyPr wrap="square" lIns="0" tIns="0" rIns="0" bIns="0" anchor="t">
            <a:spAutoFit/>
          </a:bodyPr>
          <a:lstStyle/>
          <a:p>
            <a:pPr algn="ctr">
              <a:spcAft>
                <a:spcPts val="0"/>
              </a:spcAft>
            </a:pPr>
            <a:r>
              <a:rPr sz="650" b="1" i="0">
                <a:solidFill>
                  <a:srgbClr val="A9B8C9"/>
                </a:solidFill>
                <a:effectLst>
                  <a:glow rad="63500">
                    <a:srgbClr val="001633">
                      <a:alpha val="85000"/>
                    </a:srgbClr>
                  </a:glow>
                </a:effectLst>
                <a:latin typeface="Montserrat"/>
              </a:rPr>
              <a:t>NIVEL</a:t>
            </a:r>
          </a:p>
          <a:p>
            <a:pPr algn="ctr">
              <a:spcAft>
                <a:spcPts val="0"/>
              </a:spcAft>
            </a:pPr>
            <a:r>
              <a:rPr sz="800" b="1" i="0">
                <a:solidFill>
                  <a:srgbClr val="FFAB40"/>
                </a:solidFill>
                <a:effectLst>
                  <a:glow rad="63500">
                    <a:srgbClr val="001633">
                      <a:alpha val="85000"/>
                    </a:srgbClr>
                  </a:glow>
                </a:effectLst>
                <a:latin typeface="Montserrat"/>
              </a:rPr>
              <a:t>Producto</a:t>
            </a:r>
          </a:p>
        </p:txBody>
      </p:sp>
      <p:sp>
        <p:nvSpPr>
          <p:cNvPr id="29" name="Coordenada FASE"/>
          <p:cNvSpPr/>
          <p:nvPr/>
        </p:nvSpPr>
        <p:spPr>
          <a:xfrm>
            <a:off x="4605528" y="4279392"/>
            <a:ext cx="746760" cy="384048"/>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4605528" y="4297680"/>
            <a:ext cx="746760" cy="365760"/>
          </a:xfrm>
          <a:prstGeom prst="rect">
            <a:avLst/>
          </a:prstGeom>
          <a:noFill/>
        </p:spPr>
        <p:txBody>
          <a:bodyPr wrap="square" lIns="0" tIns="0" rIns="0" bIns="0" anchor="t">
            <a:spAutoFit/>
          </a:bodyPr>
          <a:lstStyle/>
          <a:p>
            <a:pPr algn="ctr">
              <a:spcAft>
                <a:spcPts val="0"/>
              </a:spcAft>
            </a:pPr>
            <a:r>
              <a:rPr sz="650" b="1" i="0">
                <a:solidFill>
                  <a:srgbClr val="A9B8C9"/>
                </a:solidFill>
                <a:effectLst>
                  <a:glow rad="63500">
                    <a:srgbClr val="001633">
                      <a:alpha val="85000"/>
                    </a:srgbClr>
                  </a:glow>
                </a:effectLst>
                <a:latin typeface="Montserrat"/>
              </a:rPr>
              <a:t>FASE</a:t>
            </a:r>
          </a:p>
          <a:p>
            <a:pPr algn="ctr">
              <a:spcAft>
                <a:spcPts val="0"/>
              </a:spcAft>
            </a:pPr>
            <a:r>
              <a:rPr sz="800" b="1" i="0">
                <a:solidFill>
                  <a:srgbClr val="FFAB40"/>
                </a:solidFill>
                <a:effectLst>
                  <a:glow rad="63500">
                    <a:srgbClr val="001633">
                      <a:alpha val="85000"/>
                    </a:srgbClr>
                  </a:glow>
                </a:effectLst>
                <a:latin typeface="Montserrat"/>
              </a:rPr>
              <a:t>Construir</a:t>
            </a:r>
          </a:p>
        </p:txBody>
      </p:sp>
      <p:sp>
        <p:nvSpPr>
          <p:cNvPr id="31" name="Coordenada USO"/>
          <p:cNvSpPr/>
          <p:nvPr/>
        </p:nvSpPr>
        <p:spPr>
          <a:xfrm>
            <a:off x="5398008" y="4279392"/>
            <a:ext cx="746760" cy="384048"/>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5398008" y="4297680"/>
            <a:ext cx="746760" cy="365760"/>
          </a:xfrm>
          <a:prstGeom prst="rect">
            <a:avLst/>
          </a:prstGeom>
          <a:noFill/>
        </p:spPr>
        <p:txBody>
          <a:bodyPr wrap="square" lIns="0" tIns="0" rIns="0" bIns="0" anchor="t">
            <a:spAutoFit/>
          </a:bodyPr>
          <a:lstStyle/>
          <a:p>
            <a:pPr algn="ctr">
              <a:spcAft>
                <a:spcPts val="0"/>
              </a:spcAft>
            </a:pPr>
            <a:r>
              <a:rPr sz="650" b="1" i="0">
                <a:solidFill>
                  <a:srgbClr val="A9B8C9"/>
                </a:solidFill>
                <a:effectLst>
                  <a:glow rad="63500">
                    <a:srgbClr val="001633">
                      <a:alpha val="85000"/>
                    </a:srgbClr>
                  </a:glow>
                </a:effectLst>
                <a:latin typeface="Montserrat"/>
              </a:rPr>
              <a:t>USO</a:t>
            </a:r>
          </a:p>
          <a:p>
            <a:pPr algn="ctr">
              <a:spcAft>
                <a:spcPts val="0"/>
              </a:spcAft>
            </a:pPr>
            <a:r>
              <a:rPr sz="800" b="1" i="0">
                <a:solidFill>
                  <a:srgbClr val="FFAB40"/>
                </a:solidFill>
                <a:effectLst>
                  <a:glow rad="63500">
                    <a:srgbClr val="001633">
                      <a:alpha val="85000"/>
                    </a:srgbClr>
                  </a:glow>
                </a:effectLst>
                <a:latin typeface="Montserrat"/>
              </a:rPr>
              <a:t>Emular</a:t>
            </a:r>
          </a:p>
        </p:txBody>
      </p:sp>
      <p:sp>
        <p:nvSpPr>
          <p:cNvPr id="33" name="Bloque mini"/>
          <p:cNvSpPr/>
          <p:nvPr/>
        </p:nvSpPr>
        <p:spPr>
          <a:xfrm>
            <a:off x="3813048" y="4754880"/>
            <a:ext cx="457200" cy="384048"/>
          </a:xfrm>
          <a:prstGeom prst="roundRect">
            <a:avLst/>
          </a:prstGeom>
          <a:solidFill>
            <a:srgbClr val="001633"/>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4" name="Ícono factory" descr="factory-white.png"/>
          <p:cNvPicPr>
            <a:picLocks noChangeAspect="1"/>
          </p:cNvPicPr>
          <p:nvPr/>
        </p:nvPicPr>
        <p:blipFill>
          <a:blip r:embed="rId4"/>
          <a:stretch>
            <a:fillRect/>
          </a:stretch>
        </p:blipFill>
        <p:spPr>
          <a:xfrm>
            <a:off x="3913632" y="4818888"/>
            <a:ext cx="256032" cy="256032"/>
          </a:xfrm>
          <a:prstGeom prst="rect">
            <a:avLst/>
          </a:prstGeom>
        </p:spPr>
      </p:pic>
      <p:sp>
        <p:nvSpPr>
          <p:cNvPr id="35" name="Bloque mini"/>
          <p:cNvSpPr/>
          <p:nvPr/>
        </p:nvSpPr>
        <p:spPr>
          <a:xfrm>
            <a:off x="4453128" y="4754880"/>
            <a:ext cx="457200" cy="384048"/>
          </a:xfrm>
          <a:prstGeom prst="roundRect">
            <a:avLst/>
          </a:prstGeom>
          <a:solidFill>
            <a:srgbClr val="001633"/>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6" name="Ícono monitor" descr="monitor-white.png"/>
          <p:cNvPicPr>
            <a:picLocks noChangeAspect="1"/>
          </p:cNvPicPr>
          <p:nvPr/>
        </p:nvPicPr>
        <p:blipFill>
          <a:blip r:embed="rId5"/>
          <a:stretch>
            <a:fillRect/>
          </a:stretch>
        </p:blipFill>
        <p:spPr>
          <a:xfrm>
            <a:off x="4553712" y="4818888"/>
            <a:ext cx="256032" cy="256032"/>
          </a:xfrm>
          <a:prstGeom prst="rect">
            <a:avLst/>
          </a:prstGeom>
        </p:spPr>
      </p:pic>
      <p:cxnSp>
        <p:nvCxnSpPr>
          <p:cNvPr id="37" name="Connector 36"/>
          <p:cNvCxnSpPr/>
          <p:nvPr/>
        </p:nvCxnSpPr>
        <p:spPr>
          <a:xfrm>
            <a:off x="4270248" y="4873752"/>
            <a:ext cx="182880" cy="0"/>
          </a:xfrm>
          <a:prstGeom prst="line">
            <a:avLst/>
          </a:prstGeom>
          <a:ln w="15875">
            <a:solidFill>
              <a:srgbClr val="FFFFFF"/>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4270248" y="5029200"/>
            <a:ext cx="182880" cy="0"/>
          </a:xfrm>
          <a:prstGeom prst="line">
            <a:avLst/>
          </a:prstGeom>
          <a:ln w="15875">
            <a:solidFill>
              <a:srgbClr val="FFFFF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020056" y="4754880"/>
            <a:ext cx="1124712" cy="384048"/>
          </a:xfrm>
          <a:prstGeom prst="rect">
            <a:avLst/>
          </a:prstGeom>
          <a:noFill/>
        </p:spPr>
        <p:txBody>
          <a:bodyPr wrap="square" lIns="0" tIns="0" rIns="0" bIns="0" anchor="ctr">
            <a:spAutoFit/>
          </a:bodyPr>
          <a:lstStyle/>
          <a:p>
            <a:pPr algn="l">
              <a:spcAft>
                <a:spcPts val="600"/>
              </a:spcAft>
            </a:pPr>
            <a:r>
              <a:rPr sz="1200" b="1" i="0">
                <a:solidFill>
                  <a:srgbClr val="FFFFFF"/>
                </a:solidFill>
                <a:effectLst>
                  <a:glow rad="63500">
                    <a:srgbClr val="001633">
                      <a:alpha val="85000"/>
                    </a:srgbClr>
                  </a:glow>
                </a:effectLst>
                <a:latin typeface="Montserrat"/>
              </a:rPr>
              <a:t>Modelo</a:t>
            </a:r>
          </a:p>
        </p:txBody>
      </p:sp>
      <p:sp>
        <p:nvSpPr>
          <p:cNvPr id="40" name="TextBox 39"/>
          <p:cNvSpPr txBox="1"/>
          <p:nvPr/>
        </p:nvSpPr>
        <p:spPr>
          <a:xfrm>
            <a:off x="3813048" y="5212080"/>
            <a:ext cx="2331720" cy="457200"/>
          </a:xfrm>
          <a:prstGeom prst="rect">
            <a:avLst/>
          </a:prstGeom>
          <a:noFill/>
        </p:spPr>
        <p:txBody>
          <a:bodyPr wrap="square" lIns="0" tIns="0" rIns="0" bIns="0" anchor="t">
            <a:spAutoFit/>
          </a:bodyPr>
          <a:lstStyle/>
          <a:p>
            <a:pPr algn="l">
              <a:spcAft>
                <a:spcPts val="600"/>
              </a:spcAft>
            </a:pPr>
            <a:r>
              <a:rPr sz="900" b="0" i="0">
                <a:solidFill>
                  <a:srgbClr val="A9B8C9"/>
                </a:solidFill>
                <a:effectLst>
                  <a:glow rad="63500">
                    <a:srgbClr val="001633">
                      <a:alpha val="85000"/>
                    </a:srgbClr>
                  </a:glow>
                </a:effectLst>
                <a:latin typeface="Montserrat"/>
              </a:rPr>
              <a:t>El control real maneja un molino virtual para probar la lógica y entrenar.</a:t>
            </a:r>
          </a:p>
        </p:txBody>
      </p:sp>
      <p:pic>
        <p:nvPicPr>
          <p:cNvPr id="41" name="nivel2-neumatico-michelin" descr="nivel2-neumatico-michelin.jpg"/>
          <p:cNvPicPr>
            <a:picLocks noChangeAspect="1"/>
          </p:cNvPicPr>
          <p:nvPr/>
        </p:nvPicPr>
        <p:blipFill>
          <a:blip r:embed="rId7">
            <a:duotone>
              <a:srgbClr val="001633"/>
              <a:srgbClr val="A9B8C9"/>
            </a:duotone>
          </a:blip>
          <a:srcRect t="19639" b="19639"/>
          <a:stretch>
            <a:fillRect/>
          </a:stretch>
        </p:blipFill>
        <p:spPr>
          <a:xfrm>
            <a:off x="6373368" y="2514600"/>
            <a:ext cx="2331720" cy="914400"/>
          </a:xfrm>
          <a:prstGeom prst="rect">
            <a:avLst/>
          </a:prstGeom>
        </p:spPr>
      </p:pic>
      <p:sp>
        <p:nvSpPr>
          <p:cNvPr id="42" name="TextBox 41"/>
          <p:cNvSpPr txBox="1"/>
          <p:nvPr/>
        </p:nvSpPr>
        <p:spPr>
          <a:xfrm>
            <a:off x="6373368" y="3502152"/>
            <a:ext cx="2331720" cy="274320"/>
          </a:xfrm>
          <a:prstGeom prst="rect">
            <a:avLst/>
          </a:prstGeom>
          <a:noFill/>
        </p:spPr>
        <p:txBody>
          <a:bodyPr wrap="square" lIns="0" tIns="0" rIns="0" bIns="0" anchor="t">
            <a:spAutoFit/>
          </a:bodyPr>
          <a:lstStyle/>
          <a:p>
            <a:pPr algn="l">
              <a:spcAft>
                <a:spcPts val="600"/>
              </a:spcAft>
            </a:pPr>
            <a:r>
              <a:rPr sz="1300" b="1" i="0">
                <a:solidFill>
                  <a:srgbClr val="FFFFFF"/>
                </a:solidFill>
                <a:effectLst>
                  <a:glow rad="63500">
                    <a:srgbClr val="001633">
                      <a:alpha val="85000"/>
                    </a:srgbClr>
                  </a:glow>
                </a:effectLst>
                <a:latin typeface="Montserrat"/>
              </a:rPr>
              <a:t>Neumáticos de la flota</a:t>
            </a:r>
          </a:p>
        </p:txBody>
      </p:sp>
      <p:sp>
        <p:nvSpPr>
          <p:cNvPr id="43" name="TextBox 42"/>
          <p:cNvSpPr txBox="1"/>
          <p:nvPr/>
        </p:nvSpPr>
        <p:spPr>
          <a:xfrm>
            <a:off x="6373368" y="3785615"/>
            <a:ext cx="2331720" cy="438912"/>
          </a:xfrm>
          <a:prstGeom prst="rect">
            <a:avLst/>
          </a:prstGeom>
          <a:noFill/>
        </p:spPr>
        <p:txBody>
          <a:bodyPr wrap="square" lIns="0" tIns="0" rIns="0" bIns="0" anchor="t">
            <a:spAutoFit/>
          </a:bodyPr>
          <a:lstStyle/>
          <a:p>
            <a:pPr algn="l">
              <a:spcAft>
                <a:spcPts val="600"/>
              </a:spcAft>
            </a:pPr>
            <a:r>
              <a:rPr sz="950" b="0" i="0">
                <a:solidFill>
                  <a:srgbClr val="85D5E6"/>
                </a:solidFill>
                <a:effectLst>
                  <a:glow rad="63500">
                    <a:srgbClr val="001633">
                      <a:alpha val="85000"/>
                    </a:srgbClr>
                  </a:glow>
                </a:effectLst>
                <a:latin typeface="Montserrat"/>
              </a:rPr>
              <a:t>¿Cuándo cambiar cada neumático sin arriesgar una falla?</a:t>
            </a:r>
          </a:p>
        </p:txBody>
      </p:sp>
      <p:sp>
        <p:nvSpPr>
          <p:cNvPr id="44" name="Coordenada NIVEL"/>
          <p:cNvSpPr/>
          <p:nvPr/>
        </p:nvSpPr>
        <p:spPr>
          <a:xfrm>
            <a:off x="6373368" y="4279392"/>
            <a:ext cx="746760" cy="384048"/>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6373368" y="4297680"/>
            <a:ext cx="746760" cy="365760"/>
          </a:xfrm>
          <a:prstGeom prst="rect">
            <a:avLst/>
          </a:prstGeom>
          <a:noFill/>
        </p:spPr>
        <p:txBody>
          <a:bodyPr wrap="square" lIns="0" tIns="0" rIns="0" bIns="0" anchor="t">
            <a:spAutoFit/>
          </a:bodyPr>
          <a:lstStyle/>
          <a:p>
            <a:pPr algn="ctr">
              <a:spcAft>
                <a:spcPts val="0"/>
              </a:spcAft>
            </a:pPr>
            <a:r>
              <a:rPr sz="650" b="1" i="0">
                <a:solidFill>
                  <a:srgbClr val="A9B8C9"/>
                </a:solidFill>
                <a:effectLst>
                  <a:glow rad="63500">
                    <a:srgbClr val="001633">
                      <a:alpha val="85000"/>
                    </a:srgbClr>
                  </a:glow>
                </a:effectLst>
                <a:latin typeface="Montserrat"/>
              </a:rPr>
              <a:t>NIVEL</a:t>
            </a:r>
          </a:p>
          <a:p>
            <a:pPr algn="ctr">
              <a:spcAft>
                <a:spcPts val="0"/>
              </a:spcAft>
            </a:pPr>
            <a:r>
              <a:rPr sz="800" b="1" i="0">
                <a:solidFill>
                  <a:srgbClr val="FFAB40"/>
                </a:solidFill>
                <a:effectLst>
                  <a:glow rad="63500">
                    <a:srgbClr val="001633">
                      <a:alpha val="85000"/>
                    </a:srgbClr>
                  </a:glow>
                </a:effectLst>
                <a:latin typeface="Montserrat"/>
              </a:rPr>
              <a:t>Componente</a:t>
            </a:r>
          </a:p>
        </p:txBody>
      </p:sp>
      <p:sp>
        <p:nvSpPr>
          <p:cNvPr id="46" name="Coordenada FASE"/>
          <p:cNvSpPr/>
          <p:nvPr/>
        </p:nvSpPr>
        <p:spPr>
          <a:xfrm>
            <a:off x="7165848" y="4279392"/>
            <a:ext cx="746760" cy="384048"/>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7165848" y="4297680"/>
            <a:ext cx="746760" cy="365760"/>
          </a:xfrm>
          <a:prstGeom prst="rect">
            <a:avLst/>
          </a:prstGeom>
          <a:noFill/>
        </p:spPr>
        <p:txBody>
          <a:bodyPr wrap="square" lIns="0" tIns="0" rIns="0" bIns="0" anchor="t">
            <a:spAutoFit/>
          </a:bodyPr>
          <a:lstStyle/>
          <a:p>
            <a:pPr algn="ctr">
              <a:spcAft>
                <a:spcPts val="0"/>
              </a:spcAft>
            </a:pPr>
            <a:r>
              <a:rPr sz="650" b="1" i="0">
                <a:solidFill>
                  <a:srgbClr val="A9B8C9"/>
                </a:solidFill>
                <a:effectLst>
                  <a:glow rad="63500">
                    <a:srgbClr val="001633">
                      <a:alpha val="85000"/>
                    </a:srgbClr>
                  </a:glow>
                </a:effectLst>
                <a:latin typeface="Montserrat"/>
              </a:rPr>
              <a:t>FASE</a:t>
            </a:r>
          </a:p>
          <a:p>
            <a:pPr algn="ctr">
              <a:spcAft>
                <a:spcPts val="0"/>
              </a:spcAft>
            </a:pPr>
            <a:r>
              <a:rPr sz="800" b="1" i="0">
                <a:solidFill>
                  <a:srgbClr val="FFAB40"/>
                </a:solidFill>
                <a:effectLst>
                  <a:glow rad="63500">
                    <a:srgbClr val="001633">
                      <a:alpha val="85000"/>
                    </a:srgbClr>
                  </a:glow>
                </a:effectLst>
                <a:latin typeface="Montserrat"/>
              </a:rPr>
              <a:t>Mantener</a:t>
            </a:r>
          </a:p>
        </p:txBody>
      </p:sp>
      <p:sp>
        <p:nvSpPr>
          <p:cNvPr id="48" name="Coordenada USO"/>
          <p:cNvSpPr/>
          <p:nvPr/>
        </p:nvSpPr>
        <p:spPr>
          <a:xfrm>
            <a:off x="7958328" y="4279392"/>
            <a:ext cx="746760" cy="384048"/>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7958328" y="4297680"/>
            <a:ext cx="746760" cy="365760"/>
          </a:xfrm>
          <a:prstGeom prst="rect">
            <a:avLst/>
          </a:prstGeom>
          <a:noFill/>
        </p:spPr>
        <p:txBody>
          <a:bodyPr wrap="square" lIns="0" tIns="0" rIns="0" bIns="0" anchor="t">
            <a:spAutoFit/>
          </a:bodyPr>
          <a:lstStyle/>
          <a:p>
            <a:pPr algn="ctr">
              <a:spcAft>
                <a:spcPts val="0"/>
              </a:spcAft>
            </a:pPr>
            <a:r>
              <a:rPr sz="650" b="1" i="0">
                <a:solidFill>
                  <a:srgbClr val="A9B8C9"/>
                </a:solidFill>
                <a:effectLst>
                  <a:glow rad="63500">
                    <a:srgbClr val="001633">
                      <a:alpha val="85000"/>
                    </a:srgbClr>
                  </a:glow>
                </a:effectLst>
                <a:latin typeface="Montserrat"/>
              </a:rPr>
              <a:t>USO</a:t>
            </a:r>
          </a:p>
          <a:p>
            <a:pPr algn="ctr">
              <a:spcAft>
                <a:spcPts val="0"/>
              </a:spcAft>
            </a:pPr>
            <a:r>
              <a:rPr sz="800" b="1" i="0">
                <a:solidFill>
                  <a:srgbClr val="FFAB40"/>
                </a:solidFill>
                <a:effectLst>
                  <a:glow rad="63500">
                    <a:srgbClr val="001633">
                      <a:alpha val="85000"/>
                    </a:srgbClr>
                  </a:glow>
                </a:effectLst>
                <a:latin typeface="Montserrat"/>
              </a:rPr>
              <a:t>Predecir</a:t>
            </a:r>
          </a:p>
        </p:txBody>
      </p:sp>
      <p:sp>
        <p:nvSpPr>
          <p:cNvPr id="50" name="Bloque mini"/>
          <p:cNvSpPr/>
          <p:nvPr/>
        </p:nvSpPr>
        <p:spPr>
          <a:xfrm>
            <a:off x="6373368" y="4754880"/>
            <a:ext cx="457200" cy="384048"/>
          </a:xfrm>
          <a:prstGeom prst="roundRect">
            <a:avLst/>
          </a:prstGeom>
          <a:solidFill>
            <a:srgbClr val="001633"/>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1" name="Ícono factory" descr="factory-white.png"/>
          <p:cNvPicPr>
            <a:picLocks noChangeAspect="1"/>
          </p:cNvPicPr>
          <p:nvPr/>
        </p:nvPicPr>
        <p:blipFill>
          <a:blip r:embed="rId4"/>
          <a:stretch>
            <a:fillRect/>
          </a:stretch>
        </p:blipFill>
        <p:spPr>
          <a:xfrm>
            <a:off x="6473952" y="4818888"/>
            <a:ext cx="256032" cy="256032"/>
          </a:xfrm>
          <a:prstGeom prst="rect">
            <a:avLst/>
          </a:prstGeom>
        </p:spPr>
      </p:pic>
      <p:sp>
        <p:nvSpPr>
          <p:cNvPr id="52" name="Bloque mini"/>
          <p:cNvSpPr/>
          <p:nvPr/>
        </p:nvSpPr>
        <p:spPr>
          <a:xfrm>
            <a:off x="7013448" y="4754880"/>
            <a:ext cx="457200" cy="384048"/>
          </a:xfrm>
          <a:prstGeom prst="roundRect">
            <a:avLst/>
          </a:prstGeom>
          <a:solidFill>
            <a:srgbClr val="001633"/>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3" name="Ícono monitor" descr="monitor-white.png"/>
          <p:cNvPicPr>
            <a:picLocks noChangeAspect="1"/>
          </p:cNvPicPr>
          <p:nvPr/>
        </p:nvPicPr>
        <p:blipFill>
          <a:blip r:embed="rId5"/>
          <a:stretch>
            <a:fillRect/>
          </a:stretch>
        </p:blipFill>
        <p:spPr>
          <a:xfrm>
            <a:off x="7114032" y="4818888"/>
            <a:ext cx="256032" cy="256032"/>
          </a:xfrm>
          <a:prstGeom prst="rect">
            <a:avLst/>
          </a:prstGeom>
        </p:spPr>
      </p:pic>
      <p:cxnSp>
        <p:nvCxnSpPr>
          <p:cNvPr id="54" name="Connector 53"/>
          <p:cNvCxnSpPr/>
          <p:nvPr/>
        </p:nvCxnSpPr>
        <p:spPr>
          <a:xfrm>
            <a:off x="6830568" y="4873752"/>
            <a:ext cx="182880" cy="0"/>
          </a:xfrm>
          <a:prstGeom prst="line">
            <a:avLst/>
          </a:prstGeom>
          <a:ln w="2857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6830568" y="5029200"/>
            <a:ext cx="182880" cy="0"/>
          </a:xfrm>
          <a:prstGeom prst="line">
            <a:avLst/>
          </a:prstGeom>
          <a:ln w="15875">
            <a:solidFill>
              <a:srgbClr val="FFFFF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7580376" y="4754880"/>
            <a:ext cx="1124712" cy="384048"/>
          </a:xfrm>
          <a:prstGeom prst="rect">
            <a:avLst/>
          </a:prstGeom>
          <a:noFill/>
        </p:spPr>
        <p:txBody>
          <a:bodyPr wrap="square" lIns="0" tIns="0" rIns="0" bIns="0" anchor="ctr">
            <a:spAutoFit/>
          </a:bodyPr>
          <a:lstStyle/>
          <a:p>
            <a:pPr algn="l">
              <a:spcAft>
                <a:spcPts val="600"/>
              </a:spcAft>
            </a:pPr>
            <a:r>
              <a:rPr sz="1200" b="1" i="0">
                <a:solidFill>
                  <a:srgbClr val="FFFFFF"/>
                </a:solidFill>
                <a:effectLst>
                  <a:glow rad="63500">
                    <a:srgbClr val="001633">
                      <a:alpha val="85000"/>
                    </a:srgbClr>
                  </a:glow>
                </a:effectLst>
                <a:latin typeface="Montserrat"/>
              </a:rPr>
              <a:t>Sombra</a:t>
            </a:r>
          </a:p>
        </p:txBody>
      </p:sp>
      <p:sp>
        <p:nvSpPr>
          <p:cNvPr id="57" name="TextBox 56"/>
          <p:cNvSpPr txBox="1"/>
          <p:nvPr/>
        </p:nvSpPr>
        <p:spPr>
          <a:xfrm>
            <a:off x="6373368" y="5212080"/>
            <a:ext cx="2331720" cy="457200"/>
          </a:xfrm>
          <a:prstGeom prst="rect">
            <a:avLst/>
          </a:prstGeom>
          <a:noFill/>
        </p:spPr>
        <p:txBody>
          <a:bodyPr wrap="square" lIns="0" tIns="0" rIns="0" bIns="0" anchor="t">
            <a:spAutoFit/>
          </a:bodyPr>
          <a:lstStyle/>
          <a:p>
            <a:pPr algn="l">
              <a:spcAft>
                <a:spcPts val="600"/>
              </a:spcAft>
            </a:pPr>
            <a:r>
              <a:rPr sz="900" b="0" i="0">
                <a:solidFill>
                  <a:srgbClr val="A9B8C9"/>
                </a:solidFill>
                <a:effectLst>
                  <a:glow rad="63500">
                    <a:srgbClr val="001633">
                      <a:alpha val="85000"/>
                    </a:srgbClr>
                  </a:glow>
                </a:effectLst>
                <a:latin typeface="Montserrat"/>
              </a:rPr>
              <a:t>Los sensores alimentan el modelo; el cambio lo decide mantenimiento.</a:t>
            </a:r>
          </a:p>
        </p:txBody>
      </p:sp>
      <p:pic>
        <p:nvPicPr>
          <p:cNvPr id="58" name="uso6-ventilador-mina" descr="uso6-ventilador-mina.jpg"/>
          <p:cNvPicPr>
            <a:picLocks noChangeAspect="1"/>
          </p:cNvPicPr>
          <p:nvPr/>
        </p:nvPicPr>
        <p:blipFill>
          <a:blip r:embed="rId8">
            <a:duotone>
              <a:srgbClr val="001633"/>
              <a:srgbClr val="A9B8C9"/>
            </a:duotone>
          </a:blip>
          <a:srcRect t="24862" b="24862"/>
          <a:stretch>
            <a:fillRect/>
          </a:stretch>
        </p:blipFill>
        <p:spPr>
          <a:xfrm>
            <a:off x="8933688" y="2514600"/>
            <a:ext cx="2331720" cy="914400"/>
          </a:xfrm>
          <a:prstGeom prst="rect">
            <a:avLst/>
          </a:prstGeom>
        </p:spPr>
      </p:pic>
      <p:sp>
        <p:nvSpPr>
          <p:cNvPr id="59" name="TextBox 58"/>
          <p:cNvSpPr txBox="1"/>
          <p:nvPr/>
        </p:nvSpPr>
        <p:spPr>
          <a:xfrm>
            <a:off x="8933688" y="3502152"/>
            <a:ext cx="2331720" cy="274320"/>
          </a:xfrm>
          <a:prstGeom prst="rect">
            <a:avLst/>
          </a:prstGeom>
          <a:noFill/>
        </p:spPr>
        <p:txBody>
          <a:bodyPr wrap="square" lIns="0" tIns="0" rIns="0" bIns="0" anchor="t">
            <a:spAutoFit/>
          </a:bodyPr>
          <a:lstStyle/>
          <a:p>
            <a:pPr algn="l">
              <a:spcAft>
                <a:spcPts val="600"/>
              </a:spcAft>
            </a:pPr>
            <a:r>
              <a:rPr sz="1300" b="1" i="0">
                <a:solidFill>
                  <a:srgbClr val="FFFFFF"/>
                </a:solidFill>
                <a:effectLst>
                  <a:glow rad="63500">
                    <a:srgbClr val="001633">
                      <a:alpha val="85000"/>
                    </a:srgbClr>
                  </a:glow>
                </a:effectLst>
                <a:latin typeface="Montserrat"/>
              </a:rPr>
              <a:t>Ventilación subterránea</a:t>
            </a:r>
          </a:p>
        </p:txBody>
      </p:sp>
      <p:sp>
        <p:nvSpPr>
          <p:cNvPr id="60" name="TextBox 59"/>
          <p:cNvSpPr txBox="1"/>
          <p:nvPr/>
        </p:nvSpPr>
        <p:spPr>
          <a:xfrm>
            <a:off x="8933688" y="3785615"/>
            <a:ext cx="2331720" cy="438912"/>
          </a:xfrm>
          <a:prstGeom prst="rect">
            <a:avLst/>
          </a:prstGeom>
          <a:noFill/>
        </p:spPr>
        <p:txBody>
          <a:bodyPr wrap="square" lIns="0" tIns="0" rIns="0" bIns="0" anchor="t">
            <a:spAutoFit/>
          </a:bodyPr>
          <a:lstStyle/>
          <a:p>
            <a:pPr algn="l">
              <a:spcAft>
                <a:spcPts val="600"/>
              </a:spcAft>
            </a:pPr>
            <a:r>
              <a:rPr sz="950" b="0" i="0">
                <a:solidFill>
                  <a:srgbClr val="85D5E6"/>
                </a:solidFill>
                <a:effectLst>
                  <a:glow rad="63500">
                    <a:srgbClr val="001633">
                      <a:alpha val="85000"/>
                    </a:srgbClr>
                  </a:glow>
                </a:effectLst>
                <a:latin typeface="Montserrat"/>
              </a:rPr>
              <a:t>¿Cuánto aire enviar a cada frente según quién trabaja ahí?</a:t>
            </a:r>
          </a:p>
        </p:txBody>
      </p:sp>
      <p:sp>
        <p:nvSpPr>
          <p:cNvPr id="61" name="Coordenada NIVEL"/>
          <p:cNvSpPr/>
          <p:nvPr/>
        </p:nvSpPr>
        <p:spPr>
          <a:xfrm>
            <a:off x="8933688" y="4279392"/>
            <a:ext cx="746760" cy="384048"/>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TextBox 61"/>
          <p:cNvSpPr txBox="1"/>
          <p:nvPr/>
        </p:nvSpPr>
        <p:spPr>
          <a:xfrm>
            <a:off x="8933688" y="4297680"/>
            <a:ext cx="746760" cy="365760"/>
          </a:xfrm>
          <a:prstGeom prst="rect">
            <a:avLst/>
          </a:prstGeom>
          <a:noFill/>
        </p:spPr>
        <p:txBody>
          <a:bodyPr wrap="square" lIns="0" tIns="0" rIns="0" bIns="0" anchor="t">
            <a:spAutoFit/>
          </a:bodyPr>
          <a:lstStyle/>
          <a:p>
            <a:pPr algn="ctr">
              <a:spcAft>
                <a:spcPts val="0"/>
              </a:spcAft>
            </a:pPr>
            <a:r>
              <a:rPr sz="650" b="1" i="0">
                <a:solidFill>
                  <a:srgbClr val="A9B8C9"/>
                </a:solidFill>
                <a:effectLst>
                  <a:glow rad="63500">
                    <a:srgbClr val="001633">
                      <a:alpha val="85000"/>
                    </a:srgbClr>
                  </a:glow>
                </a:effectLst>
                <a:latin typeface="Montserrat"/>
              </a:rPr>
              <a:t>NIVEL</a:t>
            </a:r>
          </a:p>
          <a:p>
            <a:pPr algn="ctr">
              <a:spcAft>
                <a:spcPts val="0"/>
              </a:spcAft>
            </a:pPr>
            <a:r>
              <a:rPr sz="800" b="1" i="0">
                <a:solidFill>
                  <a:srgbClr val="FFAB40"/>
                </a:solidFill>
                <a:effectLst>
                  <a:glow rad="63500">
                    <a:srgbClr val="001633">
                      <a:alpha val="85000"/>
                    </a:srgbClr>
                  </a:glow>
                </a:effectLst>
                <a:latin typeface="Montserrat"/>
              </a:rPr>
              <a:t>Proceso</a:t>
            </a:r>
          </a:p>
        </p:txBody>
      </p:sp>
      <p:sp>
        <p:nvSpPr>
          <p:cNvPr id="63" name="Coordenada FASE"/>
          <p:cNvSpPr/>
          <p:nvPr/>
        </p:nvSpPr>
        <p:spPr>
          <a:xfrm>
            <a:off x="9726168" y="4279392"/>
            <a:ext cx="746760" cy="384048"/>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Box 63"/>
          <p:cNvSpPr txBox="1"/>
          <p:nvPr/>
        </p:nvSpPr>
        <p:spPr>
          <a:xfrm>
            <a:off x="9726168" y="4297680"/>
            <a:ext cx="746760" cy="365760"/>
          </a:xfrm>
          <a:prstGeom prst="rect">
            <a:avLst/>
          </a:prstGeom>
          <a:noFill/>
        </p:spPr>
        <p:txBody>
          <a:bodyPr wrap="square" lIns="0" tIns="0" rIns="0" bIns="0" anchor="t">
            <a:spAutoFit/>
          </a:bodyPr>
          <a:lstStyle/>
          <a:p>
            <a:pPr algn="ctr">
              <a:spcAft>
                <a:spcPts val="0"/>
              </a:spcAft>
            </a:pPr>
            <a:r>
              <a:rPr sz="650" b="1" i="0">
                <a:solidFill>
                  <a:srgbClr val="A9B8C9"/>
                </a:solidFill>
                <a:effectLst>
                  <a:glow rad="63500">
                    <a:srgbClr val="001633">
                      <a:alpha val="85000"/>
                    </a:srgbClr>
                  </a:glow>
                </a:effectLst>
                <a:latin typeface="Montserrat"/>
              </a:rPr>
              <a:t>FASE</a:t>
            </a:r>
          </a:p>
          <a:p>
            <a:pPr algn="ctr">
              <a:spcAft>
                <a:spcPts val="0"/>
              </a:spcAft>
            </a:pPr>
            <a:r>
              <a:rPr sz="800" b="1" i="0">
                <a:solidFill>
                  <a:srgbClr val="FFAB40"/>
                </a:solidFill>
                <a:effectLst>
                  <a:glow rad="63500">
                    <a:srgbClr val="001633">
                      <a:alpha val="85000"/>
                    </a:srgbClr>
                  </a:glow>
                </a:effectLst>
                <a:latin typeface="Montserrat"/>
              </a:rPr>
              <a:t>Operar</a:t>
            </a:r>
          </a:p>
        </p:txBody>
      </p:sp>
      <p:sp>
        <p:nvSpPr>
          <p:cNvPr id="65" name="Coordenada USO"/>
          <p:cNvSpPr/>
          <p:nvPr/>
        </p:nvSpPr>
        <p:spPr>
          <a:xfrm>
            <a:off x="10518648" y="4279392"/>
            <a:ext cx="746760" cy="384048"/>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Box 65"/>
          <p:cNvSpPr txBox="1"/>
          <p:nvPr/>
        </p:nvSpPr>
        <p:spPr>
          <a:xfrm>
            <a:off x="10518648" y="4297680"/>
            <a:ext cx="746760" cy="365760"/>
          </a:xfrm>
          <a:prstGeom prst="rect">
            <a:avLst/>
          </a:prstGeom>
          <a:noFill/>
        </p:spPr>
        <p:txBody>
          <a:bodyPr wrap="square" lIns="0" tIns="0" rIns="0" bIns="0" anchor="t">
            <a:spAutoFit/>
          </a:bodyPr>
          <a:lstStyle/>
          <a:p>
            <a:pPr algn="ctr">
              <a:spcAft>
                <a:spcPts val="0"/>
              </a:spcAft>
            </a:pPr>
            <a:r>
              <a:rPr sz="650" b="1" i="0">
                <a:solidFill>
                  <a:srgbClr val="A9B8C9"/>
                </a:solidFill>
                <a:effectLst>
                  <a:glow rad="63500">
                    <a:srgbClr val="001633">
                      <a:alpha val="85000"/>
                    </a:srgbClr>
                  </a:glow>
                </a:effectLst>
                <a:latin typeface="Montserrat"/>
              </a:rPr>
              <a:t>USO</a:t>
            </a:r>
          </a:p>
          <a:p>
            <a:pPr algn="ctr">
              <a:spcAft>
                <a:spcPts val="0"/>
              </a:spcAft>
            </a:pPr>
            <a:r>
              <a:rPr sz="800" b="1" i="0">
                <a:solidFill>
                  <a:srgbClr val="FFAB40"/>
                </a:solidFill>
                <a:effectLst>
                  <a:glow rad="63500">
                    <a:srgbClr val="001633">
                      <a:alpha val="85000"/>
                    </a:srgbClr>
                  </a:glow>
                </a:effectLst>
                <a:latin typeface="Montserrat"/>
              </a:rPr>
              <a:t>Orquestar</a:t>
            </a:r>
          </a:p>
        </p:txBody>
      </p:sp>
      <p:sp>
        <p:nvSpPr>
          <p:cNvPr id="67" name="Bloque mini"/>
          <p:cNvSpPr/>
          <p:nvPr/>
        </p:nvSpPr>
        <p:spPr>
          <a:xfrm>
            <a:off x="8933688" y="4754880"/>
            <a:ext cx="457200" cy="384048"/>
          </a:xfrm>
          <a:prstGeom prst="roundRect">
            <a:avLst/>
          </a:prstGeom>
          <a:solidFill>
            <a:srgbClr val="001633"/>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8" name="Ícono factory" descr="factory-white.png"/>
          <p:cNvPicPr>
            <a:picLocks noChangeAspect="1"/>
          </p:cNvPicPr>
          <p:nvPr/>
        </p:nvPicPr>
        <p:blipFill>
          <a:blip r:embed="rId4"/>
          <a:stretch>
            <a:fillRect/>
          </a:stretch>
        </p:blipFill>
        <p:spPr>
          <a:xfrm>
            <a:off x="9034272" y="4818888"/>
            <a:ext cx="256032" cy="256032"/>
          </a:xfrm>
          <a:prstGeom prst="rect">
            <a:avLst/>
          </a:prstGeom>
        </p:spPr>
      </p:pic>
      <p:sp>
        <p:nvSpPr>
          <p:cNvPr id="69" name="Bloque mini"/>
          <p:cNvSpPr/>
          <p:nvPr/>
        </p:nvSpPr>
        <p:spPr>
          <a:xfrm>
            <a:off x="9573768" y="4754880"/>
            <a:ext cx="457200" cy="384048"/>
          </a:xfrm>
          <a:prstGeom prst="roundRect">
            <a:avLst/>
          </a:prstGeom>
          <a:solidFill>
            <a:srgbClr val="001633"/>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0" name="Ícono monitor" descr="monitor-white.png"/>
          <p:cNvPicPr>
            <a:picLocks noChangeAspect="1"/>
          </p:cNvPicPr>
          <p:nvPr/>
        </p:nvPicPr>
        <p:blipFill>
          <a:blip r:embed="rId5"/>
          <a:stretch>
            <a:fillRect/>
          </a:stretch>
        </p:blipFill>
        <p:spPr>
          <a:xfrm>
            <a:off x="9674352" y="4818888"/>
            <a:ext cx="256032" cy="256032"/>
          </a:xfrm>
          <a:prstGeom prst="rect">
            <a:avLst/>
          </a:prstGeom>
        </p:spPr>
      </p:pic>
      <p:cxnSp>
        <p:nvCxnSpPr>
          <p:cNvPr id="71" name="Connector 70"/>
          <p:cNvCxnSpPr/>
          <p:nvPr/>
        </p:nvCxnSpPr>
        <p:spPr>
          <a:xfrm>
            <a:off x="9390888" y="4873752"/>
            <a:ext cx="182880" cy="0"/>
          </a:xfrm>
          <a:prstGeom prst="line">
            <a:avLst/>
          </a:prstGeom>
          <a:ln w="28575">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9390888" y="5029200"/>
            <a:ext cx="182880" cy="0"/>
          </a:xfrm>
          <a:prstGeom prst="line">
            <a:avLst/>
          </a:prstGeom>
          <a:ln w="28575">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10140696" y="4754880"/>
            <a:ext cx="1124712" cy="384048"/>
          </a:xfrm>
          <a:prstGeom prst="rect">
            <a:avLst/>
          </a:prstGeom>
          <a:noFill/>
        </p:spPr>
        <p:txBody>
          <a:bodyPr wrap="square" lIns="0" tIns="0" rIns="0" bIns="0" anchor="ctr">
            <a:spAutoFit/>
          </a:bodyPr>
          <a:lstStyle/>
          <a:p>
            <a:pPr algn="l">
              <a:spcAft>
                <a:spcPts val="600"/>
              </a:spcAft>
            </a:pPr>
            <a:r>
              <a:rPr sz="1200" b="1" i="0">
                <a:solidFill>
                  <a:srgbClr val="FFAB40"/>
                </a:solidFill>
                <a:effectLst>
                  <a:glow rad="63500">
                    <a:srgbClr val="001633">
                      <a:alpha val="85000"/>
                    </a:srgbClr>
                  </a:glow>
                </a:effectLst>
                <a:latin typeface="Montserrat"/>
              </a:rPr>
              <a:t>Gemelo</a:t>
            </a:r>
          </a:p>
        </p:txBody>
      </p:sp>
      <p:sp>
        <p:nvSpPr>
          <p:cNvPr id="74" name="TextBox 73"/>
          <p:cNvSpPr txBox="1"/>
          <p:nvPr/>
        </p:nvSpPr>
        <p:spPr>
          <a:xfrm>
            <a:off x="8933688" y="5212080"/>
            <a:ext cx="2331720" cy="457200"/>
          </a:xfrm>
          <a:prstGeom prst="rect">
            <a:avLst/>
          </a:prstGeom>
          <a:noFill/>
        </p:spPr>
        <p:txBody>
          <a:bodyPr wrap="square" lIns="0" tIns="0" rIns="0" bIns="0" anchor="t">
            <a:spAutoFit/>
          </a:bodyPr>
          <a:lstStyle/>
          <a:p>
            <a:pPr algn="l">
              <a:spcAft>
                <a:spcPts val="600"/>
              </a:spcAft>
            </a:pPr>
            <a:r>
              <a:rPr sz="900" b="0" i="0">
                <a:solidFill>
                  <a:srgbClr val="A9B8C9"/>
                </a:solidFill>
                <a:effectLst>
                  <a:glow rad="63500">
                    <a:srgbClr val="001633">
                      <a:alpha val="85000"/>
                    </a:srgbClr>
                  </a:glow>
                </a:effectLst>
                <a:latin typeface="Montserrat"/>
              </a:rPr>
              <a:t>Mide gases y ajusta solo los ventiladores, dentro de límites seguros.</a:t>
            </a:r>
          </a:p>
        </p:txBody>
      </p:sp>
      <p:sp>
        <p:nvSpPr>
          <p:cNvPr id="75" name="Velo puente"/>
          <p:cNvSpPr/>
          <p:nvPr/>
        </p:nvSpPr>
        <p:spPr>
          <a:xfrm>
            <a:off x="1069848" y="5641848"/>
            <a:ext cx="8686800" cy="329184"/>
          </a:xfrm>
          <a:prstGeom prst="rect">
            <a:avLst/>
          </a:prstGeom>
          <a:gradFill rotWithShape="1">
            <a:gsLst>
              <a:gs pos="0">
                <a:srgbClr val="001633">
                  <a:alpha val="100000"/>
                </a:srgbClr>
              </a:gs>
              <a:gs pos="65000">
                <a:srgbClr val="001633">
                  <a:alpha val="100000"/>
                </a:srgbClr>
              </a:gs>
              <a:gs pos="100000">
                <a:srgbClr val="001633">
                  <a:alpha val="0"/>
                </a:srgbClr>
              </a:gs>
            </a:gsLst>
            <a:path path="rect">
              <a:fillToRect t="50000" r="35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TextBox 75"/>
          <p:cNvSpPr txBox="1"/>
          <p:nvPr/>
        </p:nvSpPr>
        <p:spPr>
          <a:xfrm>
            <a:off x="1252728" y="5669280"/>
            <a:ext cx="10012680" cy="274320"/>
          </a:xfrm>
          <a:prstGeom prst="rect">
            <a:avLst/>
          </a:prstGeom>
          <a:noFill/>
        </p:spPr>
        <p:txBody>
          <a:bodyPr wrap="square" lIns="0" tIns="0" rIns="0" bIns="0" anchor="t">
            <a:spAutoFit/>
          </a:bodyPr>
          <a:lstStyle/>
          <a:p>
            <a:pPr algn="l">
              <a:spcAft>
                <a:spcPts val="600"/>
              </a:spcAft>
            </a:pPr>
            <a:r>
              <a:rPr sz="1100" b="1" i="0">
                <a:solidFill>
                  <a:srgbClr val="FFFFFF"/>
                </a:solidFill>
                <a:effectLst>
                  <a:glow rad="63500">
                    <a:srgbClr val="001633">
                      <a:alpha val="85000"/>
                    </a:srgbClr>
                  </a:glow>
                </a:effectLst>
                <a:latin typeface="Montserrat"/>
              </a:rPr>
              <a:t>Mismo nombre, cuatro soluciones distintas. </a:t>
            </a:r>
            <a:r>
              <a:rPr sz="1100" b="1" i="0">
                <a:solidFill>
                  <a:srgbClr val="FFAB40"/>
                </a:solidFill>
                <a:effectLst>
                  <a:glow rad="63500">
                    <a:srgbClr val="001633">
                      <a:alpha val="85000"/>
                    </a:srgbClr>
                  </a:glow>
                </a:effectLst>
                <a:latin typeface="Montserrat"/>
              </a:rPr>
              <a:t>En el capítulo II vemos casos reales de la minería.</a:t>
            </a:r>
          </a:p>
        </p:txBody>
      </p:sp>
      <p:sp>
        <p:nvSpPr>
          <p:cNvPr id="77"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Ejemplos ilustrativos elaborados por los autores · idea «same, same but different»: IoT Analytics (2020) [4] · imágenes de referencia</a:t>
            </a:r>
          </a:p>
        </p:txBody>
      </p:sp>
      <p:sp>
        <p:nvSpPr>
          <p:cNvPr id="78"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 · Fundamentos</a:t>
            </a:r>
          </a:p>
        </p:txBody>
      </p:sp>
      <p:sp>
        <p:nvSpPr>
          <p:cNvPr id="79"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0" name="Avance I actual"/>
          <p:cNvSpPr/>
          <p:nvPr/>
        </p:nvSpPr>
        <p:spPr>
          <a:xfrm>
            <a:off x="1252728" y="6510528"/>
            <a:ext cx="163449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 · Industria</a:t>
            </a:r>
          </a:p>
        </p:txBody>
      </p:sp>
      <p:sp>
        <p:nvSpPr>
          <p:cNvPr id="82"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III · Construcción</a:t>
            </a:r>
          </a:p>
        </p:txBody>
      </p:sp>
      <p:sp>
        <p:nvSpPr>
          <p:cNvPr id="84"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5"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86"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7"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11/12 </a:t>
            </a:r>
            <a:r>
              <a:rPr sz="1000" b="0" i="0">
                <a:solidFill>
                  <a:srgbClr val="A9B8C9"/>
                </a:solidFill>
                <a:effectLst>
                  <a:glow rad="63500">
                    <a:srgbClr val="001633">
                      <a:alpha val="85000"/>
                    </a:srgbClr>
                  </a:glow>
                </a:effectLst>
                <a:latin typeface="Montserrat"/>
              </a:rPr>
              <a:t>· Gemelos Digitales para Minería 4.0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Tres ideas para llevarse del capítulo I</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 · FUNDAMENTOS — CIERRE</a:t>
            </a:r>
          </a:p>
        </p:txBody>
      </p:sp>
      <p:sp>
        <p:nvSpPr>
          <p:cNvPr id="6" name="Idea 1"/>
          <p:cNvSpPr/>
          <p:nvPr/>
        </p:nvSpPr>
        <p:spPr>
          <a:xfrm>
            <a:off x="1252728" y="2194560"/>
            <a:ext cx="3124200" cy="21488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Idea 1 borde"/>
          <p:cNvSpPr/>
          <p:nvPr/>
        </p:nvSpPr>
        <p:spPr>
          <a:xfrm>
            <a:off x="1252728" y="2194560"/>
            <a:ext cx="312420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481328" y="2377440"/>
            <a:ext cx="822960" cy="731520"/>
          </a:xfrm>
          <a:prstGeom prst="rect">
            <a:avLst/>
          </a:prstGeom>
          <a:noFill/>
        </p:spPr>
        <p:txBody>
          <a:bodyPr wrap="square" lIns="0" tIns="0" rIns="0" bIns="0" anchor="t">
            <a:spAutoFit/>
          </a:bodyPr>
          <a:lstStyle/>
          <a:p>
            <a:pPr algn="l">
              <a:spcAft>
                <a:spcPts val="600"/>
              </a:spcAft>
            </a:pPr>
            <a:r>
              <a:rPr sz="4000" b="1" i="0">
                <a:solidFill>
                  <a:srgbClr val="FFAB40"/>
                </a:solidFill>
                <a:effectLst>
                  <a:glow rad="63500">
                    <a:srgbClr val="001633">
                      <a:alpha val="85000"/>
                    </a:srgbClr>
                  </a:glow>
                </a:effectLst>
                <a:latin typeface="Montserrat"/>
              </a:rPr>
              <a:t>1</a:t>
            </a:r>
          </a:p>
        </p:txBody>
      </p:sp>
      <p:pic>
        <p:nvPicPr>
          <p:cNvPr id="9" name="Ícono box" descr="box-orange.png"/>
          <p:cNvPicPr>
            <a:picLocks noChangeAspect="1"/>
          </p:cNvPicPr>
          <p:nvPr/>
        </p:nvPicPr>
        <p:blipFill>
          <a:blip r:embed="rId3"/>
          <a:stretch>
            <a:fillRect/>
          </a:stretch>
        </p:blipFill>
        <p:spPr>
          <a:xfrm>
            <a:off x="3782568" y="2468880"/>
            <a:ext cx="365760" cy="365760"/>
          </a:xfrm>
          <a:prstGeom prst="rect">
            <a:avLst/>
          </a:prstGeom>
        </p:spPr>
      </p:pic>
      <p:sp>
        <p:nvSpPr>
          <p:cNvPr id="10" name="TextBox 9"/>
          <p:cNvSpPr txBox="1"/>
          <p:nvPr/>
        </p:nvSpPr>
        <p:spPr>
          <a:xfrm>
            <a:off x="1481328" y="3063240"/>
            <a:ext cx="2667000" cy="274320"/>
          </a:xfrm>
          <a:prstGeom prst="rect">
            <a:avLst/>
          </a:prstGeom>
          <a:noFill/>
        </p:spPr>
        <p:txBody>
          <a:bodyPr wrap="square" lIns="0" tIns="0" rIns="0" bIns="0" anchor="t">
            <a:spAutoFit/>
          </a:bodyPr>
          <a:lstStyle/>
          <a:p>
            <a:pPr algn="l">
              <a:spcAft>
                <a:spcPts val="600"/>
              </a:spcAft>
            </a:pPr>
            <a:r>
              <a:rPr sz="1000" b="1" i="0">
                <a:solidFill>
                  <a:srgbClr val="A9B8C9"/>
                </a:solidFill>
                <a:effectLst>
                  <a:glow rad="63500">
                    <a:srgbClr val="001633">
                      <a:alpha val="85000"/>
                    </a:srgbClr>
                  </a:glow>
                </a:effectLst>
                <a:latin typeface="Montserrat"/>
              </a:rPr>
              <a:t>QUÉ ES</a:t>
            </a:r>
          </a:p>
        </p:txBody>
      </p:sp>
      <p:sp>
        <p:nvSpPr>
          <p:cNvPr id="11" name="TextBox 10"/>
          <p:cNvSpPr txBox="1"/>
          <p:nvPr/>
        </p:nvSpPr>
        <p:spPr>
          <a:xfrm>
            <a:off x="1481328" y="3337560"/>
            <a:ext cx="2667000" cy="960120"/>
          </a:xfrm>
          <a:prstGeom prst="rect">
            <a:avLst/>
          </a:prstGeom>
          <a:noFill/>
        </p:spPr>
        <p:txBody>
          <a:bodyPr wrap="square" lIns="0" tIns="0" rIns="0" bIns="0" anchor="t">
            <a:spAutoFit/>
          </a:bodyPr>
          <a:lstStyle/>
          <a:p>
            <a:pPr algn="l">
              <a:spcAft>
                <a:spcPts val="400"/>
              </a:spcAft>
            </a:pPr>
            <a:r>
              <a:rPr sz="1300" b="1" i="0">
                <a:solidFill>
                  <a:srgbClr val="FFFFFF"/>
                </a:solidFill>
                <a:effectLst>
                  <a:glow rad="63500">
                    <a:srgbClr val="001633">
                      <a:alpha val="85000"/>
                    </a:srgbClr>
                  </a:glow>
                </a:effectLst>
                <a:latin typeface="Montserrat"/>
              </a:rPr>
              <a:t>Un gemelo es un modelo que replica el comportamiento de un activo real.</a:t>
            </a:r>
          </a:p>
          <a:p>
            <a:pPr algn="l">
              <a:spcAft>
                <a:spcPts val="400"/>
              </a:spcAft>
            </a:pPr>
            <a:r>
              <a:rPr sz="1050" b="0" i="0">
                <a:solidFill>
                  <a:srgbClr val="A9B8C9"/>
                </a:solidFill>
                <a:effectLst>
                  <a:glow rad="63500">
                    <a:srgbClr val="001633">
                      <a:alpha val="85000"/>
                    </a:srgbClr>
                  </a:glow>
                </a:effectLst>
                <a:latin typeface="Montserrat"/>
              </a:rPr>
              <a:t>Su celda en el cubo dice de qué es, cuándo se usa y para qué.</a:t>
            </a:r>
          </a:p>
        </p:txBody>
      </p:sp>
      <p:sp>
        <p:nvSpPr>
          <p:cNvPr id="12" name="Idea 2"/>
          <p:cNvSpPr/>
          <p:nvPr/>
        </p:nvSpPr>
        <p:spPr>
          <a:xfrm>
            <a:off x="4696968" y="2194560"/>
            <a:ext cx="3124200" cy="21488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Idea 2 borde"/>
          <p:cNvSpPr/>
          <p:nvPr/>
        </p:nvSpPr>
        <p:spPr>
          <a:xfrm>
            <a:off x="4696968" y="2194560"/>
            <a:ext cx="312420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925568" y="2377440"/>
            <a:ext cx="822960" cy="731520"/>
          </a:xfrm>
          <a:prstGeom prst="rect">
            <a:avLst/>
          </a:prstGeom>
          <a:noFill/>
        </p:spPr>
        <p:txBody>
          <a:bodyPr wrap="square" lIns="0" tIns="0" rIns="0" bIns="0" anchor="t">
            <a:spAutoFit/>
          </a:bodyPr>
          <a:lstStyle/>
          <a:p>
            <a:pPr algn="l">
              <a:spcAft>
                <a:spcPts val="600"/>
              </a:spcAft>
            </a:pPr>
            <a:r>
              <a:rPr sz="4000" b="1" i="0">
                <a:solidFill>
                  <a:srgbClr val="FFAB40"/>
                </a:solidFill>
                <a:effectLst>
                  <a:glow rad="63500">
                    <a:srgbClr val="001633">
                      <a:alpha val="85000"/>
                    </a:srgbClr>
                  </a:glow>
                </a:effectLst>
                <a:latin typeface="Montserrat"/>
              </a:rPr>
              <a:t>2</a:t>
            </a:r>
          </a:p>
        </p:txBody>
      </p:sp>
      <p:pic>
        <p:nvPicPr>
          <p:cNvPr id="15" name="Ícono link" descr="link-orange.png"/>
          <p:cNvPicPr>
            <a:picLocks noChangeAspect="1"/>
          </p:cNvPicPr>
          <p:nvPr/>
        </p:nvPicPr>
        <p:blipFill>
          <a:blip r:embed="rId4"/>
          <a:stretch>
            <a:fillRect/>
          </a:stretch>
        </p:blipFill>
        <p:spPr>
          <a:xfrm>
            <a:off x="7226808" y="2468880"/>
            <a:ext cx="365760" cy="365760"/>
          </a:xfrm>
          <a:prstGeom prst="rect">
            <a:avLst/>
          </a:prstGeom>
        </p:spPr>
      </p:pic>
      <p:sp>
        <p:nvSpPr>
          <p:cNvPr id="16" name="TextBox 15"/>
          <p:cNvSpPr txBox="1"/>
          <p:nvPr/>
        </p:nvSpPr>
        <p:spPr>
          <a:xfrm>
            <a:off x="4925568" y="3063240"/>
            <a:ext cx="2667000" cy="274320"/>
          </a:xfrm>
          <a:prstGeom prst="rect">
            <a:avLst/>
          </a:prstGeom>
          <a:noFill/>
        </p:spPr>
        <p:txBody>
          <a:bodyPr wrap="square" lIns="0" tIns="0" rIns="0" bIns="0" anchor="t">
            <a:spAutoFit/>
          </a:bodyPr>
          <a:lstStyle/>
          <a:p>
            <a:pPr algn="l">
              <a:spcAft>
                <a:spcPts val="600"/>
              </a:spcAft>
            </a:pPr>
            <a:r>
              <a:rPr sz="1000" b="1" i="0">
                <a:solidFill>
                  <a:srgbClr val="A9B8C9"/>
                </a:solidFill>
                <a:effectLst>
                  <a:glow rad="63500">
                    <a:srgbClr val="001633">
                      <a:alpha val="85000"/>
                    </a:srgbClr>
                  </a:glow>
                </a:effectLst>
                <a:latin typeface="Montserrat"/>
              </a:rPr>
              <a:t>CUÁN CONECTADO</a:t>
            </a:r>
          </a:p>
        </p:txBody>
      </p:sp>
      <p:sp>
        <p:nvSpPr>
          <p:cNvPr id="17" name="TextBox 16"/>
          <p:cNvSpPr txBox="1"/>
          <p:nvPr/>
        </p:nvSpPr>
        <p:spPr>
          <a:xfrm>
            <a:off x="4925568" y="3337560"/>
            <a:ext cx="2667000" cy="960120"/>
          </a:xfrm>
          <a:prstGeom prst="rect">
            <a:avLst/>
          </a:prstGeom>
          <a:noFill/>
        </p:spPr>
        <p:txBody>
          <a:bodyPr wrap="square" lIns="0" tIns="0" rIns="0" bIns="0" anchor="t">
            <a:spAutoFit/>
          </a:bodyPr>
          <a:lstStyle/>
          <a:p>
            <a:pPr algn="l">
              <a:spcAft>
                <a:spcPts val="400"/>
              </a:spcAft>
            </a:pPr>
            <a:r>
              <a:rPr sz="1300" b="1" i="0">
                <a:solidFill>
                  <a:srgbClr val="FFFFFF"/>
                </a:solidFill>
                <a:effectLst>
                  <a:glow rad="63500">
                    <a:srgbClr val="001633">
                      <a:alpha val="85000"/>
                    </a:srgbClr>
                  </a:glow>
                </a:effectLst>
                <a:latin typeface="Montserrat"/>
              </a:rPr>
              <a:t>No todos los gemelos son iguales: modelo, sombra o gemelo.</a:t>
            </a:r>
          </a:p>
          <a:p>
            <a:pPr algn="l">
              <a:spcAft>
                <a:spcPts val="400"/>
              </a:spcAft>
            </a:pPr>
            <a:r>
              <a:rPr sz="1050" b="0" i="0">
                <a:solidFill>
                  <a:srgbClr val="A9B8C9"/>
                </a:solidFill>
                <a:effectLst>
                  <a:glow rad="63500">
                    <a:srgbClr val="001633">
                      <a:alpha val="85000"/>
                    </a:srgbClr>
                  </a:glow>
                </a:effectLst>
                <a:latin typeface="Montserrat"/>
              </a:rPr>
              <a:t>Cada caso exige una combinación distinta de capacidades.</a:t>
            </a:r>
          </a:p>
        </p:txBody>
      </p:sp>
      <p:sp>
        <p:nvSpPr>
          <p:cNvPr id="18" name="Idea 3"/>
          <p:cNvSpPr/>
          <p:nvPr/>
        </p:nvSpPr>
        <p:spPr>
          <a:xfrm>
            <a:off x="8141208" y="2194560"/>
            <a:ext cx="3124200" cy="21488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Idea 3 borde"/>
          <p:cNvSpPr/>
          <p:nvPr/>
        </p:nvSpPr>
        <p:spPr>
          <a:xfrm>
            <a:off x="8141208" y="2194560"/>
            <a:ext cx="312420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369808" y="2377440"/>
            <a:ext cx="822960" cy="731520"/>
          </a:xfrm>
          <a:prstGeom prst="rect">
            <a:avLst/>
          </a:prstGeom>
          <a:noFill/>
        </p:spPr>
        <p:txBody>
          <a:bodyPr wrap="square" lIns="0" tIns="0" rIns="0" bIns="0" anchor="t">
            <a:spAutoFit/>
          </a:bodyPr>
          <a:lstStyle/>
          <a:p>
            <a:pPr algn="l">
              <a:spcAft>
                <a:spcPts val="600"/>
              </a:spcAft>
            </a:pPr>
            <a:r>
              <a:rPr sz="4000" b="1" i="0">
                <a:solidFill>
                  <a:srgbClr val="FFAB40"/>
                </a:solidFill>
                <a:effectLst>
                  <a:glow rad="63500">
                    <a:srgbClr val="001633">
                      <a:alpha val="85000"/>
                    </a:srgbClr>
                  </a:glow>
                </a:effectLst>
                <a:latin typeface="Montserrat"/>
              </a:rPr>
              <a:t>3</a:t>
            </a:r>
          </a:p>
        </p:txBody>
      </p:sp>
      <p:pic>
        <p:nvPicPr>
          <p:cNvPr id="21" name="Ícono target" descr="target-orange.png"/>
          <p:cNvPicPr>
            <a:picLocks noChangeAspect="1"/>
          </p:cNvPicPr>
          <p:nvPr/>
        </p:nvPicPr>
        <p:blipFill>
          <a:blip r:embed="rId5"/>
          <a:stretch>
            <a:fillRect/>
          </a:stretch>
        </p:blipFill>
        <p:spPr>
          <a:xfrm>
            <a:off x="10671048" y="2468880"/>
            <a:ext cx="365760" cy="365760"/>
          </a:xfrm>
          <a:prstGeom prst="rect">
            <a:avLst/>
          </a:prstGeom>
        </p:spPr>
      </p:pic>
      <p:sp>
        <p:nvSpPr>
          <p:cNvPr id="22" name="TextBox 21"/>
          <p:cNvSpPr txBox="1"/>
          <p:nvPr/>
        </p:nvSpPr>
        <p:spPr>
          <a:xfrm>
            <a:off x="8369808" y="3063240"/>
            <a:ext cx="2667000" cy="274320"/>
          </a:xfrm>
          <a:prstGeom prst="rect">
            <a:avLst/>
          </a:prstGeom>
          <a:noFill/>
        </p:spPr>
        <p:txBody>
          <a:bodyPr wrap="square" lIns="0" tIns="0" rIns="0" bIns="0" anchor="t">
            <a:spAutoFit/>
          </a:bodyPr>
          <a:lstStyle/>
          <a:p>
            <a:pPr algn="l">
              <a:spcAft>
                <a:spcPts val="600"/>
              </a:spcAft>
            </a:pPr>
            <a:r>
              <a:rPr sz="1000" b="1" i="0">
                <a:solidFill>
                  <a:srgbClr val="A9B8C9"/>
                </a:solidFill>
                <a:effectLst>
                  <a:glow rad="63500">
                    <a:srgbClr val="001633">
                      <a:alpha val="85000"/>
                    </a:srgbClr>
                  </a:glow>
                </a:effectLst>
                <a:latin typeface="Montserrat"/>
              </a:rPr>
              <a:t>CUÁNDO CONVIENE</a:t>
            </a:r>
          </a:p>
        </p:txBody>
      </p:sp>
      <p:sp>
        <p:nvSpPr>
          <p:cNvPr id="23" name="TextBox 22"/>
          <p:cNvSpPr txBox="1"/>
          <p:nvPr/>
        </p:nvSpPr>
        <p:spPr>
          <a:xfrm>
            <a:off x="8369808" y="3337560"/>
            <a:ext cx="2667000" cy="960120"/>
          </a:xfrm>
          <a:prstGeom prst="rect">
            <a:avLst/>
          </a:prstGeom>
          <a:noFill/>
        </p:spPr>
        <p:txBody>
          <a:bodyPr wrap="square" lIns="0" tIns="0" rIns="0" bIns="0" anchor="t">
            <a:spAutoFit/>
          </a:bodyPr>
          <a:lstStyle/>
          <a:p>
            <a:pPr algn="l">
              <a:spcAft>
                <a:spcPts val="400"/>
              </a:spcAft>
            </a:pPr>
            <a:r>
              <a:rPr sz="1300" b="1" i="0">
                <a:solidFill>
                  <a:srgbClr val="FFFFFF"/>
                </a:solidFill>
                <a:effectLst>
                  <a:glow rad="63500">
                    <a:srgbClr val="001633">
                      <a:alpha val="85000"/>
                    </a:srgbClr>
                  </a:glow>
                </a:effectLst>
                <a:latin typeface="Montserrat"/>
              </a:rPr>
              <a:t>Se justifica por la decisión que mejora, no por la tecnología.</a:t>
            </a:r>
          </a:p>
          <a:p>
            <a:pPr algn="l">
              <a:spcAft>
                <a:spcPts val="400"/>
              </a:spcAft>
            </a:pPr>
            <a:r>
              <a:rPr sz="1050" b="0" i="0">
                <a:solidFill>
                  <a:srgbClr val="A9B8C9"/>
                </a:solidFill>
                <a:effectLst>
                  <a:glow rad="63500">
                    <a:srgbClr val="001633">
                      <a:alpha val="85000"/>
                    </a:srgbClr>
                  </a:glow>
                </a:effectLst>
                <a:latin typeface="Montserrat"/>
              </a:rPr>
              <a:t>Su valor dura solo mientras se mantiene confiable.</a:t>
            </a:r>
          </a:p>
        </p:txBody>
      </p:sp>
      <p:sp>
        <p:nvSpPr>
          <p:cNvPr id="24" name="Puente capítulo II"/>
          <p:cNvSpPr/>
          <p:nvPr/>
        </p:nvSpPr>
        <p:spPr>
          <a:xfrm>
            <a:off x="1252728" y="4754880"/>
            <a:ext cx="10012680" cy="731520"/>
          </a:xfrm>
          <a:prstGeom prst="rect">
            <a:avLst/>
          </a:prstGeom>
          <a:solidFill>
            <a:srgbClr val="12335E"/>
          </a:solidFill>
          <a:ln w="190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Capítulo II"/>
          <p:cNvSpPr/>
          <p:nvPr/>
        </p:nvSpPr>
        <p:spPr>
          <a:xfrm>
            <a:off x="1435608" y="4864608"/>
            <a:ext cx="512064" cy="512064"/>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Ícono pickaxe" descr="pickaxe-navy.png"/>
          <p:cNvPicPr>
            <a:picLocks noChangeAspect="1"/>
          </p:cNvPicPr>
          <p:nvPr/>
        </p:nvPicPr>
        <p:blipFill>
          <a:blip r:embed="rId6"/>
          <a:stretch>
            <a:fillRect/>
          </a:stretch>
        </p:blipFill>
        <p:spPr>
          <a:xfrm>
            <a:off x="1548262" y="4977262"/>
            <a:ext cx="286755" cy="286755"/>
          </a:xfrm>
          <a:prstGeom prst="rect">
            <a:avLst/>
          </a:prstGeom>
        </p:spPr>
      </p:pic>
      <p:sp>
        <p:nvSpPr>
          <p:cNvPr id="27" name="TextBox 26"/>
          <p:cNvSpPr txBox="1"/>
          <p:nvPr/>
        </p:nvSpPr>
        <p:spPr>
          <a:xfrm>
            <a:off x="2121408" y="4754880"/>
            <a:ext cx="9006840" cy="731520"/>
          </a:xfrm>
          <a:prstGeom prst="rect">
            <a:avLst/>
          </a:prstGeom>
          <a:noFill/>
        </p:spPr>
        <p:txBody>
          <a:bodyPr wrap="square" lIns="0" tIns="0" rIns="0" bIns="0" anchor="ctr">
            <a:spAutoFit/>
          </a:bodyPr>
          <a:lstStyle/>
          <a:p>
            <a:pPr algn="l">
              <a:spcAft>
                <a:spcPts val="600"/>
              </a:spcAft>
            </a:pPr>
            <a:r>
              <a:rPr sz="1400" b="1" i="0">
                <a:solidFill>
                  <a:srgbClr val="FFAB40"/>
                </a:solidFill>
                <a:effectLst>
                  <a:glow rad="63500">
                    <a:srgbClr val="001633">
                      <a:alpha val="85000"/>
                    </a:srgbClr>
                  </a:glow>
                </a:effectLst>
                <a:latin typeface="Montserrat"/>
              </a:rPr>
              <a:t>Capítulo II · Industria   </a:t>
            </a:r>
            <a:r>
              <a:rPr sz="1300" b="0" i="0">
                <a:solidFill>
                  <a:srgbClr val="FFFFFF"/>
                </a:solidFill>
                <a:effectLst>
                  <a:glow rad="63500">
                    <a:srgbClr val="001633">
                      <a:alpha val="85000"/>
                    </a:srgbClr>
                  </a:glow>
                </a:effectLst>
                <a:latin typeface="Montserrat"/>
              </a:rPr>
              <a:t>¿Qué soluciones existen hoy en minería y qué resuelve cada una?</a:t>
            </a:r>
          </a:p>
        </p:txBody>
      </p:sp>
      <p:sp>
        <p:nvSpPr>
          <p:cNvPr id="28"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 · Fundamentos</a:t>
            </a:r>
          </a:p>
        </p:txBody>
      </p:sp>
      <p:sp>
        <p:nvSpPr>
          <p:cNvPr id="29"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Avance I actual"/>
          <p:cNvSpPr/>
          <p:nvPr/>
        </p:nvSpPr>
        <p:spPr>
          <a:xfrm>
            <a:off x="1252728" y="6510528"/>
            <a:ext cx="178308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 · Industria</a:t>
            </a:r>
          </a:p>
        </p:txBody>
      </p:sp>
      <p:sp>
        <p:nvSpPr>
          <p:cNvPr id="32"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III · Construcción</a:t>
            </a:r>
          </a:p>
        </p:txBody>
      </p:sp>
      <p:sp>
        <p:nvSpPr>
          <p:cNvPr id="34"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36"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12/12 </a:t>
            </a:r>
            <a:r>
              <a:rPr sz="1000" b="0" i="0">
                <a:solidFill>
                  <a:srgbClr val="A9B8C9"/>
                </a:solidFill>
                <a:effectLst>
                  <a:glow rad="63500">
                    <a:srgbClr val="001633">
                      <a:alpha val="85000"/>
                    </a:srgbClr>
                  </a:glow>
                </a:effectLst>
                <a:latin typeface="Montserrat"/>
              </a:rPr>
              <a:t>· Gemelos Digitales para Minería 4.0 · 17</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Referencias del curso (1/3)</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FUENTES</a:t>
            </a:r>
          </a:p>
        </p:txBody>
      </p:sp>
      <p:sp>
        <p:nvSpPr>
          <p:cNvPr id="6" name="Velo referencias"/>
          <p:cNvSpPr/>
          <p:nvPr/>
        </p:nvSpPr>
        <p:spPr>
          <a:xfrm>
            <a:off x="5984748" y="1325879"/>
            <a:ext cx="6469380" cy="2377440"/>
          </a:xfrm>
          <a:prstGeom prst="rect">
            <a:avLst/>
          </a:prstGeom>
          <a:gradFill rotWithShape="1">
            <a:gsLst>
              <a:gs pos="0">
                <a:srgbClr val="001633">
                  <a:alpha val="100000"/>
                </a:srgbClr>
              </a:gs>
              <a:gs pos="65000">
                <a:srgbClr val="001633">
                  <a:alpha val="100000"/>
                </a:srgbClr>
              </a:gs>
              <a:gs pos="100000">
                <a:srgbClr val="001633">
                  <a:alpha val="0"/>
                </a:srgbClr>
              </a:gs>
            </a:gsLst>
            <a:path path="rect">
              <a:fillToRect t="30000" r="30000" b="3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252728" y="1783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a:t>
            </a:r>
          </a:p>
        </p:txBody>
      </p:sp>
      <p:sp>
        <p:nvSpPr>
          <p:cNvPr id="8" name="Tipo Industria"/>
          <p:cNvSpPr/>
          <p:nvPr/>
        </p:nvSpPr>
        <p:spPr>
          <a:xfrm>
            <a:off x="1252728" y="2029967"/>
            <a:ext cx="384048" cy="146304"/>
          </a:xfrm>
          <a:prstGeom prst="rect">
            <a:avLst/>
          </a:prstGeom>
          <a:solidFill>
            <a:srgbClr val="0016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52728" y="2029967"/>
            <a:ext cx="384048" cy="146304"/>
          </a:xfrm>
          <a:prstGeom prst="rect">
            <a:avLst/>
          </a:prstGeom>
          <a:noFill/>
        </p:spPr>
        <p:txBody>
          <a:bodyPr wrap="square" lIns="0" tIns="0" rIns="0" bIns="0" anchor="ctr">
            <a:spAutoFit/>
          </a:bodyPr>
          <a:lstStyle/>
          <a:p>
            <a:pPr algn="ctr">
              <a:spcAft>
                <a:spcPts val="600"/>
              </a:spcAft>
            </a:pPr>
            <a:r>
              <a:rPr sz="550" b="1" i="0">
                <a:solidFill>
                  <a:srgbClr val="FFFFFF"/>
                </a:solidFill>
                <a:effectLst>
                  <a:glow rad="63500">
                    <a:srgbClr val="001633">
                      <a:alpha val="85000"/>
                    </a:srgbClr>
                  </a:glow>
                </a:effectLst>
                <a:latin typeface="Montserrat"/>
              </a:rPr>
              <a:t>INDU</a:t>
            </a:r>
          </a:p>
        </p:txBody>
      </p:sp>
      <p:sp>
        <p:nvSpPr>
          <p:cNvPr id="10" name="TextBox 9"/>
          <p:cNvSpPr txBox="1"/>
          <p:nvPr/>
        </p:nvSpPr>
        <p:spPr>
          <a:xfrm>
            <a:off x="1252728" y="2194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 II</a:t>
            </a:r>
          </a:p>
        </p:txBody>
      </p:sp>
      <p:sp>
        <p:nvSpPr>
          <p:cNvPr id="11" name="TextBox 10"/>
          <p:cNvSpPr txBox="1"/>
          <p:nvPr/>
        </p:nvSpPr>
        <p:spPr>
          <a:xfrm>
            <a:off x="1755648" y="17830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Lueth, K. L. (2026, 26 de agosto). Inside the $1.3B digital twin market: Why no vendor owns the full stack. IoT Analytics.</a:t>
            </a:r>
          </a:p>
          <a:p>
            <a:pPr algn="l">
              <a:spcAft>
                <a:spcPts val="100"/>
              </a:spcAft>
            </a:pPr>
            <a:r>
              <a:rPr sz="700" b="0" i="0">
                <a:solidFill>
                  <a:srgbClr val="A9B8C9"/>
                </a:solidFill>
                <a:effectLst>
                  <a:glow rad="63500">
                    <a:srgbClr val="001633">
                      <a:alpha val="85000"/>
                    </a:srgbClr>
                  </a:glow>
                </a:effectLst>
                <a:latin typeface="Montserrat"/>
              </a:rPr>
              <a:t>https://iot-analytics.com/why-no-vendor-owns-the-full-digital-twin-tech-stack/</a:t>
            </a:r>
          </a:p>
        </p:txBody>
      </p:sp>
      <p:sp>
        <p:nvSpPr>
          <p:cNvPr id="12" name="TextBox 11"/>
          <p:cNvSpPr txBox="1"/>
          <p:nvPr/>
        </p:nvSpPr>
        <p:spPr>
          <a:xfrm>
            <a:off x="1252728" y="23926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a:t>
            </a:r>
          </a:p>
        </p:txBody>
      </p:sp>
      <p:sp>
        <p:nvSpPr>
          <p:cNvPr id="13" name="Tipo Académica"/>
          <p:cNvSpPr/>
          <p:nvPr/>
        </p:nvSpPr>
        <p:spPr>
          <a:xfrm>
            <a:off x="1252728" y="2639567"/>
            <a:ext cx="384048" cy="146304"/>
          </a:xfrm>
          <a:prstGeom prst="rect">
            <a:avLst/>
          </a:prstGeom>
          <a:solidFill>
            <a:srgbClr val="001633"/>
          </a:solidFill>
          <a:ln w="63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252728" y="2639567"/>
            <a:ext cx="384048" cy="146304"/>
          </a:xfrm>
          <a:prstGeom prst="rect">
            <a:avLst/>
          </a:prstGeom>
          <a:noFill/>
        </p:spPr>
        <p:txBody>
          <a:bodyPr wrap="square" lIns="0" tIns="0" rIns="0" bIns="0" anchor="ctr">
            <a:spAutoFit/>
          </a:bodyPr>
          <a:lstStyle/>
          <a:p>
            <a:pPr algn="ctr">
              <a:spcAft>
                <a:spcPts val="600"/>
              </a:spcAft>
            </a:pPr>
            <a:r>
              <a:rPr sz="550" b="1" i="0">
                <a:solidFill>
                  <a:srgbClr val="85D5E6"/>
                </a:solidFill>
                <a:effectLst>
                  <a:glow rad="63500">
                    <a:srgbClr val="001633">
                      <a:alpha val="85000"/>
                    </a:srgbClr>
                  </a:glow>
                </a:effectLst>
                <a:latin typeface="Montserrat"/>
              </a:rPr>
              <a:t>ACAD</a:t>
            </a:r>
          </a:p>
        </p:txBody>
      </p:sp>
      <p:sp>
        <p:nvSpPr>
          <p:cNvPr id="15" name="TextBox 14"/>
          <p:cNvSpPr txBox="1"/>
          <p:nvPr/>
        </p:nvSpPr>
        <p:spPr>
          <a:xfrm>
            <a:off x="1252728" y="28041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a:t>
            </a:r>
          </a:p>
        </p:txBody>
      </p:sp>
      <p:sp>
        <p:nvSpPr>
          <p:cNvPr id="16" name="TextBox 15"/>
          <p:cNvSpPr txBox="1"/>
          <p:nvPr/>
        </p:nvSpPr>
        <p:spPr>
          <a:xfrm>
            <a:off x="1755648" y="23926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Kritzinger, W., Karner, M., Traar, G., Henjes, J. y Sihn, W. (2018). Digital Twin in manufacturing: A categorical literature review and classification. IFAC-PapersOnLine, 51(11), 1016–1022.</a:t>
            </a:r>
          </a:p>
          <a:p>
            <a:pPr algn="l">
              <a:spcAft>
                <a:spcPts val="100"/>
              </a:spcAft>
            </a:pPr>
            <a:r>
              <a:rPr sz="700" b="0" i="0">
                <a:solidFill>
                  <a:srgbClr val="A9B8C9"/>
                </a:solidFill>
                <a:effectLst>
                  <a:glow rad="63500">
                    <a:srgbClr val="001633">
                      <a:alpha val="85000"/>
                    </a:srgbClr>
                  </a:glow>
                </a:effectLst>
                <a:latin typeface="Montserrat"/>
              </a:rPr>
              <a:t>https://doi.org/10.1016/j.ifacol.2018.08.474</a:t>
            </a:r>
          </a:p>
        </p:txBody>
      </p:sp>
      <p:sp>
        <p:nvSpPr>
          <p:cNvPr id="17" name="TextBox 16"/>
          <p:cNvSpPr txBox="1"/>
          <p:nvPr/>
        </p:nvSpPr>
        <p:spPr>
          <a:xfrm>
            <a:off x="1252728" y="30022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[3]</a:t>
            </a:r>
          </a:p>
        </p:txBody>
      </p:sp>
      <p:sp>
        <p:nvSpPr>
          <p:cNvPr id="18" name="Tipo Proveedor"/>
          <p:cNvSpPr/>
          <p:nvPr/>
        </p:nvSpPr>
        <p:spPr>
          <a:xfrm>
            <a:off x="1252728" y="3249167"/>
            <a:ext cx="384048" cy="146304"/>
          </a:xfrm>
          <a:prstGeom prst="rect">
            <a:avLst/>
          </a:prstGeom>
          <a:solidFill>
            <a:srgbClr val="001633"/>
          </a:solidFill>
          <a:ln w="63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252728" y="3249167"/>
            <a:ext cx="384048" cy="146304"/>
          </a:xfrm>
          <a:prstGeom prst="rect">
            <a:avLst/>
          </a:prstGeom>
          <a:noFill/>
        </p:spPr>
        <p:txBody>
          <a:bodyPr wrap="square" lIns="0" tIns="0" rIns="0" bIns="0" anchor="ctr">
            <a:spAutoFit/>
          </a:bodyPr>
          <a:lstStyle/>
          <a:p>
            <a:pPr algn="ctr">
              <a:spcAft>
                <a:spcPts val="600"/>
              </a:spcAft>
            </a:pPr>
            <a:r>
              <a:rPr sz="550" b="1" i="0">
                <a:solidFill>
                  <a:srgbClr val="FFAB40"/>
                </a:solidFill>
                <a:effectLst>
                  <a:glow rad="63500">
                    <a:srgbClr val="001633">
                      <a:alpha val="85000"/>
                    </a:srgbClr>
                  </a:glow>
                </a:effectLst>
                <a:latin typeface="Montserrat"/>
              </a:rPr>
              <a:t>PROV</a:t>
            </a:r>
          </a:p>
        </p:txBody>
      </p:sp>
      <p:sp>
        <p:nvSpPr>
          <p:cNvPr id="20" name="TextBox 19"/>
          <p:cNvSpPr txBox="1"/>
          <p:nvPr/>
        </p:nvSpPr>
        <p:spPr>
          <a:xfrm>
            <a:off x="1252728" y="34137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 II</a:t>
            </a:r>
          </a:p>
        </p:txBody>
      </p:sp>
      <p:sp>
        <p:nvSpPr>
          <p:cNvPr id="21" name="TextBox 20"/>
          <p:cNvSpPr txBox="1"/>
          <p:nvPr/>
        </p:nvSpPr>
        <p:spPr>
          <a:xfrm>
            <a:off x="1755648" y="30022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Davies, L. (2026, 6 de marzo). Digital twins drive proactive tailings monitoring. Engineering News. Contenido patrocinado por Dassault Systèmes.</a:t>
            </a:r>
          </a:p>
          <a:p>
            <a:pPr algn="l">
              <a:spcAft>
                <a:spcPts val="100"/>
              </a:spcAft>
            </a:pPr>
            <a:r>
              <a:rPr sz="700" b="0" i="0">
                <a:solidFill>
                  <a:srgbClr val="A9B8C9"/>
                </a:solidFill>
                <a:effectLst>
                  <a:glow rad="63500">
                    <a:srgbClr val="001633">
                      <a:alpha val="85000"/>
                    </a:srgbClr>
                  </a:glow>
                </a:effectLst>
                <a:latin typeface="Montserrat"/>
              </a:rPr>
              <a:t>https://www.engineeringnews.co.za/article/digital-twins-drive-proactive-tailings-monitoring-2026-03-06</a:t>
            </a:r>
          </a:p>
        </p:txBody>
      </p:sp>
      <p:sp>
        <p:nvSpPr>
          <p:cNvPr id="22" name="TextBox 21"/>
          <p:cNvSpPr txBox="1"/>
          <p:nvPr/>
        </p:nvSpPr>
        <p:spPr>
          <a:xfrm>
            <a:off x="1252728" y="36118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[4]</a:t>
            </a:r>
          </a:p>
        </p:txBody>
      </p:sp>
      <p:sp>
        <p:nvSpPr>
          <p:cNvPr id="23" name="Tipo Industria"/>
          <p:cNvSpPr/>
          <p:nvPr/>
        </p:nvSpPr>
        <p:spPr>
          <a:xfrm>
            <a:off x="1252728" y="3858767"/>
            <a:ext cx="384048" cy="146304"/>
          </a:xfrm>
          <a:prstGeom prst="rect">
            <a:avLst/>
          </a:prstGeom>
          <a:solidFill>
            <a:srgbClr val="0016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1252728" y="3858767"/>
            <a:ext cx="384048" cy="146304"/>
          </a:xfrm>
          <a:prstGeom prst="rect">
            <a:avLst/>
          </a:prstGeom>
          <a:noFill/>
        </p:spPr>
        <p:txBody>
          <a:bodyPr wrap="square" lIns="0" tIns="0" rIns="0" bIns="0" anchor="ctr">
            <a:spAutoFit/>
          </a:bodyPr>
          <a:lstStyle/>
          <a:p>
            <a:pPr algn="ctr">
              <a:spcAft>
                <a:spcPts val="600"/>
              </a:spcAft>
            </a:pPr>
            <a:r>
              <a:rPr sz="550" b="1" i="0">
                <a:solidFill>
                  <a:srgbClr val="FFFFFF"/>
                </a:solidFill>
                <a:effectLst>
                  <a:glow rad="63500">
                    <a:srgbClr val="001633">
                      <a:alpha val="85000"/>
                    </a:srgbClr>
                  </a:glow>
                </a:effectLst>
                <a:latin typeface="Montserrat"/>
              </a:rPr>
              <a:t>INDU</a:t>
            </a:r>
          </a:p>
        </p:txBody>
      </p:sp>
      <p:sp>
        <p:nvSpPr>
          <p:cNvPr id="25" name="TextBox 24"/>
          <p:cNvSpPr txBox="1"/>
          <p:nvPr/>
        </p:nvSpPr>
        <p:spPr>
          <a:xfrm>
            <a:off x="1252728" y="40233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a:t>
            </a:r>
          </a:p>
        </p:txBody>
      </p:sp>
      <p:sp>
        <p:nvSpPr>
          <p:cNvPr id="26" name="TextBox 25"/>
          <p:cNvSpPr txBox="1"/>
          <p:nvPr/>
        </p:nvSpPr>
        <p:spPr>
          <a:xfrm>
            <a:off x="1755648" y="36118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Lueth, K. L. (2020, 29 de abril). How the world's 250 Digital Twins compare? Same, same but different. IoT Analytics.</a:t>
            </a:r>
          </a:p>
          <a:p>
            <a:pPr algn="l">
              <a:spcAft>
                <a:spcPts val="100"/>
              </a:spcAft>
            </a:pPr>
            <a:r>
              <a:rPr sz="700" b="0" i="0">
                <a:solidFill>
                  <a:srgbClr val="A9B8C9"/>
                </a:solidFill>
                <a:effectLst>
                  <a:glow rad="63500">
                    <a:srgbClr val="001633">
                      <a:alpha val="85000"/>
                    </a:srgbClr>
                  </a:glow>
                </a:effectLst>
                <a:latin typeface="Montserrat"/>
              </a:rPr>
              <a:t>https://iot-analytics.com/how-the-worlds-250-digital-twins-compare/</a:t>
            </a:r>
          </a:p>
        </p:txBody>
      </p:sp>
      <p:sp>
        <p:nvSpPr>
          <p:cNvPr id="27" name="TextBox 26"/>
          <p:cNvSpPr txBox="1"/>
          <p:nvPr/>
        </p:nvSpPr>
        <p:spPr>
          <a:xfrm>
            <a:off x="1252728" y="42214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[5]</a:t>
            </a:r>
          </a:p>
        </p:txBody>
      </p:sp>
      <p:sp>
        <p:nvSpPr>
          <p:cNvPr id="28" name="Tipo Industria"/>
          <p:cNvSpPr/>
          <p:nvPr/>
        </p:nvSpPr>
        <p:spPr>
          <a:xfrm>
            <a:off x="1252728" y="4468367"/>
            <a:ext cx="384048" cy="146304"/>
          </a:xfrm>
          <a:prstGeom prst="rect">
            <a:avLst/>
          </a:prstGeom>
          <a:solidFill>
            <a:srgbClr val="0016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1252728" y="4468367"/>
            <a:ext cx="384048" cy="146304"/>
          </a:xfrm>
          <a:prstGeom prst="rect">
            <a:avLst/>
          </a:prstGeom>
          <a:noFill/>
        </p:spPr>
        <p:txBody>
          <a:bodyPr wrap="square" lIns="0" tIns="0" rIns="0" bIns="0" anchor="ctr">
            <a:spAutoFit/>
          </a:bodyPr>
          <a:lstStyle/>
          <a:p>
            <a:pPr algn="ctr">
              <a:spcAft>
                <a:spcPts val="600"/>
              </a:spcAft>
            </a:pPr>
            <a:r>
              <a:rPr sz="550" b="1" i="0">
                <a:solidFill>
                  <a:srgbClr val="FFFFFF"/>
                </a:solidFill>
                <a:effectLst>
                  <a:glow rad="63500">
                    <a:srgbClr val="001633">
                      <a:alpha val="85000"/>
                    </a:srgbClr>
                  </a:glow>
                </a:effectLst>
                <a:latin typeface="Montserrat"/>
              </a:rPr>
              <a:t>INDU</a:t>
            </a:r>
          </a:p>
        </p:txBody>
      </p:sp>
      <p:sp>
        <p:nvSpPr>
          <p:cNvPr id="30" name="TextBox 29"/>
          <p:cNvSpPr txBox="1"/>
          <p:nvPr/>
        </p:nvSpPr>
        <p:spPr>
          <a:xfrm>
            <a:off x="1252728" y="46329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a:t>
            </a:r>
          </a:p>
        </p:txBody>
      </p:sp>
      <p:sp>
        <p:nvSpPr>
          <p:cNvPr id="31" name="TextBox 30"/>
          <p:cNvSpPr txBox="1"/>
          <p:nvPr/>
        </p:nvSpPr>
        <p:spPr>
          <a:xfrm>
            <a:off x="1755648" y="42214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Digital Twin Consortium (2022). Digital Twin Capabilities Periodic Table: A Digital Twin Consortium User Guide.</a:t>
            </a:r>
          </a:p>
          <a:p>
            <a:pPr algn="l">
              <a:spcAft>
                <a:spcPts val="100"/>
              </a:spcAft>
            </a:pPr>
            <a:r>
              <a:rPr sz="700" b="0" i="0">
                <a:solidFill>
                  <a:srgbClr val="A9B8C9"/>
                </a:solidFill>
                <a:effectLst>
                  <a:glow rad="63500">
                    <a:srgbClr val="001633">
                      <a:alpha val="85000"/>
                    </a:srgbClr>
                  </a:glow>
                </a:effectLst>
                <a:latin typeface="Montserrat"/>
              </a:rPr>
              <a:t>https://media.digitaltwinconsortium.org/wp-content/uploads/2022/06/Digital-Twin-Capabilities-Periodic-Table-User-Guide.pdf</a:t>
            </a:r>
          </a:p>
        </p:txBody>
      </p:sp>
      <p:sp>
        <p:nvSpPr>
          <p:cNvPr id="32" name="TextBox 31"/>
          <p:cNvSpPr txBox="1"/>
          <p:nvPr/>
        </p:nvSpPr>
        <p:spPr>
          <a:xfrm>
            <a:off x="1252728" y="4831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[6]</a:t>
            </a:r>
          </a:p>
        </p:txBody>
      </p:sp>
      <p:sp>
        <p:nvSpPr>
          <p:cNvPr id="33" name="Tipo Académica"/>
          <p:cNvSpPr/>
          <p:nvPr/>
        </p:nvSpPr>
        <p:spPr>
          <a:xfrm>
            <a:off x="1252728" y="5077967"/>
            <a:ext cx="384048" cy="146304"/>
          </a:xfrm>
          <a:prstGeom prst="rect">
            <a:avLst/>
          </a:prstGeom>
          <a:solidFill>
            <a:srgbClr val="001633"/>
          </a:solidFill>
          <a:ln w="63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1252728" y="5077967"/>
            <a:ext cx="384048" cy="146304"/>
          </a:xfrm>
          <a:prstGeom prst="rect">
            <a:avLst/>
          </a:prstGeom>
          <a:noFill/>
        </p:spPr>
        <p:txBody>
          <a:bodyPr wrap="square" lIns="0" tIns="0" rIns="0" bIns="0" anchor="ctr">
            <a:spAutoFit/>
          </a:bodyPr>
          <a:lstStyle/>
          <a:p>
            <a:pPr algn="ctr">
              <a:spcAft>
                <a:spcPts val="600"/>
              </a:spcAft>
            </a:pPr>
            <a:r>
              <a:rPr sz="550" b="1" i="0">
                <a:solidFill>
                  <a:srgbClr val="85D5E6"/>
                </a:solidFill>
                <a:effectLst>
                  <a:glow rad="63500">
                    <a:srgbClr val="001633">
                      <a:alpha val="85000"/>
                    </a:srgbClr>
                  </a:glow>
                </a:effectLst>
                <a:latin typeface="Montserrat"/>
              </a:rPr>
              <a:t>ACAD</a:t>
            </a:r>
          </a:p>
        </p:txBody>
      </p:sp>
      <p:sp>
        <p:nvSpPr>
          <p:cNvPr id="35" name="TextBox 34"/>
          <p:cNvSpPr txBox="1"/>
          <p:nvPr/>
        </p:nvSpPr>
        <p:spPr>
          <a:xfrm>
            <a:off x="1252728" y="5242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a:t>
            </a:r>
          </a:p>
        </p:txBody>
      </p:sp>
      <p:sp>
        <p:nvSpPr>
          <p:cNvPr id="36" name="TextBox 35"/>
          <p:cNvSpPr txBox="1"/>
          <p:nvPr/>
        </p:nvSpPr>
        <p:spPr>
          <a:xfrm>
            <a:off x="1755648" y="48310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National Academies of Sciences, Engineering, and Medicine (2024). Foundational Research Gaps and Future Directions for Digital Twins. The National Academies Press.</a:t>
            </a:r>
          </a:p>
          <a:p>
            <a:pPr algn="l">
              <a:spcAft>
                <a:spcPts val="100"/>
              </a:spcAft>
            </a:pPr>
            <a:r>
              <a:rPr sz="700" b="0" i="0">
                <a:solidFill>
                  <a:srgbClr val="A9B8C9"/>
                </a:solidFill>
                <a:effectLst>
                  <a:glow rad="63500">
                    <a:srgbClr val="001633">
                      <a:alpha val="85000"/>
                    </a:srgbClr>
                  </a:glow>
                </a:effectLst>
                <a:latin typeface="Montserrat"/>
              </a:rPr>
              <a:t>https://doi.org/10.17226/26894</a:t>
            </a:r>
          </a:p>
        </p:txBody>
      </p:sp>
      <p:sp>
        <p:nvSpPr>
          <p:cNvPr id="37" name="TextBox 36"/>
          <p:cNvSpPr txBox="1"/>
          <p:nvPr/>
        </p:nvSpPr>
        <p:spPr>
          <a:xfrm>
            <a:off x="6441948" y="1783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[7]</a:t>
            </a:r>
          </a:p>
        </p:txBody>
      </p:sp>
      <p:sp>
        <p:nvSpPr>
          <p:cNvPr id="38" name="Tipo Académica"/>
          <p:cNvSpPr/>
          <p:nvPr/>
        </p:nvSpPr>
        <p:spPr>
          <a:xfrm>
            <a:off x="6441948" y="2029967"/>
            <a:ext cx="384048" cy="146304"/>
          </a:xfrm>
          <a:prstGeom prst="rect">
            <a:avLst/>
          </a:prstGeom>
          <a:solidFill>
            <a:srgbClr val="001633"/>
          </a:solidFill>
          <a:ln w="63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441948" y="2029967"/>
            <a:ext cx="384048" cy="146304"/>
          </a:xfrm>
          <a:prstGeom prst="rect">
            <a:avLst/>
          </a:prstGeom>
          <a:noFill/>
        </p:spPr>
        <p:txBody>
          <a:bodyPr wrap="square" lIns="0" tIns="0" rIns="0" bIns="0" anchor="ctr">
            <a:spAutoFit/>
          </a:bodyPr>
          <a:lstStyle/>
          <a:p>
            <a:pPr algn="ctr">
              <a:spcAft>
                <a:spcPts val="600"/>
              </a:spcAft>
            </a:pPr>
            <a:r>
              <a:rPr sz="550" b="1" i="0">
                <a:solidFill>
                  <a:srgbClr val="85D5E6"/>
                </a:solidFill>
                <a:effectLst>
                  <a:glow rad="63500">
                    <a:srgbClr val="001633">
                      <a:alpha val="85000"/>
                    </a:srgbClr>
                  </a:glow>
                </a:effectLst>
                <a:latin typeface="Montserrat"/>
              </a:rPr>
              <a:t>ACAD</a:t>
            </a:r>
          </a:p>
        </p:txBody>
      </p:sp>
      <p:sp>
        <p:nvSpPr>
          <p:cNvPr id="40" name="TextBox 39"/>
          <p:cNvSpPr txBox="1"/>
          <p:nvPr/>
        </p:nvSpPr>
        <p:spPr>
          <a:xfrm>
            <a:off x="6441948" y="2194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a:t>
            </a:r>
          </a:p>
        </p:txBody>
      </p:sp>
      <p:sp>
        <p:nvSpPr>
          <p:cNvPr id="41" name="TextBox 40"/>
          <p:cNvSpPr txBox="1"/>
          <p:nvPr/>
        </p:nvSpPr>
        <p:spPr>
          <a:xfrm>
            <a:off x="6944868" y="17830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Tao, F., Zhang, H., Liu, A. y Nee, A. Y. C. (2019). Digital Twin in Industry: State-of-the-Art. IEEE Transactions on Industrial Informatics, 15(4).</a:t>
            </a:r>
          </a:p>
          <a:p>
            <a:pPr algn="l">
              <a:spcAft>
                <a:spcPts val="100"/>
              </a:spcAft>
            </a:pPr>
            <a:r>
              <a:rPr sz="700" b="0" i="0">
                <a:solidFill>
                  <a:srgbClr val="A9B8C9"/>
                </a:solidFill>
                <a:effectLst>
                  <a:glow rad="63500">
                    <a:srgbClr val="001633">
                      <a:alpha val="85000"/>
                    </a:srgbClr>
                  </a:glow>
                </a:effectLst>
                <a:latin typeface="Montserrat"/>
              </a:rPr>
              <a:t>https://doi.org/10.1109/TII.2018.2873186</a:t>
            </a:r>
          </a:p>
        </p:txBody>
      </p:sp>
      <p:sp>
        <p:nvSpPr>
          <p:cNvPr id="42" name="TextBox 41"/>
          <p:cNvSpPr txBox="1"/>
          <p:nvPr/>
        </p:nvSpPr>
        <p:spPr>
          <a:xfrm>
            <a:off x="6441948" y="23926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[8]</a:t>
            </a:r>
          </a:p>
        </p:txBody>
      </p:sp>
      <p:sp>
        <p:nvSpPr>
          <p:cNvPr id="43" name="Tipo Académica"/>
          <p:cNvSpPr/>
          <p:nvPr/>
        </p:nvSpPr>
        <p:spPr>
          <a:xfrm>
            <a:off x="6441948" y="2639567"/>
            <a:ext cx="384048" cy="146304"/>
          </a:xfrm>
          <a:prstGeom prst="rect">
            <a:avLst/>
          </a:prstGeom>
          <a:solidFill>
            <a:srgbClr val="001633"/>
          </a:solidFill>
          <a:ln w="63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6441948" y="2639567"/>
            <a:ext cx="384048" cy="146304"/>
          </a:xfrm>
          <a:prstGeom prst="rect">
            <a:avLst/>
          </a:prstGeom>
          <a:noFill/>
        </p:spPr>
        <p:txBody>
          <a:bodyPr wrap="square" lIns="0" tIns="0" rIns="0" bIns="0" anchor="ctr">
            <a:spAutoFit/>
          </a:bodyPr>
          <a:lstStyle/>
          <a:p>
            <a:pPr algn="ctr">
              <a:spcAft>
                <a:spcPts val="600"/>
              </a:spcAft>
            </a:pPr>
            <a:r>
              <a:rPr sz="550" b="1" i="0">
                <a:solidFill>
                  <a:srgbClr val="85D5E6"/>
                </a:solidFill>
                <a:effectLst>
                  <a:glow rad="63500">
                    <a:srgbClr val="001633">
                      <a:alpha val="85000"/>
                    </a:srgbClr>
                  </a:glow>
                </a:effectLst>
                <a:latin typeface="Montserrat"/>
              </a:rPr>
              <a:t>ACAD</a:t>
            </a:r>
          </a:p>
        </p:txBody>
      </p:sp>
      <p:sp>
        <p:nvSpPr>
          <p:cNvPr id="45" name="TextBox 44"/>
          <p:cNvSpPr txBox="1"/>
          <p:nvPr/>
        </p:nvSpPr>
        <p:spPr>
          <a:xfrm>
            <a:off x="6441948" y="28041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46" name="TextBox 45"/>
          <p:cNvSpPr txBox="1"/>
          <p:nvPr/>
        </p:nvSpPr>
        <p:spPr>
          <a:xfrm>
            <a:off x="6944868" y="23926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Taylor, J., Clark, J. M., Levy, I., Horne, P., Smith, M. y Passmore, M. (2019). BHP Olympic Dam's transformation to live implicit modelling and innovative solutions to working in data dense environments. 11th International Mining Geology Conference, AusIMM.</a:t>
            </a:r>
          </a:p>
          <a:p>
            <a:pPr algn="l">
              <a:spcAft>
                <a:spcPts val="100"/>
              </a:spcAft>
            </a:pPr>
            <a:r>
              <a:rPr sz="700" b="0" i="0">
                <a:solidFill>
                  <a:srgbClr val="A9B8C9"/>
                </a:solidFill>
                <a:effectLst>
                  <a:glow rad="63500">
                    <a:srgbClr val="001633">
                      <a:alpha val="85000"/>
                    </a:srgbClr>
                  </a:glow>
                </a:effectLst>
                <a:latin typeface="Montserrat"/>
              </a:rPr>
              <a:t>https://www.ausimm.com/publications/conference-proceedings/11th-international-mining-geology-conference-2019/bhp-olympic-dams-transformation-to-live-implicit-modelling-and-innovative-solutions-to-working-in-data-dense-environments/</a:t>
            </a:r>
          </a:p>
        </p:txBody>
      </p:sp>
      <p:sp>
        <p:nvSpPr>
          <p:cNvPr id="47" name="TextBox 46"/>
          <p:cNvSpPr txBox="1"/>
          <p:nvPr/>
        </p:nvSpPr>
        <p:spPr>
          <a:xfrm>
            <a:off x="6441948" y="30022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[9]</a:t>
            </a:r>
          </a:p>
        </p:txBody>
      </p:sp>
      <p:sp>
        <p:nvSpPr>
          <p:cNvPr id="48" name="Tipo Académica"/>
          <p:cNvSpPr/>
          <p:nvPr/>
        </p:nvSpPr>
        <p:spPr>
          <a:xfrm>
            <a:off x="6441948" y="3249167"/>
            <a:ext cx="384048" cy="146304"/>
          </a:xfrm>
          <a:prstGeom prst="rect">
            <a:avLst/>
          </a:prstGeom>
          <a:solidFill>
            <a:srgbClr val="001633"/>
          </a:solidFill>
          <a:ln w="63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6441948" y="3249167"/>
            <a:ext cx="384048" cy="146304"/>
          </a:xfrm>
          <a:prstGeom prst="rect">
            <a:avLst/>
          </a:prstGeom>
          <a:noFill/>
        </p:spPr>
        <p:txBody>
          <a:bodyPr wrap="square" lIns="0" tIns="0" rIns="0" bIns="0" anchor="ctr">
            <a:spAutoFit/>
          </a:bodyPr>
          <a:lstStyle/>
          <a:p>
            <a:pPr algn="ctr">
              <a:spcAft>
                <a:spcPts val="600"/>
              </a:spcAft>
            </a:pPr>
            <a:r>
              <a:rPr sz="550" b="1" i="0">
                <a:solidFill>
                  <a:srgbClr val="85D5E6"/>
                </a:solidFill>
                <a:effectLst>
                  <a:glow rad="63500">
                    <a:srgbClr val="001633">
                      <a:alpha val="85000"/>
                    </a:srgbClr>
                  </a:glow>
                </a:effectLst>
                <a:latin typeface="Montserrat"/>
              </a:rPr>
              <a:t>ACAD</a:t>
            </a:r>
          </a:p>
        </p:txBody>
      </p:sp>
      <p:sp>
        <p:nvSpPr>
          <p:cNvPr id="50" name="TextBox 49"/>
          <p:cNvSpPr txBox="1"/>
          <p:nvPr/>
        </p:nvSpPr>
        <p:spPr>
          <a:xfrm>
            <a:off x="6441948" y="34137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51" name="TextBox 50"/>
          <p:cNvSpPr txBox="1"/>
          <p:nvPr/>
        </p:nvSpPr>
        <p:spPr>
          <a:xfrm>
            <a:off x="6944868" y="30022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Zamani, V., Badiozamani, M. M. y Askari-Nasab, H. (2025). An Ore-to-Barrel Digital Twin: Simulating Fleet and Plant Development in Oil Sands Mining Operations. Mining Optimization Laboratory, University of Alberta.</a:t>
            </a:r>
          </a:p>
          <a:p>
            <a:pPr algn="l">
              <a:spcAft>
                <a:spcPts val="100"/>
              </a:spcAft>
            </a:pPr>
            <a:r>
              <a:rPr sz="700" b="0" i="0">
                <a:solidFill>
                  <a:srgbClr val="A9B8C9"/>
                </a:solidFill>
                <a:effectLst>
                  <a:glow rad="63500">
                    <a:srgbClr val="001633">
                      <a:alpha val="85000"/>
                    </a:srgbClr>
                  </a:glow>
                </a:effectLst>
                <a:latin typeface="Montserrat"/>
              </a:rPr>
              <a:t>https://sites.ualberta.ca/MOL/DataFiles/2025_Papers/303_Zamani.pdf</a:t>
            </a:r>
          </a:p>
        </p:txBody>
      </p:sp>
      <p:sp>
        <p:nvSpPr>
          <p:cNvPr id="52" name="TextBox 51"/>
          <p:cNvSpPr txBox="1"/>
          <p:nvPr/>
        </p:nvSpPr>
        <p:spPr>
          <a:xfrm>
            <a:off x="6441948" y="36118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[10]</a:t>
            </a:r>
          </a:p>
        </p:txBody>
      </p:sp>
      <p:sp>
        <p:nvSpPr>
          <p:cNvPr id="53" name="Tipo Prensa"/>
          <p:cNvSpPr/>
          <p:nvPr/>
        </p:nvSpPr>
        <p:spPr>
          <a:xfrm>
            <a:off x="6441948" y="3858767"/>
            <a:ext cx="384048" cy="146304"/>
          </a:xfrm>
          <a:prstGeom prst="rect">
            <a:avLst/>
          </a:prstGeom>
          <a:solidFill>
            <a:srgbClr val="001633"/>
          </a:solidFill>
          <a:ln w="6350">
            <a:solidFill>
              <a:srgbClr val="A9B8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6441948" y="3858767"/>
            <a:ext cx="384048" cy="146304"/>
          </a:xfrm>
          <a:prstGeom prst="rect">
            <a:avLst/>
          </a:prstGeom>
          <a:noFill/>
        </p:spPr>
        <p:txBody>
          <a:bodyPr wrap="square" lIns="0" tIns="0" rIns="0" bIns="0" anchor="ctr">
            <a:spAutoFit/>
          </a:bodyPr>
          <a:lstStyle/>
          <a:p>
            <a:pPr algn="ctr">
              <a:spcAft>
                <a:spcPts val="600"/>
              </a:spcAft>
            </a:pPr>
            <a:r>
              <a:rPr sz="550" b="1" i="0">
                <a:solidFill>
                  <a:srgbClr val="A9B8C9"/>
                </a:solidFill>
                <a:effectLst>
                  <a:glow rad="63500">
                    <a:srgbClr val="001633">
                      <a:alpha val="85000"/>
                    </a:srgbClr>
                  </a:glow>
                </a:effectLst>
                <a:latin typeface="Montserrat"/>
              </a:rPr>
              <a:t>PREN</a:t>
            </a:r>
          </a:p>
        </p:txBody>
      </p:sp>
      <p:sp>
        <p:nvSpPr>
          <p:cNvPr id="55" name="TextBox 54"/>
          <p:cNvSpPr txBox="1"/>
          <p:nvPr/>
        </p:nvSpPr>
        <p:spPr>
          <a:xfrm>
            <a:off x="6441948" y="40233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56" name="TextBox 55"/>
          <p:cNvSpPr txBox="1"/>
          <p:nvPr/>
        </p:nvSpPr>
        <p:spPr>
          <a:xfrm>
            <a:off x="6944868" y="36118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Mining Digital (2024, 31 de enero). ABB &amp; Boliden use digital twins to optimise mining processes.</a:t>
            </a:r>
          </a:p>
          <a:p>
            <a:pPr algn="l">
              <a:spcAft>
                <a:spcPts val="100"/>
              </a:spcAft>
            </a:pPr>
            <a:r>
              <a:rPr sz="700" b="0" i="0">
                <a:solidFill>
                  <a:srgbClr val="A9B8C9"/>
                </a:solidFill>
                <a:effectLst>
                  <a:glow rad="63500">
                    <a:srgbClr val="001633">
                      <a:alpha val="85000"/>
                    </a:srgbClr>
                  </a:glow>
                </a:effectLst>
                <a:latin typeface="Montserrat"/>
              </a:rPr>
              <a:t>https://miningdigital.com/articles/abb-boliden-use-digital-twins-to-optimise-mining-processes</a:t>
            </a:r>
          </a:p>
        </p:txBody>
      </p:sp>
      <p:sp>
        <p:nvSpPr>
          <p:cNvPr id="57" name="TextBox 56"/>
          <p:cNvSpPr txBox="1"/>
          <p:nvPr/>
        </p:nvSpPr>
        <p:spPr>
          <a:xfrm>
            <a:off x="6441948" y="42214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[11]</a:t>
            </a:r>
          </a:p>
        </p:txBody>
      </p:sp>
      <p:sp>
        <p:nvSpPr>
          <p:cNvPr id="58" name="Tipo Industria"/>
          <p:cNvSpPr/>
          <p:nvPr/>
        </p:nvSpPr>
        <p:spPr>
          <a:xfrm>
            <a:off x="6441948" y="4468367"/>
            <a:ext cx="384048" cy="146304"/>
          </a:xfrm>
          <a:prstGeom prst="rect">
            <a:avLst/>
          </a:prstGeom>
          <a:solidFill>
            <a:srgbClr val="0016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Box 58"/>
          <p:cNvSpPr txBox="1"/>
          <p:nvPr/>
        </p:nvSpPr>
        <p:spPr>
          <a:xfrm>
            <a:off x="6441948" y="4468367"/>
            <a:ext cx="384048" cy="146304"/>
          </a:xfrm>
          <a:prstGeom prst="rect">
            <a:avLst/>
          </a:prstGeom>
          <a:noFill/>
        </p:spPr>
        <p:txBody>
          <a:bodyPr wrap="square" lIns="0" tIns="0" rIns="0" bIns="0" anchor="ctr">
            <a:spAutoFit/>
          </a:bodyPr>
          <a:lstStyle/>
          <a:p>
            <a:pPr algn="ctr">
              <a:spcAft>
                <a:spcPts val="600"/>
              </a:spcAft>
            </a:pPr>
            <a:r>
              <a:rPr sz="550" b="1" i="0">
                <a:solidFill>
                  <a:srgbClr val="FFFFFF"/>
                </a:solidFill>
                <a:effectLst>
                  <a:glow rad="63500">
                    <a:srgbClr val="001633">
                      <a:alpha val="85000"/>
                    </a:srgbClr>
                  </a:glow>
                </a:effectLst>
                <a:latin typeface="Montserrat"/>
              </a:rPr>
              <a:t>INDU</a:t>
            </a:r>
          </a:p>
        </p:txBody>
      </p:sp>
      <p:sp>
        <p:nvSpPr>
          <p:cNvPr id="60" name="TextBox 59"/>
          <p:cNvSpPr txBox="1"/>
          <p:nvPr/>
        </p:nvSpPr>
        <p:spPr>
          <a:xfrm>
            <a:off x="6441948" y="46329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61" name="TextBox 60"/>
          <p:cNvSpPr txBox="1"/>
          <p:nvPr/>
        </p:nvSpPr>
        <p:spPr>
          <a:xfrm>
            <a:off x="6944868" y="42214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MMG (2026, 20 de julio). The new digital twin technology adoption that delivered strong value.</a:t>
            </a:r>
          </a:p>
          <a:p>
            <a:pPr algn="l">
              <a:spcAft>
                <a:spcPts val="100"/>
              </a:spcAft>
            </a:pPr>
            <a:r>
              <a:rPr sz="700" b="0" i="0">
                <a:solidFill>
                  <a:srgbClr val="A9B8C9"/>
                </a:solidFill>
                <a:effectLst>
                  <a:glow rad="63500">
                    <a:srgbClr val="001633">
                      <a:alpha val="85000"/>
                    </a:srgbClr>
                  </a:glow>
                </a:effectLst>
                <a:latin typeface="Montserrat"/>
              </a:rPr>
              <a:t>https://www.mmg.com/investors/news-centre/169701</a:t>
            </a:r>
          </a:p>
        </p:txBody>
      </p:sp>
      <p:sp>
        <p:nvSpPr>
          <p:cNvPr id="62" name="TextBox 61"/>
          <p:cNvSpPr txBox="1"/>
          <p:nvPr/>
        </p:nvSpPr>
        <p:spPr>
          <a:xfrm>
            <a:off x="6441948" y="4831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[12]</a:t>
            </a:r>
          </a:p>
        </p:txBody>
      </p:sp>
      <p:sp>
        <p:nvSpPr>
          <p:cNvPr id="63" name="Tipo Proveedor"/>
          <p:cNvSpPr/>
          <p:nvPr/>
        </p:nvSpPr>
        <p:spPr>
          <a:xfrm>
            <a:off x="6441948" y="5077967"/>
            <a:ext cx="384048" cy="146304"/>
          </a:xfrm>
          <a:prstGeom prst="rect">
            <a:avLst/>
          </a:prstGeom>
          <a:solidFill>
            <a:srgbClr val="001633"/>
          </a:solidFill>
          <a:ln w="63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Box 63"/>
          <p:cNvSpPr txBox="1"/>
          <p:nvPr/>
        </p:nvSpPr>
        <p:spPr>
          <a:xfrm>
            <a:off x="6441948" y="5077967"/>
            <a:ext cx="384048" cy="146304"/>
          </a:xfrm>
          <a:prstGeom prst="rect">
            <a:avLst/>
          </a:prstGeom>
          <a:noFill/>
        </p:spPr>
        <p:txBody>
          <a:bodyPr wrap="square" lIns="0" tIns="0" rIns="0" bIns="0" anchor="ctr">
            <a:spAutoFit/>
          </a:bodyPr>
          <a:lstStyle/>
          <a:p>
            <a:pPr algn="ctr">
              <a:spcAft>
                <a:spcPts val="600"/>
              </a:spcAft>
            </a:pPr>
            <a:r>
              <a:rPr sz="550" b="1" i="0">
                <a:solidFill>
                  <a:srgbClr val="FFAB40"/>
                </a:solidFill>
                <a:effectLst>
                  <a:glow rad="63500">
                    <a:srgbClr val="001633">
                      <a:alpha val="85000"/>
                    </a:srgbClr>
                  </a:glow>
                </a:effectLst>
                <a:latin typeface="Montserrat"/>
              </a:rPr>
              <a:t>PROV</a:t>
            </a:r>
          </a:p>
        </p:txBody>
      </p:sp>
      <p:sp>
        <p:nvSpPr>
          <p:cNvPr id="65" name="TextBox 64"/>
          <p:cNvSpPr txBox="1"/>
          <p:nvPr/>
        </p:nvSpPr>
        <p:spPr>
          <a:xfrm>
            <a:off x="6441948" y="5242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66" name="TextBox 65"/>
          <p:cNvSpPr txBox="1"/>
          <p:nvPr/>
        </p:nvSpPr>
        <p:spPr>
          <a:xfrm>
            <a:off x="6944868" y="48310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Kenworthy, A. (2021). The role of a dynamically updated digital twin in modern tailing storage facilities management. Seequent.</a:t>
            </a:r>
          </a:p>
          <a:p>
            <a:pPr algn="l">
              <a:spcAft>
                <a:spcPts val="100"/>
              </a:spcAft>
            </a:pPr>
            <a:r>
              <a:rPr sz="700" b="0" i="0">
                <a:solidFill>
                  <a:srgbClr val="A9B8C9"/>
                </a:solidFill>
                <a:effectLst>
                  <a:glow rad="63500">
                    <a:srgbClr val="001633">
                      <a:alpha val="85000"/>
                    </a:srgbClr>
                  </a:glow>
                </a:effectLst>
                <a:latin typeface="Montserrat"/>
              </a:rPr>
              <a:t>https://www.seequent.com/the-role-of-a-dynamically-updated-digital-twin-in-modern-tailing-storage-facilities-management-monitoring-to-modeling</a:t>
            </a:r>
          </a:p>
        </p:txBody>
      </p:sp>
      <p:sp>
        <p:nvSpPr>
          <p:cNvPr id="67"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Tipo de fuente: </a:t>
            </a:r>
            <a:r>
              <a:rPr sz="800" b="1" i="0">
                <a:solidFill>
                  <a:srgbClr val="85D5E6"/>
                </a:solidFill>
                <a:effectLst>
                  <a:glow rad="63500">
                    <a:srgbClr val="001633">
                      <a:alpha val="85000"/>
                    </a:srgbClr>
                  </a:glow>
                </a:effectLst>
                <a:latin typeface="Montserrat"/>
              </a:rPr>
              <a:t>Académica   </a:t>
            </a:r>
            <a:r>
              <a:rPr sz="800" b="1" i="0">
                <a:solidFill>
                  <a:srgbClr val="FFFFFF"/>
                </a:solidFill>
                <a:effectLst>
                  <a:glow rad="63500">
                    <a:srgbClr val="001633">
                      <a:alpha val="85000"/>
                    </a:srgbClr>
                  </a:glow>
                </a:effectLst>
                <a:latin typeface="Montserrat"/>
              </a:rPr>
              <a:t>Industria   </a:t>
            </a:r>
            <a:r>
              <a:rPr sz="800" b="1" i="0">
                <a:solidFill>
                  <a:srgbClr val="FFAB40"/>
                </a:solidFill>
                <a:effectLst>
                  <a:glow rad="63500">
                    <a:srgbClr val="001633">
                      <a:alpha val="85000"/>
                    </a:srgbClr>
                  </a:glow>
                </a:effectLst>
                <a:latin typeface="Montserrat"/>
              </a:rPr>
              <a:t>Proveedor   </a:t>
            </a:r>
            <a:r>
              <a:rPr sz="800" b="1" i="0">
                <a:solidFill>
                  <a:srgbClr val="A9B8C9"/>
                </a:solidFill>
                <a:effectLst>
                  <a:glow rad="63500">
                    <a:srgbClr val="001633">
                      <a:alpha val="85000"/>
                    </a:srgbClr>
                  </a:glow>
                </a:effectLst>
                <a:latin typeface="Montserrat"/>
              </a:rPr>
              <a:t>Prensa   </a:t>
            </a:r>
            <a:r>
              <a:rPr sz="800" b="1" i="0">
                <a:solidFill>
                  <a:srgbClr val="B39DF0"/>
                </a:solidFill>
                <a:effectLst>
                  <a:glow rad="63500">
                    <a:srgbClr val="001633">
                      <a:alpha val="85000"/>
                    </a:srgbClr>
                  </a:glow>
                </a:effectLst>
                <a:latin typeface="Montserrat"/>
              </a:rPr>
              <a:t>Estándar   </a:t>
            </a:r>
            <a:r>
              <a:rPr sz="800" b="0" i="0">
                <a:solidFill>
                  <a:srgbClr val="A9B8C9"/>
                </a:solidFill>
                <a:effectLst>
                  <a:glow rad="63500">
                    <a:srgbClr val="001633">
                      <a:alpha val="85000"/>
                    </a:srgbClr>
                  </a:glow>
                </a:effectLst>
                <a:latin typeface="Montserrat"/>
              </a:rPr>
              <a:t>· todas consultadas el 12 de octubre de 2026 · los casos de proveedor no entregan datos auditados</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Referencias del curso (2/3)</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FUENTES</a:t>
            </a:r>
          </a:p>
        </p:txBody>
      </p:sp>
      <p:sp>
        <p:nvSpPr>
          <p:cNvPr id="6" name="Velo referencias"/>
          <p:cNvSpPr/>
          <p:nvPr/>
        </p:nvSpPr>
        <p:spPr>
          <a:xfrm>
            <a:off x="5984748" y="1325879"/>
            <a:ext cx="6469380" cy="2377440"/>
          </a:xfrm>
          <a:prstGeom prst="rect">
            <a:avLst/>
          </a:prstGeom>
          <a:gradFill rotWithShape="1">
            <a:gsLst>
              <a:gs pos="0">
                <a:srgbClr val="001633">
                  <a:alpha val="100000"/>
                </a:srgbClr>
              </a:gs>
              <a:gs pos="65000">
                <a:srgbClr val="001633">
                  <a:alpha val="100000"/>
                </a:srgbClr>
              </a:gs>
              <a:gs pos="100000">
                <a:srgbClr val="001633">
                  <a:alpha val="0"/>
                </a:srgbClr>
              </a:gs>
            </a:gsLst>
            <a:path path="rect">
              <a:fillToRect t="30000" r="30000" b="3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252728" y="1783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[13]</a:t>
            </a:r>
          </a:p>
        </p:txBody>
      </p:sp>
      <p:sp>
        <p:nvSpPr>
          <p:cNvPr id="8" name="Tipo Proveedor"/>
          <p:cNvSpPr/>
          <p:nvPr/>
        </p:nvSpPr>
        <p:spPr>
          <a:xfrm>
            <a:off x="1252728" y="2029967"/>
            <a:ext cx="384048" cy="146304"/>
          </a:xfrm>
          <a:prstGeom prst="rect">
            <a:avLst/>
          </a:prstGeom>
          <a:solidFill>
            <a:srgbClr val="001633"/>
          </a:solidFill>
          <a:ln w="63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52728" y="2029967"/>
            <a:ext cx="384048" cy="146304"/>
          </a:xfrm>
          <a:prstGeom prst="rect">
            <a:avLst/>
          </a:prstGeom>
          <a:noFill/>
        </p:spPr>
        <p:txBody>
          <a:bodyPr wrap="square" lIns="0" tIns="0" rIns="0" bIns="0" anchor="ctr">
            <a:spAutoFit/>
          </a:bodyPr>
          <a:lstStyle/>
          <a:p>
            <a:pPr algn="ctr">
              <a:spcAft>
                <a:spcPts val="600"/>
              </a:spcAft>
            </a:pPr>
            <a:r>
              <a:rPr sz="550" b="1" i="0">
                <a:solidFill>
                  <a:srgbClr val="FFAB40"/>
                </a:solidFill>
                <a:effectLst>
                  <a:glow rad="63500">
                    <a:srgbClr val="001633">
                      <a:alpha val="85000"/>
                    </a:srgbClr>
                  </a:glow>
                </a:effectLst>
                <a:latin typeface="Montserrat"/>
              </a:rPr>
              <a:t>PROV</a:t>
            </a:r>
          </a:p>
        </p:txBody>
      </p:sp>
      <p:sp>
        <p:nvSpPr>
          <p:cNvPr id="10" name="TextBox 9"/>
          <p:cNvSpPr txBox="1"/>
          <p:nvPr/>
        </p:nvSpPr>
        <p:spPr>
          <a:xfrm>
            <a:off x="1252728" y="2194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11" name="TextBox 10"/>
          <p:cNvSpPr txBox="1"/>
          <p:nvPr/>
        </p:nvSpPr>
        <p:spPr>
          <a:xfrm>
            <a:off x="1755648" y="17830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Visagie, C. (2026, 13 de mayo). Real-time ventilation-on-demand using digital twins. MechChem Africa. El autor es director de Vuma Software.</a:t>
            </a:r>
          </a:p>
          <a:p>
            <a:pPr algn="l">
              <a:spcAft>
                <a:spcPts val="100"/>
              </a:spcAft>
            </a:pPr>
            <a:r>
              <a:rPr sz="700" b="0" i="0">
                <a:solidFill>
                  <a:srgbClr val="A9B8C9"/>
                </a:solidFill>
                <a:effectLst>
                  <a:glow rad="63500">
                    <a:srgbClr val="001633">
                      <a:alpha val="85000"/>
                    </a:srgbClr>
                  </a:glow>
                </a:effectLst>
                <a:latin typeface="Montserrat"/>
              </a:rPr>
              <a:t>https://www.crown.co.za/mechchem-africa/industry-innovations/36611-real-time-ventilation-on-demand-using-digital-twins</a:t>
            </a:r>
          </a:p>
        </p:txBody>
      </p:sp>
      <p:sp>
        <p:nvSpPr>
          <p:cNvPr id="12" name="TextBox 11"/>
          <p:cNvSpPr txBox="1"/>
          <p:nvPr/>
        </p:nvSpPr>
        <p:spPr>
          <a:xfrm>
            <a:off x="1252728" y="23926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[14]</a:t>
            </a:r>
          </a:p>
        </p:txBody>
      </p:sp>
      <p:sp>
        <p:nvSpPr>
          <p:cNvPr id="13" name="Tipo Proveedor"/>
          <p:cNvSpPr/>
          <p:nvPr/>
        </p:nvSpPr>
        <p:spPr>
          <a:xfrm>
            <a:off x="1252728" y="2639567"/>
            <a:ext cx="384048" cy="146304"/>
          </a:xfrm>
          <a:prstGeom prst="rect">
            <a:avLst/>
          </a:prstGeom>
          <a:solidFill>
            <a:srgbClr val="001633"/>
          </a:solidFill>
          <a:ln w="63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252728" y="2639567"/>
            <a:ext cx="384048" cy="146304"/>
          </a:xfrm>
          <a:prstGeom prst="rect">
            <a:avLst/>
          </a:prstGeom>
          <a:noFill/>
        </p:spPr>
        <p:txBody>
          <a:bodyPr wrap="square" lIns="0" tIns="0" rIns="0" bIns="0" anchor="ctr">
            <a:spAutoFit/>
          </a:bodyPr>
          <a:lstStyle/>
          <a:p>
            <a:pPr algn="ctr">
              <a:spcAft>
                <a:spcPts val="600"/>
              </a:spcAft>
            </a:pPr>
            <a:r>
              <a:rPr sz="550" b="1" i="0">
                <a:solidFill>
                  <a:srgbClr val="FFAB40"/>
                </a:solidFill>
                <a:effectLst>
                  <a:glow rad="63500">
                    <a:srgbClr val="001633">
                      <a:alpha val="85000"/>
                    </a:srgbClr>
                  </a:glow>
                </a:effectLst>
                <a:latin typeface="Montserrat"/>
              </a:rPr>
              <a:t>PROV</a:t>
            </a:r>
          </a:p>
        </p:txBody>
      </p:sp>
      <p:sp>
        <p:nvSpPr>
          <p:cNvPr id="15" name="TextBox 14"/>
          <p:cNvSpPr txBox="1"/>
          <p:nvPr/>
        </p:nvSpPr>
        <p:spPr>
          <a:xfrm>
            <a:off x="1252728" y="28041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16" name="TextBox 15"/>
          <p:cNvSpPr txBox="1"/>
          <p:nvPr/>
        </p:nvSpPr>
        <p:spPr>
          <a:xfrm>
            <a:off x="1755648" y="23926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Mipac (2025, 21 de mayo). Ok Tedi's AVEVA PI System journey with Mipac.</a:t>
            </a:r>
          </a:p>
          <a:p>
            <a:pPr algn="l">
              <a:spcAft>
                <a:spcPts val="100"/>
              </a:spcAft>
            </a:pPr>
            <a:r>
              <a:rPr sz="700" b="0" i="0">
                <a:solidFill>
                  <a:srgbClr val="A9B8C9"/>
                </a:solidFill>
                <a:effectLst>
                  <a:glow rad="63500">
                    <a:srgbClr val="001633">
                      <a:alpha val="85000"/>
                    </a:srgbClr>
                  </a:glow>
                </a:effectLst>
                <a:latin typeface="Montserrat"/>
              </a:rPr>
              <a:t>https://www.mipac.com.au/insights/ok-tedis-aveva-pi-system-journey-with-mipac/</a:t>
            </a:r>
          </a:p>
        </p:txBody>
      </p:sp>
      <p:sp>
        <p:nvSpPr>
          <p:cNvPr id="17" name="TextBox 16"/>
          <p:cNvSpPr txBox="1"/>
          <p:nvPr/>
        </p:nvSpPr>
        <p:spPr>
          <a:xfrm>
            <a:off x="1252728" y="30022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[15]</a:t>
            </a:r>
          </a:p>
        </p:txBody>
      </p:sp>
      <p:sp>
        <p:nvSpPr>
          <p:cNvPr id="18" name="Tipo Prensa"/>
          <p:cNvSpPr/>
          <p:nvPr/>
        </p:nvSpPr>
        <p:spPr>
          <a:xfrm>
            <a:off x="1252728" y="3249167"/>
            <a:ext cx="384048" cy="146304"/>
          </a:xfrm>
          <a:prstGeom prst="rect">
            <a:avLst/>
          </a:prstGeom>
          <a:solidFill>
            <a:srgbClr val="001633"/>
          </a:solidFill>
          <a:ln w="6350">
            <a:solidFill>
              <a:srgbClr val="A9B8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252728" y="3249167"/>
            <a:ext cx="384048" cy="146304"/>
          </a:xfrm>
          <a:prstGeom prst="rect">
            <a:avLst/>
          </a:prstGeom>
          <a:noFill/>
        </p:spPr>
        <p:txBody>
          <a:bodyPr wrap="square" lIns="0" tIns="0" rIns="0" bIns="0" anchor="ctr">
            <a:spAutoFit/>
          </a:bodyPr>
          <a:lstStyle/>
          <a:p>
            <a:pPr algn="ctr">
              <a:spcAft>
                <a:spcPts val="600"/>
              </a:spcAft>
            </a:pPr>
            <a:r>
              <a:rPr sz="550" b="1" i="0">
                <a:solidFill>
                  <a:srgbClr val="A9B8C9"/>
                </a:solidFill>
                <a:effectLst>
                  <a:glow rad="63500">
                    <a:srgbClr val="001633">
                      <a:alpha val="85000"/>
                    </a:srgbClr>
                  </a:glow>
                </a:effectLst>
                <a:latin typeface="Montserrat"/>
              </a:rPr>
              <a:t>PREN</a:t>
            </a:r>
          </a:p>
        </p:txBody>
      </p:sp>
      <p:sp>
        <p:nvSpPr>
          <p:cNvPr id="20" name="TextBox 19"/>
          <p:cNvSpPr txBox="1"/>
          <p:nvPr/>
        </p:nvSpPr>
        <p:spPr>
          <a:xfrm>
            <a:off x="1252728" y="34137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21" name="TextBox 20"/>
          <p:cNvSpPr txBox="1"/>
          <p:nvPr/>
        </p:nvSpPr>
        <p:spPr>
          <a:xfrm>
            <a:off x="1755648" y="30022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International Mining (2022, 12 de diciembre). Anglo American utilising latest digital twin technology at Quellaveco.</a:t>
            </a:r>
          </a:p>
          <a:p>
            <a:pPr algn="l">
              <a:spcAft>
                <a:spcPts val="100"/>
              </a:spcAft>
            </a:pPr>
            <a:r>
              <a:rPr sz="700" b="0" i="0">
                <a:solidFill>
                  <a:srgbClr val="A9B8C9"/>
                </a:solidFill>
                <a:effectLst>
                  <a:glow rad="63500">
                    <a:srgbClr val="001633">
                      <a:alpha val="85000"/>
                    </a:srgbClr>
                  </a:glow>
                </a:effectLst>
                <a:latin typeface="Montserrat"/>
              </a:rPr>
              <a:t>https://im-mining.com/?p=91754</a:t>
            </a:r>
          </a:p>
        </p:txBody>
      </p:sp>
      <p:sp>
        <p:nvSpPr>
          <p:cNvPr id="22" name="TextBox 21"/>
          <p:cNvSpPr txBox="1"/>
          <p:nvPr/>
        </p:nvSpPr>
        <p:spPr>
          <a:xfrm>
            <a:off x="1252728" y="36118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[16]</a:t>
            </a:r>
          </a:p>
        </p:txBody>
      </p:sp>
      <p:sp>
        <p:nvSpPr>
          <p:cNvPr id="23" name="Tipo Proveedor"/>
          <p:cNvSpPr/>
          <p:nvPr/>
        </p:nvSpPr>
        <p:spPr>
          <a:xfrm>
            <a:off x="1252728" y="3858767"/>
            <a:ext cx="384048" cy="146304"/>
          </a:xfrm>
          <a:prstGeom prst="rect">
            <a:avLst/>
          </a:prstGeom>
          <a:solidFill>
            <a:srgbClr val="001633"/>
          </a:solidFill>
          <a:ln w="63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1252728" y="3858767"/>
            <a:ext cx="384048" cy="146304"/>
          </a:xfrm>
          <a:prstGeom prst="rect">
            <a:avLst/>
          </a:prstGeom>
          <a:noFill/>
        </p:spPr>
        <p:txBody>
          <a:bodyPr wrap="square" lIns="0" tIns="0" rIns="0" bIns="0" anchor="ctr">
            <a:spAutoFit/>
          </a:bodyPr>
          <a:lstStyle/>
          <a:p>
            <a:pPr algn="ctr">
              <a:spcAft>
                <a:spcPts val="600"/>
              </a:spcAft>
            </a:pPr>
            <a:r>
              <a:rPr sz="550" b="1" i="0">
                <a:solidFill>
                  <a:srgbClr val="FFAB40"/>
                </a:solidFill>
                <a:effectLst>
                  <a:glow rad="63500">
                    <a:srgbClr val="001633">
                      <a:alpha val="85000"/>
                    </a:srgbClr>
                  </a:glow>
                </a:effectLst>
                <a:latin typeface="Montserrat"/>
              </a:rPr>
              <a:t>PROV</a:t>
            </a:r>
          </a:p>
        </p:txBody>
      </p:sp>
      <p:sp>
        <p:nvSpPr>
          <p:cNvPr id="25" name="TextBox 24"/>
          <p:cNvSpPr txBox="1"/>
          <p:nvPr/>
        </p:nvSpPr>
        <p:spPr>
          <a:xfrm>
            <a:off x="1252728" y="40233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26" name="TextBox 25"/>
          <p:cNvSpPr txBox="1"/>
          <p:nvPr/>
        </p:nvSpPr>
        <p:spPr>
          <a:xfrm>
            <a:off x="1755648" y="36118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MechChem Africa (2024, mayo-junio). Innomotics partners in world's first digital mine.</a:t>
            </a:r>
          </a:p>
          <a:p>
            <a:pPr algn="l">
              <a:spcAft>
                <a:spcPts val="100"/>
              </a:spcAft>
            </a:pPr>
            <a:r>
              <a:rPr sz="700" b="0" i="0">
                <a:solidFill>
                  <a:srgbClr val="A9B8C9"/>
                </a:solidFill>
                <a:effectLst>
                  <a:glow rad="63500">
                    <a:srgbClr val="001633">
                      <a:alpha val="85000"/>
                    </a:srgbClr>
                  </a:glow>
                </a:effectLst>
                <a:latin typeface="Montserrat"/>
              </a:rPr>
              <a:t>https://www.crown.co.za/images/magazines/mechchem-africa/2024/Innomotics_partners_in_worlds_first_digital_mine.pdf</a:t>
            </a:r>
          </a:p>
        </p:txBody>
      </p:sp>
      <p:sp>
        <p:nvSpPr>
          <p:cNvPr id="27" name="TextBox 26"/>
          <p:cNvSpPr txBox="1"/>
          <p:nvPr/>
        </p:nvSpPr>
        <p:spPr>
          <a:xfrm>
            <a:off x="1252728" y="42214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[17]</a:t>
            </a:r>
          </a:p>
        </p:txBody>
      </p:sp>
      <p:sp>
        <p:nvSpPr>
          <p:cNvPr id="28" name="Tipo Prensa"/>
          <p:cNvSpPr/>
          <p:nvPr/>
        </p:nvSpPr>
        <p:spPr>
          <a:xfrm>
            <a:off x="1252728" y="4468367"/>
            <a:ext cx="384048" cy="146304"/>
          </a:xfrm>
          <a:prstGeom prst="rect">
            <a:avLst/>
          </a:prstGeom>
          <a:solidFill>
            <a:srgbClr val="001633"/>
          </a:solidFill>
          <a:ln w="6350">
            <a:solidFill>
              <a:srgbClr val="A9B8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1252728" y="4468367"/>
            <a:ext cx="384048" cy="146304"/>
          </a:xfrm>
          <a:prstGeom prst="rect">
            <a:avLst/>
          </a:prstGeom>
          <a:noFill/>
        </p:spPr>
        <p:txBody>
          <a:bodyPr wrap="square" lIns="0" tIns="0" rIns="0" bIns="0" anchor="ctr">
            <a:spAutoFit/>
          </a:bodyPr>
          <a:lstStyle/>
          <a:p>
            <a:pPr algn="ctr">
              <a:spcAft>
                <a:spcPts val="600"/>
              </a:spcAft>
            </a:pPr>
            <a:r>
              <a:rPr sz="550" b="1" i="0">
                <a:solidFill>
                  <a:srgbClr val="A9B8C9"/>
                </a:solidFill>
                <a:effectLst>
                  <a:glow rad="63500">
                    <a:srgbClr val="001633">
                      <a:alpha val="85000"/>
                    </a:srgbClr>
                  </a:glow>
                </a:effectLst>
                <a:latin typeface="Montserrat"/>
              </a:rPr>
              <a:t>PREN</a:t>
            </a:r>
          </a:p>
        </p:txBody>
      </p:sp>
      <p:sp>
        <p:nvSpPr>
          <p:cNvPr id="30" name="TextBox 29"/>
          <p:cNvSpPr txBox="1"/>
          <p:nvPr/>
        </p:nvSpPr>
        <p:spPr>
          <a:xfrm>
            <a:off x="1252728" y="46329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31" name="TextBox 30"/>
          <p:cNvSpPr txBox="1"/>
          <p:nvPr/>
        </p:nvSpPr>
        <p:spPr>
          <a:xfrm>
            <a:off x="1755648" y="42214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Global Mining Review (2023, 16 de febrero). Hexagon and BUMA successfully deploy MineOperate OP Pro.</a:t>
            </a:r>
          </a:p>
          <a:p>
            <a:pPr algn="l">
              <a:spcAft>
                <a:spcPts val="100"/>
              </a:spcAft>
            </a:pPr>
            <a:r>
              <a:rPr sz="700" b="0" i="0">
                <a:solidFill>
                  <a:srgbClr val="A9B8C9"/>
                </a:solidFill>
                <a:effectLst>
                  <a:glow rad="63500">
                    <a:srgbClr val="001633">
                      <a:alpha val="85000"/>
                    </a:srgbClr>
                  </a:glow>
                </a:effectLst>
                <a:latin typeface="Montserrat"/>
              </a:rPr>
              <a:t>https://www.globalminingreview.com/mining/16022023/hexagon-and-buma-successfully-deploy-mineoperate-op-pro/</a:t>
            </a:r>
          </a:p>
        </p:txBody>
      </p:sp>
      <p:sp>
        <p:nvSpPr>
          <p:cNvPr id="32" name="TextBox 31"/>
          <p:cNvSpPr txBox="1"/>
          <p:nvPr/>
        </p:nvSpPr>
        <p:spPr>
          <a:xfrm>
            <a:off x="1252728" y="4831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[18]</a:t>
            </a:r>
          </a:p>
        </p:txBody>
      </p:sp>
      <p:sp>
        <p:nvSpPr>
          <p:cNvPr id="33" name="Tipo Estándar"/>
          <p:cNvSpPr/>
          <p:nvPr/>
        </p:nvSpPr>
        <p:spPr>
          <a:xfrm>
            <a:off x="1252728" y="5077967"/>
            <a:ext cx="384048" cy="146304"/>
          </a:xfrm>
          <a:prstGeom prst="rect">
            <a:avLst/>
          </a:prstGeom>
          <a:solidFill>
            <a:srgbClr val="001633"/>
          </a:solidFill>
          <a:ln w="6350">
            <a:solidFill>
              <a:srgbClr val="B39D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1252728" y="5077967"/>
            <a:ext cx="384048" cy="146304"/>
          </a:xfrm>
          <a:prstGeom prst="rect">
            <a:avLst/>
          </a:prstGeom>
          <a:noFill/>
        </p:spPr>
        <p:txBody>
          <a:bodyPr wrap="square" lIns="0" tIns="0" rIns="0" bIns="0" anchor="ctr">
            <a:spAutoFit/>
          </a:bodyPr>
          <a:lstStyle/>
          <a:p>
            <a:pPr algn="ctr">
              <a:spcAft>
                <a:spcPts val="600"/>
              </a:spcAft>
            </a:pPr>
            <a:r>
              <a:rPr sz="550" b="1" i="0">
                <a:solidFill>
                  <a:srgbClr val="B39DF0"/>
                </a:solidFill>
                <a:effectLst>
                  <a:glow rad="63500">
                    <a:srgbClr val="001633">
                      <a:alpha val="85000"/>
                    </a:srgbClr>
                  </a:glow>
                </a:effectLst>
                <a:latin typeface="Montserrat"/>
              </a:rPr>
              <a:t>ESTÁ</a:t>
            </a:r>
          </a:p>
        </p:txBody>
      </p:sp>
      <p:sp>
        <p:nvSpPr>
          <p:cNvPr id="35" name="TextBox 34"/>
          <p:cNvSpPr txBox="1"/>
          <p:nvPr/>
        </p:nvSpPr>
        <p:spPr>
          <a:xfrm>
            <a:off x="1252728" y="5242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III, IV</a:t>
            </a:r>
          </a:p>
        </p:txBody>
      </p:sp>
      <p:sp>
        <p:nvSpPr>
          <p:cNvPr id="36" name="TextBox 35"/>
          <p:cNvSpPr txBox="1"/>
          <p:nvPr/>
        </p:nvSpPr>
        <p:spPr>
          <a:xfrm>
            <a:off x="1755648" y="48310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Modelica Association. Modelica Language Specification 3.6.</a:t>
            </a:r>
          </a:p>
          <a:p>
            <a:pPr algn="l">
              <a:spcAft>
                <a:spcPts val="100"/>
              </a:spcAft>
            </a:pPr>
            <a:r>
              <a:rPr sz="700" b="0" i="0">
                <a:solidFill>
                  <a:srgbClr val="A9B8C9"/>
                </a:solidFill>
                <a:effectLst>
                  <a:glow rad="63500">
                    <a:srgbClr val="001633">
                      <a:alpha val="85000"/>
                    </a:srgbClr>
                  </a:glow>
                </a:effectLst>
                <a:latin typeface="Montserrat"/>
              </a:rPr>
              <a:t>https://specification.modelica.org/</a:t>
            </a:r>
          </a:p>
        </p:txBody>
      </p:sp>
      <p:sp>
        <p:nvSpPr>
          <p:cNvPr id="37" name="TextBox 36"/>
          <p:cNvSpPr txBox="1"/>
          <p:nvPr/>
        </p:nvSpPr>
        <p:spPr>
          <a:xfrm>
            <a:off x="6441948" y="1783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[19]</a:t>
            </a:r>
          </a:p>
        </p:txBody>
      </p:sp>
      <p:sp>
        <p:nvSpPr>
          <p:cNvPr id="38" name="Tipo Estándar"/>
          <p:cNvSpPr/>
          <p:nvPr/>
        </p:nvSpPr>
        <p:spPr>
          <a:xfrm>
            <a:off x="6441948" y="2029967"/>
            <a:ext cx="384048" cy="146304"/>
          </a:xfrm>
          <a:prstGeom prst="rect">
            <a:avLst/>
          </a:prstGeom>
          <a:solidFill>
            <a:srgbClr val="001633"/>
          </a:solidFill>
          <a:ln w="6350">
            <a:solidFill>
              <a:srgbClr val="B39D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441948" y="2029967"/>
            <a:ext cx="384048" cy="146304"/>
          </a:xfrm>
          <a:prstGeom prst="rect">
            <a:avLst/>
          </a:prstGeom>
          <a:noFill/>
        </p:spPr>
        <p:txBody>
          <a:bodyPr wrap="square" lIns="0" tIns="0" rIns="0" bIns="0" anchor="ctr">
            <a:spAutoFit/>
          </a:bodyPr>
          <a:lstStyle/>
          <a:p>
            <a:pPr algn="ctr">
              <a:spcAft>
                <a:spcPts val="600"/>
              </a:spcAft>
            </a:pPr>
            <a:r>
              <a:rPr sz="550" b="1" i="0">
                <a:solidFill>
                  <a:srgbClr val="B39DF0"/>
                </a:solidFill>
                <a:effectLst>
                  <a:glow rad="63500">
                    <a:srgbClr val="001633">
                      <a:alpha val="85000"/>
                    </a:srgbClr>
                  </a:glow>
                </a:effectLst>
                <a:latin typeface="Montserrat"/>
              </a:rPr>
              <a:t>ESTÁ</a:t>
            </a:r>
          </a:p>
        </p:txBody>
      </p:sp>
      <p:sp>
        <p:nvSpPr>
          <p:cNvPr id="40" name="TextBox 39"/>
          <p:cNvSpPr txBox="1"/>
          <p:nvPr/>
        </p:nvSpPr>
        <p:spPr>
          <a:xfrm>
            <a:off x="6441948" y="2194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III, IV</a:t>
            </a:r>
          </a:p>
        </p:txBody>
      </p:sp>
      <p:sp>
        <p:nvSpPr>
          <p:cNvPr id="41" name="TextBox 40"/>
          <p:cNvSpPr txBox="1"/>
          <p:nvPr/>
        </p:nvSpPr>
        <p:spPr>
          <a:xfrm>
            <a:off x="6944868" y="17830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Modelica Association. Functional Mock-up Interface (FMI) 3.0.</a:t>
            </a:r>
          </a:p>
          <a:p>
            <a:pPr algn="l">
              <a:spcAft>
                <a:spcPts val="100"/>
              </a:spcAft>
            </a:pPr>
            <a:r>
              <a:rPr sz="700" b="0" i="0">
                <a:solidFill>
                  <a:srgbClr val="A9B8C9"/>
                </a:solidFill>
                <a:effectLst>
                  <a:glow rad="63500">
                    <a:srgbClr val="001633">
                      <a:alpha val="85000"/>
                    </a:srgbClr>
                  </a:glow>
                </a:effectLst>
                <a:latin typeface="Montserrat"/>
              </a:rPr>
              <a:t>https://fmi-standard.org/</a:t>
            </a:r>
          </a:p>
        </p:txBody>
      </p:sp>
      <p:sp>
        <p:nvSpPr>
          <p:cNvPr id="42" name="TextBox 41"/>
          <p:cNvSpPr txBox="1"/>
          <p:nvPr/>
        </p:nvSpPr>
        <p:spPr>
          <a:xfrm>
            <a:off x="6441948" y="23926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[20]</a:t>
            </a:r>
          </a:p>
        </p:txBody>
      </p:sp>
      <p:sp>
        <p:nvSpPr>
          <p:cNvPr id="43" name="Tipo Estándar"/>
          <p:cNvSpPr/>
          <p:nvPr/>
        </p:nvSpPr>
        <p:spPr>
          <a:xfrm>
            <a:off x="6441948" y="2639567"/>
            <a:ext cx="384048" cy="146304"/>
          </a:xfrm>
          <a:prstGeom prst="rect">
            <a:avLst/>
          </a:prstGeom>
          <a:solidFill>
            <a:srgbClr val="001633"/>
          </a:solidFill>
          <a:ln w="6350">
            <a:solidFill>
              <a:srgbClr val="B39D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6441948" y="2639567"/>
            <a:ext cx="384048" cy="146304"/>
          </a:xfrm>
          <a:prstGeom prst="rect">
            <a:avLst/>
          </a:prstGeom>
          <a:noFill/>
        </p:spPr>
        <p:txBody>
          <a:bodyPr wrap="square" lIns="0" tIns="0" rIns="0" bIns="0" anchor="ctr">
            <a:spAutoFit/>
          </a:bodyPr>
          <a:lstStyle/>
          <a:p>
            <a:pPr algn="ctr">
              <a:spcAft>
                <a:spcPts val="600"/>
              </a:spcAft>
            </a:pPr>
            <a:r>
              <a:rPr sz="550" b="1" i="0">
                <a:solidFill>
                  <a:srgbClr val="B39DF0"/>
                </a:solidFill>
                <a:effectLst>
                  <a:glow rad="63500">
                    <a:srgbClr val="001633">
                      <a:alpha val="85000"/>
                    </a:srgbClr>
                  </a:glow>
                </a:effectLst>
                <a:latin typeface="Montserrat"/>
              </a:rPr>
              <a:t>ESTÁ</a:t>
            </a:r>
          </a:p>
        </p:txBody>
      </p:sp>
      <p:sp>
        <p:nvSpPr>
          <p:cNvPr id="45" name="TextBox 44"/>
          <p:cNvSpPr txBox="1"/>
          <p:nvPr/>
        </p:nvSpPr>
        <p:spPr>
          <a:xfrm>
            <a:off x="6441948" y="28041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III, IV</a:t>
            </a:r>
          </a:p>
        </p:txBody>
      </p:sp>
      <p:sp>
        <p:nvSpPr>
          <p:cNvPr id="46" name="TextBox 45"/>
          <p:cNvSpPr txBox="1"/>
          <p:nvPr/>
        </p:nvSpPr>
        <p:spPr>
          <a:xfrm>
            <a:off x="6944868" y="23926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Modelica Association. System Structure and Parameterization (SSP) 1.0.</a:t>
            </a:r>
          </a:p>
          <a:p>
            <a:pPr algn="l">
              <a:spcAft>
                <a:spcPts val="100"/>
              </a:spcAft>
            </a:pPr>
            <a:r>
              <a:rPr sz="700" b="0" i="0">
                <a:solidFill>
                  <a:srgbClr val="A9B8C9"/>
                </a:solidFill>
                <a:effectLst>
                  <a:glow rad="63500">
                    <a:srgbClr val="001633">
                      <a:alpha val="85000"/>
                    </a:srgbClr>
                  </a:glow>
                </a:effectLst>
                <a:latin typeface="Montserrat"/>
              </a:rPr>
              <a:t>https://ssp-standard.org/</a:t>
            </a:r>
          </a:p>
        </p:txBody>
      </p:sp>
      <p:sp>
        <p:nvSpPr>
          <p:cNvPr id="47" name="TextBox 46"/>
          <p:cNvSpPr txBox="1"/>
          <p:nvPr/>
        </p:nvSpPr>
        <p:spPr>
          <a:xfrm>
            <a:off x="6441948" y="30022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[21]</a:t>
            </a:r>
          </a:p>
        </p:txBody>
      </p:sp>
      <p:sp>
        <p:nvSpPr>
          <p:cNvPr id="48" name="Tipo Estándar"/>
          <p:cNvSpPr/>
          <p:nvPr/>
        </p:nvSpPr>
        <p:spPr>
          <a:xfrm>
            <a:off x="6441948" y="3249167"/>
            <a:ext cx="384048" cy="146304"/>
          </a:xfrm>
          <a:prstGeom prst="rect">
            <a:avLst/>
          </a:prstGeom>
          <a:solidFill>
            <a:srgbClr val="001633"/>
          </a:solidFill>
          <a:ln w="6350">
            <a:solidFill>
              <a:srgbClr val="B39D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6441948" y="3249167"/>
            <a:ext cx="384048" cy="146304"/>
          </a:xfrm>
          <a:prstGeom prst="rect">
            <a:avLst/>
          </a:prstGeom>
          <a:noFill/>
        </p:spPr>
        <p:txBody>
          <a:bodyPr wrap="square" lIns="0" tIns="0" rIns="0" bIns="0" anchor="ctr">
            <a:spAutoFit/>
          </a:bodyPr>
          <a:lstStyle/>
          <a:p>
            <a:pPr algn="ctr">
              <a:spcAft>
                <a:spcPts val="600"/>
              </a:spcAft>
            </a:pPr>
            <a:r>
              <a:rPr sz="550" b="1" i="0">
                <a:solidFill>
                  <a:srgbClr val="B39DF0"/>
                </a:solidFill>
                <a:effectLst>
                  <a:glow rad="63500">
                    <a:srgbClr val="001633">
                      <a:alpha val="85000"/>
                    </a:srgbClr>
                  </a:glow>
                </a:effectLst>
                <a:latin typeface="Montserrat"/>
              </a:rPr>
              <a:t>ESTÁ</a:t>
            </a:r>
          </a:p>
        </p:txBody>
      </p:sp>
      <p:sp>
        <p:nvSpPr>
          <p:cNvPr id="50" name="TextBox 49"/>
          <p:cNvSpPr txBox="1"/>
          <p:nvPr/>
        </p:nvSpPr>
        <p:spPr>
          <a:xfrm>
            <a:off x="6441948" y="34137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III</a:t>
            </a:r>
          </a:p>
        </p:txBody>
      </p:sp>
      <p:sp>
        <p:nvSpPr>
          <p:cNvPr id="51" name="TextBox 50"/>
          <p:cNvSpPr txBox="1"/>
          <p:nvPr/>
        </p:nvSpPr>
        <p:spPr>
          <a:xfrm>
            <a:off x="6944868" y="30022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OPC Foundation. OPC Unified Architecture (IEC 62541).</a:t>
            </a:r>
          </a:p>
          <a:p>
            <a:pPr algn="l">
              <a:spcAft>
                <a:spcPts val="100"/>
              </a:spcAft>
            </a:pPr>
            <a:r>
              <a:rPr sz="700" b="0" i="0">
                <a:solidFill>
                  <a:srgbClr val="A9B8C9"/>
                </a:solidFill>
                <a:effectLst>
                  <a:glow rad="63500">
                    <a:srgbClr val="001633">
                      <a:alpha val="85000"/>
                    </a:srgbClr>
                  </a:glow>
                </a:effectLst>
                <a:latin typeface="Montserrat"/>
              </a:rPr>
              <a:t>https://opcfoundation.org/about/opc-technologies/opc-ua/</a:t>
            </a:r>
          </a:p>
        </p:txBody>
      </p:sp>
      <p:sp>
        <p:nvSpPr>
          <p:cNvPr id="52" name="TextBox 51"/>
          <p:cNvSpPr txBox="1"/>
          <p:nvPr/>
        </p:nvSpPr>
        <p:spPr>
          <a:xfrm>
            <a:off x="6441948" y="36118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[22]</a:t>
            </a:r>
          </a:p>
        </p:txBody>
      </p:sp>
      <p:sp>
        <p:nvSpPr>
          <p:cNvPr id="53" name="Tipo Estándar"/>
          <p:cNvSpPr/>
          <p:nvPr/>
        </p:nvSpPr>
        <p:spPr>
          <a:xfrm>
            <a:off x="6441948" y="3858767"/>
            <a:ext cx="384048" cy="146304"/>
          </a:xfrm>
          <a:prstGeom prst="rect">
            <a:avLst/>
          </a:prstGeom>
          <a:solidFill>
            <a:srgbClr val="001633"/>
          </a:solidFill>
          <a:ln w="6350">
            <a:solidFill>
              <a:srgbClr val="B39D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6441948" y="3858767"/>
            <a:ext cx="384048" cy="146304"/>
          </a:xfrm>
          <a:prstGeom prst="rect">
            <a:avLst/>
          </a:prstGeom>
          <a:noFill/>
        </p:spPr>
        <p:txBody>
          <a:bodyPr wrap="square" lIns="0" tIns="0" rIns="0" bIns="0" anchor="ctr">
            <a:spAutoFit/>
          </a:bodyPr>
          <a:lstStyle/>
          <a:p>
            <a:pPr algn="ctr">
              <a:spcAft>
                <a:spcPts val="600"/>
              </a:spcAft>
            </a:pPr>
            <a:r>
              <a:rPr sz="550" b="1" i="0">
                <a:solidFill>
                  <a:srgbClr val="B39DF0"/>
                </a:solidFill>
                <a:effectLst>
                  <a:glow rad="63500">
                    <a:srgbClr val="001633">
                      <a:alpha val="85000"/>
                    </a:srgbClr>
                  </a:glow>
                </a:effectLst>
                <a:latin typeface="Montserrat"/>
              </a:rPr>
              <a:t>ESTÁ</a:t>
            </a:r>
          </a:p>
        </p:txBody>
      </p:sp>
      <p:sp>
        <p:nvSpPr>
          <p:cNvPr id="55" name="TextBox 54"/>
          <p:cNvSpPr txBox="1"/>
          <p:nvPr/>
        </p:nvSpPr>
        <p:spPr>
          <a:xfrm>
            <a:off x="6441948" y="40233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III</a:t>
            </a:r>
          </a:p>
        </p:txBody>
      </p:sp>
      <p:sp>
        <p:nvSpPr>
          <p:cNvPr id="56" name="TextBox 55"/>
          <p:cNvSpPr txBox="1"/>
          <p:nvPr/>
        </p:nvSpPr>
        <p:spPr>
          <a:xfrm>
            <a:off x="6944868" y="36118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OASIS. MQTT Version 5.0, OASIS Standard (2019).</a:t>
            </a:r>
          </a:p>
          <a:p>
            <a:pPr algn="l">
              <a:spcAft>
                <a:spcPts val="100"/>
              </a:spcAft>
            </a:pPr>
            <a:r>
              <a:rPr sz="700" b="0" i="0">
                <a:solidFill>
                  <a:srgbClr val="A9B8C9"/>
                </a:solidFill>
                <a:effectLst>
                  <a:glow rad="63500">
                    <a:srgbClr val="001633">
                      <a:alpha val="85000"/>
                    </a:srgbClr>
                  </a:glow>
                </a:effectLst>
                <a:latin typeface="Montserrat"/>
              </a:rPr>
              <a:t>https://docs.oasis-open.org/mqtt/mqtt/v5.0/mqtt-v5.0.html</a:t>
            </a:r>
          </a:p>
        </p:txBody>
      </p:sp>
      <p:sp>
        <p:nvSpPr>
          <p:cNvPr id="57" name="TextBox 56"/>
          <p:cNvSpPr txBox="1"/>
          <p:nvPr/>
        </p:nvSpPr>
        <p:spPr>
          <a:xfrm>
            <a:off x="6441948" y="42214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[23]</a:t>
            </a:r>
          </a:p>
        </p:txBody>
      </p:sp>
      <p:sp>
        <p:nvSpPr>
          <p:cNvPr id="58" name="Tipo Estándar"/>
          <p:cNvSpPr/>
          <p:nvPr/>
        </p:nvSpPr>
        <p:spPr>
          <a:xfrm>
            <a:off x="6441948" y="4468367"/>
            <a:ext cx="384048" cy="146304"/>
          </a:xfrm>
          <a:prstGeom prst="rect">
            <a:avLst/>
          </a:prstGeom>
          <a:solidFill>
            <a:srgbClr val="001633"/>
          </a:solidFill>
          <a:ln w="6350">
            <a:solidFill>
              <a:srgbClr val="B39D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Box 58"/>
          <p:cNvSpPr txBox="1"/>
          <p:nvPr/>
        </p:nvSpPr>
        <p:spPr>
          <a:xfrm>
            <a:off x="6441948" y="4468367"/>
            <a:ext cx="384048" cy="146304"/>
          </a:xfrm>
          <a:prstGeom prst="rect">
            <a:avLst/>
          </a:prstGeom>
          <a:noFill/>
        </p:spPr>
        <p:txBody>
          <a:bodyPr wrap="square" lIns="0" tIns="0" rIns="0" bIns="0" anchor="ctr">
            <a:spAutoFit/>
          </a:bodyPr>
          <a:lstStyle/>
          <a:p>
            <a:pPr algn="ctr">
              <a:spcAft>
                <a:spcPts val="600"/>
              </a:spcAft>
            </a:pPr>
            <a:r>
              <a:rPr sz="550" b="1" i="0">
                <a:solidFill>
                  <a:srgbClr val="B39DF0"/>
                </a:solidFill>
                <a:effectLst>
                  <a:glow rad="63500">
                    <a:srgbClr val="001633">
                      <a:alpha val="85000"/>
                    </a:srgbClr>
                  </a:glow>
                </a:effectLst>
                <a:latin typeface="Montserrat"/>
              </a:rPr>
              <a:t>ESTÁ</a:t>
            </a:r>
          </a:p>
        </p:txBody>
      </p:sp>
      <p:sp>
        <p:nvSpPr>
          <p:cNvPr id="60" name="TextBox 59"/>
          <p:cNvSpPr txBox="1"/>
          <p:nvPr/>
        </p:nvSpPr>
        <p:spPr>
          <a:xfrm>
            <a:off x="6441948" y="46329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III</a:t>
            </a:r>
          </a:p>
        </p:txBody>
      </p:sp>
      <p:sp>
        <p:nvSpPr>
          <p:cNvPr id="61" name="TextBox 60"/>
          <p:cNvSpPr txBox="1"/>
          <p:nvPr/>
        </p:nvSpPr>
        <p:spPr>
          <a:xfrm>
            <a:off x="6944868" y="42214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ISA. ISA-95 / IEC 62264: Enterprise-Control System Integration.</a:t>
            </a:r>
          </a:p>
          <a:p>
            <a:pPr algn="l">
              <a:spcAft>
                <a:spcPts val="100"/>
              </a:spcAft>
            </a:pPr>
            <a:r>
              <a:rPr sz="700" b="0" i="0">
                <a:solidFill>
                  <a:srgbClr val="A9B8C9"/>
                </a:solidFill>
                <a:effectLst>
                  <a:glow rad="63500">
                    <a:srgbClr val="001633">
                      <a:alpha val="85000"/>
                    </a:srgbClr>
                  </a:glow>
                </a:effectLst>
                <a:latin typeface="Montserrat"/>
              </a:rPr>
              <a:t>https://www.isa.org/standards-and-publications/isa-standards/isa-95-standard</a:t>
            </a:r>
          </a:p>
        </p:txBody>
      </p:sp>
      <p:sp>
        <p:nvSpPr>
          <p:cNvPr id="62" name="TextBox 61"/>
          <p:cNvSpPr txBox="1"/>
          <p:nvPr/>
        </p:nvSpPr>
        <p:spPr>
          <a:xfrm>
            <a:off x="6441948" y="4831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[24]</a:t>
            </a:r>
          </a:p>
        </p:txBody>
      </p:sp>
      <p:sp>
        <p:nvSpPr>
          <p:cNvPr id="63" name="Tipo Estándar"/>
          <p:cNvSpPr/>
          <p:nvPr/>
        </p:nvSpPr>
        <p:spPr>
          <a:xfrm>
            <a:off x="6441948" y="5077967"/>
            <a:ext cx="384048" cy="146304"/>
          </a:xfrm>
          <a:prstGeom prst="rect">
            <a:avLst/>
          </a:prstGeom>
          <a:solidFill>
            <a:srgbClr val="001633"/>
          </a:solidFill>
          <a:ln w="6350">
            <a:solidFill>
              <a:srgbClr val="B39D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Box 63"/>
          <p:cNvSpPr txBox="1"/>
          <p:nvPr/>
        </p:nvSpPr>
        <p:spPr>
          <a:xfrm>
            <a:off x="6441948" y="5077967"/>
            <a:ext cx="384048" cy="146304"/>
          </a:xfrm>
          <a:prstGeom prst="rect">
            <a:avLst/>
          </a:prstGeom>
          <a:noFill/>
        </p:spPr>
        <p:txBody>
          <a:bodyPr wrap="square" lIns="0" tIns="0" rIns="0" bIns="0" anchor="ctr">
            <a:spAutoFit/>
          </a:bodyPr>
          <a:lstStyle/>
          <a:p>
            <a:pPr algn="ctr">
              <a:spcAft>
                <a:spcPts val="600"/>
              </a:spcAft>
            </a:pPr>
            <a:r>
              <a:rPr sz="550" b="1" i="0">
                <a:solidFill>
                  <a:srgbClr val="B39DF0"/>
                </a:solidFill>
                <a:effectLst>
                  <a:glow rad="63500">
                    <a:srgbClr val="001633">
                      <a:alpha val="85000"/>
                    </a:srgbClr>
                  </a:glow>
                </a:effectLst>
                <a:latin typeface="Montserrat"/>
              </a:rPr>
              <a:t>ESTÁ</a:t>
            </a:r>
          </a:p>
        </p:txBody>
      </p:sp>
      <p:sp>
        <p:nvSpPr>
          <p:cNvPr id="65" name="TextBox 64"/>
          <p:cNvSpPr txBox="1"/>
          <p:nvPr/>
        </p:nvSpPr>
        <p:spPr>
          <a:xfrm>
            <a:off x="6441948" y="5242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III</a:t>
            </a:r>
          </a:p>
        </p:txBody>
      </p:sp>
      <p:sp>
        <p:nvSpPr>
          <p:cNvPr id="66" name="TextBox 65"/>
          <p:cNvSpPr txBox="1"/>
          <p:nvPr/>
        </p:nvSpPr>
        <p:spPr>
          <a:xfrm>
            <a:off x="6944868" y="48310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Industrial Digital Twin Association. Asset Administration Shell (IEC 63278).</a:t>
            </a:r>
          </a:p>
          <a:p>
            <a:pPr algn="l">
              <a:spcAft>
                <a:spcPts val="100"/>
              </a:spcAft>
            </a:pPr>
            <a:r>
              <a:rPr sz="700" b="0" i="0">
                <a:solidFill>
                  <a:srgbClr val="A9B8C9"/>
                </a:solidFill>
                <a:effectLst>
                  <a:glow rad="63500">
                    <a:srgbClr val="001633">
                      <a:alpha val="85000"/>
                    </a:srgbClr>
                  </a:glow>
                </a:effectLst>
                <a:latin typeface="Montserrat"/>
              </a:rPr>
              <a:t>https://industrialdigitaltwin.org/en/content-hub/aasspecifications</a:t>
            </a:r>
          </a:p>
        </p:txBody>
      </p:sp>
      <p:sp>
        <p:nvSpPr>
          <p:cNvPr id="67"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Tipo de fuente: </a:t>
            </a:r>
            <a:r>
              <a:rPr sz="800" b="1" i="0">
                <a:solidFill>
                  <a:srgbClr val="85D5E6"/>
                </a:solidFill>
                <a:effectLst>
                  <a:glow rad="63500">
                    <a:srgbClr val="001633">
                      <a:alpha val="85000"/>
                    </a:srgbClr>
                  </a:glow>
                </a:effectLst>
                <a:latin typeface="Montserrat"/>
              </a:rPr>
              <a:t>Académica   </a:t>
            </a:r>
            <a:r>
              <a:rPr sz="800" b="1" i="0">
                <a:solidFill>
                  <a:srgbClr val="FFFFFF"/>
                </a:solidFill>
                <a:effectLst>
                  <a:glow rad="63500">
                    <a:srgbClr val="001633">
                      <a:alpha val="85000"/>
                    </a:srgbClr>
                  </a:glow>
                </a:effectLst>
                <a:latin typeface="Montserrat"/>
              </a:rPr>
              <a:t>Industria   </a:t>
            </a:r>
            <a:r>
              <a:rPr sz="800" b="1" i="0">
                <a:solidFill>
                  <a:srgbClr val="FFAB40"/>
                </a:solidFill>
                <a:effectLst>
                  <a:glow rad="63500">
                    <a:srgbClr val="001633">
                      <a:alpha val="85000"/>
                    </a:srgbClr>
                  </a:glow>
                </a:effectLst>
                <a:latin typeface="Montserrat"/>
              </a:rPr>
              <a:t>Proveedor   </a:t>
            </a:r>
            <a:r>
              <a:rPr sz="800" b="1" i="0">
                <a:solidFill>
                  <a:srgbClr val="A9B8C9"/>
                </a:solidFill>
                <a:effectLst>
                  <a:glow rad="63500">
                    <a:srgbClr val="001633">
                      <a:alpha val="85000"/>
                    </a:srgbClr>
                  </a:glow>
                </a:effectLst>
                <a:latin typeface="Montserrat"/>
              </a:rPr>
              <a:t>Prensa   </a:t>
            </a:r>
            <a:r>
              <a:rPr sz="800" b="1" i="0">
                <a:solidFill>
                  <a:srgbClr val="B39DF0"/>
                </a:solidFill>
                <a:effectLst>
                  <a:glow rad="63500">
                    <a:srgbClr val="001633">
                      <a:alpha val="85000"/>
                    </a:srgbClr>
                  </a:glow>
                </a:effectLst>
                <a:latin typeface="Montserrat"/>
              </a:rPr>
              <a:t>Estándar   </a:t>
            </a:r>
            <a:r>
              <a:rPr sz="800" b="0" i="0">
                <a:solidFill>
                  <a:srgbClr val="A9B8C9"/>
                </a:solidFill>
                <a:effectLst>
                  <a:glow rad="63500">
                    <a:srgbClr val="001633">
                      <a:alpha val="85000"/>
                    </a:srgbClr>
                  </a:glow>
                </a:effectLst>
                <a:latin typeface="Montserrat"/>
              </a:rPr>
              <a:t>· todas consultadas el 12 de octubre de 2026 · los casos de proveedor no entregan datos auditados</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Referencias del curso (3/3)</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FUENTES</a:t>
            </a:r>
          </a:p>
        </p:txBody>
      </p:sp>
      <p:sp>
        <p:nvSpPr>
          <p:cNvPr id="6" name="Velo referencias"/>
          <p:cNvSpPr/>
          <p:nvPr/>
        </p:nvSpPr>
        <p:spPr>
          <a:xfrm>
            <a:off x="5984748" y="1325879"/>
            <a:ext cx="6469380" cy="2377440"/>
          </a:xfrm>
          <a:prstGeom prst="rect">
            <a:avLst/>
          </a:prstGeom>
          <a:gradFill rotWithShape="1">
            <a:gsLst>
              <a:gs pos="0">
                <a:srgbClr val="001633">
                  <a:alpha val="100000"/>
                </a:srgbClr>
              </a:gs>
              <a:gs pos="65000">
                <a:srgbClr val="001633">
                  <a:alpha val="100000"/>
                </a:srgbClr>
              </a:gs>
              <a:gs pos="100000">
                <a:srgbClr val="001633">
                  <a:alpha val="0"/>
                </a:srgbClr>
              </a:gs>
            </a:gsLst>
            <a:path path="rect">
              <a:fillToRect t="30000" r="30000" b="3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252728" y="1783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[25]</a:t>
            </a:r>
          </a:p>
        </p:txBody>
      </p:sp>
      <p:sp>
        <p:nvSpPr>
          <p:cNvPr id="8" name="Tipo Académica"/>
          <p:cNvSpPr/>
          <p:nvPr/>
        </p:nvSpPr>
        <p:spPr>
          <a:xfrm>
            <a:off x="1252728" y="2029967"/>
            <a:ext cx="384048" cy="146304"/>
          </a:xfrm>
          <a:prstGeom prst="rect">
            <a:avLst/>
          </a:prstGeom>
          <a:solidFill>
            <a:srgbClr val="001633"/>
          </a:solidFill>
          <a:ln w="63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52728" y="2029967"/>
            <a:ext cx="384048" cy="146304"/>
          </a:xfrm>
          <a:prstGeom prst="rect">
            <a:avLst/>
          </a:prstGeom>
          <a:noFill/>
        </p:spPr>
        <p:txBody>
          <a:bodyPr wrap="square" lIns="0" tIns="0" rIns="0" bIns="0" anchor="ctr">
            <a:spAutoFit/>
          </a:bodyPr>
          <a:lstStyle/>
          <a:p>
            <a:pPr algn="ctr">
              <a:spcAft>
                <a:spcPts val="600"/>
              </a:spcAft>
            </a:pPr>
            <a:r>
              <a:rPr sz="550" b="1" i="0">
                <a:solidFill>
                  <a:srgbClr val="85D5E6"/>
                </a:solidFill>
                <a:effectLst>
                  <a:glow rad="63500">
                    <a:srgbClr val="001633">
                      <a:alpha val="85000"/>
                    </a:srgbClr>
                  </a:glow>
                </a:effectLst>
                <a:latin typeface="Montserrat"/>
              </a:rPr>
              <a:t>ACAD</a:t>
            </a:r>
          </a:p>
        </p:txBody>
      </p:sp>
      <p:sp>
        <p:nvSpPr>
          <p:cNvPr id="10" name="TextBox 9"/>
          <p:cNvSpPr txBox="1"/>
          <p:nvPr/>
        </p:nvSpPr>
        <p:spPr>
          <a:xfrm>
            <a:off x="1252728" y="2194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III</a:t>
            </a:r>
          </a:p>
        </p:txBody>
      </p:sp>
      <p:sp>
        <p:nvSpPr>
          <p:cNvPr id="11" name="TextBox 10"/>
          <p:cNvSpPr txBox="1"/>
          <p:nvPr/>
        </p:nvSpPr>
        <p:spPr>
          <a:xfrm>
            <a:off x="1755648" y="1783079"/>
            <a:ext cx="4320540" cy="658368"/>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Kalman, R. E. (1960). A New Approach to Linear Filtering and Prediction Problems. Journal of Basic Engineering, 82(1), 35–45.</a:t>
            </a:r>
          </a:p>
          <a:p>
            <a:pPr algn="l">
              <a:spcAft>
                <a:spcPts val="100"/>
              </a:spcAft>
            </a:pPr>
            <a:r>
              <a:rPr sz="700" b="0" i="0">
                <a:solidFill>
                  <a:srgbClr val="A9B8C9"/>
                </a:solidFill>
                <a:effectLst>
                  <a:glow rad="63500">
                    <a:srgbClr val="001633">
                      <a:alpha val="85000"/>
                    </a:srgbClr>
                  </a:glow>
                </a:effectLst>
                <a:latin typeface="Montserrat"/>
              </a:rPr>
              <a:t>https://doi.org/10.1115/1.3662552</a:t>
            </a:r>
          </a:p>
        </p:txBody>
      </p:sp>
      <p:sp>
        <p:nvSpPr>
          <p:cNvPr id="12" name="TextBox 11"/>
          <p:cNvSpPr txBox="1"/>
          <p:nvPr/>
        </p:nvSpPr>
        <p:spPr>
          <a:xfrm>
            <a:off x="1252728" y="2441447"/>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[26]</a:t>
            </a:r>
          </a:p>
        </p:txBody>
      </p:sp>
      <p:sp>
        <p:nvSpPr>
          <p:cNvPr id="13" name="Tipo Proveedor"/>
          <p:cNvSpPr/>
          <p:nvPr/>
        </p:nvSpPr>
        <p:spPr>
          <a:xfrm>
            <a:off x="1252728" y="2688335"/>
            <a:ext cx="384048" cy="146304"/>
          </a:xfrm>
          <a:prstGeom prst="rect">
            <a:avLst/>
          </a:prstGeom>
          <a:solidFill>
            <a:srgbClr val="001633"/>
          </a:solidFill>
          <a:ln w="63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252728" y="2688335"/>
            <a:ext cx="384048" cy="146304"/>
          </a:xfrm>
          <a:prstGeom prst="rect">
            <a:avLst/>
          </a:prstGeom>
          <a:noFill/>
        </p:spPr>
        <p:txBody>
          <a:bodyPr wrap="square" lIns="0" tIns="0" rIns="0" bIns="0" anchor="ctr">
            <a:spAutoFit/>
          </a:bodyPr>
          <a:lstStyle/>
          <a:p>
            <a:pPr algn="ctr">
              <a:spcAft>
                <a:spcPts val="600"/>
              </a:spcAft>
            </a:pPr>
            <a:r>
              <a:rPr sz="550" b="1" i="0">
                <a:solidFill>
                  <a:srgbClr val="FFAB40"/>
                </a:solidFill>
                <a:effectLst>
                  <a:glow rad="63500">
                    <a:srgbClr val="001633">
                      <a:alpha val="85000"/>
                    </a:srgbClr>
                  </a:glow>
                </a:effectLst>
                <a:latin typeface="Montserrat"/>
              </a:rPr>
              <a:t>PROV</a:t>
            </a:r>
          </a:p>
        </p:txBody>
      </p:sp>
      <p:sp>
        <p:nvSpPr>
          <p:cNvPr id="15" name="TextBox 14"/>
          <p:cNvSpPr txBox="1"/>
          <p:nvPr/>
        </p:nvSpPr>
        <p:spPr>
          <a:xfrm>
            <a:off x="1252728" y="2852927"/>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IV</a:t>
            </a:r>
          </a:p>
        </p:txBody>
      </p:sp>
      <p:sp>
        <p:nvSpPr>
          <p:cNvPr id="16" name="TextBox 15"/>
          <p:cNvSpPr txBox="1"/>
          <p:nvPr/>
        </p:nvSpPr>
        <p:spPr>
          <a:xfrm>
            <a:off x="1755648" y="2441447"/>
            <a:ext cx="4320540" cy="658368"/>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ANDRITZ AG. ANDRITZ Hyperbaric Disc Filter (HBF): folleto HBF 1.0/07.2019 y hoja de producto 1.0/01.2013.</a:t>
            </a:r>
          </a:p>
          <a:p>
            <a:pPr algn="l">
              <a:spcAft>
                <a:spcPts val="100"/>
              </a:spcAft>
            </a:pPr>
            <a:r>
              <a:rPr sz="700" b="0" i="0">
                <a:solidFill>
                  <a:srgbClr val="A9B8C9"/>
                </a:solidFill>
                <a:effectLst>
                  <a:glow rad="63500">
                    <a:srgbClr val="001633">
                      <a:alpha val="85000"/>
                    </a:srgbClr>
                  </a:glow>
                </a:effectLst>
                <a:latin typeface="Montserrat"/>
              </a:rPr>
              <a:t>https://www.andritz.com/products-en/separation/disc-drum-filters/andritz-hyperbaric-disc-filter-hbf</a:t>
            </a:r>
          </a:p>
        </p:txBody>
      </p:sp>
      <p:sp>
        <p:nvSpPr>
          <p:cNvPr id="17" name="TextBox 16"/>
          <p:cNvSpPr txBox="1"/>
          <p:nvPr/>
        </p:nvSpPr>
        <p:spPr>
          <a:xfrm>
            <a:off x="6441948" y="1783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[27]</a:t>
            </a:r>
          </a:p>
        </p:txBody>
      </p:sp>
      <p:sp>
        <p:nvSpPr>
          <p:cNvPr id="18" name="Tipo Estándar"/>
          <p:cNvSpPr/>
          <p:nvPr/>
        </p:nvSpPr>
        <p:spPr>
          <a:xfrm>
            <a:off x="6441948" y="2029967"/>
            <a:ext cx="384048" cy="146304"/>
          </a:xfrm>
          <a:prstGeom prst="rect">
            <a:avLst/>
          </a:prstGeom>
          <a:solidFill>
            <a:srgbClr val="001633"/>
          </a:solidFill>
          <a:ln w="6350">
            <a:solidFill>
              <a:srgbClr val="B39D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441948" y="2029967"/>
            <a:ext cx="384048" cy="146304"/>
          </a:xfrm>
          <a:prstGeom prst="rect">
            <a:avLst/>
          </a:prstGeom>
          <a:noFill/>
        </p:spPr>
        <p:txBody>
          <a:bodyPr wrap="square" lIns="0" tIns="0" rIns="0" bIns="0" anchor="ctr">
            <a:spAutoFit/>
          </a:bodyPr>
          <a:lstStyle/>
          <a:p>
            <a:pPr algn="ctr">
              <a:spcAft>
                <a:spcPts val="600"/>
              </a:spcAft>
            </a:pPr>
            <a:r>
              <a:rPr sz="550" b="1" i="0">
                <a:solidFill>
                  <a:srgbClr val="B39DF0"/>
                </a:solidFill>
                <a:effectLst>
                  <a:glow rad="63500">
                    <a:srgbClr val="001633">
                      <a:alpha val="85000"/>
                    </a:srgbClr>
                  </a:glow>
                </a:effectLst>
                <a:latin typeface="Montserrat"/>
              </a:rPr>
              <a:t>ESTÁ</a:t>
            </a:r>
          </a:p>
        </p:txBody>
      </p:sp>
      <p:sp>
        <p:nvSpPr>
          <p:cNvPr id="20" name="TextBox 19"/>
          <p:cNvSpPr txBox="1"/>
          <p:nvPr/>
        </p:nvSpPr>
        <p:spPr>
          <a:xfrm>
            <a:off x="6441948" y="2194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IV</a:t>
            </a:r>
          </a:p>
        </p:txBody>
      </p:sp>
      <p:sp>
        <p:nvSpPr>
          <p:cNvPr id="21" name="TextBox 20"/>
          <p:cNvSpPr txBox="1"/>
          <p:nvPr/>
        </p:nvSpPr>
        <p:spPr>
          <a:xfrm>
            <a:off x="6944868" y="1783079"/>
            <a:ext cx="4320540" cy="658368"/>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IMO. International Maritime Solid Bulk Cargoes Code (IMSBC Code): cargas del Grupo A y límite de humedad transportable.</a:t>
            </a:r>
          </a:p>
          <a:p>
            <a:pPr algn="l">
              <a:spcAft>
                <a:spcPts val="100"/>
              </a:spcAft>
            </a:pPr>
            <a:r>
              <a:rPr sz="700" b="0" i="0">
                <a:solidFill>
                  <a:srgbClr val="A9B8C9"/>
                </a:solidFill>
                <a:effectLst>
                  <a:glow rad="63500">
                    <a:srgbClr val="001633">
                      <a:alpha val="85000"/>
                    </a:srgbClr>
                  </a:glow>
                </a:effectLst>
                <a:latin typeface="Montserrat"/>
              </a:rPr>
              <a:t>https://www.imo.org/en/OurWork/Safety/Pages/BulkCarriers.aspx</a:t>
            </a:r>
          </a:p>
        </p:txBody>
      </p:sp>
      <p:sp>
        <p:nvSpPr>
          <p:cNvPr id="22" name="TextBox 21"/>
          <p:cNvSpPr txBox="1"/>
          <p:nvPr/>
        </p:nvSpPr>
        <p:spPr>
          <a:xfrm>
            <a:off x="6441948" y="2441447"/>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[28]</a:t>
            </a:r>
          </a:p>
        </p:txBody>
      </p:sp>
      <p:sp>
        <p:nvSpPr>
          <p:cNvPr id="23" name="Tipo Académica"/>
          <p:cNvSpPr/>
          <p:nvPr/>
        </p:nvSpPr>
        <p:spPr>
          <a:xfrm>
            <a:off x="6441948" y="2688335"/>
            <a:ext cx="384048" cy="146304"/>
          </a:xfrm>
          <a:prstGeom prst="rect">
            <a:avLst/>
          </a:prstGeom>
          <a:solidFill>
            <a:srgbClr val="001633"/>
          </a:solidFill>
          <a:ln w="63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441948" y="2688335"/>
            <a:ext cx="384048" cy="146304"/>
          </a:xfrm>
          <a:prstGeom prst="rect">
            <a:avLst/>
          </a:prstGeom>
          <a:noFill/>
        </p:spPr>
        <p:txBody>
          <a:bodyPr wrap="square" lIns="0" tIns="0" rIns="0" bIns="0" anchor="ctr">
            <a:spAutoFit/>
          </a:bodyPr>
          <a:lstStyle/>
          <a:p>
            <a:pPr algn="ctr">
              <a:spcAft>
                <a:spcPts val="600"/>
              </a:spcAft>
            </a:pPr>
            <a:r>
              <a:rPr sz="550" b="1" i="0">
                <a:solidFill>
                  <a:srgbClr val="85D5E6"/>
                </a:solidFill>
                <a:effectLst>
                  <a:glow rad="63500">
                    <a:srgbClr val="001633">
                      <a:alpha val="85000"/>
                    </a:srgbClr>
                  </a:glow>
                </a:effectLst>
                <a:latin typeface="Montserrat"/>
              </a:rPr>
              <a:t>ACAD</a:t>
            </a:r>
          </a:p>
        </p:txBody>
      </p:sp>
      <p:sp>
        <p:nvSpPr>
          <p:cNvPr id="25" name="TextBox 24"/>
          <p:cNvSpPr txBox="1"/>
          <p:nvPr/>
        </p:nvSpPr>
        <p:spPr>
          <a:xfrm>
            <a:off x="6441948" y="2852927"/>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IV</a:t>
            </a:r>
          </a:p>
        </p:txBody>
      </p:sp>
      <p:sp>
        <p:nvSpPr>
          <p:cNvPr id="26" name="TextBox 25"/>
          <p:cNvSpPr txBox="1"/>
          <p:nvPr/>
        </p:nvSpPr>
        <p:spPr>
          <a:xfrm>
            <a:off x="6944868" y="2441447"/>
            <a:ext cx="4320540" cy="658368"/>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Hahn, J. (2019). Tailings dewatering with increased filtration rates and lowest filter cake moisture for filtered tailings stacking. Paste 2019, ACG, 245–257.</a:t>
            </a:r>
          </a:p>
          <a:p>
            <a:pPr algn="l">
              <a:spcAft>
                <a:spcPts val="100"/>
              </a:spcAft>
            </a:pPr>
            <a:r>
              <a:rPr sz="700" b="0" i="0">
                <a:solidFill>
                  <a:srgbClr val="A9B8C9"/>
                </a:solidFill>
                <a:effectLst>
                  <a:glow rad="63500">
                    <a:srgbClr val="001633">
                      <a:alpha val="85000"/>
                    </a:srgbClr>
                  </a:glow>
                </a:effectLst>
                <a:latin typeface="Montserrat"/>
              </a:rPr>
              <a:t>https://doi.org/10.36487/ACG_rep/1910_16_Hahn</a:t>
            </a:r>
          </a:p>
        </p:txBody>
      </p:sp>
      <p:sp>
        <p:nvSpPr>
          <p:cNvPr id="27"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Tipo de fuente: </a:t>
            </a:r>
            <a:r>
              <a:rPr sz="800" b="1" i="0">
                <a:solidFill>
                  <a:srgbClr val="85D5E6"/>
                </a:solidFill>
                <a:effectLst>
                  <a:glow rad="63500">
                    <a:srgbClr val="001633">
                      <a:alpha val="85000"/>
                    </a:srgbClr>
                  </a:glow>
                </a:effectLst>
                <a:latin typeface="Montserrat"/>
              </a:rPr>
              <a:t>Académica   </a:t>
            </a:r>
            <a:r>
              <a:rPr sz="800" b="1" i="0">
                <a:solidFill>
                  <a:srgbClr val="FFFFFF"/>
                </a:solidFill>
                <a:effectLst>
                  <a:glow rad="63500">
                    <a:srgbClr val="001633">
                      <a:alpha val="85000"/>
                    </a:srgbClr>
                  </a:glow>
                </a:effectLst>
                <a:latin typeface="Montserrat"/>
              </a:rPr>
              <a:t>Industria   </a:t>
            </a:r>
            <a:r>
              <a:rPr sz="800" b="1" i="0">
                <a:solidFill>
                  <a:srgbClr val="FFAB40"/>
                </a:solidFill>
                <a:effectLst>
                  <a:glow rad="63500">
                    <a:srgbClr val="001633">
                      <a:alpha val="85000"/>
                    </a:srgbClr>
                  </a:glow>
                </a:effectLst>
                <a:latin typeface="Montserrat"/>
              </a:rPr>
              <a:t>Proveedor   </a:t>
            </a:r>
            <a:r>
              <a:rPr sz="800" b="1" i="0">
                <a:solidFill>
                  <a:srgbClr val="A9B8C9"/>
                </a:solidFill>
                <a:effectLst>
                  <a:glow rad="63500">
                    <a:srgbClr val="001633">
                      <a:alpha val="85000"/>
                    </a:srgbClr>
                  </a:glow>
                </a:effectLst>
                <a:latin typeface="Montserrat"/>
              </a:rPr>
              <a:t>Prensa   </a:t>
            </a:r>
            <a:r>
              <a:rPr sz="800" b="1" i="0">
                <a:solidFill>
                  <a:srgbClr val="B39DF0"/>
                </a:solidFill>
                <a:effectLst>
                  <a:glow rad="63500">
                    <a:srgbClr val="001633">
                      <a:alpha val="85000"/>
                    </a:srgbClr>
                  </a:glow>
                </a:effectLst>
                <a:latin typeface="Montserrat"/>
              </a:rPr>
              <a:t>Estándar   </a:t>
            </a:r>
            <a:r>
              <a:rPr sz="800" b="0" i="0">
                <a:solidFill>
                  <a:srgbClr val="A9B8C9"/>
                </a:solidFill>
                <a:effectLst>
                  <a:glow rad="63500">
                    <a:srgbClr val="001633">
                      <a:alpha val="85000"/>
                    </a:srgbClr>
                  </a:glow>
                </a:effectLst>
                <a:latin typeface="Montserrat"/>
              </a:rPr>
              <a:t>· todas consultadas el 12 de octubre de 2026 · los casos de proveedor no entregan datos auditados</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z="4800" b="1" i="0">
                <a:solidFill>
                  <a:srgbClr val="FFFFFF"/>
                </a:solidFill>
                <a:effectLst>
                  <a:glow rad="63500">
                    <a:srgbClr val="001633">
                      <a:alpha val="85000"/>
                    </a:srgbClr>
                  </a:glow>
                </a:effectLst>
                <a:latin typeface="Montserrat"/>
              </a:rPr>
              <a:t>¡Gracias!</a:t>
            </a:r>
          </a:p>
        </p:txBody>
      </p:sp>
      <p:sp>
        <p:nvSpPr>
          <p:cNvPr id="3" name="Subtitle 2"/>
          <p:cNvSpPr>
            <a:spLocks noGrp="1"/>
          </p:cNvSpPr>
          <p:nvPr>
            <p:ph type="subTitle" idx="1"/>
          </p:nvPr>
        </p:nvSpPr>
        <p:spPr/>
        <p:txBody>
          <a:bodyPr/>
          <a:lstStyle/>
          <a:p>
            <a:r>
              <a:rPr sz="2000" b="1" i="0">
                <a:solidFill>
                  <a:srgbClr val="FFAB40"/>
                </a:solidFill>
                <a:effectLst>
                  <a:glow rad="63500">
                    <a:srgbClr val="001633">
                      <a:alpha val="85000"/>
                    </a:srgbClr>
                  </a:glow>
                </a:effectLst>
                <a:latin typeface="Montserrat"/>
              </a:rPr>
              <a:t>Preguntas y conversación</a:t>
            </a:r>
          </a:p>
        </p:txBody>
      </p:sp>
      <p:sp>
        <p:nvSpPr>
          <p:cNvPr id="4" name="Contacto Luis Jaraquemada S."/>
          <p:cNvSpPr txBox="1"/>
          <p:nvPr/>
        </p:nvSpPr>
        <p:spPr>
          <a:xfrm>
            <a:off x="2286000" y="5989320"/>
            <a:ext cx="7619695" cy="292608"/>
          </a:xfrm>
          <a:prstGeom prst="rect">
            <a:avLst/>
          </a:prstGeom>
          <a:noFill/>
        </p:spPr>
        <p:txBody>
          <a:bodyPr wrap="square" lIns="0" tIns="0" rIns="0" bIns="0" anchor="t">
            <a:spAutoFit/>
          </a:bodyPr>
          <a:lstStyle/>
          <a:p>
            <a:pPr algn="ctr">
              <a:spcAft>
                <a:spcPts val="600"/>
              </a:spcAft>
            </a:pPr>
            <a:r>
              <a:rPr sz="1600" b="1" i="0">
                <a:solidFill>
                  <a:srgbClr val="FFFFFF"/>
                </a:solidFill>
                <a:effectLst>
                  <a:glow rad="63500">
                    <a:srgbClr val="001633">
                      <a:alpha val="85000"/>
                    </a:srgbClr>
                  </a:glow>
                </a:effectLst>
                <a:latin typeface="Montserrat"/>
              </a:rPr>
              <a:t>Luis Jaraquemada S.   </a:t>
            </a:r>
            <a:r>
              <a:rPr sz="1600" b="0" i="0">
                <a:solidFill>
                  <a:srgbClr val="FFAB40"/>
                </a:solidFill>
                <a:effectLst>
                  <a:glow rad="63500">
                    <a:srgbClr val="001633">
                      <a:alpha val="85000"/>
                    </a:srgbClr>
                  </a:glow>
                </a:effectLst>
                <a:latin typeface="Montserrat"/>
              </a:rPr>
              <a:t>ljaraque@yahoo.com</a:t>
            </a:r>
          </a:p>
        </p:txBody>
      </p:sp>
      <p:sp>
        <p:nvSpPr>
          <p:cNvPr id="5" name="Contacto Andrés Venegas G."/>
          <p:cNvSpPr txBox="1"/>
          <p:nvPr/>
        </p:nvSpPr>
        <p:spPr>
          <a:xfrm>
            <a:off x="2286000" y="6300216"/>
            <a:ext cx="7619695" cy="292608"/>
          </a:xfrm>
          <a:prstGeom prst="rect">
            <a:avLst/>
          </a:prstGeom>
          <a:noFill/>
        </p:spPr>
        <p:txBody>
          <a:bodyPr wrap="square" lIns="0" tIns="0" rIns="0" bIns="0" anchor="t">
            <a:spAutoFit/>
          </a:bodyPr>
          <a:lstStyle/>
          <a:p>
            <a:pPr algn="ctr">
              <a:spcAft>
                <a:spcPts val="600"/>
              </a:spcAft>
            </a:pPr>
            <a:r>
              <a:rPr sz="1600" b="1" i="0">
                <a:solidFill>
                  <a:srgbClr val="FFFFFF"/>
                </a:solidFill>
                <a:effectLst>
                  <a:glow rad="63500">
                    <a:srgbClr val="001633">
                      <a:alpha val="85000"/>
                    </a:srgbClr>
                  </a:glow>
                </a:effectLst>
                <a:latin typeface="Montserrat"/>
              </a:rPr>
              <a:t>Andrés Venegas G.   </a:t>
            </a:r>
            <a:r>
              <a:rPr sz="1600" b="0" i="0">
                <a:solidFill>
                  <a:srgbClr val="FFAB40"/>
                </a:solidFill>
                <a:effectLst>
                  <a:glow rad="63500">
                    <a:srgbClr val="001633">
                      <a:alpha val="85000"/>
                    </a:srgbClr>
                  </a:glow>
                </a:effectLst>
                <a:latin typeface="Montserrat"/>
              </a:rPr>
              <a:t>lvenegas15@hotmail.com</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Futuristic Background by Slidesgo">
  <a:themeElements>
    <a:clrScheme name="Simple Light">
      <a:dk1>
        <a:srgbClr val="001633"/>
      </a:dk1>
      <a:lt1>
        <a:srgbClr val="FFFFFF"/>
      </a:lt1>
      <a:dk2>
        <a:srgbClr val="85D5E6"/>
      </a:dk2>
      <a:lt2>
        <a:srgbClr val="FFAB40"/>
      </a:lt2>
      <a:accent1>
        <a:srgbClr val="FFAB40"/>
      </a:accent1>
      <a:accent2>
        <a:srgbClr val="85D5E6"/>
      </a:accent2>
      <a:accent3>
        <a:srgbClr val="78909C"/>
      </a:accent3>
      <a:accent4>
        <a:srgbClr val="FFAB40"/>
      </a:accent4>
      <a:accent5>
        <a:srgbClr val="0097A7"/>
      </a:accent5>
      <a:accent6>
        <a:srgbClr val="001633"/>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32454</Words>
  <Application>Microsoft Macintosh PowerPoint</Application>
  <PresentationFormat>Panorámica</PresentationFormat>
  <Paragraphs>3338</Paragraphs>
  <Slides>100</Slides>
  <Notes>98</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100</vt:i4>
      </vt:variant>
    </vt:vector>
  </HeadingPairs>
  <TitlesOfParts>
    <vt:vector size="108" baseType="lpstr">
      <vt:lpstr>Aptos</vt:lpstr>
      <vt:lpstr>Aptos Display</vt:lpstr>
      <vt:lpstr>Arial</vt:lpstr>
      <vt:lpstr>Montserrat</vt:lpstr>
      <vt:lpstr>Montserrat ExtraBold</vt:lpstr>
      <vt:lpstr>Montserrat Medium</vt:lpstr>
      <vt:lpstr>Tema de Office</vt:lpstr>
      <vt:lpstr>Futuristic Background by Slidesgo</vt:lpstr>
      <vt:lpstr>Gemelos Digitales para Minería 4.0</vt:lpstr>
      <vt:lpstr>Quiénes somos Diseñamos, construimos y presentamos gemelos digitales mineros</vt:lpstr>
      <vt:lpstr>Quiénes somos Hablamos de gemelos digitales donde la minería decide</vt:lpstr>
      <vt:lpstr>Mapa del curso Cuatro capítulos, de lo general a lo particular</vt:lpstr>
      <vt:lpstr>Presentación de PowerPoint</vt:lpstr>
      <vt:lpstr>¿Qué es un gemelo digital?</vt:lpstr>
      <vt:lpstr>Tres preguntas ubican cualquier gemelo: de qué, cuándo y para qué</vt:lpstr>
      <vt:lpstr>De una pieza a toda la cadena: el nivel define qué se modela</vt:lpstr>
      <vt:lpstr>El gemelo acompaña al activo desde el diseño hasta el cierre</vt:lpstr>
      <vt:lpstr>Siete usos frecuentes, de digitalizar a predecir, y la lista sigue abierta</vt:lpstr>
      <vt:lpstr>El cubo dice dónde y para qué; la integración dice cuán gemelo es</vt:lpstr>
      <vt:lpstr>Seis familias de capacidades: cada gemelo necesita una combinación distinta</vt:lpstr>
      <vt:lpstr>Un gemelo se justifica por la decisión que mejora</vt:lpstr>
      <vt:lpstr>Lo difícil no es construir el modelo: es que siga siendo confiable</vt:lpstr>
      <vt:lpstr>Todo gemelo tiene cinco partes, y el modelo es solo una</vt:lpstr>
      <vt:lpstr>Cuatro gemelos con el mismo nombre y casi nada en común</vt:lpstr>
      <vt:lpstr>Tres ideas para llevarse del capítulo I</vt:lpstr>
      <vt:lpstr>Presentación de PowerPoint</vt:lpstr>
      <vt:lpstr>Hay gemelos en cada eslabón de la cadena, pero rara vez conectados entre sí</vt:lpstr>
      <vt:lpstr>Cinco capas tecnológicas sostienen un gemelo, y la integración es la que más cuesta</vt:lpstr>
      <vt:lpstr>Tres familias de soluciones, y cada una cubre capas distintas</vt:lpstr>
      <vt:lpstr>Geología y planificación: un modelo geológico que se actualiza solo</vt:lpstr>
      <vt:lpstr>Carguío y transporte: simular la flota antes de comprarla</vt:lpstr>
      <vt:lpstr>Molienda: probar el control en el gemelo antes de tocar la planta</vt:lpstr>
      <vt:lpstr>Flotación: un gemelo que ajusta la recuperación en tiempo real</vt:lpstr>
      <vt:lpstr>Relaves: un gemelo vivo de la estabilidad del depósito</vt:lpstr>
      <vt:lpstr>Subterránea: ventilación que sigue a la demanda</vt:lpstr>
      <vt:lpstr>Seis empresas ofrecen gemelos para la minería, y cada una parte de un lugar distinto</vt:lpstr>
      <vt:lpstr>AVEVA: el gemelo nace de los datos de operación</vt:lpstr>
      <vt:lpstr>Siemens: el gemelo nace de la ingeniería y la automatización</vt:lpstr>
      <vt:lpstr>ABB: el gemelo vive dentro del control de procesos</vt:lpstr>
      <vt:lpstr>Innomotics: el gemelo nace de lo que mueve la mina y la planta</vt:lpstr>
      <vt:lpstr>Hexagon: el gemelo de la mina, del plan a la flota</vt:lpstr>
      <vt:lpstr>Dassault Systèmes: el gemelo nace del modelo 3D de la mina</vt:lpstr>
      <vt:lpstr>Detrás de cada producto hay las mismas cuatro piezas</vt:lpstr>
      <vt:lpstr>Tres ideas para llevarse del capítulo II</vt:lpstr>
      <vt:lpstr>Presentación de PowerPoint</vt:lpstr>
      <vt:lpstr>Construir un gemelo es tomar seis decisiones técnicas, una tras otra</vt:lpstr>
      <vt:lpstr>Una demo corre una vez; un gemelo operativo corre siempre</vt:lpstr>
      <vt:lpstr>Todo modelo está en algún punto entre la física y los datos</vt:lpstr>
      <vt:lpstr>Un modelo físico escribe en ecuaciones lo que ya sabemos del equipo</vt:lpstr>
      <vt:lpstr>Un modelo de datos aprende el patrón sin saber la física</vt:lpstr>
      <vt:lpstr>Un modelo híbrido usa la física como esqueleto y los datos como corrección</vt:lpstr>
      <vt:lpstr>Seis preguntas ubican cada activo entre la física y los datos</vt:lpstr>
      <vt:lpstr>Más detalle no siempre es mejor: la fidelidad se elige por la pregunta</vt:lpstr>
      <vt:lpstr>Causal o acausal: lo que cambia es el significado del signo «=»</vt:lpstr>
      <vt:lpstr>Modelica: cada componente se escribe una vez y después solo se conecta</vt:lpstr>
      <vt:lpstr>Cada lenguaje tiene su lugar: no hay uno que sirva para todo</vt:lpstr>
      <vt:lpstr>Herramientas abiertas o comerciales: lo que importa es no quedar encerrado</vt:lpstr>
      <vt:lpstr>El solver es el motor: convierte las ecuaciones en una trayectoria, paso a paso</vt:lpstr>
      <vt:lpstr>El paso de simulación depende de qué tan rápido cambia lo que importa</vt:lpstr>
      <vt:lpstr>Un modelo que simula no es un modelo correcto: verificar, calibrar y validar</vt:lpstr>
      <vt:lpstr>Cada equipo trae su propio modelo: el gemelo necesita integrarlos</vt:lpstr>
      <vt:lpstr>La FMU: un modelo empaquetado que cualquier herramienta puede abrir</vt:lpstr>
      <vt:lpstr>La interfaz de la FMU es un contrato: declara todo lo que el otro necesita saber</vt:lpstr>
      <vt:lpstr>Co-Simulation: la FMU trae su solver y quien la usa solo le pide avanzar</vt:lpstr>
      <vt:lpstr>Así se arma un gemelo multiproveedor: cada pieza en su capa, unidas por estándares</vt:lpstr>
      <vt:lpstr>Seis estándares para tres problemas: unir modelos, mover datos y describir equipos</vt:lpstr>
      <vt:lpstr>Una señal recorre cinco escalones antes de llegar al gemelo</vt:lpstr>
      <vt:lpstr>Los datos reales llegan con huecos, ruido y desfases, y el gemelo debe tolerarlos</vt:lpstr>
      <vt:lpstr>Para seguir a la planta, el gemelo combina lo que predice con lo que mide</vt:lpstr>
      <vt:lpstr>Edge, faena o nube: el gemelo corre donde su decisión lo necesita</vt:lpstr>
      <vt:lpstr>El hardware define qué modelo cabe y a qué velocidad corre</vt:lpstr>
      <vt:lpstr>Un escenario what-if clona el presente y prueba el futuro más rápido que la realidad</vt:lpstr>
      <vt:lpstr>Del escenario al control: cuatro escalones de autonomía</vt:lpstr>
      <vt:lpstr>Cuando un parámetro se mueve solo, el gemelo está avisando algo de la planta</vt:lpstr>
      <vt:lpstr>El modelo también se mantiene: versiones, pruebas y despliegue</vt:lpstr>
      <vt:lpstr>Tres ideas para llevarse del capítulo III</vt:lpstr>
      <vt:lpstr>Presentación de PowerPoint</vt:lpstr>
      <vt:lpstr>Implementar un gemelo en una faena exige seis partes, no solo un modelo</vt:lpstr>
      <vt:lpstr>Áreas estratégicas para la creación de valor</vt:lpstr>
      <vt:lpstr>La misma mejora vale más seguro cuanto más cerca del puerto ocurre</vt:lpstr>
      <vt:lpstr>El problema del filtrado: la última puerta antes del despacho</vt:lpstr>
      <vt:lpstr>Para qué sirve: cuatro preguntas de la operación que el gemelo del filtro responde</vt:lpstr>
      <vt:lpstr>Por qué el HBF‑S 168/12: alto desempeño, pocas unidades en el mundo y casi sin datos</vt:lpstr>
      <vt:lpstr>El filtro en una lámina: cada sector del disco pasa por tres zonas en cada vuelta</vt:lpstr>
      <vt:lpstr>Un modelo fenomenológico: la física del filtro, sintonizada con la planta</vt:lpstr>
      <vt:lpstr>La base física: la ley de Darcy dice cuánto líquido atraviesa el queque</vt:lpstr>
      <vt:lpstr>Del equipo al modelo: seis elementos guardan lo que cambia el resultado</vt:lpstr>
      <vt:lpstr>Pulpa y queque: de dónde salen la capacidad y la humedad</vt:lpstr>
      <vt:lpstr>El aire: la presión sale de un balance, y la paga el compresor</vt:lpstr>
      <vt:lpstr>Los elementos se conectan en Modelica, igual que en el equipo real</vt:lpstr>
      <vt:lpstr>Las perillas del modelo: cinco parámetros que lo sintonizan con la realidad</vt:lpstr>
      <vt:lpstr>Paso de 1 segundo: más fino que lo más rápido que importa en el filtro</vt:lpstr>
      <vt:lpstr>La FMU es el contrato: 6 entradas y 15 salidas, cada una con nombre, unidad y descripción</vt:lpstr>
      <vt:lpstr>Una FMU o varias: el gemelo también se arma con piezas de distintas herramientas</vt:lpstr>
      <vt:lpstr>Del modelo a la planta: el gemelo se despliega por etapas, y cada etapa se gana</vt:lpstr>
      <vt:lpstr>La misma FMU corre en tres lugares, porque viaja con su código en C</vt:lpstr>
      <vt:lpstr>Las señales que necesita: unas alimentan al gemelo y otras lo vigilan</vt:lpstr>
      <vt:lpstr>Monitoreo: qué vigilar para saber si el gemelo sigue representando al filtro</vt:lpstr>
      <vt:lpstr>Comprar o construir: las mismas cuatro piezas, armadas con herramientas abiertas</vt:lpstr>
      <vt:lpstr>Todo lo que se ve con un número lo calcula la FMU; el resto ayuda a entenderlo</vt:lpstr>
      <vt:lpstr>Demo en vivo: tres preguntas para hacerle al filtro</vt:lpstr>
      <vt:lpstr>Taller: ¿dónde es técnicamente viable un gemelo en su faena?</vt:lpstr>
      <vt:lpstr>El entregable: un veredicto de viabilidad, con sus razones y su primer paso</vt:lpstr>
      <vt:lpstr>Tres ideas para llevarse del curso</vt:lpstr>
      <vt:lpstr>Referencias del curso (1/3)</vt:lpstr>
      <vt:lpstr>Referencias del curso (2/3)</vt:lpstr>
      <vt:lpstr>Referencias del curso (3/3)</vt:lpstr>
      <vt:lpstr>¡Gracias!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Luis Jaraquemada Jaraquemada</dc:creator>
  <cp:lastModifiedBy>Luis Venegas Gonzalez</cp:lastModifiedBy>
  <cp:revision>3</cp:revision>
  <dcterms:created xsi:type="dcterms:W3CDTF">2026-07-16T02:12:16Z</dcterms:created>
  <dcterms:modified xsi:type="dcterms:W3CDTF">2026-10-17T11:47:10Z</dcterms:modified>
</cp:coreProperties>
</file>